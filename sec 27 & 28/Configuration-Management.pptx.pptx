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Crimson Pro Bold" panose="020B0604020202020204" charset="0"/>
      <p:regular r:id="rId20"/>
      <p:bold r:id="rId21"/>
    </p:embeddedFont>
    <p:embeddedFont>
      <p:font typeface="Heebo" pitchFamily="2" charset="-79"/>
      <p:regular r:id="rId22"/>
    </p:embeddedFont>
    <p:embeddedFont>
      <p:font typeface="Heebo Bold" charset="-79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 autoAdjust="0"/>
    <p:restoredTop sz="94473" autoAdjust="0"/>
  </p:normalViewPr>
  <p:slideViewPr>
    <p:cSldViewPr>
      <p:cViewPr varScale="1">
        <p:scale>
          <a:sx n="58" d="100"/>
          <a:sy n="58" d="100"/>
        </p:scale>
        <p:origin x="475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AneeS" userId="f3b6a096eeb08a08" providerId="LiveId" clId="{C00BBC87-BCBD-46CD-B560-F109FE98DAD6}"/>
    <pc:docChg chg="undo custSel modSld">
      <pc:chgData name="MohammaD AneeS" userId="f3b6a096eeb08a08" providerId="LiveId" clId="{C00BBC87-BCBD-46CD-B560-F109FE98DAD6}" dt="2026-10-17T05:18:31.388" v="82" actId="20577"/>
      <pc:docMkLst>
        <pc:docMk/>
      </pc:docMkLst>
      <pc:sldChg chg="modSp mod">
        <pc:chgData name="MohammaD AneeS" userId="f3b6a096eeb08a08" providerId="LiveId" clId="{C00BBC87-BCBD-46CD-B560-F109FE98DAD6}" dt="2026-10-17T05:18:31.388" v="82" actId="20577"/>
        <pc:sldMkLst>
          <pc:docMk/>
          <pc:sldMk cId="0" sldId="263"/>
        </pc:sldMkLst>
        <pc:spChg chg="mod">
          <ac:chgData name="MohammaD AneeS" userId="f3b6a096eeb08a08" providerId="LiveId" clId="{C00BBC87-BCBD-46CD-B560-F109FE98DAD6}" dt="2026-10-17T05:15:10.962" v="72" actId="107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MohammaD AneeS" userId="f3b6a096eeb08a08" providerId="LiveId" clId="{C00BBC87-BCBD-46CD-B560-F109FE98DAD6}" dt="2026-10-17T05:18:31.388" v="82" actId="20577"/>
          <ac:spMkLst>
            <pc:docMk/>
            <pc:sldMk cId="0" sldId="263"/>
            <ac:spMk id="31" creationId="{00000000-0000-0000-0000-000000000000}"/>
          </ac:spMkLst>
        </pc:spChg>
        <pc:spChg chg="mod">
          <ac:chgData name="MohammaD AneeS" userId="f3b6a096eeb08a08" providerId="LiveId" clId="{C00BBC87-BCBD-46CD-B560-F109FE98DAD6}" dt="2026-10-17T05:14:13.884" v="66" actId="14100"/>
          <ac:spMkLst>
            <pc:docMk/>
            <pc:sldMk cId="0" sldId="263"/>
            <ac:spMk id="33" creationId="{00000000-0000-0000-0000-000000000000}"/>
          </ac:spMkLst>
        </pc:spChg>
        <pc:spChg chg="mod">
          <ac:chgData name="MohammaD AneeS" userId="f3b6a096eeb08a08" providerId="LiveId" clId="{C00BBC87-BCBD-46CD-B560-F109FE98DAD6}" dt="2026-10-17T05:14:09.761" v="65" actId="1076"/>
          <ac:spMkLst>
            <pc:docMk/>
            <pc:sldMk cId="0" sldId="263"/>
            <ac:spMk id="34" creationId="{00000000-0000-0000-0000-000000000000}"/>
          </ac:spMkLst>
        </pc:spChg>
        <pc:grpChg chg="mod">
          <ac:chgData name="MohammaD AneeS" userId="f3b6a096eeb08a08" providerId="LiveId" clId="{C00BBC87-BCBD-46CD-B560-F109FE98DAD6}" dt="2026-10-17T05:15:15.736" v="73" actId="1076"/>
          <ac:grpSpMkLst>
            <pc:docMk/>
            <pc:sldMk cId="0" sldId="263"/>
            <ac:grpSpMk id="4" creationId="{00000000-0000-0000-0000-000000000000}"/>
          </ac:grpSpMkLst>
        </pc:grpChg>
        <pc:grpChg chg="mod">
          <ac:chgData name="MohammaD AneeS" userId="f3b6a096eeb08a08" providerId="LiveId" clId="{C00BBC87-BCBD-46CD-B560-F109FE98DAD6}" dt="2026-10-17T05:15:05.279" v="71" actId="14100"/>
          <ac:grpSpMkLst>
            <pc:docMk/>
            <pc:sldMk cId="0" sldId="263"/>
            <ac:grpSpMk id="27" creationId="{00000000-0000-0000-0000-000000000000}"/>
          </ac:grpSpMkLst>
        </pc:grpChg>
        <pc:grpChg chg="mod">
          <ac:chgData name="MohammaD AneeS" userId="f3b6a096eeb08a08" providerId="LiveId" clId="{C00BBC87-BCBD-46CD-B560-F109FE98DAD6}" dt="2026-10-17T05:10:00.833" v="42" actId="14100"/>
          <ac:grpSpMkLst>
            <pc:docMk/>
            <pc:sldMk cId="0" sldId="263"/>
            <ac:grpSpMk id="29" creationId="{00000000-0000-0000-0000-000000000000}"/>
          </ac:grpSpMkLst>
        </pc:grpChg>
        <pc:grpChg chg="mod">
          <ac:chgData name="MohammaD AneeS" userId="f3b6a096eeb08a08" providerId="LiveId" clId="{C00BBC87-BCBD-46CD-B560-F109FE98DAD6}" dt="2026-10-17T05:14:43.283" v="68" actId="1076"/>
          <ac:grpSpMkLst>
            <pc:docMk/>
            <pc:sldMk cId="0" sldId="263"/>
            <ac:grpSpMk id="32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docs.google.com/document/d/1Tv4forBfQFmItegO-HVyC99EbYSg7jbeJWjGxmP_8gY/edit?tab=t.0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digitalocean.com/community/tutorials/how-to-use-ansible-to-automate-initial-server-setup-on-ubuntu-18-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387036" y="4065350"/>
            <a:ext cx="10832278" cy="1344561"/>
            <a:chOff x="0" y="0"/>
            <a:chExt cx="14443038" cy="17927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43038" cy="1792749"/>
            </a:xfrm>
            <a:custGeom>
              <a:avLst/>
              <a:gdLst/>
              <a:ahLst/>
              <a:cxnLst/>
              <a:rect l="l" t="t" r="r" b="b"/>
              <a:pathLst>
                <a:path w="14443038" h="1792749">
                  <a:moveTo>
                    <a:pt x="0" y="0"/>
                  </a:moveTo>
                  <a:lnTo>
                    <a:pt x="14443038" y="0"/>
                  </a:lnTo>
                  <a:lnTo>
                    <a:pt x="14443038" y="1792749"/>
                  </a:lnTo>
                  <a:lnTo>
                    <a:pt x="0" y="17927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43038" cy="18308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810"/>
                </a:lnSpc>
              </a:pPr>
              <a:r>
                <a:rPr lang="en-US" sz="626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Configuration Management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88544" y="5533281"/>
            <a:ext cx="4252912" cy="531614"/>
            <a:chOff x="0" y="0"/>
            <a:chExt cx="5670550" cy="7088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5670550" cy="7373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[ Fundamentals ]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9153525"/>
            <a:ext cx="1881820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  <a:spcBef>
                <a:spcPct val="0"/>
              </a:spcBef>
            </a:pPr>
            <a:r>
              <a:rPr lang="en-US" sz="2375" b="1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Presenter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509125"/>
            <a:ext cx="4276913" cy="47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8"/>
              </a:lnSpc>
              <a:spcBef>
                <a:spcPct val="0"/>
              </a:spcBef>
            </a:pPr>
            <a:r>
              <a:rPr lang="en-US" sz="2475" b="1">
                <a:solidFill>
                  <a:srgbClr val="2150FE"/>
                </a:solidFill>
                <a:latin typeface="Heebo Bold"/>
                <a:ea typeface="Heebo Bold"/>
                <a:cs typeface="Heebo Bold"/>
                <a:sym typeface="Heebo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8086" y="691009"/>
            <a:ext cx="6272956" cy="937721"/>
            <a:chOff x="0" y="0"/>
            <a:chExt cx="8363942" cy="12502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63941" cy="1250295"/>
            </a:xfrm>
            <a:custGeom>
              <a:avLst/>
              <a:gdLst/>
              <a:ahLst/>
              <a:cxnLst/>
              <a:rect l="l" t="t" r="r" b="b"/>
              <a:pathLst>
                <a:path w="8363941" h="1250295">
                  <a:moveTo>
                    <a:pt x="0" y="0"/>
                  </a:moveTo>
                  <a:lnTo>
                    <a:pt x="8363941" y="0"/>
                  </a:lnTo>
                  <a:lnTo>
                    <a:pt x="8363941" y="1250295"/>
                  </a:lnTo>
                  <a:lnTo>
                    <a:pt x="0" y="12502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363942" cy="1278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9"/>
                </a:lnSpc>
              </a:pPr>
              <a:r>
                <a:rPr lang="en-US" sz="503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Topics for today!  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878086" y="1976735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1"/>
                </a:lnTo>
                <a:lnTo>
                  <a:pt x="0" y="1523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508796" y="2351702"/>
            <a:ext cx="7806670" cy="559262"/>
            <a:chOff x="0" y="0"/>
            <a:chExt cx="10408893" cy="7456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08893" cy="745682"/>
            </a:xfrm>
            <a:custGeom>
              <a:avLst/>
              <a:gdLst/>
              <a:ahLst/>
              <a:cxnLst/>
              <a:rect l="l" t="t" r="r" b="b"/>
              <a:pathLst>
                <a:path w="10408893" h="745682">
                  <a:moveTo>
                    <a:pt x="0" y="0"/>
                  </a:moveTo>
                  <a:lnTo>
                    <a:pt x="10408893" y="0"/>
                  </a:lnTo>
                  <a:lnTo>
                    <a:pt x="10408893" y="745682"/>
                  </a:lnTo>
                  <a:lnTo>
                    <a:pt x="0" y="74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408893" cy="7742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3"/>
                </a:lnSpc>
              </a:pPr>
              <a:r>
                <a:rPr lang="en-US" sz="303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Understanding Configuration management  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878086" y="3500586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2"/>
                </a:lnTo>
                <a:lnTo>
                  <a:pt x="0" y="1523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508796" y="3872988"/>
            <a:ext cx="6483477" cy="559262"/>
            <a:chOff x="0" y="0"/>
            <a:chExt cx="8644636" cy="74568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44636" cy="745682"/>
            </a:xfrm>
            <a:custGeom>
              <a:avLst/>
              <a:gdLst/>
              <a:ahLst/>
              <a:cxnLst/>
              <a:rect l="l" t="t" r="r" b="b"/>
              <a:pathLst>
                <a:path w="8644636" h="745682">
                  <a:moveTo>
                    <a:pt x="0" y="0"/>
                  </a:moveTo>
                  <a:lnTo>
                    <a:pt x="8644636" y="0"/>
                  </a:lnTo>
                  <a:lnTo>
                    <a:pt x="8644636" y="745682"/>
                  </a:lnTo>
                  <a:lnTo>
                    <a:pt x="0" y="74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644636" cy="7742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3"/>
                </a:lnSpc>
              </a:pPr>
              <a:r>
                <a:rPr lang="en-US" sz="303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Deep dive into Configuration drift  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878086" y="5024438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1"/>
                </a:lnTo>
                <a:lnTo>
                  <a:pt x="0" y="1523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2508796" y="5394275"/>
            <a:ext cx="7806670" cy="559262"/>
            <a:chOff x="0" y="0"/>
            <a:chExt cx="10408893" cy="7456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08893" cy="745682"/>
            </a:xfrm>
            <a:custGeom>
              <a:avLst/>
              <a:gdLst/>
              <a:ahLst/>
              <a:cxnLst/>
              <a:rect l="l" t="t" r="r" b="b"/>
              <a:pathLst>
                <a:path w="10408893" h="745682">
                  <a:moveTo>
                    <a:pt x="0" y="0"/>
                  </a:moveTo>
                  <a:lnTo>
                    <a:pt x="10408893" y="0"/>
                  </a:lnTo>
                  <a:lnTo>
                    <a:pt x="10408893" y="745682"/>
                  </a:lnTo>
                  <a:lnTo>
                    <a:pt x="0" y="74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0408893" cy="7742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3"/>
                </a:lnSpc>
              </a:pPr>
              <a:r>
                <a:rPr lang="en-US" sz="303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Popular Configuration Management Tools  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878086" y="6548289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1"/>
                </a:lnTo>
                <a:lnTo>
                  <a:pt x="0" y="1523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2508796" y="6915562"/>
            <a:ext cx="5037351" cy="559262"/>
            <a:chOff x="0" y="0"/>
            <a:chExt cx="6716468" cy="74568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16468" cy="745682"/>
            </a:xfrm>
            <a:custGeom>
              <a:avLst/>
              <a:gdLst/>
              <a:ahLst/>
              <a:cxnLst/>
              <a:rect l="l" t="t" r="r" b="b"/>
              <a:pathLst>
                <a:path w="6716468" h="745682">
                  <a:moveTo>
                    <a:pt x="0" y="0"/>
                  </a:moveTo>
                  <a:lnTo>
                    <a:pt x="6716468" y="0"/>
                  </a:lnTo>
                  <a:lnTo>
                    <a:pt x="6716468" y="745682"/>
                  </a:lnTo>
                  <a:lnTo>
                    <a:pt x="0" y="74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6716468" cy="7742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3"/>
                </a:lnSpc>
              </a:pPr>
              <a:r>
                <a:rPr lang="en-US" sz="303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Setting up Ansible tool  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878086" y="8072140"/>
            <a:ext cx="1254472" cy="1523851"/>
          </a:xfrm>
          <a:custGeom>
            <a:avLst/>
            <a:gdLst/>
            <a:ahLst/>
            <a:cxnLst/>
            <a:rect l="l" t="t" r="r" b="b"/>
            <a:pathLst>
              <a:path w="1254472" h="1523851">
                <a:moveTo>
                  <a:pt x="0" y="0"/>
                </a:moveTo>
                <a:lnTo>
                  <a:pt x="1254473" y="0"/>
                </a:lnTo>
                <a:lnTo>
                  <a:pt x="1254473" y="1523851"/>
                </a:lnTo>
                <a:lnTo>
                  <a:pt x="0" y="15238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7" r="-1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508796" y="8436848"/>
            <a:ext cx="6483477" cy="559262"/>
            <a:chOff x="0" y="0"/>
            <a:chExt cx="8644636" cy="7456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644637" cy="745682"/>
            </a:xfrm>
            <a:custGeom>
              <a:avLst/>
              <a:gdLst/>
              <a:ahLst/>
              <a:cxnLst/>
              <a:rect l="l" t="t" r="r" b="b"/>
              <a:pathLst>
                <a:path w="8644637" h="745682">
                  <a:moveTo>
                    <a:pt x="0" y="0"/>
                  </a:moveTo>
                  <a:lnTo>
                    <a:pt x="8644637" y="0"/>
                  </a:lnTo>
                  <a:lnTo>
                    <a:pt x="8644637" y="745682"/>
                  </a:lnTo>
                  <a:lnTo>
                    <a:pt x="0" y="74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8644636" cy="7742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3"/>
                </a:lnSpc>
              </a:pPr>
              <a:r>
                <a:rPr lang="en-US" sz="303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Hands-on Activity with Nginx 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113979"/>
            <a:ext cx="11577273" cy="1034059"/>
            <a:chOff x="0" y="0"/>
            <a:chExt cx="15436364" cy="13787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436363" cy="1378746"/>
            </a:xfrm>
            <a:custGeom>
              <a:avLst/>
              <a:gdLst/>
              <a:ahLst/>
              <a:cxnLst/>
              <a:rect l="l" t="t" r="r" b="b"/>
              <a:pathLst>
                <a:path w="15436363" h="1378746">
                  <a:moveTo>
                    <a:pt x="0" y="0"/>
                  </a:moveTo>
                  <a:lnTo>
                    <a:pt x="15436363" y="0"/>
                  </a:lnTo>
                  <a:lnTo>
                    <a:pt x="15436363" y="1378746"/>
                  </a:lnTo>
                  <a:lnTo>
                    <a:pt x="0" y="13787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5436364" cy="14263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The Traditional Manual Setup 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744093"/>
            <a:ext cx="637878" cy="637878"/>
            <a:chOff x="0" y="0"/>
            <a:chExt cx="850503" cy="8505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1098575" y="2797225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913632" y="2744093"/>
            <a:ext cx="4252912" cy="531614"/>
            <a:chOff x="0" y="0"/>
            <a:chExt cx="5670550" cy="7088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5670550" cy="7373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SSH into each server 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13632" y="3445817"/>
            <a:ext cx="15382131" cy="453629"/>
            <a:chOff x="0" y="0"/>
            <a:chExt cx="20509508" cy="60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509508" cy="604838"/>
            </a:xfrm>
            <a:custGeom>
              <a:avLst/>
              <a:gdLst/>
              <a:ahLst/>
              <a:cxnLst/>
              <a:rect l="l" t="t" r="r" b="b"/>
              <a:pathLst>
                <a:path w="20509508" h="604838">
                  <a:moveTo>
                    <a:pt x="0" y="0"/>
                  </a:moveTo>
                  <a:lnTo>
                    <a:pt x="20509508" y="0"/>
                  </a:lnTo>
                  <a:lnTo>
                    <a:pt x="2050950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050950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Manually connect to every machine in your infrastructure. 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4501902"/>
            <a:ext cx="637878" cy="637877"/>
            <a:chOff x="0" y="0"/>
            <a:chExt cx="850503" cy="8505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1098575" y="4555034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913632" y="4501902"/>
            <a:ext cx="4252912" cy="531614"/>
            <a:chOff x="0" y="0"/>
            <a:chExt cx="5670550" cy="708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5670550" cy="7373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Install dependencies  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13632" y="5203626"/>
            <a:ext cx="15382131" cy="453629"/>
            <a:chOff x="0" y="0"/>
            <a:chExt cx="20509508" cy="6048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509508" cy="604838"/>
            </a:xfrm>
            <a:custGeom>
              <a:avLst/>
              <a:gdLst/>
              <a:ahLst/>
              <a:cxnLst/>
              <a:rect l="l" t="t" r="r" b="b"/>
              <a:pathLst>
                <a:path w="20509508" h="604838">
                  <a:moveTo>
                    <a:pt x="0" y="0"/>
                  </a:moveTo>
                  <a:lnTo>
                    <a:pt x="20509508" y="0"/>
                  </a:lnTo>
                  <a:lnTo>
                    <a:pt x="2050950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2050950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Run commands like apt-get install for each package.  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2238" y="6259711"/>
            <a:ext cx="637878" cy="637878"/>
            <a:chOff x="0" y="0"/>
            <a:chExt cx="850503" cy="85050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1098575" y="6312842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913632" y="6259711"/>
            <a:ext cx="4252912" cy="531614"/>
            <a:chOff x="0" y="0"/>
            <a:chExt cx="5670550" cy="7088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5670550" cy="7373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Configure servers 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913632" y="6961435"/>
            <a:ext cx="15382131" cy="453629"/>
            <a:chOff x="0" y="0"/>
            <a:chExt cx="20509508" cy="6048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509508" cy="604838"/>
            </a:xfrm>
            <a:custGeom>
              <a:avLst/>
              <a:gdLst/>
              <a:ahLst/>
              <a:cxnLst/>
              <a:rect l="l" t="t" r="r" b="b"/>
              <a:pathLst>
                <a:path w="20509508" h="604838">
                  <a:moveTo>
                    <a:pt x="0" y="0"/>
                  </a:moveTo>
                  <a:lnTo>
                    <a:pt x="20509508" y="0"/>
                  </a:lnTo>
                  <a:lnTo>
                    <a:pt x="2050950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2050950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Edit configuration files like nginx.conf on each machine.  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2238" y="8017520"/>
            <a:ext cx="637878" cy="637877"/>
            <a:chOff x="0" y="0"/>
            <a:chExt cx="850503" cy="85050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Freeform 38" descr="preencoded.png"/>
          <p:cNvSpPr/>
          <p:nvPr/>
        </p:nvSpPr>
        <p:spPr>
          <a:xfrm>
            <a:off x="1098575" y="8070651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" name="Group 39"/>
          <p:cNvGrpSpPr/>
          <p:nvPr/>
        </p:nvGrpSpPr>
        <p:grpSpPr>
          <a:xfrm>
            <a:off x="1913632" y="8017520"/>
            <a:ext cx="4252912" cy="531614"/>
            <a:chOff x="0" y="0"/>
            <a:chExt cx="5670550" cy="7088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5670550" cy="7373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Copy scripts  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913632" y="8719245"/>
            <a:ext cx="15382131" cy="453629"/>
            <a:chOff x="0" y="0"/>
            <a:chExt cx="20509508" cy="60483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509508" cy="604838"/>
            </a:xfrm>
            <a:custGeom>
              <a:avLst/>
              <a:gdLst/>
              <a:ahLst/>
              <a:cxnLst/>
              <a:rect l="l" t="t" r="r" b="b"/>
              <a:pathLst>
                <a:path w="20509508" h="604838">
                  <a:moveTo>
                    <a:pt x="0" y="0"/>
                  </a:moveTo>
                  <a:lnTo>
                    <a:pt x="20509508" y="0"/>
                  </a:lnTo>
                  <a:lnTo>
                    <a:pt x="2050950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85725"/>
              <a:ext cx="2050950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Transfer files between machines using scp or shared drives. 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836694" y="594432"/>
            <a:ext cx="9818128" cy="990225"/>
            <a:chOff x="0" y="0"/>
            <a:chExt cx="13090838" cy="13203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90838" cy="1320301"/>
            </a:xfrm>
            <a:custGeom>
              <a:avLst/>
              <a:gdLst/>
              <a:ahLst/>
              <a:cxnLst/>
              <a:rect l="l" t="t" r="r" b="b"/>
              <a:pathLst>
                <a:path w="13090838" h="1320301">
                  <a:moveTo>
                    <a:pt x="0" y="0"/>
                  </a:moveTo>
                  <a:lnTo>
                    <a:pt x="13090838" y="0"/>
                  </a:lnTo>
                  <a:lnTo>
                    <a:pt x="13090838" y="1320301"/>
                  </a:lnTo>
                  <a:lnTo>
                    <a:pt x="0" y="1320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090838" cy="135840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00"/>
                </a:lnSpc>
              </a:pPr>
              <a:r>
                <a:rPr lang="en-US" sz="4375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Problems with Manual Configuration 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36694" y="1784300"/>
            <a:ext cx="9472613" cy="2058740"/>
            <a:chOff x="0" y="0"/>
            <a:chExt cx="12630150" cy="27449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30150" cy="2744978"/>
            </a:xfrm>
            <a:custGeom>
              <a:avLst/>
              <a:gdLst/>
              <a:ahLst/>
              <a:cxnLst/>
              <a:rect l="l" t="t" r="r" b="b"/>
              <a:pathLst>
                <a:path w="12630150" h="2744978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2574270" y="0"/>
                  </a:lnTo>
                  <a:cubicBezTo>
                    <a:pt x="12605131" y="0"/>
                    <a:pt x="12630150" y="25019"/>
                    <a:pt x="12630150" y="55880"/>
                  </a:cubicBezTo>
                  <a:lnTo>
                    <a:pt x="12630150" y="2689098"/>
                  </a:lnTo>
                  <a:cubicBezTo>
                    <a:pt x="12630150" y="2719959"/>
                    <a:pt x="12605131" y="2744978"/>
                    <a:pt x="12574270" y="2744978"/>
                  </a:cubicBezTo>
                  <a:lnTo>
                    <a:pt x="55880" y="2744978"/>
                  </a:lnTo>
                  <a:cubicBezTo>
                    <a:pt x="25019" y="2744978"/>
                    <a:pt x="0" y="2719959"/>
                    <a:pt x="0" y="268909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16341" y="2063949"/>
            <a:ext cx="3495526" cy="436960"/>
            <a:chOff x="0" y="0"/>
            <a:chExt cx="4660702" cy="5826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60702" cy="582613"/>
            </a:xfrm>
            <a:custGeom>
              <a:avLst/>
              <a:gdLst/>
              <a:ahLst/>
              <a:cxnLst/>
              <a:rect l="l" t="t" r="r" b="b"/>
              <a:pathLst>
                <a:path w="4660702" h="582613">
                  <a:moveTo>
                    <a:pt x="0" y="0"/>
                  </a:moveTo>
                  <a:lnTo>
                    <a:pt x="4660702" y="0"/>
                  </a:lnTo>
                  <a:lnTo>
                    <a:pt x="4660702" y="582613"/>
                  </a:lnTo>
                  <a:lnTo>
                    <a:pt x="0" y="5826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660702" cy="6111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Human Error 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16341" y="2668637"/>
            <a:ext cx="8913316" cy="894755"/>
            <a:chOff x="0" y="0"/>
            <a:chExt cx="11884422" cy="11930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884422" cy="1193007"/>
            </a:xfrm>
            <a:custGeom>
              <a:avLst/>
              <a:gdLst/>
              <a:ahLst/>
              <a:cxnLst/>
              <a:rect l="l" t="t" r="r" b="b"/>
              <a:pathLst>
                <a:path w="11884422" h="1193007">
                  <a:moveTo>
                    <a:pt x="0" y="0"/>
                  </a:moveTo>
                  <a:lnTo>
                    <a:pt x="11884422" y="0"/>
                  </a:lnTo>
                  <a:lnTo>
                    <a:pt x="11884422" y="1193007"/>
                  </a:lnTo>
                  <a:lnTo>
                    <a:pt x="0" y="1193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1884422" cy="12787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Manual processes are prone to mistakes that can cause system failures.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36694" y="4122688"/>
            <a:ext cx="9472613" cy="1611363"/>
            <a:chOff x="0" y="0"/>
            <a:chExt cx="12630150" cy="214848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630150" cy="2148459"/>
            </a:xfrm>
            <a:custGeom>
              <a:avLst/>
              <a:gdLst/>
              <a:ahLst/>
              <a:cxnLst/>
              <a:rect l="l" t="t" r="r" b="b"/>
              <a:pathLst>
                <a:path w="12630150" h="2148459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2574270" y="0"/>
                  </a:lnTo>
                  <a:cubicBezTo>
                    <a:pt x="12605131" y="0"/>
                    <a:pt x="12630150" y="25019"/>
                    <a:pt x="12630150" y="55880"/>
                  </a:cubicBezTo>
                  <a:lnTo>
                    <a:pt x="12630150" y="2092579"/>
                  </a:lnTo>
                  <a:cubicBezTo>
                    <a:pt x="12630150" y="2123440"/>
                    <a:pt x="12605131" y="2148459"/>
                    <a:pt x="12574270" y="2148459"/>
                  </a:cubicBezTo>
                  <a:lnTo>
                    <a:pt x="55880" y="2148459"/>
                  </a:lnTo>
                  <a:cubicBezTo>
                    <a:pt x="25019" y="2148459"/>
                    <a:pt x="0" y="2123440"/>
                    <a:pt x="0" y="209257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16341" y="4402336"/>
            <a:ext cx="3495526" cy="436960"/>
            <a:chOff x="0" y="0"/>
            <a:chExt cx="4660702" cy="5826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60702" cy="582613"/>
            </a:xfrm>
            <a:custGeom>
              <a:avLst/>
              <a:gdLst/>
              <a:ahLst/>
              <a:cxnLst/>
              <a:rect l="l" t="t" r="r" b="b"/>
              <a:pathLst>
                <a:path w="4660702" h="582613">
                  <a:moveTo>
                    <a:pt x="0" y="0"/>
                  </a:moveTo>
                  <a:lnTo>
                    <a:pt x="4660702" y="0"/>
                  </a:lnTo>
                  <a:lnTo>
                    <a:pt x="4660702" y="582613"/>
                  </a:lnTo>
                  <a:lnTo>
                    <a:pt x="0" y="5826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4660702" cy="6111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Inconsistency 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16341" y="5007025"/>
            <a:ext cx="8913316" cy="447378"/>
            <a:chOff x="0" y="0"/>
            <a:chExt cx="11884422" cy="5965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884422" cy="596503"/>
            </a:xfrm>
            <a:custGeom>
              <a:avLst/>
              <a:gdLst/>
              <a:ahLst/>
              <a:cxnLst/>
              <a:rect l="l" t="t" r="r" b="b"/>
              <a:pathLst>
                <a:path w="11884422" h="596503">
                  <a:moveTo>
                    <a:pt x="0" y="0"/>
                  </a:moveTo>
                  <a:lnTo>
                    <a:pt x="11884422" y="0"/>
                  </a:lnTo>
                  <a:lnTo>
                    <a:pt x="11884422" y="596503"/>
                  </a:lnTo>
                  <a:lnTo>
                    <a:pt x="0" y="5965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1884422" cy="6822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Hard to repeat the same process consistently across multiple servers.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836694" y="6013698"/>
            <a:ext cx="9472613" cy="1611362"/>
            <a:chOff x="0" y="0"/>
            <a:chExt cx="12630150" cy="21484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630150" cy="2148459"/>
            </a:xfrm>
            <a:custGeom>
              <a:avLst/>
              <a:gdLst/>
              <a:ahLst/>
              <a:cxnLst/>
              <a:rect l="l" t="t" r="r" b="b"/>
              <a:pathLst>
                <a:path w="12630150" h="2148459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2574270" y="0"/>
                  </a:lnTo>
                  <a:cubicBezTo>
                    <a:pt x="12605131" y="0"/>
                    <a:pt x="12630150" y="25019"/>
                    <a:pt x="12630150" y="55880"/>
                  </a:cubicBezTo>
                  <a:lnTo>
                    <a:pt x="12630150" y="2092579"/>
                  </a:lnTo>
                  <a:cubicBezTo>
                    <a:pt x="12630150" y="2123440"/>
                    <a:pt x="12605131" y="2148459"/>
                    <a:pt x="12574270" y="2148459"/>
                  </a:cubicBezTo>
                  <a:lnTo>
                    <a:pt x="55880" y="2148459"/>
                  </a:lnTo>
                  <a:cubicBezTo>
                    <a:pt x="25019" y="2148459"/>
                    <a:pt x="0" y="2123440"/>
                    <a:pt x="0" y="209257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16341" y="6293346"/>
            <a:ext cx="3495526" cy="436960"/>
            <a:chOff x="0" y="0"/>
            <a:chExt cx="4660702" cy="58261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60702" cy="582613"/>
            </a:xfrm>
            <a:custGeom>
              <a:avLst/>
              <a:gdLst/>
              <a:ahLst/>
              <a:cxnLst/>
              <a:rect l="l" t="t" r="r" b="b"/>
              <a:pathLst>
                <a:path w="4660702" h="582613">
                  <a:moveTo>
                    <a:pt x="0" y="0"/>
                  </a:moveTo>
                  <a:lnTo>
                    <a:pt x="4660702" y="0"/>
                  </a:lnTo>
                  <a:lnTo>
                    <a:pt x="4660702" y="582613"/>
                  </a:lnTo>
                  <a:lnTo>
                    <a:pt x="0" y="5826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4660702" cy="6111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Time-Consuming 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16341" y="6898035"/>
            <a:ext cx="8913316" cy="447377"/>
            <a:chOff x="0" y="0"/>
            <a:chExt cx="11884422" cy="59650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884422" cy="596503"/>
            </a:xfrm>
            <a:custGeom>
              <a:avLst/>
              <a:gdLst/>
              <a:ahLst/>
              <a:cxnLst/>
              <a:rect l="l" t="t" r="r" b="b"/>
              <a:pathLst>
                <a:path w="11884422" h="596503">
                  <a:moveTo>
                    <a:pt x="0" y="0"/>
                  </a:moveTo>
                  <a:lnTo>
                    <a:pt x="11884422" y="0"/>
                  </a:lnTo>
                  <a:lnTo>
                    <a:pt x="11884422" y="596503"/>
                  </a:lnTo>
                  <a:lnTo>
                    <a:pt x="0" y="5965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11884422" cy="6822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Setting up servers manually takes hours and creates stress.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36694" y="7904709"/>
            <a:ext cx="9472613" cy="1611362"/>
            <a:chOff x="0" y="0"/>
            <a:chExt cx="12630150" cy="214848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630150" cy="2148459"/>
            </a:xfrm>
            <a:custGeom>
              <a:avLst/>
              <a:gdLst/>
              <a:ahLst/>
              <a:cxnLst/>
              <a:rect l="l" t="t" r="r" b="b"/>
              <a:pathLst>
                <a:path w="12630150" h="2148459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2574270" y="0"/>
                  </a:lnTo>
                  <a:cubicBezTo>
                    <a:pt x="12605131" y="0"/>
                    <a:pt x="12630150" y="25019"/>
                    <a:pt x="12630150" y="55880"/>
                  </a:cubicBezTo>
                  <a:lnTo>
                    <a:pt x="12630150" y="2092579"/>
                  </a:lnTo>
                  <a:cubicBezTo>
                    <a:pt x="12630150" y="2123440"/>
                    <a:pt x="12605131" y="2148459"/>
                    <a:pt x="12574270" y="2148459"/>
                  </a:cubicBezTo>
                  <a:lnTo>
                    <a:pt x="55880" y="2148459"/>
                  </a:lnTo>
                  <a:cubicBezTo>
                    <a:pt x="25019" y="2148459"/>
                    <a:pt x="0" y="2123440"/>
                    <a:pt x="0" y="209257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16341" y="8184356"/>
            <a:ext cx="3495526" cy="436960"/>
            <a:chOff x="0" y="0"/>
            <a:chExt cx="4660702" cy="58261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660702" cy="582613"/>
            </a:xfrm>
            <a:custGeom>
              <a:avLst/>
              <a:gdLst/>
              <a:ahLst/>
              <a:cxnLst/>
              <a:rect l="l" t="t" r="r" b="b"/>
              <a:pathLst>
                <a:path w="4660702" h="582613">
                  <a:moveTo>
                    <a:pt x="0" y="0"/>
                  </a:moveTo>
                  <a:lnTo>
                    <a:pt x="4660702" y="0"/>
                  </a:lnTo>
                  <a:lnTo>
                    <a:pt x="4660702" y="582613"/>
                  </a:lnTo>
                  <a:lnTo>
                    <a:pt x="0" y="5826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4660702" cy="6111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No Version Control  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116341" y="8789045"/>
            <a:ext cx="8913316" cy="447378"/>
            <a:chOff x="0" y="0"/>
            <a:chExt cx="11884422" cy="59650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884422" cy="596503"/>
            </a:xfrm>
            <a:custGeom>
              <a:avLst/>
              <a:gdLst/>
              <a:ahLst/>
              <a:cxnLst/>
              <a:rect l="l" t="t" r="r" b="b"/>
              <a:pathLst>
                <a:path w="11884422" h="596503">
                  <a:moveTo>
                    <a:pt x="0" y="0"/>
                  </a:moveTo>
                  <a:lnTo>
                    <a:pt x="11884422" y="0"/>
                  </a:lnTo>
                  <a:lnTo>
                    <a:pt x="11884422" y="596503"/>
                  </a:lnTo>
                  <a:lnTo>
                    <a:pt x="0" y="5965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11884422" cy="6822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Changes lack history or rollback capability when things go wrong.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9912" y="762000"/>
            <a:ext cx="13543500" cy="1007540"/>
            <a:chOff x="0" y="0"/>
            <a:chExt cx="18058001" cy="13433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58000" cy="1343387"/>
            </a:xfrm>
            <a:custGeom>
              <a:avLst/>
              <a:gdLst/>
              <a:ahLst/>
              <a:cxnLst/>
              <a:rect l="l" t="t" r="r" b="b"/>
              <a:pathLst>
                <a:path w="18058000" h="1343387">
                  <a:moveTo>
                    <a:pt x="0" y="0"/>
                  </a:moveTo>
                  <a:lnTo>
                    <a:pt x="18058000" y="0"/>
                  </a:lnTo>
                  <a:lnTo>
                    <a:pt x="18058000" y="1343387"/>
                  </a:lnTo>
                  <a:lnTo>
                    <a:pt x="0" y="1343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8058001" cy="13910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812"/>
                </a:lnSpc>
              </a:pPr>
              <a:r>
                <a:rPr lang="en-US" sz="543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What Configuration Management Solves 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24950" y="2182118"/>
            <a:ext cx="38100" cy="7343626"/>
            <a:chOff x="0" y="0"/>
            <a:chExt cx="50800" cy="97915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" cy="9791446"/>
            </a:xfrm>
            <a:custGeom>
              <a:avLst/>
              <a:gdLst/>
              <a:ahLst/>
              <a:cxnLst/>
              <a:rect l="l" t="t" r="r" b="b"/>
              <a:pathLst>
                <a:path w="50800" h="979144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9766046"/>
                  </a:lnTo>
                  <a:cubicBezTo>
                    <a:pt x="50800" y="9780015"/>
                    <a:pt x="39370" y="9791446"/>
                    <a:pt x="25400" y="9791446"/>
                  </a:cubicBezTo>
                  <a:cubicBezTo>
                    <a:pt x="11430" y="9791446"/>
                    <a:pt x="0" y="9780015"/>
                    <a:pt x="0" y="9766046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39025" y="2786360"/>
            <a:ext cx="831354" cy="38100"/>
            <a:chOff x="0" y="0"/>
            <a:chExt cx="1108472" cy="50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8456" cy="50800"/>
            </a:xfrm>
            <a:custGeom>
              <a:avLst/>
              <a:gdLst/>
              <a:ahLst/>
              <a:cxnLst/>
              <a:rect l="l" t="t" r="r" b="b"/>
              <a:pathLst>
                <a:path w="1108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56" y="0"/>
                  </a:lnTo>
                  <a:cubicBezTo>
                    <a:pt x="1097026" y="0"/>
                    <a:pt x="1108456" y="11430"/>
                    <a:pt x="1108456" y="25400"/>
                  </a:cubicBezTo>
                  <a:cubicBezTo>
                    <a:pt x="1108456" y="39370"/>
                    <a:pt x="1097026" y="50800"/>
                    <a:pt x="108305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32280" y="2493764"/>
            <a:ext cx="623441" cy="623441"/>
            <a:chOff x="0" y="0"/>
            <a:chExt cx="831255" cy="8312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1215" cy="831215"/>
            </a:xfrm>
            <a:custGeom>
              <a:avLst/>
              <a:gdLst/>
              <a:ahLst/>
              <a:cxnLst/>
              <a:rect l="l" t="t" r="r" b="b"/>
              <a:pathLst>
                <a:path w="831215" h="831215">
                  <a:moveTo>
                    <a:pt x="0" y="55372"/>
                  </a:moveTo>
                  <a:cubicBezTo>
                    <a:pt x="0" y="24765"/>
                    <a:pt x="24765" y="0"/>
                    <a:pt x="55372" y="0"/>
                  </a:cubicBezTo>
                  <a:lnTo>
                    <a:pt x="775843" y="0"/>
                  </a:lnTo>
                  <a:cubicBezTo>
                    <a:pt x="806450" y="0"/>
                    <a:pt x="831215" y="24765"/>
                    <a:pt x="831215" y="55372"/>
                  </a:cubicBezTo>
                  <a:lnTo>
                    <a:pt x="831215" y="775843"/>
                  </a:lnTo>
                  <a:cubicBezTo>
                    <a:pt x="831215" y="806450"/>
                    <a:pt x="806450" y="831215"/>
                    <a:pt x="775843" y="831215"/>
                  </a:cubicBezTo>
                  <a:lnTo>
                    <a:pt x="55372" y="831215"/>
                  </a:lnTo>
                  <a:cubicBezTo>
                    <a:pt x="24765" y="831215"/>
                    <a:pt x="0" y="806450"/>
                    <a:pt x="0" y="775843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8936087" y="2545631"/>
            <a:ext cx="415678" cy="519559"/>
          </a:xfrm>
          <a:custGeom>
            <a:avLst/>
            <a:gdLst/>
            <a:ahLst/>
            <a:cxnLst/>
            <a:rect l="l" t="t" r="r" b="b"/>
            <a:pathLst>
              <a:path w="415678" h="519559">
                <a:moveTo>
                  <a:pt x="0" y="0"/>
                </a:moveTo>
                <a:lnTo>
                  <a:pt x="415678" y="0"/>
                </a:lnTo>
                <a:lnTo>
                  <a:pt x="415678" y="519559"/>
                </a:lnTo>
                <a:lnTo>
                  <a:pt x="0" y="519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" b="-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3601641" y="2459236"/>
            <a:ext cx="4156770" cy="519559"/>
            <a:chOff x="0" y="0"/>
            <a:chExt cx="5542360" cy="6927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42360" cy="692745"/>
            </a:xfrm>
            <a:custGeom>
              <a:avLst/>
              <a:gdLst/>
              <a:ahLst/>
              <a:cxnLst/>
              <a:rect l="l" t="t" r="r" b="b"/>
              <a:pathLst>
                <a:path w="5542360" h="692745">
                  <a:moveTo>
                    <a:pt x="0" y="0"/>
                  </a:moveTo>
                  <a:lnTo>
                    <a:pt x="5542360" y="0"/>
                  </a:lnTo>
                  <a:lnTo>
                    <a:pt x="5542360" y="692745"/>
                  </a:lnTo>
                  <a:lnTo>
                    <a:pt x="0" y="692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5542360" cy="7213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4062"/>
                </a:lnSpc>
              </a:pPr>
              <a:r>
                <a:rPr lang="en-US" sz="32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Consistency  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9912" y="3145036"/>
            <a:ext cx="6788497" cy="886718"/>
            <a:chOff x="0" y="0"/>
            <a:chExt cx="9051330" cy="11822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51330" cy="1182290"/>
            </a:xfrm>
            <a:custGeom>
              <a:avLst/>
              <a:gdLst/>
              <a:ahLst/>
              <a:cxnLst/>
              <a:rect l="l" t="t" r="r" b="b"/>
              <a:pathLst>
                <a:path w="9051330" h="1182290">
                  <a:moveTo>
                    <a:pt x="0" y="0"/>
                  </a:moveTo>
                  <a:lnTo>
                    <a:pt x="9051330" y="0"/>
                  </a:lnTo>
                  <a:lnTo>
                    <a:pt x="9051330" y="1182290"/>
                  </a:lnTo>
                  <a:lnTo>
                    <a:pt x="0" y="118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9051330" cy="12680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437"/>
                </a:lnSpc>
              </a:pPr>
              <a:r>
                <a:rPr lang="en-US" sz="21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The same configuration applied to dev, staging, and production environments.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17620" y="4171950"/>
            <a:ext cx="831354" cy="38100"/>
            <a:chOff x="0" y="0"/>
            <a:chExt cx="1108472" cy="50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8456" cy="50800"/>
            </a:xfrm>
            <a:custGeom>
              <a:avLst/>
              <a:gdLst/>
              <a:ahLst/>
              <a:cxnLst/>
              <a:rect l="l" t="t" r="r" b="b"/>
              <a:pathLst>
                <a:path w="1108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56" y="0"/>
                  </a:lnTo>
                  <a:cubicBezTo>
                    <a:pt x="1097026" y="0"/>
                    <a:pt x="1108456" y="11430"/>
                    <a:pt x="1108456" y="25400"/>
                  </a:cubicBezTo>
                  <a:cubicBezTo>
                    <a:pt x="1108456" y="39370"/>
                    <a:pt x="1097026" y="50800"/>
                    <a:pt x="108305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32280" y="3879354"/>
            <a:ext cx="623441" cy="623441"/>
            <a:chOff x="0" y="0"/>
            <a:chExt cx="831255" cy="83125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31215" cy="831215"/>
            </a:xfrm>
            <a:custGeom>
              <a:avLst/>
              <a:gdLst/>
              <a:ahLst/>
              <a:cxnLst/>
              <a:rect l="l" t="t" r="r" b="b"/>
              <a:pathLst>
                <a:path w="831215" h="831215">
                  <a:moveTo>
                    <a:pt x="0" y="55372"/>
                  </a:moveTo>
                  <a:cubicBezTo>
                    <a:pt x="0" y="24765"/>
                    <a:pt x="24765" y="0"/>
                    <a:pt x="55372" y="0"/>
                  </a:cubicBezTo>
                  <a:lnTo>
                    <a:pt x="775843" y="0"/>
                  </a:lnTo>
                  <a:cubicBezTo>
                    <a:pt x="806450" y="0"/>
                    <a:pt x="831215" y="24765"/>
                    <a:pt x="831215" y="55372"/>
                  </a:cubicBezTo>
                  <a:lnTo>
                    <a:pt x="831215" y="775843"/>
                  </a:lnTo>
                  <a:cubicBezTo>
                    <a:pt x="831215" y="806450"/>
                    <a:pt x="806450" y="831215"/>
                    <a:pt x="775843" y="831215"/>
                  </a:cubicBezTo>
                  <a:lnTo>
                    <a:pt x="55372" y="831215"/>
                  </a:lnTo>
                  <a:cubicBezTo>
                    <a:pt x="24765" y="831215"/>
                    <a:pt x="0" y="806450"/>
                    <a:pt x="0" y="775843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8936087" y="3931220"/>
            <a:ext cx="415678" cy="519559"/>
          </a:xfrm>
          <a:custGeom>
            <a:avLst/>
            <a:gdLst/>
            <a:ahLst/>
            <a:cxnLst/>
            <a:rect l="l" t="t" r="r" b="b"/>
            <a:pathLst>
              <a:path w="415678" h="519559">
                <a:moveTo>
                  <a:pt x="0" y="0"/>
                </a:moveTo>
                <a:lnTo>
                  <a:pt x="415678" y="0"/>
                </a:lnTo>
                <a:lnTo>
                  <a:pt x="415678" y="519559"/>
                </a:lnTo>
                <a:lnTo>
                  <a:pt x="0" y="519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" b="-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0529590" y="3844826"/>
            <a:ext cx="4156770" cy="519559"/>
            <a:chOff x="0" y="0"/>
            <a:chExt cx="5542360" cy="69274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542360" cy="692745"/>
            </a:xfrm>
            <a:custGeom>
              <a:avLst/>
              <a:gdLst/>
              <a:ahLst/>
              <a:cxnLst/>
              <a:rect l="l" t="t" r="r" b="b"/>
              <a:pathLst>
                <a:path w="5542360" h="692745">
                  <a:moveTo>
                    <a:pt x="0" y="0"/>
                  </a:moveTo>
                  <a:lnTo>
                    <a:pt x="5542360" y="0"/>
                  </a:lnTo>
                  <a:lnTo>
                    <a:pt x="5542360" y="692745"/>
                  </a:lnTo>
                  <a:lnTo>
                    <a:pt x="0" y="692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5542360" cy="7213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32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Speed  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529590" y="4530626"/>
            <a:ext cx="6788497" cy="443359"/>
            <a:chOff x="0" y="0"/>
            <a:chExt cx="9051330" cy="59114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051330" cy="591145"/>
            </a:xfrm>
            <a:custGeom>
              <a:avLst/>
              <a:gdLst/>
              <a:ahLst/>
              <a:cxnLst/>
              <a:rect l="l" t="t" r="r" b="b"/>
              <a:pathLst>
                <a:path w="9051330" h="591145">
                  <a:moveTo>
                    <a:pt x="0" y="0"/>
                  </a:moveTo>
                  <a:lnTo>
                    <a:pt x="9051330" y="0"/>
                  </a:lnTo>
                  <a:lnTo>
                    <a:pt x="9051330" y="591145"/>
                  </a:lnTo>
                  <a:lnTo>
                    <a:pt x="0" y="591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9051330" cy="6768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One script configures hundreds of servers in minutes.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39025" y="5418981"/>
            <a:ext cx="831354" cy="38100"/>
            <a:chOff x="0" y="0"/>
            <a:chExt cx="1108472" cy="50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8456" cy="50800"/>
            </a:xfrm>
            <a:custGeom>
              <a:avLst/>
              <a:gdLst/>
              <a:ahLst/>
              <a:cxnLst/>
              <a:rect l="l" t="t" r="r" b="b"/>
              <a:pathLst>
                <a:path w="1108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56" y="0"/>
                  </a:lnTo>
                  <a:cubicBezTo>
                    <a:pt x="1097026" y="0"/>
                    <a:pt x="1108456" y="11430"/>
                    <a:pt x="1108456" y="25400"/>
                  </a:cubicBezTo>
                  <a:cubicBezTo>
                    <a:pt x="1108456" y="39370"/>
                    <a:pt x="1097026" y="50800"/>
                    <a:pt x="108305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832280" y="5126385"/>
            <a:ext cx="623441" cy="623441"/>
            <a:chOff x="0" y="0"/>
            <a:chExt cx="831255" cy="83125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31215" cy="831215"/>
            </a:xfrm>
            <a:custGeom>
              <a:avLst/>
              <a:gdLst/>
              <a:ahLst/>
              <a:cxnLst/>
              <a:rect l="l" t="t" r="r" b="b"/>
              <a:pathLst>
                <a:path w="831215" h="831215">
                  <a:moveTo>
                    <a:pt x="0" y="55372"/>
                  </a:moveTo>
                  <a:cubicBezTo>
                    <a:pt x="0" y="24765"/>
                    <a:pt x="24765" y="0"/>
                    <a:pt x="55372" y="0"/>
                  </a:cubicBezTo>
                  <a:lnTo>
                    <a:pt x="775843" y="0"/>
                  </a:lnTo>
                  <a:cubicBezTo>
                    <a:pt x="806450" y="0"/>
                    <a:pt x="831215" y="24765"/>
                    <a:pt x="831215" y="55372"/>
                  </a:cubicBezTo>
                  <a:lnTo>
                    <a:pt x="831215" y="775843"/>
                  </a:lnTo>
                  <a:cubicBezTo>
                    <a:pt x="831215" y="806450"/>
                    <a:pt x="806450" y="831215"/>
                    <a:pt x="775843" y="831215"/>
                  </a:cubicBezTo>
                  <a:lnTo>
                    <a:pt x="55372" y="831215"/>
                  </a:lnTo>
                  <a:cubicBezTo>
                    <a:pt x="24765" y="831215"/>
                    <a:pt x="0" y="806450"/>
                    <a:pt x="0" y="775843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Freeform 37" descr="preencoded.png"/>
          <p:cNvSpPr/>
          <p:nvPr/>
        </p:nvSpPr>
        <p:spPr>
          <a:xfrm>
            <a:off x="8936087" y="5178251"/>
            <a:ext cx="415678" cy="519559"/>
          </a:xfrm>
          <a:custGeom>
            <a:avLst/>
            <a:gdLst/>
            <a:ahLst/>
            <a:cxnLst/>
            <a:rect l="l" t="t" r="r" b="b"/>
            <a:pathLst>
              <a:path w="415678" h="519559">
                <a:moveTo>
                  <a:pt x="0" y="0"/>
                </a:moveTo>
                <a:lnTo>
                  <a:pt x="415678" y="0"/>
                </a:lnTo>
                <a:lnTo>
                  <a:pt x="415678" y="519559"/>
                </a:lnTo>
                <a:lnTo>
                  <a:pt x="0" y="519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" b="-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8" name="Group 38"/>
          <p:cNvGrpSpPr/>
          <p:nvPr/>
        </p:nvGrpSpPr>
        <p:grpSpPr>
          <a:xfrm>
            <a:off x="3482131" y="5091856"/>
            <a:ext cx="4276279" cy="519559"/>
            <a:chOff x="0" y="0"/>
            <a:chExt cx="5701705" cy="69274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701705" cy="692745"/>
            </a:xfrm>
            <a:custGeom>
              <a:avLst/>
              <a:gdLst/>
              <a:ahLst/>
              <a:cxnLst/>
              <a:rect l="l" t="t" r="r" b="b"/>
              <a:pathLst>
                <a:path w="5701705" h="692745">
                  <a:moveTo>
                    <a:pt x="0" y="0"/>
                  </a:moveTo>
                  <a:lnTo>
                    <a:pt x="5701705" y="0"/>
                  </a:lnTo>
                  <a:lnTo>
                    <a:pt x="5701705" y="692745"/>
                  </a:lnTo>
                  <a:lnTo>
                    <a:pt x="0" y="692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5701705" cy="7213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4062"/>
                </a:lnSpc>
              </a:pPr>
              <a:r>
                <a:rPr lang="en-US" sz="32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Documentation as Code  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69912" y="5777656"/>
            <a:ext cx="6788497" cy="886717"/>
            <a:chOff x="0" y="0"/>
            <a:chExt cx="9051330" cy="118229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051330" cy="1182290"/>
            </a:xfrm>
            <a:custGeom>
              <a:avLst/>
              <a:gdLst/>
              <a:ahLst/>
              <a:cxnLst/>
              <a:rect l="l" t="t" r="r" b="b"/>
              <a:pathLst>
                <a:path w="9051330" h="1182290">
                  <a:moveTo>
                    <a:pt x="0" y="0"/>
                  </a:moveTo>
                  <a:lnTo>
                    <a:pt x="9051330" y="0"/>
                  </a:lnTo>
                  <a:lnTo>
                    <a:pt x="9051330" y="1182290"/>
                  </a:lnTo>
                  <a:lnTo>
                    <a:pt x="0" y="118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85725"/>
              <a:ext cx="9051330" cy="12680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437"/>
                </a:lnSpc>
              </a:pPr>
              <a:r>
                <a:rPr lang="en-US" sz="21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Configuration becomes readable and version-controlled.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17620" y="6666011"/>
            <a:ext cx="831354" cy="38100"/>
            <a:chOff x="0" y="0"/>
            <a:chExt cx="1108472" cy="50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08456" cy="50800"/>
            </a:xfrm>
            <a:custGeom>
              <a:avLst/>
              <a:gdLst/>
              <a:ahLst/>
              <a:cxnLst/>
              <a:rect l="l" t="t" r="r" b="b"/>
              <a:pathLst>
                <a:path w="1108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56" y="0"/>
                  </a:lnTo>
                  <a:cubicBezTo>
                    <a:pt x="1097026" y="0"/>
                    <a:pt x="1108456" y="11430"/>
                    <a:pt x="1108456" y="25400"/>
                  </a:cubicBezTo>
                  <a:cubicBezTo>
                    <a:pt x="1108456" y="39370"/>
                    <a:pt x="1097026" y="50800"/>
                    <a:pt x="108305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32280" y="6373416"/>
            <a:ext cx="623441" cy="623441"/>
            <a:chOff x="0" y="0"/>
            <a:chExt cx="831255" cy="83125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31215" cy="831215"/>
            </a:xfrm>
            <a:custGeom>
              <a:avLst/>
              <a:gdLst/>
              <a:ahLst/>
              <a:cxnLst/>
              <a:rect l="l" t="t" r="r" b="b"/>
              <a:pathLst>
                <a:path w="831215" h="831215">
                  <a:moveTo>
                    <a:pt x="0" y="55372"/>
                  </a:moveTo>
                  <a:cubicBezTo>
                    <a:pt x="0" y="24765"/>
                    <a:pt x="24765" y="0"/>
                    <a:pt x="55372" y="0"/>
                  </a:cubicBezTo>
                  <a:lnTo>
                    <a:pt x="775843" y="0"/>
                  </a:lnTo>
                  <a:cubicBezTo>
                    <a:pt x="806450" y="0"/>
                    <a:pt x="831215" y="24765"/>
                    <a:pt x="831215" y="55372"/>
                  </a:cubicBezTo>
                  <a:lnTo>
                    <a:pt x="831215" y="775843"/>
                  </a:lnTo>
                  <a:cubicBezTo>
                    <a:pt x="831215" y="806450"/>
                    <a:pt x="806450" y="831215"/>
                    <a:pt x="775843" y="831215"/>
                  </a:cubicBezTo>
                  <a:lnTo>
                    <a:pt x="55372" y="831215"/>
                  </a:lnTo>
                  <a:cubicBezTo>
                    <a:pt x="24765" y="831215"/>
                    <a:pt x="0" y="806450"/>
                    <a:pt x="0" y="775843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Freeform 48" descr="preencoded.png"/>
          <p:cNvSpPr/>
          <p:nvPr/>
        </p:nvSpPr>
        <p:spPr>
          <a:xfrm>
            <a:off x="8936087" y="6425282"/>
            <a:ext cx="415678" cy="519559"/>
          </a:xfrm>
          <a:custGeom>
            <a:avLst/>
            <a:gdLst/>
            <a:ahLst/>
            <a:cxnLst/>
            <a:rect l="l" t="t" r="r" b="b"/>
            <a:pathLst>
              <a:path w="415678" h="519559">
                <a:moveTo>
                  <a:pt x="0" y="0"/>
                </a:moveTo>
                <a:lnTo>
                  <a:pt x="415678" y="0"/>
                </a:lnTo>
                <a:lnTo>
                  <a:pt x="415678" y="519559"/>
                </a:lnTo>
                <a:lnTo>
                  <a:pt x="0" y="519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" b="-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9" name="Group 49"/>
          <p:cNvGrpSpPr/>
          <p:nvPr/>
        </p:nvGrpSpPr>
        <p:grpSpPr>
          <a:xfrm>
            <a:off x="10529590" y="6338888"/>
            <a:ext cx="4156770" cy="519559"/>
            <a:chOff x="0" y="0"/>
            <a:chExt cx="5542360" cy="69274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542360" cy="692745"/>
            </a:xfrm>
            <a:custGeom>
              <a:avLst/>
              <a:gdLst/>
              <a:ahLst/>
              <a:cxnLst/>
              <a:rect l="l" t="t" r="r" b="b"/>
              <a:pathLst>
                <a:path w="5542360" h="692745">
                  <a:moveTo>
                    <a:pt x="0" y="0"/>
                  </a:moveTo>
                  <a:lnTo>
                    <a:pt x="5542360" y="0"/>
                  </a:lnTo>
                  <a:lnTo>
                    <a:pt x="5542360" y="692745"/>
                  </a:lnTo>
                  <a:lnTo>
                    <a:pt x="0" y="692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5542360" cy="7213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32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Testability  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29590" y="7024687"/>
            <a:ext cx="6788497" cy="886717"/>
            <a:chOff x="0" y="0"/>
            <a:chExt cx="9051330" cy="118229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051330" cy="1182290"/>
            </a:xfrm>
            <a:custGeom>
              <a:avLst/>
              <a:gdLst/>
              <a:ahLst/>
              <a:cxnLst/>
              <a:rect l="l" t="t" r="r" b="b"/>
              <a:pathLst>
                <a:path w="9051330" h="1182290">
                  <a:moveTo>
                    <a:pt x="0" y="0"/>
                  </a:moveTo>
                  <a:lnTo>
                    <a:pt x="9051330" y="0"/>
                  </a:lnTo>
                  <a:lnTo>
                    <a:pt x="9051330" y="1182290"/>
                  </a:lnTo>
                  <a:lnTo>
                    <a:pt x="0" y="118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85725"/>
              <a:ext cx="9051330" cy="12680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Easier to test infrastructure in test/stage environments.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39025" y="7913042"/>
            <a:ext cx="831354" cy="38100"/>
            <a:chOff x="0" y="0"/>
            <a:chExt cx="1108472" cy="50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08456" cy="50800"/>
            </a:xfrm>
            <a:custGeom>
              <a:avLst/>
              <a:gdLst/>
              <a:ahLst/>
              <a:cxnLst/>
              <a:rect l="l" t="t" r="r" b="b"/>
              <a:pathLst>
                <a:path w="1108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56" y="0"/>
                  </a:lnTo>
                  <a:cubicBezTo>
                    <a:pt x="1097026" y="0"/>
                    <a:pt x="1108456" y="11430"/>
                    <a:pt x="1108456" y="25400"/>
                  </a:cubicBezTo>
                  <a:cubicBezTo>
                    <a:pt x="1108456" y="39370"/>
                    <a:pt x="1097026" y="50800"/>
                    <a:pt x="108305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832280" y="7620446"/>
            <a:ext cx="623441" cy="623441"/>
            <a:chOff x="0" y="0"/>
            <a:chExt cx="831255" cy="83125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31215" cy="831215"/>
            </a:xfrm>
            <a:custGeom>
              <a:avLst/>
              <a:gdLst/>
              <a:ahLst/>
              <a:cxnLst/>
              <a:rect l="l" t="t" r="r" b="b"/>
              <a:pathLst>
                <a:path w="831215" h="831215">
                  <a:moveTo>
                    <a:pt x="0" y="55372"/>
                  </a:moveTo>
                  <a:cubicBezTo>
                    <a:pt x="0" y="24765"/>
                    <a:pt x="24765" y="0"/>
                    <a:pt x="55372" y="0"/>
                  </a:cubicBezTo>
                  <a:lnTo>
                    <a:pt x="775843" y="0"/>
                  </a:lnTo>
                  <a:cubicBezTo>
                    <a:pt x="806450" y="0"/>
                    <a:pt x="831215" y="24765"/>
                    <a:pt x="831215" y="55372"/>
                  </a:cubicBezTo>
                  <a:lnTo>
                    <a:pt x="831215" y="775843"/>
                  </a:lnTo>
                  <a:cubicBezTo>
                    <a:pt x="831215" y="806450"/>
                    <a:pt x="806450" y="831215"/>
                    <a:pt x="775843" y="831215"/>
                  </a:cubicBezTo>
                  <a:lnTo>
                    <a:pt x="55372" y="831215"/>
                  </a:lnTo>
                  <a:cubicBezTo>
                    <a:pt x="24765" y="831215"/>
                    <a:pt x="0" y="806450"/>
                    <a:pt x="0" y="775843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936087" y="7672312"/>
            <a:ext cx="415678" cy="519559"/>
            <a:chOff x="0" y="0"/>
            <a:chExt cx="554237" cy="69274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54237" cy="692745"/>
            </a:xfrm>
            <a:custGeom>
              <a:avLst/>
              <a:gdLst/>
              <a:ahLst/>
              <a:cxnLst/>
              <a:rect l="l" t="t" r="r" b="b"/>
              <a:pathLst>
                <a:path w="554237" h="692745">
                  <a:moveTo>
                    <a:pt x="0" y="0"/>
                  </a:moveTo>
                  <a:lnTo>
                    <a:pt x="554237" y="0"/>
                  </a:lnTo>
                  <a:lnTo>
                    <a:pt x="554237" y="692745"/>
                  </a:lnTo>
                  <a:lnTo>
                    <a:pt x="0" y="692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47625"/>
              <a:ext cx="554237" cy="6451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50"/>
                </a:lnSpc>
              </a:pPr>
              <a:r>
                <a:rPr lang="en-US" sz="32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5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601641" y="7585919"/>
            <a:ext cx="4156770" cy="519559"/>
            <a:chOff x="0" y="0"/>
            <a:chExt cx="5542360" cy="69274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542360" cy="692745"/>
            </a:xfrm>
            <a:custGeom>
              <a:avLst/>
              <a:gdLst/>
              <a:ahLst/>
              <a:cxnLst/>
              <a:rect l="l" t="t" r="r" b="b"/>
              <a:pathLst>
                <a:path w="5542360" h="692745">
                  <a:moveTo>
                    <a:pt x="0" y="0"/>
                  </a:moveTo>
                  <a:lnTo>
                    <a:pt x="5542360" y="0"/>
                  </a:lnTo>
                  <a:lnTo>
                    <a:pt x="5542360" y="692745"/>
                  </a:lnTo>
                  <a:lnTo>
                    <a:pt x="0" y="692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5542360" cy="7213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4062"/>
                </a:lnSpc>
              </a:pPr>
              <a:r>
                <a:rPr lang="en-US" sz="325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Idempotency  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69912" y="8271719"/>
            <a:ext cx="6788497" cy="886717"/>
            <a:chOff x="0" y="0"/>
            <a:chExt cx="9051330" cy="118229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051330" cy="1182290"/>
            </a:xfrm>
            <a:custGeom>
              <a:avLst/>
              <a:gdLst/>
              <a:ahLst/>
              <a:cxnLst/>
              <a:rect l="l" t="t" r="r" b="b"/>
              <a:pathLst>
                <a:path w="9051330" h="1182290">
                  <a:moveTo>
                    <a:pt x="0" y="0"/>
                  </a:moveTo>
                  <a:lnTo>
                    <a:pt x="9051330" y="0"/>
                  </a:lnTo>
                  <a:lnTo>
                    <a:pt x="9051330" y="1182290"/>
                  </a:lnTo>
                  <a:lnTo>
                    <a:pt x="0" y="118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85725"/>
              <a:ext cx="9051330" cy="12680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437"/>
                </a:lnSpc>
              </a:pPr>
              <a:r>
                <a:rPr lang="en-US" sz="21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Will maintain desired state even after re-applying the configs.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3248917"/>
          </a:xfrm>
          <a:custGeom>
            <a:avLst/>
            <a:gdLst/>
            <a:ahLst/>
            <a:cxnLst/>
            <a:rect l="l" t="t" r="r" b="b"/>
            <a:pathLst>
              <a:path w="18288000" h="3248917">
                <a:moveTo>
                  <a:pt x="0" y="0"/>
                </a:moveTo>
                <a:lnTo>
                  <a:pt x="18288000" y="0"/>
                </a:lnTo>
                <a:lnTo>
                  <a:pt x="18288000" y="3248917"/>
                </a:lnTo>
                <a:lnTo>
                  <a:pt x="0" y="3248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31" t="-79" r="-63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806798" y="3515617"/>
            <a:ext cx="10131725" cy="840395"/>
            <a:chOff x="0" y="0"/>
            <a:chExt cx="13508967" cy="11205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08966" cy="1120527"/>
            </a:xfrm>
            <a:custGeom>
              <a:avLst/>
              <a:gdLst/>
              <a:ahLst/>
              <a:cxnLst/>
              <a:rect l="l" t="t" r="r" b="b"/>
              <a:pathLst>
                <a:path w="13508966" h="1120527">
                  <a:moveTo>
                    <a:pt x="0" y="0"/>
                  </a:moveTo>
                  <a:lnTo>
                    <a:pt x="13508966" y="0"/>
                  </a:lnTo>
                  <a:lnTo>
                    <a:pt x="13508966" y="1120527"/>
                  </a:lnTo>
                  <a:lnTo>
                    <a:pt x="0" y="11205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508967" cy="11586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625"/>
                </a:lnSpc>
              </a:pPr>
              <a:r>
                <a:rPr lang="en-US" sz="4499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 Understanding Configuration Drift 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29712" y="4581674"/>
            <a:ext cx="28575" cy="5071170"/>
            <a:chOff x="0" y="0"/>
            <a:chExt cx="38100" cy="6761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" cy="6761607"/>
            </a:xfrm>
            <a:custGeom>
              <a:avLst/>
              <a:gdLst/>
              <a:ahLst/>
              <a:cxnLst/>
              <a:rect l="l" t="t" r="r" b="b"/>
              <a:pathLst>
                <a:path w="38100" h="676160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742557"/>
                  </a:lnTo>
                  <a:cubicBezTo>
                    <a:pt x="38100" y="6753098"/>
                    <a:pt x="29591" y="6761607"/>
                    <a:pt x="19050" y="6761607"/>
                  </a:cubicBezTo>
                  <a:cubicBezTo>
                    <a:pt x="8509" y="6761607"/>
                    <a:pt x="0" y="6753098"/>
                    <a:pt x="0" y="6742557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21786" y="5085904"/>
            <a:ext cx="691455" cy="28575"/>
            <a:chOff x="0" y="0"/>
            <a:chExt cx="921940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1893" cy="38100"/>
            </a:xfrm>
            <a:custGeom>
              <a:avLst/>
              <a:gdLst/>
              <a:ahLst/>
              <a:cxnLst/>
              <a:rect l="l" t="t" r="r" b="b"/>
              <a:pathLst>
                <a:path w="92189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02843" y="0"/>
                  </a:lnTo>
                  <a:cubicBezTo>
                    <a:pt x="913384" y="0"/>
                    <a:pt x="921893" y="8509"/>
                    <a:pt x="921893" y="19050"/>
                  </a:cubicBezTo>
                  <a:cubicBezTo>
                    <a:pt x="921893" y="29591"/>
                    <a:pt x="913384" y="38100"/>
                    <a:pt x="90284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84668" y="4840932"/>
            <a:ext cx="518666" cy="518666"/>
            <a:chOff x="0" y="0"/>
            <a:chExt cx="691555" cy="6915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1515" cy="691515"/>
            </a:xfrm>
            <a:custGeom>
              <a:avLst/>
              <a:gdLst/>
              <a:ahLst/>
              <a:cxnLst/>
              <a:rect l="l" t="t" r="r" b="b"/>
              <a:pathLst>
                <a:path w="691515" h="691515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45414" y="0"/>
                  </a:lnTo>
                  <a:cubicBezTo>
                    <a:pt x="670941" y="0"/>
                    <a:pt x="691515" y="20701"/>
                    <a:pt x="691515" y="46101"/>
                  </a:cubicBezTo>
                  <a:lnTo>
                    <a:pt x="691515" y="645414"/>
                  </a:lnTo>
                  <a:cubicBezTo>
                    <a:pt x="691515" y="670941"/>
                    <a:pt x="670814" y="691515"/>
                    <a:pt x="645414" y="691515"/>
                  </a:cubicBezTo>
                  <a:lnTo>
                    <a:pt x="46101" y="691515"/>
                  </a:lnTo>
                  <a:cubicBezTo>
                    <a:pt x="20701" y="691515"/>
                    <a:pt x="0" y="670941"/>
                    <a:pt x="0" y="64541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8971061" y="4884092"/>
            <a:ext cx="345727" cy="432197"/>
          </a:xfrm>
          <a:custGeom>
            <a:avLst/>
            <a:gdLst/>
            <a:ahLst/>
            <a:cxnLst/>
            <a:rect l="l" t="t" r="r" b="b"/>
            <a:pathLst>
              <a:path w="345727" h="432197">
                <a:moveTo>
                  <a:pt x="0" y="0"/>
                </a:moveTo>
                <a:lnTo>
                  <a:pt x="345728" y="0"/>
                </a:lnTo>
                <a:lnTo>
                  <a:pt x="345728" y="432198"/>
                </a:lnTo>
                <a:lnTo>
                  <a:pt x="0" y="432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4533751" y="4812060"/>
            <a:ext cx="3457724" cy="432047"/>
            <a:chOff x="0" y="0"/>
            <a:chExt cx="4610298" cy="5760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10298" cy="576063"/>
            </a:xfrm>
            <a:custGeom>
              <a:avLst/>
              <a:gdLst/>
              <a:ahLst/>
              <a:cxnLst/>
              <a:rect l="l" t="t" r="r" b="b"/>
              <a:pathLst>
                <a:path w="4610298" h="576063">
                  <a:moveTo>
                    <a:pt x="0" y="0"/>
                  </a:moveTo>
                  <a:lnTo>
                    <a:pt x="4610298" y="0"/>
                  </a:lnTo>
                  <a:lnTo>
                    <a:pt x="4610298" y="576063"/>
                  </a:lnTo>
                  <a:lnTo>
                    <a:pt x="0" y="576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610298" cy="5951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374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Manual Hotfixes 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6797" y="5382369"/>
            <a:ext cx="7184677" cy="368796"/>
            <a:chOff x="0" y="0"/>
            <a:chExt cx="9579570" cy="4917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79570" cy="491728"/>
            </a:xfrm>
            <a:custGeom>
              <a:avLst/>
              <a:gdLst/>
              <a:ahLst/>
              <a:cxnLst/>
              <a:rect l="l" t="t" r="r" b="b"/>
              <a:pathLst>
                <a:path w="9579570" h="491728">
                  <a:moveTo>
                    <a:pt x="0" y="0"/>
                  </a:moveTo>
                  <a:lnTo>
                    <a:pt x="9579570" y="0"/>
                  </a:lnTo>
                  <a:lnTo>
                    <a:pt x="9579570" y="491728"/>
                  </a:lnTo>
                  <a:lnTo>
                    <a:pt x="0" y="4917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9579570" cy="5584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875"/>
                </a:lnSpc>
              </a:pPr>
              <a:r>
                <a:rPr lang="en-US" sz="18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Changes made under pressure in production environments.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74757" y="6238280"/>
            <a:ext cx="691455" cy="28575"/>
            <a:chOff x="0" y="0"/>
            <a:chExt cx="921940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1893" cy="38100"/>
            </a:xfrm>
            <a:custGeom>
              <a:avLst/>
              <a:gdLst/>
              <a:ahLst/>
              <a:cxnLst/>
              <a:rect l="l" t="t" r="r" b="b"/>
              <a:pathLst>
                <a:path w="92189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02843" y="0"/>
                  </a:lnTo>
                  <a:cubicBezTo>
                    <a:pt x="913384" y="0"/>
                    <a:pt x="921893" y="8509"/>
                    <a:pt x="921893" y="19050"/>
                  </a:cubicBezTo>
                  <a:cubicBezTo>
                    <a:pt x="921893" y="29591"/>
                    <a:pt x="913384" y="38100"/>
                    <a:pt x="90284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884668" y="5993309"/>
            <a:ext cx="518666" cy="518666"/>
            <a:chOff x="0" y="0"/>
            <a:chExt cx="691555" cy="69155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1515" cy="691515"/>
            </a:xfrm>
            <a:custGeom>
              <a:avLst/>
              <a:gdLst/>
              <a:ahLst/>
              <a:cxnLst/>
              <a:rect l="l" t="t" r="r" b="b"/>
              <a:pathLst>
                <a:path w="691515" h="691515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45414" y="0"/>
                  </a:lnTo>
                  <a:cubicBezTo>
                    <a:pt x="670941" y="0"/>
                    <a:pt x="691515" y="20701"/>
                    <a:pt x="691515" y="46101"/>
                  </a:cubicBezTo>
                  <a:lnTo>
                    <a:pt x="691515" y="645414"/>
                  </a:lnTo>
                  <a:cubicBezTo>
                    <a:pt x="691515" y="670941"/>
                    <a:pt x="670814" y="691515"/>
                    <a:pt x="645414" y="691515"/>
                  </a:cubicBezTo>
                  <a:lnTo>
                    <a:pt x="46101" y="691515"/>
                  </a:lnTo>
                  <a:cubicBezTo>
                    <a:pt x="20701" y="691515"/>
                    <a:pt x="0" y="670941"/>
                    <a:pt x="0" y="64541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8971061" y="6036469"/>
            <a:ext cx="345727" cy="432197"/>
          </a:xfrm>
          <a:custGeom>
            <a:avLst/>
            <a:gdLst/>
            <a:ahLst/>
            <a:cxnLst/>
            <a:rect l="l" t="t" r="r" b="b"/>
            <a:pathLst>
              <a:path w="345727" h="432197">
                <a:moveTo>
                  <a:pt x="0" y="0"/>
                </a:moveTo>
                <a:lnTo>
                  <a:pt x="345728" y="0"/>
                </a:lnTo>
                <a:lnTo>
                  <a:pt x="345728" y="432197"/>
                </a:lnTo>
                <a:lnTo>
                  <a:pt x="0" y="432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0296525" y="5964436"/>
            <a:ext cx="3457724" cy="432047"/>
            <a:chOff x="0" y="0"/>
            <a:chExt cx="4610298" cy="57606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10298" cy="576063"/>
            </a:xfrm>
            <a:custGeom>
              <a:avLst/>
              <a:gdLst/>
              <a:ahLst/>
              <a:cxnLst/>
              <a:rect l="l" t="t" r="r" b="b"/>
              <a:pathLst>
                <a:path w="4610298" h="576063">
                  <a:moveTo>
                    <a:pt x="0" y="0"/>
                  </a:moveTo>
                  <a:lnTo>
                    <a:pt x="4610298" y="0"/>
                  </a:lnTo>
                  <a:lnTo>
                    <a:pt x="4610298" y="576063"/>
                  </a:lnTo>
                  <a:lnTo>
                    <a:pt x="0" y="576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610298" cy="5951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Untracked Changes 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296525" y="6534745"/>
            <a:ext cx="7184678" cy="368796"/>
            <a:chOff x="0" y="0"/>
            <a:chExt cx="9579570" cy="4917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579570" cy="491728"/>
            </a:xfrm>
            <a:custGeom>
              <a:avLst/>
              <a:gdLst/>
              <a:ahLst/>
              <a:cxnLst/>
              <a:rect l="l" t="t" r="r" b="b"/>
              <a:pathLst>
                <a:path w="9579570" h="491728">
                  <a:moveTo>
                    <a:pt x="0" y="0"/>
                  </a:moveTo>
                  <a:lnTo>
                    <a:pt x="9579570" y="0"/>
                  </a:lnTo>
                  <a:lnTo>
                    <a:pt x="9579570" y="491728"/>
                  </a:lnTo>
                  <a:lnTo>
                    <a:pt x="0" y="4917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9579570" cy="5584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5"/>
                </a:lnSpc>
              </a:pPr>
              <a:r>
                <a:rPr lang="en-US" sz="18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Config files edited without documentation.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221786" y="7275462"/>
            <a:ext cx="691455" cy="28575"/>
            <a:chOff x="0" y="0"/>
            <a:chExt cx="921940" cy="381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1893" cy="38100"/>
            </a:xfrm>
            <a:custGeom>
              <a:avLst/>
              <a:gdLst/>
              <a:ahLst/>
              <a:cxnLst/>
              <a:rect l="l" t="t" r="r" b="b"/>
              <a:pathLst>
                <a:path w="92189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02843" y="0"/>
                  </a:lnTo>
                  <a:cubicBezTo>
                    <a:pt x="913384" y="0"/>
                    <a:pt x="921893" y="8509"/>
                    <a:pt x="921893" y="19050"/>
                  </a:cubicBezTo>
                  <a:cubicBezTo>
                    <a:pt x="921893" y="29591"/>
                    <a:pt x="913384" y="38100"/>
                    <a:pt x="90284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884668" y="7030491"/>
            <a:ext cx="518666" cy="518666"/>
            <a:chOff x="0" y="0"/>
            <a:chExt cx="691555" cy="69155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91515" cy="691515"/>
            </a:xfrm>
            <a:custGeom>
              <a:avLst/>
              <a:gdLst/>
              <a:ahLst/>
              <a:cxnLst/>
              <a:rect l="l" t="t" r="r" b="b"/>
              <a:pathLst>
                <a:path w="691515" h="691515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45414" y="0"/>
                  </a:lnTo>
                  <a:cubicBezTo>
                    <a:pt x="670941" y="0"/>
                    <a:pt x="691515" y="20701"/>
                    <a:pt x="691515" y="46101"/>
                  </a:cubicBezTo>
                  <a:lnTo>
                    <a:pt x="691515" y="645414"/>
                  </a:lnTo>
                  <a:cubicBezTo>
                    <a:pt x="691515" y="670941"/>
                    <a:pt x="670814" y="691515"/>
                    <a:pt x="645414" y="691515"/>
                  </a:cubicBezTo>
                  <a:lnTo>
                    <a:pt x="46101" y="691515"/>
                  </a:lnTo>
                  <a:cubicBezTo>
                    <a:pt x="20701" y="691515"/>
                    <a:pt x="0" y="670941"/>
                    <a:pt x="0" y="64541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Freeform 38" descr="preencoded.png"/>
          <p:cNvSpPr/>
          <p:nvPr/>
        </p:nvSpPr>
        <p:spPr>
          <a:xfrm>
            <a:off x="8971061" y="7073653"/>
            <a:ext cx="345727" cy="432198"/>
          </a:xfrm>
          <a:custGeom>
            <a:avLst/>
            <a:gdLst/>
            <a:ahLst/>
            <a:cxnLst/>
            <a:rect l="l" t="t" r="r" b="b"/>
            <a:pathLst>
              <a:path w="345727" h="432198">
                <a:moveTo>
                  <a:pt x="0" y="0"/>
                </a:moveTo>
                <a:lnTo>
                  <a:pt x="345728" y="0"/>
                </a:lnTo>
                <a:lnTo>
                  <a:pt x="345728" y="432197"/>
                </a:lnTo>
                <a:lnTo>
                  <a:pt x="0" y="432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" name="Group 39"/>
          <p:cNvGrpSpPr/>
          <p:nvPr/>
        </p:nvGrpSpPr>
        <p:grpSpPr>
          <a:xfrm>
            <a:off x="4533751" y="7001619"/>
            <a:ext cx="3457724" cy="432047"/>
            <a:chOff x="0" y="0"/>
            <a:chExt cx="4610298" cy="57606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610298" cy="576063"/>
            </a:xfrm>
            <a:custGeom>
              <a:avLst/>
              <a:gdLst/>
              <a:ahLst/>
              <a:cxnLst/>
              <a:rect l="l" t="t" r="r" b="b"/>
              <a:pathLst>
                <a:path w="4610298" h="576063">
                  <a:moveTo>
                    <a:pt x="0" y="0"/>
                  </a:moveTo>
                  <a:lnTo>
                    <a:pt x="4610298" y="0"/>
                  </a:lnTo>
                  <a:lnTo>
                    <a:pt x="4610298" y="576063"/>
                  </a:lnTo>
                  <a:lnTo>
                    <a:pt x="0" y="576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4610298" cy="5951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374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Different Patch Levels  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6797" y="7571929"/>
            <a:ext cx="7184677" cy="368796"/>
            <a:chOff x="0" y="0"/>
            <a:chExt cx="9579570" cy="49172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579570" cy="491728"/>
            </a:xfrm>
            <a:custGeom>
              <a:avLst/>
              <a:gdLst/>
              <a:ahLst/>
              <a:cxnLst/>
              <a:rect l="l" t="t" r="r" b="b"/>
              <a:pathLst>
                <a:path w="9579570" h="491728">
                  <a:moveTo>
                    <a:pt x="0" y="0"/>
                  </a:moveTo>
                  <a:lnTo>
                    <a:pt x="9579570" y="0"/>
                  </a:lnTo>
                  <a:lnTo>
                    <a:pt x="9579570" y="491728"/>
                  </a:lnTo>
                  <a:lnTo>
                    <a:pt x="0" y="4917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66675"/>
              <a:ext cx="9579570" cy="5584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875"/>
                </a:lnSpc>
              </a:pPr>
              <a:r>
                <a:rPr lang="en-US" sz="18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Inconsistent OS patches or application versions.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74757" y="8312795"/>
            <a:ext cx="691455" cy="28575"/>
            <a:chOff x="0" y="0"/>
            <a:chExt cx="921940" cy="381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21893" cy="38100"/>
            </a:xfrm>
            <a:custGeom>
              <a:avLst/>
              <a:gdLst/>
              <a:ahLst/>
              <a:cxnLst/>
              <a:rect l="l" t="t" r="r" b="b"/>
              <a:pathLst>
                <a:path w="92189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02843" y="0"/>
                  </a:lnTo>
                  <a:cubicBezTo>
                    <a:pt x="913384" y="0"/>
                    <a:pt x="921893" y="8509"/>
                    <a:pt x="921893" y="19050"/>
                  </a:cubicBezTo>
                  <a:cubicBezTo>
                    <a:pt x="921893" y="29591"/>
                    <a:pt x="913384" y="38100"/>
                    <a:pt x="90284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884668" y="8067824"/>
            <a:ext cx="518666" cy="518666"/>
            <a:chOff x="0" y="0"/>
            <a:chExt cx="691555" cy="69155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91515" cy="691515"/>
            </a:xfrm>
            <a:custGeom>
              <a:avLst/>
              <a:gdLst/>
              <a:ahLst/>
              <a:cxnLst/>
              <a:rect l="l" t="t" r="r" b="b"/>
              <a:pathLst>
                <a:path w="691515" h="691515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45414" y="0"/>
                  </a:lnTo>
                  <a:cubicBezTo>
                    <a:pt x="670941" y="0"/>
                    <a:pt x="691515" y="20701"/>
                    <a:pt x="691515" y="46101"/>
                  </a:cubicBezTo>
                  <a:lnTo>
                    <a:pt x="691515" y="645414"/>
                  </a:lnTo>
                  <a:cubicBezTo>
                    <a:pt x="691515" y="670941"/>
                    <a:pt x="670814" y="691515"/>
                    <a:pt x="645414" y="691515"/>
                  </a:cubicBezTo>
                  <a:lnTo>
                    <a:pt x="46101" y="691515"/>
                  </a:lnTo>
                  <a:cubicBezTo>
                    <a:pt x="20701" y="691515"/>
                    <a:pt x="0" y="670941"/>
                    <a:pt x="0" y="64541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" name="Freeform 49" descr="preencoded.png"/>
          <p:cNvSpPr/>
          <p:nvPr/>
        </p:nvSpPr>
        <p:spPr>
          <a:xfrm>
            <a:off x="8971061" y="8110984"/>
            <a:ext cx="345727" cy="432198"/>
          </a:xfrm>
          <a:custGeom>
            <a:avLst/>
            <a:gdLst/>
            <a:ahLst/>
            <a:cxnLst/>
            <a:rect l="l" t="t" r="r" b="b"/>
            <a:pathLst>
              <a:path w="345727" h="432198">
                <a:moveTo>
                  <a:pt x="0" y="0"/>
                </a:moveTo>
                <a:lnTo>
                  <a:pt x="345728" y="0"/>
                </a:lnTo>
                <a:lnTo>
                  <a:pt x="345728" y="432197"/>
                </a:lnTo>
                <a:lnTo>
                  <a:pt x="0" y="4321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" r="-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0" name="Group 50"/>
          <p:cNvGrpSpPr/>
          <p:nvPr/>
        </p:nvGrpSpPr>
        <p:grpSpPr>
          <a:xfrm>
            <a:off x="10296525" y="8038951"/>
            <a:ext cx="3457724" cy="432047"/>
            <a:chOff x="0" y="0"/>
            <a:chExt cx="4610298" cy="57606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610298" cy="576063"/>
            </a:xfrm>
            <a:custGeom>
              <a:avLst/>
              <a:gdLst/>
              <a:ahLst/>
              <a:cxnLst/>
              <a:rect l="l" t="t" r="r" b="b"/>
              <a:pathLst>
                <a:path w="4610298" h="576063">
                  <a:moveTo>
                    <a:pt x="0" y="0"/>
                  </a:moveTo>
                  <a:lnTo>
                    <a:pt x="4610298" y="0"/>
                  </a:lnTo>
                  <a:lnTo>
                    <a:pt x="4610298" y="576063"/>
                  </a:lnTo>
                  <a:lnTo>
                    <a:pt x="0" y="576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4610298" cy="5951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Resulting Problems  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296525" y="8609260"/>
            <a:ext cx="7184678" cy="737592"/>
            <a:chOff x="0" y="0"/>
            <a:chExt cx="9579570" cy="98345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579570" cy="983457"/>
            </a:xfrm>
            <a:custGeom>
              <a:avLst/>
              <a:gdLst/>
              <a:ahLst/>
              <a:cxnLst/>
              <a:rect l="l" t="t" r="r" b="b"/>
              <a:pathLst>
                <a:path w="9579570" h="983457">
                  <a:moveTo>
                    <a:pt x="0" y="0"/>
                  </a:moveTo>
                  <a:lnTo>
                    <a:pt x="9579570" y="0"/>
                  </a:lnTo>
                  <a:lnTo>
                    <a:pt x="9579570" y="983457"/>
                  </a:lnTo>
                  <a:lnTo>
                    <a:pt x="0" y="983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9579570" cy="10501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5"/>
                </a:lnSpc>
              </a:pPr>
              <a:r>
                <a:rPr lang="en-US" sz="18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Environment-specific bugs, security vulnerabilities, broken CI/CD pipelines.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1469634"/>
            <a:ext cx="7715258" cy="1132031"/>
            <a:chOff x="0" y="0"/>
            <a:chExt cx="10287011" cy="15093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87011" cy="1509375"/>
            </a:xfrm>
            <a:custGeom>
              <a:avLst/>
              <a:gdLst/>
              <a:ahLst/>
              <a:cxnLst/>
              <a:rect l="l" t="t" r="r" b="b"/>
              <a:pathLst>
                <a:path w="10287011" h="1509375">
                  <a:moveTo>
                    <a:pt x="0" y="0"/>
                  </a:moveTo>
                  <a:lnTo>
                    <a:pt x="10287011" y="0"/>
                  </a:lnTo>
                  <a:lnTo>
                    <a:pt x="10287011" y="1509375"/>
                  </a:lnTo>
                  <a:lnTo>
                    <a:pt x="0" y="15093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287011" cy="1557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How CM Tools Helps  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3020616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" b="-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835027" y="3304134"/>
            <a:ext cx="10017026" cy="531614"/>
            <a:chOff x="0" y="0"/>
            <a:chExt cx="13356035" cy="7088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56034" cy="708818"/>
            </a:xfrm>
            <a:custGeom>
              <a:avLst/>
              <a:gdLst/>
              <a:ahLst/>
              <a:cxnLst/>
              <a:rect l="l" t="t" r="r" b="b"/>
              <a:pathLst>
                <a:path w="13356034" h="708818">
                  <a:moveTo>
                    <a:pt x="0" y="0"/>
                  </a:moveTo>
                  <a:lnTo>
                    <a:pt x="13356034" y="0"/>
                  </a:lnTo>
                  <a:lnTo>
                    <a:pt x="13356034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3356035" cy="7373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Detect and fix drift by enforcing a known configuration  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992238" y="4721721"/>
            <a:ext cx="1417588" cy="2275135"/>
          </a:xfrm>
          <a:custGeom>
            <a:avLst/>
            <a:gdLst/>
            <a:ahLst/>
            <a:cxnLst/>
            <a:rect l="l" t="t" r="r" b="b"/>
            <a:pathLst>
              <a:path w="1417588" h="2275135">
                <a:moveTo>
                  <a:pt x="0" y="0"/>
                </a:moveTo>
                <a:lnTo>
                  <a:pt x="1417587" y="0"/>
                </a:lnTo>
                <a:lnTo>
                  <a:pt x="1417587" y="2275135"/>
                </a:lnTo>
                <a:lnTo>
                  <a:pt x="0" y="2275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" r="-2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835027" y="5005239"/>
            <a:ext cx="8430666" cy="531614"/>
            <a:chOff x="0" y="0"/>
            <a:chExt cx="11240888" cy="7088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40888" cy="708818"/>
            </a:xfrm>
            <a:custGeom>
              <a:avLst/>
              <a:gdLst/>
              <a:ahLst/>
              <a:cxnLst/>
              <a:rect l="l" t="t" r="r" b="b"/>
              <a:pathLst>
                <a:path w="11240888" h="708818">
                  <a:moveTo>
                    <a:pt x="0" y="0"/>
                  </a:moveTo>
                  <a:lnTo>
                    <a:pt x="11240888" y="0"/>
                  </a:lnTo>
                  <a:lnTo>
                    <a:pt x="11240888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1240888" cy="7373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Apply changes declaratively (not procedurally) 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35027" y="5706964"/>
            <a:ext cx="14460736" cy="453629"/>
            <a:chOff x="0" y="0"/>
            <a:chExt cx="19280982" cy="6048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280981" cy="604838"/>
            </a:xfrm>
            <a:custGeom>
              <a:avLst/>
              <a:gdLst/>
              <a:ahLst/>
              <a:cxnLst/>
              <a:rect l="l" t="t" r="r" b="b"/>
              <a:pathLst>
                <a:path w="19280981" h="604838">
                  <a:moveTo>
                    <a:pt x="0" y="0"/>
                  </a:moveTo>
                  <a:lnTo>
                    <a:pt x="19280981" y="0"/>
                  </a:lnTo>
                  <a:lnTo>
                    <a:pt x="1928098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9280982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Procedural</a:t>
              </a: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“Step-by-step instructions.”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35027" y="6259711"/>
            <a:ext cx="14460736" cy="453629"/>
            <a:chOff x="0" y="0"/>
            <a:chExt cx="19280982" cy="6048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280981" cy="604838"/>
            </a:xfrm>
            <a:custGeom>
              <a:avLst/>
              <a:gdLst/>
              <a:ahLst/>
              <a:cxnLst/>
              <a:rect l="l" t="t" r="r" b="b"/>
              <a:pathLst>
                <a:path w="19280981" h="604838">
                  <a:moveTo>
                    <a:pt x="0" y="0"/>
                  </a:moveTo>
                  <a:lnTo>
                    <a:pt x="19280981" y="0"/>
                  </a:lnTo>
                  <a:lnTo>
                    <a:pt x="1928098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9280982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Declarative</a:t>
              </a: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“Tell the system </a:t>
              </a:r>
              <a:r>
                <a:rPr lang="en-US" sz="2187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what</a:t>
              </a: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you want, not </a:t>
              </a:r>
              <a:r>
                <a:rPr lang="en-US" sz="2187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how</a:t>
              </a: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to do it.”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992238" y="6996856"/>
            <a:ext cx="1417588" cy="1722387"/>
          </a:xfrm>
          <a:custGeom>
            <a:avLst/>
            <a:gdLst/>
            <a:ahLst/>
            <a:cxnLst/>
            <a:rect l="l" t="t" r="r" b="b"/>
            <a:pathLst>
              <a:path w="1417588" h="1722387">
                <a:moveTo>
                  <a:pt x="0" y="0"/>
                </a:moveTo>
                <a:lnTo>
                  <a:pt x="1417587" y="0"/>
                </a:lnTo>
                <a:lnTo>
                  <a:pt x="1417587" y="1722388"/>
                </a:lnTo>
                <a:lnTo>
                  <a:pt x="0" y="1722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" r="-1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835027" y="7280374"/>
            <a:ext cx="10301287" cy="531614"/>
            <a:chOff x="0" y="0"/>
            <a:chExt cx="13735050" cy="7088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735050" cy="708818"/>
            </a:xfrm>
            <a:custGeom>
              <a:avLst/>
              <a:gdLst/>
              <a:ahLst/>
              <a:cxnLst/>
              <a:rect l="l" t="t" r="r" b="b"/>
              <a:pathLst>
                <a:path w="13735050" h="708818">
                  <a:moveTo>
                    <a:pt x="0" y="0"/>
                  </a:moveTo>
                  <a:lnTo>
                    <a:pt x="13735050" y="0"/>
                  </a:lnTo>
                  <a:lnTo>
                    <a:pt x="137350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3735050" cy="7373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Use inventory management to keep track of system states  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35027" y="7982099"/>
            <a:ext cx="14460736" cy="453629"/>
            <a:chOff x="0" y="0"/>
            <a:chExt cx="19280982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280981" cy="604838"/>
            </a:xfrm>
            <a:custGeom>
              <a:avLst/>
              <a:gdLst/>
              <a:ahLst/>
              <a:cxnLst/>
              <a:rect l="l" t="t" r="r" b="b"/>
              <a:pathLst>
                <a:path w="19280981" h="604838">
                  <a:moveTo>
                    <a:pt x="0" y="0"/>
                  </a:moveTo>
                  <a:lnTo>
                    <a:pt x="19280981" y="0"/>
                  </a:lnTo>
                  <a:lnTo>
                    <a:pt x="1928098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9280982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List of resources + details like IP, environment etc.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302" y="-18797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0255" y="668388"/>
            <a:ext cx="10870704" cy="885496"/>
            <a:chOff x="0" y="0"/>
            <a:chExt cx="14494272" cy="11806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94272" cy="1180662"/>
            </a:xfrm>
            <a:custGeom>
              <a:avLst/>
              <a:gdLst/>
              <a:ahLst/>
              <a:cxnLst/>
              <a:rect l="l" t="t" r="r" b="b"/>
              <a:pathLst>
                <a:path w="14494272" h="1180662">
                  <a:moveTo>
                    <a:pt x="0" y="0"/>
                  </a:moveTo>
                  <a:lnTo>
                    <a:pt x="14494272" y="0"/>
                  </a:lnTo>
                  <a:lnTo>
                    <a:pt x="14494272" y="1180662"/>
                  </a:lnTo>
                  <a:lnTo>
                    <a:pt x="0" y="1180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494272" cy="12092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937"/>
                </a:lnSpc>
              </a:pPr>
              <a:r>
                <a:rPr lang="en-US" sz="4750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Declarative vs. Procedural Approach 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81087" y="2020490"/>
            <a:ext cx="4879357" cy="493006"/>
            <a:chOff x="-736799" y="-19049"/>
            <a:chExt cx="6505810" cy="6573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92155" cy="607417"/>
            </a:xfrm>
            <a:custGeom>
              <a:avLst/>
              <a:gdLst/>
              <a:ahLst/>
              <a:cxnLst/>
              <a:rect l="l" t="t" r="r" b="b"/>
              <a:pathLst>
                <a:path w="5492155" h="607417">
                  <a:moveTo>
                    <a:pt x="0" y="0"/>
                  </a:moveTo>
                  <a:lnTo>
                    <a:pt x="5492155" y="0"/>
                  </a:lnTo>
                  <a:lnTo>
                    <a:pt x="5492155" y="607417"/>
                  </a:lnTo>
                  <a:lnTo>
                    <a:pt x="0" y="6074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736799" y="-19049"/>
              <a:ext cx="6505810" cy="65734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812" b="1" dirty="0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Procedural (Manual Script)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0255" y="2763590"/>
            <a:ext cx="5133380" cy="1918692"/>
            <a:chOff x="0" y="0"/>
            <a:chExt cx="6844507" cy="25582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44538" cy="2558288"/>
            </a:xfrm>
            <a:custGeom>
              <a:avLst/>
              <a:gdLst/>
              <a:ahLst/>
              <a:cxnLst/>
              <a:rect l="l" t="t" r="r" b="b"/>
              <a:pathLst>
                <a:path w="6844538" h="2558288">
                  <a:moveTo>
                    <a:pt x="0" y="48641"/>
                  </a:moveTo>
                  <a:cubicBezTo>
                    <a:pt x="0" y="21717"/>
                    <a:pt x="21717" y="0"/>
                    <a:pt x="48641" y="0"/>
                  </a:cubicBezTo>
                  <a:lnTo>
                    <a:pt x="6795897" y="0"/>
                  </a:lnTo>
                  <a:cubicBezTo>
                    <a:pt x="6822694" y="0"/>
                    <a:pt x="6844538" y="21717"/>
                    <a:pt x="6844538" y="48641"/>
                  </a:cubicBezTo>
                  <a:lnTo>
                    <a:pt x="6844538" y="2509647"/>
                  </a:lnTo>
                  <a:cubicBezTo>
                    <a:pt x="6844538" y="2536444"/>
                    <a:pt x="6822821" y="2558288"/>
                    <a:pt x="6795897" y="2558288"/>
                  </a:cubicBezTo>
                  <a:lnTo>
                    <a:pt x="48641" y="2558288"/>
                  </a:lnTo>
                  <a:cubicBezTo>
                    <a:pt x="21844" y="2558288"/>
                    <a:pt x="0" y="2536571"/>
                    <a:pt x="0" y="2509647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8200" y="2763590"/>
            <a:ext cx="5157490" cy="1918692"/>
            <a:chOff x="0" y="0"/>
            <a:chExt cx="6876653" cy="25582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76669" cy="2558288"/>
            </a:xfrm>
            <a:custGeom>
              <a:avLst/>
              <a:gdLst/>
              <a:ahLst/>
              <a:cxnLst/>
              <a:rect l="l" t="t" r="r" b="b"/>
              <a:pathLst>
                <a:path w="6876669" h="2558288">
                  <a:moveTo>
                    <a:pt x="0" y="48641"/>
                  </a:moveTo>
                  <a:cubicBezTo>
                    <a:pt x="0" y="21717"/>
                    <a:pt x="21717" y="0"/>
                    <a:pt x="48641" y="0"/>
                  </a:cubicBezTo>
                  <a:lnTo>
                    <a:pt x="6828028" y="0"/>
                  </a:lnTo>
                  <a:cubicBezTo>
                    <a:pt x="6854825" y="0"/>
                    <a:pt x="6876669" y="21717"/>
                    <a:pt x="6876669" y="48641"/>
                  </a:cubicBezTo>
                  <a:lnTo>
                    <a:pt x="6876669" y="2509647"/>
                  </a:lnTo>
                  <a:cubicBezTo>
                    <a:pt x="6876669" y="2536444"/>
                    <a:pt x="6854952" y="2558288"/>
                    <a:pt x="6828028" y="2558288"/>
                  </a:cubicBezTo>
                  <a:lnTo>
                    <a:pt x="48641" y="2558288"/>
                  </a:lnTo>
                  <a:cubicBezTo>
                    <a:pt x="21844" y="2558288"/>
                    <a:pt x="0" y="2536571"/>
                    <a:pt x="0" y="2509647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1087" y="2945755"/>
            <a:ext cx="4671715" cy="1554361"/>
            <a:chOff x="0" y="0"/>
            <a:chExt cx="6228953" cy="207248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28954" cy="2072482"/>
            </a:xfrm>
            <a:custGeom>
              <a:avLst/>
              <a:gdLst/>
              <a:ahLst/>
              <a:cxnLst/>
              <a:rect l="l" t="t" r="r" b="b"/>
              <a:pathLst>
                <a:path w="6228954" h="2072482">
                  <a:moveTo>
                    <a:pt x="0" y="0"/>
                  </a:moveTo>
                  <a:lnTo>
                    <a:pt x="6228954" y="0"/>
                  </a:lnTo>
                  <a:lnTo>
                    <a:pt x="6228954" y="2072482"/>
                  </a:lnTo>
                  <a:lnTo>
                    <a:pt x="0" y="20724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23825"/>
              <a:ext cx="6228953" cy="21963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sudo apt update</a:t>
              </a: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sudo apt install nginx</a:t>
              </a: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sudo systemctl start nginx</a:t>
              </a: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sudo systemctl enable nginx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0255" y="4955530"/>
            <a:ext cx="5133380" cy="777180"/>
            <a:chOff x="0" y="0"/>
            <a:chExt cx="6844507" cy="10362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44507" cy="1036240"/>
            </a:xfrm>
            <a:custGeom>
              <a:avLst/>
              <a:gdLst/>
              <a:ahLst/>
              <a:cxnLst/>
              <a:rect l="l" t="t" r="r" b="b"/>
              <a:pathLst>
                <a:path w="6844507" h="1036240">
                  <a:moveTo>
                    <a:pt x="0" y="0"/>
                  </a:moveTo>
                  <a:lnTo>
                    <a:pt x="6844507" y="0"/>
                  </a:lnTo>
                  <a:lnTo>
                    <a:pt x="6844507" y="1036240"/>
                  </a:lnTo>
                  <a:lnTo>
                    <a:pt x="0" y="1036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6844507" cy="1121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Step-by-step instructions telling the system how to install NGINX.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31274" y="2034777"/>
            <a:ext cx="3644056" cy="455563"/>
            <a:chOff x="0" y="0"/>
            <a:chExt cx="4858742" cy="60741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58742" cy="607417"/>
            </a:xfrm>
            <a:custGeom>
              <a:avLst/>
              <a:gdLst/>
              <a:ahLst/>
              <a:cxnLst/>
              <a:rect l="l" t="t" r="r" b="b"/>
              <a:pathLst>
                <a:path w="4858742" h="607417">
                  <a:moveTo>
                    <a:pt x="0" y="0"/>
                  </a:moveTo>
                  <a:lnTo>
                    <a:pt x="4858742" y="0"/>
                  </a:lnTo>
                  <a:lnTo>
                    <a:pt x="4858742" y="607417"/>
                  </a:lnTo>
                  <a:lnTo>
                    <a:pt x="0" y="6074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858742" cy="6264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81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Declarative (Ansible)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85794" y="2763590"/>
            <a:ext cx="5135165" cy="3473054"/>
            <a:chOff x="0" y="0"/>
            <a:chExt cx="6846887" cy="46307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46824" cy="4630674"/>
            </a:xfrm>
            <a:custGeom>
              <a:avLst/>
              <a:gdLst/>
              <a:ahLst/>
              <a:cxnLst/>
              <a:rect l="l" t="t" r="r" b="b"/>
              <a:pathLst>
                <a:path w="6846824" h="4630674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6798310" y="0"/>
                  </a:lnTo>
                  <a:cubicBezTo>
                    <a:pt x="6825107" y="0"/>
                    <a:pt x="6846824" y="21717"/>
                    <a:pt x="6846824" y="48514"/>
                  </a:cubicBezTo>
                  <a:lnTo>
                    <a:pt x="6846824" y="4582160"/>
                  </a:lnTo>
                  <a:cubicBezTo>
                    <a:pt x="6846824" y="4608957"/>
                    <a:pt x="6825107" y="4630674"/>
                    <a:pt x="6798310" y="4630674"/>
                  </a:cubicBezTo>
                  <a:lnTo>
                    <a:pt x="48514" y="4630674"/>
                  </a:lnTo>
                  <a:cubicBezTo>
                    <a:pt x="21717" y="4630674"/>
                    <a:pt x="0" y="4608957"/>
                    <a:pt x="0" y="4582160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73739" y="2763589"/>
            <a:ext cx="5159276" cy="5315169"/>
            <a:chOff x="0" y="0"/>
            <a:chExt cx="6879035" cy="46307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78955" cy="4630674"/>
            </a:xfrm>
            <a:custGeom>
              <a:avLst/>
              <a:gdLst/>
              <a:ahLst/>
              <a:cxnLst/>
              <a:rect l="l" t="t" r="r" b="b"/>
              <a:pathLst>
                <a:path w="6878955" h="4630674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6830441" y="0"/>
                  </a:lnTo>
                  <a:cubicBezTo>
                    <a:pt x="6857238" y="0"/>
                    <a:pt x="6878955" y="21717"/>
                    <a:pt x="6878955" y="48514"/>
                  </a:cubicBezTo>
                  <a:lnTo>
                    <a:pt x="6878955" y="4582160"/>
                  </a:lnTo>
                  <a:cubicBezTo>
                    <a:pt x="6878955" y="4608957"/>
                    <a:pt x="6857238" y="4630674"/>
                    <a:pt x="6830441" y="4630674"/>
                  </a:cubicBezTo>
                  <a:lnTo>
                    <a:pt x="48514" y="4630674"/>
                  </a:lnTo>
                  <a:cubicBezTo>
                    <a:pt x="21717" y="4630674"/>
                    <a:pt x="0" y="4608957"/>
                    <a:pt x="0" y="4582160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85634" y="2931578"/>
            <a:ext cx="4916329" cy="5315169"/>
            <a:chOff x="-41323" y="-6737"/>
            <a:chExt cx="6555106" cy="4745260"/>
          </a:xfrm>
        </p:grpSpPr>
        <p:sp>
          <p:nvSpPr>
            <p:cNvPr id="30" name="Freeform 30"/>
            <p:cNvSpPr/>
            <p:nvPr/>
          </p:nvSpPr>
          <p:spPr>
            <a:xfrm>
              <a:off x="149732" y="-5878"/>
              <a:ext cx="6231335" cy="4144963"/>
            </a:xfrm>
            <a:custGeom>
              <a:avLst/>
              <a:gdLst/>
              <a:ahLst/>
              <a:cxnLst/>
              <a:rect l="l" t="t" r="r" b="b"/>
              <a:pathLst>
                <a:path w="6231335" h="4144963">
                  <a:moveTo>
                    <a:pt x="0" y="0"/>
                  </a:moveTo>
                  <a:lnTo>
                    <a:pt x="6231335" y="0"/>
                  </a:lnTo>
                  <a:lnTo>
                    <a:pt x="6231335" y="4144963"/>
                  </a:lnTo>
                  <a:lnTo>
                    <a:pt x="0" y="4144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-41323" y="-6737"/>
              <a:ext cx="6555106" cy="47452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- name: Install and run NGINX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hosts</a:t>
              </a: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: web</a:t>
              </a:r>
              <a:endParaRPr lang="en-US" sz="1874" dirty="0">
                <a:solidFill>
                  <a:srgbClr val="4C4C4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become: yes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tasks: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  - name: Ensure nginx is installed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    apt: 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     name: nginx 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     state: present</a:t>
              </a:r>
            </a:p>
            <a:p>
              <a:pPr algn="l">
                <a:lnSpc>
                  <a:spcPts val="3000"/>
                </a:lnSpc>
              </a:pPr>
              <a:endParaRPr lang="en-US" sz="1874" dirty="0">
                <a:solidFill>
                  <a:srgbClr val="4C4C4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  - name: Ensure nginx is running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    service: 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     name: nginx </a:t>
              </a:r>
            </a:p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       state: started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73738" y="6453071"/>
            <a:ext cx="5147220" cy="2635150"/>
            <a:chOff x="-16073" y="0"/>
            <a:chExt cx="6862960" cy="351353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846887" cy="2140941"/>
            </a:xfrm>
            <a:custGeom>
              <a:avLst/>
              <a:gdLst/>
              <a:ahLst/>
              <a:cxnLst/>
              <a:rect l="l" t="t" r="r" b="b"/>
              <a:pathLst>
                <a:path w="6846887" h="1036240">
                  <a:moveTo>
                    <a:pt x="0" y="0"/>
                  </a:moveTo>
                  <a:lnTo>
                    <a:pt x="6846887" y="0"/>
                  </a:lnTo>
                  <a:lnTo>
                    <a:pt x="6846887" y="1036240"/>
                  </a:lnTo>
                  <a:lnTo>
                    <a:pt x="0" y="1036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-16073" y="2391568"/>
              <a:ext cx="6846887" cy="1121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dirty="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Just declaring the end state you want, Ansible figures out the steps.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037790" y="2034777"/>
            <a:ext cx="3703885" cy="455563"/>
            <a:chOff x="0" y="0"/>
            <a:chExt cx="4938513" cy="60741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938513" cy="607417"/>
            </a:xfrm>
            <a:custGeom>
              <a:avLst/>
              <a:gdLst/>
              <a:ahLst/>
              <a:cxnLst/>
              <a:rect l="l" t="t" r="r" b="b"/>
              <a:pathLst>
                <a:path w="4938513" h="607417">
                  <a:moveTo>
                    <a:pt x="0" y="0"/>
                  </a:moveTo>
                  <a:lnTo>
                    <a:pt x="4938513" y="0"/>
                  </a:lnTo>
                  <a:lnTo>
                    <a:pt x="4938513" y="607417"/>
                  </a:lnTo>
                  <a:lnTo>
                    <a:pt x="0" y="6074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4938513" cy="6264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81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Inventory management 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323117" y="2763590"/>
            <a:ext cx="5133380" cy="4250234"/>
            <a:chOff x="0" y="0"/>
            <a:chExt cx="6844507" cy="566697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844411" cy="5666867"/>
            </a:xfrm>
            <a:custGeom>
              <a:avLst/>
              <a:gdLst/>
              <a:ahLst/>
              <a:cxnLst/>
              <a:rect l="l" t="t" r="r" b="b"/>
              <a:pathLst>
                <a:path w="6844411" h="5666867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6795897" y="0"/>
                  </a:lnTo>
                  <a:cubicBezTo>
                    <a:pt x="6822694" y="0"/>
                    <a:pt x="6844411" y="21717"/>
                    <a:pt x="6844411" y="48514"/>
                  </a:cubicBezTo>
                  <a:lnTo>
                    <a:pt x="6844411" y="5618353"/>
                  </a:lnTo>
                  <a:cubicBezTo>
                    <a:pt x="6844411" y="5645150"/>
                    <a:pt x="6822694" y="5666867"/>
                    <a:pt x="6795897" y="5666867"/>
                  </a:cubicBezTo>
                  <a:lnTo>
                    <a:pt x="48514" y="5666867"/>
                  </a:lnTo>
                  <a:cubicBezTo>
                    <a:pt x="21717" y="5666867"/>
                    <a:pt x="0" y="5645150"/>
                    <a:pt x="0" y="5618353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311062" y="2763590"/>
            <a:ext cx="5157490" cy="4250234"/>
            <a:chOff x="0" y="0"/>
            <a:chExt cx="6876653" cy="566697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76542" cy="5666867"/>
            </a:xfrm>
            <a:custGeom>
              <a:avLst/>
              <a:gdLst/>
              <a:ahLst/>
              <a:cxnLst/>
              <a:rect l="l" t="t" r="r" b="b"/>
              <a:pathLst>
                <a:path w="6876542" h="5666867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6828028" y="0"/>
                  </a:lnTo>
                  <a:cubicBezTo>
                    <a:pt x="6854825" y="0"/>
                    <a:pt x="6876542" y="21717"/>
                    <a:pt x="6876542" y="48514"/>
                  </a:cubicBezTo>
                  <a:lnTo>
                    <a:pt x="6876542" y="5618353"/>
                  </a:lnTo>
                  <a:cubicBezTo>
                    <a:pt x="6876542" y="5645150"/>
                    <a:pt x="6854825" y="5666867"/>
                    <a:pt x="6828028" y="5666867"/>
                  </a:cubicBezTo>
                  <a:lnTo>
                    <a:pt x="48514" y="5666867"/>
                  </a:lnTo>
                  <a:cubicBezTo>
                    <a:pt x="21717" y="5666867"/>
                    <a:pt x="0" y="5645150"/>
                    <a:pt x="0" y="5618353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553950" y="2945755"/>
            <a:ext cx="4671715" cy="3885902"/>
            <a:chOff x="0" y="0"/>
            <a:chExt cx="6228953" cy="518120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228954" cy="5181204"/>
            </a:xfrm>
            <a:custGeom>
              <a:avLst/>
              <a:gdLst/>
              <a:ahLst/>
              <a:cxnLst/>
              <a:rect l="l" t="t" r="r" b="b"/>
              <a:pathLst>
                <a:path w="6228954" h="5181204">
                  <a:moveTo>
                    <a:pt x="0" y="0"/>
                  </a:moveTo>
                  <a:lnTo>
                    <a:pt x="6228954" y="0"/>
                  </a:lnTo>
                  <a:lnTo>
                    <a:pt x="6228954" y="5181204"/>
                  </a:lnTo>
                  <a:lnTo>
                    <a:pt x="0" y="51812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23825"/>
              <a:ext cx="6228953" cy="53050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[web]</a:t>
              </a: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192.168.1.10</a:t>
              </a: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192.168.1.11</a:t>
              </a:r>
            </a:p>
            <a:p>
              <a:pPr algn="l">
                <a:lnSpc>
                  <a:spcPts val="3000"/>
                </a:lnSpc>
              </a:pPr>
              <a:endParaRPr lang="en-US" sz="1874">
                <a:solidFill>
                  <a:srgbClr val="4C4C4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[db]</a:t>
              </a: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192.168.1.12</a:t>
              </a:r>
            </a:p>
            <a:p>
              <a:pPr algn="l">
                <a:lnSpc>
                  <a:spcPts val="3000"/>
                </a:lnSpc>
              </a:pPr>
              <a:endParaRPr lang="en-US" sz="1874">
                <a:solidFill>
                  <a:srgbClr val="4C4C4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[prod:children]</a:t>
              </a: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web</a:t>
              </a:r>
            </a:p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Consolas"/>
                  <a:ea typeface="Consolas"/>
                  <a:cs typeface="Consolas"/>
                  <a:sym typeface="Consolas"/>
                </a:rPr>
                <a:t>db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323117" y="7287071"/>
            <a:ext cx="5133380" cy="777180"/>
            <a:chOff x="0" y="0"/>
            <a:chExt cx="6844507" cy="10362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844507" cy="1036240"/>
            </a:xfrm>
            <a:custGeom>
              <a:avLst/>
              <a:gdLst/>
              <a:ahLst/>
              <a:cxnLst/>
              <a:rect l="l" t="t" r="r" b="b"/>
              <a:pathLst>
                <a:path w="6844507" h="1036240">
                  <a:moveTo>
                    <a:pt x="0" y="0"/>
                  </a:moveTo>
                  <a:lnTo>
                    <a:pt x="6844507" y="0"/>
                  </a:lnTo>
                  <a:lnTo>
                    <a:pt x="6844507" y="1036240"/>
                  </a:lnTo>
                  <a:lnTo>
                    <a:pt x="0" y="1036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85725"/>
              <a:ext cx="6844507" cy="1121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You create an inventory file (ini) and use it with CM tool.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323117" y="8282880"/>
            <a:ext cx="5133380" cy="777180"/>
            <a:chOff x="0" y="0"/>
            <a:chExt cx="6844507" cy="10362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844507" cy="1036240"/>
            </a:xfrm>
            <a:custGeom>
              <a:avLst/>
              <a:gdLst/>
              <a:ahLst/>
              <a:cxnLst/>
              <a:rect l="l" t="t" r="r" b="b"/>
              <a:pathLst>
                <a:path w="6844507" h="1036240">
                  <a:moveTo>
                    <a:pt x="0" y="0"/>
                  </a:moveTo>
                  <a:lnTo>
                    <a:pt x="6844507" y="0"/>
                  </a:lnTo>
                  <a:lnTo>
                    <a:pt x="6844507" y="1036240"/>
                  </a:lnTo>
                  <a:lnTo>
                    <a:pt x="0" y="1036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6844507" cy="1121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00"/>
                </a:lnSpc>
                <a:buFont typeface="Arial"/>
                <a:buChar char="•"/>
              </a:pPr>
              <a:r>
                <a:rPr lang="en-US" sz="187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You can target specific groups ([web], [db], [prod])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23117" y="9145041"/>
            <a:ext cx="5133380" cy="388590"/>
            <a:chOff x="0" y="0"/>
            <a:chExt cx="6844507" cy="5181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844507" cy="518120"/>
            </a:xfrm>
            <a:custGeom>
              <a:avLst/>
              <a:gdLst/>
              <a:ahLst/>
              <a:cxnLst/>
              <a:rect l="l" t="t" r="r" b="b"/>
              <a:pathLst>
                <a:path w="6844507" h="518120">
                  <a:moveTo>
                    <a:pt x="0" y="0"/>
                  </a:moveTo>
                  <a:lnTo>
                    <a:pt x="6844507" y="0"/>
                  </a:lnTo>
                  <a:lnTo>
                    <a:pt x="6844507" y="518120"/>
                  </a:lnTo>
                  <a:lnTo>
                    <a:pt x="0" y="518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85725"/>
              <a:ext cx="6844507" cy="6038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00"/>
                </a:lnSpc>
                <a:buFont typeface="Arial"/>
                <a:buChar char="•"/>
              </a:pPr>
              <a:r>
                <a:rPr lang="en-US" sz="187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Ansible knows </a:t>
              </a:r>
              <a:r>
                <a:rPr lang="en-US" sz="1874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what to configure where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1246" y="781050"/>
            <a:ext cx="10073342" cy="949179"/>
            <a:chOff x="0" y="0"/>
            <a:chExt cx="13431123" cy="12655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31123" cy="1265572"/>
            </a:xfrm>
            <a:custGeom>
              <a:avLst/>
              <a:gdLst/>
              <a:ahLst/>
              <a:cxnLst/>
              <a:rect l="l" t="t" r="r" b="b"/>
              <a:pathLst>
                <a:path w="13431123" h="1265572">
                  <a:moveTo>
                    <a:pt x="0" y="0"/>
                  </a:moveTo>
                  <a:lnTo>
                    <a:pt x="13431123" y="0"/>
                  </a:lnTo>
                  <a:lnTo>
                    <a:pt x="13431123" y="1265572"/>
                  </a:lnTo>
                  <a:lnTo>
                    <a:pt x="0" y="1265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431123" cy="13036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437"/>
                </a:lnSpc>
              </a:pPr>
              <a:r>
                <a:rPr lang="en-US" sz="5125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Real-World Failure: Lack of CM 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1246" y="2130029"/>
            <a:ext cx="16445507" cy="526405"/>
            <a:chOff x="0" y="0"/>
            <a:chExt cx="21927343" cy="7018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27344" cy="701873"/>
            </a:xfrm>
            <a:custGeom>
              <a:avLst/>
              <a:gdLst/>
              <a:ahLst/>
              <a:cxnLst/>
              <a:rect l="l" t="t" r="r" b="b"/>
              <a:pathLst>
                <a:path w="21927344" h="701873">
                  <a:moveTo>
                    <a:pt x="0" y="0"/>
                  </a:moveTo>
                  <a:lnTo>
                    <a:pt x="21927344" y="0"/>
                  </a:lnTo>
                  <a:lnTo>
                    <a:pt x="21927344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927343" cy="7971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1374" lvl="1" indent="-185687" algn="l">
                <a:lnSpc>
                  <a:spcPts val="3954"/>
                </a:lnSpc>
                <a:buFont typeface="Arial"/>
                <a:buChar char="•"/>
              </a:pPr>
              <a:r>
                <a:rPr lang="en-US" sz="24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 fintech startup deployed microservices across 10 servers.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1246" y="2748558"/>
            <a:ext cx="16445507" cy="526405"/>
            <a:chOff x="0" y="0"/>
            <a:chExt cx="21927343" cy="7018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27344" cy="701873"/>
            </a:xfrm>
            <a:custGeom>
              <a:avLst/>
              <a:gdLst/>
              <a:ahLst/>
              <a:cxnLst/>
              <a:rect l="l" t="t" r="r" b="b"/>
              <a:pathLst>
                <a:path w="21927344" h="701873">
                  <a:moveTo>
                    <a:pt x="0" y="0"/>
                  </a:moveTo>
                  <a:lnTo>
                    <a:pt x="21927344" y="0"/>
                  </a:lnTo>
                  <a:lnTo>
                    <a:pt x="21927344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927343" cy="7971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1374" lvl="1" indent="-185687" algn="l">
                <a:lnSpc>
                  <a:spcPts val="3954"/>
                </a:lnSpc>
                <a:buFont typeface="Arial"/>
                <a:buChar char="•"/>
              </a:pPr>
              <a:r>
                <a:rPr lang="en-US" sz="24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While 7 were configured using a shell script, the remaining 3 were manually set up under time pressure.</a:t>
              </a:r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921246" y="3929939"/>
            <a:ext cx="657969" cy="657969"/>
          </a:xfrm>
          <a:custGeom>
            <a:avLst/>
            <a:gdLst/>
            <a:ahLst/>
            <a:cxnLst/>
            <a:rect l="l" t="t" r="r" b="b"/>
            <a:pathLst>
              <a:path w="657969" h="657969">
                <a:moveTo>
                  <a:pt x="0" y="0"/>
                </a:moveTo>
                <a:lnTo>
                  <a:pt x="657969" y="0"/>
                </a:lnTo>
                <a:lnTo>
                  <a:pt x="657969" y="657969"/>
                </a:lnTo>
                <a:lnTo>
                  <a:pt x="0" y="657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842344" y="3883952"/>
            <a:ext cx="3948261" cy="493514"/>
            <a:chOff x="0" y="0"/>
            <a:chExt cx="5264348" cy="6580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64348" cy="658018"/>
            </a:xfrm>
            <a:custGeom>
              <a:avLst/>
              <a:gdLst/>
              <a:ahLst/>
              <a:cxnLst/>
              <a:rect l="l" t="t" r="r" b="b"/>
              <a:pathLst>
                <a:path w="5264348" h="658018">
                  <a:moveTo>
                    <a:pt x="0" y="0"/>
                  </a:moveTo>
                  <a:lnTo>
                    <a:pt x="5264348" y="0"/>
                  </a:lnTo>
                  <a:lnTo>
                    <a:pt x="5264348" y="658018"/>
                  </a:lnTo>
                  <a:lnTo>
                    <a:pt x="0" y="658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5264348" cy="6865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306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Open Port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2344" y="4535373"/>
            <a:ext cx="15524410" cy="526405"/>
            <a:chOff x="0" y="0"/>
            <a:chExt cx="20699213" cy="7018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699214" cy="701873"/>
            </a:xfrm>
            <a:custGeom>
              <a:avLst/>
              <a:gdLst/>
              <a:ahLst/>
              <a:cxnLst/>
              <a:rect l="l" t="t" r="r" b="b"/>
              <a:pathLst>
                <a:path w="20699214" h="701873">
                  <a:moveTo>
                    <a:pt x="0" y="0"/>
                  </a:moveTo>
                  <a:lnTo>
                    <a:pt x="20699214" y="0"/>
                  </a:lnTo>
                  <a:lnTo>
                    <a:pt x="20699214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20699213" cy="8066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One server had an exposed debug port, resulting in a </a:t>
              </a:r>
              <a:r>
                <a:rPr lang="en-US" sz="256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security breach</a:t>
              </a:r>
              <a:r>
                <a:rPr lang="en-US" sz="25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.</a:t>
              </a:r>
            </a:p>
          </p:txBody>
        </p:sp>
      </p:grpSp>
      <p:sp>
        <p:nvSpPr>
          <p:cNvPr id="22" name="Freeform 22" descr="preencoded.png"/>
          <p:cNvSpPr/>
          <p:nvPr/>
        </p:nvSpPr>
        <p:spPr>
          <a:xfrm>
            <a:off x="921246" y="5897299"/>
            <a:ext cx="657969" cy="657969"/>
          </a:xfrm>
          <a:custGeom>
            <a:avLst/>
            <a:gdLst/>
            <a:ahLst/>
            <a:cxnLst/>
            <a:rect l="l" t="t" r="r" b="b"/>
            <a:pathLst>
              <a:path w="657969" h="657969">
                <a:moveTo>
                  <a:pt x="0" y="0"/>
                </a:moveTo>
                <a:lnTo>
                  <a:pt x="657969" y="0"/>
                </a:lnTo>
                <a:lnTo>
                  <a:pt x="657969" y="657969"/>
                </a:lnTo>
                <a:lnTo>
                  <a:pt x="0" y="657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842344" y="5851311"/>
            <a:ext cx="3948261" cy="493514"/>
            <a:chOff x="0" y="0"/>
            <a:chExt cx="5264348" cy="65801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264348" cy="658018"/>
            </a:xfrm>
            <a:custGeom>
              <a:avLst/>
              <a:gdLst/>
              <a:ahLst/>
              <a:cxnLst/>
              <a:rect l="l" t="t" r="r" b="b"/>
              <a:pathLst>
                <a:path w="5264348" h="658018">
                  <a:moveTo>
                    <a:pt x="0" y="0"/>
                  </a:moveTo>
                  <a:lnTo>
                    <a:pt x="5264348" y="0"/>
                  </a:lnTo>
                  <a:lnTo>
                    <a:pt x="5264348" y="658018"/>
                  </a:lnTo>
                  <a:lnTo>
                    <a:pt x="0" y="658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5264348" cy="6865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306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Launch Failure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42344" y="6502732"/>
            <a:ext cx="15524410" cy="526405"/>
            <a:chOff x="0" y="0"/>
            <a:chExt cx="20699213" cy="70187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699214" cy="701873"/>
            </a:xfrm>
            <a:custGeom>
              <a:avLst/>
              <a:gdLst/>
              <a:ahLst/>
              <a:cxnLst/>
              <a:rect l="l" t="t" r="r" b="b"/>
              <a:pathLst>
                <a:path w="20699214" h="701873">
                  <a:moveTo>
                    <a:pt x="0" y="0"/>
                  </a:moveTo>
                  <a:lnTo>
                    <a:pt x="20699214" y="0"/>
                  </a:lnTo>
                  <a:lnTo>
                    <a:pt x="20699214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04775"/>
              <a:ext cx="20699213" cy="8066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Some microservices </a:t>
              </a:r>
              <a:r>
                <a:rPr lang="en-US" sz="256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failed silently</a:t>
              </a:r>
              <a:r>
                <a:rPr lang="en-US" sz="25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.</a:t>
              </a:r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921246" y="7864658"/>
            <a:ext cx="657969" cy="657969"/>
          </a:xfrm>
          <a:custGeom>
            <a:avLst/>
            <a:gdLst/>
            <a:ahLst/>
            <a:cxnLst/>
            <a:rect l="l" t="t" r="r" b="b"/>
            <a:pathLst>
              <a:path w="657969" h="657969">
                <a:moveTo>
                  <a:pt x="0" y="0"/>
                </a:moveTo>
                <a:lnTo>
                  <a:pt x="657969" y="0"/>
                </a:lnTo>
                <a:lnTo>
                  <a:pt x="657969" y="657969"/>
                </a:lnTo>
                <a:lnTo>
                  <a:pt x="0" y="657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842344" y="7818669"/>
            <a:ext cx="3948261" cy="493514"/>
            <a:chOff x="0" y="0"/>
            <a:chExt cx="5264348" cy="6580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264348" cy="658018"/>
            </a:xfrm>
            <a:custGeom>
              <a:avLst/>
              <a:gdLst/>
              <a:ahLst/>
              <a:cxnLst/>
              <a:rect l="l" t="t" r="r" b="b"/>
              <a:pathLst>
                <a:path w="5264348" h="658018">
                  <a:moveTo>
                    <a:pt x="0" y="0"/>
                  </a:moveTo>
                  <a:lnTo>
                    <a:pt x="5264348" y="0"/>
                  </a:lnTo>
                  <a:lnTo>
                    <a:pt x="5264348" y="658018"/>
                  </a:lnTo>
                  <a:lnTo>
                    <a:pt x="0" y="658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5264348" cy="6865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306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Logs generation failed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842344" y="8470091"/>
            <a:ext cx="15524410" cy="526405"/>
            <a:chOff x="0" y="0"/>
            <a:chExt cx="20699213" cy="7018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699214" cy="701873"/>
            </a:xfrm>
            <a:custGeom>
              <a:avLst/>
              <a:gdLst/>
              <a:ahLst/>
              <a:cxnLst/>
              <a:rect l="l" t="t" r="r" b="b"/>
              <a:pathLst>
                <a:path w="20699214" h="701873">
                  <a:moveTo>
                    <a:pt x="0" y="0"/>
                  </a:moveTo>
                  <a:lnTo>
                    <a:pt x="20699214" y="0"/>
                  </a:lnTo>
                  <a:lnTo>
                    <a:pt x="20699214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20699213" cy="8066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Log files were missing, making debugging difficult.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9922" y="600698"/>
            <a:ext cx="12878525" cy="832458"/>
            <a:chOff x="0" y="0"/>
            <a:chExt cx="17171367" cy="11099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171367" cy="1109944"/>
            </a:xfrm>
            <a:custGeom>
              <a:avLst/>
              <a:gdLst/>
              <a:ahLst/>
              <a:cxnLst/>
              <a:rect l="l" t="t" r="r" b="b"/>
              <a:pathLst>
                <a:path w="17171367" h="1109944">
                  <a:moveTo>
                    <a:pt x="0" y="0"/>
                  </a:moveTo>
                  <a:lnTo>
                    <a:pt x="17171367" y="0"/>
                  </a:lnTo>
                  <a:lnTo>
                    <a:pt x="17171367" y="1109944"/>
                  </a:lnTo>
                  <a:lnTo>
                    <a:pt x="0" y="11099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171367" cy="11480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687"/>
                </a:lnSpc>
              </a:pPr>
              <a:r>
                <a:rPr lang="en-US" sz="4499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Configuration Drift at a Food Delivery Service 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9922" y="1661755"/>
            <a:ext cx="16668155" cy="1561716"/>
            <a:chOff x="0" y="0"/>
            <a:chExt cx="22224207" cy="20822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24206" cy="2082288"/>
            </a:xfrm>
            <a:custGeom>
              <a:avLst/>
              <a:gdLst/>
              <a:ahLst/>
              <a:cxnLst/>
              <a:rect l="l" t="t" r="r" b="b"/>
              <a:pathLst>
                <a:path w="22224206" h="2082288">
                  <a:moveTo>
                    <a:pt x="0" y="0"/>
                  </a:moveTo>
                  <a:lnTo>
                    <a:pt x="22224206" y="0"/>
                  </a:lnTo>
                  <a:lnTo>
                    <a:pt x="22224206" y="2082288"/>
                  </a:lnTo>
                  <a:lnTo>
                    <a:pt x="0" y="2082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2224207" cy="2187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08"/>
                </a:lnSpc>
              </a:pPr>
              <a:r>
                <a:rPr lang="en-US" sz="254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Context:</a:t>
              </a:r>
            </a:p>
            <a:p>
              <a:pPr algn="l">
                <a:lnSpc>
                  <a:spcPts val="4108"/>
                </a:lnSpc>
              </a:pPr>
              <a:r>
                <a:rPr lang="en-US" sz="254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You’re the </a:t>
              </a:r>
              <a:r>
                <a:rPr lang="en-US" sz="254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DevOps engineer</a:t>
              </a:r>
              <a:r>
                <a:rPr lang="en-US" sz="254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for an </a:t>
              </a:r>
              <a:r>
                <a:rPr lang="en-US" sz="254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online food delivery platform</a:t>
              </a:r>
              <a:r>
                <a:rPr lang="en-US" sz="254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that recently rolled out an important update across production servers.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9922" y="3413972"/>
            <a:ext cx="16668155" cy="1047366"/>
            <a:chOff x="0" y="0"/>
            <a:chExt cx="22224207" cy="1396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224206" cy="1396488"/>
            </a:xfrm>
            <a:custGeom>
              <a:avLst/>
              <a:gdLst/>
              <a:ahLst/>
              <a:cxnLst/>
              <a:rect l="l" t="t" r="r" b="b"/>
              <a:pathLst>
                <a:path w="22224206" h="1396488">
                  <a:moveTo>
                    <a:pt x="0" y="0"/>
                  </a:moveTo>
                  <a:lnTo>
                    <a:pt x="22224206" y="0"/>
                  </a:lnTo>
                  <a:lnTo>
                    <a:pt x="22224206" y="1396488"/>
                  </a:lnTo>
                  <a:lnTo>
                    <a:pt x="0" y="1396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22224207" cy="15012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08"/>
                </a:lnSpc>
              </a:pPr>
              <a:r>
                <a:rPr lang="en-US" sz="254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Issue:</a:t>
              </a:r>
            </a:p>
            <a:p>
              <a:pPr algn="l">
                <a:lnSpc>
                  <a:spcPts val="4108"/>
                </a:lnSpc>
              </a:pPr>
              <a:r>
                <a:rPr lang="en-US" sz="254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Soon after deployment, </a:t>
              </a:r>
              <a:r>
                <a:rPr lang="en-US" sz="254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users start reporting bugs</a:t>
              </a:r>
              <a:r>
                <a:rPr lang="en-US" sz="254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— but only from </a:t>
              </a:r>
              <a:r>
                <a:rPr lang="en-US" sz="254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some servers</a:t>
              </a:r>
              <a:r>
                <a:rPr lang="en-US" sz="254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9922" y="4599983"/>
            <a:ext cx="16668155" cy="533016"/>
            <a:chOff x="0" y="0"/>
            <a:chExt cx="22224207" cy="7106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224206" cy="710688"/>
            </a:xfrm>
            <a:custGeom>
              <a:avLst/>
              <a:gdLst/>
              <a:ahLst/>
              <a:cxnLst/>
              <a:rect l="l" t="t" r="r" b="b"/>
              <a:pathLst>
                <a:path w="22224206" h="710688">
                  <a:moveTo>
                    <a:pt x="0" y="0"/>
                  </a:moveTo>
                  <a:lnTo>
                    <a:pt x="22224206" y="0"/>
                  </a:lnTo>
                  <a:lnTo>
                    <a:pt x="22224206" y="710688"/>
                  </a:lnTo>
                  <a:lnTo>
                    <a:pt x="0" y="710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22224207" cy="8154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08"/>
                </a:lnSpc>
              </a:pPr>
              <a:r>
                <a:rPr lang="en-US" sz="254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After digging deeper, you find: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9922" y="5323139"/>
            <a:ext cx="16668155" cy="531163"/>
            <a:chOff x="0" y="0"/>
            <a:chExt cx="22224207" cy="7082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224206" cy="708218"/>
            </a:xfrm>
            <a:custGeom>
              <a:avLst/>
              <a:gdLst/>
              <a:ahLst/>
              <a:cxnLst/>
              <a:rect l="l" t="t" r="r" b="b"/>
              <a:pathLst>
                <a:path w="22224206" h="708218">
                  <a:moveTo>
                    <a:pt x="0" y="0"/>
                  </a:moveTo>
                  <a:lnTo>
                    <a:pt x="22224206" y="0"/>
                  </a:lnTo>
                  <a:lnTo>
                    <a:pt x="22224206" y="708218"/>
                  </a:lnTo>
                  <a:lnTo>
                    <a:pt x="0" y="708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22224207" cy="7939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8914" lvl="1" indent="-189457" algn="l">
                <a:lnSpc>
                  <a:spcPts val="3985"/>
                </a:lnSpc>
                <a:buFont typeface="Arial"/>
                <a:buChar char="•"/>
              </a:pPr>
              <a:r>
                <a:rPr lang="en-US" sz="25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Some servers were still running an </a:t>
              </a:r>
              <a:r>
                <a:rPr lang="en-US" sz="251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older version of Python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9922" y="5866957"/>
            <a:ext cx="16668155" cy="531163"/>
            <a:chOff x="0" y="0"/>
            <a:chExt cx="22224207" cy="7082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224206" cy="708218"/>
            </a:xfrm>
            <a:custGeom>
              <a:avLst/>
              <a:gdLst/>
              <a:ahLst/>
              <a:cxnLst/>
              <a:rect l="l" t="t" r="r" b="b"/>
              <a:pathLst>
                <a:path w="22224206" h="708218">
                  <a:moveTo>
                    <a:pt x="0" y="0"/>
                  </a:moveTo>
                  <a:lnTo>
                    <a:pt x="22224206" y="0"/>
                  </a:lnTo>
                  <a:lnTo>
                    <a:pt x="22224206" y="708218"/>
                  </a:lnTo>
                  <a:lnTo>
                    <a:pt x="0" y="708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2224207" cy="7939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8914" lvl="1" indent="-189457" algn="l">
                <a:lnSpc>
                  <a:spcPts val="3985"/>
                </a:lnSpc>
                <a:buFont typeface="Arial"/>
                <a:buChar char="•"/>
              </a:pPr>
              <a:r>
                <a:rPr lang="en-US" sz="25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 few were </a:t>
              </a:r>
              <a:r>
                <a:rPr lang="en-US" sz="251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missing critical environment variables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9922" y="6410775"/>
            <a:ext cx="16668155" cy="531163"/>
            <a:chOff x="0" y="0"/>
            <a:chExt cx="22224207" cy="7082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224206" cy="708218"/>
            </a:xfrm>
            <a:custGeom>
              <a:avLst/>
              <a:gdLst/>
              <a:ahLst/>
              <a:cxnLst/>
              <a:rect l="l" t="t" r="r" b="b"/>
              <a:pathLst>
                <a:path w="22224206" h="708218">
                  <a:moveTo>
                    <a:pt x="0" y="0"/>
                  </a:moveTo>
                  <a:lnTo>
                    <a:pt x="22224206" y="0"/>
                  </a:lnTo>
                  <a:lnTo>
                    <a:pt x="22224206" y="708218"/>
                  </a:lnTo>
                  <a:lnTo>
                    <a:pt x="0" y="708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22224207" cy="7939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78914" lvl="1" indent="-189457" algn="l">
                <a:lnSpc>
                  <a:spcPts val="3985"/>
                </a:lnSpc>
                <a:buFont typeface="Arial"/>
                <a:buChar char="•"/>
              </a:pPr>
              <a:r>
                <a:rPr lang="en-US" sz="251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Logging formats</a:t>
              </a:r>
              <a:r>
                <a:rPr lang="en-US" sz="25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were inconsistent across instances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922" y="7408664"/>
            <a:ext cx="8218437" cy="896391"/>
            <a:chOff x="0" y="0"/>
            <a:chExt cx="10957917" cy="11951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957814" cy="1195197"/>
            </a:xfrm>
            <a:custGeom>
              <a:avLst/>
              <a:gdLst/>
              <a:ahLst/>
              <a:cxnLst/>
              <a:rect l="l" t="t" r="r" b="b"/>
              <a:pathLst>
                <a:path w="10957814" h="1195197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1586" y="0"/>
                  </a:lnTo>
                  <a:cubicBezTo>
                    <a:pt x="10937113" y="0"/>
                    <a:pt x="10957814" y="20701"/>
                    <a:pt x="10957814" y="46228"/>
                  </a:cubicBezTo>
                  <a:lnTo>
                    <a:pt x="10957814" y="1148969"/>
                  </a:lnTo>
                  <a:cubicBezTo>
                    <a:pt x="10957814" y="1174496"/>
                    <a:pt x="10937113" y="1195197"/>
                    <a:pt x="10911586" y="1195197"/>
                  </a:cubicBezTo>
                  <a:lnTo>
                    <a:pt x="46228" y="1195197"/>
                  </a:lnTo>
                  <a:cubicBezTo>
                    <a:pt x="20701" y="1195197"/>
                    <a:pt x="0" y="1174496"/>
                    <a:pt x="0" y="114896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1201" y="7639942"/>
            <a:ext cx="3471119" cy="433834"/>
            <a:chOff x="0" y="0"/>
            <a:chExt cx="4628158" cy="57844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628158" cy="578445"/>
            </a:xfrm>
            <a:custGeom>
              <a:avLst/>
              <a:gdLst/>
              <a:ahLst/>
              <a:cxnLst/>
              <a:rect l="l" t="t" r="r" b="b"/>
              <a:pathLst>
                <a:path w="4628158" h="578445">
                  <a:moveTo>
                    <a:pt x="0" y="0"/>
                  </a:moveTo>
                  <a:lnTo>
                    <a:pt x="4628158" y="0"/>
                  </a:lnTo>
                  <a:lnTo>
                    <a:pt x="4628158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628158" cy="5974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What went wrong?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59640" y="7408664"/>
            <a:ext cx="8218437" cy="896391"/>
            <a:chOff x="0" y="0"/>
            <a:chExt cx="10957917" cy="11951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57814" cy="1195197"/>
            </a:xfrm>
            <a:custGeom>
              <a:avLst/>
              <a:gdLst/>
              <a:ahLst/>
              <a:cxnLst/>
              <a:rect l="l" t="t" r="r" b="b"/>
              <a:pathLst>
                <a:path w="10957814" h="1195197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1586" y="0"/>
                  </a:lnTo>
                  <a:cubicBezTo>
                    <a:pt x="10937113" y="0"/>
                    <a:pt x="10957814" y="20701"/>
                    <a:pt x="10957814" y="46228"/>
                  </a:cubicBezTo>
                  <a:lnTo>
                    <a:pt x="10957814" y="1148969"/>
                  </a:lnTo>
                  <a:cubicBezTo>
                    <a:pt x="10957814" y="1174496"/>
                    <a:pt x="10937113" y="1195197"/>
                    <a:pt x="10911586" y="1195197"/>
                  </a:cubicBezTo>
                  <a:lnTo>
                    <a:pt x="46228" y="1195197"/>
                  </a:lnTo>
                  <a:cubicBezTo>
                    <a:pt x="20701" y="1195197"/>
                    <a:pt x="0" y="1174496"/>
                    <a:pt x="0" y="114896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90919" y="7515075"/>
            <a:ext cx="7342435" cy="1331574"/>
            <a:chOff x="0" y="-166489"/>
            <a:chExt cx="9789913" cy="7449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789913" cy="578445"/>
            </a:xfrm>
            <a:custGeom>
              <a:avLst/>
              <a:gdLst/>
              <a:ahLst/>
              <a:cxnLst/>
              <a:rect l="l" t="t" r="r" b="b"/>
              <a:pathLst>
                <a:path w="9789913" h="578445">
                  <a:moveTo>
                    <a:pt x="0" y="0"/>
                  </a:moveTo>
                  <a:lnTo>
                    <a:pt x="9789913" y="0"/>
                  </a:lnTo>
                  <a:lnTo>
                    <a:pt x="9789913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66489"/>
              <a:ext cx="9789913" cy="5974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 dirty="0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Why do you think only some servers had problems?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9922" y="8536335"/>
            <a:ext cx="8218437" cy="1178542"/>
            <a:chOff x="0" y="0"/>
            <a:chExt cx="10957917" cy="11951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57814" cy="1195197"/>
            </a:xfrm>
            <a:custGeom>
              <a:avLst/>
              <a:gdLst/>
              <a:ahLst/>
              <a:cxnLst/>
              <a:rect l="l" t="t" r="r" b="b"/>
              <a:pathLst>
                <a:path w="10957814" h="1195197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1586" y="0"/>
                  </a:lnTo>
                  <a:cubicBezTo>
                    <a:pt x="10937113" y="0"/>
                    <a:pt x="10957814" y="20701"/>
                    <a:pt x="10957814" y="46228"/>
                  </a:cubicBezTo>
                  <a:lnTo>
                    <a:pt x="10957814" y="1148969"/>
                  </a:lnTo>
                  <a:cubicBezTo>
                    <a:pt x="10957814" y="1174496"/>
                    <a:pt x="10937113" y="1195197"/>
                    <a:pt x="10911586" y="1195197"/>
                  </a:cubicBezTo>
                  <a:lnTo>
                    <a:pt x="46228" y="1195197"/>
                  </a:lnTo>
                  <a:cubicBezTo>
                    <a:pt x="20701" y="1195197"/>
                    <a:pt x="0" y="1174496"/>
                    <a:pt x="0" y="114896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41201" y="8767614"/>
            <a:ext cx="6046589" cy="433834"/>
            <a:chOff x="0" y="0"/>
            <a:chExt cx="8062118" cy="57844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062118" cy="578445"/>
            </a:xfrm>
            <a:custGeom>
              <a:avLst/>
              <a:gdLst/>
              <a:ahLst/>
              <a:cxnLst/>
              <a:rect l="l" t="t" r="r" b="b"/>
              <a:pathLst>
                <a:path w="8062118" h="578445">
                  <a:moveTo>
                    <a:pt x="0" y="0"/>
                  </a:moveTo>
                  <a:lnTo>
                    <a:pt x="8062118" y="0"/>
                  </a:lnTo>
                  <a:lnTo>
                    <a:pt x="8062118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8062118" cy="5974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 dirty="0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What could have prevented this situation?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259640" y="8536335"/>
            <a:ext cx="8218437" cy="1331565"/>
            <a:chOff x="0" y="0"/>
            <a:chExt cx="10957917" cy="119518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957814" cy="1195197"/>
            </a:xfrm>
            <a:custGeom>
              <a:avLst/>
              <a:gdLst/>
              <a:ahLst/>
              <a:cxnLst/>
              <a:rect l="l" t="t" r="r" b="b"/>
              <a:pathLst>
                <a:path w="10957814" h="1195197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1586" y="0"/>
                  </a:lnTo>
                  <a:cubicBezTo>
                    <a:pt x="10937113" y="0"/>
                    <a:pt x="10957814" y="20701"/>
                    <a:pt x="10957814" y="46228"/>
                  </a:cubicBezTo>
                  <a:lnTo>
                    <a:pt x="10957814" y="1148969"/>
                  </a:lnTo>
                  <a:cubicBezTo>
                    <a:pt x="10957814" y="1174496"/>
                    <a:pt x="10937113" y="1195197"/>
                    <a:pt x="10911586" y="1195197"/>
                  </a:cubicBezTo>
                  <a:lnTo>
                    <a:pt x="46228" y="1195197"/>
                  </a:lnTo>
                  <a:cubicBezTo>
                    <a:pt x="20701" y="1195197"/>
                    <a:pt x="0" y="1174496"/>
                    <a:pt x="0" y="114896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90919" y="8767614"/>
            <a:ext cx="7310586" cy="433834"/>
            <a:chOff x="0" y="0"/>
            <a:chExt cx="9747448" cy="57844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747448" cy="578445"/>
            </a:xfrm>
            <a:custGeom>
              <a:avLst/>
              <a:gdLst/>
              <a:ahLst/>
              <a:cxnLst/>
              <a:rect l="l" t="t" r="r" b="b"/>
              <a:pathLst>
                <a:path w="9747448" h="578445">
                  <a:moveTo>
                    <a:pt x="0" y="0"/>
                  </a:moveTo>
                  <a:lnTo>
                    <a:pt x="9747448" y="0"/>
                  </a:lnTo>
                  <a:lnTo>
                    <a:pt x="9747448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9747448" cy="5974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b="1" dirty="0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How would you solve this if you were the engineer?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92238" y="1418928"/>
            <a:ext cx="9445526" cy="1847537"/>
            <a:chOff x="0" y="0"/>
            <a:chExt cx="12594035" cy="24633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94035" cy="2463383"/>
            </a:xfrm>
            <a:custGeom>
              <a:avLst/>
              <a:gdLst/>
              <a:ahLst/>
              <a:cxnLst/>
              <a:rect l="l" t="t" r="r" b="b"/>
              <a:pathLst>
                <a:path w="12594035" h="2463383">
                  <a:moveTo>
                    <a:pt x="0" y="0"/>
                  </a:moveTo>
                  <a:lnTo>
                    <a:pt x="12594035" y="0"/>
                  </a:lnTo>
                  <a:lnTo>
                    <a:pt x="12594035" y="2463383"/>
                  </a:lnTo>
                  <a:lnTo>
                    <a:pt x="0" y="24633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594035" cy="24919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688"/>
                </a:lnSpc>
              </a:pPr>
              <a:r>
                <a:rPr lang="en-US" sz="536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Key Benefits of Configuration Management  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992238" y="3665636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984474" y="3616077"/>
            <a:ext cx="3517850" cy="549338"/>
            <a:chOff x="0" y="0"/>
            <a:chExt cx="4690467" cy="7324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90467" cy="732451"/>
            </a:xfrm>
            <a:custGeom>
              <a:avLst/>
              <a:gdLst/>
              <a:ahLst/>
              <a:cxnLst/>
              <a:rect l="l" t="t" r="r" b="b"/>
              <a:pathLst>
                <a:path w="4690467" h="732451">
                  <a:moveTo>
                    <a:pt x="0" y="0"/>
                  </a:moveTo>
                  <a:lnTo>
                    <a:pt x="4690467" y="0"/>
                  </a:lnTo>
                  <a:lnTo>
                    <a:pt x="4690467" y="732451"/>
                  </a:lnTo>
                  <a:lnTo>
                    <a:pt x="0" y="732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4690467" cy="75150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Consistency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84474" y="4229100"/>
            <a:ext cx="3517850" cy="1814512"/>
            <a:chOff x="0" y="0"/>
            <a:chExt cx="4690467" cy="24193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90467" cy="2419350"/>
            </a:xfrm>
            <a:custGeom>
              <a:avLst/>
              <a:gdLst/>
              <a:ahLst/>
              <a:cxnLst/>
              <a:rect l="l" t="t" r="r" b="b"/>
              <a:pathLst>
                <a:path w="4690467" h="2419350">
                  <a:moveTo>
                    <a:pt x="0" y="0"/>
                  </a:moveTo>
                  <a:lnTo>
                    <a:pt x="4690467" y="0"/>
                  </a:lnTo>
                  <a:lnTo>
                    <a:pt x="4690467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4690467" cy="2505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All environments look and behave the same, preventing "works on my machine" issues.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5927526" y="3665636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6919764" y="3616077"/>
            <a:ext cx="3517999" cy="549338"/>
            <a:chOff x="0" y="0"/>
            <a:chExt cx="4690665" cy="73245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90665" cy="732451"/>
            </a:xfrm>
            <a:custGeom>
              <a:avLst/>
              <a:gdLst/>
              <a:ahLst/>
              <a:cxnLst/>
              <a:rect l="l" t="t" r="r" b="b"/>
              <a:pathLst>
                <a:path w="4690665" h="732451">
                  <a:moveTo>
                    <a:pt x="0" y="0"/>
                  </a:moveTo>
                  <a:lnTo>
                    <a:pt x="4690665" y="0"/>
                  </a:lnTo>
                  <a:lnTo>
                    <a:pt x="4690665" y="732451"/>
                  </a:lnTo>
                  <a:lnTo>
                    <a:pt x="0" y="732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690665" cy="75150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Scalability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19764" y="4229100"/>
            <a:ext cx="3517999" cy="1360885"/>
            <a:chOff x="0" y="0"/>
            <a:chExt cx="4690665" cy="18145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90665" cy="1814513"/>
            </a:xfrm>
            <a:custGeom>
              <a:avLst/>
              <a:gdLst/>
              <a:ahLst/>
              <a:cxnLst/>
              <a:rect l="l" t="t" r="r" b="b"/>
              <a:pathLst>
                <a:path w="4690665" h="1814513">
                  <a:moveTo>
                    <a:pt x="0" y="0"/>
                  </a:moveTo>
                  <a:lnTo>
                    <a:pt x="4690665" y="0"/>
                  </a:lnTo>
                  <a:lnTo>
                    <a:pt x="469066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4690665" cy="1900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Easily replicate configurations across 1, 10, or 1,000 servers.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992238" y="694372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984474" y="6894165"/>
            <a:ext cx="3517850" cy="549338"/>
            <a:chOff x="0" y="0"/>
            <a:chExt cx="4690467" cy="73245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90467" cy="732451"/>
            </a:xfrm>
            <a:custGeom>
              <a:avLst/>
              <a:gdLst/>
              <a:ahLst/>
              <a:cxnLst/>
              <a:rect l="l" t="t" r="r" b="b"/>
              <a:pathLst>
                <a:path w="4690467" h="732451">
                  <a:moveTo>
                    <a:pt x="0" y="0"/>
                  </a:moveTo>
                  <a:lnTo>
                    <a:pt x="4690467" y="0"/>
                  </a:lnTo>
                  <a:lnTo>
                    <a:pt x="4690467" y="732451"/>
                  </a:lnTo>
                  <a:lnTo>
                    <a:pt x="0" y="732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4690467" cy="75150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Disaster Recovery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84474" y="7507189"/>
            <a:ext cx="3517850" cy="1360885"/>
            <a:chOff x="0" y="0"/>
            <a:chExt cx="4690467" cy="18145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690467" cy="1814513"/>
            </a:xfrm>
            <a:custGeom>
              <a:avLst/>
              <a:gdLst/>
              <a:ahLst/>
              <a:cxnLst/>
              <a:rect l="l" t="t" r="r" b="b"/>
              <a:pathLst>
                <a:path w="4690467" h="1814513">
                  <a:moveTo>
                    <a:pt x="0" y="0"/>
                  </a:moveTo>
                  <a:lnTo>
                    <a:pt x="4690467" y="0"/>
                  </a:lnTo>
                  <a:lnTo>
                    <a:pt x="469046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4690467" cy="1900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Rebuild failed systems automatically with the same settings.</a:t>
              </a:r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5927526" y="694372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6919764" y="6894165"/>
            <a:ext cx="3517999" cy="549338"/>
            <a:chOff x="0" y="0"/>
            <a:chExt cx="4690665" cy="73245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90665" cy="732451"/>
            </a:xfrm>
            <a:custGeom>
              <a:avLst/>
              <a:gdLst/>
              <a:ahLst/>
              <a:cxnLst/>
              <a:rect l="l" t="t" r="r" b="b"/>
              <a:pathLst>
                <a:path w="4690665" h="732451">
                  <a:moveTo>
                    <a:pt x="0" y="0"/>
                  </a:moveTo>
                  <a:lnTo>
                    <a:pt x="4690665" y="0"/>
                  </a:lnTo>
                  <a:lnTo>
                    <a:pt x="4690665" y="732451"/>
                  </a:lnTo>
                  <a:lnTo>
                    <a:pt x="0" y="732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690665" cy="75150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87"/>
                </a:lnSpc>
              </a:pPr>
              <a:r>
                <a:rPr lang="en-US" sz="2949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Time-Saving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19764" y="7507189"/>
            <a:ext cx="3517999" cy="1360885"/>
            <a:chOff x="0" y="0"/>
            <a:chExt cx="4690665" cy="181451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690665" cy="1814513"/>
            </a:xfrm>
            <a:custGeom>
              <a:avLst/>
              <a:gdLst/>
              <a:ahLst/>
              <a:cxnLst/>
              <a:rect l="l" t="t" r="r" b="b"/>
              <a:pathLst>
                <a:path w="4690665" h="1814513">
                  <a:moveTo>
                    <a:pt x="0" y="0"/>
                  </a:moveTo>
                  <a:lnTo>
                    <a:pt x="4690665" y="0"/>
                  </a:lnTo>
                  <a:lnTo>
                    <a:pt x="469066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4690665" cy="1900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Tasks that take hours manually can be done in minutes.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5138" y="681484"/>
            <a:ext cx="11793673" cy="722086"/>
            <a:chOff x="0" y="0"/>
            <a:chExt cx="15724898" cy="9627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24898" cy="962782"/>
            </a:xfrm>
            <a:custGeom>
              <a:avLst/>
              <a:gdLst/>
              <a:ahLst/>
              <a:cxnLst/>
              <a:rect l="l" t="t" r="r" b="b"/>
              <a:pathLst>
                <a:path w="15724898" h="962782">
                  <a:moveTo>
                    <a:pt x="0" y="0"/>
                  </a:moveTo>
                  <a:lnTo>
                    <a:pt x="15724898" y="0"/>
                  </a:lnTo>
                  <a:lnTo>
                    <a:pt x="15724898" y="962782"/>
                  </a:lnTo>
                  <a:lnTo>
                    <a:pt x="0" y="962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5724898" cy="9913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812"/>
                </a:lnSpc>
              </a:pPr>
              <a:r>
                <a:rPr lang="en-US" sz="3875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Popular Configuration Management Tools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5138" y="1546622"/>
            <a:ext cx="16557724" cy="513049"/>
            <a:chOff x="0" y="0"/>
            <a:chExt cx="22076965" cy="6840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76966" cy="684065"/>
            </a:xfrm>
            <a:custGeom>
              <a:avLst/>
              <a:gdLst/>
              <a:ahLst/>
              <a:cxnLst/>
              <a:rect l="l" t="t" r="r" b="b"/>
              <a:pathLst>
                <a:path w="22076966" h="684065">
                  <a:moveTo>
                    <a:pt x="0" y="0"/>
                  </a:moveTo>
                  <a:lnTo>
                    <a:pt x="22076966" y="0"/>
                  </a:lnTo>
                  <a:lnTo>
                    <a:pt x="22076966" y="684065"/>
                  </a:lnTo>
                  <a:lnTo>
                    <a:pt x="0" y="6840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2076965" cy="7697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7604" lvl="1" indent="-183802" algn="l">
                <a:lnSpc>
                  <a:spcPts val="3852"/>
                </a:lnSpc>
                <a:buFont typeface="Arial"/>
                <a:buChar char="•"/>
              </a:pPr>
              <a:r>
                <a:rPr lang="en-US" sz="243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They are 3 configuration tools that are widely used in the majority of the projects: </a:t>
              </a:r>
              <a:r>
                <a:rPr lang="en-US" sz="243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Ansible</a:t>
              </a:r>
              <a:r>
                <a:rPr lang="en-US" sz="243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, </a:t>
              </a:r>
              <a:r>
                <a:rPr lang="en-US" sz="243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Puppet</a:t>
              </a:r>
              <a:r>
                <a:rPr lang="en-US" sz="243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, </a:t>
              </a:r>
              <a:r>
                <a:rPr lang="en-US" sz="243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Chef</a:t>
              </a:r>
              <a:r>
                <a:rPr lang="en-US" sz="243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0375" y="2314129"/>
            <a:ext cx="16567249" cy="3237011"/>
            <a:chOff x="0" y="0"/>
            <a:chExt cx="22089665" cy="43160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89618" cy="4315968"/>
            </a:xfrm>
            <a:custGeom>
              <a:avLst/>
              <a:gdLst/>
              <a:ahLst/>
              <a:cxnLst/>
              <a:rect l="l" t="t" r="r" b="b"/>
              <a:pathLst>
                <a:path w="22089618" h="4315968">
                  <a:moveTo>
                    <a:pt x="0" y="55753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22033737" y="0"/>
                  </a:lnTo>
                  <a:lnTo>
                    <a:pt x="22033737" y="6350"/>
                  </a:lnTo>
                  <a:lnTo>
                    <a:pt x="22033737" y="0"/>
                  </a:lnTo>
                  <a:cubicBezTo>
                    <a:pt x="22064599" y="0"/>
                    <a:pt x="22089618" y="25019"/>
                    <a:pt x="22089618" y="55753"/>
                  </a:cubicBezTo>
                  <a:lnTo>
                    <a:pt x="22083268" y="55753"/>
                  </a:lnTo>
                  <a:lnTo>
                    <a:pt x="22089618" y="55753"/>
                  </a:lnTo>
                  <a:lnTo>
                    <a:pt x="22089618" y="4260215"/>
                  </a:lnTo>
                  <a:lnTo>
                    <a:pt x="22083268" y="4260215"/>
                  </a:lnTo>
                  <a:lnTo>
                    <a:pt x="22089618" y="4260215"/>
                  </a:lnTo>
                  <a:cubicBezTo>
                    <a:pt x="22089618" y="4291076"/>
                    <a:pt x="22064599" y="4315968"/>
                    <a:pt x="22033737" y="4315968"/>
                  </a:cubicBezTo>
                  <a:lnTo>
                    <a:pt x="22033737" y="4309618"/>
                  </a:lnTo>
                  <a:lnTo>
                    <a:pt x="22033737" y="4315968"/>
                  </a:lnTo>
                  <a:lnTo>
                    <a:pt x="55880" y="4315968"/>
                  </a:lnTo>
                  <a:lnTo>
                    <a:pt x="55880" y="4309618"/>
                  </a:lnTo>
                  <a:lnTo>
                    <a:pt x="55880" y="4315968"/>
                  </a:lnTo>
                  <a:cubicBezTo>
                    <a:pt x="25019" y="4315968"/>
                    <a:pt x="0" y="4290949"/>
                    <a:pt x="0" y="4260215"/>
                  </a:cubicBezTo>
                  <a:lnTo>
                    <a:pt x="0" y="55753"/>
                  </a:lnTo>
                  <a:lnTo>
                    <a:pt x="6350" y="55753"/>
                  </a:lnTo>
                  <a:lnTo>
                    <a:pt x="0" y="55753"/>
                  </a:lnTo>
                  <a:moveTo>
                    <a:pt x="12700" y="55753"/>
                  </a:moveTo>
                  <a:lnTo>
                    <a:pt x="12700" y="4260215"/>
                  </a:lnTo>
                  <a:lnTo>
                    <a:pt x="6350" y="4260215"/>
                  </a:lnTo>
                  <a:lnTo>
                    <a:pt x="12700" y="4260215"/>
                  </a:lnTo>
                  <a:cubicBezTo>
                    <a:pt x="12700" y="4283964"/>
                    <a:pt x="32004" y="4303268"/>
                    <a:pt x="55880" y="4303268"/>
                  </a:cubicBezTo>
                  <a:lnTo>
                    <a:pt x="22033737" y="4303268"/>
                  </a:lnTo>
                  <a:cubicBezTo>
                    <a:pt x="22057613" y="4303268"/>
                    <a:pt x="22076918" y="4283964"/>
                    <a:pt x="22076918" y="4260215"/>
                  </a:cubicBezTo>
                  <a:lnTo>
                    <a:pt x="22076918" y="55753"/>
                  </a:lnTo>
                  <a:cubicBezTo>
                    <a:pt x="22076918" y="32004"/>
                    <a:pt x="22057613" y="12700"/>
                    <a:pt x="22033737" y="12700"/>
                  </a:cubicBezTo>
                  <a:lnTo>
                    <a:pt x="55880" y="12700"/>
                  </a:lnTo>
                  <a:lnTo>
                    <a:pt x="55880" y="6350"/>
                  </a:lnTo>
                  <a:lnTo>
                    <a:pt x="55880" y="12700"/>
                  </a:lnTo>
                  <a:cubicBezTo>
                    <a:pt x="32004" y="12700"/>
                    <a:pt x="12700" y="32004"/>
                    <a:pt x="12700" y="5575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4662" y="2328416"/>
            <a:ext cx="16538674" cy="779115"/>
            <a:chOff x="0" y="0"/>
            <a:chExt cx="22051565" cy="10388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51518" cy="1038860"/>
            </a:xfrm>
            <a:custGeom>
              <a:avLst/>
              <a:gdLst/>
              <a:ahLst/>
              <a:cxnLst/>
              <a:rect l="l" t="t" r="r" b="b"/>
              <a:pathLst>
                <a:path w="22051518" h="1038860">
                  <a:moveTo>
                    <a:pt x="0" y="0"/>
                  </a:moveTo>
                  <a:lnTo>
                    <a:pt x="22051518" y="0"/>
                  </a:lnTo>
                  <a:lnTo>
                    <a:pt x="22051518" y="1038860"/>
                  </a:lnTo>
                  <a:lnTo>
                    <a:pt x="0" y="103886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2164" y="2486174"/>
            <a:ext cx="1477119" cy="463600"/>
            <a:chOff x="0" y="0"/>
            <a:chExt cx="1969492" cy="6181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69492" cy="618133"/>
            </a:xfrm>
            <a:custGeom>
              <a:avLst/>
              <a:gdLst/>
              <a:ahLst/>
              <a:cxnLst/>
              <a:rect l="l" t="t" r="r" b="b"/>
              <a:pathLst>
                <a:path w="1969492" h="618133">
                  <a:moveTo>
                    <a:pt x="0" y="0"/>
                  </a:moveTo>
                  <a:lnTo>
                    <a:pt x="1969492" y="0"/>
                  </a:lnTo>
                  <a:lnTo>
                    <a:pt x="1969492" y="618133"/>
                  </a:lnTo>
                  <a:lnTo>
                    <a:pt x="0" y="618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969492" cy="646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2874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Tool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03215" y="2486174"/>
            <a:ext cx="2671465" cy="463600"/>
            <a:chOff x="0" y="0"/>
            <a:chExt cx="3561953" cy="6181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61954" cy="618133"/>
            </a:xfrm>
            <a:custGeom>
              <a:avLst/>
              <a:gdLst/>
              <a:ahLst/>
              <a:cxnLst/>
              <a:rect l="l" t="t" r="r" b="b"/>
              <a:pathLst>
                <a:path w="3561954" h="618133">
                  <a:moveTo>
                    <a:pt x="0" y="0"/>
                  </a:moveTo>
                  <a:lnTo>
                    <a:pt x="3561954" y="0"/>
                  </a:lnTo>
                  <a:lnTo>
                    <a:pt x="3561954" y="618133"/>
                  </a:lnTo>
                  <a:lnTo>
                    <a:pt x="0" y="618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3561953" cy="646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2874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Language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78612" y="2486174"/>
            <a:ext cx="2716114" cy="463600"/>
            <a:chOff x="0" y="0"/>
            <a:chExt cx="3621485" cy="61813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21485" cy="618133"/>
            </a:xfrm>
            <a:custGeom>
              <a:avLst/>
              <a:gdLst/>
              <a:ahLst/>
              <a:cxnLst/>
              <a:rect l="l" t="t" r="r" b="b"/>
              <a:pathLst>
                <a:path w="3621485" h="618133">
                  <a:moveTo>
                    <a:pt x="0" y="0"/>
                  </a:moveTo>
                  <a:lnTo>
                    <a:pt x="3621485" y="0"/>
                  </a:lnTo>
                  <a:lnTo>
                    <a:pt x="3621485" y="618133"/>
                  </a:lnTo>
                  <a:lnTo>
                    <a:pt x="0" y="618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3621485" cy="646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2874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Architecture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14459" y="2486174"/>
            <a:ext cx="3708350" cy="463600"/>
            <a:chOff x="0" y="0"/>
            <a:chExt cx="4944467" cy="61813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944467" cy="618133"/>
            </a:xfrm>
            <a:custGeom>
              <a:avLst/>
              <a:gdLst/>
              <a:ahLst/>
              <a:cxnLst/>
              <a:rect l="l" t="t" r="r" b="b"/>
              <a:pathLst>
                <a:path w="4944467" h="618133">
                  <a:moveTo>
                    <a:pt x="0" y="0"/>
                  </a:moveTo>
                  <a:lnTo>
                    <a:pt x="4944467" y="0"/>
                  </a:lnTo>
                  <a:lnTo>
                    <a:pt x="4944467" y="618133"/>
                  </a:lnTo>
                  <a:lnTo>
                    <a:pt x="0" y="618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4944467" cy="646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2874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Best For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142690" y="2486174"/>
            <a:ext cx="3023444" cy="463600"/>
            <a:chOff x="0" y="0"/>
            <a:chExt cx="4031258" cy="61813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031258" cy="618133"/>
            </a:xfrm>
            <a:custGeom>
              <a:avLst/>
              <a:gdLst/>
              <a:ahLst/>
              <a:cxnLst/>
              <a:rect l="l" t="t" r="r" b="b"/>
              <a:pathLst>
                <a:path w="4031258" h="618133">
                  <a:moveTo>
                    <a:pt x="0" y="0"/>
                  </a:moveTo>
                  <a:lnTo>
                    <a:pt x="4031258" y="0"/>
                  </a:lnTo>
                  <a:lnTo>
                    <a:pt x="4031258" y="618133"/>
                  </a:lnTo>
                  <a:lnTo>
                    <a:pt x="0" y="618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4031258" cy="646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2874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Server Required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74662" y="3107531"/>
            <a:ext cx="16538674" cy="809774"/>
            <a:chOff x="0" y="0"/>
            <a:chExt cx="22051565" cy="107969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051518" cy="1079754"/>
            </a:xfrm>
            <a:custGeom>
              <a:avLst/>
              <a:gdLst/>
              <a:ahLst/>
              <a:cxnLst/>
              <a:rect l="l" t="t" r="r" b="b"/>
              <a:pathLst>
                <a:path w="22051518" h="1079754">
                  <a:moveTo>
                    <a:pt x="0" y="0"/>
                  </a:moveTo>
                  <a:lnTo>
                    <a:pt x="22051518" y="0"/>
                  </a:lnTo>
                  <a:lnTo>
                    <a:pt x="22051518" y="1079754"/>
                  </a:lnTo>
                  <a:lnTo>
                    <a:pt x="0" y="10797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22164" y="3265289"/>
            <a:ext cx="1477119" cy="494259"/>
            <a:chOff x="0" y="0"/>
            <a:chExt cx="1969492" cy="65901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69492" cy="659012"/>
            </a:xfrm>
            <a:custGeom>
              <a:avLst/>
              <a:gdLst/>
              <a:ahLst/>
              <a:cxnLst/>
              <a:rect l="l" t="t" r="r" b="b"/>
              <a:pathLst>
                <a:path w="1969492" h="659012">
                  <a:moveTo>
                    <a:pt x="0" y="0"/>
                  </a:moveTo>
                  <a:lnTo>
                    <a:pt x="1969492" y="0"/>
                  </a:lnTo>
                  <a:lnTo>
                    <a:pt x="1969492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1969492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 dirty="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Ansible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103215" y="3265289"/>
            <a:ext cx="2671465" cy="494259"/>
            <a:chOff x="0" y="0"/>
            <a:chExt cx="3561953" cy="6590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561954" cy="659012"/>
            </a:xfrm>
            <a:custGeom>
              <a:avLst/>
              <a:gdLst/>
              <a:ahLst/>
              <a:cxnLst/>
              <a:rect l="l" t="t" r="r" b="b"/>
              <a:pathLst>
                <a:path w="3561954" h="659012">
                  <a:moveTo>
                    <a:pt x="0" y="0"/>
                  </a:moveTo>
                  <a:lnTo>
                    <a:pt x="3561954" y="0"/>
                  </a:lnTo>
                  <a:lnTo>
                    <a:pt x="3561954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04775"/>
              <a:ext cx="3561953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YAML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78612" y="3265289"/>
            <a:ext cx="2716114" cy="494259"/>
            <a:chOff x="0" y="0"/>
            <a:chExt cx="3621485" cy="65901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621485" cy="659012"/>
            </a:xfrm>
            <a:custGeom>
              <a:avLst/>
              <a:gdLst/>
              <a:ahLst/>
              <a:cxnLst/>
              <a:rect l="l" t="t" r="r" b="b"/>
              <a:pathLst>
                <a:path w="3621485" h="659012">
                  <a:moveTo>
                    <a:pt x="0" y="0"/>
                  </a:moveTo>
                  <a:lnTo>
                    <a:pt x="3621485" y="0"/>
                  </a:lnTo>
                  <a:lnTo>
                    <a:pt x="3621485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04775"/>
              <a:ext cx="3621485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Agentless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98658" y="3265289"/>
            <a:ext cx="4140101" cy="494259"/>
            <a:chOff x="0" y="0"/>
            <a:chExt cx="5520135" cy="65901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520135" cy="659012"/>
            </a:xfrm>
            <a:custGeom>
              <a:avLst/>
              <a:gdLst/>
              <a:ahLst/>
              <a:cxnLst/>
              <a:rect l="l" t="t" r="r" b="b"/>
              <a:pathLst>
                <a:path w="5520135" h="659012">
                  <a:moveTo>
                    <a:pt x="0" y="0"/>
                  </a:moveTo>
                  <a:lnTo>
                    <a:pt x="5520135" y="0"/>
                  </a:lnTo>
                  <a:lnTo>
                    <a:pt x="5520135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04775"/>
              <a:ext cx="5520135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Cloud &amp; Quick setups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142690" y="3265289"/>
            <a:ext cx="3023444" cy="494259"/>
            <a:chOff x="0" y="0"/>
            <a:chExt cx="4031258" cy="65901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031258" cy="659012"/>
            </a:xfrm>
            <a:custGeom>
              <a:avLst/>
              <a:gdLst/>
              <a:ahLst/>
              <a:cxnLst/>
              <a:rect l="l" t="t" r="r" b="b"/>
              <a:pathLst>
                <a:path w="4031258" h="659012">
                  <a:moveTo>
                    <a:pt x="0" y="0"/>
                  </a:moveTo>
                  <a:lnTo>
                    <a:pt x="4031258" y="0"/>
                  </a:lnTo>
                  <a:lnTo>
                    <a:pt x="4031258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04775"/>
              <a:ext cx="4031258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No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74662" y="3917305"/>
            <a:ext cx="16538674" cy="809774"/>
            <a:chOff x="0" y="0"/>
            <a:chExt cx="22051565" cy="107969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051518" cy="1079754"/>
            </a:xfrm>
            <a:custGeom>
              <a:avLst/>
              <a:gdLst/>
              <a:ahLst/>
              <a:cxnLst/>
              <a:rect l="l" t="t" r="r" b="b"/>
              <a:pathLst>
                <a:path w="22051518" h="1079754">
                  <a:moveTo>
                    <a:pt x="0" y="0"/>
                  </a:moveTo>
                  <a:lnTo>
                    <a:pt x="22051518" y="0"/>
                  </a:lnTo>
                  <a:lnTo>
                    <a:pt x="22051518" y="1079754"/>
                  </a:lnTo>
                  <a:lnTo>
                    <a:pt x="0" y="107975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22164" y="4075062"/>
            <a:ext cx="1477119" cy="494259"/>
            <a:chOff x="0" y="0"/>
            <a:chExt cx="1969492" cy="65901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969492" cy="659012"/>
            </a:xfrm>
            <a:custGeom>
              <a:avLst/>
              <a:gdLst/>
              <a:ahLst/>
              <a:cxnLst/>
              <a:rect l="l" t="t" r="r" b="b"/>
              <a:pathLst>
                <a:path w="1969492" h="659012">
                  <a:moveTo>
                    <a:pt x="0" y="0"/>
                  </a:moveTo>
                  <a:lnTo>
                    <a:pt x="1969492" y="0"/>
                  </a:lnTo>
                  <a:lnTo>
                    <a:pt x="1969492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04775"/>
              <a:ext cx="1969492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Puppet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103215" y="4075062"/>
            <a:ext cx="2671465" cy="494259"/>
            <a:chOff x="0" y="0"/>
            <a:chExt cx="3561953" cy="65901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561954" cy="659012"/>
            </a:xfrm>
            <a:custGeom>
              <a:avLst/>
              <a:gdLst/>
              <a:ahLst/>
              <a:cxnLst/>
              <a:rect l="l" t="t" r="r" b="b"/>
              <a:pathLst>
                <a:path w="3561954" h="659012">
                  <a:moveTo>
                    <a:pt x="0" y="0"/>
                  </a:moveTo>
                  <a:lnTo>
                    <a:pt x="3561954" y="0"/>
                  </a:lnTo>
                  <a:lnTo>
                    <a:pt x="3561954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04775"/>
              <a:ext cx="3561953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Puppet DSL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78612" y="4075062"/>
            <a:ext cx="2716114" cy="494259"/>
            <a:chOff x="0" y="0"/>
            <a:chExt cx="3621485" cy="65901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621485" cy="659012"/>
            </a:xfrm>
            <a:custGeom>
              <a:avLst/>
              <a:gdLst/>
              <a:ahLst/>
              <a:cxnLst/>
              <a:rect l="l" t="t" r="r" b="b"/>
              <a:pathLst>
                <a:path w="3621485" h="659012">
                  <a:moveTo>
                    <a:pt x="0" y="0"/>
                  </a:moveTo>
                  <a:lnTo>
                    <a:pt x="3621485" y="0"/>
                  </a:lnTo>
                  <a:lnTo>
                    <a:pt x="3621485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04775"/>
              <a:ext cx="3621485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Agent-based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498658" y="4075062"/>
            <a:ext cx="4140101" cy="494259"/>
            <a:chOff x="0" y="0"/>
            <a:chExt cx="5520135" cy="65901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520135" cy="659012"/>
            </a:xfrm>
            <a:custGeom>
              <a:avLst/>
              <a:gdLst/>
              <a:ahLst/>
              <a:cxnLst/>
              <a:rect l="l" t="t" r="r" b="b"/>
              <a:pathLst>
                <a:path w="5520135" h="659012">
                  <a:moveTo>
                    <a:pt x="0" y="0"/>
                  </a:moveTo>
                  <a:lnTo>
                    <a:pt x="5520135" y="0"/>
                  </a:lnTo>
                  <a:lnTo>
                    <a:pt x="5520135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04775"/>
              <a:ext cx="5520135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Large enterprises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142690" y="4075062"/>
            <a:ext cx="3023444" cy="494259"/>
            <a:chOff x="0" y="0"/>
            <a:chExt cx="4031258" cy="65901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031258" cy="659012"/>
            </a:xfrm>
            <a:custGeom>
              <a:avLst/>
              <a:gdLst/>
              <a:ahLst/>
              <a:cxnLst/>
              <a:rect l="l" t="t" r="r" b="b"/>
              <a:pathLst>
                <a:path w="4031258" h="659012">
                  <a:moveTo>
                    <a:pt x="0" y="0"/>
                  </a:moveTo>
                  <a:lnTo>
                    <a:pt x="4031258" y="0"/>
                  </a:lnTo>
                  <a:lnTo>
                    <a:pt x="4031258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04775"/>
              <a:ext cx="4031258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Yes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74662" y="4727079"/>
            <a:ext cx="16538674" cy="809774"/>
            <a:chOff x="0" y="0"/>
            <a:chExt cx="22051565" cy="107969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2051518" cy="1079754"/>
            </a:xfrm>
            <a:custGeom>
              <a:avLst/>
              <a:gdLst/>
              <a:ahLst/>
              <a:cxnLst/>
              <a:rect l="l" t="t" r="r" b="b"/>
              <a:pathLst>
                <a:path w="22051518" h="1079754">
                  <a:moveTo>
                    <a:pt x="0" y="0"/>
                  </a:moveTo>
                  <a:lnTo>
                    <a:pt x="22051518" y="0"/>
                  </a:lnTo>
                  <a:lnTo>
                    <a:pt x="22051518" y="1079754"/>
                  </a:lnTo>
                  <a:lnTo>
                    <a:pt x="0" y="10797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22164" y="4884836"/>
            <a:ext cx="1477119" cy="494259"/>
            <a:chOff x="0" y="0"/>
            <a:chExt cx="1969492" cy="65901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969492" cy="659012"/>
            </a:xfrm>
            <a:custGeom>
              <a:avLst/>
              <a:gdLst/>
              <a:ahLst/>
              <a:cxnLst/>
              <a:rect l="l" t="t" r="r" b="b"/>
              <a:pathLst>
                <a:path w="1969492" h="659012">
                  <a:moveTo>
                    <a:pt x="0" y="0"/>
                  </a:moveTo>
                  <a:lnTo>
                    <a:pt x="1969492" y="0"/>
                  </a:lnTo>
                  <a:lnTo>
                    <a:pt x="1969492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104775"/>
              <a:ext cx="1969492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Chef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103215" y="4884836"/>
            <a:ext cx="2671465" cy="494259"/>
            <a:chOff x="0" y="0"/>
            <a:chExt cx="3561953" cy="65901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561954" cy="659012"/>
            </a:xfrm>
            <a:custGeom>
              <a:avLst/>
              <a:gdLst/>
              <a:ahLst/>
              <a:cxnLst/>
              <a:rect l="l" t="t" r="r" b="b"/>
              <a:pathLst>
                <a:path w="3561954" h="659012">
                  <a:moveTo>
                    <a:pt x="0" y="0"/>
                  </a:moveTo>
                  <a:lnTo>
                    <a:pt x="3561954" y="0"/>
                  </a:lnTo>
                  <a:lnTo>
                    <a:pt x="3561954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04775"/>
              <a:ext cx="3561953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Ruby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278612" y="4884836"/>
            <a:ext cx="2716114" cy="494259"/>
            <a:chOff x="0" y="0"/>
            <a:chExt cx="3621485" cy="65901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621485" cy="659012"/>
            </a:xfrm>
            <a:custGeom>
              <a:avLst/>
              <a:gdLst/>
              <a:ahLst/>
              <a:cxnLst/>
              <a:rect l="l" t="t" r="r" b="b"/>
              <a:pathLst>
                <a:path w="3621485" h="659012">
                  <a:moveTo>
                    <a:pt x="0" y="0"/>
                  </a:moveTo>
                  <a:lnTo>
                    <a:pt x="3621485" y="0"/>
                  </a:lnTo>
                  <a:lnTo>
                    <a:pt x="3621485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04775"/>
              <a:ext cx="3621485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Agent-based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498658" y="4884836"/>
            <a:ext cx="4140101" cy="494259"/>
            <a:chOff x="0" y="0"/>
            <a:chExt cx="5520135" cy="65901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520135" cy="659012"/>
            </a:xfrm>
            <a:custGeom>
              <a:avLst/>
              <a:gdLst/>
              <a:ahLst/>
              <a:cxnLst/>
              <a:rect l="l" t="t" r="r" b="b"/>
              <a:pathLst>
                <a:path w="5520135" h="659012">
                  <a:moveTo>
                    <a:pt x="0" y="0"/>
                  </a:moveTo>
                  <a:lnTo>
                    <a:pt x="5520135" y="0"/>
                  </a:lnTo>
                  <a:lnTo>
                    <a:pt x="5520135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04775"/>
              <a:ext cx="5520135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Complex logic needs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142690" y="4884836"/>
            <a:ext cx="3023444" cy="494259"/>
            <a:chOff x="0" y="0"/>
            <a:chExt cx="4031258" cy="65901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031258" cy="659012"/>
            </a:xfrm>
            <a:custGeom>
              <a:avLst/>
              <a:gdLst/>
              <a:ahLst/>
              <a:cxnLst/>
              <a:rect l="l" t="t" r="r" b="b"/>
              <a:pathLst>
                <a:path w="4031258" h="659012">
                  <a:moveTo>
                    <a:pt x="0" y="0"/>
                  </a:moveTo>
                  <a:lnTo>
                    <a:pt x="4031258" y="0"/>
                  </a:lnTo>
                  <a:lnTo>
                    <a:pt x="4031258" y="659012"/>
                  </a:lnTo>
                  <a:lnTo>
                    <a:pt x="0" y="659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04775"/>
              <a:ext cx="4031258" cy="763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Yes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874662" y="6103748"/>
            <a:ext cx="16557724" cy="57284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3875"/>
              </a:lnSpc>
            </a:pPr>
            <a:r>
              <a:rPr lang="en-US" sz="2375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Ansible</a:t>
            </a:r>
            <a:r>
              <a:rPr lang="en-US" sz="2375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is the </a:t>
            </a:r>
            <a:r>
              <a:rPr lang="en-US" sz="2375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most preferred</a:t>
            </a:r>
            <a:r>
              <a:rPr lang="en-US" sz="2375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CM tool of all because: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855577" y="6908245"/>
            <a:ext cx="16567286" cy="973731"/>
            <a:chOff x="-12748" y="-614242"/>
            <a:chExt cx="22089714" cy="1298307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2076966" cy="684065"/>
            </a:xfrm>
            <a:custGeom>
              <a:avLst/>
              <a:gdLst/>
              <a:ahLst/>
              <a:cxnLst/>
              <a:rect l="l" t="t" r="r" b="b"/>
              <a:pathLst>
                <a:path w="22076966" h="684065">
                  <a:moveTo>
                    <a:pt x="0" y="0"/>
                  </a:moveTo>
                  <a:lnTo>
                    <a:pt x="22076966" y="0"/>
                  </a:lnTo>
                  <a:lnTo>
                    <a:pt x="22076966" y="684065"/>
                  </a:lnTo>
                  <a:lnTo>
                    <a:pt x="0" y="6840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-12748" y="-614242"/>
              <a:ext cx="22076965" cy="7697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7604" lvl="1" indent="-183802" algn="l">
                <a:lnSpc>
                  <a:spcPts val="3852"/>
                </a:lnSpc>
                <a:buFont typeface="Arial"/>
                <a:buChar char="•"/>
              </a:pPr>
              <a:r>
                <a:rPr lang="en-US" sz="2437" dirty="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Simple, Human-Readable YAML Syntax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65138" y="7485588"/>
            <a:ext cx="16557725" cy="977115"/>
            <a:chOff x="0" y="-618754"/>
            <a:chExt cx="22076966" cy="1302819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2076966" cy="684065"/>
            </a:xfrm>
            <a:custGeom>
              <a:avLst/>
              <a:gdLst/>
              <a:ahLst/>
              <a:cxnLst/>
              <a:rect l="l" t="t" r="r" b="b"/>
              <a:pathLst>
                <a:path w="22076966" h="684065">
                  <a:moveTo>
                    <a:pt x="0" y="0"/>
                  </a:moveTo>
                  <a:lnTo>
                    <a:pt x="22076966" y="0"/>
                  </a:lnTo>
                  <a:lnTo>
                    <a:pt x="22076966" y="684065"/>
                  </a:lnTo>
                  <a:lnTo>
                    <a:pt x="0" y="6840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618754"/>
              <a:ext cx="22076965" cy="7697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7604" lvl="1" indent="-183802" algn="l">
                <a:lnSpc>
                  <a:spcPts val="3852"/>
                </a:lnSpc>
                <a:buFont typeface="Arial"/>
                <a:buChar char="•"/>
              </a:pPr>
              <a:r>
                <a:rPr lang="en-US" sz="2437" dirty="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Fast Learning Curve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65138" y="8043243"/>
            <a:ext cx="16557725" cy="1000187"/>
            <a:chOff x="0" y="-649517"/>
            <a:chExt cx="22076966" cy="133358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2076966" cy="684065"/>
            </a:xfrm>
            <a:custGeom>
              <a:avLst/>
              <a:gdLst/>
              <a:ahLst/>
              <a:cxnLst/>
              <a:rect l="l" t="t" r="r" b="b"/>
              <a:pathLst>
                <a:path w="22076966" h="684065">
                  <a:moveTo>
                    <a:pt x="0" y="0"/>
                  </a:moveTo>
                  <a:lnTo>
                    <a:pt x="22076966" y="0"/>
                  </a:lnTo>
                  <a:lnTo>
                    <a:pt x="22076966" y="684065"/>
                  </a:lnTo>
                  <a:lnTo>
                    <a:pt x="0" y="6840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649517"/>
              <a:ext cx="22076965" cy="7697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7604" lvl="1" indent="-183802" algn="l">
                <a:lnSpc>
                  <a:spcPts val="3852"/>
                </a:lnSpc>
                <a:buFont typeface="Arial"/>
                <a:buChar char="•"/>
              </a:pPr>
              <a:r>
                <a:rPr lang="en-US" sz="2437" dirty="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Flexible &amp; Versatile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55577" y="8635217"/>
            <a:ext cx="16567286" cy="988941"/>
            <a:chOff x="-12748" y="-634522"/>
            <a:chExt cx="22089714" cy="1318587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2076966" cy="684065"/>
            </a:xfrm>
            <a:custGeom>
              <a:avLst/>
              <a:gdLst/>
              <a:ahLst/>
              <a:cxnLst/>
              <a:rect l="l" t="t" r="r" b="b"/>
              <a:pathLst>
                <a:path w="22076966" h="684065">
                  <a:moveTo>
                    <a:pt x="0" y="0"/>
                  </a:moveTo>
                  <a:lnTo>
                    <a:pt x="22076966" y="0"/>
                  </a:lnTo>
                  <a:lnTo>
                    <a:pt x="22076966" y="684065"/>
                  </a:lnTo>
                  <a:lnTo>
                    <a:pt x="0" y="6840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-12748" y="-634522"/>
              <a:ext cx="22076965" cy="7697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7604" lvl="1" indent="-183802" algn="l">
                <a:lnSpc>
                  <a:spcPts val="3852"/>
                </a:lnSpc>
                <a:buFont typeface="Arial"/>
                <a:buChar char="•"/>
              </a:pPr>
              <a:r>
                <a:rPr lang="en-US" sz="2437" dirty="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Smooth CI/CD Integration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00150" y="2237015"/>
            <a:ext cx="5000624" cy="524865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28F47-E204-8F3C-1B93-97B18693791C}"/>
              </a:ext>
            </a:extLst>
          </p:cNvPr>
          <p:cNvSpPr txBox="1"/>
          <p:nvPr/>
        </p:nvSpPr>
        <p:spPr>
          <a:xfrm>
            <a:off x="1543050" y="2950899"/>
            <a:ext cx="3943350" cy="382088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Setting up Ansible tool : 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3D6AFAF5-8AB4-1818-373D-35600D76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690050" y="2361030"/>
            <a:ext cx="10646974" cy="5000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0AB88-C7A1-F75C-FED3-179BAE4B7780}"/>
              </a:ext>
            </a:extLst>
          </p:cNvPr>
          <p:cNvSpPr txBox="1"/>
          <p:nvPr/>
        </p:nvSpPr>
        <p:spPr>
          <a:xfrm>
            <a:off x="14896933" y="7484459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www.digitalocean.com/community/tutorials/how-to-use-ansible-to-automate-initial-server-setup-on-ubuntu-18-0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657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844</Words>
  <Application>Microsoft Office PowerPoint</Application>
  <PresentationFormat>Custom</PresentationFormat>
  <Paragraphs>188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Heebo</vt:lpstr>
      <vt:lpstr>Crimson Pro Bold</vt:lpstr>
      <vt:lpstr>Arial</vt:lpstr>
      <vt:lpstr>Consolas</vt:lpstr>
      <vt:lpstr>Heebo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Configuration-Management.pptx</dc:title>
  <cp:lastModifiedBy>MohammaD AneeS</cp:lastModifiedBy>
  <cp:revision>3</cp:revision>
  <dcterms:created xsi:type="dcterms:W3CDTF">2006-08-16T00:00:00Z</dcterms:created>
  <dcterms:modified xsi:type="dcterms:W3CDTF">2026-10-17T05:18:32Z</dcterms:modified>
  <dc:identifier>DAGlDdZ2lwg</dc:identifier>
</cp:coreProperties>
</file>