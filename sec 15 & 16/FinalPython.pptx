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arlow" pitchFamily="2" charset="77"/>
      <p:regular r:id="rId13"/>
      <p:bold r:id="rId14"/>
    </p:embeddedFont>
    <p:embeddedFont>
      <p:font typeface="Barlow Bold" pitchFamily="2" charset="77"/>
      <p:regular r:id="rId15"/>
      <p:bold r:id="rId16"/>
    </p:embeddedFont>
    <p:embeddedFont>
      <p:font typeface="Bookerly Display" panose="02020602060705030203" pitchFamily="18" charset="77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Montserrat" pitchFamily="2" charset="77"/>
      <p:regular r:id="rId25"/>
      <p:bold r:id="rId26"/>
      <p:italic r:id="rId27"/>
      <p:boldItalic r:id="rId28"/>
    </p:embeddedFont>
    <p:embeddedFont>
      <p:font typeface="Montserrat Bold" pitchFamily="2" charset="77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5" autoAdjust="0"/>
  </p:normalViewPr>
  <p:slideViewPr>
    <p:cSldViewPr>
      <p:cViewPr varScale="1">
        <p:scale>
          <a:sx n="78" d="100"/>
          <a:sy n="78" d="100"/>
        </p:scale>
        <p:origin x="5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mtp.example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03456" y="3288445"/>
            <a:ext cx="9104042" cy="1505049"/>
            <a:chOff x="0" y="0"/>
            <a:chExt cx="12138723" cy="20067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38723" cy="2006732"/>
            </a:xfrm>
            <a:custGeom>
              <a:avLst/>
              <a:gdLst/>
              <a:ahLst/>
              <a:cxnLst/>
              <a:rect l="l" t="t" r="r" b="b"/>
              <a:pathLst>
                <a:path w="12138723" h="2006732">
                  <a:moveTo>
                    <a:pt x="0" y="0"/>
                  </a:moveTo>
                  <a:lnTo>
                    <a:pt x="12138723" y="0"/>
                  </a:lnTo>
                  <a:lnTo>
                    <a:pt x="12138723" y="2006732"/>
                  </a:lnTo>
                  <a:lnTo>
                    <a:pt x="0" y="2006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138723" cy="20543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625"/>
                </a:lnSpc>
              </a:pPr>
              <a:r>
                <a:rPr lang="en-US" sz="7687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Automating DevOps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22959" y="9239250"/>
            <a:ext cx="4849092" cy="46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  <a:spcBef>
                <a:spcPct val="0"/>
              </a:spcBef>
            </a:pPr>
            <a:r>
              <a:rPr lang="en-US" sz="29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59" y="8807898"/>
            <a:ext cx="2424546" cy="4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3"/>
              </a:lnSpc>
              <a:spcBef>
                <a:spcPct val="0"/>
              </a:spcBef>
            </a:pPr>
            <a:r>
              <a:rPr lang="en-US" sz="28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Presenter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09801" y="4774444"/>
            <a:ext cx="3371908" cy="63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40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64542" y="925562"/>
            <a:ext cx="6500961" cy="957975"/>
            <a:chOff x="0" y="0"/>
            <a:chExt cx="8667948" cy="1277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67948" cy="1277300"/>
            </a:xfrm>
            <a:custGeom>
              <a:avLst/>
              <a:gdLst/>
              <a:ahLst/>
              <a:cxnLst/>
              <a:rect l="l" t="t" r="r" b="b"/>
              <a:pathLst>
                <a:path w="8667948" h="1277300">
                  <a:moveTo>
                    <a:pt x="0" y="0"/>
                  </a:moveTo>
                  <a:lnTo>
                    <a:pt x="8667948" y="0"/>
                  </a:lnTo>
                  <a:lnTo>
                    <a:pt x="8667948" y="1277300"/>
                  </a:lnTo>
                  <a:lnTo>
                    <a:pt x="0" y="1277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667948" cy="131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00"/>
                </a:lnSpc>
              </a:pPr>
              <a:r>
                <a:rPr lang="en-US" sz="5162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Today's Agenda!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64542" y="1985814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3"/>
                </a:lnTo>
                <a:lnTo>
                  <a:pt x="0" y="1524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70100" y="2232720"/>
            <a:ext cx="7308279" cy="1040440"/>
            <a:chOff x="0" y="0"/>
            <a:chExt cx="9744372" cy="13872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44372" cy="1387253"/>
            </a:xfrm>
            <a:custGeom>
              <a:avLst/>
              <a:gdLst/>
              <a:ahLst/>
              <a:cxnLst/>
              <a:rect l="l" t="t" r="r" b="b"/>
              <a:pathLst>
                <a:path w="9744372" h="1387253">
                  <a:moveTo>
                    <a:pt x="0" y="0"/>
                  </a:moveTo>
                  <a:lnTo>
                    <a:pt x="9744372" y="0"/>
                  </a:lnTo>
                  <a:lnTo>
                    <a:pt x="9744372" y="1387253"/>
                  </a:lnTo>
                  <a:lnTo>
                    <a:pt x="0" y="1387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9744372" cy="1406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1"/>
                </a:lnSpc>
              </a:pPr>
              <a:r>
                <a:rPr lang="en-US" sz="32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Intro: Automated Alerts in DevOps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864542" y="3510557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0" r="-150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470100" y="3757464"/>
            <a:ext cx="5473122" cy="1040440"/>
            <a:chOff x="0" y="0"/>
            <a:chExt cx="7297496" cy="1387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97496" cy="1387253"/>
            </a:xfrm>
            <a:custGeom>
              <a:avLst/>
              <a:gdLst/>
              <a:ahLst/>
              <a:cxnLst/>
              <a:rect l="l" t="t" r="r" b="b"/>
              <a:pathLst>
                <a:path w="7297496" h="1387253">
                  <a:moveTo>
                    <a:pt x="0" y="0"/>
                  </a:moveTo>
                  <a:lnTo>
                    <a:pt x="7297496" y="0"/>
                  </a:lnTo>
                  <a:lnTo>
                    <a:pt x="7297496" y="1387253"/>
                  </a:lnTo>
                  <a:lnTo>
                    <a:pt x="0" y="1387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297496" cy="1406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1"/>
                </a:lnSpc>
              </a:pPr>
              <a:r>
                <a:rPr lang="en-US" sz="32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Python's smtplib module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864542" y="5035302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" r="-150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2470100" y="5282208"/>
            <a:ext cx="5836856" cy="1040440"/>
            <a:chOff x="0" y="0"/>
            <a:chExt cx="7782474" cy="13872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782474" cy="1387253"/>
            </a:xfrm>
            <a:custGeom>
              <a:avLst/>
              <a:gdLst/>
              <a:ahLst/>
              <a:cxnLst/>
              <a:rect l="l" t="t" r="r" b="b"/>
              <a:pathLst>
                <a:path w="7782474" h="1387253">
                  <a:moveTo>
                    <a:pt x="0" y="0"/>
                  </a:moveTo>
                  <a:lnTo>
                    <a:pt x="7782474" y="0"/>
                  </a:lnTo>
                  <a:lnTo>
                    <a:pt x="7782474" y="1387253"/>
                  </a:lnTo>
                  <a:lnTo>
                    <a:pt x="0" y="1387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7782474" cy="1406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1"/>
                </a:lnSpc>
              </a:pPr>
              <a:r>
                <a:rPr lang="en-US" sz="32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Combining python libraries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864542" y="6560046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0" r="-150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470100" y="6806953"/>
            <a:ext cx="8502432" cy="1040440"/>
            <a:chOff x="0" y="0"/>
            <a:chExt cx="11336575" cy="138725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36575" cy="1387253"/>
            </a:xfrm>
            <a:custGeom>
              <a:avLst/>
              <a:gdLst/>
              <a:ahLst/>
              <a:cxnLst/>
              <a:rect l="l" t="t" r="r" b="b"/>
              <a:pathLst>
                <a:path w="11336575" h="1387253">
                  <a:moveTo>
                    <a:pt x="0" y="0"/>
                  </a:moveTo>
                  <a:lnTo>
                    <a:pt x="11336575" y="0"/>
                  </a:lnTo>
                  <a:lnTo>
                    <a:pt x="11336575" y="1387253"/>
                  </a:lnTo>
                  <a:lnTo>
                    <a:pt x="0" y="1387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1336575" cy="1406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1"/>
                </a:lnSpc>
              </a:pPr>
              <a:r>
                <a:rPr lang="en-US" sz="32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Final Project: DevOps Automation with python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864542" y="8084790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0" r="-150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470100" y="8331696"/>
            <a:ext cx="8075062" cy="1040440"/>
            <a:chOff x="0" y="0"/>
            <a:chExt cx="10766749" cy="13872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66750" cy="1387253"/>
            </a:xfrm>
            <a:custGeom>
              <a:avLst/>
              <a:gdLst/>
              <a:ahLst/>
              <a:cxnLst/>
              <a:rect l="l" t="t" r="r" b="b"/>
              <a:pathLst>
                <a:path w="10766750" h="1387253">
                  <a:moveTo>
                    <a:pt x="0" y="0"/>
                  </a:moveTo>
                  <a:lnTo>
                    <a:pt x="10766750" y="0"/>
                  </a:lnTo>
                  <a:lnTo>
                    <a:pt x="10766750" y="1387253"/>
                  </a:lnTo>
                  <a:lnTo>
                    <a:pt x="0" y="1387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0766749" cy="1406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1"/>
                </a:lnSpc>
              </a:pPr>
              <a:r>
                <a:rPr lang="en-US" sz="32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Python's interview Q's (Fun Activity!)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206119" y="9758817"/>
            <a:ext cx="2829090" cy="31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  <a:spcBef>
                <a:spcPct val="0"/>
              </a:spcBef>
            </a:pPr>
            <a:r>
              <a:rPr lang="en-US" sz="19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705427" y="743492"/>
            <a:ext cx="8986793" cy="930910"/>
            <a:chOff x="0" y="0"/>
            <a:chExt cx="11982391" cy="12412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82391" cy="1241213"/>
            </a:xfrm>
            <a:custGeom>
              <a:avLst/>
              <a:gdLst/>
              <a:ahLst/>
              <a:cxnLst/>
              <a:rect l="l" t="t" r="r" b="b"/>
              <a:pathLst>
                <a:path w="11982391" h="1241213">
                  <a:moveTo>
                    <a:pt x="0" y="0"/>
                  </a:moveTo>
                  <a:lnTo>
                    <a:pt x="11982391" y="0"/>
                  </a:lnTo>
                  <a:lnTo>
                    <a:pt x="11982391" y="1241213"/>
                  </a:lnTo>
                  <a:lnTo>
                    <a:pt x="0" y="1241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982391" cy="12793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249"/>
                </a:lnSpc>
              </a:pPr>
              <a:r>
                <a:rPr lang="en-US" sz="4999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Automated Alerts in DevOps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05279" y="2207802"/>
            <a:ext cx="9735145" cy="968574"/>
            <a:chOff x="0" y="0"/>
            <a:chExt cx="12980193" cy="1291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80194" cy="1291432"/>
            </a:xfrm>
            <a:custGeom>
              <a:avLst/>
              <a:gdLst/>
              <a:ahLst/>
              <a:cxnLst/>
              <a:rect l="l" t="t" r="r" b="b"/>
              <a:pathLst>
                <a:path w="12980194" h="1291432">
                  <a:moveTo>
                    <a:pt x="0" y="0"/>
                  </a:moveTo>
                  <a:lnTo>
                    <a:pt x="12980194" y="0"/>
                  </a:lnTo>
                  <a:lnTo>
                    <a:pt x="12980194" y="1291432"/>
                  </a:lnTo>
                  <a:lnTo>
                    <a:pt x="0" y="129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2980193" cy="13962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Automated alerts are messages that notify system administrators or developers when specific events occur.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05279" y="3448730"/>
            <a:ext cx="9735145" cy="1937147"/>
            <a:chOff x="0" y="0"/>
            <a:chExt cx="12980193" cy="25828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80194" cy="2582863"/>
            </a:xfrm>
            <a:custGeom>
              <a:avLst/>
              <a:gdLst/>
              <a:ahLst/>
              <a:cxnLst/>
              <a:rect l="l" t="t" r="r" b="b"/>
              <a:pathLst>
                <a:path w="12980194" h="2582863">
                  <a:moveTo>
                    <a:pt x="0" y="0"/>
                  </a:moveTo>
                  <a:lnTo>
                    <a:pt x="12980194" y="0"/>
                  </a:lnTo>
                  <a:lnTo>
                    <a:pt x="12980194" y="2582863"/>
                  </a:lnTo>
                  <a:lnTo>
                    <a:pt x="0" y="2582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12980193" cy="26876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These alerts are crucial for informing engineers about system failures, high CPU usage, low disk space, or critical errors in logs. For example, a server crash can trigger an email, enabling immediate action and faster response times.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05279" y="5658233"/>
            <a:ext cx="9735145" cy="1452860"/>
            <a:chOff x="0" y="0"/>
            <a:chExt cx="12980193" cy="19371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80194" cy="1937147"/>
            </a:xfrm>
            <a:custGeom>
              <a:avLst/>
              <a:gdLst/>
              <a:ahLst/>
              <a:cxnLst/>
              <a:rect l="l" t="t" r="r" b="b"/>
              <a:pathLst>
                <a:path w="12980194" h="1937147">
                  <a:moveTo>
                    <a:pt x="0" y="0"/>
                  </a:moveTo>
                  <a:lnTo>
                    <a:pt x="12980194" y="0"/>
                  </a:lnTo>
                  <a:lnTo>
                    <a:pt x="12980194" y="1937147"/>
                  </a:lnTo>
                  <a:lnTo>
                    <a:pt x="0" y="19371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12980193" cy="20419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Imagine monitoring a website's performance. If the website crashes, the system automatically sends an alert, ensuring the team can quickly fix the issue, even without active monitoring.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7705427" y="7645301"/>
            <a:ext cx="605284" cy="605284"/>
          </a:xfrm>
          <a:custGeom>
            <a:avLst/>
            <a:gdLst/>
            <a:ahLst/>
            <a:cxnLst/>
            <a:rect l="l" t="t" r="r" b="b"/>
            <a:pathLst>
              <a:path w="605284" h="605284">
                <a:moveTo>
                  <a:pt x="0" y="0"/>
                </a:moveTo>
                <a:lnTo>
                  <a:pt x="605284" y="0"/>
                </a:lnTo>
                <a:lnTo>
                  <a:pt x="605284" y="605284"/>
                </a:lnTo>
                <a:lnTo>
                  <a:pt x="0" y="605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7705427" y="8492579"/>
            <a:ext cx="3002905" cy="484286"/>
            <a:chOff x="0" y="0"/>
            <a:chExt cx="4003873" cy="6457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03873" cy="645715"/>
            </a:xfrm>
            <a:custGeom>
              <a:avLst/>
              <a:gdLst/>
              <a:ahLst/>
              <a:cxnLst/>
              <a:rect l="l" t="t" r="r" b="b"/>
              <a:pathLst>
                <a:path w="4003873" h="645715">
                  <a:moveTo>
                    <a:pt x="0" y="0"/>
                  </a:moveTo>
                  <a:lnTo>
                    <a:pt x="4003873" y="0"/>
                  </a:lnTo>
                  <a:lnTo>
                    <a:pt x="4003873" y="645715"/>
                  </a:lnTo>
                  <a:lnTo>
                    <a:pt x="0" y="645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4003873" cy="7504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 Notifications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11071472" y="7645301"/>
            <a:ext cx="605284" cy="605284"/>
          </a:xfrm>
          <a:custGeom>
            <a:avLst/>
            <a:gdLst/>
            <a:ahLst/>
            <a:cxnLst/>
            <a:rect l="l" t="t" r="r" b="b"/>
            <a:pathLst>
              <a:path w="605284" h="605284">
                <a:moveTo>
                  <a:pt x="0" y="0"/>
                </a:moveTo>
                <a:lnTo>
                  <a:pt x="605284" y="0"/>
                </a:lnTo>
                <a:lnTo>
                  <a:pt x="605284" y="605284"/>
                </a:lnTo>
                <a:lnTo>
                  <a:pt x="0" y="605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1071472" y="8492579"/>
            <a:ext cx="3002905" cy="484286"/>
            <a:chOff x="0" y="0"/>
            <a:chExt cx="4003873" cy="6457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03873" cy="645715"/>
            </a:xfrm>
            <a:custGeom>
              <a:avLst/>
              <a:gdLst/>
              <a:ahLst/>
              <a:cxnLst/>
              <a:rect l="l" t="t" r="r" b="b"/>
              <a:pathLst>
                <a:path w="4003873" h="645715">
                  <a:moveTo>
                    <a:pt x="0" y="0"/>
                  </a:moveTo>
                  <a:lnTo>
                    <a:pt x="4003873" y="0"/>
                  </a:lnTo>
                  <a:lnTo>
                    <a:pt x="4003873" y="645715"/>
                  </a:lnTo>
                  <a:lnTo>
                    <a:pt x="0" y="645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4003873" cy="7504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Error Detection</a:t>
              </a:r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4437519" y="7645301"/>
            <a:ext cx="605284" cy="605284"/>
          </a:xfrm>
          <a:custGeom>
            <a:avLst/>
            <a:gdLst/>
            <a:ahLst/>
            <a:cxnLst/>
            <a:rect l="l" t="t" r="r" b="b"/>
            <a:pathLst>
              <a:path w="605284" h="605284">
                <a:moveTo>
                  <a:pt x="0" y="0"/>
                </a:moveTo>
                <a:lnTo>
                  <a:pt x="605283" y="0"/>
                </a:lnTo>
                <a:lnTo>
                  <a:pt x="605283" y="605284"/>
                </a:lnTo>
                <a:lnTo>
                  <a:pt x="0" y="605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4437519" y="8492579"/>
            <a:ext cx="3002905" cy="484286"/>
            <a:chOff x="0" y="0"/>
            <a:chExt cx="4003873" cy="6457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03873" cy="645715"/>
            </a:xfrm>
            <a:custGeom>
              <a:avLst/>
              <a:gdLst/>
              <a:ahLst/>
              <a:cxnLst/>
              <a:rect l="l" t="t" r="r" b="b"/>
              <a:pathLst>
                <a:path w="4003873" h="645715">
                  <a:moveTo>
                    <a:pt x="0" y="0"/>
                  </a:moveTo>
                  <a:lnTo>
                    <a:pt x="4003873" y="0"/>
                  </a:lnTo>
                  <a:lnTo>
                    <a:pt x="4003873" y="645715"/>
                  </a:lnTo>
                  <a:lnTo>
                    <a:pt x="0" y="645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4003873" cy="7504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Fast Response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206119" y="9758817"/>
            <a:ext cx="2829090" cy="31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  <a:spcBef>
                <a:spcPct val="0"/>
              </a:spcBef>
            </a:pPr>
            <a:r>
              <a:rPr lang="en-US" sz="19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45021" y="234859"/>
            <a:ext cx="10143348" cy="765266"/>
            <a:chOff x="0" y="0"/>
            <a:chExt cx="13524464" cy="1020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524464" cy="1020355"/>
            </a:xfrm>
            <a:custGeom>
              <a:avLst/>
              <a:gdLst/>
              <a:ahLst/>
              <a:cxnLst/>
              <a:rect l="l" t="t" r="r" b="b"/>
              <a:pathLst>
                <a:path w="13524464" h="1020355">
                  <a:moveTo>
                    <a:pt x="0" y="0"/>
                  </a:moveTo>
                  <a:lnTo>
                    <a:pt x="13524464" y="0"/>
                  </a:lnTo>
                  <a:lnTo>
                    <a:pt x="13524464" y="1020355"/>
                  </a:lnTo>
                  <a:lnTo>
                    <a:pt x="0" y="10203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524464" cy="1039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3"/>
                </a:lnSpc>
              </a:pPr>
              <a:r>
                <a:rPr lang="en-US" sz="4112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Sending Emails with Python's smtplib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42628" y="1727323"/>
            <a:ext cx="8048906" cy="5249523"/>
            <a:chOff x="0" y="0"/>
            <a:chExt cx="8805310" cy="57428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05298" cy="5742914"/>
            </a:xfrm>
            <a:custGeom>
              <a:avLst/>
              <a:gdLst/>
              <a:ahLst/>
              <a:cxnLst/>
              <a:rect l="l" t="t" r="r" b="b"/>
              <a:pathLst>
                <a:path w="8805298" h="5742914">
                  <a:moveTo>
                    <a:pt x="0" y="216355"/>
                  </a:moveTo>
                  <a:cubicBezTo>
                    <a:pt x="0" y="96931"/>
                    <a:pt x="38486" y="0"/>
                    <a:pt x="85904" y="0"/>
                  </a:cubicBezTo>
                  <a:lnTo>
                    <a:pt x="8719394" y="0"/>
                  </a:lnTo>
                  <a:cubicBezTo>
                    <a:pt x="8766861" y="0"/>
                    <a:pt x="8805298" y="96931"/>
                    <a:pt x="8805298" y="216355"/>
                  </a:cubicBezTo>
                  <a:lnTo>
                    <a:pt x="8805298" y="5526434"/>
                  </a:lnTo>
                  <a:cubicBezTo>
                    <a:pt x="8805298" y="5645982"/>
                    <a:pt x="8766811" y="5742789"/>
                    <a:pt x="8719394" y="5742789"/>
                  </a:cubicBezTo>
                  <a:lnTo>
                    <a:pt x="85904" y="5742789"/>
                  </a:lnTo>
                  <a:cubicBezTo>
                    <a:pt x="38486" y="5742914"/>
                    <a:pt x="0" y="5645982"/>
                    <a:pt x="0" y="5526434"/>
                  </a:cubicBezTo>
                  <a:close/>
                </a:path>
              </a:pathLst>
            </a:custGeom>
            <a:solidFill>
              <a:srgbClr val="01004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431563" y="1164381"/>
            <a:ext cx="9706091" cy="6032054"/>
            <a:chOff x="0" y="0"/>
            <a:chExt cx="10618230" cy="65989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18246" cy="6598850"/>
            </a:xfrm>
            <a:custGeom>
              <a:avLst/>
              <a:gdLst/>
              <a:ahLst/>
              <a:cxnLst/>
              <a:rect l="l" t="t" r="r" b="b"/>
              <a:pathLst>
                <a:path w="10618246" h="6598850">
                  <a:moveTo>
                    <a:pt x="0" y="41411"/>
                  </a:moveTo>
                  <a:cubicBezTo>
                    <a:pt x="0" y="18563"/>
                    <a:pt x="7727" y="0"/>
                    <a:pt x="17237" y="0"/>
                  </a:cubicBezTo>
                  <a:lnTo>
                    <a:pt x="10601000" y="0"/>
                  </a:lnTo>
                  <a:cubicBezTo>
                    <a:pt x="10610510" y="0"/>
                    <a:pt x="10618246" y="18563"/>
                    <a:pt x="10618246" y="41411"/>
                  </a:cubicBezTo>
                  <a:lnTo>
                    <a:pt x="10618246" y="6557439"/>
                  </a:lnTo>
                  <a:cubicBezTo>
                    <a:pt x="10618246" y="6580287"/>
                    <a:pt x="10610510" y="6598850"/>
                    <a:pt x="10601000" y="6598850"/>
                  </a:cubicBezTo>
                  <a:lnTo>
                    <a:pt x="17237" y="6598850"/>
                  </a:lnTo>
                  <a:cubicBezTo>
                    <a:pt x="7727" y="6598850"/>
                    <a:pt x="0" y="6580287"/>
                    <a:pt x="0" y="6557439"/>
                  </a:cubicBezTo>
                  <a:close/>
                </a:path>
              </a:pathLst>
            </a:custGeom>
            <a:solidFill>
              <a:srgbClr val="515CB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611020" y="1028700"/>
            <a:ext cx="9526634" cy="6282035"/>
            <a:chOff x="0" y="0"/>
            <a:chExt cx="9117061" cy="60119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17061" cy="6011956"/>
            </a:xfrm>
            <a:custGeom>
              <a:avLst/>
              <a:gdLst/>
              <a:ahLst/>
              <a:cxnLst/>
              <a:rect l="l" t="t" r="r" b="b"/>
              <a:pathLst>
                <a:path w="9117061" h="6011956">
                  <a:moveTo>
                    <a:pt x="0" y="0"/>
                  </a:moveTo>
                  <a:lnTo>
                    <a:pt x="9117061" y="0"/>
                  </a:lnTo>
                  <a:lnTo>
                    <a:pt x="9117061" y="6011956"/>
                  </a:lnTo>
                  <a:lnTo>
                    <a:pt x="0" y="60119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14300"/>
              <a:ext cx="9117061" cy="612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import smtplib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from email.mime.text import MIMEText</a:t>
              </a:r>
            </a:p>
            <a:p>
              <a:pPr algn="l">
                <a:lnSpc>
                  <a:spcPts val="3277"/>
                </a:lnSpc>
              </a:pPr>
              <a:endParaRPr lang="en-US" sz="2037">
                <a:solidFill>
                  <a:srgbClr val="EEEFF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def send_email(subject, body):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msg = MIMEText(body)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msg['Subject'] = subject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msg['From'] = 'your_email@example.com'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msg['To'] = 'admin@example.com'</a:t>
              </a:r>
            </a:p>
            <a:p>
              <a:pPr algn="l">
                <a:lnSpc>
                  <a:spcPts val="3277"/>
                </a:lnSpc>
              </a:pPr>
              <a:endParaRPr lang="en-US" sz="2037">
                <a:solidFill>
                  <a:srgbClr val="EEEFF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with smtplib.SMTP('smtp.example.com') as server: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server.login('your_email@example.com', 'your_password')</a:t>
              </a: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server.sendmail(msg['From'], [msg['To']], msg.as_string())</a:t>
              </a:r>
            </a:p>
            <a:p>
              <a:pPr algn="l">
                <a:lnSpc>
                  <a:spcPts val="3277"/>
                </a:lnSpc>
              </a:pPr>
              <a:endParaRPr lang="en-US" sz="2037">
                <a:solidFill>
                  <a:srgbClr val="EEEFF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Consolas"/>
                  <a:ea typeface="Consolas"/>
                  <a:cs typeface="Consolas"/>
                  <a:sym typeface="Consolas"/>
                </a:rPr>
                <a:t>send_email('Critical Error Alert', 'A critical error occurred!')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5021" y="7518052"/>
            <a:ext cx="16997957" cy="19050"/>
            <a:chOff x="0" y="0"/>
            <a:chExt cx="22663943" cy="25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663913" cy="25400"/>
            </a:xfrm>
            <a:custGeom>
              <a:avLst/>
              <a:gdLst/>
              <a:ahLst/>
              <a:cxnLst/>
              <a:rect l="l" t="t" r="r" b="b"/>
              <a:pathLst>
                <a:path w="226639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2651213" y="0"/>
                  </a:lnTo>
                  <a:cubicBezTo>
                    <a:pt x="22658198" y="0"/>
                    <a:pt x="22663913" y="5715"/>
                    <a:pt x="22663913" y="12700"/>
                  </a:cubicBezTo>
                  <a:cubicBezTo>
                    <a:pt x="22663913" y="19685"/>
                    <a:pt x="22658198" y="25400"/>
                    <a:pt x="226512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406974" y="7518052"/>
            <a:ext cx="19050" cy="552896"/>
            <a:chOff x="0" y="0"/>
            <a:chExt cx="25400" cy="7371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400" cy="737235"/>
            </a:xfrm>
            <a:custGeom>
              <a:avLst/>
              <a:gdLst/>
              <a:ahLst/>
              <a:cxnLst/>
              <a:rect l="l" t="t" r="r" b="b"/>
              <a:pathLst>
                <a:path w="25400" h="7372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24535"/>
                  </a:lnTo>
                  <a:cubicBezTo>
                    <a:pt x="25400" y="731520"/>
                    <a:pt x="19685" y="737235"/>
                    <a:pt x="12700" y="737235"/>
                  </a:cubicBezTo>
                  <a:cubicBezTo>
                    <a:pt x="5715" y="737235"/>
                    <a:pt x="0" y="731520"/>
                    <a:pt x="0" y="724535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3209181" y="7310735"/>
            <a:ext cx="414635" cy="414635"/>
            <a:chOff x="0" y="0"/>
            <a:chExt cx="552847" cy="5528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2704" cy="552831"/>
            </a:xfrm>
            <a:custGeom>
              <a:avLst/>
              <a:gdLst/>
              <a:ahLst/>
              <a:cxnLst/>
              <a:rect l="l" t="t" r="r" b="b"/>
              <a:pathLst>
                <a:path w="552704" h="552831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31597" y="0"/>
                  </a:lnTo>
                  <a:cubicBezTo>
                    <a:pt x="453771" y="0"/>
                    <a:pt x="552704" y="99060"/>
                    <a:pt x="552704" y="221107"/>
                  </a:cubicBezTo>
                  <a:lnTo>
                    <a:pt x="552704" y="331597"/>
                  </a:lnTo>
                  <a:cubicBezTo>
                    <a:pt x="552704" y="453771"/>
                    <a:pt x="453644" y="552704"/>
                    <a:pt x="331597" y="552704"/>
                  </a:cubicBezTo>
                  <a:lnTo>
                    <a:pt x="221107" y="552704"/>
                  </a:lnTo>
                  <a:cubicBezTo>
                    <a:pt x="99060" y="552831"/>
                    <a:pt x="0" y="453771"/>
                    <a:pt x="0" y="331724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3271019" y="7336185"/>
            <a:ext cx="290959" cy="363736"/>
            <a:chOff x="0" y="0"/>
            <a:chExt cx="387945" cy="4849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7945" cy="484982"/>
            </a:xfrm>
            <a:custGeom>
              <a:avLst/>
              <a:gdLst/>
              <a:ahLst/>
              <a:cxnLst/>
              <a:rect l="l" t="t" r="r" b="b"/>
              <a:pathLst>
                <a:path w="387945" h="484982">
                  <a:moveTo>
                    <a:pt x="0" y="0"/>
                  </a:moveTo>
                  <a:lnTo>
                    <a:pt x="387945" y="0"/>
                  </a:lnTo>
                  <a:lnTo>
                    <a:pt x="387945" y="484982"/>
                  </a:lnTo>
                  <a:lnTo>
                    <a:pt x="0" y="484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38100"/>
              <a:ext cx="387945" cy="4468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49"/>
                </a:lnSpc>
              </a:pPr>
              <a:r>
                <a:rPr lang="en-US" sz="2249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04145" y="8255199"/>
            <a:ext cx="2424856" cy="476397"/>
            <a:chOff x="0" y="0"/>
            <a:chExt cx="3233142" cy="6351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233142" cy="635196"/>
            </a:xfrm>
            <a:custGeom>
              <a:avLst/>
              <a:gdLst/>
              <a:ahLst/>
              <a:cxnLst/>
              <a:rect l="l" t="t" r="r" b="b"/>
              <a:pathLst>
                <a:path w="3233142" h="635196">
                  <a:moveTo>
                    <a:pt x="0" y="0"/>
                  </a:moveTo>
                  <a:lnTo>
                    <a:pt x="3233142" y="0"/>
                  </a:lnTo>
                  <a:lnTo>
                    <a:pt x="3233142" y="635196"/>
                  </a:lnTo>
                  <a:lnTo>
                    <a:pt x="0" y="635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3233142" cy="654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61"/>
                </a:lnSpc>
              </a:pPr>
              <a:r>
                <a:rPr lang="en-US" sz="257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MIMEText(body)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9270" y="8668791"/>
            <a:ext cx="5174605" cy="401891"/>
            <a:chOff x="0" y="0"/>
            <a:chExt cx="6899473" cy="53585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99473" cy="535855"/>
            </a:xfrm>
            <a:custGeom>
              <a:avLst/>
              <a:gdLst/>
              <a:ahLst/>
              <a:cxnLst/>
              <a:rect l="l" t="t" r="r" b="b"/>
              <a:pathLst>
                <a:path w="6899473" h="535855">
                  <a:moveTo>
                    <a:pt x="0" y="0"/>
                  </a:moveTo>
                  <a:lnTo>
                    <a:pt x="6899473" y="0"/>
                  </a:lnTo>
                  <a:lnTo>
                    <a:pt x="6899473" y="535855"/>
                  </a:lnTo>
                  <a:lnTo>
                    <a:pt x="0" y="535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6899473" cy="61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Creates the email body.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9270" y="9129884"/>
            <a:ext cx="5727352" cy="420564"/>
            <a:chOff x="0" y="0"/>
            <a:chExt cx="7636470" cy="5607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636470" cy="560752"/>
            </a:xfrm>
            <a:custGeom>
              <a:avLst/>
              <a:gdLst/>
              <a:ahLst/>
              <a:cxnLst/>
              <a:rect l="l" t="t" r="r" b="b"/>
              <a:pathLst>
                <a:path w="7636470" h="560752">
                  <a:moveTo>
                    <a:pt x="0" y="0"/>
                  </a:moveTo>
                  <a:lnTo>
                    <a:pt x="7636470" y="0"/>
                  </a:lnTo>
                  <a:lnTo>
                    <a:pt x="7636470" y="560752"/>
                  </a:lnTo>
                  <a:lnTo>
                    <a:pt x="0" y="5607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7636470" cy="646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8"/>
                </a:lnSpc>
              </a:pPr>
              <a:r>
                <a:rPr lang="en-US" sz="21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13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msg['Subject']</a:t>
              </a:r>
              <a:r>
                <a:rPr lang="en-US" sz="21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-US" sz="213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msg['From']</a:t>
              </a:r>
              <a:r>
                <a:rPr lang="en-US" sz="21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-US" sz="213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msg['To']</a:t>
              </a:r>
              <a:r>
                <a:rPr lang="en-US" sz="21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5644" y="9539459"/>
            <a:ext cx="5174605" cy="401891"/>
            <a:chOff x="0" y="0"/>
            <a:chExt cx="6899473" cy="53585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99473" cy="535855"/>
            </a:xfrm>
            <a:custGeom>
              <a:avLst/>
              <a:gdLst/>
              <a:ahLst/>
              <a:cxnLst/>
              <a:rect l="l" t="t" r="r" b="b"/>
              <a:pathLst>
                <a:path w="6899473" h="535855">
                  <a:moveTo>
                    <a:pt x="0" y="0"/>
                  </a:moveTo>
                  <a:lnTo>
                    <a:pt x="6899473" y="0"/>
                  </a:lnTo>
                  <a:lnTo>
                    <a:pt x="6899473" y="535855"/>
                  </a:lnTo>
                  <a:lnTo>
                    <a:pt x="0" y="535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6899473" cy="61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Set the subject, sender, and recipient. 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34326" y="7518052"/>
            <a:ext cx="19050" cy="552896"/>
            <a:chOff x="0" y="0"/>
            <a:chExt cx="25400" cy="73719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5400" cy="737235"/>
            </a:xfrm>
            <a:custGeom>
              <a:avLst/>
              <a:gdLst/>
              <a:ahLst/>
              <a:cxnLst/>
              <a:rect l="l" t="t" r="r" b="b"/>
              <a:pathLst>
                <a:path w="25400" h="7372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24535"/>
                  </a:lnTo>
                  <a:cubicBezTo>
                    <a:pt x="25400" y="731520"/>
                    <a:pt x="19685" y="737235"/>
                    <a:pt x="12700" y="737235"/>
                  </a:cubicBezTo>
                  <a:cubicBezTo>
                    <a:pt x="5715" y="737235"/>
                    <a:pt x="0" y="731520"/>
                    <a:pt x="0" y="724535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936534" y="7310735"/>
            <a:ext cx="414635" cy="414635"/>
            <a:chOff x="0" y="0"/>
            <a:chExt cx="552847" cy="55284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52704" cy="552831"/>
            </a:xfrm>
            <a:custGeom>
              <a:avLst/>
              <a:gdLst/>
              <a:ahLst/>
              <a:cxnLst/>
              <a:rect l="l" t="t" r="r" b="b"/>
              <a:pathLst>
                <a:path w="552704" h="552831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31597" y="0"/>
                  </a:lnTo>
                  <a:cubicBezTo>
                    <a:pt x="453771" y="0"/>
                    <a:pt x="552704" y="99060"/>
                    <a:pt x="552704" y="221107"/>
                  </a:cubicBezTo>
                  <a:lnTo>
                    <a:pt x="552704" y="331597"/>
                  </a:lnTo>
                  <a:cubicBezTo>
                    <a:pt x="552704" y="453771"/>
                    <a:pt x="453644" y="552704"/>
                    <a:pt x="331597" y="552704"/>
                  </a:cubicBezTo>
                  <a:lnTo>
                    <a:pt x="221107" y="552704"/>
                  </a:lnTo>
                  <a:cubicBezTo>
                    <a:pt x="99060" y="552831"/>
                    <a:pt x="0" y="453771"/>
                    <a:pt x="0" y="331724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8998371" y="7336185"/>
            <a:ext cx="290959" cy="363736"/>
            <a:chOff x="0" y="0"/>
            <a:chExt cx="387945" cy="48498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7945" cy="484982"/>
            </a:xfrm>
            <a:custGeom>
              <a:avLst/>
              <a:gdLst/>
              <a:ahLst/>
              <a:cxnLst/>
              <a:rect l="l" t="t" r="r" b="b"/>
              <a:pathLst>
                <a:path w="387945" h="484982">
                  <a:moveTo>
                    <a:pt x="0" y="0"/>
                  </a:moveTo>
                  <a:lnTo>
                    <a:pt x="387945" y="0"/>
                  </a:lnTo>
                  <a:lnTo>
                    <a:pt x="387945" y="484982"/>
                  </a:lnTo>
                  <a:lnTo>
                    <a:pt x="0" y="484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38100"/>
              <a:ext cx="387945" cy="4468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49"/>
                </a:lnSpc>
              </a:pPr>
              <a:r>
                <a:rPr lang="en-US" sz="2249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47397" y="8255199"/>
            <a:ext cx="5207543" cy="476397"/>
            <a:chOff x="0" y="0"/>
            <a:chExt cx="6943390" cy="6351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43390" cy="635196"/>
            </a:xfrm>
            <a:custGeom>
              <a:avLst/>
              <a:gdLst/>
              <a:ahLst/>
              <a:cxnLst/>
              <a:rect l="l" t="t" r="r" b="b"/>
              <a:pathLst>
                <a:path w="6943390" h="635196">
                  <a:moveTo>
                    <a:pt x="0" y="0"/>
                  </a:moveTo>
                  <a:lnTo>
                    <a:pt x="6943390" y="0"/>
                  </a:lnTo>
                  <a:lnTo>
                    <a:pt x="6943390" y="635196"/>
                  </a:lnTo>
                  <a:lnTo>
                    <a:pt x="0" y="635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6943390" cy="654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61"/>
                </a:lnSpc>
              </a:pPr>
              <a:r>
                <a:rPr lang="en-US" sz="257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smtplib.SMTP ('</a:t>
              </a:r>
              <a:r>
                <a:rPr lang="en-US" sz="2574" b="1" u="sng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  <a:hlinkClick r:id="rId3" tooltip="http://smtp.example.com"/>
                </a:rPr>
                <a:t>smtp.example.com</a:t>
              </a:r>
              <a:r>
                <a:rPr lang="en-US" sz="257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')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56622" y="8668791"/>
            <a:ext cx="5174605" cy="401891"/>
            <a:chOff x="0" y="0"/>
            <a:chExt cx="6899473" cy="53585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99473" cy="535855"/>
            </a:xfrm>
            <a:custGeom>
              <a:avLst/>
              <a:gdLst/>
              <a:ahLst/>
              <a:cxnLst/>
              <a:rect l="l" t="t" r="r" b="b"/>
              <a:pathLst>
                <a:path w="6899473" h="535855">
                  <a:moveTo>
                    <a:pt x="0" y="0"/>
                  </a:moveTo>
                  <a:lnTo>
                    <a:pt x="6899473" y="0"/>
                  </a:lnTo>
                  <a:lnTo>
                    <a:pt x="6899473" y="535855"/>
                  </a:lnTo>
                  <a:lnTo>
                    <a:pt x="0" y="535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76200"/>
              <a:ext cx="6899473" cy="61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Connects to the SMTP server.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931497" y="9074051"/>
            <a:ext cx="2424856" cy="476397"/>
            <a:chOff x="0" y="0"/>
            <a:chExt cx="3233142" cy="6351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233142" cy="635196"/>
            </a:xfrm>
            <a:custGeom>
              <a:avLst/>
              <a:gdLst/>
              <a:ahLst/>
              <a:cxnLst/>
              <a:rect l="l" t="t" r="r" b="b"/>
              <a:pathLst>
                <a:path w="3233142" h="635196">
                  <a:moveTo>
                    <a:pt x="0" y="0"/>
                  </a:moveTo>
                  <a:lnTo>
                    <a:pt x="3233142" y="0"/>
                  </a:lnTo>
                  <a:lnTo>
                    <a:pt x="3233142" y="635196"/>
                  </a:lnTo>
                  <a:lnTo>
                    <a:pt x="0" y="635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3233142" cy="654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61"/>
                </a:lnSpc>
              </a:pPr>
              <a:r>
                <a:rPr lang="en-US" sz="257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server.login()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556622" y="9550448"/>
            <a:ext cx="5174605" cy="401891"/>
            <a:chOff x="0" y="0"/>
            <a:chExt cx="6899473" cy="53585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99473" cy="535855"/>
            </a:xfrm>
            <a:custGeom>
              <a:avLst/>
              <a:gdLst/>
              <a:ahLst/>
              <a:cxnLst/>
              <a:rect l="l" t="t" r="r" b="b"/>
              <a:pathLst>
                <a:path w="6899473" h="535855">
                  <a:moveTo>
                    <a:pt x="0" y="0"/>
                  </a:moveTo>
                  <a:lnTo>
                    <a:pt x="6899473" y="0"/>
                  </a:lnTo>
                  <a:lnTo>
                    <a:pt x="6899473" y="535855"/>
                  </a:lnTo>
                  <a:lnTo>
                    <a:pt x="0" y="535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6899473" cy="61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Authenticates the sender.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861679" y="7518052"/>
            <a:ext cx="19050" cy="552896"/>
            <a:chOff x="0" y="0"/>
            <a:chExt cx="25400" cy="73719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5400" cy="737235"/>
            </a:xfrm>
            <a:custGeom>
              <a:avLst/>
              <a:gdLst/>
              <a:ahLst/>
              <a:cxnLst/>
              <a:rect l="l" t="t" r="r" b="b"/>
              <a:pathLst>
                <a:path w="25400" h="7372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24535"/>
                  </a:lnTo>
                  <a:cubicBezTo>
                    <a:pt x="25400" y="731520"/>
                    <a:pt x="19685" y="737235"/>
                    <a:pt x="12700" y="737235"/>
                  </a:cubicBezTo>
                  <a:cubicBezTo>
                    <a:pt x="5715" y="737235"/>
                    <a:pt x="0" y="731520"/>
                    <a:pt x="0" y="724535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4663886" y="7310735"/>
            <a:ext cx="414635" cy="414635"/>
            <a:chOff x="0" y="0"/>
            <a:chExt cx="552847" cy="55284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52704" cy="552831"/>
            </a:xfrm>
            <a:custGeom>
              <a:avLst/>
              <a:gdLst/>
              <a:ahLst/>
              <a:cxnLst/>
              <a:rect l="l" t="t" r="r" b="b"/>
              <a:pathLst>
                <a:path w="552704" h="552831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31597" y="0"/>
                  </a:lnTo>
                  <a:cubicBezTo>
                    <a:pt x="453771" y="0"/>
                    <a:pt x="552704" y="99060"/>
                    <a:pt x="552704" y="221107"/>
                  </a:cubicBezTo>
                  <a:lnTo>
                    <a:pt x="552704" y="331597"/>
                  </a:lnTo>
                  <a:cubicBezTo>
                    <a:pt x="552704" y="453771"/>
                    <a:pt x="453644" y="552704"/>
                    <a:pt x="331597" y="552704"/>
                  </a:cubicBezTo>
                  <a:lnTo>
                    <a:pt x="221107" y="552704"/>
                  </a:lnTo>
                  <a:cubicBezTo>
                    <a:pt x="99060" y="552831"/>
                    <a:pt x="0" y="453771"/>
                    <a:pt x="0" y="331724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4725725" y="7336185"/>
            <a:ext cx="290959" cy="363736"/>
            <a:chOff x="0" y="0"/>
            <a:chExt cx="387945" cy="48498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87945" cy="484982"/>
            </a:xfrm>
            <a:custGeom>
              <a:avLst/>
              <a:gdLst/>
              <a:ahLst/>
              <a:cxnLst/>
              <a:rect l="l" t="t" r="r" b="b"/>
              <a:pathLst>
                <a:path w="387945" h="484982">
                  <a:moveTo>
                    <a:pt x="0" y="0"/>
                  </a:moveTo>
                  <a:lnTo>
                    <a:pt x="387945" y="0"/>
                  </a:lnTo>
                  <a:lnTo>
                    <a:pt x="387945" y="484982"/>
                  </a:lnTo>
                  <a:lnTo>
                    <a:pt x="0" y="484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38100"/>
              <a:ext cx="387945" cy="4468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49"/>
                </a:lnSpc>
              </a:pPr>
              <a:r>
                <a:rPr lang="en-US" sz="2249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163300" y="8213824"/>
            <a:ext cx="3434857" cy="476397"/>
            <a:chOff x="0" y="0"/>
            <a:chExt cx="4579809" cy="63519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579809" cy="635196"/>
            </a:xfrm>
            <a:custGeom>
              <a:avLst/>
              <a:gdLst/>
              <a:ahLst/>
              <a:cxnLst/>
              <a:rect l="l" t="t" r="r" b="b"/>
              <a:pathLst>
                <a:path w="4579809" h="635196">
                  <a:moveTo>
                    <a:pt x="0" y="0"/>
                  </a:moveTo>
                  <a:lnTo>
                    <a:pt x="4579809" y="0"/>
                  </a:lnTo>
                  <a:lnTo>
                    <a:pt x="4579809" y="635196"/>
                  </a:lnTo>
                  <a:lnTo>
                    <a:pt x="0" y="635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4579809" cy="654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61"/>
                </a:lnSpc>
              </a:pPr>
              <a:r>
                <a:rPr lang="en-US" sz="257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server.sendmail()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283976" y="8668791"/>
            <a:ext cx="5174605" cy="401891"/>
            <a:chOff x="0" y="0"/>
            <a:chExt cx="6899473" cy="53585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899473" cy="535855"/>
            </a:xfrm>
            <a:custGeom>
              <a:avLst/>
              <a:gdLst/>
              <a:ahLst/>
              <a:cxnLst/>
              <a:rect l="l" t="t" r="r" b="b"/>
              <a:pathLst>
                <a:path w="6899473" h="535855">
                  <a:moveTo>
                    <a:pt x="0" y="0"/>
                  </a:moveTo>
                  <a:lnTo>
                    <a:pt x="6899473" y="0"/>
                  </a:lnTo>
                  <a:lnTo>
                    <a:pt x="6899473" y="535855"/>
                  </a:lnTo>
                  <a:lnTo>
                    <a:pt x="0" y="535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76200"/>
              <a:ext cx="6899473" cy="61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sends the email.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216459" y="9074051"/>
            <a:ext cx="3600450" cy="476397"/>
            <a:chOff x="0" y="0"/>
            <a:chExt cx="4800600" cy="63519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800600" cy="635196"/>
            </a:xfrm>
            <a:custGeom>
              <a:avLst/>
              <a:gdLst/>
              <a:ahLst/>
              <a:cxnLst/>
              <a:rect l="l" t="t" r="r" b="b"/>
              <a:pathLst>
                <a:path w="4800600" h="635196">
                  <a:moveTo>
                    <a:pt x="0" y="0"/>
                  </a:moveTo>
                  <a:lnTo>
                    <a:pt x="4800600" y="0"/>
                  </a:lnTo>
                  <a:lnTo>
                    <a:pt x="4800600" y="635196"/>
                  </a:lnTo>
                  <a:lnTo>
                    <a:pt x="0" y="635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4800600" cy="654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61"/>
                </a:lnSpc>
              </a:pPr>
              <a:r>
                <a:rPr lang="en-US" sz="257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Calling send_email()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271011" y="9550448"/>
            <a:ext cx="5174605" cy="401891"/>
            <a:chOff x="0" y="0"/>
            <a:chExt cx="6899473" cy="53585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899473" cy="535855"/>
            </a:xfrm>
            <a:custGeom>
              <a:avLst/>
              <a:gdLst/>
              <a:ahLst/>
              <a:cxnLst/>
              <a:rect l="l" t="t" r="r" b="b"/>
              <a:pathLst>
                <a:path w="6899473" h="535855">
                  <a:moveTo>
                    <a:pt x="0" y="0"/>
                  </a:moveTo>
                  <a:lnTo>
                    <a:pt x="6899473" y="0"/>
                  </a:lnTo>
                  <a:lnTo>
                    <a:pt x="6899473" y="535855"/>
                  </a:lnTo>
                  <a:lnTo>
                    <a:pt x="0" y="535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76200"/>
              <a:ext cx="6899473" cy="61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7"/>
                </a:lnSpc>
              </a:pPr>
              <a:r>
                <a:rPr lang="en-US" sz="203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triggers the email to be sent.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361305" y="1102023"/>
            <a:ext cx="7931752" cy="5399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193" lvl="1" indent="-330597" algn="l">
              <a:lnSpc>
                <a:spcPts val="5512"/>
              </a:lnSpc>
              <a:buFont typeface="Arial"/>
              <a:buChar char="•"/>
            </a:pPr>
            <a:r>
              <a:rPr lang="en-US" sz="306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Python's smtplib module automates email notifications via an SMTP server. </a:t>
            </a:r>
          </a:p>
          <a:p>
            <a:pPr marL="661193" lvl="1" indent="-330597" algn="l">
              <a:lnSpc>
                <a:spcPts val="5512"/>
              </a:lnSpc>
              <a:buFont typeface="Arial"/>
              <a:buChar char="•"/>
            </a:pPr>
            <a:r>
              <a:rPr lang="en-US" sz="306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The email.mime.text formats the email body in plain text or HTML. </a:t>
            </a:r>
          </a:p>
          <a:p>
            <a:pPr marL="661193" lvl="1" indent="-330597" algn="l">
              <a:lnSpc>
                <a:spcPts val="5512"/>
              </a:lnSpc>
              <a:buFont typeface="Arial"/>
              <a:buChar char="•"/>
            </a:pPr>
            <a:r>
              <a:rPr lang="en-US" sz="306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The MIMEText class is designed to handle plain text emails, making it easy to create and send notifications.</a:t>
            </a:r>
          </a:p>
          <a:p>
            <a:pPr algn="ctr">
              <a:lnSpc>
                <a:spcPts val="3812"/>
              </a:lnSpc>
              <a:spcBef>
                <a:spcPct val="0"/>
              </a:spcBef>
            </a:pPr>
            <a:endParaRPr lang="en-US" sz="3062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25240" y="466554"/>
            <a:ext cx="9979521" cy="735542"/>
            <a:chOff x="0" y="0"/>
            <a:chExt cx="13306028" cy="9807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06028" cy="980722"/>
            </a:xfrm>
            <a:custGeom>
              <a:avLst/>
              <a:gdLst/>
              <a:ahLst/>
              <a:cxnLst/>
              <a:rect l="l" t="t" r="r" b="b"/>
              <a:pathLst>
                <a:path w="13306028" h="980722">
                  <a:moveTo>
                    <a:pt x="0" y="0"/>
                  </a:moveTo>
                  <a:lnTo>
                    <a:pt x="13306028" y="0"/>
                  </a:lnTo>
                  <a:lnTo>
                    <a:pt x="13306028" y="980722"/>
                  </a:lnTo>
                  <a:lnTo>
                    <a:pt x="0" y="980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306028" cy="10188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5"/>
                </a:lnSpc>
              </a:pPr>
              <a:r>
                <a:rPr lang="en-US" sz="3974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DevOps Use Case: Monitoring Server Logs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2093" y="1475631"/>
            <a:ext cx="10802483" cy="1386738"/>
            <a:chOff x="0" y="0"/>
            <a:chExt cx="14403311" cy="18489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3312" cy="1848985"/>
            </a:xfrm>
            <a:custGeom>
              <a:avLst/>
              <a:gdLst/>
              <a:ahLst/>
              <a:cxnLst/>
              <a:rect l="l" t="t" r="r" b="b"/>
              <a:pathLst>
                <a:path w="14403312" h="1848985">
                  <a:moveTo>
                    <a:pt x="0" y="0"/>
                  </a:moveTo>
                  <a:lnTo>
                    <a:pt x="14403312" y="0"/>
                  </a:lnTo>
                  <a:lnTo>
                    <a:pt x="14403312" y="1848985"/>
                  </a:lnTo>
                  <a:lnTo>
                    <a:pt x="0" y="184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403311" cy="1944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96569" lvl="1" indent="-248284" algn="l">
                <a:lnSpc>
                  <a:spcPts val="3737"/>
                </a:lnSpc>
                <a:buFont typeface="Arial"/>
                <a:buChar char="•"/>
              </a:pPr>
              <a:r>
                <a:rPr lang="en-US" sz="229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a production server, log monitoring detects critical errors and an automated system triggers an email notification when an error occurs.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2093" y="2947946"/>
            <a:ext cx="10802483" cy="920013"/>
            <a:chOff x="0" y="0"/>
            <a:chExt cx="14403311" cy="12266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03312" cy="1226685"/>
            </a:xfrm>
            <a:custGeom>
              <a:avLst/>
              <a:gdLst/>
              <a:ahLst/>
              <a:cxnLst/>
              <a:rect l="l" t="t" r="r" b="b"/>
              <a:pathLst>
                <a:path w="14403312" h="1226685">
                  <a:moveTo>
                    <a:pt x="0" y="0"/>
                  </a:moveTo>
                  <a:lnTo>
                    <a:pt x="14403312" y="0"/>
                  </a:lnTo>
                  <a:lnTo>
                    <a:pt x="14403312" y="1226685"/>
                  </a:lnTo>
                  <a:lnTo>
                    <a:pt x="0" y="1226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4403311" cy="1321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96569" lvl="1" indent="-248284" algn="l">
                <a:lnSpc>
                  <a:spcPts val="3737"/>
                </a:lnSpc>
                <a:buFont typeface="Arial"/>
                <a:buChar char="•"/>
              </a:pPr>
              <a:r>
                <a:rPr lang="en-US" sz="229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email contains details about the error, such as the type, time, and recommended actions.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2093" y="4058459"/>
            <a:ext cx="10802483" cy="1386738"/>
            <a:chOff x="0" y="0"/>
            <a:chExt cx="14403311" cy="18489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403312" cy="1848985"/>
            </a:xfrm>
            <a:custGeom>
              <a:avLst/>
              <a:gdLst/>
              <a:ahLst/>
              <a:cxnLst/>
              <a:rect l="l" t="t" r="r" b="b"/>
              <a:pathLst>
                <a:path w="14403312" h="1848985">
                  <a:moveTo>
                    <a:pt x="0" y="0"/>
                  </a:moveTo>
                  <a:lnTo>
                    <a:pt x="14403312" y="0"/>
                  </a:lnTo>
                  <a:lnTo>
                    <a:pt x="14403312" y="1848985"/>
                  </a:lnTo>
                  <a:lnTo>
                    <a:pt x="0" y="184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4403311" cy="1944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96569" lvl="1" indent="-248284" algn="l">
                <a:lnSpc>
                  <a:spcPts val="3737"/>
                </a:lnSpc>
                <a:buFont typeface="Arial"/>
                <a:buChar char="•"/>
              </a:pPr>
              <a:r>
                <a:rPr lang="en-US" sz="229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responsible team receives the email and takes immediate action, ensuring immediate alerts, eliminates manual checks, and ensures no critical issues go unnoticed.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8304" y="5721423"/>
            <a:ext cx="28575" cy="4047381"/>
            <a:chOff x="0" y="0"/>
            <a:chExt cx="38100" cy="53965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" cy="5396484"/>
            </a:xfrm>
            <a:custGeom>
              <a:avLst/>
              <a:gdLst/>
              <a:ahLst/>
              <a:cxnLst/>
              <a:rect l="l" t="t" r="r" b="b"/>
              <a:pathLst>
                <a:path w="38100" h="539648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5377434"/>
                  </a:lnTo>
                  <a:cubicBezTo>
                    <a:pt x="38100" y="5387975"/>
                    <a:pt x="29591" y="5396484"/>
                    <a:pt x="19050" y="5396484"/>
                  </a:cubicBezTo>
                  <a:cubicBezTo>
                    <a:pt x="8509" y="5396484"/>
                    <a:pt x="0" y="5387975"/>
                    <a:pt x="0" y="5377434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62869" y="6173264"/>
            <a:ext cx="621655" cy="28575"/>
            <a:chOff x="0" y="0"/>
            <a:chExt cx="828873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8929" cy="38100"/>
            </a:xfrm>
            <a:custGeom>
              <a:avLst/>
              <a:gdLst/>
              <a:ahLst/>
              <a:cxnLst/>
              <a:rect l="l" t="t" r="r" b="b"/>
              <a:pathLst>
                <a:path w="8289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9879" y="0"/>
                  </a:lnTo>
                  <a:cubicBezTo>
                    <a:pt x="820420" y="0"/>
                    <a:pt x="828929" y="8509"/>
                    <a:pt x="828929" y="19050"/>
                  </a:cubicBezTo>
                  <a:cubicBezTo>
                    <a:pt x="828929" y="29591"/>
                    <a:pt x="820293" y="38100"/>
                    <a:pt x="8098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25165" y="5954487"/>
            <a:ext cx="466279" cy="466279"/>
            <a:chOff x="0" y="0"/>
            <a:chExt cx="621705" cy="6217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1665" cy="621665"/>
            </a:xfrm>
            <a:custGeom>
              <a:avLst/>
              <a:gdLst/>
              <a:ahLst/>
              <a:cxnLst/>
              <a:rect l="l" t="t" r="r" b="b"/>
              <a:pathLst>
                <a:path w="621665" h="621665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665" y="111379"/>
                    <a:pt x="621665" y="248666"/>
                  </a:cubicBezTo>
                  <a:lnTo>
                    <a:pt x="621665" y="372999"/>
                  </a:lnTo>
                  <a:cubicBezTo>
                    <a:pt x="621665" y="510413"/>
                    <a:pt x="510286" y="621665"/>
                    <a:pt x="372999" y="621665"/>
                  </a:cubicBezTo>
                  <a:lnTo>
                    <a:pt x="248666" y="621665"/>
                  </a:lnTo>
                  <a:cubicBezTo>
                    <a:pt x="111379" y="621665"/>
                    <a:pt x="0" y="510413"/>
                    <a:pt x="0" y="372999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94668" y="5983062"/>
            <a:ext cx="327124" cy="436593"/>
            <a:chOff x="0" y="0"/>
            <a:chExt cx="436165" cy="5821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6165" cy="582124"/>
            </a:xfrm>
            <a:custGeom>
              <a:avLst/>
              <a:gdLst/>
              <a:ahLst/>
              <a:cxnLst/>
              <a:rect l="l" t="t" r="r" b="b"/>
              <a:pathLst>
                <a:path w="436165" h="582124">
                  <a:moveTo>
                    <a:pt x="0" y="0"/>
                  </a:moveTo>
                  <a:lnTo>
                    <a:pt x="436165" y="0"/>
                  </a:lnTo>
                  <a:lnTo>
                    <a:pt x="436165" y="582124"/>
                  </a:lnTo>
                  <a:lnTo>
                    <a:pt x="0" y="5821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38100"/>
              <a:ext cx="436165" cy="54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2"/>
                </a:lnSpc>
              </a:pPr>
              <a:r>
                <a:rPr lang="en-US" sz="23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94595" y="5928592"/>
            <a:ext cx="2726829" cy="444066"/>
            <a:chOff x="0" y="0"/>
            <a:chExt cx="3635772" cy="59208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35772" cy="592089"/>
            </a:xfrm>
            <a:custGeom>
              <a:avLst/>
              <a:gdLst/>
              <a:ahLst/>
              <a:cxnLst/>
              <a:rect l="l" t="t" r="r" b="b"/>
              <a:pathLst>
                <a:path w="3635772" h="592089">
                  <a:moveTo>
                    <a:pt x="0" y="0"/>
                  </a:moveTo>
                  <a:lnTo>
                    <a:pt x="3635772" y="0"/>
                  </a:lnTo>
                  <a:lnTo>
                    <a:pt x="3635772" y="592089"/>
                  </a:lnTo>
                  <a:lnTo>
                    <a:pt x="0" y="592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635772" cy="6016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5"/>
                </a:lnSpc>
              </a:pPr>
              <a:r>
                <a:rPr lang="en-US" sz="242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Monitor Logs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994595" y="6393679"/>
            <a:ext cx="8710166" cy="381508"/>
            <a:chOff x="0" y="0"/>
            <a:chExt cx="11613555" cy="5086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613555" cy="508677"/>
            </a:xfrm>
            <a:custGeom>
              <a:avLst/>
              <a:gdLst/>
              <a:ahLst/>
              <a:cxnLst/>
              <a:rect l="l" t="t" r="r" b="b"/>
              <a:pathLst>
                <a:path w="11613555" h="508677">
                  <a:moveTo>
                    <a:pt x="0" y="0"/>
                  </a:moveTo>
                  <a:lnTo>
                    <a:pt x="11613555" y="0"/>
                  </a:lnTo>
                  <a:lnTo>
                    <a:pt x="11613555" y="508677"/>
                  </a:lnTo>
                  <a:lnTo>
                    <a:pt x="0" y="508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11613555" cy="58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5"/>
                </a:lnSpc>
              </a:pPr>
              <a:r>
                <a:rPr lang="en-US" sz="19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Continuously monitor logs for critical errors.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2869" y="7591448"/>
            <a:ext cx="621655" cy="28575"/>
            <a:chOff x="0" y="0"/>
            <a:chExt cx="828873" cy="38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8929" cy="38100"/>
            </a:xfrm>
            <a:custGeom>
              <a:avLst/>
              <a:gdLst/>
              <a:ahLst/>
              <a:cxnLst/>
              <a:rect l="l" t="t" r="r" b="b"/>
              <a:pathLst>
                <a:path w="8289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9879" y="0"/>
                  </a:lnTo>
                  <a:cubicBezTo>
                    <a:pt x="820420" y="0"/>
                    <a:pt x="828929" y="8509"/>
                    <a:pt x="828929" y="19050"/>
                  </a:cubicBezTo>
                  <a:cubicBezTo>
                    <a:pt x="828929" y="29591"/>
                    <a:pt x="820293" y="38100"/>
                    <a:pt x="8098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25165" y="7372670"/>
            <a:ext cx="466279" cy="466279"/>
            <a:chOff x="0" y="0"/>
            <a:chExt cx="621705" cy="62170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1665" cy="621665"/>
            </a:xfrm>
            <a:custGeom>
              <a:avLst/>
              <a:gdLst/>
              <a:ahLst/>
              <a:cxnLst/>
              <a:rect l="l" t="t" r="r" b="b"/>
              <a:pathLst>
                <a:path w="621665" h="621665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665" y="111379"/>
                    <a:pt x="621665" y="248666"/>
                  </a:cubicBezTo>
                  <a:lnTo>
                    <a:pt x="621665" y="372999"/>
                  </a:lnTo>
                  <a:cubicBezTo>
                    <a:pt x="621665" y="510413"/>
                    <a:pt x="510286" y="621665"/>
                    <a:pt x="372999" y="621665"/>
                  </a:cubicBezTo>
                  <a:lnTo>
                    <a:pt x="248666" y="621665"/>
                  </a:lnTo>
                  <a:cubicBezTo>
                    <a:pt x="111379" y="621665"/>
                    <a:pt x="0" y="510413"/>
                    <a:pt x="0" y="372999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794668" y="7401245"/>
            <a:ext cx="327124" cy="436593"/>
            <a:chOff x="0" y="0"/>
            <a:chExt cx="436165" cy="5821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6165" cy="582124"/>
            </a:xfrm>
            <a:custGeom>
              <a:avLst/>
              <a:gdLst/>
              <a:ahLst/>
              <a:cxnLst/>
              <a:rect l="l" t="t" r="r" b="b"/>
              <a:pathLst>
                <a:path w="436165" h="582124">
                  <a:moveTo>
                    <a:pt x="0" y="0"/>
                  </a:moveTo>
                  <a:lnTo>
                    <a:pt x="436165" y="0"/>
                  </a:lnTo>
                  <a:lnTo>
                    <a:pt x="436165" y="582124"/>
                  </a:lnTo>
                  <a:lnTo>
                    <a:pt x="0" y="5821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38100"/>
              <a:ext cx="436165" cy="54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2"/>
                </a:lnSpc>
              </a:pPr>
              <a:r>
                <a:rPr lang="en-US" sz="23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94595" y="7346774"/>
            <a:ext cx="2726829" cy="444066"/>
            <a:chOff x="0" y="0"/>
            <a:chExt cx="3635772" cy="59208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35772" cy="592089"/>
            </a:xfrm>
            <a:custGeom>
              <a:avLst/>
              <a:gdLst/>
              <a:ahLst/>
              <a:cxnLst/>
              <a:rect l="l" t="t" r="r" b="b"/>
              <a:pathLst>
                <a:path w="3635772" h="592089">
                  <a:moveTo>
                    <a:pt x="0" y="0"/>
                  </a:moveTo>
                  <a:lnTo>
                    <a:pt x="3635772" y="0"/>
                  </a:lnTo>
                  <a:lnTo>
                    <a:pt x="3635772" y="592089"/>
                  </a:lnTo>
                  <a:lnTo>
                    <a:pt x="0" y="592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3635772" cy="6016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5"/>
                </a:lnSpc>
              </a:pPr>
              <a:r>
                <a:rPr lang="en-US" sz="242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Trigger Script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994595" y="7811862"/>
            <a:ext cx="8710166" cy="381508"/>
            <a:chOff x="0" y="0"/>
            <a:chExt cx="11613555" cy="50867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613555" cy="508677"/>
            </a:xfrm>
            <a:custGeom>
              <a:avLst/>
              <a:gdLst/>
              <a:ahLst/>
              <a:cxnLst/>
              <a:rect l="l" t="t" r="r" b="b"/>
              <a:pathLst>
                <a:path w="11613555" h="508677">
                  <a:moveTo>
                    <a:pt x="0" y="0"/>
                  </a:moveTo>
                  <a:lnTo>
                    <a:pt x="11613555" y="0"/>
                  </a:lnTo>
                  <a:lnTo>
                    <a:pt x="11613555" y="508677"/>
                  </a:lnTo>
                  <a:lnTo>
                    <a:pt x="0" y="508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11613555" cy="58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5"/>
                </a:lnSpc>
              </a:pPr>
              <a:r>
                <a:rPr lang="en-US" sz="19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Trigger a Python script to send an email when an error is found.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62869" y="9009630"/>
            <a:ext cx="621655" cy="28575"/>
            <a:chOff x="0" y="0"/>
            <a:chExt cx="828873" cy="381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28929" cy="38100"/>
            </a:xfrm>
            <a:custGeom>
              <a:avLst/>
              <a:gdLst/>
              <a:ahLst/>
              <a:cxnLst/>
              <a:rect l="l" t="t" r="r" b="b"/>
              <a:pathLst>
                <a:path w="8289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9879" y="0"/>
                  </a:lnTo>
                  <a:cubicBezTo>
                    <a:pt x="820420" y="0"/>
                    <a:pt x="828929" y="8509"/>
                    <a:pt x="828929" y="19050"/>
                  </a:cubicBezTo>
                  <a:cubicBezTo>
                    <a:pt x="828929" y="29591"/>
                    <a:pt x="820293" y="38100"/>
                    <a:pt x="8098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0646A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25165" y="8790854"/>
            <a:ext cx="466279" cy="466279"/>
            <a:chOff x="0" y="0"/>
            <a:chExt cx="621705" cy="62170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1665" cy="621665"/>
            </a:xfrm>
            <a:custGeom>
              <a:avLst/>
              <a:gdLst/>
              <a:ahLst/>
              <a:cxnLst/>
              <a:rect l="l" t="t" r="r" b="b"/>
              <a:pathLst>
                <a:path w="621665" h="621665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665" y="111379"/>
                    <a:pt x="621665" y="248666"/>
                  </a:cubicBezTo>
                  <a:lnTo>
                    <a:pt x="621665" y="372999"/>
                  </a:lnTo>
                  <a:cubicBezTo>
                    <a:pt x="621665" y="510413"/>
                    <a:pt x="510286" y="621665"/>
                    <a:pt x="372999" y="621665"/>
                  </a:cubicBezTo>
                  <a:lnTo>
                    <a:pt x="248666" y="621665"/>
                  </a:lnTo>
                  <a:cubicBezTo>
                    <a:pt x="111379" y="621665"/>
                    <a:pt x="0" y="510413"/>
                    <a:pt x="0" y="372999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794668" y="8819429"/>
            <a:ext cx="327124" cy="436593"/>
            <a:chOff x="0" y="0"/>
            <a:chExt cx="436165" cy="5821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36165" cy="582124"/>
            </a:xfrm>
            <a:custGeom>
              <a:avLst/>
              <a:gdLst/>
              <a:ahLst/>
              <a:cxnLst/>
              <a:rect l="l" t="t" r="r" b="b"/>
              <a:pathLst>
                <a:path w="436165" h="582124">
                  <a:moveTo>
                    <a:pt x="0" y="0"/>
                  </a:moveTo>
                  <a:lnTo>
                    <a:pt x="436165" y="0"/>
                  </a:lnTo>
                  <a:lnTo>
                    <a:pt x="436165" y="582124"/>
                  </a:lnTo>
                  <a:lnTo>
                    <a:pt x="0" y="5821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38100"/>
              <a:ext cx="436165" cy="54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2"/>
                </a:lnSpc>
              </a:pPr>
              <a:r>
                <a:rPr lang="en-US" sz="236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994595" y="8764958"/>
            <a:ext cx="2726829" cy="444066"/>
            <a:chOff x="0" y="0"/>
            <a:chExt cx="3635772" cy="59208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635772" cy="592089"/>
            </a:xfrm>
            <a:custGeom>
              <a:avLst/>
              <a:gdLst/>
              <a:ahLst/>
              <a:cxnLst/>
              <a:rect l="l" t="t" r="r" b="b"/>
              <a:pathLst>
                <a:path w="3635772" h="592089">
                  <a:moveTo>
                    <a:pt x="0" y="0"/>
                  </a:moveTo>
                  <a:lnTo>
                    <a:pt x="3635772" y="0"/>
                  </a:lnTo>
                  <a:lnTo>
                    <a:pt x="3635772" y="592089"/>
                  </a:lnTo>
                  <a:lnTo>
                    <a:pt x="0" y="592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3635772" cy="6016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5"/>
                </a:lnSpc>
              </a:pPr>
              <a:r>
                <a:rPr lang="en-US" sz="2424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Receive Email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994595" y="9230045"/>
            <a:ext cx="8710166" cy="381508"/>
            <a:chOff x="0" y="0"/>
            <a:chExt cx="11613555" cy="50867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613555" cy="508677"/>
            </a:xfrm>
            <a:custGeom>
              <a:avLst/>
              <a:gdLst/>
              <a:ahLst/>
              <a:cxnLst/>
              <a:rect l="l" t="t" r="r" b="b"/>
              <a:pathLst>
                <a:path w="11613555" h="508677">
                  <a:moveTo>
                    <a:pt x="0" y="0"/>
                  </a:moveTo>
                  <a:lnTo>
                    <a:pt x="11613555" y="0"/>
                  </a:lnTo>
                  <a:lnTo>
                    <a:pt x="11613555" y="508677"/>
                  </a:lnTo>
                  <a:lnTo>
                    <a:pt x="0" y="508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76200"/>
              <a:ext cx="11613555" cy="58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5"/>
                </a:lnSpc>
              </a:pPr>
              <a:r>
                <a:rPr lang="en-US" sz="19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Responsible team receives the email and takes action.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8489"/>
          </a:xfrm>
          <a:custGeom>
            <a:avLst/>
            <a:gdLst/>
            <a:ahLst/>
            <a:cxnLst/>
            <a:rect l="l" t="t" r="r" b="b"/>
            <a:pathLst>
              <a:path w="6858000" h="10288489">
                <a:moveTo>
                  <a:pt x="0" y="0"/>
                </a:moveTo>
                <a:lnTo>
                  <a:pt x="6858000" y="0"/>
                </a:lnTo>
                <a:lnTo>
                  <a:pt x="6858000" y="10288489"/>
                </a:lnTo>
                <a:lnTo>
                  <a:pt x="0" y="1028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" r="-7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10678" y="598495"/>
            <a:ext cx="9608642" cy="799298"/>
            <a:chOff x="0" y="0"/>
            <a:chExt cx="12811523" cy="10657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1523" cy="1065731"/>
            </a:xfrm>
            <a:custGeom>
              <a:avLst/>
              <a:gdLst/>
              <a:ahLst/>
              <a:cxnLst/>
              <a:rect l="l" t="t" r="r" b="b"/>
              <a:pathLst>
                <a:path w="12811523" h="1065731">
                  <a:moveTo>
                    <a:pt x="0" y="0"/>
                  </a:moveTo>
                  <a:lnTo>
                    <a:pt x="12811523" y="0"/>
                  </a:lnTo>
                  <a:lnTo>
                    <a:pt x="12811523" y="1065731"/>
                  </a:lnTo>
                  <a:lnTo>
                    <a:pt x="0" y="1065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811523" cy="10847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374"/>
                </a:lnSpc>
              </a:pPr>
              <a:r>
                <a:rPr lang="en-US" sz="4312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Importance of Automation in DevOps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0679" y="1693069"/>
            <a:ext cx="9608641" cy="1040904"/>
            <a:chOff x="0" y="0"/>
            <a:chExt cx="12811522" cy="13878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1522" cy="1387872"/>
            </a:xfrm>
            <a:custGeom>
              <a:avLst/>
              <a:gdLst/>
              <a:ahLst/>
              <a:cxnLst/>
              <a:rect l="l" t="t" r="r" b="b"/>
              <a:pathLst>
                <a:path w="12811522" h="1387872">
                  <a:moveTo>
                    <a:pt x="0" y="0"/>
                  </a:moveTo>
                  <a:lnTo>
                    <a:pt x="12811522" y="0"/>
                  </a:lnTo>
                  <a:lnTo>
                    <a:pt x="12811522" y="1387872"/>
                  </a:lnTo>
                  <a:lnTo>
                    <a:pt x="0" y="1387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2811522" cy="14831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 automating email notifications, team members are instantly notified of critical issues.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0679" y="3026717"/>
            <a:ext cx="9608641" cy="1040904"/>
            <a:chOff x="0" y="0"/>
            <a:chExt cx="12811522" cy="13878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1522" cy="1387872"/>
            </a:xfrm>
            <a:custGeom>
              <a:avLst/>
              <a:gdLst/>
              <a:ahLst/>
              <a:cxnLst/>
              <a:rect l="l" t="t" r="r" b="b"/>
              <a:pathLst>
                <a:path w="12811522" h="1387872">
                  <a:moveTo>
                    <a:pt x="0" y="0"/>
                  </a:moveTo>
                  <a:lnTo>
                    <a:pt x="12811522" y="0"/>
                  </a:lnTo>
                  <a:lnTo>
                    <a:pt x="12811522" y="1387872"/>
                  </a:lnTo>
                  <a:lnTo>
                    <a:pt x="0" y="1387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2811522" cy="14831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proactive approach allows teams to act swiftly, reduce downtime, and maintain smooth operations.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0679" y="4360366"/>
            <a:ext cx="9608641" cy="520452"/>
            <a:chOff x="0" y="0"/>
            <a:chExt cx="12811522" cy="6939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11522" cy="693937"/>
            </a:xfrm>
            <a:custGeom>
              <a:avLst/>
              <a:gdLst/>
              <a:ahLst/>
              <a:cxnLst/>
              <a:rect l="l" t="t" r="r" b="b"/>
              <a:pathLst>
                <a:path w="12811522" h="693937">
                  <a:moveTo>
                    <a:pt x="0" y="0"/>
                  </a:moveTo>
                  <a:lnTo>
                    <a:pt x="12811522" y="0"/>
                  </a:lnTo>
                  <a:lnTo>
                    <a:pt x="12811522" y="693937"/>
                  </a:lnTo>
                  <a:lnTo>
                    <a:pt x="0" y="693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2811522" cy="7891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Automating alerts also helps in scaling operations.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0679" y="5466309"/>
            <a:ext cx="585490" cy="585490"/>
            <a:chOff x="0" y="0"/>
            <a:chExt cx="780653" cy="7806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0669" cy="780669"/>
            </a:xfrm>
            <a:custGeom>
              <a:avLst/>
              <a:gdLst/>
              <a:ahLst/>
              <a:cxnLst/>
              <a:rect l="l" t="t" r="r" b="b"/>
              <a:pathLst>
                <a:path w="780669" h="780669">
                  <a:moveTo>
                    <a:pt x="0" y="312293"/>
                  </a:moveTo>
                  <a:cubicBezTo>
                    <a:pt x="0" y="139827"/>
                    <a:pt x="139827" y="0"/>
                    <a:pt x="312293" y="0"/>
                  </a:cubicBezTo>
                  <a:lnTo>
                    <a:pt x="468376" y="0"/>
                  </a:lnTo>
                  <a:cubicBezTo>
                    <a:pt x="640842" y="0"/>
                    <a:pt x="780669" y="139827"/>
                    <a:pt x="780669" y="312293"/>
                  </a:cubicBezTo>
                  <a:lnTo>
                    <a:pt x="780669" y="468376"/>
                  </a:lnTo>
                  <a:cubicBezTo>
                    <a:pt x="780669" y="640842"/>
                    <a:pt x="640842" y="780669"/>
                    <a:pt x="468376" y="780669"/>
                  </a:cubicBezTo>
                  <a:lnTo>
                    <a:pt x="312293" y="780669"/>
                  </a:lnTo>
                  <a:cubicBezTo>
                    <a:pt x="139827" y="780669"/>
                    <a:pt x="0" y="640842"/>
                    <a:pt x="0" y="468376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98041" y="5502325"/>
            <a:ext cx="410766" cy="513458"/>
            <a:chOff x="0" y="0"/>
            <a:chExt cx="547688" cy="6846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7688" cy="684610"/>
            </a:xfrm>
            <a:custGeom>
              <a:avLst/>
              <a:gdLst/>
              <a:ahLst/>
              <a:cxnLst/>
              <a:rect l="l" t="t" r="r" b="b"/>
              <a:pathLst>
                <a:path w="547688" h="684610">
                  <a:moveTo>
                    <a:pt x="0" y="0"/>
                  </a:moveTo>
                  <a:lnTo>
                    <a:pt x="547688" y="0"/>
                  </a:lnTo>
                  <a:lnTo>
                    <a:pt x="547688" y="684610"/>
                  </a:lnTo>
                  <a:lnTo>
                    <a:pt x="0" y="684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57150"/>
              <a:ext cx="547688" cy="6274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56321" y="5466309"/>
            <a:ext cx="3423940" cy="428030"/>
            <a:chOff x="0" y="0"/>
            <a:chExt cx="4565253" cy="57070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65254" cy="570707"/>
            </a:xfrm>
            <a:custGeom>
              <a:avLst/>
              <a:gdLst/>
              <a:ahLst/>
              <a:cxnLst/>
              <a:rect l="l" t="t" r="r" b="b"/>
              <a:pathLst>
                <a:path w="4565254" h="570707">
                  <a:moveTo>
                    <a:pt x="0" y="0"/>
                  </a:moveTo>
                  <a:lnTo>
                    <a:pt x="4565254" y="0"/>
                  </a:lnTo>
                  <a:lnTo>
                    <a:pt x="4565254" y="570707"/>
                  </a:lnTo>
                  <a:lnTo>
                    <a:pt x="0" y="570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565253" cy="5897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Reliability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56321" y="6050459"/>
            <a:ext cx="8763000" cy="416124"/>
            <a:chOff x="0" y="0"/>
            <a:chExt cx="11684000" cy="5548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684000" cy="554832"/>
            </a:xfrm>
            <a:custGeom>
              <a:avLst/>
              <a:gdLst/>
              <a:ahLst/>
              <a:cxnLst/>
              <a:rect l="l" t="t" r="r" b="b"/>
              <a:pathLst>
                <a:path w="11684000" h="554832">
                  <a:moveTo>
                    <a:pt x="0" y="0"/>
                  </a:moveTo>
                  <a:lnTo>
                    <a:pt x="11684000" y="0"/>
                  </a:lnTo>
                  <a:lnTo>
                    <a:pt x="11684000" y="554832"/>
                  </a:lnTo>
                  <a:lnTo>
                    <a:pt x="0" y="554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11684000" cy="6310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Improves system reliability and reduces human error.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0679" y="7019479"/>
            <a:ext cx="585490" cy="585490"/>
            <a:chOff x="0" y="0"/>
            <a:chExt cx="780653" cy="7806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669" cy="780669"/>
            </a:xfrm>
            <a:custGeom>
              <a:avLst/>
              <a:gdLst/>
              <a:ahLst/>
              <a:cxnLst/>
              <a:rect l="l" t="t" r="r" b="b"/>
              <a:pathLst>
                <a:path w="780669" h="780669">
                  <a:moveTo>
                    <a:pt x="0" y="312293"/>
                  </a:moveTo>
                  <a:cubicBezTo>
                    <a:pt x="0" y="139827"/>
                    <a:pt x="139827" y="0"/>
                    <a:pt x="312293" y="0"/>
                  </a:cubicBezTo>
                  <a:lnTo>
                    <a:pt x="468376" y="0"/>
                  </a:lnTo>
                  <a:cubicBezTo>
                    <a:pt x="640842" y="0"/>
                    <a:pt x="780669" y="139827"/>
                    <a:pt x="780669" y="312293"/>
                  </a:cubicBezTo>
                  <a:lnTo>
                    <a:pt x="780669" y="468376"/>
                  </a:lnTo>
                  <a:cubicBezTo>
                    <a:pt x="780669" y="640842"/>
                    <a:pt x="640842" y="780669"/>
                    <a:pt x="468376" y="780669"/>
                  </a:cubicBezTo>
                  <a:lnTo>
                    <a:pt x="312293" y="780669"/>
                  </a:lnTo>
                  <a:cubicBezTo>
                    <a:pt x="139827" y="780669"/>
                    <a:pt x="0" y="640842"/>
                    <a:pt x="0" y="468376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98041" y="7055495"/>
            <a:ext cx="410766" cy="513458"/>
            <a:chOff x="0" y="0"/>
            <a:chExt cx="547688" cy="6846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7688" cy="684610"/>
            </a:xfrm>
            <a:custGeom>
              <a:avLst/>
              <a:gdLst/>
              <a:ahLst/>
              <a:cxnLst/>
              <a:rect l="l" t="t" r="r" b="b"/>
              <a:pathLst>
                <a:path w="547688" h="684610">
                  <a:moveTo>
                    <a:pt x="0" y="0"/>
                  </a:moveTo>
                  <a:lnTo>
                    <a:pt x="547688" y="0"/>
                  </a:lnTo>
                  <a:lnTo>
                    <a:pt x="547688" y="684610"/>
                  </a:lnTo>
                  <a:lnTo>
                    <a:pt x="0" y="684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57150"/>
              <a:ext cx="547688" cy="6274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56321" y="7019479"/>
            <a:ext cx="3423940" cy="428030"/>
            <a:chOff x="0" y="0"/>
            <a:chExt cx="4565253" cy="57070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565254" cy="570707"/>
            </a:xfrm>
            <a:custGeom>
              <a:avLst/>
              <a:gdLst/>
              <a:ahLst/>
              <a:cxnLst/>
              <a:rect l="l" t="t" r="r" b="b"/>
              <a:pathLst>
                <a:path w="4565254" h="570707">
                  <a:moveTo>
                    <a:pt x="0" y="0"/>
                  </a:moveTo>
                  <a:lnTo>
                    <a:pt x="4565254" y="0"/>
                  </a:lnTo>
                  <a:lnTo>
                    <a:pt x="4565254" y="570707"/>
                  </a:lnTo>
                  <a:lnTo>
                    <a:pt x="0" y="570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4565253" cy="5897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Speed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56321" y="7603629"/>
            <a:ext cx="8763000" cy="416124"/>
            <a:chOff x="0" y="0"/>
            <a:chExt cx="11684000" cy="55483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684000" cy="554832"/>
            </a:xfrm>
            <a:custGeom>
              <a:avLst/>
              <a:gdLst/>
              <a:ahLst/>
              <a:cxnLst/>
              <a:rect l="l" t="t" r="r" b="b"/>
              <a:pathLst>
                <a:path w="11684000" h="554832">
                  <a:moveTo>
                    <a:pt x="0" y="0"/>
                  </a:moveTo>
                  <a:lnTo>
                    <a:pt x="11684000" y="0"/>
                  </a:lnTo>
                  <a:lnTo>
                    <a:pt x="11684000" y="554832"/>
                  </a:lnTo>
                  <a:lnTo>
                    <a:pt x="0" y="554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11684000" cy="6310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Increases the speed of development and operations.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0679" y="8572649"/>
            <a:ext cx="585490" cy="585490"/>
            <a:chOff x="0" y="0"/>
            <a:chExt cx="780653" cy="78065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80669" cy="780669"/>
            </a:xfrm>
            <a:custGeom>
              <a:avLst/>
              <a:gdLst/>
              <a:ahLst/>
              <a:cxnLst/>
              <a:rect l="l" t="t" r="r" b="b"/>
              <a:pathLst>
                <a:path w="780669" h="780669">
                  <a:moveTo>
                    <a:pt x="0" y="312293"/>
                  </a:moveTo>
                  <a:cubicBezTo>
                    <a:pt x="0" y="139827"/>
                    <a:pt x="139827" y="0"/>
                    <a:pt x="312293" y="0"/>
                  </a:cubicBezTo>
                  <a:lnTo>
                    <a:pt x="468376" y="0"/>
                  </a:lnTo>
                  <a:cubicBezTo>
                    <a:pt x="640842" y="0"/>
                    <a:pt x="780669" y="139827"/>
                    <a:pt x="780669" y="312293"/>
                  </a:cubicBezTo>
                  <a:lnTo>
                    <a:pt x="780669" y="468376"/>
                  </a:lnTo>
                  <a:cubicBezTo>
                    <a:pt x="780669" y="640842"/>
                    <a:pt x="640842" y="780669"/>
                    <a:pt x="468376" y="780669"/>
                  </a:cubicBezTo>
                  <a:lnTo>
                    <a:pt x="312293" y="780669"/>
                  </a:lnTo>
                  <a:cubicBezTo>
                    <a:pt x="139827" y="780669"/>
                    <a:pt x="0" y="640842"/>
                    <a:pt x="0" y="468376"/>
                  </a:cubicBez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98041" y="8608665"/>
            <a:ext cx="410766" cy="513458"/>
            <a:chOff x="0" y="0"/>
            <a:chExt cx="547688" cy="68461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7688" cy="684610"/>
            </a:xfrm>
            <a:custGeom>
              <a:avLst/>
              <a:gdLst/>
              <a:ahLst/>
              <a:cxnLst/>
              <a:rect l="l" t="t" r="r" b="b"/>
              <a:pathLst>
                <a:path w="547688" h="684610">
                  <a:moveTo>
                    <a:pt x="0" y="0"/>
                  </a:moveTo>
                  <a:lnTo>
                    <a:pt x="547688" y="0"/>
                  </a:lnTo>
                  <a:lnTo>
                    <a:pt x="547688" y="684610"/>
                  </a:lnTo>
                  <a:lnTo>
                    <a:pt x="0" y="684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57150"/>
              <a:ext cx="547688" cy="6274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756321" y="8572649"/>
            <a:ext cx="3423940" cy="428030"/>
            <a:chOff x="0" y="0"/>
            <a:chExt cx="4565253" cy="57070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565254" cy="570707"/>
            </a:xfrm>
            <a:custGeom>
              <a:avLst/>
              <a:gdLst/>
              <a:ahLst/>
              <a:cxnLst/>
              <a:rect l="l" t="t" r="r" b="b"/>
              <a:pathLst>
                <a:path w="4565254" h="570707">
                  <a:moveTo>
                    <a:pt x="0" y="0"/>
                  </a:moveTo>
                  <a:lnTo>
                    <a:pt x="4565254" y="0"/>
                  </a:lnTo>
                  <a:lnTo>
                    <a:pt x="4565254" y="570707"/>
                  </a:lnTo>
                  <a:lnTo>
                    <a:pt x="0" y="570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4565253" cy="5897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Scalability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56321" y="9156799"/>
            <a:ext cx="8763000" cy="416124"/>
            <a:chOff x="0" y="0"/>
            <a:chExt cx="11684000" cy="5548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684000" cy="554832"/>
            </a:xfrm>
            <a:custGeom>
              <a:avLst/>
              <a:gdLst/>
              <a:ahLst/>
              <a:cxnLst/>
              <a:rect l="l" t="t" r="r" b="b"/>
              <a:pathLst>
                <a:path w="11684000" h="554832">
                  <a:moveTo>
                    <a:pt x="0" y="0"/>
                  </a:moveTo>
                  <a:lnTo>
                    <a:pt x="11684000" y="0"/>
                  </a:lnTo>
                  <a:lnTo>
                    <a:pt x="11684000" y="554832"/>
                  </a:lnTo>
                  <a:lnTo>
                    <a:pt x="0" y="554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76200"/>
              <a:ext cx="11684000" cy="6310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Helps in scaling operations without manual intervention.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7886" y="779656"/>
            <a:ext cx="15079861" cy="890885"/>
            <a:chOff x="0" y="0"/>
            <a:chExt cx="20106482" cy="11878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06481" cy="1187847"/>
            </a:xfrm>
            <a:custGeom>
              <a:avLst/>
              <a:gdLst/>
              <a:ahLst/>
              <a:cxnLst/>
              <a:rect l="l" t="t" r="r" b="b"/>
              <a:pathLst>
                <a:path w="20106481" h="1187847">
                  <a:moveTo>
                    <a:pt x="0" y="0"/>
                  </a:moveTo>
                  <a:lnTo>
                    <a:pt x="20106481" y="0"/>
                  </a:lnTo>
                  <a:lnTo>
                    <a:pt x="20106481" y="1187847"/>
                  </a:lnTo>
                  <a:lnTo>
                    <a:pt x="0" y="1187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0106482" cy="121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41"/>
                </a:lnSpc>
              </a:pPr>
              <a:r>
                <a:rPr lang="en-US" sz="4562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Hands-on Activity: Log Parsing and Email Alerts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2170211"/>
            <a:ext cx="4276130" cy="534441"/>
            <a:chOff x="0" y="0"/>
            <a:chExt cx="5701507" cy="712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1507" cy="712588"/>
            </a:xfrm>
            <a:custGeom>
              <a:avLst/>
              <a:gdLst/>
              <a:ahLst/>
              <a:cxnLst/>
              <a:rect l="l" t="t" r="r" b="b"/>
              <a:pathLst>
                <a:path w="5701507" h="712588">
                  <a:moveTo>
                    <a:pt x="0" y="0"/>
                  </a:moveTo>
                  <a:lnTo>
                    <a:pt x="5701507" y="0"/>
                  </a:lnTo>
                  <a:lnTo>
                    <a:pt x="5701507" y="712588"/>
                  </a:lnTo>
                  <a:lnTo>
                    <a:pt x="0" y="712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701507" cy="731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2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Task: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7886" y="2741948"/>
            <a:ext cx="16392228" cy="541735"/>
            <a:chOff x="0" y="0"/>
            <a:chExt cx="21856303" cy="7223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56303" cy="722313"/>
            </a:xfrm>
            <a:custGeom>
              <a:avLst/>
              <a:gdLst/>
              <a:ahLst/>
              <a:cxnLst/>
              <a:rect l="l" t="t" r="r" b="b"/>
              <a:pathLst>
                <a:path w="21856303" h="722313">
                  <a:moveTo>
                    <a:pt x="0" y="0"/>
                  </a:moveTo>
                  <a:lnTo>
                    <a:pt x="21856303" y="0"/>
                  </a:lnTo>
                  <a:lnTo>
                    <a:pt x="21856303" y="722313"/>
                  </a:lnTo>
                  <a:lnTo>
                    <a:pt x="0" y="722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1856303" cy="827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0"/>
                </a:lnSpc>
              </a:pPr>
              <a:r>
                <a:rPr lang="en-US" sz="2625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Modify the log parsing script to send an email alert for detected critical errors.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7886" y="4227910"/>
            <a:ext cx="4276130" cy="534441"/>
            <a:chOff x="0" y="0"/>
            <a:chExt cx="5701507" cy="7125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01507" cy="712588"/>
            </a:xfrm>
            <a:custGeom>
              <a:avLst/>
              <a:gdLst/>
              <a:ahLst/>
              <a:cxnLst/>
              <a:rect l="l" t="t" r="r" b="b"/>
              <a:pathLst>
                <a:path w="5701507" h="712588">
                  <a:moveTo>
                    <a:pt x="0" y="0"/>
                  </a:moveTo>
                  <a:lnTo>
                    <a:pt x="5701507" y="0"/>
                  </a:lnTo>
                  <a:lnTo>
                    <a:pt x="5701507" y="712588"/>
                  </a:lnTo>
                  <a:lnTo>
                    <a:pt x="0" y="712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701507" cy="731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2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Steps: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7886" y="5033070"/>
            <a:ext cx="7865715" cy="1083469"/>
            <a:chOff x="0" y="0"/>
            <a:chExt cx="10487620" cy="1444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87620" cy="1444625"/>
            </a:xfrm>
            <a:custGeom>
              <a:avLst/>
              <a:gdLst/>
              <a:ahLst/>
              <a:cxnLst/>
              <a:rect l="l" t="t" r="r" b="b"/>
              <a:pathLst>
                <a:path w="10487620" h="1444625">
                  <a:moveTo>
                    <a:pt x="0" y="0"/>
                  </a:moveTo>
                  <a:lnTo>
                    <a:pt x="10487620" y="0"/>
                  </a:lnTo>
                  <a:lnTo>
                    <a:pt x="10487620" y="1444625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10487620" cy="1530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720" lvl="1" indent="-182860" algn="l">
                <a:lnSpc>
                  <a:spcPts val="3851"/>
                </a:lnSpc>
                <a:buFont typeface="Arial"/>
                <a:buChar char="•"/>
              </a:pPr>
              <a:r>
                <a:rPr lang="en-US" sz="24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First, detect critical errors in system logs (using the previous log parsing code).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7886" y="6211192"/>
            <a:ext cx="7865715" cy="1083469"/>
            <a:chOff x="0" y="0"/>
            <a:chExt cx="10487620" cy="14446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87620" cy="1444625"/>
            </a:xfrm>
            <a:custGeom>
              <a:avLst/>
              <a:gdLst/>
              <a:ahLst/>
              <a:cxnLst/>
              <a:rect l="l" t="t" r="r" b="b"/>
              <a:pathLst>
                <a:path w="10487620" h="1444625">
                  <a:moveTo>
                    <a:pt x="0" y="0"/>
                  </a:moveTo>
                  <a:lnTo>
                    <a:pt x="10487620" y="0"/>
                  </a:lnTo>
                  <a:lnTo>
                    <a:pt x="10487620" y="1444625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10487620" cy="1530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720" lvl="1" indent="-182860" algn="l">
                <a:lnSpc>
                  <a:spcPts val="3851"/>
                </a:lnSpc>
                <a:buFont typeface="Arial"/>
                <a:buChar char="•"/>
              </a:pPr>
              <a:r>
                <a:rPr lang="en-US" sz="24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If an error is found, send an email alert to the administrator.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7886" y="7389316"/>
            <a:ext cx="7865715" cy="1083469"/>
            <a:chOff x="0" y="0"/>
            <a:chExt cx="10487620" cy="14446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87620" cy="1444625"/>
            </a:xfrm>
            <a:custGeom>
              <a:avLst/>
              <a:gdLst/>
              <a:ahLst/>
              <a:cxnLst/>
              <a:rect l="l" t="t" r="r" b="b"/>
              <a:pathLst>
                <a:path w="10487620" h="1444625">
                  <a:moveTo>
                    <a:pt x="0" y="0"/>
                  </a:moveTo>
                  <a:lnTo>
                    <a:pt x="10487620" y="0"/>
                  </a:lnTo>
                  <a:lnTo>
                    <a:pt x="10487620" y="1444625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0487620" cy="1530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720" lvl="1" indent="-182860" algn="l">
                <a:lnSpc>
                  <a:spcPts val="3851"/>
                </a:lnSpc>
                <a:buFont typeface="Arial"/>
                <a:buChar char="•"/>
              </a:pPr>
              <a:r>
                <a:rPr lang="en-US" sz="24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the smtplib to send an email with the error details.</a:t>
              </a:r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0624851" y="4128339"/>
            <a:ext cx="4344446" cy="4344446"/>
          </a:xfrm>
          <a:custGeom>
            <a:avLst/>
            <a:gdLst/>
            <a:ahLst/>
            <a:cxnLst/>
            <a:rect l="l" t="t" r="r" b="b"/>
            <a:pathLst>
              <a:path w="4344446" h="4344446">
                <a:moveTo>
                  <a:pt x="0" y="0"/>
                </a:moveTo>
                <a:lnTo>
                  <a:pt x="4344445" y="0"/>
                </a:lnTo>
                <a:lnTo>
                  <a:pt x="4344445" y="4344446"/>
                </a:lnTo>
                <a:lnTo>
                  <a:pt x="0" y="4344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5206119" y="9758817"/>
            <a:ext cx="2829090" cy="31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  <a:spcBef>
                <a:spcPct val="0"/>
              </a:spcBef>
            </a:pPr>
            <a:r>
              <a:rPr lang="en-US" sz="19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2852291"/>
          </a:xfrm>
          <a:custGeom>
            <a:avLst/>
            <a:gdLst/>
            <a:ahLst/>
            <a:cxnLst/>
            <a:rect l="l" t="t" r="r" b="b"/>
            <a:pathLst>
              <a:path w="18288000" h="2852291">
                <a:moveTo>
                  <a:pt x="0" y="0"/>
                </a:moveTo>
                <a:lnTo>
                  <a:pt x="18288000" y="0"/>
                </a:lnTo>
                <a:lnTo>
                  <a:pt x="18288000" y="2852291"/>
                </a:lnTo>
                <a:lnTo>
                  <a:pt x="0" y="2852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" r="-7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98611" y="3480792"/>
            <a:ext cx="8295829" cy="600521"/>
            <a:chOff x="0" y="0"/>
            <a:chExt cx="11061105" cy="8006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61105" cy="800695"/>
            </a:xfrm>
            <a:custGeom>
              <a:avLst/>
              <a:gdLst/>
              <a:ahLst/>
              <a:cxnLst/>
              <a:rect l="l" t="t" r="r" b="b"/>
              <a:pathLst>
                <a:path w="11061105" h="800695">
                  <a:moveTo>
                    <a:pt x="0" y="0"/>
                  </a:moveTo>
                  <a:lnTo>
                    <a:pt x="11061105" y="0"/>
                  </a:lnTo>
                  <a:lnTo>
                    <a:pt x="11061105" y="800695"/>
                  </a:lnTo>
                  <a:lnTo>
                    <a:pt x="0" y="800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1061105" cy="819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7"/>
                </a:lnSpc>
              </a:pPr>
              <a:r>
                <a:rPr lang="en-US" sz="3749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Combining Python Libraries for DevOps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6389" y="4399839"/>
            <a:ext cx="17382814" cy="498690"/>
            <a:chOff x="0" y="0"/>
            <a:chExt cx="23177085" cy="664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177086" cy="664920"/>
            </a:xfrm>
            <a:custGeom>
              <a:avLst/>
              <a:gdLst/>
              <a:ahLst/>
              <a:cxnLst/>
              <a:rect l="l" t="t" r="r" b="b"/>
              <a:pathLst>
                <a:path w="23177086" h="664920">
                  <a:moveTo>
                    <a:pt x="0" y="0"/>
                  </a:moveTo>
                  <a:lnTo>
                    <a:pt x="23177086" y="0"/>
                  </a:lnTo>
                  <a:lnTo>
                    <a:pt x="23177086" y="664920"/>
                  </a:lnTo>
                  <a:lnTo>
                    <a:pt x="0" y="664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23177085" cy="7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7050" lvl="1" indent="-268525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DevOps workflows involve automating repetitive tasks such as backups, error logging, and notifications.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6389" y="5143500"/>
            <a:ext cx="17382814" cy="1013040"/>
            <a:chOff x="0" y="0"/>
            <a:chExt cx="23177085" cy="1350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177086" cy="1350720"/>
            </a:xfrm>
            <a:custGeom>
              <a:avLst/>
              <a:gdLst/>
              <a:ahLst/>
              <a:cxnLst/>
              <a:rect l="l" t="t" r="r" b="b"/>
              <a:pathLst>
                <a:path w="23177086" h="1350720">
                  <a:moveTo>
                    <a:pt x="0" y="0"/>
                  </a:moveTo>
                  <a:lnTo>
                    <a:pt x="23177086" y="0"/>
                  </a:lnTo>
                  <a:lnTo>
                    <a:pt x="23177086" y="1350720"/>
                  </a:lnTo>
                  <a:lnTo>
                    <a:pt x="0" y="13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23177085" cy="1445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7050" lvl="1" indent="-268525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 orchestrates these tasks with libraries like </a:t>
              </a:r>
              <a:r>
                <a:rPr lang="en-US" sz="24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shutil</a:t>
              </a: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backups, </a:t>
              </a:r>
              <a:r>
                <a:rPr lang="en-US" sz="24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os</a:t>
              </a: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system tasks, </a:t>
              </a:r>
              <a:r>
                <a:rPr lang="en-US" sz="24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subprocess</a:t>
              </a: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shell commands, </a:t>
              </a:r>
              <a:r>
                <a:rPr lang="en-US" sz="24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</a:t>
              </a: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parsing logs, and </a:t>
              </a:r>
              <a:r>
                <a:rPr lang="en-US" sz="24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smtplib</a:t>
              </a: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email notifications.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6389" y="6456519"/>
            <a:ext cx="17382814" cy="498690"/>
            <a:chOff x="0" y="0"/>
            <a:chExt cx="23177085" cy="664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177086" cy="664920"/>
            </a:xfrm>
            <a:custGeom>
              <a:avLst/>
              <a:gdLst/>
              <a:ahLst/>
              <a:cxnLst/>
              <a:rect l="l" t="t" r="r" b="b"/>
              <a:pathLst>
                <a:path w="23177086" h="664920">
                  <a:moveTo>
                    <a:pt x="0" y="0"/>
                  </a:moveTo>
                  <a:lnTo>
                    <a:pt x="23177086" y="0"/>
                  </a:lnTo>
                  <a:lnTo>
                    <a:pt x="23177086" y="664920"/>
                  </a:lnTo>
                  <a:lnTo>
                    <a:pt x="0" y="664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23177085" cy="7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7050" lvl="1" indent="-268525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Combining these libraries creates powerful automation scripts.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23280" y="7583859"/>
            <a:ext cx="3002459" cy="517088"/>
            <a:chOff x="0" y="0"/>
            <a:chExt cx="4003278" cy="68945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03279" cy="689451"/>
            </a:xfrm>
            <a:custGeom>
              <a:avLst/>
              <a:gdLst/>
              <a:ahLst/>
              <a:cxnLst/>
              <a:rect l="l" t="t" r="r" b="b"/>
              <a:pathLst>
                <a:path w="4003279" h="689451">
                  <a:moveTo>
                    <a:pt x="0" y="0"/>
                  </a:moveTo>
                  <a:lnTo>
                    <a:pt x="4003279" y="0"/>
                  </a:lnTo>
                  <a:lnTo>
                    <a:pt x="4003279" y="689451"/>
                  </a:lnTo>
                  <a:lnTo>
                    <a:pt x="0" y="689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4003278" cy="765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0"/>
                </a:lnSpc>
              </a:pPr>
              <a:r>
                <a:rPr lang="en-US" sz="281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Backup Logs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6319" y="8160123"/>
            <a:ext cx="5107186" cy="444532"/>
            <a:chOff x="0" y="0"/>
            <a:chExt cx="6809582" cy="5927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09582" cy="592709"/>
            </a:xfrm>
            <a:custGeom>
              <a:avLst/>
              <a:gdLst/>
              <a:ahLst/>
              <a:cxnLst/>
              <a:rect l="l" t="t" r="r" b="b"/>
              <a:pathLst>
                <a:path w="6809582" h="592709">
                  <a:moveTo>
                    <a:pt x="0" y="0"/>
                  </a:moveTo>
                  <a:lnTo>
                    <a:pt x="6809582" y="0"/>
                  </a:lnTo>
                  <a:lnTo>
                    <a:pt x="6809582" y="592709"/>
                  </a:lnTo>
                  <a:lnTo>
                    <a:pt x="0" y="592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6809582" cy="6593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2"/>
                </a:lnSpc>
              </a:pPr>
              <a:r>
                <a:rPr lang="en-US" sz="224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</a:t>
              </a:r>
              <a:r>
                <a:rPr lang="en-US" sz="2249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shutil</a:t>
              </a:r>
              <a:r>
                <a:rPr lang="en-US" sz="224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 back up log files.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93756" y="7583859"/>
            <a:ext cx="3002459" cy="517088"/>
            <a:chOff x="0" y="0"/>
            <a:chExt cx="4003278" cy="68945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03279" cy="689451"/>
            </a:xfrm>
            <a:custGeom>
              <a:avLst/>
              <a:gdLst/>
              <a:ahLst/>
              <a:cxnLst/>
              <a:rect l="l" t="t" r="r" b="b"/>
              <a:pathLst>
                <a:path w="4003279" h="689451">
                  <a:moveTo>
                    <a:pt x="0" y="0"/>
                  </a:moveTo>
                  <a:lnTo>
                    <a:pt x="4003279" y="0"/>
                  </a:lnTo>
                  <a:lnTo>
                    <a:pt x="4003279" y="689451"/>
                  </a:lnTo>
                  <a:lnTo>
                    <a:pt x="0" y="689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4003278" cy="765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0"/>
                </a:lnSpc>
              </a:pPr>
              <a:r>
                <a:rPr lang="en-US" sz="281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Parse Logs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62105" y="8160123"/>
            <a:ext cx="5107335" cy="444532"/>
            <a:chOff x="0" y="0"/>
            <a:chExt cx="6809780" cy="5927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09780" cy="592709"/>
            </a:xfrm>
            <a:custGeom>
              <a:avLst/>
              <a:gdLst/>
              <a:ahLst/>
              <a:cxnLst/>
              <a:rect l="l" t="t" r="r" b="b"/>
              <a:pathLst>
                <a:path w="6809780" h="592709">
                  <a:moveTo>
                    <a:pt x="0" y="0"/>
                  </a:moveTo>
                  <a:lnTo>
                    <a:pt x="6809780" y="0"/>
                  </a:lnTo>
                  <a:lnTo>
                    <a:pt x="6809780" y="592709"/>
                  </a:lnTo>
                  <a:lnTo>
                    <a:pt x="0" y="592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6809780" cy="6593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2"/>
                </a:lnSpc>
              </a:pPr>
              <a:r>
                <a:rPr lang="en-US" sz="224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</a:t>
              </a:r>
              <a:r>
                <a:rPr lang="en-US" sz="2249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</a:t>
              </a:r>
              <a:r>
                <a:rPr lang="en-US" sz="224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 check logs for errors.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629853" y="7583859"/>
            <a:ext cx="3002459" cy="517088"/>
            <a:chOff x="0" y="0"/>
            <a:chExt cx="4003278" cy="6894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03279" cy="689451"/>
            </a:xfrm>
            <a:custGeom>
              <a:avLst/>
              <a:gdLst/>
              <a:ahLst/>
              <a:cxnLst/>
              <a:rect l="l" t="t" r="r" b="b"/>
              <a:pathLst>
                <a:path w="4003279" h="689451">
                  <a:moveTo>
                    <a:pt x="0" y="0"/>
                  </a:moveTo>
                  <a:lnTo>
                    <a:pt x="4003279" y="0"/>
                  </a:lnTo>
                  <a:lnTo>
                    <a:pt x="4003279" y="689451"/>
                  </a:lnTo>
                  <a:lnTo>
                    <a:pt x="0" y="689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4003278" cy="765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0"/>
                </a:lnSpc>
              </a:pPr>
              <a:r>
                <a:rPr lang="en-US" sz="2812" b="1">
                  <a:solidFill>
                    <a:srgbClr val="EEEF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Send Email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698040" y="8160123"/>
            <a:ext cx="6371163" cy="863632"/>
            <a:chOff x="0" y="0"/>
            <a:chExt cx="8494884" cy="115150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494883" cy="1151509"/>
            </a:xfrm>
            <a:custGeom>
              <a:avLst/>
              <a:gdLst/>
              <a:ahLst/>
              <a:cxnLst/>
              <a:rect l="l" t="t" r="r" b="b"/>
              <a:pathLst>
                <a:path w="8494883" h="1151509">
                  <a:moveTo>
                    <a:pt x="0" y="0"/>
                  </a:moveTo>
                  <a:lnTo>
                    <a:pt x="8494883" y="0"/>
                  </a:lnTo>
                  <a:lnTo>
                    <a:pt x="8494883" y="1151509"/>
                  </a:lnTo>
                  <a:lnTo>
                    <a:pt x="0" y="11515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8494884" cy="1218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2"/>
                </a:lnSpc>
              </a:pPr>
              <a:r>
                <a:rPr lang="en-US" sz="224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</a:t>
              </a:r>
              <a:r>
                <a:rPr lang="en-US" sz="2249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smtplib</a:t>
              </a:r>
              <a:r>
                <a:rPr lang="en-US" sz="2249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 send an alert if errors are found.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206119" y="9758817"/>
            <a:ext cx="2829090" cy="31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  <a:spcBef>
                <a:spcPct val="0"/>
              </a:spcBef>
            </a:pPr>
            <a:r>
              <a:rPr lang="en-US" sz="19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66316" y="772151"/>
            <a:ext cx="11750712" cy="802400"/>
            <a:chOff x="0" y="0"/>
            <a:chExt cx="15667616" cy="1069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667616" cy="1069866"/>
            </a:xfrm>
            <a:custGeom>
              <a:avLst/>
              <a:gdLst/>
              <a:ahLst/>
              <a:cxnLst/>
              <a:rect l="l" t="t" r="r" b="b"/>
              <a:pathLst>
                <a:path w="15667616" h="1069866">
                  <a:moveTo>
                    <a:pt x="0" y="0"/>
                  </a:moveTo>
                  <a:lnTo>
                    <a:pt x="15667616" y="0"/>
                  </a:lnTo>
                  <a:lnTo>
                    <a:pt x="15667616" y="1069866"/>
                  </a:lnTo>
                  <a:lnTo>
                    <a:pt x="0" y="10698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667616" cy="10889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68"/>
                </a:lnSpc>
              </a:pPr>
              <a:r>
                <a:rPr lang="en-US" sz="4324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Final Script: DevOps Automation with Python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6316" y="1903867"/>
            <a:ext cx="3457575" cy="625975"/>
            <a:chOff x="0" y="0"/>
            <a:chExt cx="4610100" cy="8346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10100" cy="834634"/>
            </a:xfrm>
            <a:custGeom>
              <a:avLst/>
              <a:gdLst/>
              <a:ahLst/>
              <a:cxnLst/>
              <a:rect l="l" t="t" r="r" b="b"/>
              <a:pathLst>
                <a:path w="4610100" h="834634">
                  <a:moveTo>
                    <a:pt x="0" y="0"/>
                  </a:moveTo>
                  <a:lnTo>
                    <a:pt x="4610100" y="0"/>
                  </a:lnTo>
                  <a:lnTo>
                    <a:pt x="4610100" y="834634"/>
                  </a:lnTo>
                  <a:lnTo>
                    <a:pt x="0" y="834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610100" cy="863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4"/>
                </a:lnSpc>
              </a:pPr>
              <a:r>
                <a:rPr lang="en-US" sz="3387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Objective: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6316" y="2703057"/>
            <a:ext cx="16755367" cy="1053916"/>
            <a:chOff x="0" y="0"/>
            <a:chExt cx="22340490" cy="14052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40491" cy="1405221"/>
            </a:xfrm>
            <a:custGeom>
              <a:avLst/>
              <a:gdLst/>
              <a:ahLst/>
              <a:cxnLst/>
              <a:rect l="l" t="t" r="r" b="b"/>
              <a:pathLst>
                <a:path w="22340491" h="1405221">
                  <a:moveTo>
                    <a:pt x="0" y="0"/>
                  </a:moveTo>
                  <a:lnTo>
                    <a:pt x="22340491" y="0"/>
                  </a:lnTo>
                  <a:lnTo>
                    <a:pt x="22340491" y="1405221"/>
                  </a:lnTo>
                  <a:lnTo>
                    <a:pt x="0" y="14052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2340490" cy="15099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46"/>
                </a:lnSpc>
              </a:pPr>
              <a:r>
                <a:rPr lang="en-US" sz="2624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a full DevOps automation that integrates all concepts from the course, such as web scraping, data processing, backup automation, log parsing, and email alerts.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6316" y="4099873"/>
            <a:ext cx="3457575" cy="625975"/>
            <a:chOff x="0" y="0"/>
            <a:chExt cx="4610100" cy="8346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10100" cy="834634"/>
            </a:xfrm>
            <a:custGeom>
              <a:avLst/>
              <a:gdLst/>
              <a:ahLst/>
              <a:cxnLst/>
              <a:rect l="l" t="t" r="r" b="b"/>
              <a:pathLst>
                <a:path w="4610100" h="834634">
                  <a:moveTo>
                    <a:pt x="0" y="0"/>
                  </a:moveTo>
                  <a:lnTo>
                    <a:pt x="4610100" y="0"/>
                  </a:lnTo>
                  <a:lnTo>
                    <a:pt x="4610100" y="834634"/>
                  </a:lnTo>
                  <a:lnTo>
                    <a:pt x="0" y="834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4610100" cy="863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4"/>
                </a:lnSpc>
              </a:pPr>
              <a:r>
                <a:rPr lang="en-US" sz="3387" b="1">
                  <a:solidFill>
                    <a:srgbClr val="9998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Project Details: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6316" y="4887773"/>
            <a:ext cx="10555195" cy="956199"/>
            <a:chOff x="0" y="0"/>
            <a:chExt cx="14073593" cy="12749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073594" cy="1274931"/>
            </a:xfrm>
            <a:custGeom>
              <a:avLst/>
              <a:gdLst/>
              <a:ahLst/>
              <a:cxnLst/>
              <a:rect l="l" t="t" r="r" b="b"/>
              <a:pathLst>
                <a:path w="14073594" h="1274931">
                  <a:moveTo>
                    <a:pt x="0" y="0"/>
                  </a:moveTo>
                  <a:lnTo>
                    <a:pt x="14073594" y="0"/>
                  </a:lnTo>
                  <a:lnTo>
                    <a:pt x="14073594" y="1274931"/>
                  </a:lnTo>
                  <a:lnTo>
                    <a:pt x="0" y="1274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4073593" cy="13701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Web Scraping</a:t>
              </a:r>
              <a:r>
                <a:rPr lang="en-US" sz="23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Use requests and BeautifulSoup to scrape data from a website.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6316" y="6102911"/>
            <a:ext cx="10555195" cy="956199"/>
            <a:chOff x="0" y="0"/>
            <a:chExt cx="14073593" cy="12749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073594" cy="1274931"/>
            </a:xfrm>
            <a:custGeom>
              <a:avLst/>
              <a:gdLst/>
              <a:ahLst/>
              <a:cxnLst/>
              <a:rect l="l" t="t" r="r" b="b"/>
              <a:pathLst>
                <a:path w="14073594" h="1274931">
                  <a:moveTo>
                    <a:pt x="0" y="0"/>
                  </a:moveTo>
                  <a:lnTo>
                    <a:pt x="14073594" y="0"/>
                  </a:lnTo>
                  <a:lnTo>
                    <a:pt x="14073594" y="1274931"/>
                  </a:lnTo>
                  <a:lnTo>
                    <a:pt x="0" y="1274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4073593" cy="13701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Processing</a:t>
              </a:r>
              <a:r>
                <a:rPr lang="en-US" sz="23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Store the scraped data in a CSV file, then use Pandas to clean the data.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6316" y="7405516"/>
            <a:ext cx="10555195" cy="956199"/>
            <a:chOff x="0" y="0"/>
            <a:chExt cx="14073593" cy="12749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073594" cy="1274931"/>
            </a:xfrm>
            <a:custGeom>
              <a:avLst/>
              <a:gdLst/>
              <a:ahLst/>
              <a:cxnLst/>
              <a:rect l="l" t="t" r="r" b="b"/>
              <a:pathLst>
                <a:path w="14073594" h="1274931">
                  <a:moveTo>
                    <a:pt x="0" y="0"/>
                  </a:moveTo>
                  <a:lnTo>
                    <a:pt x="14073594" y="0"/>
                  </a:lnTo>
                  <a:lnTo>
                    <a:pt x="14073594" y="1274931"/>
                  </a:lnTo>
                  <a:lnTo>
                    <a:pt x="0" y="1274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4073593" cy="13701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 Parsing and Backup</a:t>
              </a:r>
              <a:r>
                <a:rPr lang="en-US" sz="23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Back up system logs, parse them for errors, and create a timestamped backup.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6316" y="8704615"/>
            <a:ext cx="10555195" cy="956199"/>
            <a:chOff x="0" y="0"/>
            <a:chExt cx="14073593" cy="12749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073594" cy="1274931"/>
            </a:xfrm>
            <a:custGeom>
              <a:avLst/>
              <a:gdLst/>
              <a:ahLst/>
              <a:cxnLst/>
              <a:rect l="l" t="t" r="r" b="b"/>
              <a:pathLst>
                <a:path w="14073594" h="1274931">
                  <a:moveTo>
                    <a:pt x="0" y="0"/>
                  </a:moveTo>
                  <a:lnTo>
                    <a:pt x="14073594" y="0"/>
                  </a:lnTo>
                  <a:lnTo>
                    <a:pt x="14073594" y="1274931"/>
                  </a:lnTo>
                  <a:lnTo>
                    <a:pt x="0" y="1274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4073593" cy="13701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 b="1">
                  <a:solidFill>
                    <a:srgbClr val="EEEFF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Email Alerts</a:t>
              </a:r>
              <a:r>
                <a:rPr lang="en-US" sz="2387">
                  <a:solidFill>
                    <a:srgbClr val="EEEF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If critical errors are found in the logs, send an email alert to the system administrator.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1321511" y="4245545"/>
            <a:ext cx="4554118" cy="4554118"/>
          </a:xfrm>
          <a:custGeom>
            <a:avLst/>
            <a:gdLst/>
            <a:ahLst/>
            <a:cxnLst/>
            <a:rect l="l" t="t" r="r" b="b"/>
            <a:pathLst>
              <a:path w="4554118" h="4554118">
                <a:moveTo>
                  <a:pt x="0" y="0"/>
                </a:moveTo>
                <a:lnTo>
                  <a:pt x="4554119" y="0"/>
                </a:lnTo>
                <a:lnTo>
                  <a:pt x="4554119" y="4554118"/>
                </a:lnTo>
                <a:lnTo>
                  <a:pt x="0" y="4554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206119" y="9758817"/>
            <a:ext cx="2829090" cy="31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  <a:spcBef>
                <a:spcPct val="0"/>
              </a:spcBef>
            </a:pPr>
            <a:r>
              <a:rPr lang="en-US" sz="19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2CBC-6B24-AB05-8E5B-7BDD3564C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5544800" cy="4765675"/>
          </a:xfrm>
        </p:spPr>
        <p:txBody>
          <a:bodyPr/>
          <a:lstStyle/>
          <a:p>
            <a:r>
              <a:rPr lang="en-US" dirty="0">
                <a:latin typeface="Bookerly Display" panose="02020602060705030203" pitchFamily="18" charset="77"/>
                <a:ea typeface="Bookerly Display" panose="02020602060705030203" pitchFamily="18" charset="77"/>
                <a:cs typeface="Bookerly Display" panose="02020602060705030203" pitchFamily="18" charset="77"/>
              </a:rPr>
              <a:t>The END of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513AF-439A-3AE9-B571-B64C0E982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924300"/>
            <a:ext cx="3810000" cy="1714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03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910</Words>
  <Application>Microsoft Macintosh PowerPoint</Application>
  <PresentationFormat>Custom</PresentationFormat>
  <Paragraphs>134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Consolas</vt:lpstr>
      <vt:lpstr>Arial</vt:lpstr>
      <vt:lpstr>Barlow Bold</vt:lpstr>
      <vt:lpstr>Calibri</vt:lpstr>
      <vt:lpstr>Montserrat Bold</vt:lpstr>
      <vt:lpstr>Montserrat</vt:lpstr>
      <vt:lpstr>Barlow</vt:lpstr>
      <vt:lpstr>Bookerly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 of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Untitled.pptx</dc:title>
  <cp:lastModifiedBy>Alam, Anees</cp:lastModifiedBy>
  <cp:revision>2</cp:revision>
  <dcterms:created xsi:type="dcterms:W3CDTF">2006-08-16T00:00:00Z</dcterms:created>
  <dcterms:modified xsi:type="dcterms:W3CDTF">2025-03-09T05:42:27Z</dcterms:modified>
  <dc:identifier>DAGhNN-pzUk</dc:identifier>
</cp:coreProperties>
</file>