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rimson Pro Bold" panose="020B0604020202020204" charset="0"/>
      <p:regular r:id="rId19"/>
      <p:bold r:id="rId20"/>
    </p:embeddedFont>
    <p:embeddedFont>
      <p:font typeface="Heebo" pitchFamily="2" charset="-79"/>
      <p:regular r:id="rId21"/>
    </p:embeddedFont>
    <p:embeddedFont>
      <p:font typeface="Heebo Bold" panose="020B0604020202020204" charset="-79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638" autoAdjust="0"/>
  </p:normalViewPr>
  <p:slideViewPr>
    <p:cSldViewPr>
      <p:cViewPr varScale="1">
        <p:scale>
          <a:sx n="58" d="100"/>
          <a:sy n="58" d="100"/>
        </p:scale>
        <p:origin x="47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HiooQM6_MkNjf5VnqheDw_Mz5rgpC6Rshbo1Ml4g1Ww/edit?tab=t.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document/d/1HL3GERYznQvYrzInVeBmBwV1WOrATrbDN_k9cmQXv6I/edit?usp=sharin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HiooQM6_MkNjf5VnqheDw_Mz5rgpC6Rshbo1Ml4g1Ww/edit?tab=t.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wskills.com/" TargetMode="External"/><Relationship Id="rId4" Type="http://schemas.openxmlformats.org/officeDocument/2006/relationships/hyperlink" Target="https://docs.google.com/document/d/1HL3GERYznQvYrzInVeBmBwV1WOrATrbDN_k9cmQXv6I/edit?usp=sharin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ees-DevOps/To-Do-App.gi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92238" y="4092625"/>
            <a:ext cx="9445526" cy="1222772"/>
            <a:chOff x="0" y="0"/>
            <a:chExt cx="12594035" cy="16303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35" cy="1630363"/>
            </a:xfrm>
            <a:custGeom>
              <a:avLst/>
              <a:gdLst/>
              <a:ahLst/>
              <a:cxnLst/>
              <a:rect l="l" t="t" r="r" b="b"/>
              <a:pathLst>
                <a:path w="12594035" h="1630363">
                  <a:moveTo>
                    <a:pt x="0" y="0"/>
                  </a:moveTo>
                  <a:lnTo>
                    <a:pt x="12594035" y="0"/>
                  </a:lnTo>
                  <a:lnTo>
                    <a:pt x="12594035" y="1630363"/>
                  </a:lnTo>
                  <a:lnTo>
                    <a:pt x="0" y="163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594035" cy="16875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25"/>
                </a:lnSpc>
              </a:pPr>
              <a:r>
                <a:rPr lang="en-US" sz="768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Performance Testing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1236" y="9172575"/>
            <a:ext cx="1679240" cy="44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  <a:spcBef>
                <a:spcPct val="0"/>
              </a:spcBef>
            </a:pPr>
            <a:r>
              <a:rPr lang="en-US" sz="2387" b="1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Presenter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1236" y="9601200"/>
            <a:ext cx="3358480" cy="44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  <a:spcBef>
                <a:spcPct val="0"/>
              </a:spcBef>
            </a:pPr>
            <a:r>
              <a:rPr lang="en-US" sz="2387" b="1">
                <a:solidFill>
                  <a:srgbClr val="04318F"/>
                </a:solidFill>
                <a:latin typeface="Heebo Bold"/>
                <a:ea typeface="Heebo Bold"/>
                <a:cs typeface="Heebo Bold"/>
                <a:sym typeface="Heebo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322" y="282953"/>
            <a:ext cx="4291012" cy="847875"/>
            <a:chOff x="0" y="0"/>
            <a:chExt cx="5721350" cy="11304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21350" cy="1130499"/>
            </a:xfrm>
            <a:custGeom>
              <a:avLst/>
              <a:gdLst/>
              <a:ahLst/>
              <a:cxnLst/>
              <a:rect l="l" t="t" r="r" b="b"/>
              <a:pathLst>
                <a:path w="5721350" h="1130499">
                  <a:moveTo>
                    <a:pt x="0" y="0"/>
                  </a:moveTo>
                  <a:lnTo>
                    <a:pt x="5721350" y="0"/>
                  </a:lnTo>
                  <a:lnTo>
                    <a:pt x="5721350" y="1130499"/>
                  </a:lnTo>
                  <a:lnTo>
                    <a:pt x="0" y="11304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721350" cy="11495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676"/>
                </a:lnSpc>
              </a:pPr>
              <a:r>
                <a:rPr lang="en-US" sz="45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Topics for today!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600670" y="1353591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4"/>
                </a:lnTo>
                <a:lnTo>
                  <a:pt x="0" y="686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" r="-57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72269" y="2297460"/>
            <a:ext cx="5985512" cy="591736"/>
            <a:chOff x="0" y="0"/>
            <a:chExt cx="7980683" cy="7889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80683" cy="788981"/>
            </a:xfrm>
            <a:custGeom>
              <a:avLst/>
              <a:gdLst/>
              <a:ahLst/>
              <a:cxnLst/>
              <a:rect l="l" t="t" r="r" b="b"/>
              <a:pathLst>
                <a:path w="7980683" h="788981">
                  <a:moveTo>
                    <a:pt x="0" y="0"/>
                  </a:moveTo>
                  <a:lnTo>
                    <a:pt x="7980683" y="0"/>
                  </a:lnTo>
                  <a:lnTo>
                    <a:pt x="7980683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980683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Performance testing overview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9144000" y="1353591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4"/>
                </a:lnTo>
                <a:lnTo>
                  <a:pt x="0" y="6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" r="-57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315599" y="2297460"/>
            <a:ext cx="3432870" cy="591736"/>
            <a:chOff x="0" y="0"/>
            <a:chExt cx="4577160" cy="7889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7160" cy="788981"/>
            </a:xfrm>
            <a:custGeom>
              <a:avLst/>
              <a:gdLst/>
              <a:ahLst/>
              <a:cxnLst/>
              <a:rect l="l" t="t" r="r" b="b"/>
              <a:pathLst>
                <a:path w="4577160" h="788981">
                  <a:moveTo>
                    <a:pt x="0" y="0"/>
                  </a:moveTo>
                  <a:lnTo>
                    <a:pt x="4577160" y="0"/>
                  </a:lnTo>
                  <a:lnTo>
                    <a:pt x="4577160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577160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Importance &amp; types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600670" y="3532734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3"/>
                </a:lnTo>
                <a:lnTo>
                  <a:pt x="0" y="686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" r="-57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72269" y="4476601"/>
            <a:ext cx="5405386" cy="591736"/>
            <a:chOff x="0" y="0"/>
            <a:chExt cx="7207181" cy="7889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07181" cy="788981"/>
            </a:xfrm>
            <a:custGeom>
              <a:avLst/>
              <a:gdLst/>
              <a:ahLst/>
              <a:cxnLst/>
              <a:rect l="l" t="t" r="r" b="b"/>
              <a:pathLst>
                <a:path w="7207181" h="788981">
                  <a:moveTo>
                    <a:pt x="0" y="0"/>
                  </a:moveTo>
                  <a:lnTo>
                    <a:pt x="7207181" y="0"/>
                  </a:lnTo>
                  <a:lnTo>
                    <a:pt x="7207181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207181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Key Performance metrics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9144000" y="3532734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3"/>
                </a:lnTo>
                <a:lnTo>
                  <a:pt x="0" y="686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7" r="-57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315599" y="4476601"/>
            <a:ext cx="6239024" cy="591736"/>
            <a:chOff x="0" y="0"/>
            <a:chExt cx="8318698" cy="78898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18698" cy="788981"/>
            </a:xfrm>
            <a:custGeom>
              <a:avLst/>
              <a:gdLst/>
              <a:ahLst/>
              <a:cxnLst/>
              <a:rect l="l" t="t" r="r" b="b"/>
              <a:pathLst>
                <a:path w="8318698" h="788981">
                  <a:moveTo>
                    <a:pt x="0" y="0"/>
                  </a:moveTo>
                  <a:lnTo>
                    <a:pt x="8318698" y="0"/>
                  </a:lnTo>
                  <a:lnTo>
                    <a:pt x="8318698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318698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Performance testing strategies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600670" y="5711875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4"/>
                </a:lnTo>
                <a:lnTo>
                  <a:pt x="0" y="686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" r="-57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772269" y="6655742"/>
            <a:ext cx="7410818" cy="591736"/>
            <a:chOff x="0" y="0"/>
            <a:chExt cx="9881090" cy="78898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81091" cy="788981"/>
            </a:xfrm>
            <a:custGeom>
              <a:avLst/>
              <a:gdLst/>
              <a:ahLst/>
              <a:cxnLst/>
              <a:rect l="l" t="t" r="r" b="b"/>
              <a:pathLst>
                <a:path w="9881091" h="788981">
                  <a:moveTo>
                    <a:pt x="0" y="0"/>
                  </a:moveTo>
                  <a:lnTo>
                    <a:pt x="9881091" y="0"/>
                  </a:lnTo>
                  <a:lnTo>
                    <a:pt x="9881091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881090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Deep dive : Load/Stress/Soak testing</a:t>
              </a:r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9144000" y="5711875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4"/>
                </a:lnTo>
                <a:lnTo>
                  <a:pt x="0" y="6865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" r="-57"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9315599" y="6655742"/>
            <a:ext cx="8090692" cy="591736"/>
            <a:chOff x="0" y="0"/>
            <a:chExt cx="10787589" cy="78898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87590" cy="788981"/>
            </a:xfrm>
            <a:custGeom>
              <a:avLst/>
              <a:gdLst/>
              <a:ahLst/>
              <a:cxnLst/>
              <a:rect l="l" t="t" r="r" b="b"/>
              <a:pathLst>
                <a:path w="10787590" h="788981">
                  <a:moveTo>
                    <a:pt x="0" y="0"/>
                  </a:moveTo>
                  <a:lnTo>
                    <a:pt x="10787590" y="0"/>
                  </a:lnTo>
                  <a:lnTo>
                    <a:pt x="10787590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787589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Integrating Performance testing with CI/CD</a:t>
              </a: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600670" y="7891016"/>
            <a:ext cx="8543330" cy="686544"/>
          </a:xfrm>
          <a:custGeom>
            <a:avLst/>
            <a:gdLst/>
            <a:ahLst/>
            <a:cxnLst/>
            <a:rect l="l" t="t" r="r" b="b"/>
            <a:pathLst>
              <a:path w="8543330" h="686544">
                <a:moveTo>
                  <a:pt x="0" y="0"/>
                </a:moveTo>
                <a:lnTo>
                  <a:pt x="8543330" y="0"/>
                </a:lnTo>
                <a:lnTo>
                  <a:pt x="8543330" y="686544"/>
                </a:lnTo>
                <a:lnTo>
                  <a:pt x="0" y="6865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7" r="-57"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772269" y="8834884"/>
            <a:ext cx="3432870" cy="591736"/>
            <a:chOff x="0" y="0"/>
            <a:chExt cx="4577160" cy="78898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577160" cy="788981"/>
            </a:xfrm>
            <a:custGeom>
              <a:avLst/>
              <a:gdLst/>
              <a:ahLst/>
              <a:cxnLst/>
              <a:rect l="l" t="t" r="r" b="b"/>
              <a:pathLst>
                <a:path w="4577160" h="788981">
                  <a:moveTo>
                    <a:pt x="0" y="0"/>
                  </a:moveTo>
                  <a:lnTo>
                    <a:pt x="4577160" y="0"/>
                  </a:lnTo>
                  <a:lnTo>
                    <a:pt x="4577160" y="788981"/>
                  </a:lnTo>
                  <a:lnTo>
                    <a:pt x="0" y="788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577160" cy="82708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02"/>
                </a:lnSpc>
              </a:pPr>
              <a:r>
                <a:rPr lang="en-US" sz="31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Hands-on Activities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743172"/>
            <a:ext cx="10792627" cy="1034059"/>
            <a:chOff x="0" y="0"/>
            <a:chExt cx="14390169" cy="13787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90170" cy="1378746"/>
            </a:xfrm>
            <a:custGeom>
              <a:avLst/>
              <a:gdLst/>
              <a:ahLst/>
              <a:cxnLst/>
              <a:rect l="l" t="t" r="r" b="b"/>
              <a:pathLst>
                <a:path w="14390170" h="1378746">
                  <a:moveTo>
                    <a:pt x="0" y="0"/>
                  </a:moveTo>
                  <a:lnTo>
                    <a:pt x="14390170" y="0"/>
                  </a:lnTo>
                  <a:lnTo>
                    <a:pt x="14390170" y="1378746"/>
                  </a:lnTo>
                  <a:lnTo>
                    <a:pt x="0" y="13787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390169" cy="1426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What is performance testing ?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160538"/>
            <a:ext cx="16303526" cy="1133772"/>
            <a:chOff x="0" y="0"/>
            <a:chExt cx="21738035" cy="1511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1738035" cy="1625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Performance testing is a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non-functional testing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method used to evaluate how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fast, stable, and reliable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an application is when handling different levels of user activity or traffic.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675310"/>
            <a:ext cx="16303526" cy="1133772"/>
            <a:chOff x="0" y="0"/>
            <a:chExt cx="21738035" cy="15116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21738035" cy="1625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Think of it like this: </a:t>
              </a:r>
              <a:r>
                <a:rPr lang="en-US" sz="2750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"Can your app handle 1000 users hitting it at once — without slowing down or crashing?"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7" y="5490556"/>
            <a:ext cx="11844920" cy="652920"/>
            <a:chOff x="0" y="0"/>
            <a:chExt cx="15793227" cy="8705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93227" cy="870560"/>
            </a:xfrm>
            <a:custGeom>
              <a:avLst/>
              <a:gdLst/>
              <a:ahLst/>
              <a:cxnLst/>
              <a:rect l="l" t="t" r="r" b="b"/>
              <a:pathLst>
                <a:path w="15793227" h="870560">
                  <a:moveTo>
                    <a:pt x="0" y="0"/>
                  </a:moveTo>
                  <a:lnTo>
                    <a:pt x="15793227" y="0"/>
                  </a:lnTo>
                  <a:lnTo>
                    <a:pt x="15793227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5793227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351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Why is Performance Testing Important for DevOps Engineers?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7" y="6238726"/>
            <a:ext cx="16303526" cy="566886"/>
            <a:chOff x="0" y="0"/>
            <a:chExt cx="21738035" cy="755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1738035" cy="841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Ensures your app </a:t>
              </a: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responds quickly</a:t>
              </a: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even under heavy user load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7" y="6904732"/>
            <a:ext cx="16303526" cy="566886"/>
            <a:chOff x="0" y="0"/>
            <a:chExt cx="21738035" cy="755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1738035" cy="841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Helps you </a:t>
              </a: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identify and fix bottlenecks</a:t>
              </a: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before users experience them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7" y="7570737"/>
            <a:ext cx="16303526" cy="566886"/>
            <a:chOff x="0" y="0"/>
            <a:chExt cx="21738035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21738035" cy="841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Prevents unexpected </a:t>
              </a: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downtime and system crashes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7" y="8236744"/>
            <a:ext cx="16303526" cy="566886"/>
            <a:chOff x="0" y="0"/>
            <a:chExt cx="21738035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21738035" cy="841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Keeps the </a:t>
              </a: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user experience smooth and reliable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2237" y="8902750"/>
            <a:ext cx="16303526" cy="566886"/>
            <a:chOff x="0" y="0"/>
            <a:chExt cx="21738035" cy="755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21738035" cy="841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Enables </a:t>
              </a: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confidence in your CI/CD pipelines</a:t>
              </a: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by catching performance issues early in development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111002"/>
            <a:ext cx="9464411" cy="861222"/>
            <a:chOff x="0" y="0"/>
            <a:chExt cx="12619214" cy="11482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19215" cy="1148296"/>
            </a:xfrm>
            <a:custGeom>
              <a:avLst/>
              <a:gdLst/>
              <a:ahLst/>
              <a:cxnLst/>
              <a:rect l="l" t="t" r="r" b="b"/>
              <a:pathLst>
                <a:path w="12619215" h="1148296">
                  <a:moveTo>
                    <a:pt x="0" y="0"/>
                  </a:moveTo>
                  <a:lnTo>
                    <a:pt x="12619215" y="0"/>
                  </a:lnTo>
                  <a:lnTo>
                    <a:pt x="12619215" y="1148296"/>
                  </a:lnTo>
                  <a:lnTo>
                    <a:pt x="0" y="1148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19214" cy="11863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3"/>
                </a:lnSpc>
              </a:pPr>
              <a:r>
                <a:rPr lang="en-US" sz="463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Types of Performance Testing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386756"/>
            <a:ext cx="5245447" cy="3536305"/>
            <a:chOff x="0" y="0"/>
            <a:chExt cx="6993930" cy="47150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94017" cy="4715129"/>
            </a:xfrm>
            <a:custGeom>
              <a:avLst/>
              <a:gdLst/>
              <a:ahLst/>
              <a:cxnLst/>
              <a:rect l="l" t="t" r="r" b="b"/>
              <a:pathLst>
                <a:path w="6994017" h="471512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4658360"/>
                  </a:lnTo>
                  <a:cubicBezTo>
                    <a:pt x="6994017" y="4689729"/>
                    <a:pt x="6968617" y="4715129"/>
                    <a:pt x="6937248" y="4715129"/>
                  </a:cubicBezTo>
                  <a:lnTo>
                    <a:pt x="56769" y="4715129"/>
                  </a:lnTo>
                  <a:cubicBezTo>
                    <a:pt x="25400" y="4715129"/>
                    <a:pt x="0" y="4689729"/>
                    <a:pt x="0" y="465836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488430" y="2670274"/>
            <a:ext cx="4252912" cy="652920"/>
            <a:chOff x="0" y="0"/>
            <a:chExt cx="5670550" cy="870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Load Testing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75755" y="3371999"/>
            <a:ext cx="4678412" cy="1700659"/>
            <a:chOff x="0" y="0"/>
            <a:chExt cx="6237883" cy="22675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37883" cy="2267545"/>
            </a:xfrm>
            <a:custGeom>
              <a:avLst/>
              <a:gdLst/>
              <a:ahLst/>
              <a:cxnLst/>
              <a:rect l="l" t="t" r="r" b="b"/>
              <a:pathLst>
                <a:path w="6237883" h="2267545">
                  <a:moveTo>
                    <a:pt x="0" y="0"/>
                  </a:moveTo>
                  <a:lnTo>
                    <a:pt x="6237883" y="0"/>
                  </a:lnTo>
                  <a:lnTo>
                    <a:pt x="6237883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6237883" cy="2381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Measures how the system performs under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normal expected traffic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1202" y="2386756"/>
            <a:ext cx="5245447" cy="3536305"/>
            <a:chOff x="0" y="0"/>
            <a:chExt cx="6993930" cy="47150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4017" cy="4715129"/>
            </a:xfrm>
            <a:custGeom>
              <a:avLst/>
              <a:gdLst/>
              <a:ahLst/>
              <a:cxnLst/>
              <a:rect l="l" t="t" r="r" b="b"/>
              <a:pathLst>
                <a:path w="6994017" h="471512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4658360"/>
                  </a:lnTo>
                  <a:cubicBezTo>
                    <a:pt x="6994017" y="4689729"/>
                    <a:pt x="6968617" y="4715129"/>
                    <a:pt x="6937248" y="4715129"/>
                  </a:cubicBezTo>
                  <a:lnTo>
                    <a:pt x="56769" y="4715129"/>
                  </a:lnTo>
                  <a:cubicBezTo>
                    <a:pt x="25400" y="4715129"/>
                    <a:pt x="0" y="4689729"/>
                    <a:pt x="0" y="465836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017395" y="2670274"/>
            <a:ext cx="4252912" cy="652920"/>
            <a:chOff x="0" y="0"/>
            <a:chExt cx="5670550" cy="8705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Stress Testing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04720" y="3371999"/>
            <a:ext cx="4678412" cy="1700659"/>
            <a:chOff x="0" y="0"/>
            <a:chExt cx="6237883" cy="22675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37883" cy="2267545"/>
            </a:xfrm>
            <a:custGeom>
              <a:avLst/>
              <a:gdLst/>
              <a:ahLst/>
              <a:cxnLst/>
              <a:rect l="l" t="t" r="r" b="b"/>
              <a:pathLst>
                <a:path w="6237883" h="2267545">
                  <a:moveTo>
                    <a:pt x="0" y="0"/>
                  </a:moveTo>
                  <a:lnTo>
                    <a:pt x="6237883" y="0"/>
                  </a:lnTo>
                  <a:lnTo>
                    <a:pt x="6237883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14300"/>
              <a:ext cx="6237883" cy="2381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Pushes the system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beyond its limits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to find where it breaks.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50166" y="2386756"/>
            <a:ext cx="5245447" cy="3536305"/>
            <a:chOff x="0" y="0"/>
            <a:chExt cx="6993930" cy="471507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94017" cy="4715129"/>
            </a:xfrm>
            <a:custGeom>
              <a:avLst/>
              <a:gdLst/>
              <a:ahLst/>
              <a:cxnLst/>
              <a:rect l="l" t="t" r="r" b="b"/>
              <a:pathLst>
                <a:path w="6994017" h="471512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4658360"/>
                  </a:lnTo>
                  <a:cubicBezTo>
                    <a:pt x="6994017" y="4689729"/>
                    <a:pt x="6968617" y="4715129"/>
                    <a:pt x="6937248" y="4715129"/>
                  </a:cubicBezTo>
                  <a:lnTo>
                    <a:pt x="56769" y="4715129"/>
                  </a:lnTo>
                  <a:cubicBezTo>
                    <a:pt x="25400" y="4715129"/>
                    <a:pt x="0" y="4689729"/>
                    <a:pt x="0" y="465836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546360" y="2670274"/>
            <a:ext cx="4252912" cy="652920"/>
            <a:chOff x="0" y="0"/>
            <a:chExt cx="5670550" cy="8705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Soak Testing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33685" y="3371999"/>
            <a:ext cx="4678413" cy="2267545"/>
            <a:chOff x="0" y="0"/>
            <a:chExt cx="6237883" cy="30233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37883" cy="3023393"/>
            </a:xfrm>
            <a:custGeom>
              <a:avLst/>
              <a:gdLst/>
              <a:ahLst/>
              <a:cxnLst/>
              <a:rect l="l" t="t" r="r" b="b"/>
              <a:pathLst>
                <a:path w="6237883" h="3023393">
                  <a:moveTo>
                    <a:pt x="0" y="0"/>
                  </a:moveTo>
                  <a:lnTo>
                    <a:pt x="6237883" y="0"/>
                  </a:lnTo>
                  <a:lnTo>
                    <a:pt x="6237883" y="3023393"/>
                  </a:lnTo>
                  <a:lnTo>
                    <a:pt x="0" y="30233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6237883" cy="3137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Checks how the system behaves under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continuous heavy load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over a long duration.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92238" y="6206579"/>
            <a:ext cx="5245447" cy="2969419"/>
            <a:chOff x="0" y="0"/>
            <a:chExt cx="6993930" cy="39592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993890" cy="3959225"/>
            </a:xfrm>
            <a:custGeom>
              <a:avLst/>
              <a:gdLst/>
              <a:ahLst/>
              <a:cxnLst/>
              <a:rect l="l" t="t" r="r" b="b"/>
              <a:pathLst>
                <a:path w="6993890" h="395922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02583"/>
                  </a:lnTo>
                  <a:cubicBezTo>
                    <a:pt x="6993890" y="3933952"/>
                    <a:pt x="6968490" y="3959225"/>
                    <a:pt x="6937248" y="3959225"/>
                  </a:cubicBezTo>
                  <a:lnTo>
                    <a:pt x="56642" y="3959225"/>
                  </a:lnTo>
                  <a:cubicBezTo>
                    <a:pt x="25273" y="3959225"/>
                    <a:pt x="0" y="3933825"/>
                    <a:pt x="0" y="390258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488430" y="6490098"/>
            <a:ext cx="4252912" cy="652920"/>
            <a:chOff x="0" y="0"/>
            <a:chExt cx="5670550" cy="8705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Spike Testing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5755" y="7191821"/>
            <a:ext cx="4678412" cy="1700659"/>
            <a:chOff x="0" y="0"/>
            <a:chExt cx="6237883" cy="226754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237883" cy="2267545"/>
            </a:xfrm>
            <a:custGeom>
              <a:avLst/>
              <a:gdLst/>
              <a:ahLst/>
              <a:cxnLst/>
              <a:rect l="l" t="t" r="r" b="b"/>
              <a:pathLst>
                <a:path w="6237883" h="2267545">
                  <a:moveTo>
                    <a:pt x="0" y="0"/>
                  </a:moveTo>
                  <a:lnTo>
                    <a:pt x="6237883" y="0"/>
                  </a:lnTo>
                  <a:lnTo>
                    <a:pt x="6237883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14300"/>
              <a:ext cx="6237883" cy="2381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Evaluates how the system handles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sudden spikes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in user traffic.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21202" y="6206579"/>
            <a:ext cx="5245447" cy="2969419"/>
            <a:chOff x="0" y="0"/>
            <a:chExt cx="6993930" cy="395922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93890" cy="3959225"/>
            </a:xfrm>
            <a:custGeom>
              <a:avLst/>
              <a:gdLst/>
              <a:ahLst/>
              <a:cxnLst/>
              <a:rect l="l" t="t" r="r" b="b"/>
              <a:pathLst>
                <a:path w="6993890" h="395922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02583"/>
                  </a:lnTo>
                  <a:cubicBezTo>
                    <a:pt x="6993890" y="3933952"/>
                    <a:pt x="6968490" y="3959225"/>
                    <a:pt x="6937248" y="3959225"/>
                  </a:cubicBezTo>
                  <a:lnTo>
                    <a:pt x="56642" y="3959225"/>
                  </a:lnTo>
                  <a:cubicBezTo>
                    <a:pt x="25273" y="3959225"/>
                    <a:pt x="0" y="3933825"/>
                    <a:pt x="0" y="390258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7017395" y="6490098"/>
            <a:ext cx="4252912" cy="652920"/>
            <a:chOff x="0" y="0"/>
            <a:chExt cx="5670550" cy="8705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Volume Testing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4720" y="7191821"/>
            <a:ext cx="4678412" cy="1700659"/>
            <a:chOff x="0" y="0"/>
            <a:chExt cx="6237883" cy="226754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37883" cy="2267545"/>
            </a:xfrm>
            <a:custGeom>
              <a:avLst/>
              <a:gdLst/>
              <a:ahLst/>
              <a:cxnLst/>
              <a:rect l="l" t="t" r="r" b="b"/>
              <a:pathLst>
                <a:path w="6237883" h="2267545">
                  <a:moveTo>
                    <a:pt x="0" y="0"/>
                  </a:moveTo>
                  <a:lnTo>
                    <a:pt x="6237883" y="0"/>
                  </a:lnTo>
                  <a:lnTo>
                    <a:pt x="6237883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14300"/>
              <a:ext cx="6237883" cy="2381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Tests performance when working with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huge amounts of data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50166" y="6206579"/>
            <a:ext cx="5245447" cy="2969419"/>
            <a:chOff x="0" y="0"/>
            <a:chExt cx="6993930" cy="39592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993890" cy="3959225"/>
            </a:xfrm>
            <a:custGeom>
              <a:avLst/>
              <a:gdLst/>
              <a:ahLst/>
              <a:cxnLst/>
              <a:rect l="l" t="t" r="r" b="b"/>
              <a:pathLst>
                <a:path w="6993890" h="395922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02583"/>
                  </a:lnTo>
                  <a:cubicBezTo>
                    <a:pt x="6993890" y="3933952"/>
                    <a:pt x="6968490" y="3959225"/>
                    <a:pt x="6937248" y="3959225"/>
                  </a:cubicBezTo>
                  <a:lnTo>
                    <a:pt x="56642" y="3959225"/>
                  </a:lnTo>
                  <a:cubicBezTo>
                    <a:pt x="25273" y="3959225"/>
                    <a:pt x="0" y="3933825"/>
                    <a:pt x="0" y="390258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2546360" y="6490098"/>
            <a:ext cx="4252912" cy="652920"/>
            <a:chOff x="0" y="0"/>
            <a:chExt cx="5670550" cy="8705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Scalability Testing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33685" y="7191821"/>
            <a:ext cx="4678413" cy="1700659"/>
            <a:chOff x="0" y="0"/>
            <a:chExt cx="6237883" cy="22675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237883" cy="2267545"/>
            </a:xfrm>
            <a:custGeom>
              <a:avLst/>
              <a:gdLst/>
              <a:ahLst/>
              <a:cxnLst/>
              <a:rect l="l" t="t" r="r" b="b"/>
              <a:pathLst>
                <a:path w="6237883" h="2267545">
                  <a:moveTo>
                    <a:pt x="0" y="0"/>
                  </a:moveTo>
                  <a:lnTo>
                    <a:pt x="6237883" y="0"/>
                  </a:lnTo>
                  <a:lnTo>
                    <a:pt x="6237883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114300"/>
              <a:ext cx="6237883" cy="2381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Verifies how well the system can </a:t>
              </a:r>
              <a:r>
                <a:rPr lang="en-US" sz="2750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scale up or down</a:t>
              </a:r>
              <a:r>
                <a:rPr lang="en-US" sz="2750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as user load changes.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405" y="979735"/>
            <a:ext cx="8946654" cy="935920"/>
            <a:chOff x="0" y="0"/>
            <a:chExt cx="11928872" cy="12478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28872" cy="1247893"/>
            </a:xfrm>
            <a:custGeom>
              <a:avLst/>
              <a:gdLst/>
              <a:ahLst/>
              <a:cxnLst/>
              <a:rect l="l" t="t" r="r" b="b"/>
              <a:pathLst>
                <a:path w="11928872" h="1247893">
                  <a:moveTo>
                    <a:pt x="0" y="0"/>
                  </a:moveTo>
                  <a:lnTo>
                    <a:pt x="11928872" y="0"/>
                  </a:lnTo>
                  <a:lnTo>
                    <a:pt x="11928872" y="1247893"/>
                  </a:lnTo>
                  <a:lnTo>
                    <a:pt x="0" y="1247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928872" cy="12859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374"/>
                </a:lnSpc>
              </a:pPr>
              <a:r>
                <a:rPr lang="en-US" sz="50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Key Performance Metrics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7405" y="2269331"/>
            <a:ext cx="8946654" cy="518518"/>
            <a:chOff x="0" y="0"/>
            <a:chExt cx="11928872" cy="6913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28872" cy="691357"/>
            </a:xfrm>
            <a:custGeom>
              <a:avLst/>
              <a:gdLst/>
              <a:ahLst/>
              <a:cxnLst/>
              <a:rect l="l" t="t" r="r" b="b"/>
              <a:pathLst>
                <a:path w="11928872" h="691357">
                  <a:moveTo>
                    <a:pt x="0" y="0"/>
                  </a:moveTo>
                  <a:lnTo>
                    <a:pt x="11928872" y="0"/>
                  </a:lnTo>
                  <a:lnTo>
                    <a:pt x="11928872" y="691357"/>
                  </a:lnTo>
                  <a:lnTo>
                    <a:pt x="0" y="691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1928872" cy="7866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Response Time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Time taken to respond to a request.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7405" y="2878485"/>
            <a:ext cx="8946654" cy="518517"/>
            <a:chOff x="0" y="0"/>
            <a:chExt cx="11928872" cy="6913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28872" cy="691357"/>
            </a:xfrm>
            <a:custGeom>
              <a:avLst/>
              <a:gdLst/>
              <a:ahLst/>
              <a:cxnLst/>
              <a:rect l="l" t="t" r="r" b="b"/>
              <a:pathLst>
                <a:path w="11928872" h="691357">
                  <a:moveTo>
                    <a:pt x="0" y="0"/>
                  </a:moveTo>
                  <a:lnTo>
                    <a:pt x="11928872" y="0"/>
                  </a:lnTo>
                  <a:lnTo>
                    <a:pt x="11928872" y="691357"/>
                  </a:lnTo>
                  <a:lnTo>
                    <a:pt x="0" y="691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1928872" cy="7866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Throughput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Number of requests handled per second.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7405" y="3487639"/>
            <a:ext cx="8946654" cy="518517"/>
            <a:chOff x="0" y="0"/>
            <a:chExt cx="11928872" cy="6913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8872" cy="691357"/>
            </a:xfrm>
            <a:custGeom>
              <a:avLst/>
              <a:gdLst/>
              <a:ahLst/>
              <a:cxnLst/>
              <a:rect l="l" t="t" r="r" b="b"/>
              <a:pathLst>
                <a:path w="11928872" h="691357">
                  <a:moveTo>
                    <a:pt x="0" y="0"/>
                  </a:moveTo>
                  <a:lnTo>
                    <a:pt x="11928872" y="0"/>
                  </a:lnTo>
                  <a:lnTo>
                    <a:pt x="11928872" y="691357"/>
                  </a:lnTo>
                  <a:lnTo>
                    <a:pt x="0" y="691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1928872" cy="7866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Latency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Delay between request and first response byte.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7405" y="4096791"/>
            <a:ext cx="8946654" cy="1037035"/>
            <a:chOff x="0" y="0"/>
            <a:chExt cx="11928872" cy="13827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8872" cy="1382713"/>
            </a:xfrm>
            <a:custGeom>
              <a:avLst/>
              <a:gdLst/>
              <a:ahLst/>
              <a:cxnLst/>
              <a:rect l="l" t="t" r="r" b="b"/>
              <a:pathLst>
                <a:path w="11928872" h="1382713">
                  <a:moveTo>
                    <a:pt x="0" y="0"/>
                  </a:moveTo>
                  <a:lnTo>
                    <a:pt x="11928872" y="0"/>
                  </a:lnTo>
                  <a:lnTo>
                    <a:pt x="11928872" y="1382713"/>
                  </a:lnTo>
                  <a:lnTo>
                    <a:pt x="0" y="1382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1928872" cy="1477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Concurrent Users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Number of users accessing the system at once.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7405" y="5224462"/>
            <a:ext cx="8946654" cy="518517"/>
            <a:chOff x="0" y="0"/>
            <a:chExt cx="11928872" cy="6913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928872" cy="691357"/>
            </a:xfrm>
            <a:custGeom>
              <a:avLst/>
              <a:gdLst/>
              <a:ahLst/>
              <a:cxnLst/>
              <a:rect l="l" t="t" r="r" b="b"/>
              <a:pathLst>
                <a:path w="11928872" h="691357">
                  <a:moveTo>
                    <a:pt x="0" y="0"/>
                  </a:moveTo>
                  <a:lnTo>
                    <a:pt x="11928872" y="0"/>
                  </a:lnTo>
                  <a:lnTo>
                    <a:pt x="11928872" y="691357"/>
                  </a:lnTo>
                  <a:lnTo>
                    <a:pt x="0" y="691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1928872" cy="7866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Error Rate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% of failed requests.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7405" y="5833616"/>
            <a:ext cx="8946654" cy="518517"/>
            <a:chOff x="0" y="0"/>
            <a:chExt cx="11928872" cy="69135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928872" cy="691357"/>
            </a:xfrm>
            <a:custGeom>
              <a:avLst/>
              <a:gdLst/>
              <a:ahLst/>
              <a:cxnLst/>
              <a:rect l="l" t="t" r="r" b="b"/>
              <a:pathLst>
                <a:path w="11928872" h="691357">
                  <a:moveTo>
                    <a:pt x="0" y="0"/>
                  </a:moveTo>
                  <a:lnTo>
                    <a:pt x="11928872" y="0"/>
                  </a:lnTo>
                  <a:lnTo>
                    <a:pt x="11928872" y="691357"/>
                  </a:lnTo>
                  <a:lnTo>
                    <a:pt x="0" y="691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1928872" cy="7866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CPU Usage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% of CPU used during the test.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7405" y="6442770"/>
            <a:ext cx="8946654" cy="518517"/>
            <a:chOff x="0" y="0"/>
            <a:chExt cx="11928872" cy="6913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928872" cy="691357"/>
            </a:xfrm>
            <a:custGeom>
              <a:avLst/>
              <a:gdLst/>
              <a:ahLst/>
              <a:cxnLst/>
              <a:rect l="l" t="t" r="r" b="b"/>
              <a:pathLst>
                <a:path w="11928872" h="691357">
                  <a:moveTo>
                    <a:pt x="0" y="0"/>
                  </a:moveTo>
                  <a:lnTo>
                    <a:pt x="11928872" y="0"/>
                  </a:lnTo>
                  <a:lnTo>
                    <a:pt x="11928872" y="691357"/>
                  </a:lnTo>
                  <a:lnTo>
                    <a:pt x="0" y="691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1928872" cy="7866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Memory Usage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How much RAM is consumed.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7405" y="7051922"/>
            <a:ext cx="8946654" cy="1037035"/>
            <a:chOff x="0" y="0"/>
            <a:chExt cx="11928872" cy="13827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928872" cy="1382713"/>
            </a:xfrm>
            <a:custGeom>
              <a:avLst/>
              <a:gdLst/>
              <a:ahLst/>
              <a:cxnLst/>
              <a:rect l="l" t="t" r="r" b="b"/>
              <a:pathLst>
                <a:path w="11928872" h="1382713">
                  <a:moveTo>
                    <a:pt x="0" y="0"/>
                  </a:moveTo>
                  <a:lnTo>
                    <a:pt x="11928872" y="0"/>
                  </a:lnTo>
                  <a:lnTo>
                    <a:pt x="11928872" y="1382713"/>
                  </a:lnTo>
                  <a:lnTo>
                    <a:pt x="0" y="1382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1928872" cy="1477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P95/P99 Percentile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Time within which 95%/99% of requests completed.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7405" y="8179594"/>
            <a:ext cx="8946654" cy="1037035"/>
            <a:chOff x="0" y="0"/>
            <a:chExt cx="11928872" cy="13827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928872" cy="1382713"/>
            </a:xfrm>
            <a:custGeom>
              <a:avLst/>
              <a:gdLst/>
              <a:ahLst/>
              <a:cxnLst/>
              <a:rect l="l" t="t" r="r" b="b"/>
              <a:pathLst>
                <a:path w="11928872" h="1382713">
                  <a:moveTo>
                    <a:pt x="0" y="0"/>
                  </a:moveTo>
                  <a:lnTo>
                    <a:pt x="11928872" y="0"/>
                  </a:lnTo>
                  <a:lnTo>
                    <a:pt x="11928872" y="1382713"/>
                  </a:lnTo>
                  <a:lnTo>
                    <a:pt x="0" y="1382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11928872" cy="1477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6868" lvl="1" indent="-173434" algn="l">
                <a:lnSpc>
                  <a:spcPts val="3737"/>
                </a:lnSpc>
                <a:buFont typeface="Arial"/>
                <a:buChar char="•"/>
              </a:pPr>
              <a:r>
                <a:rPr lang="en-US" sz="2299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Max/Min Response Time</a:t>
              </a:r>
              <a:r>
                <a:rPr lang="en-US" sz="22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The best-case and worst-case times.</a:t>
              </a:r>
            </a:p>
          </p:txBody>
        </p:sp>
      </p:grpSp>
      <p:sp>
        <p:nvSpPr>
          <p:cNvPr id="36" name="Freeform 36" descr="preencoded.png"/>
          <p:cNvSpPr/>
          <p:nvPr/>
        </p:nvSpPr>
        <p:spPr>
          <a:xfrm>
            <a:off x="10496104" y="2470249"/>
            <a:ext cx="6893868" cy="4716810"/>
          </a:xfrm>
          <a:custGeom>
            <a:avLst/>
            <a:gdLst/>
            <a:ahLst/>
            <a:cxnLst/>
            <a:rect l="l" t="t" r="r" b="b"/>
            <a:pathLst>
              <a:path w="6893868" h="4716810">
                <a:moveTo>
                  <a:pt x="0" y="0"/>
                </a:moveTo>
                <a:lnTo>
                  <a:pt x="6893867" y="0"/>
                </a:lnTo>
                <a:lnTo>
                  <a:pt x="6893867" y="4716810"/>
                </a:lnTo>
                <a:lnTo>
                  <a:pt x="0" y="4716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" r="-3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96826" y="819001"/>
            <a:ext cx="8005911" cy="732300"/>
            <a:chOff x="0" y="0"/>
            <a:chExt cx="10674548" cy="97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74548" cy="976400"/>
            </a:xfrm>
            <a:custGeom>
              <a:avLst/>
              <a:gdLst/>
              <a:ahLst/>
              <a:cxnLst/>
              <a:rect l="l" t="t" r="r" b="b"/>
              <a:pathLst>
                <a:path w="10674548" h="976400">
                  <a:moveTo>
                    <a:pt x="0" y="0"/>
                  </a:moveTo>
                  <a:lnTo>
                    <a:pt x="10674548" y="0"/>
                  </a:lnTo>
                  <a:lnTo>
                    <a:pt x="10674548" y="976400"/>
                  </a:lnTo>
                  <a:lnTo>
                    <a:pt x="0" y="97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674548" cy="10049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935"/>
                </a:lnSpc>
              </a:pPr>
              <a:r>
                <a:rPr lang="en-US" sz="39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Performance Testing Strategy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96826" y="1843534"/>
            <a:ext cx="8233470" cy="1473696"/>
            <a:chOff x="0" y="0"/>
            <a:chExt cx="10977960" cy="19649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7880" cy="1964817"/>
            </a:xfrm>
            <a:custGeom>
              <a:avLst/>
              <a:gdLst/>
              <a:ahLst/>
              <a:cxnLst/>
              <a:rect l="l" t="t" r="r" b="b"/>
              <a:pathLst>
                <a:path w="10977880" h="1964817">
                  <a:moveTo>
                    <a:pt x="0" y="45466"/>
                  </a:moveTo>
                  <a:cubicBezTo>
                    <a:pt x="0" y="20320"/>
                    <a:pt x="20320" y="0"/>
                    <a:pt x="45466" y="0"/>
                  </a:cubicBezTo>
                  <a:lnTo>
                    <a:pt x="10932414" y="0"/>
                  </a:lnTo>
                  <a:cubicBezTo>
                    <a:pt x="10957560" y="0"/>
                    <a:pt x="10977880" y="20320"/>
                    <a:pt x="10977880" y="45466"/>
                  </a:cubicBezTo>
                  <a:lnTo>
                    <a:pt x="10977880" y="1919351"/>
                  </a:lnTo>
                  <a:cubicBezTo>
                    <a:pt x="10977880" y="1944497"/>
                    <a:pt x="10957560" y="1964817"/>
                    <a:pt x="10932414" y="1964817"/>
                  </a:cubicBezTo>
                  <a:lnTo>
                    <a:pt x="45466" y="1964817"/>
                  </a:lnTo>
                  <a:cubicBezTo>
                    <a:pt x="20320" y="1964817"/>
                    <a:pt x="0" y="1944497"/>
                    <a:pt x="0" y="191935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24384" y="2071092"/>
            <a:ext cx="3415159" cy="426839"/>
            <a:chOff x="0" y="0"/>
            <a:chExt cx="4553545" cy="5691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Define Objectives: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4384" y="2634406"/>
            <a:ext cx="7778354" cy="455265"/>
            <a:chOff x="0" y="0"/>
            <a:chExt cx="10371138" cy="6070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What are we testing? What is the target throughput?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57854" y="1843534"/>
            <a:ext cx="8233470" cy="1473696"/>
            <a:chOff x="0" y="0"/>
            <a:chExt cx="10977960" cy="19649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7880" cy="1964817"/>
            </a:xfrm>
            <a:custGeom>
              <a:avLst/>
              <a:gdLst/>
              <a:ahLst/>
              <a:cxnLst/>
              <a:rect l="l" t="t" r="r" b="b"/>
              <a:pathLst>
                <a:path w="10977880" h="1964817">
                  <a:moveTo>
                    <a:pt x="0" y="45466"/>
                  </a:moveTo>
                  <a:cubicBezTo>
                    <a:pt x="0" y="20320"/>
                    <a:pt x="20320" y="0"/>
                    <a:pt x="45466" y="0"/>
                  </a:cubicBezTo>
                  <a:lnTo>
                    <a:pt x="10932414" y="0"/>
                  </a:lnTo>
                  <a:cubicBezTo>
                    <a:pt x="10957560" y="0"/>
                    <a:pt x="10977880" y="20320"/>
                    <a:pt x="10977880" y="45466"/>
                  </a:cubicBezTo>
                  <a:lnTo>
                    <a:pt x="10977880" y="1919351"/>
                  </a:lnTo>
                  <a:cubicBezTo>
                    <a:pt x="10977880" y="1944497"/>
                    <a:pt x="10957560" y="1964817"/>
                    <a:pt x="10932414" y="1964817"/>
                  </a:cubicBezTo>
                  <a:lnTo>
                    <a:pt x="45466" y="1964817"/>
                  </a:lnTo>
                  <a:cubicBezTo>
                    <a:pt x="20320" y="1964817"/>
                    <a:pt x="0" y="1944497"/>
                    <a:pt x="0" y="191935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485411" y="2071092"/>
            <a:ext cx="3415159" cy="426839"/>
            <a:chOff x="0" y="0"/>
            <a:chExt cx="4553545" cy="5691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Identify Key Scenarios: 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85411" y="2634406"/>
            <a:ext cx="7778354" cy="455265"/>
            <a:chOff x="0" y="0"/>
            <a:chExt cx="10371138" cy="6070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Which endpoints matter most? Focus on high-traffic flows.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96826" y="3544789"/>
            <a:ext cx="8233470" cy="1473696"/>
            <a:chOff x="0" y="0"/>
            <a:chExt cx="10977960" cy="19649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77880" cy="1964817"/>
            </a:xfrm>
            <a:custGeom>
              <a:avLst/>
              <a:gdLst/>
              <a:ahLst/>
              <a:cxnLst/>
              <a:rect l="l" t="t" r="r" b="b"/>
              <a:pathLst>
                <a:path w="10977880" h="1964817">
                  <a:moveTo>
                    <a:pt x="0" y="45466"/>
                  </a:moveTo>
                  <a:cubicBezTo>
                    <a:pt x="0" y="20320"/>
                    <a:pt x="20320" y="0"/>
                    <a:pt x="45466" y="0"/>
                  </a:cubicBezTo>
                  <a:lnTo>
                    <a:pt x="10932414" y="0"/>
                  </a:lnTo>
                  <a:cubicBezTo>
                    <a:pt x="10957560" y="0"/>
                    <a:pt x="10977880" y="20320"/>
                    <a:pt x="10977880" y="45466"/>
                  </a:cubicBezTo>
                  <a:lnTo>
                    <a:pt x="10977880" y="1919351"/>
                  </a:lnTo>
                  <a:cubicBezTo>
                    <a:pt x="10977880" y="1944497"/>
                    <a:pt x="10957560" y="1964817"/>
                    <a:pt x="10932414" y="1964817"/>
                  </a:cubicBezTo>
                  <a:lnTo>
                    <a:pt x="45466" y="1964817"/>
                  </a:lnTo>
                  <a:cubicBezTo>
                    <a:pt x="20320" y="1964817"/>
                    <a:pt x="0" y="1944497"/>
                    <a:pt x="0" y="191935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24384" y="3772346"/>
            <a:ext cx="3415159" cy="426839"/>
            <a:chOff x="0" y="0"/>
            <a:chExt cx="4553545" cy="5691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Prepare Test Data: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4384" y="4335661"/>
            <a:ext cx="7778354" cy="455265"/>
            <a:chOff x="0" y="0"/>
            <a:chExt cx="10371138" cy="6070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Ensure the app has realistic data.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57854" y="3544789"/>
            <a:ext cx="8233470" cy="1473696"/>
            <a:chOff x="0" y="0"/>
            <a:chExt cx="10977960" cy="196492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77880" cy="1964817"/>
            </a:xfrm>
            <a:custGeom>
              <a:avLst/>
              <a:gdLst/>
              <a:ahLst/>
              <a:cxnLst/>
              <a:rect l="l" t="t" r="r" b="b"/>
              <a:pathLst>
                <a:path w="10977880" h="1964817">
                  <a:moveTo>
                    <a:pt x="0" y="45466"/>
                  </a:moveTo>
                  <a:cubicBezTo>
                    <a:pt x="0" y="20320"/>
                    <a:pt x="20320" y="0"/>
                    <a:pt x="45466" y="0"/>
                  </a:cubicBezTo>
                  <a:lnTo>
                    <a:pt x="10932414" y="0"/>
                  </a:lnTo>
                  <a:cubicBezTo>
                    <a:pt x="10957560" y="0"/>
                    <a:pt x="10977880" y="20320"/>
                    <a:pt x="10977880" y="45466"/>
                  </a:cubicBezTo>
                  <a:lnTo>
                    <a:pt x="10977880" y="1919351"/>
                  </a:lnTo>
                  <a:cubicBezTo>
                    <a:pt x="10977880" y="1944497"/>
                    <a:pt x="10957560" y="1964817"/>
                    <a:pt x="10932414" y="1964817"/>
                  </a:cubicBezTo>
                  <a:lnTo>
                    <a:pt x="45466" y="1964817"/>
                  </a:lnTo>
                  <a:cubicBezTo>
                    <a:pt x="20320" y="1964817"/>
                    <a:pt x="0" y="1944497"/>
                    <a:pt x="0" y="191935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485411" y="3772346"/>
            <a:ext cx="3415159" cy="426839"/>
            <a:chOff x="0" y="0"/>
            <a:chExt cx="4553545" cy="56911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Choose the Right Tool: 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85411" y="4335661"/>
            <a:ext cx="7778354" cy="455265"/>
            <a:chOff x="0" y="0"/>
            <a:chExt cx="10371138" cy="6070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JMeter, Locust, k6, Gatling.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96826" y="5246042"/>
            <a:ext cx="8233470" cy="1473696"/>
            <a:chOff x="0" y="0"/>
            <a:chExt cx="10977960" cy="19649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77880" cy="1964817"/>
            </a:xfrm>
            <a:custGeom>
              <a:avLst/>
              <a:gdLst/>
              <a:ahLst/>
              <a:cxnLst/>
              <a:rect l="l" t="t" r="r" b="b"/>
              <a:pathLst>
                <a:path w="10977880" h="1964817">
                  <a:moveTo>
                    <a:pt x="0" y="45466"/>
                  </a:moveTo>
                  <a:cubicBezTo>
                    <a:pt x="0" y="20320"/>
                    <a:pt x="20320" y="0"/>
                    <a:pt x="45466" y="0"/>
                  </a:cubicBezTo>
                  <a:lnTo>
                    <a:pt x="10932414" y="0"/>
                  </a:lnTo>
                  <a:cubicBezTo>
                    <a:pt x="10957560" y="0"/>
                    <a:pt x="10977880" y="20320"/>
                    <a:pt x="10977880" y="45466"/>
                  </a:cubicBezTo>
                  <a:lnTo>
                    <a:pt x="10977880" y="1919351"/>
                  </a:lnTo>
                  <a:cubicBezTo>
                    <a:pt x="10977880" y="1944497"/>
                    <a:pt x="10957560" y="1964817"/>
                    <a:pt x="10932414" y="1964817"/>
                  </a:cubicBezTo>
                  <a:lnTo>
                    <a:pt x="45466" y="1964817"/>
                  </a:lnTo>
                  <a:cubicBezTo>
                    <a:pt x="20320" y="1964817"/>
                    <a:pt x="0" y="1944497"/>
                    <a:pt x="0" y="191935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024384" y="5473601"/>
            <a:ext cx="3415159" cy="426839"/>
            <a:chOff x="0" y="0"/>
            <a:chExt cx="4553545" cy="56911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Set Load Parameters: 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24384" y="6036915"/>
            <a:ext cx="7778354" cy="455265"/>
            <a:chOff x="0" y="0"/>
            <a:chExt cx="10371138" cy="6070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How many users? Ramp-up time? Test duration?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257854" y="5246042"/>
            <a:ext cx="8233470" cy="1473696"/>
            <a:chOff x="0" y="0"/>
            <a:chExt cx="10977960" cy="196492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977880" cy="1964817"/>
            </a:xfrm>
            <a:custGeom>
              <a:avLst/>
              <a:gdLst/>
              <a:ahLst/>
              <a:cxnLst/>
              <a:rect l="l" t="t" r="r" b="b"/>
              <a:pathLst>
                <a:path w="10977880" h="1964817">
                  <a:moveTo>
                    <a:pt x="0" y="45466"/>
                  </a:moveTo>
                  <a:cubicBezTo>
                    <a:pt x="0" y="20320"/>
                    <a:pt x="20320" y="0"/>
                    <a:pt x="45466" y="0"/>
                  </a:cubicBezTo>
                  <a:lnTo>
                    <a:pt x="10932414" y="0"/>
                  </a:lnTo>
                  <a:cubicBezTo>
                    <a:pt x="10957560" y="0"/>
                    <a:pt x="10977880" y="20320"/>
                    <a:pt x="10977880" y="45466"/>
                  </a:cubicBezTo>
                  <a:lnTo>
                    <a:pt x="10977880" y="1919351"/>
                  </a:lnTo>
                  <a:cubicBezTo>
                    <a:pt x="10977880" y="1944497"/>
                    <a:pt x="10957560" y="1964817"/>
                    <a:pt x="10932414" y="1964817"/>
                  </a:cubicBezTo>
                  <a:lnTo>
                    <a:pt x="45466" y="1964817"/>
                  </a:lnTo>
                  <a:cubicBezTo>
                    <a:pt x="20320" y="1964817"/>
                    <a:pt x="0" y="1944497"/>
                    <a:pt x="0" y="191935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485411" y="5473601"/>
            <a:ext cx="3415159" cy="426839"/>
            <a:chOff x="0" y="0"/>
            <a:chExt cx="4553545" cy="5691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Execute the Test: 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485411" y="6036915"/>
            <a:ext cx="7778354" cy="455265"/>
            <a:chOff x="0" y="0"/>
            <a:chExt cx="10371138" cy="6070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Run the test in a controlled environment.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96826" y="6947298"/>
            <a:ext cx="8233470" cy="2520702"/>
            <a:chOff x="0" y="0"/>
            <a:chExt cx="10977960" cy="336093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978007" cy="3360928"/>
            </a:xfrm>
            <a:custGeom>
              <a:avLst/>
              <a:gdLst/>
              <a:ahLst/>
              <a:cxnLst/>
              <a:rect l="l" t="t" r="r" b="b"/>
              <a:pathLst>
                <a:path w="10978007" h="3360928">
                  <a:moveTo>
                    <a:pt x="0" y="45593"/>
                  </a:moveTo>
                  <a:cubicBezTo>
                    <a:pt x="0" y="20447"/>
                    <a:pt x="20447" y="0"/>
                    <a:pt x="45593" y="0"/>
                  </a:cubicBezTo>
                  <a:lnTo>
                    <a:pt x="10932414" y="0"/>
                  </a:lnTo>
                  <a:cubicBezTo>
                    <a:pt x="10957560" y="0"/>
                    <a:pt x="10978007" y="20447"/>
                    <a:pt x="10978007" y="45593"/>
                  </a:cubicBezTo>
                  <a:lnTo>
                    <a:pt x="10978007" y="3315335"/>
                  </a:lnTo>
                  <a:cubicBezTo>
                    <a:pt x="10978007" y="3340481"/>
                    <a:pt x="10957560" y="3360928"/>
                    <a:pt x="10932414" y="3360928"/>
                  </a:cubicBezTo>
                  <a:lnTo>
                    <a:pt x="45593" y="3360928"/>
                  </a:lnTo>
                  <a:cubicBezTo>
                    <a:pt x="20447" y="3360928"/>
                    <a:pt x="0" y="3340481"/>
                    <a:pt x="0" y="331533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24384" y="7174855"/>
            <a:ext cx="3415159" cy="426839"/>
            <a:chOff x="0" y="0"/>
            <a:chExt cx="4553545" cy="56911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Analyze the Results: 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24384" y="7738170"/>
            <a:ext cx="7778354" cy="455265"/>
            <a:chOff x="0" y="0"/>
            <a:chExt cx="10371138" cy="6070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Look at response times, throughput, failures.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257854" y="6947298"/>
            <a:ext cx="8233470" cy="2520702"/>
            <a:chOff x="0" y="0"/>
            <a:chExt cx="10977960" cy="336093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978007" cy="3360928"/>
            </a:xfrm>
            <a:custGeom>
              <a:avLst/>
              <a:gdLst/>
              <a:ahLst/>
              <a:cxnLst/>
              <a:rect l="l" t="t" r="r" b="b"/>
              <a:pathLst>
                <a:path w="10978007" h="3360928">
                  <a:moveTo>
                    <a:pt x="0" y="45593"/>
                  </a:moveTo>
                  <a:cubicBezTo>
                    <a:pt x="0" y="20447"/>
                    <a:pt x="20447" y="0"/>
                    <a:pt x="45593" y="0"/>
                  </a:cubicBezTo>
                  <a:lnTo>
                    <a:pt x="10932414" y="0"/>
                  </a:lnTo>
                  <a:cubicBezTo>
                    <a:pt x="10957560" y="0"/>
                    <a:pt x="10978007" y="20447"/>
                    <a:pt x="10978007" y="45593"/>
                  </a:cubicBezTo>
                  <a:lnTo>
                    <a:pt x="10978007" y="3315335"/>
                  </a:lnTo>
                  <a:cubicBezTo>
                    <a:pt x="10978007" y="3340481"/>
                    <a:pt x="10957560" y="3360928"/>
                    <a:pt x="10932414" y="3360928"/>
                  </a:cubicBezTo>
                  <a:lnTo>
                    <a:pt x="45593" y="3360928"/>
                  </a:lnTo>
                  <a:cubicBezTo>
                    <a:pt x="20447" y="3360928"/>
                    <a:pt x="0" y="3340481"/>
                    <a:pt x="0" y="331533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9485411" y="7174855"/>
            <a:ext cx="3415159" cy="426839"/>
            <a:chOff x="0" y="0"/>
            <a:chExt cx="4553545" cy="56911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553545" cy="569118"/>
            </a:xfrm>
            <a:custGeom>
              <a:avLst/>
              <a:gdLst/>
              <a:ahLst/>
              <a:cxnLst/>
              <a:rect l="l" t="t" r="r" b="b"/>
              <a:pathLst>
                <a:path w="4553545" h="569118">
                  <a:moveTo>
                    <a:pt x="0" y="0"/>
                  </a:moveTo>
                  <a:lnTo>
                    <a:pt x="4553545" y="0"/>
                  </a:lnTo>
                  <a:lnTo>
                    <a:pt x="4553545" y="569118"/>
                  </a:lnTo>
                  <a:lnTo>
                    <a:pt x="0" y="56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4553545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Optimize and Retest: 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485411" y="7738170"/>
            <a:ext cx="7778354" cy="910530"/>
            <a:chOff x="0" y="0"/>
            <a:chExt cx="10371138" cy="12140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371138" cy="1214040"/>
            </a:xfrm>
            <a:custGeom>
              <a:avLst/>
              <a:gdLst/>
              <a:ahLst/>
              <a:cxnLst/>
              <a:rect l="l" t="t" r="r" b="b"/>
              <a:pathLst>
                <a:path w="10371138" h="1214040">
                  <a:moveTo>
                    <a:pt x="0" y="0"/>
                  </a:moveTo>
                  <a:lnTo>
                    <a:pt x="10371138" y="0"/>
                  </a:lnTo>
                  <a:lnTo>
                    <a:pt x="10371138" y="1214040"/>
                  </a:lnTo>
                  <a:lnTo>
                    <a:pt x="0" y="12140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85725"/>
              <a:ext cx="10371138" cy="12997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Fix slow queries, increase server resources. Before jumping into tools, understand how to plan performance tests. 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485411" y="8785175"/>
            <a:ext cx="7778354" cy="455265"/>
            <a:chOff x="0" y="0"/>
            <a:chExt cx="10371138" cy="6070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371138" cy="607020"/>
            </a:xfrm>
            <a:custGeom>
              <a:avLst/>
              <a:gdLst/>
              <a:ahLst/>
              <a:cxnLst/>
              <a:rect l="l" t="t" r="r" b="b"/>
              <a:pathLst>
                <a:path w="10371138" h="607020">
                  <a:moveTo>
                    <a:pt x="0" y="0"/>
                  </a:moveTo>
                  <a:lnTo>
                    <a:pt x="10371138" y="0"/>
                  </a:lnTo>
                  <a:lnTo>
                    <a:pt x="10371138" y="607020"/>
                  </a:lnTo>
                  <a:lnTo>
                    <a:pt x="0" y="6070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85725"/>
              <a:ext cx="10371138" cy="6927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Ex: Verify my API handles 500 users with &lt;2s response time.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08272" y="556469"/>
            <a:ext cx="5059115" cy="632223"/>
            <a:chOff x="0" y="0"/>
            <a:chExt cx="6745487" cy="842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45487" cy="842963"/>
            </a:xfrm>
            <a:custGeom>
              <a:avLst/>
              <a:gdLst/>
              <a:ahLst/>
              <a:cxnLst/>
              <a:rect l="l" t="t" r="r" b="b"/>
              <a:pathLst>
                <a:path w="6745487" h="842963">
                  <a:moveTo>
                    <a:pt x="0" y="0"/>
                  </a:moveTo>
                  <a:lnTo>
                    <a:pt x="6745487" y="0"/>
                  </a:lnTo>
                  <a:lnTo>
                    <a:pt x="6745487" y="842963"/>
                  </a:lnTo>
                  <a:lnTo>
                    <a:pt x="0" y="842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745487" cy="871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937"/>
                </a:lnSpc>
              </a:pPr>
              <a:r>
                <a:rPr lang="en-US" sz="393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Loading Testing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8272" y="1407041"/>
            <a:ext cx="16871454" cy="895181"/>
            <a:chOff x="0" y="0"/>
            <a:chExt cx="22495272" cy="11935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5272" cy="1193575"/>
            </a:xfrm>
            <a:custGeom>
              <a:avLst/>
              <a:gdLst/>
              <a:ahLst/>
              <a:cxnLst/>
              <a:rect l="l" t="t" r="r" b="b"/>
              <a:pathLst>
                <a:path w="22495272" h="1193575">
                  <a:moveTo>
                    <a:pt x="0" y="0"/>
                  </a:moveTo>
                  <a:lnTo>
                    <a:pt x="22495272" y="0"/>
                  </a:lnTo>
                  <a:lnTo>
                    <a:pt x="22495272" y="1193575"/>
                  </a:lnTo>
                  <a:lnTo>
                    <a:pt x="0" y="1193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2495272" cy="12697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Load testing is essential for assessing how a system performs under expected and peak loads. It helps identify bottlenecks, scalability issues, and ensures system stability.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8272" y="2473672"/>
            <a:ext cx="16871454" cy="457031"/>
            <a:chOff x="0" y="0"/>
            <a:chExt cx="22495272" cy="6093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95272" cy="609375"/>
            </a:xfrm>
            <a:custGeom>
              <a:avLst/>
              <a:gdLst/>
              <a:ahLst/>
              <a:cxnLst/>
              <a:rect l="l" t="t" r="r" b="b"/>
              <a:pathLst>
                <a:path w="22495272" h="609375">
                  <a:moveTo>
                    <a:pt x="0" y="0"/>
                  </a:moveTo>
                  <a:lnTo>
                    <a:pt x="22495272" y="0"/>
                  </a:lnTo>
                  <a:lnTo>
                    <a:pt x="22495272" y="609375"/>
                  </a:lnTo>
                  <a:lnTo>
                    <a:pt x="0" y="609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2495272" cy="6855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DevOps Impact</a:t>
              </a:r>
              <a:r>
                <a:rPr lang="en-US" sz="21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Prevents crashes during traffic spikes (e.g., Black Friday sales).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29712" y="3106042"/>
            <a:ext cx="28575" cy="5361980"/>
            <a:chOff x="0" y="0"/>
            <a:chExt cx="38100" cy="71493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7149338"/>
            </a:xfrm>
            <a:custGeom>
              <a:avLst/>
              <a:gdLst/>
              <a:ahLst/>
              <a:cxnLst/>
              <a:rect l="l" t="t" r="r" b="b"/>
              <a:pathLst>
                <a:path w="38100" h="714933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130288"/>
                  </a:lnTo>
                  <a:cubicBezTo>
                    <a:pt x="38100" y="7140829"/>
                    <a:pt x="29591" y="7149338"/>
                    <a:pt x="19050" y="7149338"/>
                  </a:cubicBezTo>
                  <a:cubicBezTo>
                    <a:pt x="8509" y="7149338"/>
                    <a:pt x="0" y="7140829"/>
                    <a:pt x="0" y="713028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337872" y="3546872"/>
            <a:ext cx="607070" cy="28575"/>
            <a:chOff x="0" y="0"/>
            <a:chExt cx="809427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9371" cy="38100"/>
            </a:xfrm>
            <a:custGeom>
              <a:avLst/>
              <a:gdLst/>
              <a:ahLst/>
              <a:cxnLst/>
              <a:rect l="l" t="t" r="r" b="b"/>
              <a:pathLst>
                <a:path w="80937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0321" y="0"/>
                  </a:lnTo>
                  <a:cubicBezTo>
                    <a:pt x="800862" y="0"/>
                    <a:pt x="809371" y="8509"/>
                    <a:pt x="809371" y="19050"/>
                  </a:cubicBezTo>
                  <a:cubicBezTo>
                    <a:pt x="809371" y="29591"/>
                    <a:pt x="800862" y="38100"/>
                    <a:pt x="79032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916368" y="3333601"/>
            <a:ext cx="455265" cy="455265"/>
            <a:chOff x="0" y="0"/>
            <a:chExt cx="607020" cy="6070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60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6547" y="0"/>
                  </a:lnTo>
                  <a:cubicBezTo>
                    <a:pt x="588899" y="0"/>
                    <a:pt x="607060" y="18161"/>
                    <a:pt x="607060" y="40513"/>
                  </a:cubicBezTo>
                  <a:lnTo>
                    <a:pt x="607060" y="566547"/>
                  </a:lnTo>
                  <a:cubicBezTo>
                    <a:pt x="607060" y="588899"/>
                    <a:pt x="588899" y="607060"/>
                    <a:pt x="566547" y="607060"/>
                  </a:cubicBezTo>
                  <a:lnTo>
                    <a:pt x="40513" y="607060"/>
                  </a:lnTo>
                  <a:cubicBezTo>
                    <a:pt x="18161" y="607060"/>
                    <a:pt x="0" y="588899"/>
                    <a:pt x="0" y="56654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992195" y="3371477"/>
            <a:ext cx="303460" cy="533744"/>
            <a:chOff x="0" y="0"/>
            <a:chExt cx="404613" cy="71165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4613" cy="711658"/>
            </a:xfrm>
            <a:custGeom>
              <a:avLst/>
              <a:gdLst/>
              <a:ahLst/>
              <a:cxnLst/>
              <a:rect l="l" t="t" r="r" b="b"/>
              <a:pathLst>
                <a:path w="404613" h="711658">
                  <a:moveTo>
                    <a:pt x="0" y="0"/>
                  </a:moveTo>
                  <a:lnTo>
                    <a:pt x="404613" y="0"/>
                  </a:lnTo>
                  <a:lnTo>
                    <a:pt x="404613" y="711658"/>
                  </a:lnTo>
                  <a:lnTo>
                    <a:pt x="0" y="711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404613" cy="664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96768" y="3308300"/>
            <a:ext cx="3035499" cy="532992"/>
            <a:chOff x="0" y="0"/>
            <a:chExt cx="4047332" cy="7106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47332" cy="710656"/>
            </a:xfrm>
            <a:custGeom>
              <a:avLst/>
              <a:gdLst/>
              <a:ahLst/>
              <a:cxnLst/>
              <a:rect l="l" t="t" r="r" b="b"/>
              <a:pathLst>
                <a:path w="4047332" h="710656">
                  <a:moveTo>
                    <a:pt x="0" y="0"/>
                  </a:moveTo>
                  <a:lnTo>
                    <a:pt x="4047332" y="0"/>
                  </a:lnTo>
                  <a:lnTo>
                    <a:pt x="4047332" y="710656"/>
                  </a:lnTo>
                  <a:lnTo>
                    <a:pt x="0" y="710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047332" cy="729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555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Ensures Scalability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43057" y="4558456"/>
            <a:ext cx="607070" cy="28575"/>
            <a:chOff x="0" y="0"/>
            <a:chExt cx="809427" cy="38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09371" cy="38100"/>
            </a:xfrm>
            <a:custGeom>
              <a:avLst/>
              <a:gdLst/>
              <a:ahLst/>
              <a:cxnLst/>
              <a:rect l="l" t="t" r="r" b="b"/>
              <a:pathLst>
                <a:path w="80937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0321" y="0"/>
                  </a:lnTo>
                  <a:cubicBezTo>
                    <a:pt x="800862" y="0"/>
                    <a:pt x="809371" y="8509"/>
                    <a:pt x="809371" y="19050"/>
                  </a:cubicBezTo>
                  <a:cubicBezTo>
                    <a:pt x="809371" y="29591"/>
                    <a:pt x="800862" y="38100"/>
                    <a:pt x="79032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16368" y="4345186"/>
            <a:ext cx="455265" cy="455265"/>
            <a:chOff x="0" y="0"/>
            <a:chExt cx="607020" cy="6070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60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6547" y="0"/>
                  </a:lnTo>
                  <a:cubicBezTo>
                    <a:pt x="588899" y="0"/>
                    <a:pt x="607060" y="18161"/>
                    <a:pt x="607060" y="40513"/>
                  </a:cubicBezTo>
                  <a:lnTo>
                    <a:pt x="607060" y="566547"/>
                  </a:lnTo>
                  <a:cubicBezTo>
                    <a:pt x="607060" y="588899"/>
                    <a:pt x="588899" y="607060"/>
                    <a:pt x="566547" y="607060"/>
                  </a:cubicBezTo>
                  <a:lnTo>
                    <a:pt x="40513" y="607060"/>
                  </a:lnTo>
                  <a:cubicBezTo>
                    <a:pt x="18161" y="607060"/>
                    <a:pt x="0" y="588899"/>
                    <a:pt x="0" y="56654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992195" y="4383062"/>
            <a:ext cx="303460" cy="533744"/>
            <a:chOff x="0" y="0"/>
            <a:chExt cx="404613" cy="71165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4613" cy="711658"/>
            </a:xfrm>
            <a:custGeom>
              <a:avLst/>
              <a:gdLst/>
              <a:ahLst/>
              <a:cxnLst/>
              <a:rect l="l" t="t" r="r" b="b"/>
              <a:pathLst>
                <a:path w="404613" h="711658">
                  <a:moveTo>
                    <a:pt x="0" y="0"/>
                  </a:moveTo>
                  <a:lnTo>
                    <a:pt x="404613" y="0"/>
                  </a:lnTo>
                  <a:lnTo>
                    <a:pt x="404613" y="711658"/>
                  </a:lnTo>
                  <a:lnTo>
                    <a:pt x="0" y="711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47625"/>
              <a:ext cx="404613" cy="664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131102" y="4291960"/>
            <a:ext cx="4269944" cy="532992"/>
            <a:chOff x="0" y="0"/>
            <a:chExt cx="5693259" cy="7106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693259" cy="710656"/>
            </a:xfrm>
            <a:custGeom>
              <a:avLst/>
              <a:gdLst/>
              <a:ahLst/>
              <a:cxnLst/>
              <a:rect l="l" t="t" r="r" b="b"/>
              <a:pathLst>
                <a:path w="5693259" h="710656">
                  <a:moveTo>
                    <a:pt x="0" y="0"/>
                  </a:moveTo>
                  <a:lnTo>
                    <a:pt x="5693259" y="0"/>
                  </a:lnTo>
                  <a:lnTo>
                    <a:pt x="5693259" y="710656"/>
                  </a:lnTo>
                  <a:lnTo>
                    <a:pt x="0" y="710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693259" cy="729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55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Prevents Downtime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37872" y="5468988"/>
            <a:ext cx="607070" cy="28575"/>
            <a:chOff x="0" y="0"/>
            <a:chExt cx="809427" cy="38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09371" cy="38100"/>
            </a:xfrm>
            <a:custGeom>
              <a:avLst/>
              <a:gdLst/>
              <a:ahLst/>
              <a:cxnLst/>
              <a:rect l="l" t="t" r="r" b="b"/>
              <a:pathLst>
                <a:path w="80937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0321" y="0"/>
                  </a:lnTo>
                  <a:cubicBezTo>
                    <a:pt x="800862" y="0"/>
                    <a:pt x="809371" y="8509"/>
                    <a:pt x="809371" y="19050"/>
                  </a:cubicBezTo>
                  <a:cubicBezTo>
                    <a:pt x="809371" y="29591"/>
                    <a:pt x="800862" y="38100"/>
                    <a:pt x="79032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916368" y="5255716"/>
            <a:ext cx="455265" cy="455265"/>
            <a:chOff x="0" y="0"/>
            <a:chExt cx="607020" cy="6070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60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6547" y="0"/>
                  </a:lnTo>
                  <a:cubicBezTo>
                    <a:pt x="588899" y="0"/>
                    <a:pt x="607060" y="18161"/>
                    <a:pt x="607060" y="40513"/>
                  </a:cubicBezTo>
                  <a:lnTo>
                    <a:pt x="607060" y="566547"/>
                  </a:lnTo>
                  <a:cubicBezTo>
                    <a:pt x="607060" y="588899"/>
                    <a:pt x="588899" y="607060"/>
                    <a:pt x="566547" y="607060"/>
                  </a:cubicBezTo>
                  <a:lnTo>
                    <a:pt x="40513" y="607060"/>
                  </a:lnTo>
                  <a:cubicBezTo>
                    <a:pt x="18161" y="607060"/>
                    <a:pt x="0" y="588899"/>
                    <a:pt x="0" y="56654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8992195" y="5293594"/>
            <a:ext cx="303460" cy="533744"/>
            <a:chOff x="0" y="0"/>
            <a:chExt cx="404613" cy="71165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4613" cy="711658"/>
            </a:xfrm>
            <a:custGeom>
              <a:avLst/>
              <a:gdLst/>
              <a:ahLst/>
              <a:cxnLst/>
              <a:rect l="l" t="t" r="r" b="b"/>
              <a:pathLst>
                <a:path w="404613" h="711658">
                  <a:moveTo>
                    <a:pt x="0" y="0"/>
                  </a:moveTo>
                  <a:lnTo>
                    <a:pt x="404613" y="0"/>
                  </a:lnTo>
                  <a:lnTo>
                    <a:pt x="404613" y="711658"/>
                  </a:lnTo>
                  <a:lnTo>
                    <a:pt x="0" y="711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47625"/>
              <a:ext cx="404613" cy="664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05048" y="5202492"/>
            <a:ext cx="4227218" cy="532992"/>
            <a:chOff x="0" y="0"/>
            <a:chExt cx="5636291" cy="7106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636291" cy="710656"/>
            </a:xfrm>
            <a:custGeom>
              <a:avLst/>
              <a:gdLst/>
              <a:ahLst/>
              <a:cxnLst/>
              <a:rect l="l" t="t" r="r" b="b"/>
              <a:pathLst>
                <a:path w="5636291" h="710656">
                  <a:moveTo>
                    <a:pt x="0" y="0"/>
                  </a:moveTo>
                  <a:lnTo>
                    <a:pt x="5636291" y="0"/>
                  </a:lnTo>
                  <a:lnTo>
                    <a:pt x="5636291" y="710656"/>
                  </a:lnTo>
                  <a:lnTo>
                    <a:pt x="0" y="710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5636291" cy="729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555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Optimizes Infrastructure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43057" y="6379517"/>
            <a:ext cx="607070" cy="28575"/>
            <a:chOff x="0" y="0"/>
            <a:chExt cx="809427" cy="381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09371" cy="38100"/>
            </a:xfrm>
            <a:custGeom>
              <a:avLst/>
              <a:gdLst/>
              <a:ahLst/>
              <a:cxnLst/>
              <a:rect l="l" t="t" r="r" b="b"/>
              <a:pathLst>
                <a:path w="80937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0321" y="0"/>
                  </a:lnTo>
                  <a:cubicBezTo>
                    <a:pt x="800862" y="0"/>
                    <a:pt x="809371" y="8509"/>
                    <a:pt x="809371" y="19050"/>
                  </a:cubicBezTo>
                  <a:cubicBezTo>
                    <a:pt x="809371" y="29591"/>
                    <a:pt x="800862" y="38100"/>
                    <a:pt x="79032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8916368" y="6166248"/>
            <a:ext cx="455265" cy="455265"/>
            <a:chOff x="0" y="0"/>
            <a:chExt cx="607020" cy="6070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60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6547" y="0"/>
                  </a:lnTo>
                  <a:cubicBezTo>
                    <a:pt x="588899" y="0"/>
                    <a:pt x="607060" y="18161"/>
                    <a:pt x="607060" y="40513"/>
                  </a:cubicBezTo>
                  <a:lnTo>
                    <a:pt x="607060" y="566547"/>
                  </a:lnTo>
                  <a:cubicBezTo>
                    <a:pt x="607060" y="588899"/>
                    <a:pt x="588899" y="607060"/>
                    <a:pt x="566547" y="607060"/>
                  </a:cubicBezTo>
                  <a:lnTo>
                    <a:pt x="40513" y="607060"/>
                  </a:lnTo>
                  <a:cubicBezTo>
                    <a:pt x="18161" y="607060"/>
                    <a:pt x="0" y="588899"/>
                    <a:pt x="0" y="56654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8992195" y="6204124"/>
            <a:ext cx="303460" cy="533744"/>
            <a:chOff x="0" y="0"/>
            <a:chExt cx="404613" cy="71165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4613" cy="711658"/>
            </a:xfrm>
            <a:custGeom>
              <a:avLst/>
              <a:gdLst/>
              <a:ahLst/>
              <a:cxnLst/>
              <a:rect l="l" t="t" r="r" b="b"/>
              <a:pathLst>
                <a:path w="404613" h="711658">
                  <a:moveTo>
                    <a:pt x="0" y="0"/>
                  </a:moveTo>
                  <a:lnTo>
                    <a:pt x="404613" y="0"/>
                  </a:lnTo>
                  <a:lnTo>
                    <a:pt x="404613" y="711658"/>
                  </a:lnTo>
                  <a:lnTo>
                    <a:pt x="0" y="711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47625"/>
              <a:ext cx="404613" cy="664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131102" y="6127384"/>
            <a:ext cx="5541632" cy="532992"/>
            <a:chOff x="0" y="0"/>
            <a:chExt cx="7388842" cy="71065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88842" cy="710656"/>
            </a:xfrm>
            <a:custGeom>
              <a:avLst/>
              <a:gdLst/>
              <a:ahLst/>
              <a:cxnLst/>
              <a:rect l="l" t="t" r="r" b="b"/>
              <a:pathLst>
                <a:path w="7388842" h="710656">
                  <a:moveTo>
                    <a:pt x="0" y="0"/>
                  </a:moveTo>
                  <a:lnTo>
                    <a:pt x="7388842" y="0"/>
                  </a:lnTo>
                  <a:lnTo>
                    <a:pt x="7388842" y="710656"/>
                  </a:lnTo>
                  <a:lnTo>
                    <a:pt x="0" y="710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7388842" cy="729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55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Ensures SLAs &amp; SLOs Compliance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337872" y="7290047"/>
            <a:ext cx="607070" cy="28575"/>
            <a:chOff x="0" y="0"/>
            <a:chExt cx="809427" cy="381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09371" cy="38100"/>
            </a:xfrm>
            <a:custGeom>
              <a:avLst/>
              <a:gdLst/>
              <a:ahLst/>
              <a:cxnLst/>
              <a:rect l="l" t="t" r="r" b="b"/>
              <a:pathLst>
                <a:path w="80937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90321" y="0"/>
                  </a:lnTo>
                  <a:cubicBezTo>
                    <a:pt x="800862" y="0"/>
                    <a:pt x="809371" y="8509"/>
                    <a:pt x="809371" y="19050"/>
                  </a:cubicBezTo>
                  <a:cubicBezTo>
                    <a:pt x="809371" y="29591"/>
                    <a:pt x="800862" y="38100"/>
                    <a:pt x="79032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8916368" y="7076777"/>
            <a:ext cx="455265" cy="455265"/>
            <a:chOff x="0" y="0"/>
            <a:chExt cx="607020" cy="6070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60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6547" y="0"/>
                  </a:lnTo>
                  <a:cubicBezTo>
                    <a:pt x="588899" y="0"/>
                    <a:pt x="607060" y="18161"/>
                    <a:pt x="607060" y="40513"/>
                  </a:cubicBezTo>
                  <a:lnTo>
                    <a:pt x="607060" y="566547"/>
                  </a:lnTo>
                  <a:cubicBezTo>
                    <a:pt x="607060" y="588899"/>
                    <a:pt x="588899" y="607060"/>
                    <a:pt x="566547" y="607060"/>
                  </a:cubicBezTo>
                  <a:lnTo>
                    <a:pt x="40513" y="607060"/>
                  </a:lnTo>
                  <a:cubicBezTo>
                    <a:pt x="18161" y="607060"/>
                    <a:pt x="0" y="588899"/>
                    <a:pt x="0" y="56654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8992195" y="7114654"/>
            <a:ext cx="303460" cy="533744"/>
            <a:chOff x="0" y="0"/>
            <a:chExt cx="404613" cy="71165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04613" cy="711658"/>
            </a:xfrm>
            <a:custGeom>
              <a:avLst/>
              <a:gdLst/>
              <a:ahLst/>
              <a:cxnLst/>
              <a:rect l="l" t="t" r="r" b="b"/>
              <a:pathLst>
                <a:path w="404613" h="711658">
                  <a:moveTo>
                    <a:pt x="0" y="0"/>
                  </a:moveTo>
                  <a:lnTo>
                    <a:pt x="404613" y="0"/>
                  </a:lnTo>
                  <a:lnTo>
                    <a:pt x="404613" y="711658"/>
                  </a:lnTo>
                  <a:lnTo>
                    <a:pt x="0" y="711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47625"/>
              <a:ext cx="404613" cy="664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4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5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905048" y="7037914"/>
            <a:ext cx="4227218" cy="532992"/>
            <a:chOff x="0" y="0"/>
            <a:chExt cx="5636291" cy="7106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636291" cy="710656"/>
            </a:xfrm>
            <a:custGeom>
              <a:avLst/>
              <a:gdLst/>
              <a:ahLst/>
              <a:cxnLst/>
              <a:rect l="l" t="t" r="r" b="b"/>
              <a:pathLst>
                <a:path w="5636291" h="710656">
                  <a:moveTo>
                    <a:pt x="0" y="0"/>
                  </a:moveTo>
                  <a:lnTo>
                    <a:pt x="5636291" y="0"/>
                  </a:lnTo>
                  <a:lnTo>
                    <a:pt x="5636291" y="710656"/>
                  </a:lnTo>
                  <a:lnTo>
                    <a:pt x="0" y="710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5636291" cy="729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555"/>
                </a:lnSpc>
              </a:pPr>
              <a:r>
                <a:rPr lang="en-US" sz="28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Avoids Costly Failures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08272" y="8695581"/>
            <a:ext cx="16871454" cy="492829"/>
            <a:chOff x="0" y="0"/>
            <a:chExt cx="22495272" cy="65710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495272" cy="657105"/>
            </a:xfrm>
            <a:custGeom>
              <a:avLst/>
              <a:gdLst/>
              <a:ahLst/>
              <a:cxnLst/>
              <a:rect l="l" t="t" r="r" b="b"/>
              <a:pathLst>
                <a:path w="22495272" h="657105">
                  <a:moveTo>
                    <a:pt x="0" y="0"/>
                  </a:moveTo>
                  <a:lnTo>
                    <a:pt x="22495272" y="0"/>
                  </a:lnTo>
                  <a:lnTo>
                    <a:pt x="22495272" y="657105"/>
                  </a:lnTo>
                  <a:lnTo>
                    <a:pt x="0" y="6571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0"/>
              <a:ext cx="22495272" cy="7523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70"/>
                </a:lnSpc>
              </a:pPr>
              <a:r>
                <a:rPr lang="en-US" sz="233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Used-case: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08272" y="9327951"/>
            <a:ext cx="16871454" cy="427583"/>
            <a:chOff x="0" y="0"/>
            <a:chExt cx="22495272" cy="57011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2495272" cy="570111"/>
            </a:xfrm>
            <a:custGeom>
              <a:avLst/>
              <a:gdLst/>
              <a:ahLst/>
              <a:cxnLst/>
              <a:rect l="l" t="t" r="r" b="b"/>
              <a:pathLst>
                <a:path w="22495272" h="570111">
                  <a:moveTo>
                    <a:pt x="0" y="0"/>
                  </a:moveTo>
                  <a:lnTo>
                    <a:pt x="22495272" y="0"/>
                  </a:lnTo>
                  <a:lnTo>
                    <a:pt x="22495272" y="570111"/>
                  </a:lnTo>
                  <a:lnTo>
                    <a:pt x="0" y="570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76200"/>
              <a:ext cx="22495272" cy="6463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1050" lvl="1" indent="-155525" algn="l">
                <a:lnSpc>
                  <a:spcPts val="3299"/>
                </a:lnSpc>
                <a:buFont typeface="Arial"/>
                <a:buChar char="•"/>
              </a:pPr>
              <a:r>
                <a:rPr lang="en-US" sz="20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Netflix uses Locust to simulate millions of users before launches.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5802" y="670920"/>
            <a:ext cx="7747945" cy="988958"/>
            <a:chOff x="0" y="0"/>
            <a:chExt cx="10330593" cy="13186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30593" cy="1318611"/>
            </a:xfrm>
            <a:custGeom>
              <a:avLst/>
              <a:gdLst/>
              <a:ahLst/>
              <a:cxnLst/>
              <a:rect l="l" t="t" r="r" b="b"/>
              <a:pathLst>
                <a:path w="10330593" h="1318611">
                  <a:moveTo>
                    <a:pt x="0" y="0"/>
                  </a:moveTo>
                  <a:lnTo>
                    <a:pt x="10330593" y="0"/>
                  </a:lnTo>
                  <a:lnTo>
                    <a:pt x="10330593" y="1318611"/>
                  </a:lnTo>
                  <a:lnTo>
                    <a:pt x="0" y="1318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30593" cy="1356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625"/>
                </a:lnSpc>
              </a:pPr>
              <a:r>
                <a:rPr lang="en-US" sz="531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Load Testing Tools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55328" y="2302520"/>
            <a:ext cx="5315099" cy="3243114"/>
          </a:xfrm>
          <a:custGeom>
            <a:avLst/>
            <a:gdLst/>
            <a:ahLst/>
            <a:cxnLst/>
            <a:rect l="l" t="t" r="r" b="b"/>
            <a:pathLst>
              <a:path w="5315099" h="3243114">
                <a:moveTo>
                  <a:pt x="0" y="0"/>
                </a:moveTo>
                <a:lnTo>
                  <a:pt x="5315098" y="0"/>
                </a:lnTo>
                <a:lnTo>
                  <a:pt x="5315098" y="3243114"/>
                </a:lnTo>
                <a:lnTo>
                  <a:pt x="0" y="3243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" r="-69"/>
            </a:stretch>
          </a:blipFill>
        </p:spPr>
      </p:sp>
      <p:sp>
        <p:nvSpPr>
          <p:cNvPr id="10" name="Freeform 10" descr="preencoded.png"/>
          <p:cNvSpPr/>
          <p:nvPr/>
        </p:nvSpPr>
        <p:spPr>
          <a:xfrm>
            <a:off x="6486525" y="2302520"/>
            <a:ext cx="5315099" cy="3243114"/>
          </a:xfrm>
          <a:custGeom>
            <a:avLst/>
            <a:gdLst/>
            <a:ahLst/>
            <a:cxnLst/>
            <a:rect l="l" t="t" r="r" b="b"/>
            <a:pathLst>
              <a:path w="5315099" h="3243114">
                <a:moveTo>
                  <a:pt x="0" y="0"/>
                </a:moveTo>
                <a:lnTo>
                  <a:pt x="5315099" y="0"/>
                </a:lnTo>
                <a:lnTo>
                  <a:pt x="5315099" y="3243114"/>
                </a:lnTo>
                <a:lnTo>
                  <a:pt x="0" y="324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" r="-69"/>
            </a:stretch>
          </a:blipFill>
        </p:spPr>
      </p:sp>
      <p:sp>
        <p:nvSpPr>
          <p:cNvPr id="11" name="Freeform 11" descr="preencoded.png"/>
          <p:cNvSpPr/>
          <p:nvPr/>
        </p:nvSpPr>
        <p:spPr>
          <a:xfrm>
            <a:off x="12017722" y="2302520"/>
            <a:ext cx="5315099" cy="3243114"/>
          </a:xfrm>
          <a:custGeom>
            <a:avLst/>
            <a:gdLst/>
            <a:ahLst/>
            <a:cxnLst/>
            <a:rect l="l" t="t" r="r" b="b"/>
            <a:pathLst>
              <a:path w="5315099" h="3243114">
                <a:moveTo>
                  <a:pt x="0" y="0"/>
                </a:moveTo>
                <a:lnTo>
                  <a:pt x="5315099" y="0"/>
                </a:lnTo>
                <a:lnTo>
                  <a:pt x="5315099" y="3243114"/>
                </a:lnTo>
                <a:lnTo>
                  <a:pt x="0" y="32431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" r="-69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41040" y="6019205"/>
            <a:ext cx="16405920" cy="3529756"/>
            <a:chOff x="0" y="0"/>
            <a:chExt cx="21874560" cy="47063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74607" cy="4706366"/>
            </a:xfrm>
            <a:custGeom>
              <a:avLst/>
              <a:gdLst/>
              <a:ahLst/>
              <a:cxnLst/>
              <a:rect l="l" t="t" r="r" b="b"/>
              <a:pathLst>
                <a:path w="21874607" h="4706366">
                  <a:moveTo>
                    <a:pt x="0" y="60452"/>
                  </a:moveTo>
                  <a:cubicBezTo>
                    <a:pt x="0" y="27051"/>
                    <a:pt x="27178" y="0"/>
                    <a:pt x="60579" y="0"/>
                  </a:cubicBezTo>
                  <a:lnTo>
                    <a:pt x="21814028" y="0"/>
                  </a:lnTo>
                  <a:lnTo>
                    <a:pt x="21814028" y="6350"/>
                  </a:lnTo>
                  <a:lnTo>
                    <a:pt x="21814028" y="0"/>
                  </a:lnTo>
                  <a:cubicBezTo>
                    <a:pt x="21847429" y="0"/>
                    <a:pt x="21874607" y="27051"/>
                    <a:pt x="21874607" y="60452"/>
                  </a:cubicBezTo>
                  <a:lnTo>
                    <a:pt x="21868257" y="60452"/>
                  </a:lnTo>
                  <a:lnTo>
                    <a:pt x="21874607" y="60452"/>
                  </a:lnTo>
                  <a:lnTo>
                    <a:pt x="21874607" y="4645914"/>
                  </a:lnTo>
                  <a:lnTo>
                    <a:pt x="21868257" y="4645914"/>
                  </a:lnTo>
                  <a:lnTo>
                    <a:pt x="21874607" y="4645914"/>
                  </a:lnTo>
                  <a:cubicBezTo>
                    <a:pt x="21874607" y="4679315"/>
                    <a:pt x="21847429" y="4706366"/>
                    <a:pt x="21814028" y="4706366"/>
                  </a:cubicBezTo>
                  <a:lnTo>
                    <a:pt x="21814028" y="4700016"/>
                  </a:lnTo>
                  <a:lnTo>
                    <a:pt x="21814028" y="4706366"/>
                  </a:lnTo>
                  <a:lnTo>
                    <a:pt x="60579" y="4706366"/>
                  </a:lnTo>
                  <a:lnTo>
                    <a:pt x="60579" y="4700016"/>
                  </a:lnTo>
                  <a:lnTo>
                    <a:pt x="60579" y="4706366"/>
                  </a:lnTo>
                  <a:cubicBezTo>
                    <a:pt x="27178" y="4706366"/>
                    <a:pt x="0" y="4679315"/>
                    <a:pt x="0" y="4645914"/>
                  </a:cubicBezTo>
                  <a:lnTo>
                    <a:pt x="0" y="60452"/>
                  </a:lnTo>
                  <a:lnTo>
                    <a:pt x="6350" y="60452"/>
                  </a:lnTo>
                  <a:lnTo>
                    <a:pt x="0" y="60452"/>
                  </a:lnTo>
                  <a:moveTo>
                    <a:pt x="12700" y="60452"/>
                  </a:moveTo>
                  <a:lnTo>
                    <a:pt x="12700" y="4645914"/>
                  </a:lnTo>
                  <a:lnTo>
                    <a:pt x="6350" y="4645914"/>
                  </a:lnTo>
                  <a:lnTo>
                    <a:pt x="12700" y="4645914"/>
                  </a:lnTo>
                  <a:cubicBezTo>
                    <a:pt x="12700" y="4672203"/>
                    <a:pt x="34163" y="4693666"/>
                    <a:pt x="60579" y="4693666"/>
                  </a:cubicBezTo>
                  <a:lnTo>
                    <a:pt x="21814028" y="4693666"/>
                  </a:lnTo>
                  <a:cubicBezTo>
                    <a:pt x="21840444" y="4693666"/>
                    <a:pt x="21861907" y="4672330"/>
                    <a:pt x="21861907" y="4645914"/>
                  </a:cubicBezTo>
                  <a:lnTo>
                    <a:pt x="21861907" y="60452"/>
                  </a:lnTo>
                  <a:cubicBezTo>
                    <a:pt x="21861907" y="34163"/>
                    <a:pt x="21840444" y="12700"/>
                    <a:pt x="21814028" y="12700"/>
                  </a:cubicBezTo>
                  <a:lnTo>
                    <a:pt x="60579" y="12700"/>
                  </a:lnTo>
                  <a:lnTo>
                    <a:pt x="60579" y="6350"/>
                  </a:lnTo>
                  <a:lnTo>
                    <a:pt x="60579" y="12700"/>
                  </a:lnTo>
                  <a:cubicBezTo>
                    <a:pt x="34163" y="12700"/>
                    <a:pt x="12700" y="34036"/>
                    <a:pt x="12700" y="6045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55328" y="6033492"/>
            <a:ext cx="16377345" cy="849957"/>
            <a:chOff x="0" y="0"/>
            <a:chExt cx="21836460" cy="11332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36507" cy="1133221"/>
            </a:xfrm>
            <a:custGeom>
              <a:avLst/>
              <a:gdLst/>
              <a:ahLst/>
              <a:cxnLst/>
              <a:rect l="l" t="t" r="r" b="b"/>
              <a:pathLst>
                <a:path w="21836507" h="1133221">
                  <a:moveTo>
                    <a:pt x="0" y="0"/>
                  </a:moveTo>
                  <a:lnTo>
                    <a:pt x="21836507" y="0"/>
                  </a:lnTo>
                  <a:lnTo>
                    <a:pt x="21836507" y="1133221"/>
                  </a:lnTo>
                  <a:lnTo>
                    <a:pt x="0" y="11332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56010" y="6205091"/>
            <a:ext cx="4053929" cy="506760"/>
            <a:chOff x="0" y="0"/>
            <a:chExt cx="5405238" cy="675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05238" cy="675680"/>
            </a:xfrm>
            <a:custGeom>
              <a:avLst/>
              <a:gdLst/>
              <a:ahLst/>
              <a:cxnLst/>
              <a:rect l="l" t="t" r="r" b="b"/>
              <a:pathLst>
                <a:path w="5405238" h="675680">
                  <a:moveTo>
                    <a:pt x="0" y="0"/>
                  </a:moveTo>
                  <a:lnTo>
                    <a:pt x="5405238" y="0"/>
                  </a:lnTo>
                  <a:lnTo>
                    <a:pt x="5405238" y="675680"/>
                  </a:lnTo>
                  <a:lnTo>
                    <a:pt x="0" y="67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405238" cy="704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8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Tool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117854" y="6205091"/>
            <a:ext cx="4053929" cy="506760"/>
            <a:chOff x="0" y="0"/>
            <a:chExt cx="5405238" cy="6756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05238" cy="675680"/>
            </a:xfrm>
            <a:custGeom>
              <a:avLst/>
              <a:gdLst/>
              <a:ahLst/>
              <a:cxnLst/>
              <a:rect l="l" t="t" r="r" b="b"/>
              <a:pathLst>
                <a:path w="5405238" h="675680">
                  <a:moveTo>
                    <a:pt x="0" y="0"/>
                  </a:moveTo>
                  <a:lnTo>
                    <a:pt x="5405238" y="0"/>
                  </a:lnTo>
                  <a:lnTo>
                    <a:pt x="5405238" y="675680"/>
                  </a:lnTo>
                  <a:lnTo>
                    <a:pt x="0" y="67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5405238" cy="704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8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Language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78804" y="6205091"/>
            <a:ext cx="4053929" cy="506760"/>
            <a:chOff x="0" y="0"/>
            <a:chExt cx="5405238" cy="6756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05238" cy="675680"/>
            </a:xfrm>
            <a:custGeom>
              <a:avLst/>
              <a:gdLst/>
              <a:ahLst/>
              <a:cxnLst/>
              <a:rect l="l" t="t" r="r" b="b"/>
              <a:pathLst>
                <a:path w="5405238" h="675680">
                  <a:moveTo>
                    <a:pt x="0" y="0"/>
                  </a:moveTo>
                  <a:lnTo>
                    <a:pt x="5405238" y="0"/>
                  </a:lnTo>
                  <a:lnTo>
                    <a:pt x="5405238" y="675680"/>
                  </a:lnTo>
                  <a:lnTo>
                    <a:pt x="0" y="67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5405238" cy="704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8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Best for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5328" y="6883450"/>
            <a:ext cx="16377345" cy="883741"/>
            <a:chOff x="0" y="0"/>
            <a:chExt cx="21836460" cy="117832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836507" cy="1178306"/>
            </a:xfrm>
            <a:custGeom>
              <a:avLst/>
              <a:gdLst/>
              <a:ahLst/>
              <a:cxnLst/>
              <a:rect l="l" t="t" r="r" b="b"/>
              <a:pathLst>
                <a:path w="21836507" h="1178306">
                  <a:moveTo>
                    <a:pt x="0" y="0"/>
                  </a:moveTo>
                  <a:lnTo>
                    <a:pt x="21836507" y="0"/>
                  </a:lnTo>
                  <a:lnTo>
                    <a:pt x="21836507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25451" y="7055049"/>
            <a:ext cx="4915197" cy="540544"/>
            <a:chOff x="0" y="0"/>
            <a:chExt cx="6553597" cy="7207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53597" cy="720725"/>
            </a:xfrm>
            <a:custGeom>
              <a:avLst/>
              <a:gdLst/>
              <a:ahLst/>
              <a:cxnLst/>
              <a:rect l="l" t="t" r="r" b="b"/>
              <a:pathLst>
                <a:path w="6553597" h="720725">
                  <a:moveTo>
                    <a:pt x="0" y="0"/>
                  </a:moveTo>
                  <a:lnTo>
                    <a:pt x="6553597" y="0"/>
                  </a:lnTo>
                  <a:lnTo>
                    <a:pt x="6553597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6553597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JMeter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90420" y="7055049"/>
            <a:ext cx="4908798" cy="540544"/>
            <a:chOff x="0" y="0"/>
            <a:chExt cx="6545063" cy="7207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45063" cy="720725"/>
            </a:xfrm>
            <a:custGeom>
              <a:avLst/>
              <a:gdLst/>
              <a:ahLst/>
              <a:cxnLst/>
              <a:rect l="l" t="t" r="r" b="b"/>
              <a:pathLst>
                <a:path w="6545063" h="720725">
                  <a:moveTo>
                    <a:pt x="0" y="0"/>
                  </a:moveTo>
                  <a:lnTo>
                    <a:pt x="6545063" y="0"/>
                  </a:lnTo>
                  <a:lnTo>
                    <a:pt x="6545063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6545063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Java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48989" y="7055049"/>
            <a:ext cx="4913560" cy="540544"/>
            <a:chOff x="0" y="0"/>
            <a:chExt cx="6551413" cy="7207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551413" cy="720725"/>
            </a:xfrm>
            <a:custGeom>
              <a:avLst/>
              <a:gdLst/>
              <a:ahLst/>
              <a:cxnLst/>
              <a:rect l="l" t="t" r="r" b="b"/>
              <a:pathLst>
                <a:path w="6551413" h="720725">
                  <a:moveTo>
                    <a:pt x="0" y="0"/>
                  </a:moveTo>
                  <a:lnTo>
                    <a:pt x="6551413" y="0"/>
                  </a:lnTo>
                  <a:lnTo>
                    <a:pt x="6551413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6551413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GUI-based &amp; API testing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5328" y="7767191"/>
            <a:ext cx="16377345" cy="883741"/>
            <a:chOff x="0" y="0"/>
            <a:chExt cx="21836460" cy="117832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836507" cy="1178306"/>
            </a:xfrm>
            <a:custGeom>
              <a:avLst/>
              <a:gdLst/>
              <a:ahLst/>
              <a:cxnLst/>
              <a:rect l="l" t="t" r="r" b="b"/>
              <a:pathLst>
                <a:path w="21836507" h="1178306">
                  <a:moveTo>
                    <a:pt x="0" y="0"/>
                  </a:moveTo>
                  <a:lnTo>
                    <a:pt x="21836507" y="0"/>
                  </a:lnTo>
                  <a:lnTo>
                    <a:pt x="21836507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25451" y="7938790"/>
            <a:ext cx="4915197" cy="540544"/>
            <a:chOff x="0" y="0"/>
            <a:chExt cx="6553597" cy="7207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53597" cy="720725"/>
            </a:xfrm>
            <a:custGeom>
              <a:avLst/>
              <a:gdLst/>
              <a:ahLst/>
              <a:cxnLst/>
              <a:rect l="l" t="t" r="r" b="b"/>
              <a:pathLst>
                <a:path w="6553597" h="720725">
                  <a:moveTo>
                    <a:pt x="0" y="0"/>
                  </a:moveTo>
                  <a:lnTo>
                    <a:pt x="6553597" y="0"/>
                  </a:lnTo>
                  <a:lnTo>
                    <a:pt x="6553597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6553597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Gatling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90420" y="7938790"/>
            <a:ext cx="4908798" cy="540544"/>
            <a:chOff x="0" y="0"/>
            <a:chExt cx="6545063" cy="72072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45063" cy="720725"/>
            </a:xfrm>
            <a:custGeom>
              <a:avLst/>
              <a:gdLst/>
              <a:ahLst/>
              <a:cxnLst/>
              <a:rect l="l" t="t" r="r" b="b"/>
              <a:pathLst>
                <a:path w="6545063" h="720725">
                  <a:moveTo>
                    <a:pt x="0" y="0"/>
                  </a:moveTo>
                  <a:lnTo>
                    <a:pt x="6545063" y="0"/>
                  </a:lnTo>
                  <a:lnTo>
                    <a:pt x="6545063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6545063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Scala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48989" y="7938790"/>
            <a:ext cx="4913560" cy="540544"/>
            <a:chOff x="0" y="0"/>
            <a:chExt cx="6551413" cy="72072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551413" cy="720725"/>
            </a:xfrm>
            <a:custGeom>
              <a:avLst/>
              <a:gdLst/>
              <a:ahLst/>
              <a:cxnLst/>
              <a:rect l="l" t="t" r="r" b="b"/>
              <a:pathLst>
                <a:path w="6551413" h="720725">
                  <a:moveTo>
                    <a:pt x="0" y="0"/>
                  </a:moveTo>
                  <a:lnTo>
                    <a:pt x="6551413" y="0"/>
                  </a:lnTo>
                  <a:lnTo>
                    <a:pt x="6551413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04775"/>
              <a:ext cx="6551413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API &amp; backend testing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5328" y="8650932"/>
            <a:ext cx="16377345" cy="883741"/>
            <a:chOff x="0" y="0"/>
            <a:chExt cx="21836460" cy="117832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836507" cy="1178306"/>
            </a:xfrm>
            <a:custGeom>
              <a:avLst/>
              <a:gdLst/>
              <a:ahLst/>
              <a:cxnLst/>
              <a:rect l="l" t="t" r="r" b="b"/>
              <a:pathLst>
                <a:path w="21836507" h="1178306">
                  <a:moveTo>
                    <a:pt x="0" y="0"/>
                  </a:moveTo>
                  <a:lnTo>
                    <a:pt x="21836507" y="0"/>
                  </a:lnTo>
                  <a:lnTo>
                    <a:pt x="21836507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225451" y="8822531"/>
            <a:ext cx="4915197" cy="540544"/>
            <a:chOff x="0" y="0"/>
            <a:chExt cx="6553597" cy="7207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53597" cy="720725"/>
            </a:xfrm>
            <a:custGeom>
              <a:avLst/>
              <a:gdLst/>
              <a:ahLst/>
              <a:cxnLst/>
              <a:rect l="l" t="t" r="r" b="b"/>
              <a:pathLst>
                <a:path w="6553597" h="720725">
                  <a:moveTo>
                    <a:pt x="0" y="0"/>
                  </a:moveTo>
                  <a:lnTo>
                    <a:pt x="6553597" y="0"/>
                  </a:lnTo>
                  <a:lnTo>
                    <a:pt x="6553597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6553597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Locust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690420" y="8822531"/>
            <a:ext cx="4908798" cy="540544"/>
            <a:chOff x="0" y="0"/>
            <a:chExt cx="6545063" cy="72072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545063" cy="720725"/>
            </a:xfrm>
            <a:custGeom>
              <a:avLst/>
              <a:gdLst/>
              <a:ahLst/>
              <a:cxnLst/>
              <a:rect l="l" t="t" r="r" b="b"/>
              <a:pathLst>
                <a:path w="6545063" h="720725">
                  <a:moveTo>
                    <a:pt x="0" y="0"/>
                  </a:moveTo>
                  <a:lnTo>
                    <a:pt x="6545063" y="0"/>
                  </a:lnTo>
                  <a:lnTo>
                    <a:pt x="6545063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04775"/>
              <a:ext cx="6545063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Python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148989" y="8822531"/>
            <a:ext cx="4913560" cy="540544"/>
            <a:chOff x="0" y="0"/>
            <a:chExt cx="6551413" cy="72072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551413" cy="720725"/>
            </a:xfrm>
            <a:custGeom>
              <a:avLst/>
              <a:gdLst/>
              <a:ahLst/>
              <a:cxnLst/>
              <a:rect l="l" t="t" r="r" b="b"/>
              <a:pathLst>
                <a:path w="6551413" h="720725">
                  <a:moveTo>
                    <a:pt x="0" y="0"/>
                  </a:moveTo>
                  <a:lnTo>
                    <a:pt x="6551413" y="0"/>
                  </a:lnTo>
                  <a:lnTo>
                    <a:pt x="6551413" y="720725"/>
                  </a:lnTo>
                  <a:lnTo>
                    <a:pt x="0" y="72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04775"/>
              <a:ext cx="6551413" cy="825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50"/>
                </a:lnSpc>
              </a:pPr>
              <a:r>
                <a:rPr lang="en-US" sz="262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Distributed testing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06054" y="821624"/>
            <a:ext cx="10810280" cy="840395"/>
            <a:chOff x="0" y="0"/>
            <a:chExt cx="14413707" cy="11205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13706" cy="1120527"/>
            </a:xfrm>
            <a:custGeom>
              <a:avLst/>
              <a:gdLst/>
              <a:ahLst/>
              <a:cxnLst/>
              <a:rect l="l" t="t" r="r" b="b"/>
              <a:pathLst>
                <a:path w="14413706" h="1120527">
                  <a:moveTo>
                    <a:pt x="0" y="0"/>
                  </a:moveTo>
                  <a:lnTo>
                    <a:pt x="14413706" y="0"/>
                  </a:lnTo>
                  <a:lnTo>
                    <a:pt x="14413706" y="1120527"/>
                  </a:lnTo>
                  <a:lnTo>
                    <a:pt x="0" y="11205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13707" cy="1158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25"/>
                </a:lnSpc>
              </a:pPr>
              <a:r>
                <a:rPr lang="en-US" sz="4499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Deep Dive into Loading Testing tools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6054" y="2062311"/>
            <a:ext cx="5405140" cy="7342584"/>
            <a:chOff x="0" y="0"/>
            <a:chExt cx="7206853" cy="97901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06869" cy="9790176"/>
            </a:xfrm>
            <a:custGeom>
              <a:avLst/>
              <a:gdLst/>
              <a:ahLst/>
              <a:cxnLst/>
              <a:rect l="l" t="t" r="r" b="b"/>
              <a:pathLst>
                <a:path w="7206869" h="9790176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7160768" y="0"/>
                  </a:lnTo>
                  <a:cubicBezTo>
                    <a:pt x="7186168" y="0"/>
                    <a:pt x="7206869" y="20574"/>
                    <a:pt x="7206869" y="46101"/>
                  </a:cubicBezTo>
                  <a:lnTo>
                    <a:pt x="7206869" y="9744075"/>
                  </a:lnTo>
                  <a:cubicBezTo>
                    <a:pt x="7206869" y="9769475"/>
                    <a:pt x="7186295" y="9790176"/>
                    <a:pt x="7160768" y="9790176"/>
                  </a:cubicBezTo>
                  <a:lnTo>
                    <a:pt x="46101" y="9790176"/>
                  </a:lnTo>
                  <a:cubicBezTo>
                    <a:pt x="20701" y="9790176"/>
                    <a:pt x="0" y="9769602"/>
                    <a:pt x="0" y="974407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81026" y="2292549"/>
            <a:ext cx="3455045" cy="569959"/>
            <a:chOff x="0" y="0"/>
            <a:chExt cx="4606727" cy="7599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06727" cy="759945"/>
            </a:xfrm>
            <a:custGeom>
              <a:avLst/>
              <a:gdLst/>
              <a:ahLst/>
              <a:cxnLst/>
              <a:rect l="l" t="t" r="r" b="b"/>
              <a:pathLst>
                <a:path w="4606727" h="759945">
                  <a:moveTo>
                    <a:pt x="0" y="0"/>
                  </a:moveTo>
                  <a:lnTo>
                    <a:pt x="4606727" y="0"/>
                  </a:lnTo>
                  <a:lnTo>
                    <a:pt x="4606727" y="759945"/>
                  </a:lnTo>
                  <a:lnTo>
                    <a:pt x="0" y="759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606727" cy="788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7"/>
                </a:lnSpc>
              </a:pPr>
              <a:r>
                <a:rPr lang="en-US" sz="30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JMeter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6290" y="2862560"/>
            <a:ext cx="4944666" cy="1382316"/>
            <a:chOff x="0" y="0"/>
            <a:chExt cx="6592888" cy="18430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92888" cy="1843088"/>
            </a:xfrm>
            <a:custGeom>
              <a:avLst/>
              <a:gdLst/>
              <a:ahLst/>
              <a:cxnLst/>
              <a:rect l="l" t="t" r="r" b="b"/>
              <a:pathLst>
                <a:path w="6592888" h="1843088">
                  <a:moveTo>
                    <a:pt x="0" y="0"/>
                  </a:moveTo>
                  <a:lnTo>
                    <a:pt x="6592888" y="0"/>
                  </a:lnTo>
                  <a:lnTo>
                    <a:pt x="6592888" y="1843088"/>
                  </a:lnTo>
                  <a:lnTo>
                    <a:pt x="0" y="1843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592888" cy="1919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 free, GUI-based tool used to test the performance of web apps and APIs.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6290" y="4325391"/>
            <a:ext cx="4944666" cy="1382316"/>
            <a:chOff x="0" y="0"/>
            <a:chExt cx="6592888" cy="18430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92888" cy="1843088"/>
            </a:xfrm>
            <a:custGeom>
              <a:avLst/>
              <a:gdLst/>
              <a:ahLst/>
              <a:cxnLst/>
              <a:rect l="l" t="t" r="r" b="b"/>
              <a:pathLst>
                <a:path w="6592888" h="1843088">
                  <a:moveTo>
                    <a:pt x="0" y="0"/>
                  </a:moveTo>
                  <a:lnTo>
                    <a:pt x="6592888" y="0"/>
                  </a:lnTo>
                  <a:lnTo>
                    <a:pt x="6592888" y="1843088"/>
                  </a:lnTo>
                  <a:lnTo>
                    <a:pt x="0" y="1843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6592888" cy="1919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Supports many protocols like HTTP, FTP, JDBC, SMTP, and more.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36290" y="5788224"/>
            <a:ext cx="4944666" cy="921544"/>
            <a:chOff x="0" y="0"/>
            <a:chExt cx="6592888" cy="12287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Offers built-in graphs and reports for analyzing test results.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6290" y="6790284"/>
            <a:ext cx="4944666" cy="921544"/>
            <a:chOff x="0" y="0"/>
            <a:chExt cx="6592888" cy="12287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Can simulate thousands of users with distributed testing.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36290" y="7792342"/>
            <a:ext cx="4944666" cy="1382316"/>
            <a:chOff x="0" y="0"/>
            <a:chExt cx="6592888" cy="18430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92888" cy="1843088"/>
            </a:xfrm>
            <a:custGeom>
              <a:avLst/>
              <a:gdLst/>
              <a:ahLst/>
              <a:cxnLst/>
              <a:rect l="l" t="t" r="r" b="b"/>
              <a:pathLst>
                <a:path w="6592888" h="1843088">
                  <a:moveTo>
                    <a:pt x="0" y="0"/>
                  </a:moveTo>
                  <a:lnTo>
                    <a:pt x="6592888" y="0"/>
                  </a:lnTo>
                  <a:lnTo>
                    <a:pt x="6592888" y="1843088"/>
                  </a:lnTo>
                  <a:lnTo>
                    <a:pt x="0" y="1843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6592888" cy="1919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Easily fits into DevOps pipelines using tools like </a:t>
              </a:r>
              <a:r>
                <a:rPr lang="en-US" sz="221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Jenkins</a:t>
              </a: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or </a:t>
              </a:r>
              <a:r>
                <a:rPr lang="en-US" sz="221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GitHub Actions</a:t>
              </a: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41430" y="2062311"/>
            <a:ext cx="5405140" cy="7342584"/>
            <a:chOff x="0" y="0"/>
            <a:chExt cx="7206853" cy="97901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206869" cy="9790176"/>
            </a:xfrm>
            <a:custGeom>
              <a:avLst/>
              <a:gdLst/>
              <a:ahLst/>
              <a:cxnLst/>
              <a:rect l="l" t="t" r="r" b="b"/>
              <a:pathLst>
                <a:path w="7206869" h="9790176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7160768" y="0"/>
                  </a:lnTo>
                  <a:cubicBezTo>
                    <a:pt x="7186168" y="0"/>
                    <a:pt x="7206869" y="20574"/>
                    <a:pt x="7206869" y="46101"/>
                  </a:cubicBezTo>
                  <a:lnTo>
                    <a:pt x="7206869" y="9744075"/>
                  </a:lnTo>
                  <a:cubicBezTo>
                    <a:pt x="7206869" y="9769475"/>
                    <a:pt x="7186295" y="9790176"/>
                    <a:pt x="7160768" y="9790176"/>
                  </a:cubicBezTo>
                  <a:lnTo>
                    <a:pt x="46101" y="9790176"/>
                  </a:lnTo>
                  <a:cubicBezTo>
                    <a:pt x="20701" y="9790176"/>
                    <a:pt x="0" y="9769602"/>
                    <a:pt x="0" y="974407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416404" y="2292549"/>
            <a:ext cx="3455045" cy="569959"/>
            <a:chOff x="0" y="0"/>
            <a:chExt cx="4606727" cy="75994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606727" cy="759945"/>
            </a:xfrm>
            <a:custGeom>
              <a:avLst/>
              <a:gdLst/>
              <a:ahLst/>
              <a:cxnLst/>
              <a:rect l="l" t="t" r="r" b="b"/>
              <a:pathLst>
                <a:path w="4606727" h="759945">
                  <a:moveTo>
                    <a:pt x="0" y="0"/>
                  </a:moveTo>
                  <a:lnTo>
                    <a:pt x="4606727" y="0"/>
                  </a:lnTo>
                  <a:lnTo>
                    <a:pt x="4606727" y="759945"/>
                  </a:lnTo>
                  <a:lnTo>
                    <a:pt x="0" y="759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606727" cy="788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7"/>
                </a:lnSpc>
              </a:pPr>
              <a:r>
                <a:rPr lang="en-US" sz="30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Gatling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71667" y="2862560"/>
            <a:ext cx="4944666" cy="921544"/>
            <a:chOff x="0" y="0"/>
            <a:chExt cx="6592888" cy="12287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 powerful load testing tool built with </a:t>
              </a:r>
              <a:r>
                <a:rPr lang="en-US" sz="221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Scala</a:t>
              </a: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71667" y="3864620"/>
            <a:ext cx="4944666" cy="1382316"/>
            <a:chOff x="0" y="0"/>
            <a:chExt cx="6592888" cy="18430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592888" cy="1843088"/>
            </a:xfrm>
            <a:custGeom>
              <a:avLst/>
              <a:gdLst/>
              <a:ahLst/>
              <a:cxnLst/>
              <a:rect l="l" t="t" r="r" b="b"/>
              <a:pathLst>
                <a:path w="6592888" h="1843088">
                  <a:moveTo>
                    <a:pt x="0" y="0"/>
                  </a:moveTo>
                  <a:lnTo>
                    <a:pt x="6592888" y="0"/>
                  </a:lnTo>
                  <a:lnTo>
                    <a:pt x="6592888" y="1843088"/>
                  </a:lnTo>
                  <a:lnTo>
                    <a:pt x="0" y="1843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6592888" cy="1919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Uses an easy-to-read DSL (Domain-Specific Language) to write test scenarios.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71667" y="5327451"/>
            <a:ext cx="4944666" cy="921544"/>
            <a:chOff x="0" y="0"/>
            <a:chExt cx="6592888" cy="122872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Great for high-speed, high-volume API testing.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71667" y="6329511"/>
            <a:ext cx="4944666" cy="921544"/>
            <a:chOff x="0" y="0"/>
            <a:chExt cx="6592888" cy="122872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Provides real-time dashboards and detailed results.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71667" y="7331571"/>
            <a:ext cx="4944666" cy="921544"/>
            <a:chOff x="0" y="0"/>
            <a:chExt cx="6592888" cy="122872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Best suited for backend and API performance testing.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76807" y="2062311"/>
            <a:ext cx="5405140" cy="7342584"/>
            <a:chOff x="0" y="0"/>
            <a:chExt cx="7206853" cy="979011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206869" cy="9790176"/>
            </a:xfrm>
            <a:custGeom>
              <a:avLst/>
              <a:gdLst/>
              <a:ahLst/>
              <a:cxnLst/>
              <a:rect l="l" t="t" r="r" b="b"/>
              <a:pathLst>
                <a:path w="7206869" h="9790176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7160768" y="0"/>
                  </a:lnTo>
                  <a:cubicBezTo>
                    <a:pt x="7186168" y="0"/>
                    <a:pt x="7206869" y="20574"/>
                    <a:pt x="7206869" y="46101"/>
                  </a:cubicBezTo>
                  <a:lnTo>
                    <a:pt x="7206869" y="9744075"/>
                  </a:lnTo>
                  <a:cubicBezTo>
                    <a:pt x="7206869" y="9769475"/>
                    <a:pt x="7186295" y="9790176"/>
                    <a:pt x="7160768" y="9790176"/>
                  </a:cubicBezTo>
                  <a:lnTo>
                    <a:pt x="46101" y="9790176"/>
                  </a:lnTo>
                  <a:cubicBezTo>
                    <a:pt x="20701" y="9790176"/>
                    <a:pt x="0" y="9769602"/>
                    <a:pt x="0" y="974407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3051780" y="2292549"/>
            <a:ext cx="3455045" cy="569959"/>
            <a:chOff x="0" y="0"/>
            <a:chExt cx="4606727" cy="75994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606727" cy="759945"/>
            </a:xfrm>
            <a:custGeom>
              <a:avLst/>
              <a:gdLst/>
              <a:ahLst/>
              <a:cxnLst/>
              <a:rect l="l" t="t" r="r" b="b"/>
              <a:pathLst>
                <a:path w="4606727" h="759945">
                  <a:moveTo>
                    <a:pt x="0" y="0"/>
                  </a:moveTo>
                  <a:lnTo>
                    <a:pt x="4606727" y="0"/>
                  </a:lnTo>
                  <a:lnTo>
                    <a:pt x="4606727" y="759945"/>
                  </a:lnTo>
                  <a:lnTo>
                    <a:pt x="0" y="759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4606727" cy="788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7"/>
                </a:lnSpc>
              </a:pPr>
              <a:r>
                <a:rPr lang="en-US" sz="30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Locust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07044" y="2862560"/>
            <a:ext cx="4944666" cy="921544"/>
            <a:chOff x="0" y="0"/>
            <a:chExt cx="6592888" cy="122872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 lightweight, Python-based load testing tool.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307044" y="3864620"/>
            <a:ext cx="4944666" cy="921544"/>
            <a:chOff x="0" y="0"/>
            <a:chExt cx="6592888" cy="122872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Lets you define user actions using regular Python code.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307044" y="4866680"/>
            <a:ext cx="4944666" cy="921544"/>
            <a:chOff x="0" y="0"/>
            <a:chExt cx="6592888" cy="122872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592888" cy="1228725"/>
            </a:xfrm>
            <a:custGeom>
              <a:avLst/>
              <a:gdLst/>
              <a:ahLst/>
              <a:cxnLst/>
              <a:rect l="l" t="t" r="r" b="b"/>
              <a:pathLst>
                <a:path w="6592888" h="1228725">
                  <a:moveTo>
                    <a:pt x="0" y="0"/>
                  </a:moveTo>
                  <a:lnTo>
                    <a:pt x="6592888" y="0"/>
                  </a:lnTo>
                  <a:lnTo>
                    <a:pt x="6592888" y="1228725"/>
                  </a:lnTo>
                  <a:lnTo>
                    <a:pt x="0" y="1228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76200"/>
              <a:ext cx="6592888" cy="130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Supports distributed testing to simulate thousands of users.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307044" y="5868740"/>
            <a:ext cx="4944666" cy="1382316"/>
            <a:chOff x="0" y="0"/>
            <a:chExt cx="6592888" cy="18430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592888" cy="1843088"/>
            </a:xfrm>
            <a:custGeom>
              <a:avLst/>
              <a:gdLst/>
              <a:ahLst/>
              <a:cxnLst/>
              <a:rect l="l" t="t" r="r" b="b"/>
              <a:pathLst>
                <a:path w="6592888" h="1843088">
                  <a:moveTo>
                    <a:pt x="0" y="0"/>
                  </a:moveTo>
                  <a:lnTo>
                    <a:pt x="6592888" y="0"/>
                  </a:lnTo>
                  <a:lnTo>
                    <a:pt x="6592888" y="1843088"/>
                  </a:lnTo>
                  <a:lnTo>
                    <a:pt x="0" y="1843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76200"/>
              <a:ext cx="6592888" cy="1919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3672" lvl="1" indent="-166836" algn="l">
                <a:lnSpc>
                  <a:spcPts val="3509"/>
                </a:lnSpc>
                <a:buFont typeface="Arial"/>
                <a:buChar char="•"/>
              </a:pPr>
              <a:r>
                <a:rPr lang="en-US" sz="22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Can test multiple endpoints at the same time — very flexible for developers.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2159" y="473125"/>
            <a:ext cx="5530900" cy="722674"/>
            <a:chOff x="0" y="0"/>
            <a:chExt cx="7374533" cy="9635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74533" cy="963565"/>
            </a:xfrm>
            <a:custGeom>
              <a:avLst/>
              <a:gdLst/>
              <a:ahLst/>
              <a:cxnLst/>
              <a:rect l="l" t="t" r="r" b="b"/>
              <a:pathLst>
                <a:path w="7374533" h="963565">
                  <a:moveTo>
                    <a:pt x="0" y="0"/>
                  </a:moveTo>
                  <a:lnTo>
                    <a:pt x="7374533" y="0"/>
                  </a:lnTo>
                  <a:lnTo>
                    <a:pt x="7374533" y="963565"/>
                  </a:lnTo>
                  <a:lnTo>
                    <a:pt x="0" y="963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374533" cy="9921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07"/>
                </a:lnSpc>
              </a:pPr>
              <a:r>
                <a:rPr lang="en-US" sz="3874" b="1">
                  <a:solidFill>
                    <a:srgbClr val="04318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Hands-on Activity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2159" y="1268760"/>
            <a:ext cx="6343144" cy="494712"/>
            <a:chOff x="0" y="0"/>
            <a:chExt cx="8457526" cy="6596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57526" cy="659616"/>
            </a:xfrm>
            <a:custGeom>
              <a:avLst/>
              <a:gdLst/>
              <a:ahLst/>
              <a:cxnLst/>
              <a:rect l="l" t="t" r="r" b="b"/>
              <a:pathLst>
                <a:path w="8457526" h="659616">
                  <a:moveTo>
                    <a:pt x="0" y="0"/>
                  </a:moveTo>
                  <a:lnTo>
                    <a:pt x="8457526" y="0"/>
                  </a:lnTo>
                  <a:lnTo>
                    <a:pt x="8457526" y="659616"/>
                  </a:lnTo>
                  <a:lnTo>
                    <a:pt x="0" y="6596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8457526" cy="6786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99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Load Testing with JMeter: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2159" y="1849339"/>
            <a:ext cx="13872256" cy="437233"/>
            <a:chOff x="0" y="0"/>
            <a:chExt cx="18496342" cy="5829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496341" cy="582977"/>
            </a:xfrm>
            <a:custGeom>
              <a:avLst/>
              <a:gdLst/>
              <a:ahLst/>
              <a:cxnLst/>
              <a:rect l="l" t="t" r="r" b="b"/>
              <a:pathLst>
                <a:path w="18496341" h="582977">
                  <a:moveTo>
                    <a:pt x="0" y="0"/>
                  </a:moveTo>
                  <a:lnTo>
                    <a:pt x="18496341" y="0"/>
                  </a:lnTo>
                  <a:lnTo>
                    <a:pt x="18496341" y="582977"/>
                  </a:lnTo>
                  <a:lnTo>
                    <a:pt x="0" y="5829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8496342" cy="5925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18"/>
                </a:lnSpc>
              </a:pPr>
              <a:r>
                <a:rPr lang="en-US" sz="2387" b="1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Objective: </a:t>
              </a:r>
              <a:r>
                <a:rPr lang="en-US" sz="2387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Installing JMeter, setting up a test plan, and running your first load test.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34475" y="2376190"/>
            <a:ext cx="19050" cy="7438579"/>
            <a:chOff x="0" y="0"/>
            <a:chExt cx="25400" cy="99181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00" cy="9918065"/>
            </a:xfrm>
            <a:custGeom>
              <a:avLst/>
              <a:gdLst/>
              <a:ahLst/>
              <a:cxnLst/>
              <a:rect l="l" t="t" r="r" b="b"/>
              <a:pathLst>
                <a:path w="25400" h="991806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9905365"/>
                  </a:lnTo>
                  <a:cubicBezTo>
                    <a:pt x="25400" y="9912350"/>
                    <a:pt x="19685" y="9918065"/>
                    <a:pt x="12700" y="9918065"/>
                  </a:cubicBezTo>
                  <a:cubicBezTo>
                    <a:pt x="5715" y="9918065"/>
                    <a:pt x="0" y="9912350"/>
                    <a:pt x="0" y="9905365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453362" y="2753617"/>
            <a:ext cx="516136" cy="19050"/>
            <a:chOff x="0" y="0"/>
            <a:chExt cx="688182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950449" y="2569666"/>
            <a:ext cx="387103" cy="387103"/>
            <a:chOff x="0" y="0"/>
            <a:chExt cx="516137" cy="5161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014891" y="2601887"/>
            <a:ext cx="258067" cy="479211"/>
            <a:chOff x="0" y="0"/>
            <a:chExt cx="344090" cy="6389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37584" y="2548235"/>
            <a:ext cx="5246188" cy="424555"/>
            <a:chOff x="0" y="0"/>
            <a:chExt cx="6994918" cy="5660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94917" cy="566073"/>
            </a:xfrm>
            <a:custGeom>
              <a:avLst/>
              <a:gdLst/>
              <a:ahLst/>
              <a:cxnLst/>
              <a:rect l="l" t="t" r="r" b="b"/>
              <a:pathLst>
                <a:path w="6994917" h="566073">
                  <a:moveTo>
                    <a:pt x="0" y="0"/>
                  </a:moveTo>
                  <a:lnTo>
                    <a:pt x="6994917" y="0"/>
                  </a:lnTo>
                  <a:lnTo>
                    <a:pt x="6994917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994918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Install JMeter  &amp; verify the installation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2159" y="3018069"/>
            <a:ext cx="7681615" cy="402597"/>
            <a:chOff x="0" y="0"/>
            <a:chExt cx="10242153" cy="5367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96"/>
                </a:lnSpc>
              </a:pPr>
              <a:r>
                <a:rPr lang="en-US" sz="1912" u="sng" dirty="0">
                  <a:solidFill>
                    <a:srgbClr val="2150FE"/>
                  </a:solidFill>
                  <a:latin typeface="Heebo"/>
                  <a:ea typeface="Heebo"/>
                  <a:cs typeface="Heebo"/>
                  <a:sym typeface="Heebo"/>
                  <a:hlinkClick r:id="rId3" tooltip="https://docs.google.com/document/d/1HL3GERYznQvYrzInVeBmBwV1WOrATrbDN_k9cmQXv6I/edit?usp=sharing"/>
                </a:rPr>
                <a:t>Click here</a:t>
              </a:r>
              <a:endParaRPr lang="en-US" sz="1912" u="sng" dirty="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  <a:hlinkClick r:id="rId4" tooltip="https://docs.google.com/document/d/1HL3GERYznQvYrzInVeBmBwV1WOrATrbDN_k9cmQXv6I/edit?usp=sharing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18501" y="3613845"/>
            <a:ext cx="516136" cy="19050"/>
            <a:chOff x="0" y="0"/>
            <a:chExt cx="688182" cy="25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950449" y="3429892"/>
            <a:ext cx="387103" cy="387103"/>
            <a:chOff x="0" y="0"/>
            <a:chExt cx="516137" cy="51613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014891" y="3462114"/>
            <a:ext cx="258067" cy="479211"/>
            <a:chOff x="0" y="0"/>
            <a:chExt cx="344090" cy="6389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04226" y="3408461"/>
            <a:ext cx="4114606" cy="424555"/>
            <a:chOff x="0" y="0"/>
            <a:chExt cx="5486141" cy="56607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86141" cy="566073"/>
            </a:xfrm>
            <a:custGeom>
              <a:avLst/>
              <a:gdLst/>
              <a:ahLst/>
              <a:cxnLst/>
              <a:rect l="l" t="t" r="r" b="b"/>
              <a:pathLst>
                <a:path w="5486141" h="566073">
                  <a:moveTo>
                    <a:pt x="0" y="0"/>
                  </a:moveTo>
                  <a:lnTo>
                    <a:pt x="5486141" y="0"/>
                  </a:lnTo>
                  <a:lnTo>
                    <a:pt x="5486141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486141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Launch JMeter GUI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04226" y="3833722"/>
            <a:ext cx="7681615" cy="402597"/>
            <a:chOff x="0" y="0"/>
            <a:chExt cx="10242153" cy="53679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Command: </a:t>
              </a:r>
              <a:r>
                <a:rPr lang="en-US" sz="1912" b="1" i="1">
                  <a:solidFill>
                    <a:srgbClr val="1F7135"/>
                  </a:solidFill>
                  <a:latin typeface="Heebo Bold"/>
                  <a:ea typeface="Heebo Bold"/>
                  <a:cs typeface="Heebo Bold"/>
                  <a:sym typeface="Heebo Bold"/>
                </a:rPr>
                <a:t>jmeter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453362" y="4388049"/>
            <a:ext cx="516136" cy="19050"/>
            <a:chOff x="0" y="0"/>
            <a:chExt cx="688182" cy="25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8950449" y="4204098"/>
            <a:ext cx="387103" cy="387103"/>
            <a:chOff x="0" y="0"/>
            <a:chExt cx="516137" cy="51613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9014891" y="4236319"/>
            <a:ext cx="258067" cy="479211"/>
            <a:chOff x="0" y="0"/>
            <a:chExt cx="344090" cy="6389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33059" y="4182666"/>
            <a:ext cx="2150715" cy="424555"/>
            <a:chOff x="0" y="0"/>
            <a:chExt cx="2867620" cy="56607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867620" cy="566073"/>
            </a:xfrm>
            <a:custGeom>
              <a:avLst/>
              <a:gdLst/>
              <a:ahLst/>
              <a:cxnLst/>
              <a:rect l="l" t="t" r="r" b="b"/>
              <a:pathLst>
                <a:path w="2867620" h="566073">
                  <a:moveTo>
                    <a:pt x="0" y="0"/>
                  </a:moveTo>
                  <a:lnTo>
                    <a:pt x="2867620" y="0"/>
                  </a:lnTo>
                  <a:lnTo>
                    <a:pt x="2867620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2867620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Create a test plan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2159" y="4655624"/>
            <a:ext cx="7681615" cy="793122"/>
            <a:chOff x="0" y="0"/>
            <a:chExt cx="10242153" cy="105749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242153" cy="1057496"/>
            </a:xfrm>
            <a:custGeom>
              <a:avLst/>
              <a:gdLst/>
              <a:ahLst/>
              <a:cxnLst/>
              <a:rect l="l" t="t" r="r" b="b"/>
              <a:pathLst>
                <a:path w="10242153" h="1057496">
                  <a:moveTo>
                    <a:pt x="0" y="0"/>
                  </a:moveTo>
                  <a:lnTo>
                    <a:pt x="10242153" y="0"/>
                  </a:lnTo>
                  <a:lnTo>
                    <a:pt x="10242153" y="1057496"/>
                  </a:lnTo>
                  <a:lnTo>
                    <a:pt x="0" y="1057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0242153" cy="11241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96"/>
                </a:lnSpc>
              </a:pPr>
              <a:r>
                <a:rPr lang="en-US" sz="19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Right-click on Test Plan in the left panel.</a:t>
              </a:r>
            </a:p>
            <a:p>
              <a:pPr algn="r">
                <a:lnSpc>
                  <a:spcPts val="3096"/>
                </a:lnSpc>
              </a:pPr>
              <a:r>
                <a:rPr lang="en-US" sz="191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Select Add → Threads (Users) → Thread Group.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18501" y="5162252"/>
            <a:ext cx="516136" cy="19050"/>
            <a:chOff x="0" y="0"/>
            <a:chExt cx="688182" cy="25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8950449" y="4978301"/>
            <a:ext cx="387103" cy="387103"/>
            <a:chOff x="0" y="0"/>
            <a:chExt cx="516137" cy="51613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9014891" y="5010523"/>
            <a:ext cx="258067" cy="479211"/>
            <a:chOff x="0" y="0"/>
            <a:chExt cx="344090" cy="63894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004226" y="4956870"/>
            <a:ext cx="4297822" cy="424555"/>
            <a:chOff x="0" y="0"/>
            <a:chExt cx="5730429" cy="56607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730429" cy="566073"/>
            </a:xfrm>
            <a:custGeom>
              <a:avLst/>
              <a:gdLst/>
              <a:ahLst/>
              <a:cxnLst/>
              <a:rect l="l" t="t" r="r" b="b"/>
              <a:pathLst>
                <a:path w="5730429" h="566073">
                  <a:moveTo>
                    <a:pt x="0" y="0"/>
                  </a:moveTo>
                  <a:lnTo>
                    <a:pt x="5730429" y="0"/>
                  </a:lnTo>
                  <a:lnTo>
                    <a:pt x="5730429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5730429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Configure the test group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04226" y="5390844"/>
            <a:ext cx="7681615" cy="402597"/>
            <a:chOff x="0" y="0"/>
            <a:chExt cx="10242153" cy="53679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Number of Threads (Users): 100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004226" y="5769165"/>
            <a:ext cx="7681615" cy="402597"/>
            <a:chOff x="0" y="0"/>
            <a:chExt cx="10242153" cy="53679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Ramp-Up Period (seconds): 10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004226" y="6147487"/>
            <a:ext cx="7681615" cy="402597"/>
            <a:chOff x="0" y="0"/>
            <a:chExt cx="10242153" cy="5367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Loop Count: Uncheck "Infinite" if checked.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004226" y="6525807"/>
            <a:ext cx="7681615" cy="402597"/>
            <a:chOff x="0" y="0"/>
            <a:chExt cx="10242153" cy="53679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Save your test plan.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453362" y="6311354"/>
            <a:ext cx="516136" cy="19050"/>
            <a:chOff x="0" y="0"/>
            <a:chExt cx="688182" cy="254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950449" y="6127402"/>
            <a:ext cx="387103" cy="387103"/>
            <a:chOff x="0" y="0"/>
            <a:chExt cx="516137" cy="51613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9014891" y="6159624"/>
            <a:ext cx="258067" cy="479211"/>
            <a:chOff x="0" y="0"/>
            <a:chExt cx="344090" cy="63894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5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367609" y="6105971"/>
            <a:ext cx="4916165" cy="424555"/>
            <a:chOff x="0" y="0"/>
            <a:chExt cx="6554887" cy="566073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554887" cy="566073"/>
            </a:xfrm>
            <a:custGeom>
              <a:avLst/>
              <a:gdLst/>
              <a:ahLst/>
              <a:cxnLst/>
              <a:rect l="l" t="t" r="r" b="b"/>
              <a:pathLst>
                <a:path w="6554887" h="566073">
                  <a:moveTo>
                    <a:pt x="0" y="0"/>
                  </a:moveTo>
                  <a:lnTo>
                    <a:pt x="6554887" y="0"/>
                  </a:lnTo>
                  <a:lnTo>
                    <a:pt x="6554887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6554887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Add HTTP Request Sampler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29816" y="6532876"/>
            <a:ext cx="7681615" cy="402597"/>
            <a:chOff x="0" y="0"/>
            <a:chExt cx="10242153" cy="53679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Right-click on Thread Group.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2159" y="6882325"/>
            <a:ext cx="7681615" cy="402597"/>
            <a:chOff x="0" y="0"/>
            <a:chExt cx="10242153" cy="53679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12990" lvl="2" indent="-304330" algn="l">
                <a:lnSpc>
                  <a:spcPts val="3096"/>
                </a:lnSpc>
                <a:buFont typeface="Arial"/>
                <a:buChar char="⚬"/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Select Add → Sampler → HTTP Request.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28700" y="7217635"/>
            <a:ext cx="7681615" cy="402597"/>
            <a:chOff x="0" y="0"/>
            <a:chExt cx="10242153" cy="53679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In the right panel, configure: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02159" y="7552945"/>
            <a:ext cx="7681615" cy="402597"/>
            <a:chOff x="0" y="0"/>
            <a:chExt cx="10242153" cy="53679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9" name="TextBox 99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12990" lvl="2" indent="-304330" algn="l">
                <a:lnSpc>
                  <a:spcPts val="3096"/>
                </a:lnSpc>
                <a:buFont typeface="Arial"/>
                <a:buChar char="⚬"/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Server Name or IP: Enter the target website.​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02159" y="7888255"/>
            <a:ext cx="8108156" cy="402597"/>
            <a:chOff x="0" y="0"/>
            <a:chExt cx="10810875" cy="53679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0810875" cy="536796"/>
            </a:xfrm>
            <a:custGeom>
              <a:avLst/>
              <a:gdLst/>
              <a:ahLst/>
              <a:cxnLst/>
              <a:rect l="l" t="t" r="r" b="b"/>
              <a:pathLst>
                <a:path w="10810875" h="536796">
                  <a:moveTo>
                    <a:pt x="0" y="0"/>
                  </a:moveTo>
                  <a:lnTo>
                    <a:pt x="10810875" y="0"/>
                  </a:lnTo>
                  <a:lnTo>
                    <a:pt x="10810875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2" name="TextBox 102"/>
            <p:cNvSpPr txBox="1"/>
            <p:nvPr/>
          </p:nvSpPr>
          <p:spPr>
            <a:xfrm>
              <a:off x="0" y="-66675"/>
              <a:ext cx="10810875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12990" lvl="2" indent="-304330" algn="l">
                <a:lnSpc>
                  <a:spcPts val="3096"/>
                </a:lnSpc>
                <a:buFont typeface="Arial"/>
                <a:buChar char="⚬"/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Path: Enter the endpoint you want to test (e.g., /pwskills/courses).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318501" y="7563594"/>
            <a:ext cx="516136" cy="19050"/>
            <a:chOff x="0" y="0"/>
            <a:chExt cx="688182" cy="254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8950449" y="7379642"/>
            <a:ext cx="387103" cy="387103"/>
            <a:chOff x="0" y="0"/>
            <a:chExt cx="516137" cy="516137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9014891" y="7411864"/>
            <a:ext cx="258067" cy="479211"/>
            <a:chOff x="0" y="0"/>
            <a:chExt cx="344090" cy="63894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9" name="TextBox 109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6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004226" y="7358211"/>
            <a:ext cx="4470189" cy="424555"/>
            <a:chOff x="0" y="0"/>
            <a:chExt cx="5960252" cy="566073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5960252" cy="566073"/>
            </a:xfrm>
            <a:custGeom>
              <a:avLst/>
              <a:gdLst/>
              <a:ahLst/>
              <a:cxnLst/>
              <a:rect l="l" t="t" r="r" b="b"/>
              <a:pathLst>
                <a:path w="5960252" h="566073">
                  <a:moveTo>
                    <a:pt x="0" y="0"/>
                  </a:moveTo>
                  <a:lnTo>
                    <a:pt x="5960252" y="0"/>
                  </a:lnTo>
                  <a:lnTo>
                    <a:pt x="5960252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2" name="TextBox 112"/>
            <p:cNvSpPr txBox="1"/>
            <p:nvPr/>
          </p:nvSpPr>
          <p:spPr>
            <a:xfrm>
              <a:off x="0" y="-9525"/>
              <a:ext cx="5960252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Add Listeners for test results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0004226" y="7888255"/>
            <a:ext cx="7681615" cy="402597"/>
            <a:chOff x="0" y="0"/>
            <a:chExt cx="10242153" cy="53679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5" name="TextBox 115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8427" lvl="1" indent="-144213" algn="l">
                <a:lnSpc>
                  <a:spcPts val="3096"/>
                </a:lnSpc>
                <a:buAutoNum type="arabicPeriod"/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Right-click on Thread Group.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0004226" y="8223565"/>
            <a:ext cx="7681615" cy="793122"/>
            <a:chOff x="0" y="0"/>
            <a:chExt cx="10242153" cy="105749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242153" cy="1057496"/>
            </a:xfrm>
            <a:custGeom>
              <a:avLst/>
              <a:gdLst/>
              <a:ahLst/>
              <a:cxnLst/>
              <a:rect l="l" t="t" r="r" b="b"/>
              <a:pathLst>
                <a:path w="10242153" h="1057496">
                  <a:moveTo>
                    <a:pt x="0" y="0"/>
                  </a:moveTo>
                  <a:lnTo>
                    <a:pt x="10242153" y="0"/>
                  </a:lnTo>
                  <a:lnTo>
                    <a:pt x="10242153" y="1057496"/>
                  </a:lnTo>
                  <a:lnTo>
                    <a:pt x="0" y="1057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8" name="TextBox 118"/>
            <p:cNvSpPr txBox="1"/>
            <p:nvPr/>
          </p:nvSpPr>
          <p:spPr>
            <a:xfrm>
              <a:off x="0" y="-66675"/>
              <a:ext cx="10242153" cy="11241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12990" lvl="2" indent="-304330" algn="l">
                <a:lnSpc>
                  <a:spcPts val="3096"/>
                </a:lnSpc>
                <a:buFont typeface="Arial"/>
                <a:buChar char="⚬"/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Select Add → Listener → View Results Tree &amp; Summary Report.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8453362" y="8815834"/>
            <a:ext cx="516136" cy="19050"/>
            <a:chOff x="0" y="0"/>
            <a:chExt cx="688182" cy="254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688213" cy="25400"/>
            </a:xfrm>
            <a:custGeom>
              <a:avLst/>
              <a:gdLst/>
              <a:ahLst/>
              <a:cxnLst/>
              <a:rect l="l" t="t" r="r" b="b"/>
              <a:pathLst>
                <a:path w="688213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675513" y="0"/>
                  </a:lnTo>
                  <a:cubicBezTo>
                    <a:pt x="682498" y="0"/>
                    <a:pt x="688213" y="5715"/>
                    <a:pt x="688213" y="12700"/>
                  </a:cubicBezTo>
                  <a:cubicBezTo>
                    <a:pt x="688213" y="19685"/>
                    <a:pt x="682498" y="25400"/>
                    <a:pt x="67551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8950449" y="8631882"/>
            <a:ext cx="387103" cy="387103"/>
            <a:chOff x="0" y="0"/>
            <a:chExt cx="516137" cy="516137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16128" cy="516128"/>
            </a:xfrm>
            <a:custGeom>
              <a:avLst/>
              <a:gdLst/>
              <a:ahLst/>
              <a:cxnLst/>
              <a:rect l="l" t="t" r="r" b="b"/>
              <a:pathLst>
                <a:path w="516128" h="516128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481711" y="0"/>
                  </a:lnTo>
                  <a:cubicBezTo>
                    <a:pt x="500761" y="0"/>
                    <a:pt x="516128" y="15367"/>
                    <a:pt x="516128" y="34417"/>
                  </a:cubicBezTo>
                  <a:lnTo>
                    <a:pt x="516128" y="481711"/>
                  </a:lnTo>
                  <a:cubicBezTo>
                    <a:pt x="516128" y="500761"/>
                    <a:pt x="500761" y="516128"/>
                    <a:pt x="481711" y="516128"/>
                  </a:cubicBezTo>
                  <a:lnTo>
                    <a:pt x="34417" y="516128"/>
                  </a:lnTo>
                  <a:cubicBezTo>
                    <a:pt x="15367" y="516128"/>
                    <a:pt x="0" y="500761"/>
                    <a:pt x="0" y="48171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123" name="Group 123"/>
          <p:cNvGrpSpPr/>
          <p:nvPr/>
        </p:nvGrpSpPr>
        <p:grpSpPr>
          <a:xfrm>
            <a:off x="9014891" y="8664104"/>
            <a:ext cx="258067" cy="479211"/>
            <a:chOff x="0" y="0"/>
            <a:chExt cx="344090" cy="638948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344090" cy="638948"/>
            </a:xfrm>
            <a:custGeom>
              <a:avLst/>
              <a:gdLst/>
              <a:ahLst/>
              <a:cxnLst/>
              <a:rect l="l" t="t" r="r" b="b"/>
              <a:pathLst>
                <a:path w="344090" h="638948">
                  <a:moveTo>
                    <a:pt x="0" y="0"/>
                  </a:moveTo>
                  <a:lnTo>
                    <a:pt x="344090" y="0"/>
                  </a:lnTo>
                  <a:lnTo>
                    <a:pt x="344090" y="638948"/>
                  </a:lnTo>
                  <a:lnTo>
                    <a:pt x="0" y="638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5" name="TextBox 125"/>
            <p:cNvSpPr txBox="1"/>
            <p:nvPr/>
          </p:nvSpPr>
          <p:spPr>
            <a:xfrm>
              <a:off x="0" y="47625"/>
              <a:ext cx="344090" cy="591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9"/>
                </a:lnSpc>
              </a:pPr>
              <a:r>
                <a:rPr lang="en-US" sz="2599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7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5384910" y="8610451"/>
            <a:ext cx="2898864" cy="424555"/>
            <a:chOff x="0" y="0"/>
            <a:chExt cx="3865152" cy="566073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3865152" cy="566073"/>
            </a:xfrm>
            <a:custGeom>
              <a:avLst/>
              <a:gdLst/>
              <a:ahLst/>
              <a:cxnLst/>
              <a:rect l="l" t="t" r="r" b="b"/>
              <a:pathLst>
                <a:path w="3865152" h="566073">
                  <a:moveTo>
                    <a:pt x="0" y="0"/>
                  </a:moveTo>
                  <a:lnTo>
                    <a:pt x="3865152" y="0"/>
                  </a:lnTo>
                  <a:lnTo>
                    <a:pt x="3865152" y="566073"/>
                  </a:lnTo>
                  <a:lnTo>
                    <a:pt x="0" y="566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8" name="TextBox 128"/>
            <p:cNvSpPr txBox="1"/>
            <p:nvPr/>
          </p:nvSpPr>
          <p:spPr>
            <a:xfrm>
              <a:off x="0" y="-9525"/>
              <a:ext cx="3865152" cy="57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795"/>
                </a:lnSpc>
              </a:pPr>
              <a:r>
                <a:rPr lang="en-US" sz="2287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Start the load test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602159" y="9057002"/>
            <a:ext cx="7681615" cy="402597"/>
            <a:chOff x="0" y="0"/>
            <a:chExt cx="10242153" cy="536796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0242153" cy="536796"/>
            </a:xfrm>
            <a:custGeom>
              <a:avLst/>
              <a:gdLst/>
              <a:ahLst/>
              <a:cxnLst/>
              <a:rect l="l" t="t" r="r" b="b"/>
              <a:pathLst>
                <a:path w="10242153" h="536796">
                  <a:moveTo>
                    <a:pt x="0" y="0"/>
                  </a:moveTo>
                  <a:lnTo>
                    <a:pt x="10242153" y="0"/>
                  </a:lnTo>
                  <a:lnTo>
                    <a:pt x="10242153" y="536796"/>
                  </a:lnTo>
                  <a:lnTo>
                    <a:pt x="0" y="5367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1" name="TextBox 131"/>
            <p:cNvSpPr txBox="1"/>
            <p:nvPr/>
          </p:nvSpPr>
          <p:spPr>
            <a:xfrm>
              <a:off x="0" y="-66675"/>
              <a:ext cx="10242153" cy="603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96"/>
                </a:lnSpc>
              </a:pPr>
              <a:r>
                <a:rPr lang="en-US" sz="1912" i="1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Monitor the test tesults from results tree &amp; summary report.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366391"/>
            <a:ext cx="13363480" cy="1034059"/>
            <a:chOff x="0" y="0"/>
            <a:chExt cx="17817973" cy="13787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17973" cy="1378746"/>
            </a:xfrm>
            <a:custGeom>
              <a:avLst/>
              <a:gdLst/>
              <a:ahLst/>
              <a:cxnLst/>
              <a:rect l="l" t="t" r="r" b="b"/>
              <a:pathLst>
                <a:path w="17817973" h="1378746">
                  <a:moveTo>
                    <a:pt x="0" y="0"/>
                  </a:moveTo>
                  <a:lnTo>
                    <a:pt x="17817973" y="0"/>
                  </a:lnTo>
                  <a:lnTo>
                    <a:pt x="17817973" y="1378746"/>
                  </a:lnTo>
                  <a:lnTo>
                    <a:pt x="0" y="13787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817973" cy="14263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Stress Testing &amp; Soak Testing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819400"/>
            <a:ext cx="8010079" cy="6101209"/>
            <a:chOff x="0" y="0"/>
            <a:chExt cx="10680105" cy="81349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80065" cy="8134858"/>
            </a:xfrm>
            <a:custGeom>
              <a:avLst/>
              <a:gdLst/>
              <a:ahLst/>
              <a:cxnLst/>
              <a:rect l="l" t="t" r="r" b="b"/>
              <a:pathLst>
                <a:path w="10680065" h="813485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8078216"/>
                  </a:lnTo>
                  <a:cubicBezTo>
                    <a:pt x="10680065" y="8109585"/>
                    <a:pt x="10654665" y="8134858"/>
                    <a:pt x="10623423" y="8134858"/>
                  </a:cubicBezTo>
                  <a:lnTo>
                    <a:pt x="56642" y="8134858"/>
                  </a:lnTo>
                  <a:cubicBezTo>
                    <a:pt x="25273" y="8134858"/>
                    <a:pt x="0" y="8109458"/>
                    <a:pt x="0" y="807821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870821" y="3056473"/>
            <a:ext cx="4252912" cy="652920"/>
            <a:chOff x="0" y="0"/>
            <a:chExt cx="5670550" cy="870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Stress Testing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75755" y="3804643"/>
            <a:ext cx="7443044" cy="1133772"/>
            <a:chOff x="0" y="0"/>
            <a:chExt cx="9924058" cy="15116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Pushes the system beyond normal capacity to find its breaking point.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5755" y="5037534"/>
            <a:ext cx="7443044" cy="1133772"/>
            <a:chOff x="0" y="0"/>
            <a:chExt cx="9924058" cy="15116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Helps identify how and when the system fails under extreme conditions.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5755" y="6270426"/>
            <a:ext cx="7443044" cy="1133772"/>
            <a:chOff x="0" y="0"/>
            <a:chExt cx="9924058" cy="1511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Prepares systems to handle unexpected traffic spikes.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75755" y="7503319"/>
            <a:ext cx="7443044" cy="1133772"/>
            <a:chOff x="0" y="0"/>
            <a:chExt cx="9924058" cy="15116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Example</a:t>
              </a: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Simulating a jump from 100 to 5000 users in a short time.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85834" y="2819400"/>
            <a:ext cx="8010079" cy="6101209"/>
            <a:chOff x="0" y="0"/>
            <a:chExt cx="10680105" cy="813494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80065" cy="8134858"/>
            </a:xfrm>
            <a:custGeom>
              <a:avLst/>
              <a:gdLst/>
              <a:ahLst/>
              <a:cxnLst/>
              <a:rect l="l" t="t" r="r" b="b"/>
              <a:pathLst>
                <a:path w="10680065" h="813485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8078216"/>
                  </a:lnTo>
                  <a:cubicBezTo>
                    <a:pt x="10680065" y="8109585"/>
                    <a:pt x="10654665" y="8134858"/>
                    <a:pt x="10623423" y="8134858"/>
                  </a:cubicBezTo>
                  <a:lnTo>
                    <a:pt x="56642" y="8134858"/>
                  </a:lnTo>
                  <a:cubicBezTo>
                    <a:pt x="25273" y="8134858"/>
                    <a:pt x="0" y="8109458"/>
                    <a:pt x="0" y="807821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1164341" y="3102917"/>
            <a:ext cx="4252912" cy="652920"/>
            <a:chOff x="0" y="0"/>
            <a:chExt cx="5670550" cy="8705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70550" cy="870560"/>
            </a:xfrm>
            <a:custGeom>
              <a:avLst/>
              <a:gdLst/>
              <a:ahLst/>
              <a:cxnLst/>
              <a:rect l="l" t="t" r="r" b="b"/>
              <a:pathLst>
                <a:path w="5670550" h="870560">
                  <a:moveTo>
                    <a:pt x="0" y="0"/>
                  </a:moveTo>
                  <a:lnTo>
                    <a:pt x="5670550" y="0"/>
                  </a:lnTo>
                  <a:lnTo>
                    <a:pt x="5670550" y="870560"/>
                  </a:lnTo>
                  <a:lnTo>
                    <a:pt x="0" y="870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670550" cy="8896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4"/>
                </a:lnSpc>
              </a:pPr>
              <a:r>
                <a:rPr lang="en-US" sz="3512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Soak Testing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69351" y="3804643"/>
            <a:ext cx="7443044" cy="1133772"/>
            <a:chOff x="0" y="0"/>
            <a:chExt cx="9924058" cy="15116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Checks how the system performs under a steady load over a long duration.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69351" y="5037534"/>
            <a:ext cx="7443044" cy="1133772"/>
            <a:chOff x="0" y="0"/>
            <a:chExt cx="9924058" cy="1511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Useful for spotting issues like memory leaks or gradual slowdowns.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69351" y="6270426"/>
            <a:ext cx="7443044" cy="1133772"/>
            <a:chOff x="0" y="0"/>
            <a:chExt cx="9924058" cy="151169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Verifies system stability during continuous use.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69351" y="7503319"/>
            <a:ext cx="7443044" cy="1133772"/>
            <a:chOff x="0" y="0"/>
            <a:chExt cx="9924058" cy="151169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24059" cy="1511697"/>
            </a:xfrm>
            <a:custGeom>
              <a:avLst/>
              <a:gdLst/>
              <a:ahLst/>
              <a:cxnLst/>
              <a:rect l="l" t="t" r="r" b="b"/>
              <a:pathLst>
                <a:path w="9924059" h="1511697">
                  <a:moveTo>
                    <a:pt x="0" y="0"/>
                  </a:moveTo>
                  <a:lnTo>
                    <a:pt x="9924059" y="0"/>
                  </a:lnTo>
                  <a:lnTo>
                    <a:pt x="9924059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9924058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Example</a:t>
              </a:r>
              <a:r>
                <a:rPr lang="en-US" sz="23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Running 1000 users non-stop for 24 hours.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61120" y="983307"/>
            <a:ext cx="12433810" cy="722086"/>
            <a:chOff x="0" y="0"/>
            <a:chExt cx="16578413" cy="9627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78413" cy="962782"/>
            </a:xfrm>
            <a:custGeom>
              <a:avLst/>
              <a:gdLst/>
              <a:ahLst/>
              <a:cxnLst/>
              <a:rect l="l" t="t" r="r" b="b"/>
              <a:pathLst>
                <a:path w="16578413" h="962782">
                  <a:moveTo>
                    <a:pt x="0" y="0"/>
                  </a:moveTo>
                  <a:lnTo>
                    <a:pt x="16578413" y="0"/>
                  </a:lnTo>
                  <a:lnTo>
                    <a:pt x="16578413" y="962782"/>
                  </a:lnTo>
                  <a:lnTo>
                    <a:pt x="0" y="962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6578413" cy="991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12"/>
                </a:lnSpc>
              </a:pPr>
              <a:r>
                <a:rPr lang="en-US" sz="38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Differences : Load, Stress &amp; Soak Testing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1120" y="2090440"/>
            <a:ext cx="16565761" cy="533218"/>
            <a:chOff x="0" y="0"/>
            <a:chExt cx="22087682" cy="7109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7681" cy="710957"/>
            </a:xfrm>
            <a:custGeom>
              <a:avLst/>
              <a:gdLst/>
              <a:ahLst/>
              <a:cxnLst/>
              <a:rect l="l" t="t" r="r" b="b"/>
              <a:pathLst>
                <a:path w="22087681" h="710957">
                  <a:moveTo>
                    <a:pt x="0" y="0"/>
                  </a:moveTo>
                  <a:lnTo>
                    <a:pt x="22087681" y="0"/>
                  </a:lnTo>
                  <a:lnTo>
                    <a:pt x="22087681" y="710957"/>
                  </a:lnTo>
                  <a:lnTo>
                    <a:pt x="0" y="7109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087682" cy="806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2685" lvl="1" indent="-191343" algn="l">
                <a:lnSpc>
                  <a:spcPts val="4010"/>
                </a:lnSpc>
                <a:buFont typeface="Arial"/>
                <a:buChar char="•"/>
              </a:pPr>
              <a:r>
                <a:rPr lang="en-US" sz="253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The difference lies in how you configure the test, not the tool itself.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1595" y="3230889"/>
            <a:ext cx="16575286" cy="5684639"/>
            <a:chOff x="0" y="0"/>
            <a:chExt cx="22100382" cy="75795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00414" cy="7579487"/>
            </a:xfrm>
            <a:custGeom>
              <a:avLst/>
              <a:gdLst/>
              <a:ahLst/>
              <a:cxnLst/>
              <a:rect l="l" t="t" r="r" b="b"/>
              <a:pathLst>
                <a:path w="22100414" h="7579487">
                  <a:moveTo>
                    <a:pt x="0" y="55499"/>
                  </a:moveTo>
                  <a:cubicBezTo>
                    <a:pt x="0" y="24892"/>
                    <a:pt x="24892" y="0"/>
                    <a:pt x="55626" y="0"/>
                  </a:cubicBezTo>
                  <a:lnTo>
                    <a:pt x="22044788" y="0"/>
                  </a:lnTo>
                  <a:lnTo>
                    <a:pt x="22044788" y="6350"/>
                  </a:lnTo>
                  <a:lnTo>
                    <a:pt x="22044788" y="0"/>
                  </a:lnTo>
                  <a:cubicBezTo>
                    <a:pt x="22075522" y="0"/>
                    <a:pt x="22100414" y="24892"/>
                    <a:pt x="22100414" y="55499"/>
                  </a:cubicBezTo>
                  <a:lnTo>
                    <a:pt x="22094064" y="55499"/>
                  </a:lnTo>
                  <a:lnTo>
                    <a:pt x="22100414" y="55499"/>
                  </a:lnTo>
                  <a:lnTo>
                    <a:pt x="22100414" y="7523988"/>
                  </a:lnTo>
                  <a:lnTo>
                    <a:pt x="22094064" y="7523988"/>
                  </a:lnTo>
                  <a:lnTo>
                    <a:pt x="22100414" y="7523988"/>
                  </a:lnTo>
                  <a:cubicBezTo>
                    <a:pt x="22100414" y="7554722"/>
                    <a:pt x="22075522" y="7579487"/>
                    <a:pt x="22044788" y="7579487"/>
                  </a:cubicBezTo>
                  <a:lnTo>
                    <a:pt x="22044788" y="7573137"/>
                  </a:lnTo>
                  <a:lnTo>
                    <a:pt x="22044788" y="7579487"/>
                  </a:lnTo>
                  <a:lnTo>
                    <a:pt x="55626" y="7579487"/>
                  </a:lnTo>
                  <a:lnTo>
                    <a:pt x="55626" y="7573137"/>
                  </a:lnTo>
                  <a:lnTo>
                    <a:pt x="55626" y="7579487"/>
                  </a:lnTo>
                  <a:cubicBezTo>
                    <a:pt x="24892" y="7579487"/>
                    <a:pt x="0" y="7554595"/>
                    <a:pt x="0" y="7523988"/>
                  </a:cubicBezTo>
                  <a:lnTo>
                    <a:pt x="0" y="55499"/>
                  </a:lnTo>
                  <a:lnTo>
                    <a:pt x="6350" y="55499"/>
                  </a:lnTo>
                  <a:lnTo>
                    <a:pt x="0" y="55499"/>
                  </a:lnTo>
                  <a:moveTo>
                    <a:pt x="12700" y="55499"/>
                  </a:moveTo>
                  <a:lnTo>
                    <a:pt x="12700" y="7523988"/>
                  </a:lnTo>
                  <a:lnTo>
                    <a:pt x="6350" y="7523988"/>
                  </a:lnTo>
                  <a:lnTo>
                    <a:pt x="12700" y="7523988"/>
                  </a:lnTo>
                  <a:cubicBezTo>
                    <a:pt x="12700" y="7547610"/>
                    <a:pt x="31877" y="7566787"/>
                    <a:pt x="55626" y="7566787"/>
                  </a:cubicBezTo>
                  <a:lnTo>
                    <a:pt x="22044788" y="7566787"/>
                  </a:lnTo>
                  <a:cubicBezTo>
                    <a:pt x="22068537" y="7566787"/>
                    <a:pt x="22087714" y="7547610"/>
                    <a:pt x="22087714" y="7523988"/>
                  </a:cubicBezTo>
                  <a:lnTo>
                    <a:pt x="22087714" y="55499"/>
                  </a:lnTo>
                  <a:cubicBezTo>
                    <a:pt x="22087714" y="31877"/>
                    <a:pt x="22068537" y="12700"/>
                    <a:pt x="22044788" y="12700"/>
                  </a:cubicBezTo>
                  <a:lnTo>
                    <a:pt x="55626" y="12700"/>
                  </a:lnTo>
                  <a:lnTo>
                    <a:pt x="55626" y="6350"/>
                  </a:lnTo>
                  <a:lnTo>
                    <a:pt x="55626" y="12700"/>
                  </a:lnTo>
                  <a:cubicBezTo>
                    <a:pt x="31877" y="12700"/>
                    <a:pt x="12700" y="31877"/>
                    <a:pt x="12700" y="5549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65883" y="3245177"/>
            <a:ext cx="16546711" cy="775692"/>
            <a:chOff x="0" y="0"/>
            <a:chExt cx="22062282" cy="10342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62312" cy="1034288"/>
            </a:xfrm>
            <a:custGeom>
              <a:avLst/>
              <a:gdLst/>
              <a:ahLst/>
              <a:cxnLst/>
              <a:rect l="l" t="t" r="r" b="b"/>
              <a:pathLst>
                <a:path w="22062312" h="1034288">
                  <a:moveTo>
                    <a:pt x="0" y="0"/>
                  </a:moveTo>
                  <a:lnTo>
                    <a:pt x="22062312" y="0"/>
                  </a:lnTo>
                  <a:lnTo>
                    <a:pt x="22062312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12193" y="3402339"/>
            <a:ext cx="2683371" cy="555457"/>
            <a:chOff x="0" y="0"/>
            <a:chExt cx="3577828" cy="7406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77829" cy="740609"/>
            </a:xfrm>
            <a:custGeom>
              <a:avLst/>
              <a:gdLst/>
              <a:ahLst/>
              <a:cxnLst/>
              <a:rect l="l" t="t" r="r" b="b"/>
              <a:pathLst>
                <a:path w="3577829" h="740609">
                  <a:moveTo>
                    <a:pt x="0" y="0"/>
                  </a:moveTo>
                  <a:lnTo>
                    <a:pt x="3577829" y="0"/>
                  </a:lnTo>
                  <a:lnTo>
                    <a:pt x="3577829" y="740609"/>
                  </a:lnTo>
                  <a:lnTo>
                    <a:pt x="0" y="740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577828" cy="769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51"/>
                </a:lnSpc>
              </a:pPr>
              <a:r>
                <a:rPr lang="en-US" sz="29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Testing Type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31531" y="3402339"/>
            <a:ext cx="3690938" cy="555457"/>
            <a:chOff x="0" y="0"/>
            <a:chExt cx="4921250" cy="7406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21250" cy="740609"/>
            </a:xfrm>
            <a:custGeom>
              <a:avLst/>
              <a:gdLst/>
              <a:ahLst/>
              <a:cxnLst/>
              <a:rect l="l" t="t" r="r" b="b"/>
              <a:pathLst>
                <a:path w="4921250" h="740609">
                  <a:moveTo>
                    <a:pt x="0" y="0"/>
                  </a:moveTo>
                  <a:lnTo>
                    <a:pt x="4921250" y="0"/>
                  </a:lnTo>
                  <a:lnTo>
                    <a:pt x="4921250" y="740609"/>
                  </a:lnTo>
                  <a:lnTo>
                    <a:pt x="0" y="740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921250" cy="769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51"/>
                </a:lnSpc>
              </a:pPr>
              <a:r>
                <a:rPr lang="en-US" sz="29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Purpose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04126" y="3402339"/>
            <a:ext cx="3690937" cy="555457"/>
            <a:chOff x="0" y="0"/>
            <a:chExt cx="4921250" cy="7406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21250" cy="740609"/>
            </a:xfrm>
            <a:custGeom>
              <a:avLst/>
              <a:gdLst/>
              <a:ahLst/>
              <a:cxnLst/>
              <a:rect l="l" t="t" r="r" b="b"/>
              <a:pathLst>
                <a:path w="4921250" h="740609">
                  <a:moveTo>
                    <a:pt x="0" y="0"/>
                  </a:moveTo>
                  <a:lnTo>
                    <a:pt x="4921250" y="0"/>
                  </a:lnTo>
                  <a:lnTo>
                    <a:pt x="4921250" y="740609"/>
                  </a:lnTo>
                  <a:lnTo>
                    <a:pt x="0" y="740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921250" cy="769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51"/>
                </a:lnSpc>
              </a:pPr>
              <a:r>
                <a:rPr lang="en-US" sz="29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Key Focus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458974" y="3402339"/>
            <a:ext cx="3690938" cy="555457"/>
            <a:chOff x="0" y="0"/>
            <a:chExt cx="4921250" cy="7406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21250" cy="740609"/>
            </a:xfrm>
            <a:custGeom>
              <a:avLst/>
              <a:gdLst/>
              <a:ahLst/>
              <a:cxnLst/>
              <a:rect l="l" t="t" r="r" b="b"/>
              <a:pathLst>
                <a:path w="4921250" h="740609">
                  <a:moveTo>
                    <a:pt x="0" y="0"/>
                  </a:moveTo>
                  <a:lnTo>
                    <a:pt x="4921250" y="0"/>
                  </a:lnTo>
                  <a:lnTo>
                    <a:pt x="4921250" y="740609"/>
                  </a:lnTo>
                  <a:lnTo>
                    <a:pt x="0" y="740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4921250" cy="7691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51"/>
                </a:lnSpc>
              </a:pPr>
              <a:r>
                <a:rPr lang="en-US" sz="2975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Example Scenario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5883" y="4020869"/>
            <a:ext cx="16546711" cy="1790849"/>
            <a:chOff x="0" y="0"/>
            <a:chExt cx="22062282" cy="238779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062312" cy="2387854"/>
            </a:xfrm>
            <a:custGeom>
              <a:avLst/>
              <a:gdLst/>
              <a:ahLst/>
              <a:cxnLst/>
              <a:rect l="l" t="t" r="r" b="b"/>
              <a:pathLst>
                <a:path w="22062312" h="2387854">
                  <a:moveTo>
                    <a:pt x="0" y="0"/>
                  </a:moveTo>
                  <a:lnTo>
                    <a:pt x="22062312" y="0"/>
                  </a:lnTo>
                  <a:lnTo>
                    <a:pt x="22062312" y="2387854"/>
                  </a:lnTo>
                  <a:lnTo>
                    <a:pt x="0" y="2387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12193" y="4178032"/>
            <a:ext cx="2683371" cy="496987"/>
            <a:chOff x="0" y="0"/>
            <a:chExt cx="3577828" cy="6626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77829" cy="662649"/>
            </a:xfrm>
            <a:custGeom>
              <a:avLst/>
              <a:gdLst/>
              <a:ahLst/>
              <a:cxnLst/>
              <a:rect l="l" t="t" r="r" b="b"/>
              <a:pathLst>
                <a:path w="3577829" h="662649">
                  <a:moveTo>
                    <a:pt x="0" y="0"/>
                  </a:moveTo>
                  <a:lnTo>
                    <a:pt x="3577829" y="0"/>
                  </a:lnTo>
                  <a:lnTo>
                    <a:pt x="3577829" y="662649"/>
                  </a:lnTo>
                  <a:lnTo>
                    <a:pt x="0" y="6626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3577828" cy="767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Load Testing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97115" y="4178032"/>
            <a:ext cx="4359771" cy="984349"/>
            <a:chOff x="0" y="0"/>
            <a:chExt cx="5813028" cy="13124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13029" cy="1312465"/>
            </a:xfrm>
            <a:custGeom>
              <a:avLst/>
              <a:gdLst/>
              <a:ahLst/>
              <a:cxnLst/>
              <a:rect l="l" t="t" r="r" b="b"/>
              <a:pathLst>
                <a:path w="5813029" h="1312465">
                  <a:moveTo>
                    <a:pt x="0" y="0"/>
                  </a:moveTo>
                  <a:lnTo>
                    <a:pt x="5813029" y="0"/>
                  </a:lnTo>
                  <a:lnTo>
                    <a:pt x="5813029" y="1312465"/>
                  </a:lnTo>
                  <a:lnTo>
                    <a:pt x="0" y="1312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5813028" cy="1417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Measures </a:t>
              </a:r>
              <a:r>
                <a:rPr lang="en-US" sz="2375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performance under expected user load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58436" y="4178032"/>
            <a:ext cx="3782317" cy="1476524"/>
            <a:chOff x="0" y="0"/>
            <a:chExt cx="5043090" cy="196869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043090" cy="1968698"/>
            </a:xfrm>
            <a:custGeom>
              <a:avLst/>
              <a:gdLst/>
              <a:ahLst/>
              <a:cxnLst/>
              <a:rect l="l" t="t" r="r" b="b"/>
              <a:pathLst>
                <a:path w="5043090" h="1968698">
                  <a:moveTo>
                    <a:pt x="0" y="0"/>
                  </a:moveTo>
                  <a:lnTo>
                    <a:pt x="5043090" y="0"/>
                  </a:lnTo>
                  <a:lnTo>
                    <a:pt x="5043090" y="1968698"/>
                  </a:lnTo>
                  <a:lnTo>
                    <a:pt x="0" y="19686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5043090" cy="2073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Response times, throughput, resource utilization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442305" y="4178032"/>
            <a:ext cx="3724275" cy="1476524"/>
            <a:chOff x="0" y="0"/>
            <a:chExt cx="4965700" cy="196869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65700" cy="1968698"/>
            </a:xfrm>
            <a:custGeom>
              <a:avLst/>
              <a:gdLst/>
              <a:ahLst/>
              <a:cxnLst/>
              <a:rect l="l" t="t" r="r" b="b"/>
              <a:pathLst>
                <a:path w="4965700" h="1968698">
                  <a:moveTo>
                    <a:pt x="0" y="0"/>
                  </a:moveTo>
                  <a:lnTo>
                    <a:pt x="4965700" y="0"/>
                  </a:lnTo>
                  <a:lnTo>
                    <a:pt x="4965700" y="1968698"/>
                  </a:lnTo>
                  <a:lnTo>
                    <a:pt x="0" y="19686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4965700" cy="2073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Checking if an API can handle </a:t>
              </a:r>
              <a:r>
                <a:rPr lang="en-US" sz="2375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1,000 concurrent users</a:t>
              </a: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smoothly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65883" y="5811718"/>
            <a:ext cx="16546711" cy="1298674"/>
            <a:chOff x="0" y="0"/>
            <a:chExt cx="22062282" cy="173156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062312" cy="1731518"/>
            </a:xfrm>
            <a:custGeom>
              <a:avLst/>
              <a:gdLst/>
              <a:ahLst/>
              <a:cxnLst/>
              <a:rect l="l" t="t" r="r" b="b"/>
              <a:pathLst>
                <a:path w="22062312" h="1731518">
                  <a:moveTo>
                    <a:pt x="0" y="0"/>
                  </a:moveTo>
                  <a:lnTo>
                    <a:pt x="22062312" y="0"/>
                  </a:lnTo>
                  <a:lnTo>
                    <a:pt x="22062312" y="1731518"/>
                  </a:lnTo>
                  <a:lnTo>
                    <a:pt x="0" y="17315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12193" y="5968881"/>
            <a:ext cx="2683371" cy="496987"/>
            <a:chOff x="0" y="0"/>
            <a:chExt cx="3577828" cy="66264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77829" cy="662649"/>
            </a:xfrm>
            <a:custGeom>
              <a:avLst/>
              <a:gdLst/>
              <a:ahLst/>
              <a:cxnLst/>
              <a:rect l="l" t="t" r="r" b="b"/>
              <a:pathLst>
                <a:path w="3577829" h="662649">
                  <a:moveTo>
                    <a:pt x="0" y="0"/>
                  </a:moveTo>
                  <a:lnTo>
                    <a:pt x="3577829" y="0"/>
                  </a:lnTo>
                  <a:lnTo>
                    <a:pt x="3577829" y="662649"/>
                  </a:lnTo>
                  <a:lnTo>
                    <a:pt x="0" y="6626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04775"/>
              <a:ext cx="3577828" cy="767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Stress Testing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297115" y="5968881"/>
            <a:ext cx="4359771" cy="984349"/>
            <a:chOff x="0" y="0"/>
            <a:chExt cx="5813028" cy="131246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13029" cy="1312465"/>
            </a:xfrm>
            <a:custGeom>
              <a:avLst/>
              <a:gdLst/>
              <a:ahLst/>
              <a:cxnLst/>
              <a:rect l="l" t="t" r="r" b="b"/>
              <a:pathLst>
                <a:path w="5813029" h="1312465">
                  <a:moveTo>
                    <a:pt x="0" y="0"/>
                  </a:moveTo>
                  <a:lnTo>
                    <a:pt x="5813029" y="0"/>
                  </a:lnTo>
                  <a:lnTo>
                    <a:pt x="5813029" y="1312465"/>
                  </a:lnTo>
                  <a:lnTo>
                    <a:pt x="0" y="1312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104775"/>
              <a:ext cx="5813028" cy="1417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Tests system </a:t>
              </a:r>
              <a:r>
                <a:rPr lang="en-US" sz="2375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beyond its limits</a:t>
              </a: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to find breaking points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58436" y="5968881"/>
            <a:ext cx="3782317" cy="984349"/>
            <a:chOff x="0" y="0"/>
            <a:chExt cx="5043090" cy="131246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043090" cy="1312465"/>
            </a:xfrm>
            <a:custGeom>
              <a:avLst/>
              <a:gdLst/>
              <a:ahLst/>
              <a:cxnLst/>
              <a:rect l="l" t="t" r="r" b="b"/>
              <a:pathLst>
                <a:path w="5043090" h="1312465">
                  <a:moveTo>
                    <a:pt x="0" y="0"/>
                  </a:moveTo>
                  <a:lnTo>
                    <a:pt x="5043090" y="0"/>
                  </a:lnTo>
                  <a:lnTo>
                    <a:pt x="5043090" y="1312465"/>
                  </a:lnTo>
                  <a:lnTo>
                    <a:pt x="0" y="1312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5043090" cy="1417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Failure thresholds, crash behavior, recovery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442305" y="5968881"/>
            <a:ext cx="3724275" cy="984349"/>
            <a:chOff x="0" y="0"/>
            <a:chExt cx="4965700" cy="131246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965700" cy="1312465"/>
            </a:xfrm>
            <a:custGeom>
              <a:avLst/>
              <a:gdLst/>
              <a:ahLst/>
              <a:cxnLst/>
              <a:rect l="l" t="t" r="r" b="b"/>
              <a:pathLst>
                <a:path w="4965700" h="1312465">
                  <a:moveTo>
                    <a:pt x="0" y="0"/>
                  </a:moveTo>
                  <a:lnTo>
                    <a:pt x="4965700" y="0"/>
                  </a:lnTo>
                  <a:lnTo>
                    <a:pt x="4965700" y="1312465"/>
                  </a:lnTo>
                  <a:lnTo>
                    <a:pt x="0" y="1312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104775"/>
              <a:ext cx="4965700" cy="1417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Gradually increasing traffic </a:t>
              </a:r>
              <a:r>
                <a:rPr lang="en-US" sz="2375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until the server crashes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65883" y="7110392"/>
            <a:ext cx="16546711" cy="1790849"/>
            <a:chOff x="0" y="0"/>
            <a:chExt cx="22062282" cy="238779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2062312" cy="2387854"/>
            </a:xfrm>
            <a:custGeom>
              <a:avLst/>
              <a:gdLst/>
              <a:ahLst/>
              <a:cxnLst/>
              <a:rect l="l" t="t" r="r" b="b"/>
              <a:pathLst>
                <a:path w="22062312" h="2387854">
                  <a:moveTo>
                    <a:pt x="0" y="0"/>
                  </a:moveTo>
                  <a:lnTo>
                    <a:pt x="22062312" y="0"/>
                  </a:lnTo>
                  <a:lnTo>
                    <a:pt x="22062312" y="2387854"/>
                  </a:lnTo>
                  <a:lnTo>
                    <a:pt x="0" y="23878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112193" y="7267554"/>
            <a:ext cx="2683371" cy="496987"/>
            <a:chOff x="0" y="0"/>
            <a:chExt cx="3577828" cy="66264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577829" cy="662649"/>
            </a:xfrm>
            <a:custGeom>
              <a:avLst/>
              <a:gdLst/>
              <a:ahLst/>
              <a:cxnLst/>
              <a:rect l="l" t="t" r="r" b="b"/>
              <a:pathLst>
                <a:path w="3577829" h="662649">
                  <a:moveTo>
                    <a:pt x="0" y="0"/>
                  </a:moveTo>
                  <a:lnTo>
                    <a:pt x="3577829" y="0"/>
                  </a:lnTo>
                  <a:lnTo>
                    <a:pt x="3577829" y="662649"/>
                  </a:lnTo>
                  <a:lnTo>
                    <a:pt x="0" y="6626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04775"/>
              <a:ext cx="3577828" cy="767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Soaking Testing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297115" y="7267554"/>
            <a:ext cx="4359771" cy="984349"/>
            <a:chOff x="0" y="0"/>
            <a:chExt cx="5813028" cy="131246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13029" cy="1312465"/>
            </a:xfrm>
            <a:custGeom>
              <a:avLst/>
              <a:gdLst/>
              <a:ahLst/>
              <a:cxnLst/>
              <a:rect l="l" t="t" r="r" b="b"/>
              <a:pathLst>
                <a:path w="5813029" h="1312465">
                  <a:moveTo>
                    <a:pt x="0" y="0"/>
                  </a:moveTo>
                  <a:lnTo>
                    <a:pt x="5813029" y="0"/>
                  </a:lnTo>
                  <a:lnTo>
                    <a:pt x="5813029" y="1312465"/>
                  </a:lnTo>
                  <a:lnTo>
                    <a:pt x="0" y="1312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04775"/>
              <a:ext cx="5813028" cy="1417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Checks </a:t>
              </a:r>
              <a:r>
                <a:rPr lang="en-US" sz="2375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system stability over an extended period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158436" y="7267554"/>
            <a:ext cx="3782317" cy="1476524"/>
            <a:chOff x="0" y="0"/>
            <a:chExt cx="5043090" cy="196869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043090" cy="1968698"/>
            </a:xfrm>
            <a:custGeom>
              <a:avLst/>
              <a:gdLst/>
              <a:ahLst/>
              <a:cxnLst/>
              <a:rect l="l" t="t" r="r" b="b"/>
              <a:pathLst>
                <a:path w="5043090" h="1968698">
                  <a:moveTo>
                    <a:pt x="0" y="0"/>
                  </a:moveTo>
                  <a:lnTo>
                    <a:pt x="5043090" y="0"/>
                  </a:lnTo>
                  <a:lnTo>
                    <a:pt x="5043090" y="1968698"/>
                  </a:lnTo>
                  <a:lnTo>
                    <a:pt x="0" y="19686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04775"/>
              <a:ext cx="5043090" cy="2073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Memory leaks, performance degradation, resource exhaustion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442305" y="7267554"/>
            <a:ext cx="3724275" cy="1476524"/>
            <a:chOff x="0" y="0"/>
            <a:chExt cx="4965700" cy="196869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965700" cy="1968698"/>
            </a:xfrm>
            <a:custGeom>
              <a:avLst/>
              <a:gdLst/>
              <a:ahLst/>
              <a:cxnLst/>
              <a:rect l="l" t="t" r="r" b="b"/>
              <a:pathLst>
                <a:path w="4965700" h="1968698">
                  <a:moveTo>
                    <a:pt x="0" y="0"/>
                  </a:moveTo>
                  <a:lnTo>
                    <a:pt x="4965700" y="0"/>
                  </a:lnTo>
                  <a:lnTo>
                    <a:pt x="4965700" y="1968698"/>
                  </a:lnTo>
                  <a:lnTo>
                    <a:pt x="0" y="19686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04775"/>
              <a:ext cx="4965700" cy="20734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75"/>
                </a:lnSpc>
              </a:pP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Running </a:t>
              </a:r>
              <a:r>
                <a:rPr lang="en-US" sz="2375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10,000 users for 24 hours</a:t>
              </a:r>
              <a:r>
                <a:rPr lang="en-US" sz="2375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to detect long-term failures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2326" y="849362"/>
            <a:ext cx="13527758" cy="782034"/>
            <a:chOff x="0" y="0"/>
            <a:chExt cx="18037011" cy="10427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7011" cy="1042713"/>
            </a:xfrm>
            <a:custGeom>
              <a:avLst/>
              <a:gdLst/>
              <a:ahLst/>
              <a:cxnLst/>
              <a:rect l="l" t="t" r="r" b="b"/>
              <a:pathLst>
                <a:path w="18037011" h="1042713">
                  <a:moveTo>
                    <a:pt x="0" y="0"/>
                  </a:moveTo>
                  <a:lnTo>
                    <a:pt x="18037011" y="0"/>
                  </a:lnTo>
                  <a:lnTo>
                    <a:pt x="18037011" y="1042713"/>
                  </a:lnTo>
                  <a:lnTo>
                    <a:pt x="0" y="1042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037011" cy="10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250"/>
                </a:lnSpc>
              </a:pPr>
              <a:r>
                <a:rPr lang="en-US" sz="4187" b="1">
                  <a:solidFill>
                    <a:srgbClr val="04318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Hands-on Activity : </a:t>
              </a:r>
              <a:r>
                <a:rPr lang="en-US" sz="418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Stress Testing with Locust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326" y="1843385"/>
            <a:ext cx="16783348" cy="476031"/>
            <a:chOff x="0" y="0"/>
            <a:chExt cx="22377797" cy="6347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77797" cy="634708"/>
            </a:xfrm>
            <a:custGeom>
              <a:avLst/>
              <a:gdLst/>
              <a:ahLst/>
              <a:cxnLst/>
              <a:rect l="l" t="t" r="r" b="b"/>
              <a:pathLst>
                <a:path w="22377797" h="634708">
                  <a:moveTo>
                    <a:pt x="0" y="0"/>
                  </a:moveTo>
                  <a:lnTo>
                    <a:pt x="22377797" y="0"/>
                  </a:lnTo>
                  <a:lnTo>
                    <a:pt x="22377797" y="634708"/>
                  </a:lnTo>
                  <a:lnTo>
                    <a:pt x="0" y="634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377797" cy="7394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02"/>
                </a:lnSpc>
              </a:pPr>
              <a:r>
                <a:rPr lang="en-US" sz="2262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Objective:</a:t>
              </a:r>
              <a:r>
                <a:rPr lang="en-US" sz="2262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 Installing Locust, setting up locust test script, and simulating your test for monitoring.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29712" y="2514898"/>
            <a:ext cx="28575" cy="6922591"/>
            <a:chOff x="0" y="0"/>
            <a:chExt cx="38100" cy="92301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" cy="9230106"/>
            </a:xfrm>
            <a:custGeom>
              <a:avLst/>
              <a:gdLst/>
              <a:ahLst/>
              <a:cxnLst/>
              <a:rect l="l" t="t" r="r" b="b"/>
              <a:pathLst>
                <a:path w="38100" h="923010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11056"/>
                  </a:lnTo>
                  <a:cubicBezTo>
                    <a:pt x="38100" y="9221598"/>
                    <a:pt x="29591" y="9230106"/>
                    <a:pt x="19050" y="9230106"/>
                  </a:cubicBezTo>
                  <a:cubicBezTo>
                    <a:pt x="8509" y="9230106"/>
                    <a:pt x="0" y="9221598"/>
                    <a:pt x="0" y="9211056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285931" y="2984004"/>
            <a:ext cx="644873" cy="28575"/>
            <a:chOff x="0" y="0"/>
            <a:chExt cx="859830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9790" cy="38100"/>
            </a:xfrm>
            <a:custGeom>
              <a:avLst/>
              <a:gdLst/>
              <a:ahLst/>
              <a:cxnLst/>
              <a:rect l="l" t="t" r="r" b="b"/>
              <a:pathLst>
                <a:path w="859790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40740" y="0"/>
                  </a:lnTo>
                  <a:cubicBezTo>
                    <a:pt x="851281" y="0"/>
                    <a:pt x="859790" y="8509"/>
                    <a:pt x="859790" y="19050"/>
                  </a:cubicBezTo>
                  <a:cubicBezTo>
                    <a:pt x="859790" y="29591"/>
                    <a:pt x="851281" y="38100"/>
                    <a:pt x="8407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02229" y="2756595"/>
            <a:ext cx="483543" cy="483542"/>
            <a:chOff x="0" y="0"/>
            <a:chExt cx="644723" cy="6447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4906" cy="644906"/>
            </a:xfrm>
            <a:custGeom>
              <a:avLst/>
              <a:gdLst/>
              <a:ahLst/>
              <a:cxnLst/>
              <a:rect l="l" t="t" r="r" b="b"/>
              <a:pathLst>
                <a:path w="644906" h="644906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01853" y="0"/>
                  </a:lnTo>
                  <a:cubicBezTo>
                    <a:pt x="625602" y="0"/>
                    <a:pt x="644906" y="19304"/>
                    <a:pt x="644906" y="43053"/>
                  </a:cubicBezTo>
                  <a:lnTo>
                    <a:pt x="644906" y="601853"/>
                  </a:lnTo>
                  <a:cubicBezTo>
                    <a:pt x="644906" y="625602"/>
                    <a:pt x="625602" y="644906"/>
                    <a:pt x="601853" y="644906"/>
                  </a:cubicBezTo>
                  <a:lnTo>
                    <a:pt x="43053" y="644906"/>
                  </a:lnTo>
                  <a:cubicBezTo>
                    <a:pt x="19304" y="644779"/>
                    <a:pt x="0" y="625475"/>
                    <a:pt x="0" y="601726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982745" y="2796779"/>
            <a:ext cx="322361" cy="479212"/>
            <a:chOff x="0" y="0"/>
            <a:chExt cx="429815" cy="6389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9815" cy="638949"/>
            </a:xfrm>
            <a:custGeom>
              <a:avLst/>
              <a:gdLst/>
              <a:ahLst/>
              <a:cxnLst/>
              <a:rect l="l" t="t" r="r" b="b"/>
              <a:pathLst>
                <a:path w="429815" h="638949">
                  <a:moveTo>
                    <a:pt x="0" y="0"/>
                  </a:moveTo>
                  <a:lnTo>
                    <a:pt x="429815" y="0"/>
                  </a:lnTo>
                  <a:lnTo>
                    <a:pt x="429815" y="638949"/>
                  </a:lnTo>
                  <a:lnTo>
                    <a:pt x="0" y="63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429815" cy="600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600"/>
                </a:lnSpc>
              </a:pPr>
              <a:r>
                <a:rPr lang="en-US" sz="2600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86322" y="2729805"/>
            <a:ext cx="6282991" cy="482387"/>
            <a:chOff x="0" y="0"/>
            <a:chExt cx="8377321" cy="6431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77321" cy="643182"/>
            </a:xfrm>
            <a:custGeom>
              <a:avLst/>
              <a:gdLst/>
              <a:ahLst/>
              <a:cxnLst/>
              <a:rect l="l" t="t" r="r" b="b"/>
              <a:pathLst>
                <a:path w="8377321" h="643182">
                  <a:moveTo>
                    <a:pt x="0" y="0"/>
                  </a:moveTo>
                  <a:lnTo>
                    <a:pt x="8377321" y="0"/>
                  </a:lnTo>
                  <a:lnTo>
                    <a:pt x="8377321" y="643182"/>
                  </a:lnTo>
                  <a:lnTo>
                    <a:pt x="0" y="6431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377321" cy="6622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250"/>
                </a:lnSpc>
              </a:pPr>
              <a:r>
                <a:rPr lang="en-US" sz="26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Install Locust  &amp; verify the installation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2326" y="3261717"/>
            <a:ext cx="7316986" cy="399256"/>
            <a:chOff x="0" y="0"/>
            <a:chExt cx="9755982" cy="5323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55982" cy="532341"/>
            </a:xfrm>
            <a:custGeom>
              <a:avLst/>
              <a:gdLst/>
              <a:ahLst/>
              <a:cxnLst/>
              <a:rect l="l" t="t" r="r" b="b"/>
              <a:pathLst>
                <a:path w="9755982" h="532341">
                  <a:moveTo>
                    <a:pt x="0" y="0"/>
                  </a:moveTo>
                  <a:lnTo>
                    <a:pt x="9755982" y="0"/>
                  </a:lnTo>
                  <a:lnTo>
                    <a:pt x="9755982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9755982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06"/>
                </a:lnSpc>
              </a:pPr>
              <a:r>
                <a:rPr lang="en-US" sz="1887" u="sng" dirty="0">
                  <a:solidFill>
                    <a:srgbClr val="2150FE"/>
                  </a:solidFill>
                  <a:latin typeface="Heebo"/>
                  <a:ea typeface="Heebo"/>
                  <a:cs typeface="Heebo"/>
                  <a:sym typeface="Heebo"/>
                  <a:hlinkClick r:id="rId3" tooltip="https://docs.google.com/document/d/1HL3GERYznQvYrzInVeBmBwV1WOrATrbDN_k9cmQXv6I/edit?usp=sharing"/>
                </a:rPr>
                <a:t>Click here</a:t>
              </a:r>
              <a:endParaRPr lang="en-US" sz="1887" u="sng" dirty="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  <a:hlinkClick r:id="rId4" tooltip="https://docs.google.com/document/d/1HL3GERYznQvYrzInVeBmBwV1WOrATrbDN_k9cmQXv6I/edit?usp=sharing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57196" y="4058691"/>
            <a:ext cx="644873" cy="28575"/>
            <a:chOff x="0" y="0"/>
            <a:chExt cx="859830" cy="38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9790" cy="38100"/>
            </a:xfrm>
            <a:custGeom>
              <a:avLst/>
              <a:gdLst/>
              <a:ahLst/>
              <a:cxnLst/>
              <a:rect l="l" t="t" r="r" b="b"/>
              <a:pathLst>
                <a:path w="859790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40740" y="0"/>
                  </a:lnTo>
                  <a:cubicBezTo>
                    <a:pt x="851281" y="0"/>
                    <a:pt x="859790" y="8509"/>
                    <a:pt x="859790" y="19050"/>
                  </a:cubicBezTo>
                  <a:cubicBezTo>
                    <a:pt x="859790" y="29591"/>
                    <a:pt x="851281" y="38100"/>
                    <a:pt x="8407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02229" y="3831282"/>
            <a:ext cx="483543" cy="483542"/>
            <a:chOff x="0" y="0"/>
            <a:chExt cx="644723" cy="64472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4906" cy="644906"/>
            </a:xfrm>
            <a:custGeom>
              <a:avLst/>
              <a:gdLst/>
              <a:ahLst/>
              <a:cxnLst/>
              <a:rect l="l" t="t" r="r" b="b"/>
              <a:pathLst>
                <a:path w="644906" h="644906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01853" y="0"/>
                  </a:lnTo>
                  <a:cubicBezTo>
                    <a:pt x="625602" y="0"/>
                    <a:pt x="644906" y="19304"/>
                    <a:pt x="644906" y="43053"/>
                  </a:cubicBezTo>
                  <a:lnTo>
                    <a:pt x="644906" y="601853"/>
                  </a:lnTo>
                  <a:cubicBezTo>
                    <a:pt x="644906" y="625602"/>
                    <a:pt x="625602" y="644906"/>
                    <a:pt x="601853" y="644906"/>
                  </a:cubicBezTo>
                  <a:lnTo>
                    <a:pt x="43053" y="644906"/>
                  </a:lnTo>
                  <a:cubicBezTo>
                    <a:pt x="19304" y="644779"/>
                    <a:pt x="0" y="625475"/>
                    <a:pt x="0" y="601726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982745" y="3871466"/>
            <a:ext cx="322361" cy="479212"/>
            <a:chOff x="0" y="0"/>
            <a:chExt cx="429815" cy="63894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9815" cy="638949"/>
            </a:xfrm>
            <a:custGeom>
              <a:avLst/>
              <a:gdLst/>
              <a:ahLst/>
              <a:cxnLst/>
              <a:rect l="l" t="t" r="r" b="b"/>
              <a:pathLst>
                <a:path w="429815" h="638949">
                  <a:moveTo>
                    <a:pt x="0" y="0"/>
                  </a:moveTo>
                  <a:lnTo>
                    <a:pt x="429815" y="0"/>
                  </a:lnTo>
                  <a:lnTo>
                    <a:pt x="429815" y="638949"/>
                  </a:lnTo>
                  <a:lnTo>
                    <a:pt x="0" y="63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429815" cy="600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600"/>
                </a:lnSpc>
              </a:pPr>
              <a:r>
                <a:rPr lang="en-US" sz="2600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18687" y="3804494"/>
            <a:ext cx="6621619" cy="482387"/>
            <a:chOff x="0" y="0"/>
            <a:chExt cx="8828826" cy="64318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828825" cy="643182"/>
            </a:xfrm>
            <a:custGeom>
              <a:avLst/>
              <a:gdLst/>
              <a:ahLst/>
              <a:cxnLst/>
              <a:rect l="l" t="t" r="r" b="b"/>
              <a:pathLst>
                <a:path w="8828825" h="643182">
                  <a:moveTo>
                    <a:pt x="0" y="0"/>
                  </a:moveTo>
                  <a:lnTo>
                    <a:pt x="8828825" y="0"/>
                  </a:lnTo>
                  <a:lnTo>
                    <a:pt x="8828825" y="643182"/>
                  </a:lnTo>
                  <a:lnTo>
                    <a:pt x="0" y="6431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8828826" cy="6622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6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Create a Locust Test Script (locustfile.py)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18687" y="4336405"/>
            <a:ext cx="7316986" cy="419273"/>
            <a:chOff x="0" y="0"/>
            <a:chExt cx="9755982" cy="5590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755982" cy="559031"/>
            </a:xfrm>
            <a:custGeom>
              <a:avLst/>
              <a:gdLst/>
              <a:ahLst/>
              <a:cxnLst/>
              <a:rect l="l" t="t" r="r" b="b"/>
              <a:pathLst>
                <a:path w="9755982" h="559031">
                  <a:moveTo>
                    <a:pt x="0" y="0"/>
                  </a:moveTo>
                  <a:lnTo>
                    <a:pt x="9755982" y="0"/>
                  </a:lnTo>
                  <a:lnTo>
                    <a:pt x="9755982" y="559031"/>
                  </a:lnTo>
                  <a:lnTo>
                    <a:pt x="0" y="5590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9755982" cy="6352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65"/>
                </a:lnSpc>
              </a:pPr>
              <a:endParaRPr lang="en-US" sz="1987" u="sng" dirty="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  <a:hlinkClick r:id="rId4" tooltip="https://docs.google.com/document/d/1HL3GERYznQvYrzInVeBmBwV1WOrATrbDN_k9cmQXv6I/edit?usp=sharing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85931" y="5025926"/>
            <a:ext cx="644873" cy="28575"/>
            <a:chOff x="0" y="0"/>
            <a:chExt cx="859830" cy="381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59790" cy="38100"/>
            </a:xfrm>
            <a:custGeom>
              <a:avLst/>
              <a:gdLst/>
              <a:ahLst/>
              <a:cxnLst/>
              <a:rect l="l" t="t" r="r" b="b"/>
              <a:pathLst>
                <a:path w="859790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40740" y="0"/>
                  </a:lnTo>
                  <a:cubicBezTo>
                    <a:pt x="851281" y="0"/>
                    <a:pt x="859790" y="8509"/>
                    <a:pt x="859790" y="19050"/>
                  </a:cubicBezTo>
                  <a:cubicBezTo>
                    <a:pt x="859790" y="29591"/>
                    <a:pt x="851281" y="38100"/>
                    <a:pt x="8407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8902229" y="4798516"/>
            <a:ext cx="483543" cy="483543"/>
            <a:chOff x="0" y="0"/>
            <a:chExt cx="644723" cy="64472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4906" cy="644906"/>
            </a:xfrm>
            <a:custGeom>
              <a:avLst/>
              <a:gdLst/>
              <a:ahLst/>
              <a:cxnLst/>
              <a:rect l="l" t="t" r="r" b="b"/>
              <a:pathLst>
                <a:path w="644906" h="644906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01853" y="0"/>
                  </a:lnTo>
                  <a:cubicBezTo>
                    <a:pt x="625602" y="0"/>
                    <a:pt x="644906" y="19304"/>
                    <a:pt x="644906" y="43053"/>
                  </a:cubicBezTo>
                  <a:lnTo>
                    <a:pt x="644906" y="601853"/>
                  </a:lnTo>
                  <a:cubicBezTo>
                    <a:pt x="644906" y="625602"/>
                    <a:pt x="625602" y="644906"/>
                    <a:pt x="601853" y="644906"/>
                  </a:cubicBezTo>
                  <a:lnTo>
                    <a:pt x="43053" y="644906"/>
                  </a:lnTo>
                  <a:cubicBezTo>
                    <a:pt x="19304" y="644779"/>
                    <a:pt x="0" y="625475"/>
                    <a:pt x="0" y="601726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8982745" y="4838700"/>
            <a:ext cx="322361" cy="479212"/>
            <a:chOff x="0" y="0"/>
            <a:chExt cx="429815" cy="63894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9815" cy="638949"/>
            </a:xfrm>
            <a:custGeom>
              <a:avLst/>
              <a:gdLst/>
              <a:ahLst/>
              <a:cxnLst/>
              <a:rect l="l" t="t" r="r" b="b"/>
              <a:pathLst>
                <a:path w="429815" h="638949">
                  <a:moveTo>
                    <a:pt x="0" y="0"/>
                  </a:moveTo>
                  <a:lnTo>
                    <a:pt x="429815" y="0"/>
                  </a:lnTo>
                  <a:lnTo>
                    <a:pt x="429815" y="638949"/>
                  </a:lnTo>
                  <a:lnTo>
                    <a:pt x="0" y="63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38100"/>
              <a:ext cx="429815" cy="600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600"/>
                </a:lnSpc>
              </a:pPr>
              <a:r>
                <a:rPr lang="en-US" sz="2600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2326" y="5303639"/>
            <a:ext cx="7316986" cy="419273"/>
            <a:chOff x="0" y="0"/>
            <a:chExt cx="9755982" cy="55903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755982" cy="559031"/>
            </a:xfrm>
            <a:custGeom>
              <a:avLst/>
              <a:gdLst/>
              <a:ahLst/>
              <a:cxnLst/>
              <a:rect l="l" t="t" r="r" b="b"/>
              <a:pathLst>
                <a:path w="9755982" h="559031">
                  <a:moveTo>
                    <a:pt x="0" y="0"/>
                  </a:moveTo>
                  <a:lnTo>
                    <a:pt x="9755982" y="0"/>
                  </a:lnTo>
                  <a:lnTo>
                    <a:pt x="9755982" y="559031"/>
                  </a:lnTo>
                  <a:lnTo>
                    <a:pt x="0" y="5590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76200"/>
              <a:ext cx="9755982" cy="6352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165"/>
                </a:lnSpc>
              </a:pPr>
              <a:r>
                <a:rPr lang="en-US" sz="1987" b="1">
                  <a:solidFill>
                    <a:srgbClr val="1F7135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locust -f locustfile.py —host=</a:t>
              </a:r>
              <a:r>
                <a:rPr lang="en-US" sz="1987" u="sng">
                  <a:solidFill>
                    <a:srgbClr val="2150FE"/>
                  </a:solidFill>
                  <a:latin typeface="Heebo"/>
                  <a:ea typeface="Heebo"/>
                  <a:cs typeface="Heebo"/>
                  <a:sym typeface="Heebo"/>
                  <a:hlinkClick r:id="rId5" tooltip="https://pwskills.com/"/>
                </a:rPr>
                <a:t>https://pwskills.com/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357196" y="5993160"/>
            <a:ext cx="644873" cy="28575"/>
            <a:chOff x="0" y="0"/>
            <a:chExt cx="859830" cy="381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59790" cy="38100"/>
            </a:xfrm>
            <a:custGeom>
              <a:avLst/>
              <a:gdLst/>
              <a:ahLst/>
              <a:cxnLst/>
              <a:rect l="l" t="t" r="r" b="b"/>
              <a:pathLst>
                <a:path w="859790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40740" y="0"/>
                  </a:lnTo>
                  <a:cubicBezTo>
                    <a:pt x="851281" y="0"/>
                    <a:pt x="859790" y="8509"/>
                    <a:pt x="859790" y="19050"/>
                  </a:cubicBezTo>
                  <a:cubicBezTo>
                    <a:pt x="859790" y="29591"/>
                    <a:pt x="851281" y="38100"/>
                    <a:pt x="8407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8902229" y="5765750"/>
            <a:ext cx="483543" cy="483543"/>
            <a:chOff x="0" y="0"/>
            <a:chExt cx="644723" cy="64472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44906" cy="644906"/>
            </a:xfrm>
            <a:custGeom>
              <a:avLst/>
              <a:gdLst/>
              <a:ahLst/>
              <a:cxnLst/>
              <a:rect l="l" t="t" r="r" b="b"/>
              <a:pathLst>
                <a:path w="644906" h="644906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01853" y="0"/>
                  </a:lnTo>
                  <a:cubicBezTo>
                    <a:pt x="625602" y="0"/>
                    <a:pt x="644906" y="19304"/>
                    <a:pt x="644906" y="43053"/>
                  </a:cubicBezTo>
                  <a:lnTo>
                    <a:pt x="644906" y="601853"/>
                  </a:lnTo>
                  <a:cubicBezTo>
                    <a:pt x="644906" y="625602"/>
                    <a:pt x="625602" y="644906"/>
                    <a:pt x="601853" y="644906"/>
                  </a:cubicBezTo>
                  <a:lnTo>
                    <a:pt x="43053" y="644906"/>
                  </a:lnTo>
                  <a:cubicBezTo>
                    <a:pt x="19304" y="644779"/>
                    <a:pt x="0" y="625475"/>
                    <a:pt x="0" y="601726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8982745" y="5805934"/>
            <a:ext cx="322361" cy="479212"/>
            <a:chOff x="0" y="0"/>
            <a:chExt cx="429815" cy="63894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9815" cy="638949"/>
            </a:xfrm>
            <a:custGeom>
              <a:avLst/>
              <a:gdLst/>
              <a:ahLst/>
              <a:cxnLst/>
              <a:rect l="l" t="t" r="r" b="b"/>
              <a:pathLst>
                <a:path w="429815" h="638949">
                  <a:moveTo>
                    <a:pt x="0" y="0"/>
                  </a:moveTo>
                  <a:lnTo>
                    <a:pt x="429815" y="0"/>
                  </a:lnTo>
                  <a:lnTo>
                    <a:pt x="429815" y="638949"/>
                  </a:lnTo>
                  <a:lnTo>
                    <a:pt x="0" y="63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38100"/>
              <a:ext cx="429815" cy="600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600"/>
                </a:lnSpc>
              </a:pPr>
              <a:r>
                <a:rPr lang="en-US" sz="2600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4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218687" y="5738961"/>
            <a:ext cx="3658493" cy="504237"/>
            <a:chOff x="0" y="0"/>
            <a:chExt cx="4877991" cy="67231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877991" cy="672316"/>
            </a:xfrm>
            <a:custGeom>
              <a:avLst/>
              <a:gdLst/>
              <a:ahLst/>
              <a:cxnLst/>
              <a:rect l="l" t="t" r="r" b="b"/>
              <a:pathLst>
                <a:path w="4877991" h="672316">
                  <a:moveTo>
                    <a:pt x="0" y="0"/>
                  </a:moveTo>
                  <a:lnTo>
                    <a:pt x="4877991" y="0"/>
                  </a:lnTo>
                  <a:lnTo>
                    <a:pt x="4877991" y="672316"/>
                  </a:lnTo>
                  <a:lnTo>
                    <a:pt x="0" y="672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4877991" cy="6913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Simulate a stress test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218687" y="6270872"/>
            <a:ext cx="7316986" cy="399256"/>
            <a:chOff x="0" y="0"/>
            <a:chExt cx="9755982" cy="53234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755982" cy="532341"/>
            </a:xfrm>
            <a:custGeom>
              <a:avLst/>
              <a:gdLst/>
              <a:ahLst/>
              <a:cxnLst/>
              <a:rect l="l" t="t" r="r" b="b"/>
              <a:pathLst>
                <a:path w="9755982" h="532341">
                  <a:moveTo>
                    <a:pt x="0" y="0"/>
                  </a:moveTo>
                  <a:lnTo>
                    <a:pt x="9755982" y="0"/>
                  </a:lnTo>
                  <a:lnTo>
                    <a:pt x="9755982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85725"/>
              <a:ext cx="9755982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Enter Number of Users: Start with 50 users.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18687" y="6689824"/>
            <a:ext cx="7316986" cy="399256"/>
            <a:chOff x="0" y="0"/>
            <a:chExt cx="9755982" cy="53234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755982" cy="532341"/>
            </a:xfrm>
            <a:custGeom>
              <a:avLst/>
              <a:gdLst/>
              <a:ahLst/>
              <a:cxnLst/>
              <a:rect l="l" t="t" r="r" b="b"/>
              <a:pathLst>
                <a:path w="9755982" h="532341">
                  <a:moveTo>
                    <a:pt x="0" y="0"/>
                  </a:moveTo>
                  <a:lnTo>
                    <a:pt x="9755982" y="0"/>
                  </a:lnTo>
                  <a:lnTo>
                    <a:pt x="9755982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9755982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Set Spawn Rate: Example: 5 users per second.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218687" y="7108775"/>
            <a:ext cx="7316986" cy="399256"/>
            <a:chOff x="0" y="0"/>
            <a:chExt cx="9755982" cy="53234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755982" cy="532341"/>
            </a:xfrm>
            <a:custGeom>
              <a:avLst/>
              <a:gdLst/>
              <a:ahLst/>
              <a:cxnLst/>
              <a:rect l="l" t="t" r="r" b="b"/>
              <a:pathLst>
                <a:path w="9755982" h="532341">
                  <a:moveTo>
                    <a:pt x="0" y="0"/>
                  </a:moveTo>
                  <a:lnTo>
                    <a:pt x="9755982" y="0"/>
                  </a:lnTo>
                  <a:lnTo>
                    <a:pt x="9755982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85725"/>
              <a:ext cx="9755982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Click Start.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218687" y="7527726"/>
            <a:ext cx="7316986" cy="399256"/>
            <a:chOff x="0" y="0"/>
            <a:chExt cx="9755982" cy="53234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755982" cy="532341"/>
            </a:xfrm>
            <a:custGeom>
              <a:avLst/>
              <a:gdLst/>
              <a:ahLst/>
              <a:cxnLst/>
              <a:rect l="l" t="t" r="r" b="b"/>
              <a:pathLst>
                <a:path w="9755982" h="532341">
                  <a:moveTo>
                    <a:pt x="0" y="0"/>
                  </a:moveTo>
                  <a:lnTo>
                    <a:pt x="9755982" y="0"/>
                  </a:lnTo>
                  <a:lnTo>
                    <a:pt x="9755982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85725"/>
              <a:ext cx="9755982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6"/>
                </a:lnSpc>
              </a:pP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Gradually increase users to simulate stress (e.g., from 50 → 500).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285931" y="7381726"/>
            <a:ext cx="644873" cy="28575"/>
            <a:chOff x="0" y="0"/>
            <a:chExt cx="859830" cy="381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59790" cy="38100"/>
            </a:xfrm>
            <a:custGeom>
              <a:avLst/>
              <a:gdLst/>
              <a:ahLst/>
              <a:cxnLst/>
              <a:rect l="l" t="t" r="r" b="b"/>
              <a:pathLst>
                <a:path w="859790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40740" y="0"/>
                  </a:lnTo>
                  <a:cubicBezTo>
                    <a:pt x="851281" y="0"/>
                    <a:pt x="859790" y="8509"/>
                    <a:pt x="859790" y="19050"/>
                  </a:cubicBezTo>
                  <a:cubicBezTo>
                    <a:pt x="859790" y="29591"/>
                    <a:pt x="851281" y="38100"/>
                    <a:pt x="8407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69FF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8902229" y="7154316"/>
            <a:ext cx="483543" cy="483543"/>
            <a:chOff x="0" y="0"/>
            <a:chExt cx="644723" cy="644723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44906" cy="644906"/>
            </a:xfrm>
            <a:custGeom>
              <a:avLst/>
              <a:gdLst/>
              <a:ahLst/>
              <a:cxnLst/>
              <a:rect l="l" t="t" r="r" b="b"/>
              <a:pathLst>
                <a:path w="644906" h="644906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01853" y="0"/>
                  </a:lnTo>
                  <a:cubicBezTo>
                    <a:pt x="625602" y="0"/>
                    <a:pt x="644906" y="19304"/>
                    <a:pt x="644906" y="43053"/>
                  </a:cubicBezTo>
                  <a:lnTo>
                    <a:pt x="644906" y="601853"/>
                  </a:lnTo>
                  <a:cubicBezTo>
                    <a:pt x="644906" y="625602"/>
                    <a:pt x="625602" y="644906"/>
                    <a:pt x="601853" y="644906"/>
                  </a:cubicBezTo>
                  <a:lnTo>
                    <a:pt x="43053" y="644906"/>
                  </a:lnTo>
                  <a:cubicBezTo>
                    <a:pt x="19304" y="644779"/>
                    <a:pt x="0" y="625475"/>
                    <a:pt x="0" y="601726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8982745" y="7194500"/>
            <a:ext cx="322361" cy="479212"/>
            <a:chOff x="0" y="0"/>
            <a:chExt cx="429815" cy="63894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29815" cy="638949"/>
            </a:xfrm>
            <a:custGeom>
              <a:avLst/>
              <a:gdLst/>
              <a:ahLst/>
              <a:cxnLst/>
              <a:rect l="l" t="t" r="r" b="b"/>
              <a:pathLst>
                <a:path w="429815" h="638949">
                  <a:moveTo>
                    <a:pt x="0" y="0"/>
                  </a:moveTo>
                  <a:lnTo>
                    <a:pt x="429815" y="0"/>
                  </a:lnTo>
                  <a:lnTo>
                    <a:pt x="429815" y="638949"/>
                  </a:lnTo>
                  <a:lnTo>
                    <a:pt x="0" y="6389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38100"/>
              <a:ext cx="429815" cy="600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600"/>
                </a:lnSpc>
              </a:pPr>
              <a:r>
                <a:rPr lang="en-US" sz="2600" b="1">
                  <a:solidFill>
                    <a:srgbClr val="FFFFFF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5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193487" y="7127528"/>
            <a:ext cx="4875824" cy="482387"/>
            <a:chOff x="0" y="0"/>
            <a:chExt cx="6501099" cy="64318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501099" cy="643182"/>
            </a:xfrm>
            <a:custGeom>
              <a:avLst/>
              <a:gdLst/>
              <a:ahLst/>
              <a:cxnLst/>
              <a:rect l="l" t="t" r="r" b="b"/>
              <a:pathLst>
                <a:path w="6501099" h="643182">
                  <a:moveTo>
                    <a:pt x="0" y="0"/>
                  </a:moveTo>
                  <a:lnTo>
                    <a:pt x="6501099" y="0"/>
                  </a:lnTo>
                  <a:lnTo>
                    <a:pt x="6501099" y="643182"/>
                  </a:lnTo>
                  <a:lnTo>
                    <a:pt x="0" y="6431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6501099" cy="6622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250"/>
                </a:lnSpc>
              </a:pPr>
              <a:r>
                <a:rPr lang="en-US" sz="26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Monitor &amp; Analyze Results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58410" y="7727354"/>
            <a:ext cx="7610902" cy="399256"/>
            <a:chOff x="0" y="0"/>
            <a:chExt cx="10147870" cy="532341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147870" cy="532341"/>
            </a:xfrm>
            <a:custGeom>
              <a:avLst/>
              <a:gdLst/>
              <a:ahLst/>
              <a:cxnLst/>
              <a:rect l="l" t="t" r="r" b="b"/>
              <a:pathLst>
                <a:path w="10147870" h="532341">
                  <a:moveTo>
                    <a:pt x="0" y="0"/>
                  </a:moveTo>
                  <a:lnTo>
                    <a:pt x="10147870" y="0"/>
                  </a:lnTo>
                  <a:lnTo>
                    <a:pt x="10147870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85725"/>
              <a:ext cx="10147870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4658" lvl="1" indent="-142329" algn="l">
                <a:lnSpc>
                  <a:spcPts val="3006"/>
                </a:lnSpc>
                <a:buFont typeface="Arial"/>
                <a:buChar char="•"/>
              </a:pPr>
              <a:r>
                <a:rPr lang="en-US" sz="18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Response Time</a:t>
              </a: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Ensure the API handles increasing load efficiently.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58410" y="8098085"/>
            <a:ext cx="7610902" cy="399256"/>
            <a:chOff x="0" y="0"/>
            <a:chExt cx="10147870" cy="53234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147870" cy="532341"/>
            </a:xfrm>
            <a:custGeom>
              <a:avLst/>
              <a:gdLst/>
              <a:ahLst/>
              <a:cxnLst/>
              <a:rect l="l" t="t" r="r" b="b"/>
              <a:pathLst>
                <a:path w="10147870" h="532341">
                  <a:moveTo>
                    <a:pt x="0" y="0"/>
                  </a:moveTo>
                  <a:lnTo>
                    <a:pt x="10147870" y="0"/>
                  </a:lnTo>
                  <a:lnTo>
                    <a:pt x="10147870" y="532341"/>
                  </a:lnTo>
                  <a:lnTo>
                    <a:pt x="0" y="532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85725"/>
              <a:ext cx="10147870" cy="618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4658" lvl="1" indent="-142329" algn="l">
                <a:lnSpc>
                  <a:spcPts val="3006"/>
                </a:lnSpc>
                <a:buFont typeface="Arial"/>
                <a:buChar char="•"/>
              </a:pPr>
              <a:r>
                <a:rPr lang="en-US" sz="18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Failure Rate</a:t>
              </a: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Identify any request failures.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58410" y="8497341"/>
            <a:ext cx="7610902" cy="780256"/>
            <a:chOff x="0" y="0"/>
            <a:chExt cx="10147870" cy="1040341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147870" cy="1040341"/>
            </a:xfrm>
            <a:custGeom>
              <a:avLst/>
              <a:gdLst/>
              <a:ahLst/>
              <a:cxnLst/>
              <a:rect l="l" t="t" r="r" b="b"/>
              <a:pathLst>
                <a:path w="10147870" h="1040341">
                  <a:moveTo>
                    <a:pt x="0" y="0"/>
                  </a:moveTo>
                  <a:lnTo>
                    <a:pt x="10147870" y="0"/>
                  </a:lnTo>
                  <a:lnTo>
                    <a:pt x="10147870" y="1040341"/>
                  </a:lnTo>
                  <a:lnTo>
                    <a:pt x="0" y="1040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85725"/>
              <a:ext cx="10147870" cy="11260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4658" lvl="1" indent="-142329" algn="l">
                <a:lnSpc>
                  <a:spcPts val="3006"/>
                </a:lnSpc>
                <a:buFont typeface="Arial"/>
                <a:buChar char="•"/>
              </a:pPr>
              <a:r>
                <a:rPr lang="en-US" sz="1887" b="1">
                  <a:solidFill>
                    <a:srgbClr val="4C4C4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Throughput (Requests per Second - RPS)</a:t>
              </a:r>
              <a:r>
                <a:rPr lang="en-US" sz="188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: Monitor how many requests the system processes.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5753100" y="4733925"/>
            <a:ext cx="2411833" cy="471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4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Run the 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90736" y="699790"/>
            <a:ext cx="11917013" cy="930597"/>
            <a:chOff x="0" y="0"/>
            <a:chExt cx="15889350" cy="12407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89350" cy="1240797"/>
            </a:xfrm>
            <a:custGeom>
              <a:avLst/>
              <a:gdLst/>
              <a:ahLst/>
              <a:cxnLst/>
              <a:rect l="l" t="t" r="r" b="b"/>
              <a:pathLst>
                <a:path w="15889350" h="1240797">
                  <a:moveTo>
                    <a:pt x="0" y="0"/>
                  </a:moveTo>
                  <a:lnTo>
                    <a:pt x="15889350" y="0"/>
                  </a:lnTo>
                  <a:lnTo>
                    <a:pt x="15889350" y="1240797"/>
                  </a:lnTo>
                  <a:lnTo>
                    <a:pt x="0" y="1240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889350" cy="12788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249"/>
                </a:lnSpc>
              </a:pPr>
              <a:r>
                <a:rPr lang="en-US" sz="4999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Performance Testing in CI/CD Pipelines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0736" y="2003971"/>
            <a:ext cx="16506527" cy="1017985"/>
            <a:chOff x="0" y="0"/>
            <a:chExt cx="22008703" cy="13573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08703" cy="1357313"/>
            </a:xfrm>
            <a:custGeom>
              <a:avLst/>
              <a:gdLst/>
              <a:ahLst/>
              <a:cxnLst/>
              <a:rect l="l" t="t" r="r" b="b"/>
              <a:pathLst>
                <a:path w="22008703" h="1357313">
                  <a:moveTo>
                    <a:pt x="0" y="0"/>
                  </a:moveTo>
                  <a:lnTo>
                    <a:pt x="22008703" y="0"/>
                  </a:lnTo>
                  <a:lnTo>
                    <a:pt x="22008703" y="1357313"/>
                  </a:lnTo>
                  <a:lnTo>
                    <a:pt x="0" y="1357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008703" cy="14430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1949" lvl="1" indent="-180974" algn="l">
                <a:lnSpc>
                  <a:spcPts val="3824"/>
                </a:lnSpc>
                <a:buFont typeface="Arial"/>
                <a:buChar char="•"/>
              </a:pPr>
              <a:r>
                <a:rPr lang="en-US" sz="23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Performance testing in CI/CD pipelines involves automatically testing the speed, stability, and scalability of your application during the development and deployment process.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0736" y="3110954"/>
            <a:ext cx="16506527" cy="508992"/>
            <a:chOff x="0" y="0"/>
            <a:chExt cx="22008703" cy="6786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08703" cy="678657"/>
            </a:xfrm>
            <a:custGeom>
              <a:avLst/>
              <a:gdLst/>
              <a:ahLst/>
              <a:cxnLst/>
              <a:rect l="l" t="t" r="r" b="b"/>
              <a:pathLst>
                <a:path w="22008703" h="678657">
                  <a:moveTo>
                    <a:pt x="0" y="0"/>
                  </a:moveTo>
                  <a:lnTo>
                    <a:pt x="22008703" y="0"/>
                  </a:lnTo>
                  <a:lnTo>
                    <a:pt x="22008703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2008703" cy="7643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1949" lvl="1" indent="-180974" algn="l">
                <a:lnSpc>
                  <a:spcPts val="3824"/>
                </a:lnSpc>
                <a:buFont typeface="Arial"/>
                <a:buChar char="•"/>
              </a:pPr>
              <a:r>
                <a:rPr lang="en-US" sz="23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It ensures that each code change maintains acceptable performance standards before reaching production.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1211" y="4260949"/>
            <a:ext cx="16516052" cy="4997351"/>
            <a:chOff x="0" y="0"/>
            <a:chExt cx="22021403" cy="66631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21419" cy="6663182"/>
            </a:xfrm>
            <a:custGeom>
              <a:avLst/>
              <a:gdLst/>
              <a:ahLst/>
              <a:cxnLst/>
              <a:rect l="l" t="t" r="r" b="b"/>
              <a:pathLst>
                <a:path w="22021419" h="6663182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lnTo>
                    <a:pt x="21964142" y="0"/>
                  </a:lnTo>
                  <a:lnTo>
                    <a:pt x="21964142" y="6350"/>
                  </a:lnTo>
                  <a:lnTo>
                    <a:pt x="21964142" y="0"/>
                  </a:lnTo>
                  <a:cubicBezTo>
                    <a:pt x="21995764" y="0"/>
                    <a:pt x="22021419" y="25654"/>
                    <a:pt x="22021419" y="57277"/>
                  </a:cubicBezTo>
                  <a:lnTo>
                    <a:pt x="22015069" y="57277"/>
                  </a:lnTo>
                  <a:lnTo>
                    <a:pt x="22021419" y="57277"/>
                  </a:lnTo>
                  <a:lnTo>
                    <a:pt x="22021419" y="6605905"/>
                  </a:lnTo>
                  <a:lnTo>
                    <a:pt x="22015069" y="6605905"/>
                  </a:lnTo>
                  <a:lnTo>
                    <a:pt x="22021419" y="6605905"/>
                  </a:lnTo>
                  <a:cubicBezTo>
                    <a:pt x="22021419" y="6637528"/>
                    <a:pt x="21995764" y="6663182"/>
                    <a:pt x="21964142" y="6663182"/>
                  </a:cubicBezTo>
                  <a:lnTo>
                    <a:pt x="21964142" y="6656832"/>
                  </a:lnTo>
                  <a:lnTo>
                    <a:pt x="21964142" y="6663182"/>
                  </a:lnTo>
                  <a:lnTo>
                    <a:pt x="57277" y="6663182"/>
                  </a:lnTo>
                  <a:lnTo>
                    <a:pt x="57277" y="6656832"/>
                  </a:lnTo>
                  <a:lnTo>
                    <a:pt x="57277" y="6663182"/>
                  </a:lnTo>
                  <a:cubicBezTo>
                    <a:pt x="25654" y="6663182"/>
                    <a:pt x="0" y="6637528"/>
                    <a:pt x="0" y="6605905"/>
                  </a:cubicBezTo>
                  <a:lnTo>
                    <a:pt x="0" y="57277"/>
                  </a:lnTo>
                  <a:lnTo>
                    <a:pt x="6350" y="57277"/>
                  </a:lnTo>
                  <a:lnTo>
                    <a:pt x="0" y="57277"/>
                  </a:lnTo>
                  <a:moveTo>
                    <a:pt x="12700" y="57277"/>
                  </a:moveTo>
                  <a:lnTo>
                    <a:pt x="12700" y="6605905"/>
                  </a:lnTo>
                  <a:lnTo>
                    <a:pt x="6350" y="6605905"/>
                  </a:lnTo>
                  <a:lnTo>
                    <a:pt x="12700" y="6605905"/>
                  </a:lnTo>
                  <a:cubicBezTo>
                    <a:pt x="12700" y="6630543"/>
                    <a:pt x="32639" y="6650482"/>
                    <a:pt x="57277" y="6650482"/>
                  </a:cubicBezTo>
                  <a:lnTo>
                    <a:pt x="21964142" y="6650482"/>
                  </a:lnTo>
                  <a:cubicBezTo>
                    <a:pt x="21988780" y="6650482"/>
                    <a:pt x="22008719" y="6630543"/>
                    <a:pt x="22008719" y="6605905"/>
                  </a:cubicBezTo>
                  <a:lnTo>
                    <a:pt x="22008719" y="57277"/>
                  </a:lnTo>
                  <a:cubicBezTo>
                    <a:pt x="22008719" y="32639"/>
                    <a:pt x="21988780" y="12700"/>
                    <a:pt x="21964142" y="12700"/>
                  </a:cubicBezTo>
                  <a:lnTo>
                    <a:pt x="57277" y="12700"/>
                  </a:lnTo>
                  <a:lnTo>
                    <a:pt x="57277" y="6350"/>
                  </a:lnTo>
                  <a:lnTo>
                    <a:pt x="57277" y="12700"/>
                  </a:lnTo>
                  <a:cubicBezTo>
                    <a:pt x="32639" y="12700"/>
                    <a:pt x="12700" y="32639"/>
                    <a:pt x="12700" y="5727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95499" y="4275236"/>
            <a:ext cx="16487478" cy="801589"/>
            <a:chOff x="0" y="0"/>
            <a:chExt cx="21983303" cy="10687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83319" cy="1068832"/>
            </a:xfrm>
            <a:custGeom>
              <a:avLst/>
              <a:gdLst/>
              <a:ahLst/>
              <a:cxnLst/>
              <a:rect l="l" t="t" r="r" b="b"/>
              <a:pathLst>
                <a:path w="21983319" h="1068832">
                  <a:moveTo>
                    <a:pt x="0" y="0"/>
                  </a:moveTo>
                  <a:lnTo>
                    <a:pt x="21983319" y="0"/>
                  </a:lnTo>
                  <a:lnTo>
                    <a:pt x="21983319" y="1068832"/>
                  </a:lnTo>
                  <a:lnTo>
                    <a:pt x="0" y="10688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454200" y="4437459"/>
            <a:ext cx="3817739" cy="477142"/>
            <a:chOff x="0" y="0"/>
            <a:chExt cx="5090318" cy="6361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90318" cy="636190"/>
            </a:xfrm>
            <a:custGeom>
              <a:avLst/>
              <a:gdLst/>
              <a:ahLst/>
              <a:cxnLst/>
              <a:rect l="l" t="t" r="r" b="b"/>
              <a:pathLst>
                <a:path w="5090318" h="636190">
                  <a:moveTo>
                    <a:pt x="0" y="0"/>
                  </a:moveTo>
                  <a:lnTo>
                    <a:pt x="5090318" y="0"/>
                  </a:lnTo>
                  <a:lnTo>
                    <a:pt x="5090318" y="636190"/>
                  </a:lnTo>
                  <a:lnTo>
                    <a:pt x="0" y="636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5090318" cy="6647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49"/>
                </a:lnSpc>
              </a:pPr>
              <a:r>
                <a:rPr lang="en-US" sz="3000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Benefit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02553" y="4437459"/>
            <a:ext cx="3817739" cy="477142"/>
            <a:chOff x="0" y="0"/>
            <a:chExt cx="5090318" cy="6361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90318" cy="636190"/>
            </a:xfrm>
            <a:custGeom>
              <a:avLst/>
              <a:gdLst/>
              <a:ahLst/>
              <a:cxnLst/>
              <a:rect l="l" t="t" r="r" b="b"/>
              <a:pathLst>
                <a:path w="5090318" h="636190">
                  <a:moveTo>
                    <a:pt x="0" y="0"/>
                  </a:moveTo>
                  <a:lnTo>
                    <a:pt x="5090318" y="0"/>
                  </a:lnTo>
                  <a:lnTo>
                    <a:pt x="5090318" y="636190"/>
                  </a:lnTo>
                  <a:lnTo>
                    <a:pt x="0" y="636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5090318" cy="6647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49"/>
                </a:lnSpc>
              </a:pPr>
              <a:r>
                <a:rPr lang="en-US" sz="3000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Description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95499" y="5076824"/>
            <a:ext cx="16487478" cy="833438"/>
            <a:chOff x="0" y="0"/>
            <a:chExt cx="21983303" cy="1111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83319" cy="1111250"/>
            </a:xfrm>
            <a:custGeom>
              <a:avLst/>
              <a:gdLst/>
              <a:ahLst/>
              <a:cxnLst/>
              <a:rect l="l" t="t" r="r" b="b"/>
              <a:pathLst>
                <a:path w="21983319" h="1111250">
                  <a:moveTo>
                    <a:pt x="0" y="0"/>
                  </a:moveTo>
                  <a:lnTo>
                    <a:pt x="21983319" y="0"/>
                  </a:lnTo>
                  <a:lnTo>
                    <a:pt x="21983319" y="1111250"/>
                  </a:lnTo>
                  <a:lnTo>
                    <a:pt x="0" y="1111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50144" y="5239046"/>
            <a:ext cx="4425851" cy="508992"/>
            <a:chOff x="0" y="0"/>
            <a:chExt cx="5901135" cy="6786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01135" cy="678657"/>
            </a:xfrm>
            <a:custGeom>
              <a:avLst/>
              <a:gdLst/>
              <a:ahLst/>
              <a:cxnLst/>
              <a:rect l="l" t="t" r="r" b="b"/>
              <a:pathLst>
                <a:path w="5901135" h="678657">
                  <a:moveTo>
                    <a:pt x="0" y="0"/>
                  </a:moveTo>
                  <a:lnTo>
                    <a:pt x="5901135" y="0"/>
                  </a:lnTo>
                  <a:lnTo>
                    <a:pt x="5901135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5901135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Early Detection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4511" y="5239046"/>
            <a:ext cx="11033969" cy="508992"/>
            <a:chOff x="0" y="0"/>
            <a:chExt cx="14711958" cy="67865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711958" cy="678657"/>
            </a:xfrm>
            <a:custGeom>
              <a:avLst/>
              <a:gdLst/>
              <a:ahLst/>
              <a:cxnLst/>
              <a:rect l="l" t="t" r="r" b="b"/>
              <a:pathLst>
                <a:path w="14711958" h="678657">
                  <a:moveTo>
                    <a:pt x="0" y="0"/>
                  </a:moveTo>
                  <a:lnTo>
                    <a:pt x="14711958" y="0"/>
                  </a:lnTo>
                  <a:lnTo>
                    <a:pt x="14711958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4711958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Identifies performance issues early in the development cycle.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5499" y="5910261"/>
            <a:ext cx="16487478" cy="833438"/>
            <a:chOff x="0" y="0"/>
            <a:chExt cx="21983303" cy="11112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983319" cy="1111250"/>
            </a:xfrm>
            <a:custGeom>
              <a:avLst/>
              <a:gdLst/>
              <a:ahLst/>
              <a:cxnLst/>
              <a:rect l="l" t="t" r="r" b="b"/>
              <a:pathLst>
                <a:path w="21983319" h="1111250">
                  <a:moveTo>
                    <a:pt x="0" y="0"/>
                  </a:moveTo>
                  <a:lnTo>
                    <a:pt x="21983319" y="0"/>
                  </a:lnTo>
                  <a:lnTo>
                    <a:pt x="21983319" y="1111250"/>
                  </a:lnTo>
                  <a:lnTo>
                    <a:pt x="0" y="111125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50144" y="6072484"/>
            <a:ext cx="4425851" cy="508992"/>
            <a:chOff x="0" y="0"/>
            <a:chExt cx="5901135" cy="6786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901135" cy="678657"/>
            </a:xfrm>
            <a:custGeom>
              <a:avLst/>
              <a:gdLst/>
              <a:ahLst/>
              <a:cxnLst/>
              <a:rect l="l" t="t" r="r" b="b"/>
              <a:pathLst>
                <a:path w="5901135" h="678657">
                  <a:moveTo>
                    <a:pt x="0" y="0"/>
                  </a:moveTo>
                  <a:lnTo>
                    <a:pt x="5901135" y="0"/>
                  </a:lnTo>
                  <a:lnTo>
                    <a:pt x="5901135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5901135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Automation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4511" y="6072484"/>
            <a:ext cx="11033969" cy="508992"/>
            <a:chOff x="0" y="0"/>
            <a:chExt cx="14711958" cy="67865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711958" cy="678657"/>
            </a:xfrm>
            <a:custGeom>
              <a:avLst/>
              <a:gdLst/>
              <a:ahLst/>
              <a:cxnLst/>
              <a:rect l="l" t="t" r="r" b="b"/>
              <a:pathLst>
                <a:path w="14711958" h="678657">
                  <a:moveTo>
                    <a:pt x="0" y="0"/>
                  </a:moveTo>
                  <a:lnTo>
                    <a:pt x="14711958" y="0"/>
                  </a:lnTo>
                  <a:lnTo>
                    <a:pt x="14711958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4711958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Automates performance tests on every pull request or release.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95499" y="6743699"/>
            <a:ext cx="16487478" cy="833438"/>
            <a:chOff x="0" y="0"/>
            <a:chExt cx="21983303" cy="11112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83319" cy="1111250"/>
            </a:xfrm>
            <a:custGeom>
              <a:avLst/>
              <a:gdLst/>
              <a:ahLst/>
              <a:cxnLst/>
              <a:rect l="l" t="t" r="r" b="b"/>
              <a:pathLst>
                <a:path w="21983319" h="1111250">
                  <a:moveTo>
                    <a:pt x="0" y="0"/>
                  </a:moveTo>
                  <a:lnTo>
                    <a:pt x="21983319" y="0"/>
                  </a:lnTo>
                  <a:lnTo>
                    <a:pt x="21983319" y="1111250"/>
                  </a:lnTo>
                  <a:lnTo>
                    <a:pt x="0" y="1111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150144" y="6905921"/>
            <a:ext cx="4425851" cy="508992"/>
            <a:chOff x="0" y="0"/>
            <a:chExt cx="5901135" cy="67865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901135" cy="678657"/>
            </a:xfrm>
            <a:custGeom>
              <a:avLst/>
              <a:gdLst/>
              <a:ahLst/>
              <a:cxnLst/>
              <a:rect l="l" t="t" r="r" b="b"/>
              <a:pathLst>
                <a:path w="5901135" h="678657">
                  <a:moveTo>
                    <a:pt x="0" y="0"/>
                  </a:moveTo>
                  <a:lnTo>
                    <a:pt x="5901135" y="0"/>
                  </a:lnTo>
                  <a:lnTo>
                    <a:pt x="5901135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5901135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Consistency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4511" y="6905921"/>
            <a:ext cx="11033969" cy="508992"/>
            <a:chOff x="0" y="0"/>
            <a:chExt cx="14711958" cy="67865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711958" cy="678657"/>
            </a:xfrm>
            <a:custGeom>
              <a:avLst/>
              <a:gdLst/>
              <a:ahLst/>
              <a:cxnLst/>
              <a:rect l="l" t="t" r="r" b="b"/>
              <a:pathLst>
                <a:path w="14711958" h="678657">
                  <a:moveTo>
                    <a:pt x="0" y="0"/>
                  </a:moveTo>
                  <a:lnTo>
                    <a:pt x="14711958" y="0"/>
                  </a:lnTo>
                  <a:lnTo>
                    <a:pt x="14711958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95250"/>
              <a:ext cx="14711958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Maintains consistent performance across builds.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5499" y="7577136"/>
            <a:ext cx="16487478" cy="833438"/>
            <a:chOff x="0" y="0"/>
            <a:chExt cx="21983303" cy="11112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983319" cy="1111250"/>
            </a:xfrm>
            <a:custGeom>
              <a:avLst/>
              <a:gdLst/>
              <a:ahLst/>
              <a:cxnLst/>
              <a:rect l="l" t="t" r="r" b="b"/>
              <a:pathLst>
                <a:path w="21983319" h="1111250">
                  <a:moveTo>
                    <a:pt x="0" y="0"/>
                  </a:moveTo>
                  <a:lnTo>
                    <a:pt x="21983319" y="0"/>
                  </a:lnTo>
                  <a:lnTo>
                    <a:pt x="21983319" y="1111250"/>
                  </a:lnTo>
                  <a:lnTo>
                    <a:pt x="0" y="111125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150144" y="7739359"/>
            <a:ext cx="4425851" cy="508992"/>
            <a:chOff x="0" y="0"/>
            <a:chExt cx="5901135" cy="67865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901135" cy="678657"/>
            </a:xfrm>
            <a:custGeom>
              <a:avLst/>
              <a:gdLst/>
              <a:ahLst/>
              <a:cxnLst/>
              <a:rect l="l" t="t" r="r" b="b"/>
              <a:pathLst>
                <a:path w="5901135" h="678657">
                  <a:moveTo>
                    <a:pt x="0" y="0"/>
                  </a:moveTo>
                  <a:lnTo>
                    <a:pt x="5901135" y="0"/>
                  </a:lnTo>
                  <a:lnTo>
                    <a:pt x="5901135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0"/>
              <a:ext cx="5901135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Faster feedbacks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4511" y="7739359"/>
            <a:ext cx="11033969" cy="508992"/>
            <a:chOff x="0" y="0"/>
            <a:chExt cx="14711958" cy="67865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4711958" cy="678657"/>
            </a:xfrm>
            <a:custGeom>
              <a:avLst/>
              <a:gdLst/>
              <a:ahLst/>
              <a:cxnLst/>
              <a:rect l="l" t="t" r="r" b="b"/>
              <a:pathLst>
                <a:path w="14711958" h="678657">
                  <a:moveTo>
                    <a:pt x="0" y="0"/>
                  </a:moveTo>
                  <a:lnTo>
                    <a:pt x="14711958" y="0"/>
                  </a:lnTo>
                  <a:lnTo>
                    <a:pt x="14711958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0"/>
              <a:ext cx="14711958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Provides developers quick feedback on performance regressions.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95499" y="8410574"/>
            <a:ext cx="16487478" cy="833438"/>
            <a:chOff x="0" y="0"/>
            <a:chExt cx="21983303" cy="11112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983319" cy="1111250"/>
            </a:xfrm>
            <a:custGeom>
              <a:avLst/>
              <a:gdLst/>
              <a:ahLst/>
              <a:cxnLst/>
              <a:rect l="l" t="t" r="r" b="b"/>
              <a:pathLst>
                <a:path w="21983319" h="1111250">
                  <a:moveTo>
                    <a:pt x="0" y="0"/>
                  </a:moveTo>
                  <a:lnTo>
                    <a:pt x="21983319" y="0"/>
                  </a:lnTo>
                  <a:lnTo>
                    <a:pt x="21983319" y="1111250"/>
                  </a:lnTo>
                  <a:lnTo>
                    <a:pt x="0" y="1111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150144" y="8572796"/>
            <a:ext cx="4425851" cy="508992"/>
            <a:chOff x="0" y="0"/>
            <a:chExt cx="5901135" cy="67865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901135" cy="678657"/>
            </a:xfrm>
            <a:custGeom>
              <a:avLst/>
              <a:gdLst/>
              <a:ahLst/>
              <a:cxnLst/>
              <a:rect l="l" t="t" r="r" b="b"/>
              <a:pathLst>
                <a:path w="5901135" h="678657">
                  <a:moveTo>
                    <a:pt x="0" y="0"/>
                  </a:moveTo>
                  <a:lnTo>
                    <a:pt x="5901135" y="0"/>
                  </a:lnTo>
                  <a:lnTo>
                    <a:pt x="5901135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0"/>
              <a:ext cx="5901135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Resilience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4511" y="8572796"/>
            <a:ext cx="11033969" cy="508992"/>
            <a:chOff x="0" y="0"/>
            <a:chExt cx="14711958" cy="678657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4711958" cy="678657"/>
            </a:xfrm>
            <a:custGeom>
              <a:avLst/>
              <a:gdLst/>
              <a:ahLst/>
              <a:cxnLst/>
              <a:rect l="l" t="t" r="r" b="b"/>
              <a:pathLst>
                <a:path w="14711958" h="678657">
                  <a:moveTo>
                    <a:pt x="0" y="0"/>
                  </a:moveTo>
                  <a:lnTo>
                    <a:pt x="14711958" y="0"/>
                  </a:lnTo>
                  <a:lnTo>
                    <a:pt x="14711958" y="678657"/>
                  </a:lnTo>
                  <a:lnTo>
                    <a:pt x="0" y="678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95250"/>
              <a:ext cx="14711958" cy="773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0"/>
                </a:lnSpc>
              </a:pPr>
              <a:r>
                <a:rPr lang="en-US" sz="2499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Prevents system crashes and bottlenecks before they affect users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05891" y="555278"/>
            <a:ext cx="14506809" cy="727408"/>
            <a:chOff x="0" y="0"/>
            <a:chExt cx="19342412" cy="9698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42413" cy="969878"/>
            </a:xfrm>
            <a:custGeom>
              <a:avLst/>
              <a:gdLst/>
              <a:ahLst/>
              <a:cxnLst/>
              <a:rect l="l" t="t" r="r" b="b"/>
              <a:pathLst>
                <a:path w="19342413" h="969878">
                  <a:moveTo>
                    <a:pt x="0" y="0"/>
                  </a:moveTo>
                  <a:lnTo>
                    <a:pt x="19342413" y="0"/>
                  </a:lnTo>
                  <a:lnTo>
                    <a:pt x="19342413" y="969878"/>
                  </a:lnTo>
                  <a:lnTo>
                    <a:pt x="0" y="9698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342412" cy="99845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937"/>
                </a:lnSpc>
              </a:pPr>
              <a:r>
                <a:rPr lang="en-US" sz="393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Hands-On Activity : Performance Testing in CI/CD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5891" y="1488281"/>
            <a:ext cx="3025825" cy="498482"/>
            <a:chOff x="0" y="0"/>
            <a:chExt cx="4034433" cy="6646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34433" cy="664643"/>
            </a:xfrm>
            <a:custGeom>
              <a:avLst/>
              <a:gdLst/>
              <a:ahLst/>
              <a:cxnLst/>
              <a:rect l="l" t="t" r="r" b="b"/>
              <a:pathLst>
                <a:path w="4034433" h="664643">
                  <a:moveTo>
                    <a:pt x="0" y="0"/>
                  </a:moveTo>
                  <a:lnTo>
                    <a:pt x="4034433" y="0"/>
                  </a:lnTo>
                  <a:lnTo>
                    <a:pt x="4034433" y="664643"/>
                  </a:lnTo>
                  <a:lnTo>
                    <a:pt x="0" y="6646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034433" cy="6932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08"/>
                </a:lnSpc>
              </a:pPr>
              <a:r>
                <a:rPr lang="en-US" sz="2674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Objective: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5891" y="2169021"/>
            <a:ext cx="16876216" cy="492829"/>
            <a:chOff x="0" y="0"/>
            <a:chExt cx="22501622" cy="6571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501622" cy="657105"/>
            </a:xfrm>
            <a:custGeom>
              <a:avLst/>
              <a:gdLst/>
              <a:ahLst/>
              <a:cxnLst/>
              <a:rect l="l" t="t" r="r" b="b"/>
              <a:pathLst>
                <a:path w="22501622" h="657105">
                  <a:moveTo>
                    <a:pt x="0" y="0"/>
                  </a:moveTo>
                  <a:lnTo>
                    <a:pt x="22501622" y="0"/>
                  </a:lnTo>
                  <a:lnTo>
                    <a:pt x="22501622" y="657105"/>
                  </a:lnTo>
                  <a:lnTo>
                    <a:pt x="0" y="6571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2501622" cy="7523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70"/>
                </a:lnSpc>
              </a:pPr>
              <a:r>
                <a:rPr lang="en-US" sz="2337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Setting up GitHub Actions to run JMeter performance tests and generate reports automatically.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2706" y="2799160"/>
            <a:ext cx="28575" cy="6932414"/>
            <a:chOff x="0" y="0"/>
            <a:chExt cx="38100" cy="92432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9243187"/>
            </a:xfrm>
            <a:custGeom>
              <a:avLst/>
              <a:gdLst/>
              <a:ahLst/>
              <a:cxnLst/>
              <a:rect l="l" t="t" r="r" b="b"/>
              <a:pathLst>
                <a:path w="38100" h="924318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24137"/>
                  </a:lnTo>
                  <a:cubicBezTo>
                    <a:pt x="38100" y="9234678"/>
                    <a:pt x="29591" y="9243187"/>
                    <a:pt x="19050" y="9243187"/>
                  </a:cubicBezTo>
                  <a:cubicBezTo>
                    <a:pt x="8509" y="9243187"/>
                    <a:pt x="0" y="9234678"/>
                    <a:pt x="0" y="922413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31019" y="3238500"/>
            <a:ext cx="605135" cy="28575"/>
            <a:chOff x="0" y="0"/>
            <a:chExt cx="806847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6831" cy="38100"/>
            </a:xfrm>
            <a:custGeom>
              <a:avLst/>
              <a:gdLst/>
              <a:ahLst/>
              <a:cxnLst/>
              <a:rect l="l" t="t" r="r" b="b"/>
              <a:pathLst>
                <a:path w="8068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87781" y="0"/>
                  </a:lnTo>
                  <a:cubicBezTo>
                    <a:pt x="798322" y="0"/>
                    <a:pt x="806831" y="8509"/>
                    <a:pt x="806831" y="19050"/>
                  </a:cubicBezTo>
                  <a:cubicBezTo>
                    <a:pt x="806831" y="29591"/>
                    <a:pt x="798322" y="38100"/>
                    <a:pt x="7877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05817" y="3025974"/>
            <a:ext cx="453777" cy="453778"/>
            <a:chOff x="0" y="0"/>
            <a:chExt cx="605037" cy="6050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5028" cy="605028"/>
            </a:xfrm>
            <a:custGeom>
              <a:avLst/>
              <a:gdLst/>
              <a:ahLst/>
              <a:cxnLst/>
              <a:rect l="l" t="t" r="r" b="b"/>
              <a:pathLst>
                <a:path w="605028" h="605028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564642" y="0"/>
                  </a:lnTo>
                  <a:cubicBezTo>
                    <a:pt x="586867" y="0"/>
                    <a:pt x="605028" y="18034"/>
                    <a:pt x="605028" y="40386"/>
                  </a:cubicBezTo>
                  <a:lnTo>
                    <a:pt x="605028" y="564642"/>
                  </a:lnTo>
                  <a:cubicBezTo>
                    <a:pt x="605028" y="586867"/>
                    <a:pt x="586994" y="605028"/>
                    <a:pt x="564642" y="605028"/>
                  </a:cubicBezTo>
                  <a:lnTo>
                    <a:pt x="40386" y="605028"/>
                  </a:lnTo>
                  <a:cubicBezTo>
                    <a:pt x="18034" y="605028"/>
                    <a:pt x="0" y="586994"/>
                    <a:pt x="0" y="56464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81347" y="3063701"/>
            <a:ext cx="302568" cy="378173"/>
            <a:chOff x="0" y="0"/>
            <a:chExt cx="403423" cy="5042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3423" cy="504230"/>
            </a:xfrm>
            <a:custGeom>
              <a:avLst/>
              <a:gdLst/>
              <a:ahLst/>
              <a:cxnLst/>
              <a:rect l="l" t="t" r="r" b="b"/>
              <a:pathLst>
                <a:path w="403423" h="504230">
                  <a:moveTo>
                    <a:pt x="0" y="0"/>
                  </a:moveTo>
                  <a:lnTo>
                    <a:pt x="403423" y="0"/>
                  </a:lnTo>
                  <a:lnTo>
                    <a:pt x="403423" y="504230"/>
                  </a:lnTo>
                  <a:lnTo>
                    <a:pt x="0" y="504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403423" cy="45660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41314" y="3000821"/>
            <a:ext cx="7481202" cy="510974"/>
            <a:chOff x="0" y="0"/>
            <a:chExt cx="9974935" cy="6812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74935" cy="681299"/>
            </a:xfrm>
            <a:custGeom>
              <a:avLst/>
              <a:gdLst/>
              <a:ahLst/>
              <a:cxnLst/>
              <a:rect l="l" t="t" r="r" b="b"/>
              <a:pathLst>
                <a:path w="9974935" h="681299">
                  <a:moveTo>
                    <a:pt x="0" y="0"/>
                  </a:moveTo>
                  <a:lnTo>
                    <a:pt x="9974935" y="0"/>
                  </a:lnTo>
                  <a:lnTo>
                    <a:pt x="9974935" y="681299"/>
                  </a:lnTo>
                  <a:lnTo>
                    <a:pt x="0" y="681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9974935" cy="7098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2"/>
                </a:lnSpc>
              </a:pPr>
              <a:r>
                <a:rPr lang="en-US" sz="2774" b="1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Create/Clone a simple to-do app repository </a:t>
              </a:r>
              <a:r>
                <a:rPr lang="en-US" sz="2774" b="1" dirty="0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  <a:hlinkClick r:id="rId3"/>
                </a:rPr>
                <a:t>here</a:t>
              </a:r>
              <a:endParaRPr lang="en-US" sz="2774" b="1" dirty="0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1019" y="4665315"/>
            <a:ext cx="605135" cy="28575"/>
            <a:chOff x="0" y="0"/>
            <a:chExt cx="806847" cy="38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06831" cy="38100"/>
            </a:xfrm>
            <a:custGeom>
              <a:avLst/>
              <a:gdLst/>
              <a:ahLst/>
              <a:cxnLst/>
              <a:rect l="l" t="t" r="r" b="b"/>
              <a:pathLst>
                <a:path w="8068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87781" y="0"/>
                  </a:lnTo>
                  <a:cubicBezTo>
                    <a:pt x="798322" y="0"/>
                    <a:pt x="806831" y="8509"/>
                    <a:pt x="806831" y="19050"/>
                  </a:cubicBezTo>
                  <a:cubicBezTo>
                    <a:pt x="806831" y="29591"/>
                    <a:pt x="798322" y="38100"/>
                    <a:pt x="7877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05817" y="4452789"/>
            <a:ext cx="453777" cy="453777"/>
            <a:chOff x="0" y="0"/>
            <a:chExt cx="605037" cy="6050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05028" cy="605028"/>
            </a:xfrm>
            <a:custGeom>
              <a:avLst/>
              <a:gdLst/>
              <a:ahLst/>
              <a:cxnLst/>
              <a:rect l="l" t="t" r="r" b="b"/>
              <a:pathLst>
                <a:path w="605028" h="605028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564642" y="0"/>
                  </a:lnTo>
                  <a:cubicBezTo>
                    <a:pt x="586867" y="0"/>
                    <a:pt x="605028" y="18034"/>
                    <a:pt x="605028" y="40386"/>
                  </a:cubicBezTo>
                  <a:lnTo>
                    <a:pt x="605028" y="564642"/>
                  </a:lnTo>
                  <a:cubicBezTo>
                    <a:pt x="605028" y="586867"/>
                    <a:pt x="586994" y="605028"/>
                    <a:pt x="564642" y="605028"/>
                  </a:cubicBezTo>
                  <a:lnTo>
                    <a:pt x="40386" y="605028"/>
                  </a:lnTo>
                  <a:cubicBezTo>
                    <a:pt x="18034" y="605028"/>
                    <a:pt x="0" y="586994"/>
                    <a:pt x="0" y="56464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81347" y="4490516"/>
            <a:ext cx="302568" cy="378172"/>
            <a:chOff x="0" y="0"/>
            <a:chExt cx="403423" cy="50423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3423" cy="504230"/>
            </a:xfrm>
            <a:custGeom>
              <a:avLst/>
              <a:gdLst/>
              <a:ahLst/>
              <a:cxnLst/>
              <a:rect l="l" t="t" r="r" b="b"/>
              <a:pathLst>
                <a:path w="403423" h="504230">
                  <a:moveTo>
                    <a:pt x="0" y="0"/>
                  </a:moveTo>
                  <a:lnTo>
                    <a:pt x="403423" y="0"/>
                  </a:lnTo>
                  <a:lnTo>
                    <a:pt x="403423" y="504230"/>
                  </a:lnTo>
                  <a:lnTo>
                    <a:pt x="0" y="504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47625"/>
              <a:ext cx="403423" cy="45660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41314" y="4427636"/>
            <a:ext cx="8286202" cy="510974"/>
            <a:chOff x="0" y="0"/>
            <a:chExt cx="11048269" cy="68129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048269" cy="681299"/>
            </a:xfrm>
            <a:custGeom>
              <a:avLst/>
              <a:gdLst/>
              <a:ahLst/>
              <a:cxnLst/>
              <a:rect l="l" t="t" r="r" b="b"/>
              <a:pathLst>
                <a:path w="11048269" h="681299">
                  <a:moveTo>
                    <a:pt x="0" y="0"/>
                  </a:moveTo>
                  <a:lnTo>
                    <a:pt x="11048269" y="0"/>
                  </a:lnTo>
                  <a:lnTo>
                    <a:pt x="11048269" y="681299"/>
                  </a:lnTo>
                  <a:lnTo>
                    <a:pt x="0" y="681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1048269" cy="7098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2"/>
                </a:lnSpc>
              </a:pPr>
              <a:r>
                <a:rPr lang="en-US" sz="27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Make sure JMeter is setup if not already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31019" y="6092130"/>
            <a:ext cx="605135" cy="28575"/>
            <a:chOff x="0" y="0"/>
            <a:chExt cx="806847" cy="38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06831" cy="38100"/>
            </a:xfrm>
            <a:custGeom>
              <a:avLst/>
              <a:gdLst/>
              <a:ahLst/>
              <a:cxnLst/>
              <a:rect l="l" t="t" r="r" b="b"/>
              <a:pathLst>
                <a:path w="8068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87781" y="0"/>
                  </a:lnTo>
                  <a:cubicBezTo>
                    <a:pt x="798322" y="0"/>
                    <a:pt x="806831" y="8509"/>
                    <a:pt x="806831" y="19050"/>
                  </a:cubicBezTo>
                  <a:cubicBezTo>
                    <a:pt x="806831" y="29591"/>
                    <a:pt x="798322" y="38100"/>
                    <a:pt x="7877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705817" y="5879604"/>
            <a:ext cx="453777" cy="453778"/>
            <a:chOff x="0" y="0"/>
            <a:chExt cx="605037" cy="60503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5028" cy="605028"/>
            </a:xfrm>
            <a:custGeom>
              <a:avLst/>
              <a:gdLst/>
              <a:ahLst/>
              <a:cxnLst/>
              <a:rect l="l" t="t" r="r" b="b"/>
              <a:pathLst>
                <a:path w="605028" h="605028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564642" y="0"/>
                  </a:lnTo>
                  <a:cubicBezTo>
                    <a:pt x="586867" y="0"/>
                    <a:pt x="605028" y="18034"/>
                    <a:pt x="605028" y="40386"/>
                  </a:cubicBezTo>
                  <a:lnTo>
                    <a:pt x="605028" y="564642"/>
                  </a:lnTo>
                  <a:cubicBezTo>
                    <a:pt x="605028" y="586867"/>
                    <a:pt x="586994" y="605028"/>
                    <a:pt x="564642" y="605028"/>
                  </a:cubicBezTo>
                  <a:lnTo>
                    <a:pt x="40386" y="605028"/>
                  </a:lnTo>
                  <a:cubicBezTo>
                    <a:pt x="18034" y="605028"/>
                    <a:pt x="0" y="586994"/>
                    <a:pt x="0" y="56464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781347" y="5917331"/>
            <a:ext cx="302568" cy="378173"/>
            <a:chOff x="0" y="0"/>
            <a:chExt cx="403423" cy="50423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3423" cy="504230"/>
            </a:xfrm>
            <a:custGeom>
              <a:avLst/>
              <a:gdLst/>
              <a:ahLst/>
              <a:cxnLst/>
              <a:rect l="l" t="t" r="r" b="b"/>
              <a:pathLst>
                <a:path w="403423" h="504230">
                  <a:moveTo>
                    <a:pt x="0" y="0"/>
                  </a:moveTo>
                  <a:lnTo>
                    <a:pt x="403423" y="0"/>
                  </a:lnTo>
                  <a:lnTo>
                    <a:pt x="403423" y="504230"/>
                  </a:lnTo>
                  <a:lnTo>
                    <a:pt x="0" y="504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47625"/>
              <a:ext cx="403423" cy="45660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941314" y="5854452"/>
            <a:ext cx="8972005" cy="510974"/>
            <a:chOff x="0" y="0"/>
            <a:chExt cx="11962674" cy="6812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962674" cy="681299"/>
            </a:xfrm>
            <a:custGeom>
              <a:avLst/>
              <a:gdLst/>
              <a:ahLst/>
              <a:cxnLst/>
              <a:rect l="l" t="t" r="r" b="b"/>
              <a:pathLst>
                <a:path w="11962674" h="681299">
                  <a:moveTo>
                    <a:pt x="0" y="0"/>
                  </a:moveTo>
                  <a:lnTo>
                    <a:pt x="11962674" y="0"/>
                  </a:lnTo>
                  <a:lnTo>
                    <a:pt x="11962674" y="681299"/>
                  </a:lnTo>
                  <a:lnTo>
                    <a:pt x="0" y="681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1962674" cy="7098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2"/>
                </a:lnSpc>
              </a:pPr>
              <a:r>
                <a:rPr lang="en-US" sz="27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Create a locustfile.py and add the script to run the test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31019" y="7518946"/>
            <a:ext cx="605135" cy="28575"/>
            <a:chOff x="0" y="0"/>
            <a:chExt cx="806847" cy="381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06831" cy="38100"/>
            </a:xfrm>
            <a:custGeom>
              <a:avLst/>
              <a:gdLst/>
              <a:ahLst/>
              <a:cxnLst/>
              <a:rect l="l" t="t" r="r" b="b"/>
              <a:pathLst>
                <a:path w="8068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87781" y="0"/>
                  </a:lnTo>
                  <a:cubicBezTo>
                    <a:pt x="798322" y="0"/>
                    <a:pt x="806831" y="8509"/>
                    <a:pt x="806831" y="19050"/>
                  </a:cubicBezTo>
                  <a:cubicBezTo>
                    <a:pt x="806831" y="29591"/>
                    <a:pt x="798322" y="38100"/>
                    <a:pt x="7877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705817" y="7306419"/>
            <a:ext cx="453777" cy="453778"/>
            <a:chOff x="0" y="0"/>
            <a:chExt cx="605037" cy="60503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5028" cy="605028"/>
            </a:xfrm>
            <a:custGeom>
              <a:avLst/>
              <a:gdLst/>
              <a:ahLst/>
              <a:cxnLst/>
              <a:rect l="l" t="t" r="r" b="b"/>
              <a:pathLst>
                <a:path w="605028" h="605028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564642" y="0"/>
                  </a:lnTo>
                  <a:cubicBezTo>
                    <a:pt x="586867" y="0"/>
                    <a:pt x="605028" y="18034"/>
                    <a:pt x="605028" y="40386"/>
                  </a:cubicBezTo>
                  <a:lnTo>
                    <a:pt x="605028" y="564642"/>
                  </a:lnTo>
                  <a:cubicBezTo>
                    <a:pt x="605028" y="586867"/>
                    <a:pt x="586994" y="605028"/>
                    <a:pt x="564642" y="605028"/>
                  </a:cubicBezTo>
                  <a:lnTo>
                    <a:pt x="40386" y="605028"/>
                  </a:lnTo>
                  <a:cubicBezTo>
                    <a:pt x="18034" y="605028"/>
                    <a:pt x="0" y="586994"/>
                    <a:pt x="0" y="56464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81347" y="7344148"/>
            <a:ext cx="302568" cy="378173"/>
            <a:chOff x="0" y="0"/>
            <a:chExt cx="403423" cy="50423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3423" cy="504230"/>
            </a:xfrm>
            <a:custGeom>
              <a:avLst/>
              <a:gdLst/>
              <a:ahLst/>
              <a:cxnLst/>
              <a:rect l="l" t="t" r="r" b="b"/>
              <a:pathLst>
                <a:path w="403423" h="504230">
                  <a:moveTo>
                    <a:pt x="0" y="0"/>
                  </a:moveTo>
                  <a:lnTo>
                    <a:pt x="403423" y="0"/>
                  </a:lnTo>
                  <a:lnTo>
                    <a:pt x="403423" y="504230"/>
                  </a:lnTo>
                  <a:lnTo>
                    <a:pt x="0" y="504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47625"/>
              <a:ext cx="403423" cy="45660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941314" y="7281267"/>
            <a:ext cx="6523728" cy="510974"/>
            <a:chOff x="0" y="0"/>
            <a:chExt cx="8698305" cy="68129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698305" cy="681299"/>
            </a:xfrm>
            <a:custGeom>
              <a:avLst/>
              <a:gdLst/>
              <a:ahLst/>
              <a:cxnLst/>
              <a:rect l="l" t="t" r="r" b="b"/>
              <a:pathLst>
                <a:path w="8698305" h="681299">
                  <a:moveTo>
                    <a:pt x="0" y="0"/>
                  </a:moveTo>
                  <a:lnTo>
                    <a:pt x="8698305" y="0"/>
                  </a:lnTo>
                  <a:lnTo>
                    <a:pt x="8698305" y="681299"/>
                  </a:lnTo>
                  <a:lnTo>
                    <a:pt x="0" y="681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8698305" cy="7098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2"/>
                </a:lnSpc>
              </a:pPr>
              <a:r>
                <a:rPr lang="en-US" sz="27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Build a workflow to trigger any changes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31019" y="8945761"/>
            <a:ext cx="605135" cy="28575"/>
            <a:chOff x="0" y="0"/>
            <a:chExt cx="806847" cy="381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06831" cy="38100"/>
            </a:xfrm>
            <a:custGeom>
              <a:avLst/>
              <a:gdLst/>
              <a:ahLst/>
              <a:cxnLst/>
              <a:rect l="l" t="t" r="r" b="b"/>
              <a:pathLst>
                <a:path w="8068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787781" y="0"/>
                  </a:lnTo>
                  <a:cubicBezTo>
                    <a:pt x="798322" y="0"/>
                    <a:pt x="806831" y="8509"/>
                    <a:pt x="806831" y="19050"/>
                  </a:cubicBezTo>
                  <a:cubicBezTo>
                    <a:pt x="806831" y="29591"/>
                    <a:pt x="798322" y="38100"/>
                    <a:pt x="7877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705817" y="8733234"/>
            <a:ext cx="453777" cy="453778"/>
            <a:chOff x="0" y="0"/>
            <a:chExt cx="605037" cy="60503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5028" cy="605028"/>
            </a:xfrm>
            <a:custGeom>
              <a:avLst/>
              <a:gdLst/>
              <a:ahLst/>
              <a:cxnLst/>
              <a:rect l="l" t="t" r="r" b="b"/>
              <a:pathLst>
                <a:path w="605028" h="605028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564642" y="0"/>
                  </a:lnTo>
                  <a:cubicBezTo>
                    <a:pt x="586867" y="0"/>
                    <a:pt x="605028" y="18034"/>
                    <a:pt x="605028" y="40386"/>
                  </a:cubicBezTo>
                  <a:lnTo>
                    <a:pt x="605028" y="564642"/>
                  </a:lnTo>
                  <a:cubicBezTo>
                    <a:pt x="605028" y="586867"/>
                    <a:pt x="586994" y="605028"/>
                    <a:pt x="564642" y="605028"/>
                  </a:cubicBezTo>
                  <a:lnTo>
                    <a:pt x="40386" y="605028"/>
                  </a:lnTo>
                  <a:cubicBezTo>
                    <a:pt x="18034" y="605028"/>
                    <a:pt x="0" y="586994"/>
                    <a:pt x="0" y="56464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781347" y="8770962"/>
            <a:ext cx="302568" cy="378173"/>
            <a:chOff x="0" y="0"/>
            <a:chExt cx="403423" cy="50423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03423" cy="504230"/>
            </a:xfrm>
            <a:custGeom>
              <a:avLst/>
              <a:gdLst/>
              <a:ahLst/>
              <a:cxnLst/>
              <a:rect l="l" t="t" r="r" b="b"/>
              <a:pathLst>
                <a:path w="403423" h="504230">
                  <a:moveTo>
                    <a:pt x="0" y="0"/>
                  </a:moveTo>
                  <a:lnTo>
                    <a:pt x="403423" y="0"/>
                  </a:lnTo>
                  <a:lnTo>
                    <a:pt x="403423" y="504230"/>
                  </a:lnTo>
                  <a:lnTo>
                    <a:pt x="0" y="504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47625"/>
              <a:ext cx="403423" cy="45660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375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5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941314" y="8708082"/>
            <a:ext cx="9271334" cy="510974"/>
            <a:chOff x="0" y="0"/>
            <a:chExt cx="12361778" cy="68129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361779" cy="681299"/>
            </a:xfrm>
            <a:custGeom>
              <a:avLst/>
              <a:gdLst/>
              <a:ahLst/>
              <a:cxnLst/>
              <a:rect l="l" t="t" r="r" b="b"/>
              <a:pathLst>
                <a:path w="12361779" h="681299">
                  <a:moveTo>
                    <a:pt x="0" y="0"/>
                  </a:moveTo>
                  <a:lnTo>
                    <a:pt x="12361779" y="0"/>
                  </a:lnTo>
                  <a:lnTo>
                    <a:pt x="12361779" y="681299"/>
                  </a:lnTo>
                  <a:lnTo>
                    <a:pt x="0" y="681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12361778" cy="7098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2"/>
                </a:lnSpc>
              </a:pPr>
              <a:r>
                <a:rPr lang="en-US" sz="2774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Validate &amp; analyze how the tests are running via CI/CD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48605" y="588169"/>
            <a:ext cx="9741177" cy="794313"/>
            <a:chOff x="0" y="0"/>
            <a:chExt cx="12988236" cy="10590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988236" cy="1059084"/>
            </a:xfrm>
            <a:custGeom>
              <a:avLst/>
              <a:gdLst/>
              <a:ahLst/>
              <a:cxnLst/>
              <a:rect l="l" t="t" r="r" b="b"/>
              <a:pathLst>
                <a:path w="12988236" h="1059084">
                  <a:moveTo>
                    <a:pt x="0" y="0"/>
                  </a:moveTo>
                  <a:lnTo>
                    <a:pt x="12988236" y="0"/>
                  </a:lnTo>
                  <a:lnTo>
                    <a:pt x="12988236" y="1059084"/>
                  </a:lnTo>
                  <a:lnTo>
                    <a:pt x="0" y="1059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988236" cy="10876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375"/>
                </a:lnSpc>
              </a:pPr>
              <a:r>
                <a:rPr lang="en-US" sz="4287" b="1">
                  <a:solidFill>
                    <a:srgbClr val="152D47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Performance Testing Best Practices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8605" y="1583530"/>
            <a:ext cx="16790789" cy="490176"/>
            <a:chOff x="0" y="0"/>
            <a:chExt cx="22387718" cy="6535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87719" cy="653568"/>
            </a:xfrm>
            <a:custGeom>
              <a:avLst/>
              <a:gdLst/>
              <a:ahLst/>
              <a:cxnLst/>
              <a:rect l="l" t="t" r="r" b="b"/>
              <a:pathLst>
                <a:path w="22387719" h="653568">
                  <a:moveTo>
                    <a:pt x="0" y="0"/>
                  </a:moveTo>
                  <a:lnTo>
                    <a:pt x="22387719" y="0"/>
                  </a:lnTo>
                  <a:lnTo>
                    <a:pt x="22387719" y="653568"/>
                  </a:lnTo>
                  <a:lnTo>
                    <a:pt x="0" y="6535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387718" cy="7583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0637" lvl="1" indent="-175318" algn="l">
                <a:lnSpc>
                  <a:spcPts val="3845"/>
                </a:lnSpc>
                <a:buFont typeface="Arial"/>
                <a:buChar char="•"/>
              </a:pPr>
              <a:r>
                <a:rPr lang="en-US" sz="232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Key Strategies for Effective Performance Testing: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8605" y="2352675"/>
            <a:ext cx="16790789" cy="1299270"/>
            <a:chOff x="0" y="0"/>
            <a:chExt cx="22387718" cy="1732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87686" cy="1732407"/>
            </a:xfrm>
            <a:custGeom>
              <a:avLst/>
              <a:gdLst/>
              <a:ahLst/>
              <a:cxnLst/>
              <a:rect l="l" t="t" r="r" b="b"/>
              <a:pathLst>
                <a:path w="22387686" h="1732407">
                  <a:moveTo>
                    <a:pt x="0" y="42799"/>
                  </a:moveTo>
                  <a:cubicBezTo>
                    <a:pt x="0" y="19177"/>
                    <a:pt x="19177" y="0"/>
                    <a:pt x="42799" y="0"/>
                  </a:cubicBezTo>
                  <a:lnTo>
                    <a:pt x="22344887" y="0"/>
                  </a:lnTo>
                  <a:cubicBezTo>
                    <a:pt x="22368509" y="0"/>
                    <a:pt x="22387686" y="19177"/>
                    <a:pt x="22387686" y="42799"/>
                  </a:cubicBezTo>
                  <a:lnTo>
                    <a:pt x="22387686" y="1689608"/>
                  </a:lnTo>
                  <a:cubicBezTo>
                    <a:pt x="22387686" y="1713230"/>
                    <a:pt x="22368509" y="1732407"/>
                    <a:pt x="22344887" y="1732407"/>
                  </a:cubicBezTo>
                  <a:lnTo>
                    <a:pt x="42799" y="1732407"/>
                  </a:lnTo>
                  <a:cubicBezTo>
                    <a:pt x="19177" y="1732407"/>
                    <a:pt x="0" y="1713230"/>
                    <a:pt x="0" y="16896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62471" y="2566541"/>
            <a:ext cx="5062048" cy="504237"/>
            <a:chOff x="0" y="0"/>
            <a:chExt cx="6749398" cy="6723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49398" cy="672316"/>
            </a:xfrm>
            <a:custGeom>
              <a:avLst/>
              <a:gdLst/>
              <a:ahLst/>
              <a:cxnLst/>
              <a:rect l="l" t="t" r="r" b="b"/>
              <a:pathLst>
                <a:path w="6749398" h="672316">
                  <a:moveTo>
                    <a:pt x="0" y="0"/>
                  </a:moveTo>
                  <a:lnTo>
                    <a:pt x="6749398" y="0"/>
                  </a:lnTo>
                  <a:lnTo>
                    <a:pt x="6749398" y="672316"/>
                  </a:lnTo>
                  <a:lnTo>
                    <a:pt x="0" y="672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749398" cy="6913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Define Realistic User Loads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2471" y="3095922"/>
            <a:ext cx="16363058" cy="422933"/>
            <a:chOff x="0" y="0"/>
            <a:chExt cx="21817410" cy="5639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817409" cy="563911"/>
            </a:xfrm>
            <a:custGeom>
              <a:avLst/>
              <a:gdLst/>
              <a:ahLst/>
              <a:cxnLst/>
              <a:rect l="l" t="t" r="r" b="b"/>
              <a:pathLst>
                <a:path w="21817409" h="563911">
                  <a:moveTo>
                    <a:pt x="0" y="0"/>
                  </a:moveTo>
                  <a:lnTo>
                    <a:pt x="21817409" y="0"/>
                  </a:lnTo>
                  <a:lnTo>
                    <a:pt x="21817409" y="563911"/>
                  </a:lnTo>
                  <a:lnTo>
                    <a:pt x="0" y="563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21817410" cy="64963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49"/>
                </a:lnSpc>
              </a:pPr>
              <a:r>
                <a:rPr lang="en-US" sz="202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Use historic data and simulat traffic.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8605" y="3865810"/>
            <a:ext cx="16790789" cy="1299270"/>
            <a:chOff x="0" y="0"/>
            <a:chExt cx="22387718" cy="1732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387686" cy="1732407"/>
            </a:xfrm>
            <a:custGeom>
              <a:avLst/>
              <a:gdLst/>
              <a:ahLst/>
              <a:cxnLst/>
              <a:rect l="l" t="t" r="r" b="b"/>
              <a:pathLst>
                <a:path w="22387686" h="1732407">
                  <a:moveTo>
                    <a:pt x="0" y="42799"/>
                  </a:moveTo>
                  <a:cubicBezTo>
                    <a:pt x="0" y="19177"/>
                    <a:pt x="19177" y="0"/>
                    <a:pt x="42799" y="0"/>
                  </a:cubicBezTo>
                  <a:lnTo>
                    <a:pt x="22344887" y="0"/>
                  </a:lnTo>
                  <a:cubicBezTo>
                    <a:pt x="22368509" y="0"/>
                    <a:pt x="22387686" y="19177"/>
                    <a:pt x="22387686" y="42799"/>
                  </a:cubicBezTo>
                  <a:lnTo>
                    <a:pt x="22387686" y="1689608"/>
                  </a:lnTo>
                  <a:cubicBezTo>
                    <a:pt x="22387686" y="1713230"/>
                    <a:pt x="22368509" y="1732407"/>
                    <a:pt x="22344887" y="1732407"/>
                  </a:cubicBezTo>
                  <a:lnTo>
                    <a:pt x="42799" y="1732407"/>
                  </a:lnTo>
                  <a:cubicBezTo>
                    <a:pt x="19177" y="1732407"/>
                    <a:pt x="0" y="1713230"/>
                    <a:pt x="0" y="16896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62471" y="4079676"/>
            <a:ext cx="6706321" cy="504237"/>
            <a:chOff x="0" y="0"/>
            <a:chExt cx="8941761" cy="6723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41761" cy="672316"/>
            </a:xfrm>
            <a:custGeom>
              <a:avLst/>
              <a:gdLst/>
              <a:ahLst/>
              <a:cxnLst/>
              <a:rect l="l" t="t" r="r" b="b"/>
              <a:pathLst>
                <a:path w="8941761" h="672316">
                  <a:moveTo>
                    <a:pt x="0" y="0"/>
                  </a:moveTo>
                  <a:lnTo>
                    <a:pt x="8941761" y="0"/>
                  </a:lnTo>
                  <a:lnTo>
                    <a:pt x="8941761" y="672316"/>
                  </a:lnTo>
                  <a:lnTo>
                    <a:pt x="0" y="672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8941761" cy="6913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Test Under Different Network Conditions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2471" y="4609059"/>
            <a:ext cx="16363058" cy="422933"/>
            <a:chOff x="0" y="0"/>
            <a:chExt cx="21817410" cy="56391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817409" cy="563911"/>
            </a:xfrm>
            <a:custGeom>
              <a:avLst/>
              <a:gdLst/>
              <a:ahLst/>
              <a:cxnLst/>
              <a:rect l="l" t="t" r="r" b="b"/>
              <a:pathLst>
                <a:path w="21817409" h="563911">
                  <a:moveTo>
                    <a:pt x="0" y="0"/>
                  </a:moveTo>
                  <a:lnTo>
                    <a:pt x="21817409" y="0"/>
                  </a:lnTo>
                  <a:lnTo>
                    <a:pt x="21817409" y="563911"/>
                  </a:lnTo>
                  <a:lnTo>
                    <a:pt x="0" y="563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21817410" cy="64963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49"/>
                </a:lnSpc>
              </a:pPr>
              <a:r>
                <a:rPr lang="en-US" sz="202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Use throttling tools and test under 4G, 5G or WIFI for latency.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8605" y="5378946"/>
            <a:ext cx="16790789" cy="1299270"/>
            <a:chOff x="0" y="0"/>
            <a:chExt cx="22387718" cy="17323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387686" cy="1732407"/>
            </a:xfrm>
            <a:custGeom>
              <a:avLst/>
              <a:gdLst/>
              <a:ahLst/>
              <a:cxnLst/>
              <a:rect l="l" t="t" r="r" b="b"/>
              <a:pathLst>
                <a:path w="22387686" h="1732407">
                  <a:moveTo>
                    <a:pt x="0" y="42799"/>
                  </a:moveTo>
                  <a:cubicBezTo>
                    <a:pt x="0" y="19177"/>
                    <a:pt x="19177" y="0"/>
                    <a:pt x="42799" y="0"/>
                  </a:cubicBezTo>
                  <a:lnTo>
                    <a:pt x="22344887" y="0"/>
                  </a:lnTo>
                  <a:cubicBezTo>
                    <a:pt x="22368509" y="0"/>
                    <a:pt x="22387686" y="19177"/>
                    <a:pt x="22387686" y="42799"/>
                  </a:cubicBezTo>
                  <a:lnTo>
                    <a:pt x="22387686" y="1689608"/>
                  </a:lnTo>
                  <a:cubicBezTo>
                    <a:pt x="22387686" y="1713230"/>
                    <a:pt x="22368509" y="1732407"/>
                    <a:pt x="22344887" y="1732407"/>
                  </a:cubicBezTo>
                  <a:lnTo>
                    <a:pt x="42799" y="1732407"/>
                  </a:lnTo>
                  <a:cubicBezTo>
                    <a:pt x="19177" y="1732407"/>
                    <a:pt x="0" y="1713230"/>
                    <a:pt x="0" y="16896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62471" y="5592812"/>
            <a:ext cx="5821678" cy="504237"/>
            <a:chOff x="0" y="0"/>
            <a:chExt cx="7762238" cy="6723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762238" cy="672316"/>
            </a:xfrm>
            <a:custGeom>
              <a:avLst/>
              <a:gdLst/>
              <a:ahLst/>
              <a:cxnLst/>
              <a:rect l="l" t="t" r="r" b="b"/>
              <a:pathLst>
                <a:path w="7762238" h="672316">
                  <a:moveTo>
                    <a:pt x="0" y="0"/>
                  </a:moveTo>
                  <a:lnTo>
                    <a:pt x="7762238" y="0"/>
                  </a:lnTo>
                  <a:lnTo>
                    <a:pt x="7762238" y="672316"/>
                  </a:lnTo>
                  <a:lnTo>
                    <a:pt x="0" y="672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7762238" cy="6913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Monitor Server-Side Metrics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2471" y="6122194"/>
            <a:ext cx="16363058" cy="422933"/>
            <a:chOff x="0" y="0"/>
            <a:chExt cx="21817410" cy="5639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817409" cy="563911"/>
            </a:xfrm>
            <a:custGeom>
              <a:avLst/>
              <a:gdLst/>
              <a:ahLst/>
              <a:cxnLst/>
              <a:rect l="l" t="t" r="r" b="b"/>
              <a:pathLst>
                <a:path w="21817409" h="563911">
                  <a:moveTo>
                    <a:pt x="0" y="0"/>
                  </a:moveTo>
                  <a:lnTo>
                    <a:pt x="21817409" y="0"/>
                  </a:lnTo>
                  <a:lnTo>
                    <a:pt x="21817409" y="563911"/>
                  </a:lnTo>
                  <a:lnTo>
                    <a:pt x="0" y="563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21817410" cy="64963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49"/>
                </a:lnSpc>
              </a:pPr>
              <a:r>
                <a:rPr lang="en-US" sz="202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Track the metrics and spot any performance bottlenecks.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8605" y="6892081"/>
            <a:ext cx="16790789" cy="1299270"/>
            <a:chOff x="0" y="0"/>
            <a:chExt cx="22387718" cy="17323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387686" cy="1732407"/>
            </a:xfrm>
            <a:custGeom>
              <a:avLst/>
              <a:gdLst/>
              <a:ahLst/>
              <a:cxnLst/>
              <a:rect l="l" t="t" r="r" b="b"/>
              <a:pathLst>
                <a:path w="22387686" h="1732407">
                  <a:moveTo>
                    <a:pt x="0" y="42799"/>
                  </a:moveTo>
                  <a:cubicBezTo>
                    <a:pt x="0" y="19177"/>
                    <a:pt x="19177" y="0"/>
                    <a:pt x="42799" y="0"/>
                  </a:cubicBezTo>
                  <a:lnTo>
                    <a:pt x="22344887" y="0"/>
                  </a:lnTo>
                  <a:cubicBezTo>
                    <a:pt x="22368509" y="0"/>
                    <a:pt x="22387686" y="19177"/>
                    <a:pt x="22387686" y="42799"/>
                  </a:cubicBezTo>
                  <a:lnTo>
                    <a:pt x="22387686" y="1689608"/>
                  </a:lnTo>
                  <a:cubicBezTo>
                    <a:pt x="22387686" y="1713230"/>
                    <a:pt x="22368509" y="1732407"/>
                    <a:pt x="22344887" y="1732407"/>
                  </a:cubicBezTo>
                  <a:lnTo>
                    <a:pt x="42799" y="1732407"/>
                  </a:lnTo>
                  <a:cubicBezTo>
                    <a:pt x="19177" y="1732407"/>
                    <a:pt x="0" y="1713230"/>
                    <a:pt x="0" y="16896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62471" y="7105947"/>
            <a:ext cx="5699404" cy="504237"/>
            <a:chOff x="0" y="0"/>
            <a:chExt cx="7599206" cy="6723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599206" cy="672316"/>
            </a:xfrm>
            <a:custGeom>
              <a:avLst/>
              <a:gdLst/>
              <a:ahLst/>
              <a:cxnLst/>
              <a:rect l="l" t="t" r="r" b="b"/>
              <a:pathLst>
                <a:path w="7599206" h="672316">
                  <a:moveTo>
                    <a:pt x="0" y="0"/>
                  </a:moveTo>
                  <a:lnTo>
                    <a:pt x="7599206" y="0"/>
                  </a:lnTo>
                  <a:lnTo>
                    <a:pt x="7599206" y="672316"/>
                  </a:lnTo>
                  <a:lnTo>
                    <a:pt x="0" y="672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7599206" cy="6913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Use Distributed Load Testing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2471" y="7635329"/>
            <a:ext cx="16363058" cy="422933"/>
            <a:chOff x="0" y="0"/>
            <a:chExt cx="21817410" cy="56391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817409" cy="563911"/>
            </a:xfrm>
            <a:custGeom>
              <a:avLst/>
              <a:gdLst/>
              <a:ahLst/>
              <a:cxnLst/>
              <a:rect l="l" t="t" r="r" b="b"/>
              <a:pathLst>
                <a:path w="21817409" h="563911">
                  <a:moveTo>
                    <a:pt x="0" y="0"/>
                  </a:moveTo>
                  <a:lnTo>
                    <a:pt x="21817409" y="0"/>
                  </a:lnTo>
                  <a:lnTo>
                    <a:pt x="21817409" y="563911"/>
                  </a:lnTo>
                  <a:lnTo>
                    <a:pt x="0" y="563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21817410" cy="64963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49"/>
                </a:lnSpc>
              </a:pPr>
              <a:r>
                <a:rPr lang="en-US" sz="202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Utilize containerization &amp; orchestration to validate the performance at a large scale.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8605" y="8405218"/>
            <a:ext cx="16790789" cy="1299270"/>
            <a:chOff x="0" y="0"/>
            <a:chExt cx="22387718" cy="1732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387686" cy="1732407"/>
            </a:xfrm>
            <a:custGeom>
              <a:avLst/>
              <a:gdLst/>
              <a:ahLst/>
              <a:cxnLst/>
              <a:rect l="l" t="t" r="r" b="b"/>
              <a:pathLst>
                <a:path w="22387686" h="1732407">
                  <a:moveTo>
                    <a:pt x="0" y="42799"/>
                  </a:moveTo>
                  <a:cubicBezTo>
                    <a:pt x="0" y="19177"/>
                    <a:pt x="19177" y="0"/>
                    <a:pt x="42799" y="0"/>
                  </a:cubicBezTo>
                  <a:lnTo>
                    <a:pt x="22344887" y="0"/>
                  </a:lnTo>
                  <a:cubicBezTo>
                    <a:pt x="22368509" y="0"/>
                    <a:pt x="22387686" y="19177"/>
                    <a:pt x="22387686" y="42799"/>
                  </a:cubicBezTo>
                  <a:lnTo>
                    <a:pt x="22387686" y="1689608"/>
                  </a:lnTo>
                  <a:cubicBezTo>
                    <a:pt x="22387686" y="1713230"/>
                    <a:pt x="22368509" y="1732407"/>
                    <a:pt x="22344887" y="1732407"/>
                  </a:cubicBezTo>
                  <a:lnTo>
                    <a:pt x="42799" y="1732407"/>
                  </a:lnTo>
                  <a:cubicBezTo>
                    <a:pt x="19177" y="1732407"/>
                    <a:pt x="0" y="1713230"/>
                    <a:pt x="0" y="168960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62471" y="8619084"/>
            <a:ext cx="5699404" cy="504237"/>
            <a:chOff x="0" y="0"/>
            <a:chExt cx="7599206" cy="67231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599206" cy="672316"/>
            </a:xfrm>
            <a:custGeom>
              <a:avLst/>
              <a:gdLst/>
              <a:ahLst/>
              <a:cxnLst/>
              <a:rect l="l" t="t" r="r" b="b"/>
              <a:pathLst>
                <a:path w="7599206" h="672316">
                  <a:moveTo>
                    <a:pt x="0" y="0"/>
                  </a:moveTo>
                  <a:lnTo>
                    <a:pt x="7599206" y="0"/>
                  </a:lnTo>
                  <a:lnTo>
                    <a:pt x="7599206" y="672316"/>
                  </a:lnTo>
                  <a:lnTo>
                    <a:pt x="0" y="672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7599206" cy="6913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4C4C4D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Analyze Test Results Effectively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2471" y="9148465"/>
            <a:ext cx="16363058" cy="422933"/>
            <a:chOff x="0" y="0"/>
            <a:chExt cx="21817410" cy="56391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817409" cy="563911"/>
            </a:xfrm>
            <a:custGeom>
              <a:avLst/>
              <a:gdLst/>
              <a:ahLst/>
              <a:cxnLst/>
              <a:rect l="l" t="t" r="r" b="b"/>
              <a:pathLst>
                <a:path w="21817409" h="563911">
                  <a:moveTo>
                    <a:pt x="0" y="0"/>
                  </a:moveTo>
                  <a:lnTo>
                    <a:pt x="21817409" y="0"/>
                  </a:lnTo>
                  <a:lnTo>
                    <a:pt x="21817409" y="563911"/>
                  </a:lnTo>
                  <a:lnTo>
                    <a:pt x="0" y="563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21817410" cy="64963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49"/>
                </a:lnSpc>
              </a:pPr>
              <a:r>
                <a:rPr lang="en-US" sz="2024">
                  <a:solidFill>
                    <a:srgbClr val="4C4C4D"/>
                  </a:solidFill>
                  <a:latin typeface="Heebo"/>
                  <a:ea typeface="Heebo"/>
                  <a:cs typeface="Heebo"/>
                  <a:sym typeface="Heebo"/>
                </a:rPr>
                <a:t>Use the logs and reports for deeper analysis and improvements.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1597</Words>
  <Application>Microsoft Office PowerPoint</Application>
  <PresentationFormat>Custom</PresentationFormat>
  <Paragraphs>278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Heebo Bold</vt:lpstr>
      <vt:lpstr>Heebo</vt:lpstr>
      <vt:lpstr>Arial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Performance-Testing.pptx</dc:title>
  <cp:lastModifiedBy>MohammaD AneeS</cp:lastModifiedBy>
  <cp:revision>3</cp:revision>
  <dcterms:created xsi:type="dcterms:W3CDTF">2006-08-16T00:00:00Z</dcterms:created>
  <dcterms:modified xsi:type="dcterms:W3CDTF">2026-10-03T07:01:07Z</dcterms:modified>
  <dc:identifier>DAGjvcXdiCM</dc:identifier>
</cp:coreProperties>
</file>