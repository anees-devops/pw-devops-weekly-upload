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rimo" panose="020B0604020202020204" pitchFamily="34" charset="0"/>
      <p:regular r:id="rId18"/>
    </p:embeddedFont>
    <p:embeddedFont>
      <p:font typeface="Arimo Bold" panose="020B0704020202020204" pitchFamily="34" charset="0"/>
      <p:regular r:id="rId19"/>
      <p:bold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Source Serif Pro" panose="02040603050405020204" pitchFamily="18" charset="0"/>
      <p:regular r:id="rId25"/>
    </p:embeddedFont>
    <p:embeddedFont>
      <p:font typeface="Source Serif Pro Bold" panose="02040803050405020204" pitchFamily="18" charset="77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55" autoAdjust="0"/>
  </p:normalViewPr>
  <p:slideViewPr>
    <p:cSldViewPr>
      <p:cViewPr varScale="1">
        <p:scale>
          <a:sx n="78" d="100"/>
          <a:sy n="78" d="100"/>
        </p:scale>
        <p:origin x="55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23.03.2025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 descr="preencoded.png"/>
          <p:cNvSpPr/>
          <p:nvPr/>
        </p:nvSpPr>
        <p:spPr>
          <a:xfrm>
            <a:off x="10651808" y="2381418"/>
            <a:ext cx="7281684" cy="5748162"/>
          </a:xfrm>
          <a:custGeom>
            <a:avLst/>
            <a:gdLst/>
            <a:ahLst/>
            <a:cxnLst/>
            <a:rect l="l" t="t" r="r" b="b"/>
            <a:pathLst>
              <a:path w="7281684" h="5748162">
                <a:moveTo>
                  <a:pt x="0" y="0"/>
                </a:moveTo>
                <a:lnTo>
                  <a:pt x="7281683" y="0"/>
                </a:lnTo>
                <a:lnTo>
                  <a:pt x="7281683" y="5748162"/>
                </a:lnTo>
                <a:lnTo>
                  <a:pt x="0" y="57481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10" r="-5610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4032727"/>
            <a:ext cx="9445526" cy="1629611"/>
            <a:chOff x="0" y="0"/>
            <a:chExt cx="12594035" cy="21728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594035" cy="2172815"/>
            </a:xfrm>
            <a:custGeom>
              <a:avLst/>
              <a:gdLst/>
              <a:ahLst/>
              <a:cxnLst/>
              <a:rect l="l" t="t" r="r" b="b"/>
              <a:pathLst>
                <a:path w="12594035" h="2172815">
                  <a:moveTo>
                    <a:pt x="0" y="0"/>
                  </a:moveTo>
                  <a:lnTo>
                    <a:pt x="12594035" y="0"/>
                  </a:lnTo>
                  <a:lnTo>
                    <a:pt x="12594035" y="2172815"/>
                  </a:lnTo>
                  <a:lnTo>
                    <a:pt x="0" y="21728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12594035" cy="22490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10000"/>
                </a:lnSpc>
              </a:pPr>
              <a:r>
                <a:rPr lang="en-US" sz="7987">
                  <a:solidFill>
                    <a:srgbClr val="D14635"/>
                  </a:solidFill>
                  <a:latin typeface="Arimo"/>
                  <a:ea typeface="Arimo"/>
                  <a:cs typeface="Arimo"/>
                  <a:sym typeface="Arimo"/>
                </a:rPr>
                <a:t>Advanced Jenkins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8807749"/>
            <a:ext cx="2123074" cy="42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3"/>
              </a:lnSpc>
              <a:spcBef>
                <a:spcPct val="0"/>
              </a:spcBef>
            </a:pPr>
            <a:r>
              <a:rPr lang="en-US" sz="26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Presenter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9229725"/>
            <a:ext cx="4971471" cy="441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7"/>
              </a:lnSpc>
              <a:spcBef>
                <a:spcPct val="0"/>
              </a:spcBef>
            </a:pPr>
            <a:r>
              <a:rPr lang="en-US" sz="27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Mohammad Anees 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875556"/>
            <a:ext cx="6025009" cy="753070"/>
            <a:chOff x="0" y="0"/>
            <a:chExt cx="8033345" cy="10040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033345" cy="1004093"/>
            </a:xfrm>
            <a:custGeom>
              <a:avLst/>
              <a:gdLst/>
              <a:ahLst/>
              <a:cxnLst/>
              <a:rect l="l" t="t" r="r" b="b"/>
              <a:pathLst>
                <a:path w="8033345" h="1004093">
                  <a:moveTo>
                    <a:pt x="0" y="0"/>
                  </a:moveTo>
                  <a:lnTo>
                    <a:pt x="8033345" y="0"/>
                  </a:lnTo>
                  <a:lnTo>
                    <a:pt x="8033345" y="1004093"/>
                  </a:lnTo>
                  <a:lnTo>
                    <a:pt x="0" y="10040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033345" cy="1051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74"/>
                </a:lnSpc>
              </a:pPr>
              <a:r>
                <a:rPr lang="en-US" sz="4687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Today's Agenda !!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992238" y="2110531"/>
            <a:ext cx="1204912" cy="1463725"/>
          </a:xfrm>
          <a:custGeom>
            <a:avLst/>
            <a:gdLst/>
            <a:ahLst/>
            <a:cxnLst/>
            <a:rect l="l" t="t" r="r" b="b"/>
            <a:pathLst>
              <a:path w="1204912" h="1463725">
                <a:moveTo>
                  <a:pt x="0" y="0"/>
                </a:moveTo>
                <a:lnTo>
                  <a:pt x="1204912" y="0"/>
                </a:lnTo>
                <a:lnTo>
                  <a:pt x="1204912" y="1463725"/>
                </a:lnTo>
                <a:lnTo>
                  <a:pt x="0" y="14637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0" r="-90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558652" y="2351485"/>
            <a:ext cx="4093815" cy="451843"/>
            <a:chOff x="0" y="0"/>
            <a:chExt cx="5458420" cy="6024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458420" cy="602457"/>
            </a:xfrm>
            <a:custGeom>
              <a:avLst/>
              <a:gdLst/>
              <a:ahLst/>
              <a:cxnLst/>
              <a:rect l="l" t="t" r="r" b="b"/>
              <a:pathLst>
                <a:path w="5458420" h="602457">
                  <a:moveTo>
                    <a:pt x="0" y="0"/>
                  </a:moveTo>
                  <a:lnTo>
                    <a:pt x="5458420" y="0"/>
                  </a:lnTo>
                  <a:lnTo>
                    <a:pt x="5458420" y="602457"/>
                  </a:lnTo>
                  <a:lnTo>
                    <a:pt x="0" y="6024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5458420" cy="6310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99"/>
                </a:lnSpc>
              </a:pPr>
              <a:r>
                <a:rPr lang="en-US" sz="281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Jobs &amp; Files in Jenkins</a:t>
              </a:r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992238" y="3574256"/>
            <a:ext cx="1204912" cy="1463725"/>
          </a:xfrm>
          <a:custGeom>
            <a:avLst/>
            <a:gdLst/>
            <a:ahLst/>
            <a:cxnLst/>
            <a:rect l="l" t="t" r="r" b="b"/>
            <a:pathLst>
              <a:path w="1204912" h="1463725">
                <a:moveTo>
                  <a:pt x="0" y="0"/>
                </a:moveTo>
                <a:lnTo>
                  <a:pt x="1204912" y="0"/>
                </a:lnTo>
                <a:lnTo>
                  <a:pt x="1204912" y="1463725"/>
                </a:lnTo>
                <a:lnTo>
                  <a:pt x="0" y="14637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" r="-90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2558652" y="3815209"/>
            <a:ext cx="5149304" cy="451842"/>
            <a:chOff x="0" y="0"/>
            <a:chExt cx="6865738" cy="6024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65738" cy="602457"/>
            </a:xfrm>
            <a:custGeom>
              <a:avLst/>
              <a:gdLst/>
              <a:ahLst/>
              <a:cxnLst/>
              <a:rect l="l" t="t" r="r" b="b"/>
              <a:pathLst>
                <a:path w="6865738" h="602457">
                  <a:moveTo>
                    <a:pt x="0" y="0"/>
                  </a:moveTo>
                  <a:lnTo>
                    <a:pt x="6865738" y="0"/>
                  </a:lnTo>
                  <a:lnTo>
                    <a:pt x="6865738" y="602457"/>
                  </a:lnTo>
                  <a:lnTo>
                    <a:pt x="0" y="6024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6865738" cy="6310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99"/>
                </a:lnSpc>
              </a:pPr>
              <a:r>
                <a:rPr lang="en-US" sz="281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File Structure &amp; its key fields</a:t>
              </a:r>
            </a:p>
          </p:txBody>
        </p:sp>
      </p:grpSp>
      <p:sp>
        <p:nvSpPr>
          <p:cNvPr id="17" name="Freeform 17" descr="preencoded.png"/>
          <p:cNvSpPr/>
          <p:nvPr/>
        </p:nvSpPr>
        <p:spPr>
          <a:xfrm>
            <a:off x="992238" y="5037981"/>
            <a:ext cx="1204912" cy="1446014"/>
          </a:xfrm>
          <a:custGeom>
            <a:avLst/>
            <a:gdLst/>
            <a:ahLst/>
            <a:cxnLst/>
            <a:rect l="l" t="t" r="r" b="b"/>
            <a:pathLst>
              <a:path w="1204912" h="1446014">
                <a:moveTo>
                  <a:pt x="0" y="0"/>
                </a:moveTo>
                <a:lnTo>
                  <a:pt x="1204912" y="0"/>
                </a:lnTo>
                <a:lnTo>
                  <a:pt x="1204912" y="1446014"/>
                </a:lnTo>
                <a:lnTo>
                  <a:pt x="0" y="1446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5" r="-135"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2558652" y="5278934"/>
            <a:ext cx="5362872" cy="451842"/>
            <a:chOff x="0" y="0"/>
            <a:chExt cx="7150497" cy="60245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150497" cy="602457"/>
            </a:xfrm>
            <a:custGeom>
              <a:avLst/>
              <a:gdLst/>
              <a:ahLst/>
              <a:cxnLst/>
              <a:rect l="l" t="t" r="r" b="b"/>
              <a:pathLst>
                <a:path w="7150497" h="602457">
                  <a:moveTo>
                    <a:pt x="0" y="0"/>
                  </a:moveTo>
                  <a:lnTo>
                    <a:pt x="7150497" y="0"/>
                  </a:lnTo>
                  <a:lnTo>
                    <a:pt x="7150497" y="602457"/>
                  </a:lnTo>
                  <a:lnTo>
                    <a:pt x="0" y="6024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7150497" cy="6310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99"/>
                </a:lnSpc>
              </a:pPr>
              <a:r>
                <a:rPr lang="en-US" sz="281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Upstream &amp; Downstream jobs</a:t>
              </a:r>
            </a:p>
          </p:txBody>
        </p:sp>
      </p:grpSp>
      <p:sp>
        <p:nvSpPr>
          <p:cNvPr id="21" name="Freeform 21" descr="preencoded.png"/>
          <p:cNvSpPr/>
          <p:nvPr/>
        </p:nvSpPr>
        <p:spPr>
          <a:xfrm>
            <a:off x="992238" y="6483995"/>
            <a:ext cx="1204912" cy="1463725"/>
          </a:xfrm>
          <a:custGeom>
            <a:avLst/>
            <a:gdLst/>
            <a:ahLst/>
            <a:cxnLst/>
            <a:rect l="l" t="t" r="r" b="b"/>
            <a:pathLst>
              <a:path w="1204912" h="1463725">
                <a:moveTo>
                  <a:pt x="0" y="0"/>
                </a:moveTo>
                <a:lnTo>
                  <a:pt x="1204912" y="0"/>
                </a:lnTo>
                <a:lnTo>
                  <a:pt x="1204912" y="1463725"/>
                </a:lnTo>
                <a:lnTo>
                  <a:pt x="0" y="14637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0" r="-90"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2558652" y="6724947"/>
            <a:ext cx="3615035" cy="451842"/>
            <a:chOff x="0" y="0"/>
            <a:chExt cx="4820047" cy="60245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20047" cy="602457"/>
            </a:xfrm>
            <a:custGeom>
              <a:avLst/>
              <a:gdLst/>
              <a:ahLst/>
              <a:cxnLst/>
              <a:rect l="l" t="t" r="r" b="b"/>
              <a:pathLst>
                <a:path w="4820047" h="602457">
                  <a:moveTo>
                    <a:pt x="0" y="0"/>
                  </a:moveTo>
                  <a:lnTo>
                    <a:pt x="4820047" y="0"/>
                  </a:lnTo>
                  <a:lnTo>
                    <a:pt x="4820047" y="602457"/>
                  </a:lnTo>
                  <a:lnTo>
                    <a:pt x="0" y="6024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4820047" cy="6310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99"/>
                </a:lnSpc>
              </a:pPr>
              <a:r>
                <a:rPr lang="en-US" sz="281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Hands-on Activity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992238" y="7947720"/>
            <a:ext cx="1204912" cy="1463725"/>
          </a:xfrm>
          <a:custGeom>
            <a:avLst/>
            <a:gdLst/>
            <a:ahLst/>
            <a:cxnLst/>
            <a:rect l="l" t="t" r="r" b="b"/>
            <a:pathLst>
              <a:path w="1204912" h="1463725">
                <a:moveTo>
                  <a:pt x="0" y="0"/>
                </a:moveTo>
                <a:lnTo>
                  <a:pt x="1204912" y="0"/>
                </a:lnTo>
                <a:lnTo>
                  <a:pt x="1204912" y="1463725"/>
                </a:lnTo>
                <a:lnTo>
                  <a:pt x="0" y="14637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0" r="-90"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2558652" y="8188672"/>
            <a:ext cx="5767239" cy="451842"/>
            <a:chOff x="0" y="0"/>
            <a:chExt cx="7689652" cy="60245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689652" cy="602457"/>
            </a:xfrm>
            <a:custGeom>
              <a:avLst/>
              <a:gdLst/>
              <a:ahLst/>
              <a:cxnLst/>
              <a:rect l="l" t="t" r="r" b="b"/>
              <a:pathLst>
                <a:path w="7689652" h="602457">
                  <a:moveTo>
                    <a:pt x="0" y="0"/>
                  </a:moveTo>
                  <a:lnTo>
                    <a:pt x="7689652" y="0"/>
                  </a:lnTo>
                  <a:lnTo>
                    <a:pt x="7689652" y="602457"/>
                  </a:lnTo>
                  <a:lnTo>
                    <a:pt x="0" y="6024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7689652" cy="6310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99"/>
                </a:lnSpc>
              </a:pPr>
              <a:r>
                <a:rPr lang="en-US" sz="281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CI best practices &amp; optimization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7" y="863619"/>
            <a:ext cx="7954691" cy="800104"/>
            <a:chOff x="0" y="0"/>
            <a:chExt cx="10134402" cy="101934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34402" cy="1019345"/>
            </a:xfrm>
            <a:custGeom>
              <a:avLst/>
              <a:gdLst/>
              <a:ahLst/>
              <a:cxnLst/>
              <a:rect l="l" t="t" r="r" b="b"/>
              <a:pathLst>
                <a:path w="10134402" h="1019345">
                  <a:moveTo>
                    <a:pt x="0" y="0"/>
                  </a:moveTo>
                  <a:lnTo>
                    <a:pt x="10134402" y="0"/>
                  </a:lnTo>
                  <a:lnTo>
                    <a:pt x="10134402" y="1019345"/>
                  </a:lnTo>
                  <a:lnTo>
                    <a:pt x="0" y="10193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134402" cy="1057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6"/>
                </a:lnSpc>
              </a:pPr>
              <a:r>
                <a:rPr lang="en-US" sz="376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Understanding Jenkins Job Types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2032099"/>
            <a:ext cx="5283250" cy="7243465"/>
            <a:chOff x="0" y="0"/>
            <a:chExt cx="7044333" cy="96579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044309" cy="9657969"/>
            </a:xfrm>
            <a:custGeom>
              <a:avLst/>
              <a:gdLst/>
              <a:ahLst/>
              <a:cxnLst/>
              <a:rect l="l" t="t" r="r" b="b"/>
              <a:pathLst>
                <a:path w="7044309" h="9657969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6998970" y="0"/>
                  </a:lnTo>
                  <a:cubicBezTo>
                    <a:pt x="7023988" y="0"/>
                    <a:pt x="7044309" y="20320"/>
                    <a:pt x="7044309" y="45339"/>
                  </a:cubicBezTo>
                  <a:lnTo>
                    <a:pt x="7044309" y="9612630"/>
                  </a:lnTo>
                  <a:cubicBezTo>
                    <a:pt x="7044309" y="9637649"/>
                    <a:pt x="7023988" y="9657969"/>
                    <a:pt x="6998970" y="9657969"/>
                  </a:cubicBezTo>
                  <a:lnTo>
                    <a:pt x="45339" y="9657969"/>
                  </a:lnTo>
                  <a:cubicBezTo>
                    <a:pt x="20320" y="9657969"/>
                    <a:pt x="0" y="9637649"/>
                    <a:pt x="0" y="961263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932683" y="2258914"/>
            <a:ext cx="3402360" cy="425203"/>
            <a:chOff x="0" y="0"/>
            <a:chExt cx="4536480" cy="5669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36480" cy="566937"/>
            </a:xfrm>
            <a:custGeom>
              <a:avLst/>
              <a:gdLst/>
              <a:ahLst/>
              <a:cxnLst/>
              <a:rect l="l" t="t" r="r" b="b"/>
              <a:pathLst>
                <a:path w="4536480" h="566937">
                  <a:moveTo>
                    <a:pt x="0" y="0"/>
                  </a:moveTo>
                  <a:lnTo>
                    <a:pt x="4536480" y="0"/>
                  </a:lnTo>
                  <a:lnTo>
                    <a:pt x="4536480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536480" cy="6050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2625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Freestyle Jobs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9051" y="2820144"/>
            <a:ext cx="4829621" cy="2268141"/>
            <a:chOff x="0" y="0"/>
            <a:chExt cx="6439495" cy="30241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439495" cy="3024188"/>
            </a:xfrm>
            <a:custGeom>
              <a:avLst/>
              <a:gdLst/>
              <a:ahLst/>
              <a:cxnLst/>
              <a:rect l="l" t="t" r="r" b="b"/>
              <a:pathLst>
                <a:path w="6439495" h="3024188">
                  <a:moveTo>
                    <a:pt x="0" y="0"/>
                  </a:moveTo>
                  <a:lnTo>
                    <a:pt x="6439495" y="0"/>
                  </a:lnTo>
                  <a:lnTo>
                    <a:pt x="6439495" y="3024188"/>
                  </a:lnTo>
                  <a:lnTo>
                    <a:pt x="0" y="3024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6439495" cy="3109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Freestyle jobs in Jenkins are the simplest and fundamental type of job. They offer a user-friendly interface for setting up and executing automation tasks.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19051" y="5813971"/>
            <a:ext cx="2980581" cy="354360"/>
            <a:chOff x="0" y="0"/>
            <a:chExt cx="3974108" cy="4724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74108" cy="472480"/>
            </a:xfrm>
            <a:custGeom>
              <a:avLst/>
              <a:gdLst/>
              <a:ahLst/>
              <a:cxnLst/>
              <a:rect l="l" t="t" r="r" b="b"/>
              <a:pathLst>
                <a:path w="3974108" h="472480">
                  <a:moveTo>
                    <a:pt x="0" y="0"/>
                  </a:moveTo>
                  <a:lnTo>
                    <a:pt x="3974108" y="0"/>
                  </a:lnTo>
                  <a:lnTo>
                    <a:pt x="3974108" y="472480"/>
                  </a:lnTo>
                  <a:lnTo>
                    <a:pt x="0" y="4724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3974108" cy="501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0"/>
                </a:lnSpc>
              </a:pPr>
              <a:r>
                <a:rPr lang="en-US" sz="2187" b="1">
                  <a:solidFill>
                    <a:srgbClr val="504C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Use Cases in DevOps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9051" y="6304360"/>
            <a:ext cx="4829621" cy="907256"/>
            <a:chOff x="0" y="0"/>
            <a:chExt cx="6439495" cy="120967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439495" cy="1209675"/>
            </a:xfrm>
            <a:custGeom>
              <a:avLst/>
              <a:gdLst/>
              <a:ahLst/>
              <a:cxnLst/>
              <a:rect l="l" t="t" r="r" b="b"/>
              <a:pathLst>
                <a:path w="6439495" h="1209675">
                  <a:moveTo>
                    <a:pt x="0" y="0"/>
                  </a:moveTo>
                  <a:lnTo>
                    <a:pt x="6439495" y="0"/>
                  </a:lnTo>
                  <a:lnTo>
                    <a:pt x="643949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6439495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9165" lvl="1" indent="-154583" algn="l">
                <a:lnSpc>
                  <a:spcPts val="3294"/>
                </a:lnSpc>
                <a:buFont typeface="Arial"/>
                <a:buChar char="•"/>
              </a:pPr>
              <a:r>
                <a:rPr lang="en-US" sz="20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Running custom scripts (e.g., Shell, Python)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19051" y="7290941"/>
            <a:ext cx="4829621" cy="453629"/>
            <a:chOff x="0" y="0"/>
            <a:chExt cx="6439495" cy="60483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439495" cy="604838"/>
            </a:xfrm>
            <a:custGeom>
              <a:avLst/>
              <a:gdLst/>
              <a:ahLst/>
              <a:cxnLst/>
              <a:rect l="l" t="t" r="r" b="b"/>
              <a:pathLst>
                <a:path w="6439495" h="604838">
                  <a:moveTo>
                    <a:pt x="0" y="0"/>
                  </a:moveTo>
                  <a:lnTo>
                    <a:pt x="6439495" y="0"/>
                  </a:lnTo>
                  <a:lnTo>
                    <a:pt x="643949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6439495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9165" lvl="1" indent="-154583" algn="l">
                <a:lnSpc>
                  <a:spcPts val="3294"/>
                </a:lnSpc>
                <a:buFont typeface="Arial"/>
                <a:buChar char="•"/>
              </a:pPr>
              <a:r>
                <a:rPr lang="en-US" sz="20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Deploying a basic application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19051" y="7823895"/>
            <a:ext cx="4829621" cy="907256"/>
            <a:chOff x="0" y="0"/>
            <a:chExt cx="6439495" cy="120967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439495" cy="1209675"/>
            </a:xfrm>
            <a:custGeom>
              <a:avLst/>
              <a:gdLst/>
              <a:ahLst/>
              <a:cxnLst/>
              <a:rect l="l" t="t" r="r" b="b"/>
              <a:pathLst>
                <a:path w="6439495" h="1209675">
                  <a:moveTo>
                    <a:pt x="0" y="0"/>
                  </a:moveTo>
                  <a:lnTo>
                    <a:pt x="6439495" y="0"/>
                  </a:lnTo>
                  <a:lnTo>
                    <a:pt x="643949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85725"/>
              <a:ext cx="6439495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9165" lvl="1" indent="-154583" algn="l">
                <a:lnSpc>
                  <a:spcPts val="3294"/>
                </a:lnSpc>
                <a:buFont typeface="Arial"/>
                <a:buChar char="•"/>
              </a:pPr>
              <a:r>
                <a:rPr lang="en-US" sz="20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Running system maintenance tasks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502301" y="2032099"/>
            <a:ext cx="5283250" cy="7243465"/>
            <a:chOff x="0" y="0"/>
            <a:chExt cx="7044333" cy="965795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044309" cy="9657969"/>
            </a:xfrm>
            <a:custGeom>
              <a:avLst/>
              <a:gdLst/>
              <a:ahLst/>
              <a:cxnLst/>
              <a:rect l="l" t="t" r="r" b="b"/>
              <a:pathLst>
                <a:path w="7044309" h="9657969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6998970" y="0"/>
                  </a:lnTo>
                  <a:cubicBezTo>
                    <a:pt x="7023988" y="0"/>
                    <a:pt x="7044309" y="20320"/>
                    <a:pt x="7044309" y="45339"/>
                  </a:cubicBezTo>
                  <a:lnTo>
                    <a:pt x="7044309" y="9612630"/>
                  </a:lnTo>
                  <a:cubicBezTo>
                    <a:pt x="7044309" y="9637649"/>
                    <a:pt x="7023988" y="9657969"/>
                    <a:pt x="6998970" y="9657969"/>
                  </a:cubicBezTo>
                  <a:lnTo>
                    <a:pt x="45339" y="9657969"/>
                  </a:lnTo>
                  <a:cubicBezTo>
                    <a:pt x="20320" y="9657969"/>
                    <a:pt x="0" y="9637649"/>
                    <a:pt x="0" y="961263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442746" y="2258914"/>
            <a:ext cx="3402360" cy="425203"/>
            <a:chOff x="0" y="0"/>
            <a:chExt cx="4536480" cy="56693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536480" cy="566937"/>
            </a:xfrm>
            <a:custGeom>
              <a:avLst/>
              <a:gdLst/>
              <a:ahLst/>
              <a:cxnLst/>
              <a:rect l="l" t="t" r="r" b="b"/>
              <a:pathLst>
                <a:path w="4536480" h="566937">
                  <a:moveTo>
                    <a:pt x="0" y="0"/>
                  </a:moveTo>
                  <a:lnTo>
                    <a:pt x="4536480" y="0"/>
                  </a:lnTo>
                  <a:lnTo>
                    <a:pt x="4536480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4536480" cy="6050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2625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Pipeline Jobs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729115" y="2820144"/>
            <a:ext cx="4829621" cy="2268141"/>
            <a:chOff x="0" y="0"/>
            <a:chExt cx="6439495" cy="302418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439495" cy="3024188"/>
            </a:xfrm>
            <a:custGeom>
              <a:avLst/>
              <a:gdLst/>
              <a:ahLst/>
              <a:cxnLst/>
              <a:rect l="l" t="t" r="r" b="b"/>
              <a:pathLst>
                <a:path w="6439495" h="3024188">
                  <a:moveTo>
                    <a:pt x="0" y="0"/>
                  </a:moveTo>
                  <a:lnTo>
                    <a:pt x="6439495" y="0"/>
                  </a:lnTo>
                  <a:lnTo>
                    <a:pt x="6439495" y="3024188"/>
                  </a:lnTo>
                  <a:lnTo>
                    <a:pt x="0" y="3024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6439495" cy="3109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Pipeline jobs in Jenkins enable the creation of CI/CD workflows through code, providing the flexibility to handle complex automation processes.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729115" y="5813971"/>
            <a:ext cx="2980581" cy="354360"/>
            <a:chOff x="0" y="0"/>
            <a:chExt cx="3974108" cy="47248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974108" cy="472480"/>
            </a:xfrm>
            <a:custGeom>
              <a:avLst/>
              <a:gdLst/>
              <a:ahLst/>
              <a:cxnLst/>
              <a:rect l="l" t="t" r="r" b="b"/>
              <a:pathLst>
                <a:path w="3974108" h="472480">
                  <a:moveTo>
                    <a:pt x="0" y="0"/>
                  </a:moveTo>
                  <a:lnTo>
                    <a:pt x="3974108" y="0"/>
                  </a:lnTo>
                  <a:lnTo>
                    <a:pt x="3974108" y="472480"/>
                  </a:lnTo>
                  <a:lnTo>
                    <a:pt x="0" y="4724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3974108" cy="501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0"/>
                </a:lnSpc>
              </a:pPr>
              <a:r>
                <a:rPr lang="en-US" sz="2187" b="1">
                  <a:solidFill>
                    <a:srgbClr val="504C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Use Cases in DevOps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29115" y="6304360"/>
            <a:ext cx="4829621" cy="453629"/>
            <a:chOff x="0" y="0"/>
            <a:chExt cx="6439495" cy="60483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439495" cy="604838"/>
            </a:xfrm>
            <a:custGeom>
              <a:avLst/>
              <a:gdLst/>
              <a:ahLst/>
              <a:cxnLst/>
              <a:rect l="l" t="t" r="r" b="b"/>
              <a:pathLst>
                <a:path w="6439495" h="604838">
                  <a:moveTo>
                    <a:pt x="0" y="0"/>
                  </a:moveTo>
                  <a:lnTo>
                    <a:pt x="6439495" y="0"/>
                  </a:lnTo>
                  <a:lnTo>
                    <a:pt x="643949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85725"/>
              <a:ext cx="6439495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9165" lvl="1" indent="-154583" algn="l">
                <a:lnSpc>
                  <a:spcPts val="3294"/>
                </a:lnSpc>
                <a:buFont typeface="Arial"/>
                <a:buChar char="•"/>
              </a:pPr>
              <a:r>
                <a:rPr lang="en-US" sz="20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Automating CI/CD workflows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729115" y="6837312"/>
            <a:ext cx="4829621" cy="907256"/>
            <a:chOff x="0" y="0"/>
            <a:chExt cx="6439495" cy="120967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439495" cy="1209675"/>
            </a:xfrm>
            <a:custGeom>
              <a:avLst/>
              <a:gdLst/>
              <a:ahLst/>
              <a:cxnLst/>
              <a:rect l="l" t="t" r="r" b="b"/>
              <a:pathLst>
                <a:path w="6439495" h="1209675">
                  <a:moveTo>
                    <a:pt x="0" y="0"/>
                  </a:moveTo>
                  <a:lnTo>
                    <a:pt x="6439495" y="0"/>
                  </a:lnTo>
                  <a:lnTo>
                    <a:pt x="643949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85725"/>
              <a:ext cx="6439495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9165" lvl="1" indent="-154583" algn="l">
                <a:lnSpc>
                  <a:spcPts val="3294"/>
                </a:lnSpc>
                <a:buFont typeface="Arial"/>
                <a:buChar char="•"/>
              </a:pPr>
              <a:r>
                <a:rPr lang="en-US" sz="20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Running tests and deployments in multiple environments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729115" y="7823895"/>
            <a:ext cx="4829621" cy="907256"/>
            <a:chOff x="0" y="0"/>
            <a:chExt cx="6439495" cy="120967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439495" cy="1209675"/>
            </a:xfrm>
            <a:custGeom>
              <a:avLst/>
              <a:gdLst/>
              <a:ahLst/>
              <a:cxnLst/>
              <a:rect l="l" t="t" r="r" b="b"/>
              <a:pathLst>
                <a:path w="6439495" h="1209675">
                  <a:moveTo>
                    <a:pt x="0" y="0"/>
                  </a:moveTo>
                  <a:lnTo>
                    <a:pt x="6439495" y="0"/>
                  </a:lnTo>
                  <a:lnTo>
                    <a:pt x="643949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85725"/>
              <a:ext cx="6439495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9165" lvl="1" indent="-154583" algn="l">
                <a:lnSpc>
                  <a:spcPts val="3294"/>
                </a:lnSpc>
                <a:buFont typeface="Arial"/>
                <a:buChar char="•"/>
              </a:pPr>
              <a:r>
                <a:rPr lang="en-US" sz="20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Integrating with cloud platforms (AWS, Azure, GCP)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012365" y="2032099"/>
            <a:ext cx="5283250" cy="7243465"/>
            <a:chOff x="0" y="0"/>
            <a:chExt cx="7044333" cy="965795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044309" cy="9657969"/>
            </a:xfrm>
            <a:custGeom>
              <a:avLst/>
              <a:gdLst/>
              <a:ahLst/>
              <a:cxnLst/>
              <a:rect l="l" t="t" r="r" b="b"/>
              <a:pathLst>
                <a:path w="7044309" h="9657969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6998970" y="0"/>
                  </a:lnTo>
                  <a:cubicBezTo>
                    <a:pt x="7023988" y="0"/>
                    <a:pt x="7044309" y="20320"/>
                    <a:pt x="7044309" y="45339"/>
                  </a:cubicBezTo>
                  <a:lnTo>
                    <a:pt x="7044309" y="9612630"/>
                  </a:lnTo>
                  <a:cubicBezTo>
                    <a:pt x="7044309" y="9637649"/>
                    <a:pt x="7023988" y="9657969"/>
                    <a:pt x="6998970" y="9657969"/>
                  </a:cubicBezTo>
                  <a:lnTo>
                    <a:pt x="45339" y="9657969"/>
                  </a:lnTo>
                  <a:cubicBezTo>
                    <a:pt x="20320" y="9657969"/>
                    <a:pt x="0" y="9637649"/>
                    <a:pt x="0" y="961263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3139847" y="2258914"/>
            <a:ext cx="3402360" cy="425203"/>
            <a:chOff x="0" y="0"/>
            <a:chExt cx="4536480" cy="56693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536480" cy="566937"/>
            </a:xfrm>
            <a:custGeom>
              <a:avLst/>
              <a:gdLst/>
              <a:ahLst/>
              <a:cxnLst/>
              <a:rect l="l" t="t" r="r" b="b"/>
              <a:pathLst>
                <a:path w="4536480" h="566937">
                  <a:moveTo>
                    <a:pt x="0" y="0"/>
                  </a:moveTo>
                  <a:lnTo>
                    <a:pt x="4536480" y="0"/>
                  </a:lnTo>
                  <a:lnTo>
                    <a:pt x="4536480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4536480" cy="6050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625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Multi-branch Jobs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239179" y="2705552"/>
            <a:ext cx="4829621" cy="2497324"/>
            <a:chOff x="0" y="0"/>
            <a:chExt cx="6439495" cy="332976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439495" cy="3329765"/>
            </a:xfrm>
            <a:custGeom>
              <a:avLst/>
              <a:gdLst/>
              <a:ahLst/>
              <a:cxnLst/>
              <a:rect l="l" t="t" r="r" b="b"/>
              <a:pathLst>
                <a:path w="6439495" h="3329765">
                  <a:moveTo>
                    <a:pt x="0" y="0"/>
                  </a:moveTo>
                  <a:lnTo>
                    <a:pt x="6439495" y="0"/>
                  </a:lnTo>
                  <a:lnTo>
                    <a:pt x="6439495" y="3329765"/>
                  </a:lnTo>
                  <a:lnTo>
                    <a:pt x="0" y="33297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85725"/>
              <a:ext cx="6439495" cy="3415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Multibranch pipelines automatically generate Jenkins jobs for every branch in a Git repository, streamlining the management of multiple branches in a single pipeline configuration.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239179" y="5677941"/>
            <a:ext cx="2980581" cy="354360"/>
            <a:chOff x="0" y="0"/>
            <a:chExt cx="3974108" cy="47248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974108" cy="472480"/>
            </a:xfrm>
            <a:custGeom>
              <a:avLst/>
              <a:gdLst/>
              <a:ahLst/>
              <a:cxnLst/>
              <a:rect l="l" t="t" r="r" b="b"/>
              <a:pathLst>
                <a:path w="3974108" h="472480">
                  <a:moveTo>
                    <a:pt x="0" y="0"/>
                  </a:moveTo>
                  <a:lnTo>
                    <a:pt x="3974108" y="0"/>
                  </a:lnTo>
                  <a:lnTo>
                    <a:pt x="3974108" y="472480"/>
                  </a:lnTo>
                  <a:lnTo>
                    <a:pt x="0" y="4724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-28575"/>
              <a:ext cx="3974108" cy="501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0"/>
                </a:lnSpc>
              </a:pPr>
              <a:r>
                <a:rPr lang="en-US" sz="2187" b="1">
                  <a:solidFill>
                    <a:srgbClr val="504C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Use Cases in DevOps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239179" y="6168330"/>
            <a:ext cx="4829621" cy="907256"/>
            <a:chOff x="0" y="0"/>
            <a:chExt cx="6439495" cy="1209675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439495" cy="1209675"/>
            </a:xfrm>
            <a:custGeom>
              <a:avLst/>
              <a:gdLst/>
              <a:ahLst/>
              <a:cxnLst/>
              <a:rect l="l" t="t" r="r" b="b"/>
              <a:pathLst>
                <a:path w="6439495" h="1209675">
                  <a:moveTo>
                    <a:pt x="0" y="0"/>
                  </a:moveTo>
                  <a:lnTo>
                    <a:pt x="6439495" y="0"/>
                  </a:lnTo>
                  <a:lnTo>
                    <a:pt x="643949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-85725"/>
              <a:ext cx="6439495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9165" lvl="1" indent="-154583" algn="l">
                <a:lnSpc>
                  <a:spcPts val="3294"/>
                </a:lnSpc>
                <a:buFont typeface="Arial"/>
                <a:buChar char="•"/>
              </a:pPr>
              <a:r>
                <a:rPr lang="en-US" sz="20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Running different CI/CD pipelines for feature branches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239179" y="7154912"/>
            <a:ext cx="4829621" cy="907256"/>
            <a:chOff x="0" y="0"/>
            <a:chExt cx="6439495" cy="120967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439495" cy="1209675"/>
            </a:xfrm>
            <a:custGeom>
              <a:avLst/>
              <a:gdLst/>
              <a:ahLst/>
              <a:cxnLst/>
              <a:rect l="l" t="t" r="r" b="b"/>
              <a:pathLst>
                <a:path w="6439495" h="1209675">
                  <a:moveTo>
                    <a:pt x="0" y="0"/>
                  </a:moveTo>
                  <a:lnTo>
                    <a:pt x="6439495" y="0"/>
                  </a:lnTo>
                  <a:lnTo>
                    <a:pt x="643949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-85725"/>
              <a:ext cx="6439495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9165" lvl="1" indent="-154583" algn="l">
                <a:lnSpc>
                  <a:spcPts val="3294"/>
                </a:lnSpc>
                <a:buFont typeface="Arial"/>
                <a:buChar char="•"/>
              </a:pPr>
              <a:r>
                <a:rPr lang="en-US" sz="20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Automatically testing code in pull requests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2239179" y="8141494"/>
            <a:ext cx="4829621" cy="907256"/>
            <a:chOff x="0" y="0"/>
            <a:chExt cx="6439495" cy="120967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439495" cy="1209675"/>
            </a:xfrm>
            <a:custGeom>
              <a:avLst/>
              <a:gdLst/>
              <a:ahLst/>
              <a:cxnLst/>
              <a:rect l="l" t="t" r="r" b="b"/>
              <a:pathLst>
                <a:path w="6439495" h="1209675">
                  <a:moveTo>
                    <a:pt x="0" y="0"/>
                  </a:moveTo>
                  <a:lnTo>
                    <a:pt x="6439495" y="0"/>
                  </a:lnTo>
                  <a:lnTo>
                    <a:pt x="643949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-85725"/>
              <a:ext cx="6439495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9165" lvl="1" indent="-154583" algn="l">
                <a:lnSpc>
                  <a:spcPts val="3294"/>
                </a:lnSpc>
                <a:buFont typeface="Arial"/>
                <a:buChar char="•"/>
              </a:pPr>
              <a:r>
                <a:rPr lang="en-US" sz="20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Supporting multiple environments (e.g., Dev, QA, Prod)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18288000" cy="3189685"/>
          </a:xfrm>
          <a:custGeom>
            <a:avLst/>
            <a:gdLst/>
            <a:ahLst/>
            <a:cxnLst/>
            <a:rect l="l" t="t" r="r" b="b"/>
            <a:pathLst>
              <a:path w="18288000" h="3189685">
                <a:moveTo>
                  <a:pt x="0" y="0"/>
                </a:moveTo>
                <a:lnTo>
                  <a:pt x="18288000" y="0"/>
                </a:lnTo>
                <a:lnTo>
                  <a:pt x="18288000" y="3189685"/>
                </a:lnTo>
                <a:lnTo>
                  <a:pt x="0" y="31896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" b="-18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92238" y="3834932"/>
            <a:ext cx="6379517" cy="919926"/>
            <a:chOff x="0" y="0"/>
            <a:chExt cx="8506023" cy="12265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06023" cy="1226567"/>
            </a:xfrm>
            <a:custGeom>
              <a:avLst/>
              <a:gdLst/>
              <a:ahLst/>
              <a:cxnLst/>
              <a:rect l="l" t="t" r="r" b="b"/>
              <a:pathLst>
                <a:path w="8506023" h="1226567">
                  <a:moveTo>
                    <a:pt x="0" y="0"/>
                  </a:moveTo>
                  <a:lnTo>
                    <a:pt x="8506023" y="0"/>
                  </a:lnTo>
                  <a:lnTo>
                    <a:pt x="8506023" y="1226567"/>
                  </a:lnTo>
                  <a:lnTo>
                    <a:pt x="0" y="12265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506023" cy="12741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25"/>
                </a:lnSpc>
              </a:pPr>
              <a:r>
                <a:rPr lang="en-US" sz="4500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Scripted Pipeline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2238" y="5014991"/>
            <a:ext cx="16303526" cy="1020366"/>
            <a:chOff x="0" y="0"/>
            <a:chExt cx="21738035" cy="13604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738034" cy="1360488"/>
            </a:xfrm>
            <a:custGeom>
              <a:avLst/>
              <a:gdLst/>
              <a:ahLst/>
              <a:cxnLst/>
              <a:rect l="l" t="t" r="r" b="b"/>
              <a:pathLst>
                <a:path w="21738034" h="1360488">
                  <a:moveTo>
                    <a:pt x="0" y="0"/>
                  </a:moveTo>
                  <a:lnTo>
                    <a:pt x="21738034" y="0"/>
                  </a:lnTo>
                  <a:lnTo>
                    <a:pt x="21738034" y="1360488"/>
                  </a:lnTo>
                  <a:lnTo>
                    <a:pt x="0" y="1360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04775"/>
              <a:ext cx="21738035" cy="1465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60"/>
                </a:lnSpc>
              </a:pPr>
              <a:r>
                <a:rPr lang="en-US" sz="260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A Scripted Pipeline provides a highly adaptable approach to defining CI/CD workflows in Jenkins by leveraging Groovy scripting for advanced customization and control.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92238" y="6417994"/>
            <a:ext cx="3189685" cy="398561"/>
            <a:chOff x="0" y="0"/>
            <a:chExt cx="4252913" cy="5314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52913" cy="531415"/>
            </a:xfrm>
            <a:custGeom>
              <a:avLst/>
              <a:gdLst/>
              <a:ahLst/>
              <a:cxnLst/>
              <a:rect l="l" t="t" r="r" b="b"/>
              <a:pathLst>
                <a:path w="4252913" h="531415">
                  <a:moveTo>
                    <a:pt x="0" y="0"/>
                  </a:moveTo>
                  <a:lnTo>
                    <a:pt x="4252913" y="0"/>
                  </a:lnTo>
                  <a:lnTo>
                    <a:pt x="4252913" y="531415"/>
                  </a:lnTo>
                  <a:lnTo>
                    <a:pt x="0" y="531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4252913" cy="559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4"/>
                </a:lnSpc>
              </a:pPr>
              <a:r>
                <a:rPr lang="en-US" sz="2499" b="1" u="sng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Use-cases: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92238" y="7543581"/>
            <a:ext cx="574030" cy="574030"/>
            <a:chOff x="0" y="0"/>
            <a:chExt cx="765373" cy="76537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65429" cy="765429"/>
            </a:xfrm>
            <a:custGeom>
              <a:avLst/>
              <a:gdLst/>
              <a:ahLst/>
              <a:cxnLst/>
              <a:rect l="l" t="t" r="r" b="b"/>
              <a:pathLst>
                <a:path w="765429" h="765429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714375" y="0"/>
                  </a:lnTo>
                  <a:cubicBezTo>
                    <a:pt x="742569" y="0"/>
                    <a:pt x="765429" y="22860"/>
                    <a:pt x="765429" y="51054"/>
                  </a:cubicBezTo>
                  <a:lnTo>
                    <a:pt x="765429" y="714375"/>
                  </a:lnTo>
                  <a:cubicBezTo>
                    <a:pt x="765429" y="742569"/>
                    <a:pt x="742569" y="765429"/>
                    <a:pt x="714375" y="765429"/>
                  </a:cubicBezTo>
                  <a:lnTo>
                    <a:pt x="51054" y="765429"/>
                  </a:lnTo>
                  <a:cubicBezTo>
                    <a:pt x="22860" y="765429"/>
                    <a:pt x="0" y="742569"/>
                    <a:pt x="0" y="714375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087934" y="7486282"/>
            <a:ext cx="382638" cy="478334"/>
            <a:chOff x="0" y="0"/>
            <a:chExt cx="510183" cy="63777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10183" cy="637778"/>
            </a:xfrm>
            <a:custGeom>
              <a:avLst/>
              <a:gdLst/>
              <a:ahLst/>
              <a:cxnLst/>
              <a:rect l="l" t="t" r="r" b="b"/>
              <a:pathLst>
                <a:path w="510183" h="637778">
                  <a:moveTo>
                    <a:pt x="0" y="0"/>
                  </a:moveTo>
                  <a:lnTo>
                    <a:pt x="510183" y="0"/>
                  </a:lnTo>
                  <a:lnTo>
                    <a:pt x="510183" y="637778"/>
                  </a:lnTo>
                  <a:lnTo>
                    <a:pt x="0" y="6377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38100"/>
              <a:ext cx="510183" cy="59967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821359" y="7486134"/>
            <a:ext cx="3827710" cy="478482"/>
            <a:chOff x="0" y="0"/>
            <a:chExt cx="5103613" cy="63797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103613" cy="637977"/>
            </a:xfrm>
            <a:custGeom>
              <a:avLst/>
              <a:gdLst/>
              <a:ahLst/>
              <a:cxnLst/>
              <a:rect l="l" t="t" r="r" b="b"/>
              <a:pathLst>
                <a:path w="5103613" h="637977">
                  <a:moveTo>
                    <a:pt x="0" y="0"/>
                  </a:moveTo>
                  <a:lnTo>
                    <a:pt x="5103613" y="0"/>
                  </a:lnTo>
                  <a:lnTo>
                    <a:pt x="5103613" y="637977"/>
                  </a:lnTo>
                  <a:lnTo>
                    <a:pt x="0" y="6379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5103613" cy="6665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49"/>
                </a:lnSpc>
              </a:pPr>
              <a:r>
                <a:rPr lang="en-US" sz="300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Groovy Scripting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21359" y="8117611"/>
            <a:ext cx="4435376" cy="1020366"/>
            <a:chOff x="0" y="0"/>
            <a:chExt cx="5913835" cy="13604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913835" cy="1360488"/>
            </a:xfrm>
            <a:custGeom>
              <a:avLst/>
              <a:gdLst/>
              <a:ahLst/>
              <a:cxnLst/>
              <a:rect l="l" t="t" r="r" b="b"/>
              <a:pathLst>
                <a:path w="5913835" h="1360488">
                  <a:moveTo>
                    <a:pt x="0" y="0"/>
                  </a:moveTo>
                  <a:lnTo>
                    <a:pt x="5913835" y="0"/>
                  </a:lnTo>
                  <a:lnTo>
                    <a:pt x="5913835" y="1360488"/>
                  </a:lnTo>
                  <a:lnTo>
                    <a:pt x="0" y="1360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5913835" cy="1465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00"/>
                </a:lnSpc>
              </a:pPr>
              <a:r>
                <a:rPr lang="en-US" sz="24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Define CI/CD workflows with Groovy for flexibility.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11826" y="7486134"/>
            <a:ext cx="574030" cy="574030"/>
            <a:chOff x="0" y="0"/>
            <a:chExt cx="765373" cy="76537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65429" cy="765429"/>
            </a:xfrm>
            <a:custGeom>
              <a:avLst/>
              <a:gdLst/>
              <a:ahLst/>
              <a:cxnLst/>
              <a:rect l="l" t="t" r="r" b="b"/>
              <a:pathLst>
                <a:path w="765429" h="765429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714375" y="0"/>
                  </a:lnTo>
                  <a:cubicBezTo>
                    <a:pt x="742569" y="0"/>
                    <a:pt x="765429" y="22860"/>
                    <a:pt x="765429" y="51054"/>
                  </a:cubicBezTo>
                  <a:lnTo>
                    <a:pt x="765429" y="714375"/>
                  </a:lnTo>
                  <a:cubicBezTo>
                    <a:pt x="765429" y="742569"/>
                    <a:pt x="742569" y="765429"/>
                    <a:pt x="714375" y="765429"/>
                  </a:cubicBezTo>
                  <a:lnTo>
                    <a:pt x="51054" y="765429"/>
                  </a:lnTo>
                  <a:cubicBezTo>
                    <a:pt x="22860" y="765429"/>
                    <a:pt x="0" y="742569"/>
                    <a:pt x="0" y="714375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607448" y="7533907"/>
            <a:ext cx="382637" cy="478334"/>
            <a:chOff x="0" y="0"/>
            <a:chExt cx="510183" cy="63777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10183" cy="637778"/>
            </a:xfrm>
            <a:custGeom>
              <a:avLst/>
              <a:gdLst/>
              <a:ahLst/>
              <a:cxnLst/>
              <a:rect l="l" t="t" r="r" b="b"/>
              <a:pathLst>
                <a:path w="510183" h="637778">
                  <a:moveTo>
                    <a:pt x="0" y="0"/>
                  </a:moveTo>
                  <a:lnTo>
                    <a:pt x="510183" y="0"/>
                  </a:lnTo>
                  <a:lnTo>
                    <a:pt x="510183" y="637778"/>
                  </a:lnTo>
                  <a:lnTo>
                    <a:pt x="0" y="6377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38100"/>
              <a:ext cx="510183" cy="5996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340948" y="7486134"/>
            <a:ext cx="3827710" cy="478482"/>
            <a:chOff x="0" y="0"/>
            <a:chExt cx="5103613" cy="63797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103613" cy="637977"/>
            </a:xfrm>
            <a:custGeom>
              <a:avLst/>
              <a:gdLst/>
              <a:ahLst/>
              <a:cxnLst/>
              <a:rect l="l" t="t" r="r" b="b"/>
              <a:pathLst>
                <a:path w="5103613" h="637977">
                  <a:moveTo>
                    <a:pt x="0" y="0"/>
                  </a:moveTo>
                  <a:lnTo>
                    <a:pt x="5103613" y="0"/>
                  </a:lnTo>
                  <a:lnTo>
                    <a:pt x="5103613" y="637977"/>
                  </a:lnTo>
                  <a:lnTo>
                    <a:pt x="0" y="6379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5103613" cy="6665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49"/>
                </a:lnSpc>
              </a:pPr>
              <a:r>
                <a:rPr lang="en-US" sz="300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Dynamic Execution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340948" y="8117611"/>
            <a:ext cx="4435376" cy="1020366"/>
            <a:chOff x="0" y="0"/>
            <a:chExt cx="5913835" cy="136048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913835" cy="1360488"/>
            </a:xfrm>
            <a:custGeom>
              <a:avLst/>
              <a:gdLst/>
              <a:ahLst/>
              <a:cxnLst/>
              <a:rect l="l" t="t" r="r" b="b"/>
              <a:pathLst>
                <a:path w="5913835" h="1360488">
                  <a:moveTo>
                    <a:pt x="0" y="0"/>
                  </a:moveTo>
                  <a:lnTo>
                    <a:pt x="5913835" y="0"/>
                  </a:lnTo>
                  <a:lnTo>
                    <a:pt x="5913835" y="1360488"/>
                  </a:lnTo>
                  <a:lnTo>
                    <a:pt x="0" y="1360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104775"/>
              <a:ext cx="5913835" cy="1465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00"/>
                </a:lnSpc>
              </a:pPr>
              <a:r>
                <a:rPr lang="en-US" sz="24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Customize workflows with loops and conditional logic.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031415" y="7486134"/>
            <a:ext cx="574030" cy="574030"/>
            <a:chOff x="0" y="0"/>
            <a:chExt cx="765373" cy="76537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65429" cy="765429"/>
            </a:xfrm>
            <a:custGeom>
              <a:avLst/>
              <a:gdLst/>
              <a:ahLst/>
              <a:cxnLst/>
              <a:rect l="l" t="t" r="r" b="b"/>
              <a:pathLst>
                <a:path w="765429" h="765429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714375" y="0"/>
                  </a:lnTo>
                  <a:cubicBezTo>
                    <a:pt x="742569" y="0"/>
                    <a:pt x="765429" y="22860"/>
                    <a:pt x="765429" y="51054"/>
                  </a:cubicBezTo>
                  <a:lnTo>
                    <a:pt x="765429" y="714375"/>
                  </a:lnTo>
                  <a:cubicBezTo>
                    <a:pt x="765429" y="742569"/>
                    <a:pt x="742569" y="765429"/>
                    <a:pt x="714375" y="765429"/>
                  </a:cubicBezTo>
                  <a:lnTo>
                    <a:pt x="51054" y="765429"/>
                  </a:lnTo>
                  <a:cubicBezTo>
                    <a:pt x="22860" y="765429"/>
                    <a:pt x="0" y="742569"/>
                    <a:pt x="0" y="714375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2127036" y="7533907"/>
            <a:ext cx="382638" cy="478334"/>
            <a:chOff x="0" y="0"/>
            <a:chExt cx="510183" cy="63777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10183" cy="637778"/>
            </a:xfrm>
            <a:custGeom>
              <a:avLst/>
              <a:gdLst/>
              <a:ahLst/>
              <a:cxnLst/>
              <a:rect l="l" t="t" r="r" b="b"/>
              <a:pathLst>
                <a:path w="510183" h="637778">
                  <a:moveTo>
                    <a:pt x="0" y="0"/>
                  </a:moveTo>
                  <a:lnTo>
                    <a:pt x="510183" y="0"/>
                  </a:lnTo>
                  <a:lnTo>
                    <a:pt x="510183" y="637778"/>
                  </a:lnTo>
                  <a:lnTo>
                    <a:pt x="0" y="6377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38100"/>
              <a:ext cx="510183" cy="5996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860536" y="7486134"/>
            <a:ext cx="4423321" cy="478482"/>
            <a:chOff x="0" y="0"/>
            <a:chExt cx="5897762" cy="63797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897762" cy="637977"/>
            </a:xfrm>
            <a:custGeom>
              <a:avLst/>
              <a:gdLst/>
              <a:ahLst/>
              <a:cxnLst/>
              <a:rect l="l" t="t" r="r" b="b"/>
              <a:pathLst>
                <a:path w="5897762" h="637977">
                  <a:moveTo>
                    <a:pt x="0" y="0"/>
                  </a:moveTo>
                  <a:lnTo>
                    <a:pt x="5897762" y="0"/>
                  </a:lnTo>
                  <a:lnTo>
                    <a:pt x="5897762" y="637977"/>
                  </a:lnTo>
                  <a:lnTo>
                    <a:pt x="0" y="6379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5897762" cy="6665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49"/>
                </a:lnSpc>
              </a:pPr>
              <a:r>
                <a:rPr lang="en-US" sz="300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Third-Party Integration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860536" y="8117611"/>
            <a:ext cx="4435376" cy="1020366"/>
            <a:chOff x="0" y="0"/>
            <a:chExt cx="5913835" cy="136048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913835" cy="1360488"/>
            </a:xfrm>
            <a:custGeom>
              <a:avLst/>
              <a:gdLst/>
              <a:ahLst/>
              <a:cxnLst/>
              <a:rect l="l" t="t" r="r" b="b"/>
              <a:pathLst>
                <a:path w="5913835" h="1360488">
                  <a:moveTo>
                    <a:pt x="0" y="0"/>
                  </a:moveTo>
                  <a:lnTo>
                    <a:pt x="5913835" y="0"/>
                  </a:lnTo>
                  <a:lnTo>
                    <a:pt x="5913835" y="1360488"/>
                  </a:lnTo>
                  <a:lnTo>
                    <a:pt x="0" y="1360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104775"/>
              <a:ext cx="5913835" cy="1465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00"/>
                </a:lnSpc>
              </a:pPr>
              <a:r>
                <a:rPr lang="en-US" sz="24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Integrate with AWS, Terraform, and Ansible.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6003" y="248754"/>
            <a:ext cx="11933635" cy="686025"/>
            <a:chOff x="0" y="0"/>
            <a:chExt cx="15911513" cy="9146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911514" cy="914699"/>
            </a:xfrm>
            <a:custGeom>
              <a:avLst/>
              <a:gdLst/>
              <a:ahLst/>
              <a:cxnLst/>
              <a:rect l="l" t="t" r="r" b="b"/>
              <a:pathLst>
                <a:path w="15911514" h="914699">
                  <a:moveTo>
                    <a:pt x="0" y="0"/>
                  </a:moveTo>
                  <a:lnTo>
                    <a:pt x="15911514" y="0"/>
                  </a:lnTo>
                  <a:lnTo>
                    <a:pt x="15911514" y="914699"/>
                  </a:lnTo>
                  <a:lnTo>
                    <a:pt x="0" y="9146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911513" cy="9527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50"/>
                </a:lnSpc>
              </a:pPr>
              <a:r>
                <a:rPr lang="en-US" sz="3387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Key differences btw Scripted pipeline &amp; Declarative pipeline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92076" y="1396631"/>
            <a:ext cx="8069610" cy="7788176"/>
            <a:chOff x="0" y="0"/>
            <a:chExt cx="10759480" cy="103842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59440" cy="10384282"/>
            </a:xfrm>
            <a:custGeom>
              <a:avLst/>
              <a:gdLst/>
              <a:ahLst/>
              <a:cxnLst/>
              <a:rect l="l" t="t" r="r" b="b"/>
              <a:pathLst>
                <a:path w="10759440" h="10384282">
                  <a:moveTo>
                    <a:pt x="0" y="32512"/>
                  </a:moveTo>
                  <a:cubicBezTo>
                    <a:pt x="0" y="14605"/>
                    <a:pt x="14605" y="0"/>
                    <a:pt x="32512" y="0"/>
                  </a:cubicBezTo>
                  <a:lnTo>
                    <a:pt x="10726928" y="0"/>
                  </a:lnTo>
                  <a:cubicBezTo>
                    <a:pt x="10744835" y="0"/>
                    <a:pt x="10759440" y="14605"/>
                    <a:pt x="10759440" y="32512"/>
                  </a:cubicBezTo>
                  <a:lnTo>
                    <a:pt x="10759440" y="10351770"/>
                  </a:lnTo>
                  <a:cubicBezTo>
                    <a:pt x="10759440" y="10369676"/>
                    <a:pt x="10744835" y="10384282"/>
                    <a:pt x="10726928" y="10384282"/>
                  </a:cubicBezTo>
                  <a:lnTo>
                    <a:pt x="32512" y="10384282"/>
                  </a:lnTo>
                  <a:cubicBezTo>
                    <a:pt x="14605" y="10384282"/>
                    <a:pt x="0" y="10369676"/>
                    <a:pt x="0" y="10351770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876003" y="1028700"/>
            <a:ext cx="8085684" cy="8954374"/>
            <a:chOff x="0" y="0"/>
            <a:chExt cx="10780912" cy="119391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80903" cy="11939212"/>
            </a:xfrm>
            <a:custGeom>
              <a:avLst/>
              <a:gdLst/>
              <a:ahLst/>
              <a:cxnLst/>
              <a:rect l="l" t="t" r="r" b="b"/>
              <a:pathLst>
                <a:path w="10780903" h="11939212">
                  <a:moveTo>
                    <a:pt x="0" y="37380"/>
                  </a:moveTo>
                  <a:cubicBezTo>
                    <a:pt x="0" y="16792"/>
                    <a:pt x="14605" y="0"/>
                    <a:pt x="32512" y="0"/>
                  </a:cubicBezTo>
                  <a:lnTo>
                    <a:pt x="10748391" y="0"/>
                  </a:lnTo>
                  <a:cubicBezTo>
                    <a:pt x="10766298" y="0"/>
                    <a:pt x="10780903" y="16792"/>
                    <a:pt x="10780903" y="37380"/>
                  </a:cubicBezTo>
                  <a:lnTo>
                    <a:pt x="10780903" y="11901839"/>
                  </a:lnTo>
                  <a:cubicBezTo>
                    <a:pt x="10780903" y="11922427"/>
                    <a:pt x="10766298" y="11939212"/>
                    <a:pt x="10748391" y="11939212"/>
                  </a:cubicBezTo>
                  <a:lnTo>
                    <a:pt x="32512" y="11939212"/>
                  </a:lnTo>
                  <a:cubicBezTo>
                    <a:pt x="14605" y="11939212"/>
                    <a:pt x="0" y="11922427"/>
                    <a:pt x="0" y="11901839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046709" y="1150590"/>
            <a:ext cx="7760345" cy="8832484"/>
            <a:chOff x="0" y="0"/>
            <a:chExt cx="10347127" cy="1177664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347127" cy="11776645"/>
            </a:xfrm>
            <a:custGeom>
              <a:avLst/>
              <a:gdLst/>
              <a:ahLst/>
              <a:cxnLst/>
              <a:rect l="l" t="t" r="r" b="b"/>
              <a:pathLst>
                <a:path w="10347127" h="11776645">
                  <a:moveTo>
                    <a:pt x="0" y="0"/>
                  </a:moveTo>
                  <a:lnTo>
                    <a:pt x="10347127" y="0"/>
                  </a:lnTo>
                  <a:lnTo>
                    <a:pt x="10347127" y="11776645"/>
                  </a:lnTo>
                  <a:lnTo>
                    <a:pt x="0" y="117766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10347127" cy="1187189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# SCRIPTED PIPELINE</a:t>
              </a:r>
            </a:p>
            <a:p>
              <a:pPr algn="l">
                <a:lnSpc>
                  <a:spcPts val="2400"/>
                </a:lnSpc>
              </a:pPr>
              <a:endParaRPr lang="en-US" sz="15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node {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try {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stage('Checkout') {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checkout scm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}</a:t>
              </a:r>
            </a:p>
            <a:p>
              <a:pPr algn="l">
                <a:lnSpc>
                  <a:spcPts val="2400"/>
                </a:lnSpc>
              </a:pPr>
              <a:endParaRPr lang="en-US" sz="15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stage('Build') {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echo 'Building the project...'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sh 'mvn clean package'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}</a:t>
              </a:r>
            </a:p>
            <a:p>
              <a:pPr algn="l">
                <a:lnSpc>
                  <a:spcPts val="2400"/>
                </a:lnSpc>
              </a:pPr>
              <a:endParaRPr lang="en-US" sz="15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stage('Test') {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echo 'Running tests...'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sh 'mvn test'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}</a:t>
              </a:r>
            </a:p>
            <a:p>
              <a:pPr algn="l">
                <a:lnSpc>
                  <a:spcPts val="2400"/>
                </a:lnSpc>
              </a:pPr>
              <a:endParaRPr lang="en-US" sz="15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if (env.BRANCH_NAME == 'main') {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stage('Deploy') {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    echo 'Deploying application...'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    sh './deploy.sh'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}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}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} catch (Exception e) {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echo "Pipeline failed: ${e.getMessage()}"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currentBuild.result = 'FAILURE'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}</a:t>
              </a:r>
            </a:p>
            <a:p>
              <a:pPr algn="l">
                <a:lnSpc>
                  <a:spcPts val="2400"/>
                </a:lnSpc>
              </a:pPr>
              <a:r>
                <a:rPr lang="en-US" sz="1500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51912" y="1625501"/>
            <a:ext cx="8069610" cy="4406205"/>
            <a:chOff x="0" y="0"/>
            <a:chExt cx="10759480" cy="58749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59440" cy="5874893"/>
            </a:xfrm>
            <a:custGeom>
              <a:avLst/>
              <a:gdLst/>
              <a:ahLst/>
              <a:cxnLst/>
              <a:rect l="l" t="t" r="r" b="b"/>
              <a:pathLst>
                <a:path w="10759440" h="5874893">
                  <a:moveTo>
                    <a:pt x="0" y="32512"/>
                  </a:moveTo>
                  <a:cubicBezTo>
                    <a:pt x="0" y="14605"/>
                    <a:pt x="14605" y="0"/>
                    <a:pt x="32512" y="0"/>
                  </a:cubicBezTo>
                  <a:lnTo>
                    <a:pt x="10726928" y="0"/>
                  </a:lnTo>
                  <a:cubicBezTo>
                    <a:pt x="10744962" y="0"/>
                    <a:pt x="10759440" y="14605"/>
                    <a:pt x="10759440" y="32512"/>
                  </a:cubicBezTo>
                  <a:lnTo>
                    <a:pt x="10759440" y="5842381"/>
                  </a:lnTo>
                  <a:cubicBezTo>
                    <a:pt x="10759440" y="5860415"/>
                    <a:pt x="10744835" y="5874893"/>
                    <a:pt x="10726928" y="5874893"/>
                  </a:cubicBezTo>
                  <a:lnTo>
                    <a:pt x="32512" y="5874893"/>
                  </a:lnTo>
                  <a:cubicBezTo>
                    <a:pt x="14478" y="5874893"/>
                    <a:pt x="0" y="5860288"/>
                    <a:pt x="0" y="5842381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335839" y="1028700"/>
            <a:ext cx="8085684" cy="6752084"/>
            <a:chOff x="0" y="0"/>
            <a:chExt cx="10780912" cy="900277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80903" cy="9002707"/>
            </a:xfrm>
            <a:custGeom>
              <a:avLst/>
              <a:gdLst/>
              <a:ahLst/>
              <a:cxnLst/>
              <a:rect l="l" t="t" r="r" b="b"/>
              <a:pathLst>
                <a:path w="10780903" h="9002707">
                  <a:moveTo>
                    <a:pt x="0" y="49822"/>
                  </a:moveTo>
                  <a:cubicBezTo>
                    <a:pt x="0" y="22381"/>
                    <a:pt x="14605" y="0"/>
                    <a:pt x="32512" y="0"/>
                  </a:cubicBezTo>
                  <a:lnTo>
                    <a:pt x="10748391" y="0"/>
                  </a:lnTo>
                  <a:cubicBezTo>
                    <a:pt x="10766425" y="0"/>
                    <a:pt x="10780903" y="22381"/>
                    <a:pt x="10780903" y="49822"/>
                  </a:cubicBezTo>
                  <a:lnTo>
                    <a:pt x="10780903" y="8952886"/>
                  </a:lnTo>
                  <a:cubicBezTo>
                    <a:pt x="10780903" y="8980522"/>
                    <a:pt x="10766298" y="9002707"/>
                    <a:pt x="10748391" y="9002707"/>
                  </a:cubicBezTo>
                  <a:lnTo>
                    <a:pt x="32512" y="9002707"/>
                  </a:lnTo>
                  <a:cubicBezTo>
                    <a:pt x="14478" y="9002707"/>
                    <a:pt x="0" y="8980326"/>
                    <a:pt x="0" y="8952886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498508" y="1150590"/>
            <a:ext cx="7760345" cy="6630194"/>
            <a:chOff x="0" y="0"/>
            <a:chExt cx="10347127" cy="884025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347127" cy="8840260"/>
            </a:xfrm>
            <a:custGeom>
              <a:avLst/>
              <a:gdLst/>
              <a:ahLst/>
              <a:cxnLst/>
              <a:rect l="l" t="t" r="r" b="b"/>
              <a:pathLst>
                <a:path w="10347127" h="8840260">
                  <a:moveTo>
                    <a:pt x="0" y="0"/>
                  </a:moveTo>
                  <a:lnTo>
                    <a:pt x="10347127" y="0"/>
                  </a:lnTo>
                  <a:lnTo>
                    <a:pt x="10347127" y="8840260"/>
                  </a:lnTo>
                  <a:lnTo>
                    <a:pt x="0" y="88402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114300"/>
              <a:ext cx="10347127" cy="895455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19"/>
                </a:lnSpc>
              </a:pPr>
              <a:r>
                <a:rPr lang="en-US" sz="1949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# DECLARATIVE PIPELINE</a:t>
              </a:r>
            </a:p>
            <a:p>
              <a:pPr algn="l">
                <a:lnSpc>
                  <a:spcPts val="3119"/>
                </a:lnSpc>
              </a:pPr>
              <a:endParaRPr lang="en-US" sz="1949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3119"/>
                </a:lnSpc>
              </a:pPr>
              <a:r>
                <a:rPr lang="en-US" sz="1949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pipeline {</a:t>
              </a:r>
            </a:p>
            <a:p>
              <a:pPr algn="l">
                <a:lnSpc>
                  <a:spcPts val="3119"/>
                </a:lnSpc>
              </a:pPr>
              <a:r>
                <a:rPr lang="en-US" sz="1949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agent any</a:t>
              </a:r>
            </a:p>
            <a:p>
              <a:pPr algn="l">
                <a:lnSpc>
                  <a:spcPts val="3119"/>
                </a:lnSpc>
              </a:pPr>
              <a:r>
                <a:rPr lang="en-US" sz="1949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stages {</a:t>
              </a:r>
            </a:p>
            <a:p>
              <a:pPr algn="l">
                <a:lnSpc>
                  <a:spcPts val="3119"/>
                </a:lnSpc>
              </a:pPr>
              <a:r>
                <a:rPr lang="en-US" sz="1949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stage('Checkout') { steps { checkout scm } }</a:t>
              </a:r>
            </a:p>
            <a:p>
              <a:pPr algn="l">
                <a:lnSpc>
                  <a:spcPts val="3119"/>
                </a:lnSpc>
              </a:pPr>
              <a:r>
                <a:rPr lang="en-US" sz="1949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stage('Build') { steps { sh 'mvn clean package' } }</a:t>
              </a:r>
            </a:p>
            <a:p>
              <a:pPr algn="l">
                <a:lnSpc>
                  <a:spcPts val="3119"/>
                </a:lnSpc>
              </a:pPr>
              <a:r>
                <a:rPr lang="en-US" sz="1949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stage('Test') { steps { sh 'mvn test' } }</a:t>
              </a:r>
            </a:p>
            <a:p>
              <a:pPr algn="l">
                <a:lnSpc>
                  <a:spcPts val="3119"/>
                </a:lnSpc>
              </a:pPr>
              <a:r>
                <a:rPr lang="en-US" sz="1949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stage('Deploy') {</a:t>
              </a:r>
            </a:p>
            <a:p>
              <a:pPr algn="l">
                <a:lnSpc>
                  <a:spcPts val="3119"/>
                </a:lnSpc>
              </a:pPr>
              <a:r>
                <a:rPr lang="en-US" sz="1949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when { branch 'main' }</a:t>
              </a:r>
            </a:p>
            <a:p>
              <a:pPr algn="l">
                <a:lnSpc>
                  <a:spcPts val="3119"/>
                </a:lnSpc>
              </a:pPr>
              <a:r>
                <a:rPr lang="en-US" sz="1949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steps { sh './deploy.sh' }</a:t>
              </a:r>
            </a:p>
            <a:p>
              <a:pPr algn="l">
                <a:lnSpc>
                  <a:spcPts val="3119"/>
                </a:lnSpc>
              </a:pPr>
              <a:r>
                <a:rPr lang="en-US" sz="1949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}</a:t>
              </a:r>
            </a:p>
            <a:p>
              <a:pPr algn="l">
                <a:lnSpc>
                  <a:spcPts val="3119"/>
                </a:lnSpc>
              </a:pPr>
              <a:r>
                <a:rPr lang="en-US" sz="1949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}</a:t>
              </a:r>
            </a:p>
            <a:p>
              <a:pPr algn="l">
                <a:lnSpc>
                  <a:spcPts val="3119"/>
                </a:lnSpc>
              </a:pPr>
              <a:r>
                <a:rPr lang="en-US" sz="1949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post { failure { echo 'Pipeline failed!' } }</a:t>
              </a:r>
            </a:p>
            <a:p>
              <a:pPr algn="l">
                <a:lnSpc>
                  <a:spcPts val="3119"/>
                </a:lnSpc>
              </a:pPr>
              <a:r>
                <a:rPr lang="en-US" sz="1949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</a:p>
            <a:p>
              <a:pPr algn="l">
                <a:lnSpc>
                  <a:spcPts val="3119"/>
                </a:lnSpc>
              </a:pPr>
              <a:endParaRPr lang="en-US" sz="1949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351913" y="8186000"/>
            <a:ext cx="8821341" cy="220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2282" lvl="1" indent="-236141" algn="l">
              <a:lnSpc>
                <a:spcPts val="3561"/>
              </a:lnSpc>
              <a:buFont typeface="Arial"/>
              <a:buChar char="•"/>
            </a:pPr>
            <a:r>
              <a:rPr lang="en-US" sz="2187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Use </a:t>
            </a:r>
            <a:r>
              <a:rPr lang="en-US" sz="2187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Declarative</a:t>
            </a:r>
            <a:r>
              <a:rPr lang="en-US" sz="2187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Pipeline for simplicity, structure, and built-in validation in standard CI/CD workflows.</a:t>
            </a:r>
          </a:p>
          <a:p>
            <a:pPr marL="472282" lvl="1" indent="-236141" algn="l">
              <a:lnSpc>
                <a:spcPts val="3561"/>
              </a:lnSpc>
              <a:buFont typeface="Arial"/>
              <a:buChar char="•"/>
            </a:pPr>
            <a:r>
              <a:rPr lang="en-US" sz="2187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Use </a:t>
            </a:r>
            <a:r>
              <a:rPr lang="en-US" sz="2187" b="1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Scripted</a:t>
            </a:r>
            <a:r>
              <a:rPr lang="en-US" sz="2187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Pipeline for complex logic, dynamic execution, and advanced Groovy scripting when more control is needed.</a:t>
            </a:r>
          </a:p>
          <a:p>
            <a:pPr algn="ctr">
              <a:lnSpc>
                <a:spcPts val="3562"/>
              </a:lnSpc>
              <a:spcBef>
                <a:spcPct val="0"/>
              </a:spcBef>
            </a:pPr>
            <a:endParaRPr lang="en-US" sz="2187">
              <a:solidFill>
                <a:srgbClr val="000000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7" y="1338011"/>
            <a:ext cx="10898089" cy="1132367"/>
            <a:chOff x="0" y="0"/>
            <a:chExt cx="14530785" cy="15098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530784" cy="1509823"/>
            </a:xfrm>
            <a:custGeom>
              <a:avLst/>
              <a:gdLst/>
              <a:ahLst/>
              <a:cxnLst/>
              <a:rect l="l" t="t" r="r" b="b"/>
              <a:pathLst>
                <a:path w="14530784" h="1509823">
                  <a:moveTo>
                    <a:pt x="0" y="0"/>
                  </a:moveTo>
                  <a:lnTo>
                    <a:pt x="14530784" y="0"/>
                  </a:lnTo>
                  <a:lnTo>
                    <a:pt x="14530784" y="1509823"/>
                  </a:lnTo>
                  <a:lnTo>
                    <a:pt x="0" y="15098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4530785" cy="1566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Key fields to observe in the script!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3325862"/>
            <a:ext cx="637878" cy="637878"/>
            <a:chOff x="0" y="0"/>
            <a:chExt cx="850503" cy="8505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98575" y="3378994"/>
            <a:ext cx="425202" cy="531614"/>
            <a:chOff x="0" y="0"/>
            <a:chExt cx="566937" cy="7088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913632" y="3325862"/>
            <a:ext cx="4252912" cy="531614"/>
            <a:chOff x="0" y="0"/>
            <a:chExt cx="5670550" cy="70881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504C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pipeline</a:t>
              </a: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: 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913632" y="4027586"/>
            <a:ext cx="4324052" cy="566886"/>
            <a:chOff x="0" y="0"/>
            <a:chExt cx="5765403" cy="7558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765404" cy="755848"/>
            </a:xfrm>
            <a:custGeom>
              <a:avLst/>
              <a:gdLst/>
              <a:ahLst/>
              <a:cxnLst/>
              <a:rect l="l" t="t" r="r" b="b"/>
              <a:pathLst>
                <a:path w="5765404" h="755848">
                  <a:moveTo>
                    <a:pt x="0" y="0"/>
                  </a:moveTo>
                  <a:lnTo>
                    <a:pt x="5765404" y="0"/>
                  </a:lnTo>
                  <a:lnTo>
                    <a:pt x="576540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104775"/>
              <a:ext cx="5765403" cy="860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Defines the entire pipeline.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21202" y="3325862"/>
            <a:ext cx="637878" cy="637878"/>
            <a:chOff x="0" y="0"/>
            <a:chExt cx="850503" cy="85050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6627540" y="3378994"/>
            <a:ext cx="425203" cy="531614"/>
            <a:chOff x="0" y="0"/>
            <a:chExt cx="566937" cy="70881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42598" y="3325862"/>
            <a:ext cx="4252912" cy="531614"/>
            <a:chOff x="0" y="0"/>
            <a:chExt cx="5670550" cy="70881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504C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agent</a:t>
              </a: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: 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442598" y="4027586"/>
            <a:ext cx="4324052" cy="1700659"/>
            <a:chOff x="0" y="0"/>
            <a:chExt cx="5765403" cy="226754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765404" cy="2267545"/>
            </a:xfrm>
            <a:custGeom>
              <a:avLst/>
              <a:gdLst/>
              <a:ahLst/>
              <a:cxnLst/>
              <a:rect l="l" t="t" r="r" b="b"/>
              <a:pathLst>
                <a:path w="5765404" h="2267545">
                  <a:moveTo>
                    <a:pt x="0" y="0"/>
                  </a:moveTo>
                  <a:lnTo>
                    <a:pt x="5765404" y="0"/>
                  </a:lnTo>
                  <a:lnTo>
                    <a:pt x="5765404" y="2267545"/>
                  </a:lnTo>
                  <a:lnTo>
                    <a:pt x="0" y="2267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104775"/>
              <a:ext cx="5765403" cy="23723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Specifies where the pipeline runs (any for any available agent).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050166" y="3325862"/>
            <a:ext cx="637877" cy="637878"/>
            <a:chOff x="0" y="0"/>
            <a:chExt cx="850503" cy="85050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2156505" y="3378994"/>
            <a:ext cx="425203" cy="531614"/>
            <a:chOff x="0" y="0"/>
            <a:chExt cx="566937" cy="70881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971561" y="3325862"/>
            <a:ext cx="4252912" cy="531614"/>
            <a:chOff x="0" y="0"/>
            <a:chExt cx="5670550" cy="70881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504C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environment</a:t>
              </a: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: 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971561" y="4027586"/>
            <a:ext cx="4324052" cy="1133772"/>
            <a:chOff x="0" y="0"/>
            <a:chExt cx="5765403" cy="151169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765404" cy="1511697"/>
            </a:xfrm>
            <a:custGeom>
              <a:avLst/>
              <a:gdLst/>
              <a:ahLst/>
              <a:cxnLst/>
              <a:rect l="l" t="t" r="r" b="b"/>
              <a:pathLst>
                <a:path w="5765404" h="1511697">
                  <a:moveTo>
                    <a:pt x="0" y="0"/>
                  </a:moveTo>
                  <a:lnTo>
                    <a:pt x="5765404" y="0"/>
                  </a:lnTo>
                  <a:lnTo>
                    <a:pt x="5765404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104775"/>
              <a:ext cx="5765403" cy="1616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Sets environment variables (e.g., APP_ENV).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92238" y="6330702"/>
            <a:ext cx="637878" cy="637878"/>
            <a:chOff x="0" y="0"/>
            <a:chExt cx="850503" cy="85050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098575" y="6383834"/>
            <a:ext cx="425202" cy="531614"/>
            <a:chOff x="0" y="0"/>
            <a:chExt cx="566937" cy="70881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913632" y="6330702"/>
            <a:ext cx="4252912" cy="531614"/>
            <a:chOff x="0" y="0"/>
            <a:chExt cx="5670550" cy="70881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504C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stages</a:t>
              </a: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: 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913632" y="7032426"/>
            <a:ext cx="4324052" cy="1133772"/>
            <a:chOff x="0" y="0"/>
            <a:chExt cx="5765403" cy="1511697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765404" cy="1511697"/>
            </a:xfrm>
            <a:custGeom>
              <a:avLst/>
              <a:gdLst/>
              <a:ahLst/>
              <a:cxnLst/>
              <a:rect l="l" t="t" r="r" b="b"/>
              <a:pathLst>
                <a:path w="5765404" h="1511697">
                  <a:moveTo>
                    <a:pt x="0" y="0"/>
                  </a:moveTo>
                  <a:lnTo>
                    <a:pt x="5765404" y="0"/>
                  </a:lnTo>
                  <a:lnTo>
                    <a:pt x="5765404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104775"/>
              <a:ext cx="5765403" cy="1616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Contains individual stage blocks for steps.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521202" y="6330702"/>
            <a:ext cx="637878" cy="637878"/>
            <a:chOff x="0" y="0"/>
            <a:chExt cx="850503" cy="85050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6627540" y="6383834"/>
            <a:ext cx="425203" cy="531614"/>
            <a:chOff x="0" y="0"/>
            <a:chExt cx="566937" cy="70881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442598" y="6330702"/>
            <a:ext cx="4252912" cy="531614"/>
            <a:chOff x="0" y="0"/>
            <a:chExt cx="5670550" cy="70881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504C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steps</a:t>
              </a: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: 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442598" y="7032426"/>
            <a:ext cx="4324052" cy="1133772"/>
            <a:chOff x="0" y="0"/>
            <a:chExt cx="5765403" cy="151169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765404" cy="1511697"/>
            </a:xfrm>
            <a:custGeom>
              <a:avLst/>
              <a:gdLst/>
              <a:ahLst/>
              <a:cxnLst/>
              <a:rect l="l" t="t" r="r" b="b"/>
              <a:pathLst>
                <a:path w="5765404" h="1511697">
                  <a:moveTo>
                    <a:pt x="0" y="0"/>
                  </a:moveTo>
                  <a:lnTo>
                    <a:pt x="5765404" y="0"/>
                  </a:lnTo>
                  <a:lnTo>
                    <a:pt x="5765404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-104775"/>
              <a:ext cx="5765403" cy="1616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Defines commands to execute within a stage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050166" y="6330702"/>
            <a:ext cx="637877" cy="637878"/>
            <a:chOff x="0" y="0"/>
            <a:chExt cx="850503" cy="850503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2156505" y="6383834"/>
            <a:ext cx="425203" cy="531614"/>
            <a:chOff x="0" y="0"/>
            <a:chExt cx="566937" cy="70881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2971561" y="6330702"/>
            <a:ext cx="4252912" cy="531614"/>
            <a:chOff x="0" y="0"/>
            <a:chExt cx="5670550" cy="70881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504C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post</a:t>
              </a: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: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2971561" y="7032426"/>
            <a:ext cx="4324052" cy="1700659"/>
            <a:chOff x="0" y="0"/>
            <a:chExt cx="5765403" cy="226754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5765404" cy="2267545"/>
            </a:xfrm>
            <a:custGeom>
              <a:avLst/>
              <a:gdLst/>
              <a:ahLst/>
              <a:cxnLst/>
              <a:rect l="l" t="t" r="r" b="b"/>
              <a:pathLst>
                <a:path w="5765404" h="2267545">
                  <a:moveTo>
                    <a:pt x="0" y="0"/>
                  </a:moveTo>
                  <a:lnTo>
                    <a:pt x="5765404" y="0"/>
                  </a:lnTo>
                  <a:lnTo>
                    <a:pt x="5765404" y="2267545"/>
                  </a:lnTo>
                  <a:lnTo>
                    <a:pt x="0" y="2267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0" y="-104775"/>
              <a:ext cx="5765403" cy="23723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Defines actions after pipeline execution (e.g., success or failure).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7" y="1041647"/>
            <a:ext cx="7088237" cy="1132367"/>
            <a:chOff x="0" y="0"/>
            <a:chExt cx="9450983" cy="15098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50984" cy="1509823"/>
            </a:xfrm>
            <a:custGeom>
              <a:avLst/>
              <a:gdLst/>
              <a:ahLst/>
              <a:cxnLst/>
              <a:rect l="l" t="t" r="r" b="b"/>
              <a:pathLst>
                <a:path w="9450984" h="1509823">
                  <a:moveTo>
                    <a:pt x="0" y="0"/>
                  </a:moveTo>
                  <a:lnTo>
                    <a:pt x="9450984" y="0"/>
                  </a:lnTo>
                  <a:lnTo>
                    <a:pt x="9450984" y="1509823"/>
                  </a:lnTo>
                  <a:lnTo>
                    <a:pt x="0" y="15098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9450983" cy="156697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Comparison: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7475" y="2489895"/>
            <a:ext cx="16313051" cy="6760220"/>
            <a:chOff x="0" y="0"/>
            <a:chExt cx="21750735" cy="90136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50781" cy="9013698"/>
            </a:xfrm>
            <a:custGeom>
              <a:avLst/>
              <a:gdLst/>
              <a:ahLst/>
              <a:cxnLst/>
              <a:rect l="l" t="t" r="r" b="b"/>
              <a:pathLst>
                <a:path w="21750781" h="9013698">
                  <a:moveTo>
                    <a:pt x="0" y="63119"/>
                  </a:moveTo>
                  <a:cubicBezTo>
                    <a:pt x="0" y="28194"/>
                    <a:pt x="28194" y="0"/>
                    <a:pt x="63119" y="0"/>
                  </a:cubicBezTo>
                  <a:lnTo>
                    <a:pt x="21687662" y="0"/>
                  </a:lnTo>
                  <a:lnTo>
                    <a:pt x="21687662" y="6350"/>
                  </a:lnTo>
                  <a:lnTo>
                    <a:pt x="21687662" y="0"/>
                  </a:lnTo>
                  <a:cubicBezTo>
                    <a:pt x="21722460" y="0"/>
                    <a:pt x="21750781" y="28194"/>
                    <a:pt x="21750781" y="63119"/>
                  </a:cubicBezTo>
                  <a:lnTo>
                    <a:pt x="21744431" y="63119"/>
                  </a:lnTo>
                  <a:lnTo>
                    <a:pt x="21750781" y="63119"/>
                  </a:lnTo>
                  <a:lnTo>
                    <a:pt x="21750781" y="8950578"/>
                  </a:lnTo>
                  <a:lnTo>
                    <a:pt x="21744431" y="8950578"/>
                  </a:lnTo>
                  <a:lnTo>
                    <a:pt x="21750781" y="8950578"/>
                  </a:lnTo>
                  <a:cubicBezTo>
                    <a:pt x="21750781" y="8985377"/>
                    <a:pt x="21722587" y="9013698"/>
                    <a:pt x="21687662" y="9013698"/>
                  </a:cubicBezTo>
                  <a:lnTo>
                    <a:pt x="21687662" y="9007348"/>
                  </a:lnTo>
                  <a:lnTo>
                    <a:pt x="21687662" y="9013698"/>
                  </a:lnTo>
                  <a:lnTo>
                    <a:pt x="63119" y="9013698"/>
                  </a:lnTo>
                  <a:lnTo>
                    <a:pt x="63119" y="9007348"/>
                  </a:lnTo>
                  <a:lnTo>
                    <a:pt x="63119" y="9013698"/>
                  </a:lnTo>
                  <a:cubicBezTo>
                    <a:pt x="28321" y="9013698"/>
                    <a:pt x="0" y="8985503"/>
                    <a:pt x="0" y="8950578"/>
                  </a:cubicBezTo>
                  <a:lnTo>
                    <a:pt x="0" y="63119"/>
                  </a:lnTo>
                  <a:lnTo>
                    <a:pt x="6350" y="63119"/>
                  </a:lnTo>
                  <a:lnTo>
                    <a:pt x="0" y="63119"/>
                  </a:lnTo>
                  <a:moveTo>
                    <a:pt x="12700" y="63119"/>
                  </a:moveTo>
                  <a:lnTo>
                    <a:pt x="12700" y="8950578"/>
                  </a:lnTo>
                  <a:lnTo>
                    <a:pt x="6350" y="8950578"/>
                  </a:lnTo>
                  <a:lnTo>
                    <a:pt x="12700" y="8950578"/>
                  </a:lnTo>
                  <a:cubicBezTo>
                    <a:pt x="12700" y="8978392"/>
                    <a:pt x="35306" y="9000998"/>
                    <a:pt x="63119" y="9000998"/>
                  </a:cubicBezTo>
                  <a:lnTo>
                    <a:pt x="21687662" y="9000998"/>
                  </a:lnTo>
                  <a:cubicBezTo>
                    <a:pt x="21715476" y="9000998"/>
                    <a:pt x="21738081" y="8978392"/>
                    <a:pt x="21738081" y="8950578"/>
                  </a:cubicBezTo>
                  <a:lnTo>
                    <a:pt x="21738081" y="63119"/>
                  </a:lnTo>
                  <a:cubicBezTo>
                    <a:pt x="21738081" y="35306"/>
                    <a:pt x="21715476" y="12700"/>
                    <a:pt x="21687662" y="12700"/>
                  </a:cubicBezTo>
                  <a:lnTo>
                    <a:pt x="63119" y="12700"/>
                  </a:lnTo>
                  <a:lnTo>
                    <a:pt x="63119" y="6350"/>
                  </a:lnTo>
                  <a:lnTo>
                    <a:pt x="63119" y="12700"/>
                  </a:lnTo>
                  <a:cubicBezTo>
                    <a:pt x="35306" y="12700"/>
                    <a:pt x="12700" y="35306"/>
                    <a:pt x="12700" y="63119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1762" y="2504182"/>
            <a:ext cx="16282839" cy="890885"/>
            <a:chOff x="0" y="0"/>
            <a:chExt cx="21710452" cy="11878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10396" cy="1187831"/>
            </a:xfrm>
            <a:custGeom>
              <a:avLst/>
              <a:gdLst/>
              <a:ahLst/>
              <a:cxnLst/>
              <a:rect l="l" t="t" r="r" b="b"/>
              <a:pathLst>
                <a:path w="21710396" h="1187831">
                  <a:moveTo>
                    <a:pt x="0" y="0"/>
                  </a:moveTo>
                  <a:lnTo>
                    <a:pt x="21710396" y="0"/>
                  </a:lnTo>
                  <a:lnTo>
                    <a:pt x="21710396" y="1187831"/>
                  </a:lnTo>
                  <a:lnTo>
                    <a:pt x="0" y="118783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588145" y="2683817"/>
            <a:ext cx="4252912" cy="531614"/>
            <a:chOff x="0" y="0"/>
            <a:chExt cx="5670550" cy="70881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125"/>
                </a:lnSpc>
              </a:pPr>
              <a:r>
                <a:rPr lang="en-US" sz="331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Feature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017544" y="2683817"/>
            <a:ext cx="4252912" cy="531614"/>
            <a:chOff x="0" y="0"/>
            <a:chExt cx="5670550" cy="7088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125"/>
                </a:lnSpc>
              </a:pPr>
              <a:r>
                <a:rPr lang="en-US" sz="331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Scripted Pipeline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446942" y="2683817"/>
            <a:ext cx="4252912" cy="531614"/>
            <a:chOff x="0" y="0"/>
            <a:chExt cx="5670550" cy="7088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125"/>
                </a:lnSpc>
              </a:pPr>
              <a:r>
                <a:rPr lang="en-US" sz="331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Declarative Pipeline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1762" y="3395067"/>
            <a:ext cx="16282839" cy="926157"/>
            <a:chOff x="0" y="0"/>
            <a:chExt cx="21710452" cy="123487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710396" cy="1234821"/>
            </a:xfrm>
            <a:custGeom>
              <a:avLst/>
              <a:gdLst/>
              <a:ahLst/>
              <a:cxnLst/>
              <a:rect l="l" t="t" r="r" b="b"/>
              <a:pathLst>
                <a:path w="21710396" h="1234821">
                  <a:moveTo>
                    <a:pt x="0" y="0"/>
                  </a:moveTo>
                  <a:lnTo>
                    <a:pt x="21710396" y="0"/>
                  </a:lnTo>
                  <a:lnTo>
                    <a:pt x="21710396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287066" y="3574702"/>
            <a:ext cx="4855220" cy="566886"/>
            <a:chOff x="0" y="0"/>
            <a:chExt cx="6473627" cy="7558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473627" cy="755848"/>
            </a:xfrm>
            <a:custGeom>
              <a:avLst/>
              <a:gdLst/>
              <a:ahLst/>
              <a:cxnLst/>
              <a:rect l="l" t="t" r="r" b="b"/>
              <a:pathLst>
                <a:path w="6473627" h="755848">
                  <a:moveTo>
                    <a:pt x="0" y="0"/>
                  </a:moveTo>
                  <a:lnTo>
                    <a:pt x="6473627" y="0"/>
                  </a:lnTo>
                  <a:lnTo>
                    <a:pt x="6473627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6473627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Syntax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18846" y="3574702"/>
            <a:ext cx="4850457" cy="566886"/>
            <a:chOff x="0" y="0"/>
            <a:chExt cx="6467277" cy="7558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467277" cy="755848"/>
            </a:xfrm>
            <a:custGeom>
              <a:avLst/>
              <a:gdLst/>
              <a:ahLst/>
              <a:cxnLst/>
              <a:rect l="l" t="t" r="r" b="b"/>
              <a:pathLst>
                <a:path w="6467277" h="755848">
                  <a:moveTo>
                    <a:pt x="0" y="0"/>
                  </a:moveTo>
                  <a:lnTo>
                    <a:pt x="6467277" y="0"/>
                  </a:lnTo>
                  <a:lnTo>
                    <a:pt x="6467277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04775"/>
              <a:ext cx="6467277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Imperative (free-form)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145864" y="3574702"/>
            <a:ext cx="4855220" cy="566886"/>
            <a:chOff x="0" y="0"/>
            <a:chExt cx="6473627" cy="7558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473627" cy="755848"/>
            </a:xfrm>
            <a:custGeom>
              <a:avLst/>
              <a:gdLst/>
              <a:ahLst/>
              <a:cxnLst/>
              <a:rect l="l" t="t" r="r" b="b"/>
              <a:pathLst>
                <a:path w="6473627" h="755848">
                  <a:moveTo>
                    <a:pt x="0" y="0"/>
                  </a:moveTo>
                  <a:lnTo>
                    <a:pt x="6473627" y="0"/>
                  </a:lnTo>
                  <a:lnTo>
                    <a:pt x="6473627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104775"/>
              <a:ext cx="6473627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Structured (block-based)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01762" y="4321225"/>
            <a:ext cx="16282839" cy="964258"/>
            <a:chOff x="0" y="0"/>
            <a:chExt cx="21710452" cy="128567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710396" cy="1285621"/>
            </a:xfrm>
            <a:custGeom>
              <a:avLst/>
              <a:gdLst/>
              <a:ahLst/>
              <a:cxnLst/>
              <a:rect l="l" t="t" r="r" b="b"/>
              <a:pathLst>
                <a:path w="21710396" h="1285621">
                  <a:moveTo>
                    <a:pt x="0" y="0"/>
                  </a:moveTo>
                  <a:lnTo>
                    <a:pt x="21710396" y="0"/>
                  </a:lnTo>
                  <a:lnTo>
                    <a:pt x="21710396" y="1285621"/>
                  </a:lnTo>
                  <a:lnTo>
                    <a:pt x="0" y="128562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287066" y="4500860"/>
            <a:ext cx="4855220" cy="566886"/>
            <a:chOff x="0" y="0"/>
            <a:chExt cx="6473627" cy="75584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473627" cy="755848"/>
            </a:xfrm>
            <a:custGeom>
              <a:avLst/>
              <a:gdLst/>
              <a:ahLst/>
              <a:cxnLst/>
              <a:rect l="l" t="t" r="r" b="b"/>
              <a:pathLst>
                <a:path w="6473627" h="755848">
                  <a:moveTo>
                    <a:pt x="0" y="0"/>
                  </a:moveTo>
                  <a:lnTo>
                    <a:pt x="6473627" y="0"/>
                  </a:lnTo>
                  <a:lnTo>
                    <a:pt x="6473627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104775"/>
              <a:ext cx="6473627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Branch Handling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718846" y="4500860"/>
            <a:ext cx="4850457" cy="604986"/>
            <a:chOff x="0" y="0"/>
            <a:chExt cx="6467277" cy="8066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467277" cy="806648"/>
            </a:xfrm>
            <a:custGeom>
              <a:avLst/>
              <a:gdLst/>
              <a:ahLst/>
              <a:cxnLst/>
              <a:rect l="l" t="t" r="r" b="b"/>
              <a:pathLst>
                <a:path w="6467277" h="806648">
                  <a:moveTo>
                    <a:pt x="0" y="0"/>
                  </a:moveTo>
                  <a:lnTo>
                    <a:pt x="6467277" y="0"/>
                  </a:lnTo>
                  <a:lnTo>
                    <a:pt x="6467277" y="806648"/>
                  </a:lnTo>
                  <a:lnTo>
                    <a:pt x="0" y="8066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104775"/>
              <a:ext cx="6467277" cy="9114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Explicit if condition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145864" y="4500860"/>
            <a:ext cx="4855220" cy="604986"/>
            <a:chOff x="0" y="0"/>
            <a:chExt cx="6473627" cy="80664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473627" cy="806648"/>
            </a:xfrm>
            <a:custGeom>
              <a:avLst/>
              <a:gdLst/>
              <a:ahLst/>
              <a:cxnLst/>
              <a:rect l="l" t="t" r="r" b="b"/>
              <a:pathLst>
                <a:path w="6473627" h="806648">
                  <a:moveTo>
                    <a:pt x="0" y="0"/>
                  </a:moveTo>
                  <a:lnTo>
                    <a:pt x="6473627" y="0"/>
                  </a:lnTo>
                  <a:lnTo>
                    <a:pt x="6473627" y="806648"/>
                  </a:lnTo>
                  <a:lnTo>
                    <a:pt x="0" y="8066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104775"/>
              <a:ext cx="6473627" cy="9114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when { branch 'main' }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01762" y="5285482"/>
            <a:ext cx="16282839" cy="964257"/>
            <a:chOff x="0" y="0"/>
            <a:chExt cx="21710452" cy="128567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10396" cy="1285621"/>
            </a:xfrm>
            <a:custGeom>
              <a:avLst/>
              <a:gdLst/>
              <a:ahLst/>
              <a:cxnLst/>
              <a:rect l="l" t="t" r="r" b="b"/>
              <a:pathLst>
                <a:path w="21710396" h="1285621">
                  <a:moveTo>
                    <a:pt x="0" y="0"/>
                  </a:moveTo>
                  <a:lnTo>
                    <a:pt x="21710396" y="0"/>
                  </a:lnTo>
                  <a:lnTo>
                    <a:pt x="21710396" y="1285621"/>
                  </a:lnTo>
                  <a:lnTo>
                    <a:pt x="0" y="12856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287066" y="5465118"/>
            <a:ext cx="4855220" cy="566886"/>
            <a:chOff x="0" y="0"/>
            <a:chExt cx="6473627" cy="75584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473627" cy="755848"/>
            </a:xfrm>
            <a:custGeom>
              <a:avLst/>
              <a:gdLst/>
              <a:ahLst/>
              <a:cxnLst/>
              <a:rect l="l" t="t" r="r" b="b"/>
              <a:pathLst>
                <a:path w="6473627" h="755848">
                  <a:moveTo>
                    <a:pt x="0" y="0"/>
                  </a:moveTo>
                  <a:lnTo>
                    <a:pt x="6473627" y="0"/>
                  </a:lnTo>
                  <a:lnTo>
                    <a:pt x="6473627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104775"/>
              <a:ext cx="6473627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Error Handling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718846" y="5465118"/>
            <a:ext cx="4850457" cy="566886"/>
            <a:chOff x="0" y="0"/>
            <a:chExt cx="6467277" cy="75584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467277" cy="755848"/>
            </a:xfrm>
            <a:custGeom>
              <a:avLst/>
              <a:gdLst/>
              <a:ahLst/>
              <a:cxnLst/>
              <a:rect l="l" t="t" r="r" b="b"/>
              <a:pathLst>
                <a:path w="6467277" h="755848">
                  <a:moveTo>
                    <a:pt x="0" y="0"/>
                  </a:moveTo>
                  <a:lnTo>
                    <a:pt x="6467277" y="0"/>
                  </a:lnTo>
                  <a:lnTo>
                    <a:pt x="6467277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104775"/>
              <a:ext cx="6467277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Manual try-catch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145864" y="5465118"/>
            <a:ext cx="4855220" cy="604986"/>
            <a:chOff x="0" y="0"/>
            <a:chExt cx="6473627" cy="80664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473627" cy="806648"/>
            </a:xfrm>
            <a:custGeom>
              <a:avLst/>
              <a:gdLst/>
              <a:ahLst/>
              <a:cxnLst/>
              <a:rect l="l" t="t" r="r" b="b"/>
              <a:pathLst>
                <a:path w="6473627" h="806648">
                  <a:moveTo>
                    <a:pt x="0" y="0"/>
                  </a:moveTo>
                  <a:lnTo>
                    <a:pt x="6473627" y="0"/>
                  </a:lnTo>
                  <a:lnTo>
                    <a:pt x="6473627" y="806648"/>
                  </a:lnTo>
                  <a:lnTo>
                    <a:pt x="0" y="8066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104775"/>
              <a:ext cx="6473627" cy="9114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Built-in post block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01762" y="6249740"/>
            <a:ext cx="16282839" cy="1493044"/>
            <a:chOff x="0" y="0"/>
            <a:chExt cx="21710452" cy="1990725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1710396" cy="1990725"/>
            </a:xfrm>
            <a:custGeom>
              <a:avLst/>
              <a:gdLst/>
              <a:ahLst/>
              <a:cxnLst/>
              <a:rect l="l" t="t" r="r" b="b"/>
              <a:pathLst>
                <a:path w="21710396" h="1990725">
                  <a:moveTo>
                    <a:pt x="0" y="0"/>
                  </a:moveTo>
                  <a:lnTo>
                    <a:pt x="21710396" y="0"/>
                  </a:lnTo>
                  <a:lnTo>
                    <a:pt x="21710396" y="1990725"/>
                  </a:lnTo>
                  <a:lnTo>
                    <a:pt x="0" y="199072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1287066" y="6429375"/>
            <a:ext cx="4855220" cy="566886"/>
            <a:chOff x="0" y="0"/>
            <a:chExt cx="6473627" cy="75584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473627" cy="755848"/>
            </a:xfrm>
            <a:custGeom>
              <a:avLst/>
              <a:gdLst/>
              <a:ahLst/>
              <a:cxnLst/>
              <a:rect l="l" t="t" r="r" b="b"/>
              <a:pathLst>
                <a:path w="6473627" h="755848">
                  <a:moveTo>
                    <a:pt x="0" y="0"/>
                  </a:moveTo>
                  <a:lnTo>
                    <a:pt x="6473627" y="0"/>
                  </a:lnTo>
                  <a:lnTo>
                    <a:pt x="6473627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-104775"/>
              <a:ext cx="6473627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Readability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718846" y="6429375"/>
            <a:ext cx="4850457" cy="1133772"/>
            <a:chOff x="0" y="0"/>
            <a:chExt cx="6467277" cy="1511697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467277" cy="1511697"/>
            </a:xfrm>
            <a:custGeom>
              <a:avLst/>
              <a:gdLst/>
              <a:ahLst/>
              <a:cxnLst/>
              <a:rect l="l" t="t" r="r" b="b"/>
              <a:pathLst>
                <a:path w="6467277" h="1511697">
                  <a:moveTo>
                    <a:pt x="0" y="0"/>
                  </a:moveTo>
                  <a:lnTo>
                    <a:pt x="6467277" y="0"/>
                  </a:lnTo>
                  <a:lnTo>
                    <a:pt x="6467277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-104775"/>
              <a:ext cx="6467277" cy="161647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More flexible, but harder to read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145864" y="6429375"/>
            <a:ext cx="4855220" cy="1133772"/>
            <a:chOff x="0" y="0"/>
            <a:chExt cx="6473627" cy="1511697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473627" cy="1511697"/>
            </a:xfrm>
            <a:custGeom>
              <a:avLst/>
              <a:gdLst/>
              <a:ahLst/>
              <a:cxnLst/>
              <a:rect l="l" t="t" r="r" b="b"/>
              <a:pathLst>
                <a:path w="6473627" h="1511697">
                  <a:moveTo>
                    <a:pt x="0" y="0"/>
                  </a:moveTo>
                  <a:lnTo>
                    <a:pt x="6473627" y="0"/>
                  </a:lnTo>
                  <a:lnTo>
                    <a:pt x="6473627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-104775"/>
              <a:ext cx="6473627" cy="161647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More readable and standardized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01762" y="7742784"/>
            <a:ext cx="16282839" cy="1493044"/>
            <a:chOff x="0" y="0"/>
            <a:chExt cx="21710452" cy="199072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1710396" cy="1990725"/>
            </a:xfrm>
            <a:custGeom>
              <a:avLst/>
              <a:gdLst/>
              <a:ahLst/>
              <a:cxnLst/>
              <a:rect l="l" t="t" r="r" b="b"/>
              <a:pathLst>
                <a:path w="21710396" h="1990725">
                  <a:moveTo>
                    <a:pt x="0" y="0"/>
                  </a:moveTo>
                  <a:lnTo>
                    <a:pt x="21710396" y="0"/>
                  </a:lnTo>
                  <a:lnTo>
                    <a:pt x="21710396" y="1990725"/>
                  </a:lnTo>
                  <a:lnTo>
                    <a:pt x="0" y="1990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1287066" y="7922419"/>
            <a:ext cx="4855220" cy="566886"/>
            <a:chOff x="0" y="0"/>
            <a:chExt cx="6473627" cy="75584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473627" cy="755848"/>
            </a:xfrm>
            <a:custGeom>
              <a:avLst/>
              <a:gdLst/>
              <a:ahLst/>
              <a:cxnLst/>
              <a:rect l="l" t="t" r="r" b="b"/>
              <a:pathLst>
                <a:path w="6473627" h="755848">
                  <a:moveTo>
                    <a:pt x="0" y="0"/>
                  </a:moveTo>
                  <a:lnTo>
                    <a:pt x="6473627" y="0"/>
                  </a:lnTo>
                  <a:lnTo>
                    <a:pt x="6473627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0" name="TextBox 70"/>
            <p:cNvSpPr txBox="1"/>
            <p:nvPr/>
          </p:nvSpPr>
          <p:spPr>
            <a:xfrm>
              <a:off x="0" y="-104775"/>
              <a:ext cx="6473627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Complex Logic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718846" y="7922419"/>
            <a:ext cx="4850457" cy="1133772"/>
            <a:chOff x="0" y="0"/>
            <a:chExt cx="6467277" cy="1511697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467277" cy="1511697"/>
            </a:xfrm>
            <a:custGeom>
              <a:avLst/>
              <a:gdLst/>
              <a:ahLst/>
              <a:cxnLst/>
              <a:rect l="l" t="t" r="r" b="b"/>
              <a:pathLst>
                <a:path w="6467277" h="1511697">
                  <a:moveTo>
                    <a:pt x="0" y="0"/>
                  </a:moveTo>
                  <a:lnTo>
                    <a:pt x="6467277" y="0"/>
                  </a:lnTo>
                  <a:lnTo>
                    <a:pt x="6467277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3" name="TextBox 73"/>
            <p:cNvSpPr txBox="1"/>
            <p:nvPr/>
          </p:nvSpPr>
          <p:spPr>
            <a:xfrm>
              <a:off x="0" y="-104775"/>
              <a:ext cx="6467277" cy="161647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Better suited for complex workflows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145864" y="7922419"/>
            <a:ext cx="4855220" cy="1133772"/>
            <a:chOff x="0" y="0"/>
            <a:chExt cx="6473627" cy="1511697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473627" cy="1511697"/>
            </a:xfrm>
            <a:custGeom>
              <a:avLst/>
              <a:gdLst/>
              <a:ahLst/>
              <a:cxnLst/>
              <a:rect l="l" t="t" r="r" b="b"/>
              <a:pathLst>
                <a:path w="6473627" h="1511697">
                  <a:moveTo>
                    <a:pt x="0" y="0"/>
                  </a:moveTo>
                  <a:lnTo>
                    <a:pt x="6473627" y="0"/>
                  </a:lnTo>
                  <a:lnTo>
                    <a:pt x="6473627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6" name="TextBox 76"/>
            <p:cNvSpPr txBox="1"/>
            <p:nvPr/>
          </p:nvSpPr>
          <p:spPr>
            <a:xfrm>
              <a:off x="0" y="-104775"/>
              <a:ext cx="6473627" cy="161647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Best for simple and standard workflows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779710"/>
            <a:ext cx="7709446" cy="885974"/>
            <a:chOff x="0" y="0"/>
            <a:chExt cx="10279262" cy="1181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79262" cy="1181298"/>
            </a:xfrm>
            <a:custGeom>
              <a:avLst/>
              <a:gdLst/>
              <a:ahLst/>
              <a:cxnLst/>
              <a:rect l="l" t="t" r="r" b="b"/>
              <a:pathLst>
                <a:path w="10279262" h="1181298">
                  <a:moveTo>
                    <a:pt x="0" y="0"/>
                  </a:moveTo>
                  <a:lnTo>
                    <a:pt x="10279262" y="0"/>
                  </a:lnTo>
                  <a:lnTo>
                    <a:pt x="10279262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0279262" cy="12384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Jenkins File Structure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7" y="1932534"/>
            <a:ext cx="16303526" cy="566886"/>
            <a:chOff x="0" y="0"/>
            <a:chExt cx="21738035" cy="7558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1738035" cy="860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75145" lvl="1" indent="-187573" algn="l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Jenkins stores data under the default directory: </a:t>
              </a:r>
              <a:r>
                <a:rPr lang="en-US" sz="2487">
                  <a:solidFill>
                    <a:srgbClr val="1F7135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/var/lib/jenkins/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8" y="6315224"/>
            <a:ext cx="16303526" cy="38100"/>
            <a:chOff x="0" y="0"/>
            <a:chExt cx="21738035" cy="50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38082" cy="50800"/>
            </a:xfrm>
            <a:custGeom>
              <a:avLst/>
              <a:gdLst/>
              <a:ahLst/>
              <a:cxnLst/>
              <a:rect l="l" t="t" r="r" b="b"/>
              <a:pathLst>
                <a:path w="21738082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12682" y="0"/>
                  </a:lnTo>
                  <a:cubicBezTo>
                    <a:pt x="21726652" y="0"/>
                    <a:pt x="21738082" y="11430"/>
                    <a:pt x="21738082" y="25400"/>
                  </a:cubicBezTo>
                  <a:cubicBezTo>
                    <a:pt x="21738082" y="39370"/>
                    <a:pt x="21726652" y="50800"/>
                    <a:pt x="21712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2674292" y="5464671"/>
            <a:ext cx="38100" cy="850552"/>
            <a:chOff x="0" y="0"/>
            <a:chExt cx="50800" cy="113407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2374404" y="5996285"/>
            <a:ext cx="637878" cy="637878"/>
            <a:chOff x="0" y="0"/>
            <a:chExt cx="850503" cy="85050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2480741" y="6049416"/>
            <a:ext cx="425203" cy="531614"/>
            <a:chOff x="0" y="0"/>
            <a:chExt cx="566937" cy="70881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75755" y="3660874"/>
            <a:ext cx="2835325" cy="442912"/>
            <a:chOff x="0" y="0"/>
            <a:chExt cx="3780433" cy="5905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80433" cy="590550"/>
            </a:xfrm>
            <a:custGeom>
              <a:avLst/>
              <a:gdLst/>
              <a:ahLst/>
              <a:cxnLst/>
              <a:rect l="l" t="t" r="r" b="b"/>
              <a:pathLst>
                <a:path w="3780433" h="590550">
                  <a:moveTo>
                    <a:pt x="0" y="0"/>
                  </a:moveTo>
                  <a:lnTo>
                    <a:pt x="3780433" y="0"/>
                  </a:lnTo>
                  <a:lnTo>
                    <a:pt x="3780433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3780433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37"/>
                </a:lnSpc>
              </a:pPr>
              <a:r>
                <a:rPr lang="en-US" sz="275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config.xml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75755" y="4273898"/>
            <a:ext cx="2835325" cy="907256"/>
            <a:chOff x="0" y="0"/>
            <a:chExt cx="3780433" cy="120967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80433" cy="1209675"/>
            </a:xfrm>
            <a:custGeom>
              <a:avLst/>
              <a:gdLst/>
              <a:ahLst/>
              <a:cxnLst/>
              <a:rect l="l" t="t" r="r" b="b"/>
              <a:pathLst>
                <a:path w="3780433" h="1209675">
                  <a:moveTo>
                    <a:pt x="0" y="0"/>
                  </a:moveTo>
                  <a:lnTo>
                    <a:pt x="3780433" y="0"/>
                  </a:lnTo>
                  <a:lnTo>
                    <a:pt x="378043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3780433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Stores global Jenkins configurations.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517380" y="6315224"/>
            <a:ext cx="38100" cy="850552"/>
            <a:chOff x="0" y="0"/>
            <a:chExt cx="50800" cy="113407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4217491" y="5996285"/>
            <a:ext cx="637878" cy="637878"/>
            <a:chOff x="0" y="0"/>
            <a:chExt cx="850503" cy="85050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4323829" y="6049416"/>
            <a:ext cx="425203" cy="531614"/>
            <a:chOff x="0" y="0"/>
            <a:chExt cx="566937" cy="70881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118694" y="7449294"/>
            <a:ext cx="2835474" cy="442912"/>
            <a:chOff x="0" y="0"/>
            <a:chExt cx="3780632" cy="59055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780632" cy="590550"/>
            </a:xfrm>
            <a:custGeom>
              <a:avLst/>
              <a:gdLst/>
              <a:ahLst/>
              <a:cxnLst/>
              <a:rect l="l" t="t" r="r" b="b"/>
              <a:pathLst>
                <a:path w="3780632" h="590550">
                  <a:moveTo>
                    <a:pt x="0" y="0"/>
                  </a:moveTo>
                  <a:lnTo>
                    <a:pt x="3780632" y="0"/>
                  </a:lnTo>
                  <a:lnTo>
                    <a:pt x="378063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3780632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37"/>
                </a:lnSpc>
              </a:pPr>
              <a:r>
                <a:rPr lang="en-US" sz="275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Jenkinsfile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118694" y="8062318"/>
            <a:ext cx="2835474" cy="907256"/>
            <a:chOff x="0" y="0"/>
            <a:chExt cx="3780632" cy="120967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780632" cy="1209675"/>
            </a:xfrm>
            <a:custGeom>
              <a:avLst/>
              <a:gdLst/>
              <a:ahLst/>
              <a:cxnLst/>
              <a:rect l="l" t="t" r="r" b="b"/>
              <a:pathLst>
                <a:path w="3780632" h="1209675">
                  <a:moveTo>
                    <a:pt x="0" y="0"/>
                  </a:moveTo>
                  <a:lnTo>
                    <a:pt x="3780632" y="0"/>
                  </a:lnTo>
                  <a:lnTo>
                    <a:pt x="3780632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85725"/>
              <a:ext cx="3780632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Defines Pipeline as Code in Groovy.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360319" y="5464671"/>
            <a:ext cx="38100" cy="850552"/>
            <a:chOff x="0" y="0"/>
            <a:chExt cx="50800" cy="113407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6060430" y="5996285"/>
            <a:ext cx="637877" cy="637878"/>
            <a:chOff x="0" y="0"/>
            <a:chExt cx="850503" cy="85050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6166768" y="6049416"/>
            <a:ext cx="425203" cy="531614"/>
            <a:chOff x="0" y="0"/>
            <a:chExt cx="566937" cy="70881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961632" y="3572172"/>
            <a:ext cx="2835474" cy="531614"/>
            <a:chOff x="0" y="0"/>
            <a:chExt cx="3780632" cy="70881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780632" cy="708818"/>
            </a:xfrm>
            <a:custGeom>
              <a:avLst/>
              <a:gdLst/>
              <a:ahLst/>
              <a:cxnLst/>
              <a:rect l="l" t="t" r="r" b="b"/>
              <a:pathLst>
                <a:path w="3780632" h="708818">
                  <a:moveTo>
                    <a:pt x="0" y="0"/>
                  </a:moveTo>
                  <a:lnTo>
                    <a:pt x="3780632" y="0"/>
                  </a:lnTo>
                  <a:lnTo>
                    <a:pt x="3780632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3780632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25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jobs/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961632" y="4273898"/>
            <a:ext cx="2835474" cy="907256"/>
            <a:chOff x="0" y="0"/>
            <a:chExt cx="3780632" cy="120967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780632" cy="1209675"/>
            </a:xfrm>
            <a:custGeom>
              <a:avLst/>
              <a:gdLst/>
              <a:ahLst/>
              <a:cxnLst/>
              <a:rect l="l" t="t" r="r" b="b"/>
              <a:pathLst>
                <a:path w="3780632" h="1209675">
                  <a:moveTo>
                    <a:pt x="0" y="0"/>
                  </a:moveTo>
                  <a:lnTo>
                    <a:pt x="3780632" y="0"/>
                  </a:lnTo>
                  <a:lnTo>
                    <a:pt x="3780632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85725"/>
              <a:ext cx="3780632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Contains individual job configurations.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203406" y="6315224"/>
            <a:ext cx="38100" cy="850552"/>
            <a:chOff x="0" y="0"/>
            <a:chExt cx="50800" cy="113407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7903517" y="5996285"/>
            <a:ext cx="637878" cy="637878"/>
            <a:chOff x="0" y="0"/>
            <a:chExt cx="850503" cy="85050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8009855" y="6049416"/>
            <a:ext cx="425203" cy="531614"/>
            <a:chOff x="0" y="0"/>
            <a:chExt cx="566937" cy="70881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804720" y="7449294"/>
            <a:ext cx="2835474" cy="531614"/>
            <a:chOff x="0" y="0"/>
            <a:chExt cx="3780632" cy="70881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780632" cy="708818"/>
            </a:xfrm>
            <a:custGeom>
              <a:avLst/>
              <a:gdLst/>
              <a:ahLst/>
              <a:cxnLst/>
              <a:rect l="l" t="t" r="r" b="b"/>
              <a:pathLst>
                <a:path w="3780632" h="708818">
                  <a:moveTo>
                    <a:pt x="0" y="0"/>
                  </a:moveTo>
                  <a:lnTo>
                    <a:pt x="3780632" y="0"/>
                  </a:lnTo>
                  <a:lnTo>
                    <a:pt x="3780632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3780632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25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plugins/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804720" y="8151019"/>
            <a:ext cx="2835474" cy="907256"/>
            <a:chOff x="0" y="0"/>
            <a:chExt cx="3780632" cy="120967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780632" cy="1209675"/>
            </a:xfrm>
            <a:custGeom>
              <a:avLst/>
              <a:gdLst/>
              <a:ahLst/>
              <a:cxnLst/>
              <a:rect l="l" t="t" r="r" b="b"/>
              <a:pathLst>
                <a:path w="3780632" h="1209675">
                  <a:moveTo>
                    <a:pt x="0" y="0"/>
                  </a:moveTo>
                  <a:lnTo>
                    <a:pt x="3780632" y="0"/>
                  </a:lnTo>
                  <a:lnTo>
                    <a:pt x="3780632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-85725"/>
              <a:ext cx="3780632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Stores installed Jenkins plugins.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046345" y="5464671"/>
            <a:ext cx="38100" cy="850552"/>
            <a:chOff x="0" y="0"/>
            <a:chExt cx="50800" cy="113407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9746456" y="5996285"/>
            <a:ext cx="637877" cy="637878"/>
            <a:chOff x="0" y="0"/>
            <a:chExt cx="850503" cy="850503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9852794" y="6049416"/>
            <a:ext cx="425203" cy="531614"/>
            <a:chOff x="0" y="0"/>
            <a:chExt cx="566937" cy="708818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647659" y="3118545"/>
            <a:ext cx="2835474" cy="531614"/>
            <a:chOff x="0" y="0"/>
            <a:chExt cx="3780632" cy="708818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780632" cy="708818"/>
            </a:xfrm>
            <a:custGeom>
              <a:avLst/>
              <a:gdLst/>
              <a:ahLst/>
              <a:cxnLst/>
              <a:rect l="l" t="t" r="r" b="b"/>
              <a:pathLst>
                <a:path w="3780632" h="708818">
                  <a:moveTo>
                    <a:pt x="0" y="0"/>
                  </a:moveTo>
                  <a:lnTo>
                    <a:pt x="3780632" y="0"/>
                  </a:lnTo>
                  <a:lnTo>
                    <a:pt x="3780632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3780632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25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secrets/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647659" y="3820269"/>
            <a:ext cx="2835474" cy="1360885"/>
            <a:chOff x="0" y="0"/>
            <a:chExt cx="3780632" cy="1814513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780632" cy="1814513"/>
            </a:xfrm>
            <a:custGeom>
              <a:avLst/>
              <a:gdLst/>
              <a:ahLst/>
              <a:cxnLst/>
              <a:rect l="l" t="t" r="r" b="b"/>
              <a:pathLst>
                <a:path w="3780632" h="1814513">
                  <a:moveTo>
                    <a:pt x="0" y="0"/>
                  </a:moveTo>
                  <a:lnTo>
                    <a:pt x="3780632" y="0"/>
                  </a:lnTo>
                  <a:lnTo>
                    <a:pt x="3780632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8" name="TextBox 78"/>
            <p:cNvSpPr txBox="1"/>
            <p:nvPr/>
          </p:nvSpPr>
          <p:spPr>
            <a:xfrm>
              <a:off x="0" y="-85725"/>
              <a:ext cx="3780632" cy="19002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Holds encrypted credentials &amp; API tokens.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1889432" y="6315224"/>
            <a:ext cx="38100" cy="850552"/>
            <a:chOff x="0" y="0"/>
            <a:chExt cx="50800" cy="113407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11589544" y="5996285"/>
            <a:ext cx="637877" cy="637878"/>
            <a:chOff x="0" y="0"/>
            <a:chExt cx="850503" cy="850503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11695881" y="6049416"/>
            <a:ext cx="425203" cy="531614"/>
            <a:chOff x="0" y="0"/>
            <a:chExt cx="566937" cy="708818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0490746" y="7449294"/>
            <a:ext cx="2835474" cy="531614"/>
            <a:chOff x="0" y="0"/>
            <a:chExt cx="3780632" cy="70881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3780632" cy="708818"/>
            </a:xfrm>
            <a:custGeom>
              <a:avLst/>
              <a:gdLst/>
              <a:ahLst/>
              <a:cxnLst/>
              <a:rect l="l" t="t" r="r" b="b"/>
              <a:pathLst>
                <a:path w="3780632" h="708818">
                  <a:moveTo>
                    <a:pt x="0" y="0"/>
                  </a:moveTo>
                  <a:lnTo>
                    <a:pt x="3780632" y="0"/>
                  </a:lnTo>
                  <a:lnTo>
                    <a:pt x="3780632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3780632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25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workspace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0490746" y="8151019"/>
            <a:ext cx="2835474" cy="1360885"/>
            <a:chOff x="0" y="0"/>
            <a:chExt cx="3780632" cy="1814513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780632" cy="1814513"/>
            </a:xfrm>
            <a:custGeom>
              <a:avLst/>
              <a:gdLst/>
              <a:ahLst/>
              <a:cxnLst/>
              <a:rect l="l" t="t" r="r" b="b"/>
              <a:pathLst>
                <a:path w="3780632" h="1814513">
                  <a:moveTo>
                    <a:pt x="0" y="0"/>
                  </a:moveTo>
                  <a:lnTo>
                    <a:pt x="3780632" y="0"/>
                  </a:lnTo>
                  <a:lnTo>
                    <a:pt x="3780632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1" name="TextBox 91"/>
            <p:cNvSpPr txBox="1"/>
            <p:nvPr/>
          </p:nvSpPr>
          <p:spPr>
            <a:xfrm>
              <a:off x="0" y="-85725"/>
              <a:ext cx="3780632" cy="19002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Stores temporary build files during execution.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3732371" y="5464671"/>
            <a:ext cx="38100" cy="850552"/>
            <a:chOff x="0" y="0"/>
            <a:chExt cx="50800" cy="113407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94" name="Group 94"/>
          <p:cNvGrpSpPr/>
          <p:nvPr/>
        </p:nvGrpSpPr>
        <p:grpSpPr>
          <a:xfrm>
            <a:off x="13432482" y="5996285"/>
            <a:ext cx="637877" cy="637878"/>
            <a:chOff x="0" y="0"/>
            <a:chExt cx="850503" cy="850503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13538820" y="6049416"/>
            <a:ext cx="425203" cy="531614"/>
            <a:chOff x="0" y="0"/>
            <a:chExt cx="566937" cy="708818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8" name="TextBox 98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7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2333685" y="3572172"/>
            <a:ext cx="2835474" cy="531614"/>
            <a:chOff x="0" y="0"/>
            <a:chExt cx="3780632" cy="708818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3780632" cy="708818"/>
            </a:xfrm>
            <a:custGeom>
              <a:avLst/>
              <a:gdLst/>
              <a:ahLst/>
              <a:cxnLst/>
              <a:rect l="l" t="t" r="r" b="b"/>
              <a:pathLst>
                <a:path w="3780632" h="708818">
                  <a:moveTo>
                    <a:pt x="0" y="0"/>
                  </a:moveTo>
                  <a:lnTo>
                    <a:pt x="3780632" y="0"/>
                  </a:lnTo>
                  <a:lnTo>
                    <a:pt x="3780632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1" name="TextBox 101"/>
            <p:cNvSpPr txBox="1"/>
            <p:nvPr/>
          </p:nvSpPr>
          <p:spPr>
            <a:xfrm>
              <a:off x="0" y="-38100"/>
              <a:ext cx="3780632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25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logs/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2333685" y="4273898"/>
            <a:ext cx="2835474" cy="907256"/>
            <a:chOff x="0" y="0"/>
            <a:chExt cx="3780632" cy="1209675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3780632" cy="1209675"/>
            </a:xfrm>
            <a:custGeom>
              <a:avLst/>
              <a:gdLst/>
              <a:ahLst/>
              <a:cxnLst/>
              <a:rect l="l" t="t" r="r" b="b"/>
              <a:pathLst>
                <a:path w="3780632" h="1209675">
                  <a:moveTo>
                    <a:pt x="0" y="0"/>
                  </a:moveTo>
                  <a:lnTo>
                    <a:pt x="3780632" y="0"/>
                  </a:lnTo>
                  <a:lnTo>
                    <a:pt x="3780632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4" name="TextBox 104"/>
            <p:cNvSpPr txBox="1"/>
            <p:nvPr/>
          </p:nvSpPr>
          <p:spPr>
            <a:xfrm>
              <a:off x="0" y="-85725"/>
              <a:ext cx="3780632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Contains Jenkins logs for troubleshooting.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5575310" y="6315224"/>
            <a:ext cx="38100" cy="850552"/>
            <a:chOff x="0" y="0"/>
            <a:chExt cx="50800" cy="1134070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07" name="Group 107"/>
          <p:cNvGrpSpPr/>
          <p:nvPr/>
        </p:nvGrpSpPr>
        <p:grpSpPr>
          <a:xfrm>
            <a:off x="15275421" y="5996285"/>
            <a:ext cx="637877" cy="637878"/>
            <a:chOff x="0" y="0"/>
            <a:chExt cx="850503" cy="850503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109" name="Group 109"/>
          <p:cNvGrpSpPr/>
          <p:nvPr/>
        </p:nvGrpSpPr>
        <p:grpSpPr>
          <a:xfrm>
            <a:off x="15381759" y="6049416"/>
            <a:ext cx="425203" cy="531614"/>
            <a:chOff x="0" y="0"/>
            <a:chExt cx="566937" cy="708818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1" name="TextBox 111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8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4176772" y="7449294"/>
            <a:ext cx="2835325" cy="531614"/>
            <a:chOff x="0" y="0"/>
            <a:chExt cx="3780433" cy="708818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3780433" cy="708818"/>
            </a:xfrm>
            <a:custGeom>
              <a:avLst/>
              <a:gdLst/>
              <a:ahLst/>
              <a:cxnLst/>
              <a:rect l="l" t="t" r="r" b="b"/>
              <a:pathLst>
                <a:path w="3780433" h="708818">
                  <a:moveTo>
                    <a:pt x="0" y="0"/>
                  </a:moveTo>
                  <a:lnTo>
                    <a:pt x="3780433" y="0"/>
                  </a:lnTo>
                  <a:lnTo>
                    <a:pt x="3780433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4" name="TextBox 114"/>
            <p:cNvSpPr txBox="1"/>
            <p:nvPr/>
          </p:nvSpPr>
          <p:spPr>
            <a:xfrm>
              <a:off x="0" y="-38100"/>
              <a:ext cx="3780433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25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users/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4176772" y="8151019"/>
            <a:ext cx="2835325" cy="907256"/>
            <a:chOff x="0" y="0"/>
            <a:chExt cx="3780433" cy="1209675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3780433" cy="1209675"/>
            </a:xfrm>
            <a:custGeom>
              <a:avLst/>
              <a:gdLst/>
              <a:ahLst/>
              <a:cxnLst/>
              <a:rect l="l" t="t" r="r" b="b"/>
              <a:pathLst>
                <a:path w="3780433" h="1209675">
                  <a:moveTo>
                    <a:pt x="0" y="0"/>
                  </a:moveTo>
                  <a:lnTo>
                    <a:pt x="3780433" y="0"/>
                  </a:lnTo>
                  <a:lnTo>
                    <a:pt x="378043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7" name="TextBox 117"/>
            <p:cNvSpPr txBox="1"/>
            <p:nvPr/>
          </p:nvSpPr>
          <p:spPr>
            <a:xfrm>
              <a:off x="0" y="-85725"/>
              <a:ext cx="3780433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Stores user account data.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893117"/>
            <a:ext cx="6379517" cy="797421"/>
            <a:chOff x="0" y="0"/>
            <a:chExt cx="8506023" cy="10632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06023" cy="1063228"/>
            </a:xfrm>
            <a:custGeom>
              <a:avLst/>
              <a:gdLst/>
              <a:ahLst/>
              <a:cxnLst/>
              <a:rect l="l" t="t" r="r" b="b"/>
              <a:pathLst>
                <a:path w="8506023" h="1063228">
                  <a:moveTo>
                    <a:pt x="0" y="0"/>
                  </a:moveTo>
                  <a:lnTo>
                    <a:pt x="8506023" y="0"/>
                  </a:lnTo>
                  <a:lnTo>
                    <a:pt x="8506023" y="1063228"/>
                  </a:lnTo>
                  <a:lnTo>
                    <a:pt x="0" y="10632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506023" cy="11108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9"/>
                </a:lnSpc>
              </a:pPr>
              <a:r>
                <a:rPr lang="en-US" sz="4999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config.xml  Vs  .yml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7475" y="2196107"/>
            <a:ext cx="16313051" cy="7202389"/>
            <a:chOff x="0" y="0"/>
            <a:chExt cx="21750735" cy="96031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50782" cy="9603232"/>
            </a:xfrm>
            <a:custGeom>
              <a:avLst/>
              <a:gdLst/>
              <a:ahLst/>
              <a:cxnLst/>
              <a:rect l="l" t="t" r="r" b="b"/>
              <a:pathLst>
                <a:path w="21750782" h="9603232">
                  <a:moveTo>
                    <a:pt x="0" y="57404"/>
                  </a:moveTo>
                  <a:cubicBezTo>
                    <a:pt x="0" y="25654"/>
                    <a:pt x="25654" y="0"/>
                    <a:pt x="57404" y="0"/>
                  </a:cubicBezTo>
                  <a:lnTo>
                    <a:pt x="21693378" y="0"/>
                  </a:lnTo>
                  <a:lnTo>
                    <a:pt x="21693378" y="6350"/>
                  </a:lnTo>
                  <a:lnTo>
                    <a:pt x="21693378" y="0"/>
                  </a:lnTo>
                  <a:cubicBezTo>
                    <a:pt x="21725128" y="0"/>
                    <a:pt x="21750782" y="25654"/>
                    <a:pt x="21750782" y="57404"/>
                  </a:cubicBezTo>
                  <a:lnTo>
                    <a:pt x="21744432" y="57404"/>
                  </a:lnTo>
                  <a:lnTo>
                    <a:pt x="21750782" y="57404"/>
                  </a:lnTo>
                  <a:lnTo>
                    <a:pt x="21750782" y="9545828"/>
                  </a:lnTo>
                  <a:lnTo>
                    <a:pt x="21744432" y="9545828"/>
                  </a:lnTo>
                  <a:lnTo>
                    <a:pt x="21750782" y="9545828"/>
                  </a:lnTo>
                  <a:cubicBezTo>
                    <a:pt x="21750782" y="9577578"/>
                    <a:pt x="21725128" y="9603232"/>
                    <a:pt x="21693378" y="9603232"/>
                  </a:cubicBezTo>
                  <a:lnTo>
                    <a:pt x="21693378" y="9596882"/>
                  </a:lnTo>
                  <a:lnTo>
                    <a:pt x="21693378" y="9603232"/>
                  </a:lnTo>
                  <a:lnTo>
                    <a:pt x="57404" y="9603232"/>
                  </a:lnTo>
                  <a:lnTo>
                    <a:pt x="57404" y="9596882"/>
                  </a:lnTo>
                  <a:lnTo>
                    <a:pt x="57404" y="9603232"/>
                  </a:lnTo>
                  <a:cubicBezTo>
                    <a:pt x="25654" y="9603232"/>
                    <a:pt x="0" y="9577578"/>
                    <a:pt x="0" y="9545828"/>
                  </a:cubicBezTo>
                  <a:lnTo>
                    <a:pt x="0" y="57404"/>
                  </a:lnTo>
                  <a:lnTo>
                    <a:pt x="6350" y="57404"/>
                  </a:lnTo>
                  <a:lnTo>
                    <a:pt x="0" y="57404"/>
                  </a:lnTo>
                  <a:moveTo>
                    <a:pt x="12700" y="57404"/>
                  </a:moveTo>
                  <a:lnTo>
                    <a:pt x="12700" y="9545828"/>
                  </a:lnTo>
                  <a:lnTo>
                    <a:pt x="6350" y="9545828"/>
                  </a:lnTo>
                  <a:lnTo>
                    <a:pt x="12700" y="9545828"/>
                  </a:lnTo>
                  <a:cubicBezTo>
                    <a:pt x="12700" y="9570466"/>
                    <a:pt x="32766" y="9590532"/>
                    <a:pt x="57404" y="9590532"/>
                  </a:cubicBezTo>
                  <a:lnTo>
                    <a:pt x="21693378" y="9590532"/>
                  </a:lnTo>
                  <a:cubicBezTo>
                    <a:pt x="21718017" y="9590532"/>
                    <a:pt x="21738082" y="9570466"/>
                    <a:pt x="21738082" y="9545828"/>
                  </a:cubicBezTo>
                  <a:lnTo>
                    <a:pt x="21738082" y="57404"/>
                  </a:lnTo>
                  <a:cubicBezTo>
                    <a:pt x="21738082" y="32766"/>
                    <a:pt x="21718017" y="12700"/>
                    <a:pt x="21693378" y="12700"/>
                  </a:cubicBezTo>
                  <a:lnTo>
                    <a:pt x="57404" y="12700"/>
                  </a:lnTo>
                  <a:lnTo>
                    <a:pt x="57404" y="6350"/>
                  </a:lnTo>
                  <a:lnTo>
                    <a:pt x="57404" y="12700"/>
                  </a:lnTo>
                  <a:cubicBezTo>
                    <a:pt x="32766" y="12700"/>
                    <a:pt x="12700" y="32766"/>
                    <a:pt x="12700" y="57404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1762" y="2210395"/>
            <a:ext cx="16282839" cy="1282005"/>
            <a:chOff x="0" y="0"/>
            <a:chExt cx="21710452" cy="17093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10396" cy="1709293"/>
            </a:xfrm>
            <a:custGeom>
              <a:avLst/>
              <a:gdLst/>
              <a:ahLst/>
              <a:cxnLst/>
              <a:rect l="l" t="t" r="r" b="b"/>
              <a:pathLst>
                <a:path w="21710396" h="1709293">
                  <a:moveTo>
                    <a:pt x="0" y="0"/>
                  </a:moveTo>
                  <a:lnTo>
                    <a:pt x="21710396" y="0"/>
                  </a:lnTo>
                  <a:lnTo>
                    <a:pt x="21710396" y="1709293"/>
                  </a:lnTo>
                  <a:lnTo>
                    <a:pt x="0" y="170929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800821" y="2612156"/>
            <a:ext cx="3827710" cy="478482"/>
            <a:chOff x="0" y="0"/>
            <a:chExt cx="5103613" cy="63797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03613" cy="637977"/>
            </a:xfrm>
            <a:custGeom>
              <a:avLst/>
              <a:gdLst/>
              <a:ahLst/>
              <a:cxnLst/>
              <a:rect l="l" t="t" r="r" b="b"/>
              <a:pathLst>
                <a:path w="5103613" h="637977">
                  <a:moveTo>
                    <a:pt x="0" y="0"/>
                  </a:moveTo>
                  <a:lnTo>
                    <a:pt x="5103613" y="0"/>
                  </a:lnTo>
                  <a:lnTo>
                    <a:pt x="5103613" y="637977"/>
                  </a:lnTo>
                  <a:lnTo>
                    <a:pt x="0" y="6379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5103613" cy="6665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49"/>
                </a:lnSpc>
              </a:pPr>
              <a:r>
                <a:rPr lang="en-US" sz="3000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Feature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230220" y="2612156"/>
            <a:ext cx="3827710" cy="478482"/>
            <a:chOff x="0" y="0"/>
            <a:chExt cx="5103613" cy="63797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103613" cy="637977"/>
            </a:xfrm>
            <a:custGeom>
              <a:avLst/>
              <a:gdLst/>
              <a:ahLst/>
              <a:cxnLst/>
              <a:rect l="l" t="t" r="r" b="b"/>
              <a:pathLst>
                <a:path w="5103613" h="637977">
                  <a:moveTo>
                    <a:pt x="0" y="0"/>
                  </a:moveTo>
                  <a:lnTo>
                    <a:pt x="5103613" y="0"/>
                  </a:lnTo>
                  <a:lnTo>
                    <a:pt x="5103613" y="637977"/>
                  </a:lnTo>
                  <a:lnTo>
                    <a:pt x="0" y="6379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5103613" cy="6665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49"/>
                </a:lnSpc>
              </a:pPr>
              <a:r>
                <a:rPr lang="en-US" sz="3000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config.xml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117438" y="2372916"/>
            <a:ext cx="4912072" cy="956965"/>
            <a:chOff x="0" y="0"/>
            <a:chExt cx="6549430" cy="127595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549430" cy="1275953"/>
            </a:xfrm>
            <a:custGeom>
              <a:avLst/>
              <a:gdLst/>
              <a:ahLst/>
              <a:cxnLst/>
              <a:rect l="l" t="t" r="r" b="b"/>
              <a:pathLst>
                <a:path w="6549430" h="1275953">
                  <a:moveTo>
                    <a:pt x="0" y="0"/>
                  </a:moveTo>
                  <a:lnTo>
                    <a:pt x="6549430" y="0"/>
                  </a:lnTo>
                  <a:lnTo>
                    <a:pt x="6549430" y="1275953"/>
                  </a:lnTo>
                  <a:lnTo>
                    <a:pt x="0" y="12759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6549430" cy="13045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49"/>
                </a:lnSpc>
              </a:pPr>
              <a:r>
                <a:rPr lang="en-US" sz="3000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.yml files (GitHub actions)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1762" y="3492401"/>
            <a:ext cx="16282839" cy="1345406"/>
            <a:chOff x="0" y="0"/>
            <a:chExt cx="21710452" cy="179387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710396" cy="1793875"/>
            </a:xfrm>
            <a:custGeom>
              <a:avLst/>
              <a:gdLst/>
              <a:ahLst/>
              <a:cxnLst/>
              <a:rect l="l" t="t" r="r" b="b"/>
              <a:pathLst>
                <a:path w="21710396" h="1793875">
                  <a:moveTo>
                    <a:pt x="0" y="0"/>
                  </a:moveTo>
                  <a:lnTo>
                    <a:pt x="21710396" y="0"/>
                  </a:lnTo>
                  <a:lnTo>
                    <a:pt x="21710396" y="1793875"/>
                  </a:lnTo>
                  <a:lnTo>
                    <a:pt x="0" y="17938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258640" y="3654921"/>
            <a:ext cx="4912072" cy="510183"/>
            <a:chOff x="0" y="0"/>
            <a:chExt cx="6549430" cy="6802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549430" cy="680243"/>
            </a:xfrm>
            <a:custGeom>
              <a:avLst/>
              <a:gdLst/>
              <a:ahLst/>
              <a:cxnLst/>
              <a:rect l="l" t="t" r="r" b="b"/>
              <a:pathLst>
                <a:path w="6549430" h="680243">
                  <a:moveTo>
                    <a:pt x="0" y="0"/>
                  </a:moveTo>
                  <a:lnTo>
                    <a:pt x="6549430" y="0"/>
                  </a:lnTo>
                  <a:lnTo>
                    <a:pt x="6549430" y="680243"/>
                  </a:lnTo>
                  <a:lnTo>
                    <a:pt x="0" y="6802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6549430" cy="7850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Purpose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90420" y="3654921"/>
            <a:ext cx="4907310" cy="510183"/>
            <a:chOff x="0" y="0"/>
            <a:chExt cx="6543080" cy="68024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543080" cy="680243"/>
            </a:xfrm>
            <a:custGeom>
              <a:avLst/>
              <a:gdLst/>
              <a:ahLst/>
              <a:cxnLst/>
              <a:rect l="l" t="t" r="r" b="b"/>
              <a:pathLst>
                <a:path w="6543080" h="680243">
                  <a:moveTo>
                    <a:pt x="0" y="0"/>
                  </a:moveTo>
                  <a:lnTo>
                    <a:pt x="6543080" y="0"/>
                  </a:lnTo>
                  <a:lnTo>
                    <a:pt x="6543080" y="680243"/>
                  </a:lnTo>
                  <a:lnTo>
                    <a:pt x="0" y="6802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04775"/>
              <a:ext cx="6543080" cy="7850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Stores Jenkins job configurations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117438" y="3654921"/>
            <a:ext cx="4912072" cy="1020366"/>
            <a:chOff x="0" y="0"/>
            <a:chExt cx="6549430" cy="136048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549430" cy="1360488"/>
            </a:xfrm>
            <a:custGeom>
              <a:avLst/>
              <a:gdLst/>
              <a:ahLst/>
              <a:cxnLst/>
              <a:rect l="l" t="t" r="r" b="b"/>
              <a:pathLst>
                <a:path w="6549430" h="1360488">
                  <a:moveTo>
                    <a:pt x="0" y="0"/>
                  </a:moveTo>
                  <a:lnTo>
                    <a:pt x="6549430" y="0"/>
                  </a:lnTo>
                  <a:lnTo>
                    <a:pt x="6549430" y="1360488"/>
                  </a:lnTo>
                  <a:lnTo>
                    <a:pt x="0" y="1360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104775"/>
              <a:ext cx="6549430" cy="1465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Defines CI/CD workflows in GitHub Actions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01762" y="4837808"/>
            <a:ext cx="16282839" cy="1345406"/>
            <a:chOff x="0" y="0"/>
            <a:chExt cx="21710452" cy="179387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710396" cy="1793875"/>
            </a:xfrm>
            <a:custGeom>
              <a:avLst/>
              <a:gdLst/>
              <a:ahLst/>
              <a:cxnLst/>
              <a:rect l="l" t="t" r="r" b="b"/>
              <a:pathLst>
                <a:path w="21710396" h="1793875">
                  <a:moveTo>
                    <a:pt x="0" y="0"/>
                  </a:moveTo>
                  <a:lnTo>
                    <a:pt x="21710396" y="0"/>
                  </a:lnTo>
                  <a:lnTo>
                    <a:pt x="21710396" y="1793875"/>
                  </a:lnTo>
                  <a:lnTo>
                    <a:pt x="0" y="179387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258640" y="5000327"/>
            <a:ext cx="4912072" cy="510183"/>
            <a:chOff x="0" y="0"/>
            <a:chExt cx="6549430" cy="68024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549430" cy="680243"/>
            </a:xfrm>
            <a:custGeom>
              <a:avLst/>
              <a:gdLst/>
              <a:ahLst/>
              <a:cxnLst/>
              <a:rect l="l" t="t" r="r" b="b"/>
              <a:pathLst>
                <a:path w="6549430" h="680243">
                  <a:moveTo>
                    <a:pt x="0" y="0"/>
                  </a:moveTo>
                  <a:lnTo>
                    <a:pt x="6549430" y="0"/>
                  </a:lnTo>
                  <a:lnTo>
                    <a:pt x="6549430" y="680243"/>
                  </a:lnTo>
                  <a:lnTo>
                    <a:pt x="0" y="6802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104775"/>
              <a:ext cx="6549430" cy="7850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Pipeline Type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690420" y="5000327"/>
            <a:ext cx="4907310" cy="1020366"/>
            <a:chOff x="0" y="0"/>
            <a:chExt cx="6543080" cy="136048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543080" cy="1360488"/>
            </a:xfrm>
            <a:custGeom>
              <a:avLst/>
              <a:gdLst/>
              <a:ahLst/>
              <a:cxnLst/>
              <a:rect l="l" t="t" r="r" b="b"/>
              <a:pathLst>
                <a:path w="6543080" h="1360488">
                  <a:moveTo>
                    <a:pt x="0" y="0"/>
                  </a:moveTo>
                  <a:lnTo>
                    <a:pt x="6543080" y="0"/>
                  </a:lnTo>
                  <a:lnTo>
                    <a:pt x="6543080" y="1360488"/>
                  </a:lnTo>
                  <a:lnTo>
                    <a:pt x="0" y="1360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104775"/>
              <a:ext cx="6543080" cy="1465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Used mainly for </a:t>
              </a:r>
              <a:r>
                <a:rPr lang="en-US" sz="2499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Freestyle Jobs</a:t>
              </a:r>
              <a:r>
                <a:rPr lang="en-US" sz="24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(not Pipeline jobs)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117438" y="5000327"/>
            <a:ext cx="4912072" cy="1020366"/>
            <a:chOff x="0" y="0"/>
            <a:chExt cx="6549430" cy="136048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549430" cy="1360488"/>
            </a:xfrm>
            <a:custGeom>
              <a:avLst/>
              <a:gdLst/>
              <a:ahLst/>
              <a:cxnLst/>
              <a:rect l="l" t="t" r="r" b="b"/>
              <a:pathLst>
                <a:path w="6549430" h="1360488">
                  <a:moveTo>
                    <a:pt x="0" y="0"/>
                  </a:moveTo>
                  <a:lnTo>
                    <a:pt x="6549430" y="0"/>
                  </a:lnTo>
                  <a:lnTo>
                    <a:pt x="6549430" y="1360488"/>
                  </a:lnTo>
                  <a:lnTo>
                    <a:pt x="0" y="1360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104775"/>
              <a:ext cx="6549430" cy="1465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Defines CI/CD workflows similar to Jenkins Pipelines.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01762" y="6183214"/>
            <a:ext cx="16282839" cy="1855589"/>
            <a:chOff x="0" y="0"/>
            <a:chExt cx="21710452" cy="247411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10396" cy="2474087"/>
            </a:xfrm>
            <a:custGeom>
              <a:avLst/>
              <a:gdLst/>
              <a:ahLst/>
              <a:cxnLst/>
              <a:rect l="l" t="t" r="r" b="b"/>
              <a:pathLst>
                <a:path w="21710396" h="2474087">
                  <a:moveTo>
                    <a:pt x="0" y="0"/>
                  </a:moveTo>
                  <a:lnTo>
                    <a:pt x="21710396" y="0"/>
                  </a:lnTo>
                  <a:lnTo>
                    <a:pt x="21710396" y="2474087"/>
                  </a:lnTo>
                  <a:lnTo>
                    <a:pt x="0" y="24740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258640" y="6345734"/>
            <a:ext cx="4912072" cy="510183"/>
            <a:chOff x="0" y="0"/>
            <a:chExt cx="6549430" cy="68024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549430" cy="680243"/>
            </a:xfrm>
            <a:custGeom>
              <a:avLst/>
              <a:gdLst/>
              <a:ahLst/>
              <a:cxnLst/>
              <a:rect l="l" t="t" r="r" b="b"/>
              <a:pathLst>
                <a:path w="6549430" h="680243">
                  <a:moveTo>
                    <a:pt x="0" y="0"/>
                  </a:moveTo>
                  <a:lnTo>
                    <a:pt x="6549430" y="0"/>
                  </a:lnTo>
                  <a:lnTo>
                    <a:pt x="6549430" y="680243"/>
                  </a:lnTo>
                  <a:lnTo>
                    <a:pt x="0" y="6802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104775"/>
              <a:ext cx="6549430" cy="7850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Execution Trigger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690420" y="6345734"/>
            <a:ext cx="4907310" cy="1530549"/>
            <a:chOff x="0" y="0"/>
            <a:chExt cx="6543080" cy="204073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543080" cy="2040732"/>
            </a:xfrm>
            <a:custGeom>
              <a:avLst/>
              <a:gdLst/>
              <a:ahLst/>
              <a:cxnLst/>
              <a:rect l="l" t="t" r="r" b="b"/>
              <a:pathLst>
                <a:path w="6543080" h="2040732">
                  <a:moveTo>
                    <a:pt x="0" y="0"/>
                  </a:moveTo>
                  <a:lnTo>
                    <a:pt x="6543080" y="0"/>
                  </a:lnTo>
                  <a:lnTo>
                    <a:pt x="6543080" y="2040732"/>
                  </a:lnTo>
                  <a:lnTo>
                    <a:pt x="0" y="20407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104775"/>
              <a:ext cx="6543080" cy="2145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Jobs can be triggered by Jenkins (manually, webhooks, or scheduled builds)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117438" y="6345734"/>
            <a:ext cx="4912072" cy="1530549"/>
            <a:chOff x="0" y="0"/>
            <a:chExt cx="6549430" cy="204073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549430" cy="2040732"/>
            </a:xfrm>
            <a:custGeom>
              <a:avLst/>
              <a:gdLst/>
              <a:ahLst/>
              <a:cxnLst/>
              <a:rect l="l" t="t" r="r" b="b"/>
              <a:pathLst>
                <a:path w="6549430" h="2040732">
                  <a:moveTo>
                    <a:pt x="0" y="0"/>
                  </a:moveTo>
                  <a:lnTo>
                    <a:pt x="6549430" y="0"/>
                  </a:lnTo>
                  <a:lnTo>
                    <a:pt x="6549430" y="2040732"/>
                  </a:lnTo>
                  <a:lnTo>
                    <a:pt x="0" y="20407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104775"/>
              <a:ext cx="6549430" cy="2145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Workflows are triggered by GitHub events (push, pull request, cron schedules, etc.)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01762" y="8038802"/>
            <a:ext cx="16282839" cy="1345406"/>
            <a:chOff x="0" y="0"/>
            <a:chExt cx="21710452" cy="1793875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1710396" cy="1793875"/>
            </a:xfrm>
            <a:custGeom>
              <a:avLst/>
              <a:gdLst/>
              <a:ahLst/>
              <a:cxnLst/>
              <a:rect l="l" t="t" r="r" b="b"/>
              <a:pathLst>
                <a:path w="21710396" h="1793875">
                  <a:moveTo>
                    <a:pt x="0" y="0"/>
                  </a:moveTo>
                  <a:lnTo>
                    <a:pt x="21710396" y="0"/>
                  </a:lnTo>
                  <a:lnTo>
                    <a:pt x="21710396" y="1793875"/>
                  </a:lnTo>
                  <a:lnTo>
                    <a:pt x="0" y="179387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1258640" y="8201322"/>
            <a:ext cx="4912072" cy="510183"/>
            <a:chOff x="0" y="0"/>
            <a:chExt cx="6549430" cy="680243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549430" cy="680243"/>
            </a:xfrm>
            <a:custGeom>
              <a:avLst/>
              <a:gdLst/>
              <a:ahLst/>
              <a:cxnLst/>
              <a:rect l="l" t="t" r="r" b="b"/>
              <a:pathLst>
                <a:path w="6549430" h="680243">
                  <a:moveTo>
                    <a:pt x="0" y="0"/>
                  </a:moveTo>
                  <a:lnTo>
                    <a:pt x="6549430" y="0"/>
                  </a:lnTo>
                  <a:lnTo>
                    <a:pt x="6549430" y="680243"/>
                  </a:lnTo>
                  <a:lnTo>
                    <a:pt x="0" y="6802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-104775"/>
              <a:ext cx="6549430" cy="7850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Modification Method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690420" y="8201322"/>
            <a:ext cx="4907310" cy="1020366"/>
            <a:chOff x="0" y="0"/>
            <a:chExt cx="6543080" cy="136048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543080" cy="1360488"/>
            </a:xfrm>
            <a:custGeom>
              <a:avLst/>
              <a:gdLst/>
              <a:ahLst/>
              <a:cxnLst/>
              <a:rect l="l" t="t" r="r" b="b"/>
              <a:pathLst>
                <a:path w="6543080" h="1360488">
                  <a:moveTo>
                    <a:pt x="0" y="0"/>
                  </a:moveTo>
                  <a:lnTo>
                    <a:pt x="6543080" y="0"/>
                  </a:lnTo>
                  <a:lnTo>
                    <a:pt x="6543080" y="1360488"/>
                  </a:lnTo>
                  <a:lnTo>
                    <a:pt x="0" y="1360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-104775"/>
              <a:ext cx="6543080" cy="1465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Usually modified via Jenkins UI or manually in the file system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117438" y="8201322"/>
            <a:ext cx="4912072" cy="510183"/>
            <a:chOff x="0" y="0"/>
            <a:chExt cx="6549430" cy="680243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549430" cy="680243"/>
            </a:xfrm>
            <a:custGeom>
              <a:avLst/>
              <a:gdLst/>
              <a:ahLst/>
              <a:cxnLst/>
              <a:rect l="l" t="t" r="r" b="b"/>
              <a:pathLst>
                <a:path w="6549430" h="680243">
                  <a:moveTo>
                    <a:pt x="0" y="0"/>
                  </a:moveTo>
                  <a:lnTo>
                    <a:pt x="6549430" y="0"/>
                  </a:lnTo>
                  <a:lnTo>
                    <a:pt x="6549430" y="680243"/>
                  </a:lnTo>
                  <a:lnTo>
                    <a:pt x="0" y="6802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-104775"/>
              <a:ext cx="6549430" cy="7850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Edited directly in GitHub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92238" y="1493192"/>
            <a:ext cx="9445526" cy="1771947"/>
            <a:chOff x="0" y="0"/>
            <a:chExt cx="12594035" cy="23625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594035" cy="2362597"/>
            </a:xfrm>
            <a:custGeom>
              <a:avLst/>
              <a:gdLst/>
              <a:ahLst/>
              <a:cxnLst/>
              <a:rect l="l" t="t" r="r" b="b"/>
              <a:pathLst>
                <a:path w="12594035" h="2362597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2594035" cy="2419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Backup and Restore Jenkins</a:t>
              </a:r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992238" y="3690343"/>
            <a:ext cx="1417588" cy="1701105"/>
          </a:xfrm>
          <a:custGeom>
            <a:avLst/>
            <a:gdLst/>
            <a:ahLst/>
            <a:cxnLst/>
            <a:rect l="l" t="t" r="r" b="b"/>
            <a:pathLst>
              <a:path w="1417588" h="1701105">
                <a:moveTo>
                  <a:pt x="0" y="0"/>
                </a:moveTo>
                <a:lnTo>
                  <a:pt x="1417587" y="0"/>
                </a:lnTo>
                <a:lnTo>
                  <a:pt x="1417587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5" b="-55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2835028" y="3973860"/>
            <a:ext cx="3816995" cy="615567"/>
            <a:chOff x="0" y="0"/>
            <a:chExt cx="5089327" cy="8207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9327" cy="820756"/>
            </a:xfrm>
            <a:custGeom>
              <a:avLst/>
              <a:gdLst/>
              <a:ahLst/>
              <a:cxnLst/>
              <a:rect l="l" t="t" r="r" b="b"/>
              <a:pathLst>
                <a:path w="5089327" h="820756">
                  <a:moveTo>
                    <a:pt x="0" y="0"/>
                  </a:moveTo>
                  <a:lnTo>
                    <a:pt x="5089327" y="0"/>
                  </a:lnTo>
                  <a:lnTo>
                    <a:pt x="5089327" y="820756"/>
                  </a:lnTo>
                  <a:lnTo>
                    <a:pt x="0" y="8207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089327" cy="858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2"/>
                </a:lnSpc>
              </a:pPr>
              <a:r>
                <a:rPr lang="en-US" sz="304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Backup Configuration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835028" y="4586882"/>
            <a:ext cx="7602736" cy="458885"/>
            <a:chOff x="0" y="0"/>
            <a:chExt cx="10136982" cy="6118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36982" cy="611847"/>
            </a:xfrm>
            <a:custGeom>
              <a:avLst/>
              <a:gdLst/>
              <a:ahLst/>
              <a:cxnLst/>
              <a:rect l="l" t="t" r="r" b="b"/>
              <a:pathLst>
                <a:path w="10136982" h="611847">
                  <a:moveTo>
                    <a:pt x="0" y="0"/>
                  </a:moveTo>
                  <a:lnTo>
                    <a:pt x="10136982" y="0"/>
                  </a:lnTo>
                  <a:lnTo>
                    <a:pt x="10136982" y="611847"/>
                  </a:lnTo>
                  <a:lnTo>
                    <a:pt x="0" y="6118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10136982" cy="7166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Create a backup of essential Jenkins files.</a:t>
              </a:r>
            </a:p>
          </p:txBody>
        </p:sp>
      </p:grpSp>
      <p:sp>
        <p:nvSpPr>
          <p:cNvPr id="18" name="Freeform 18" descr="preencoded.png"/>
          <p:cNvSpPr/>
          <p:nvPr/>
        </p:nvSpPr>
        <p:spPr>
          <a:xfrm>
            <a:off x="992238" y="5391447"/>
            <a:ext cx="1417588" cy="1701105"/>
          </a:xfrm>
          <a:custGeom>
            <a:avLst/>
            <a:gdLst/>
            <a:ahLst/>
            <a:cxnLst/>
            <a:rect l="l" t="t" r="r" b="b"/>
            <a:pathLst>
              <a:path w="1417588" h="1701105">
                <a:moveTo>
                  <a:pt x="0" y="0"/>
                </a:moveTo>
                <a:lnTo>
                  <a:pt x="1417587" y="0"/>
                </a:lnTo>
                <a:lnTo>
                  <a:pt x="1417587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5" b="-55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2835027" y="5674965"/>
            <a:ext cx="3852862" cy="615567"/>
            <a:chOff x="0" y="0"/>
            <a:chExt cx="5137150" cy="82075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37150" cy="820756"/>
            </a:xfrm>
            <a:custGeom>
              <a:avLst/>
              <a:gdLst/>
              <a:ahLst/>
              <a:cxnLst/>
              <a:rect l="l" t="t" r="r" b="b"/>
              <a:pathLst>
                <a:path w="5137150" h="820756">
                  <a:moveTo>
                    <a:pt x="0" y="0"/>
                  </a:moveTo>
                  <a:lnTo>
                    <a:pt x="5137150" y="0"/>
                  </a:lnTo>
                  <a:lnTo>
                    <a:pt x="5137150" y="820756"/>
                  </a:lnTo>
                  <a:lnTo>
                    <a:pt x="0" y="8207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137150" cy="858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2"/>
                </a:lnSpc>
              </a:pPr>
              <a:r>
                <a:rPr lang="en-US" sz="304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Restore Configuration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835028" y="6287989"/>
            <a:ext cx="7602736" cy="458885"/>
            <a:chOff x="0" y="0"/>
            <a:chExt cx="10136982" cy="61184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136982" cy="611847"/>
            </a:xfrm>
            <a:custGeom>
              <a:avLst/>
              <a:gdLst/>
              <a:ahLst/>
              <a:cxnLst/>
              <a:rect l="l" t="t" r="r" b="b"/>
              <a:pathLst>
                <a:path w="10136982" h="611847">
                  <a:moveTo>
                    <a:pt x="0" y="0"/>
                  </a:moveTo>
                  <a:lnTo>
                    <a:pt x="10136982" y="0"/>
                  </a:lnTo>
                  <a:lnTo>
                    <a:pt x="10136982" y="611847"/>
                  </a:lnTo>
                  <a:lnTo>
                    <a:pt x="0" y="6118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04775"/>
              <a:ext cx="10136982" cy="7166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Restore Jenkins from a backup file.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992238" y="7092552"/>
            <a:ext cx="1417588" cy="1701105"/>
          </a:xfrm>
          <a:custGeom>
            <a:avLst/>
            <a:gdLst/>
            <a:ahLst/>
            <a:cxnLst/>
            <a:rect l="l" t="t" r="r" b="b"/>
            <a:pathLst>
              <a:path w="1417588" h="1701105">
                <a:moveTo>
                  <a:pt x="0" y="0"/>
                </a:moveTo>
                <a:lnTo>
                  <a:pt x="1417587" y="0"/>
                </a:lnTo>
                <a:lnTo>
                  <a:pt x="1417587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55" b="-55"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2835028" y="7376071"/>
            <a:ext cx="3544044" cy="615567"/>
            <a:chOff x="0" y="0"/>
            <a:chExt cx="4725392" cy="82075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725392" cy="820756"/>
            </a:xfrm>
            <a:custGeom>
              <a:avLst/>
              <a:gdLst/>
              <a:ahLst/>
              <a:cxnLst/>
              <a:rect l="l" t="t" r="r" b="b"/>
              <a:pathLst>
                <a:path w="4725392" h="820756">
                  <a:moveTo>
                    <a:pt x="0" y="0"/>
                  </a:moveTo>
                  <a:lnTo>
                    <a:pt x="4725392" y="0"/>
                  </a:lnTo>
                  <a:lnTo>
                    <a:pt x="4725392" y="820756"/>
                  </a:lnTo>
                  <a:lnTo>
                    <a:pt x="0" y="8207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725392" cy="858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2"/>
                </a:lnSpc>
              </a:pPr>
              <a:r>
                <a:rPr lang="en-US" sz="304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Automate Backups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835028" y="7989094"/>
            <a:ext cx="7602736" cy="458885"/>
            <a:chOff x="0" y="0"/>
            <a:chExt cx="10136982" cy="61184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136982" cy="611847"/>
            </a:xfrm>
            <a:custGeom>
              <a:avLst/>
              <a:gdLst/>
              <a:ahLst/>
              <a:cxnLst/>
              <a:rect l="l" t="t" r="r" b="b"/>
              <a:pathLst>
                <a:path w="10136982" h="611847">
                  <a:moveTo>
                    <a:pt x="0" y="0"/>
                  </a:moveTo>
                  <a:lnTo>
                    <a:pt x="10136982" y="0"/>
                  </a:lnTo>
                  <a:lnTo>
                    <a:pt x="10136982" y="611847"/>
                  </a:lnTo>
                  <a:lnTo>
                    <a:pt x="0" y="6118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104775"/>
              <a:ext cx="10136982" cy="7166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Schedule daily backups with a cron job.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1344" y="778966"/>
            <a:ext cx="9983689" cy="1074241"/>
            <a:chOff x="0" y="0"/>
            <a:chExt cx="13311585" cy="14323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11584" cy="1432322"/>
            </a:xfrm>
            <a:custGeom>
              <a:avLst/>
              <a:gdLst/>
              <a:ahLst/>
              <a:cxnLst/>
              <a:rect l="l" t="t" r="r" b="b"/>
              <a:pathLst>
                <a:path w="13311584" h="1432322">
                  <a:moveTo>
                    <a:pt x="0" y="0"/>
                  </a:moveTo>
                  <a:lnTo>
                    <a:pt x="13311584" y="0"/>
                  </a:lnTo>
                  <a:lnTo>
                    <a:pt x="13311584" y="1432322"/>
                  </a:lnTo>
                  <a:lnTo>
                    <a:pt x="0" y="14323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311585" cy="14799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562"/>
                </a:lnSpc>
              </a:pPr>
              <a:r>
                <a:rPr lang="en-US" sz="5250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Upstream &amp; Downstream jobs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1344" y="2158007"/>
            <a:ext cx="16305311" cy="538162"/>
            <a:chOff x="0" y="0"/>
            <a:chExt cx="21740415" cy="7175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0416" cy="717550"/>
            </a:xfrm>
            <a:custGeom>
              <a:avLst/>
              <a:gdLst/>
              <a:ahLst/>
              <a:cxnLst/>
              <a:rect l="l" t="t" r="r" b="b"/>
              <a:pathLst>
                <a:path w="21740416" h="717550">
                  <a:moveTo>
                    <a:pt x="0" y="0"/>
                  </a:moveTo>
                  <a:lnTo>
                    <a:pt x="21740416" y="0"/>
                  </a:lnTo>
                  <a:lnTo>
                    <a:pt x="21740416" y="717550"/>
                  </a:lnTo>
                  <a:lnTo>
                    <a:pt x="0" y="717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1740415" cy="812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87"/>
                </a:lnSpc>
              </a:pPr>
              <a:r>
                <a:rPr lang="en-US" sz="2625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In Jenkins, </a:t>
              </a:r>
              <a:r>
                <a:rPr lang="en-US" sz="2625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upstream</a:t>
              </a:r>
              <a:r>
                <a:rPr lang="en-US" sz="2625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and </a:t>
              </a:r>
              <a:r>
                <a:rPr lang="en-US" sz="2625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downstream</a:t>
              </a:r>
              <a:r>
                <a:rPr lang="en-US" sz="2625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jobs refer to the relationship between jobs in a pipeline or workflow: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1344" y="2998886"/>
            <a:ext cx="8018115" cy="3356670"/>
            <a:chOff x="0" y="0"/>
            <a:chExt cx="10690820" cy="44755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690860" cy="4475607"/>
            </a:xfrm>
            <a:custGeom>
              <a:avLst/>
              <a:gdLst/>
              <a:ahLst/>
              <a:cxnLst/>
              <a:rect l="l" t="t" r="r" b="b"/>
              <a:pathLst>
                <a:path w="10690860" h="4475607">
                  <a:moveTo>
                    <a:pt x="0" y="53848"/>
                  </a:moveTo>
                  <a:cubicBezTo>
                    <a:pt x="0" y="24130"/>
                    <a:pt x="24130" y="0"/>
                    <a:pt x="53848" y="0"/>
                  </a:cubicBezTo>
                  <a:lnTo>
                    <a:pt x="10637012" y="0"/>
                  </a:lnTo>
                  <a:cubicBezTo>
                    <a:pt x="10666730" y="0"/>
                    <a:pt x="10690860" y="24130"/>
                    <a:pt x="10690860" y="53848"/>
                  </a:cubicBezTo>
                  <a:lnTo>
                    <a:pt x="10690860" y="4421759"/>
                  </a:lnTo>
                  <a:cubicBezTo>
                    <a:pt x="10690860" y="4451477"/>
                    <a:pt x="10666730" y="4475607"/>
                    <a:pt x="10637012" y="4475607"/>
                  </a:cubicBezTo>
                  <a:lnTo>
                    <a:pt x="53848" y="4475607"/>
                  </a:lnTo>
                  <a:cubicBezTo>
                    <a:pt x="24130" y="4475607"/>
                    <a:pt x="0" y="4451477"/>
                    <a:pt x="0" y="4421759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3377967" y="3124498"/>
            <a:ext cx="4036516" cy="714077"/>
            <a:chOff x="0" y="0"/>
            <a:chExt cx="5382022" cy="9521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82022" cy="952103"/>
            </a:xfrm>
            <a:custGeom>
              <a:avLst/>
              <a:gdLst/>
              <a:ahLst/>
              <a:cxnLst/>
              <a:rect l="l" t="t" r="r" b="b"/>
              <a:pathLst>
                <a:path w="5382022" h="952103">
                  <a:moveTo>
                    <a:pt x="0" y="0"/>
                  </a:moveTo>
                  <a:lnTo>
                    <a:pt x="5382022" y="0"/>
                  </a:lnTo>
                  <a:lnTo>
                    <a:pt x="5382022" y="952103"/>
                  </a:lnTo>
                  <a:lnTo>
                    <a:pt x="0" y="9521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382022" cy="9902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37"/>
                </a:lnSpc>
              </a:pPr>
              <a:r>
                <a:rPr lang="en-US" sz="3125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Upstream jobs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60425" y="3933825"/>
            <a:ext cx="7479952" cy="2152650"/>
            <a:chOff x="0" y="0"/>
            <a:chExt cx="9973270" cy="2870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973270" cy="2870200"/>
            </a:xfrm>
            <a:custGeom>
              <a:avLst/>
              <a:gdLst/>
              <a:ahLst/>
              <a:cxnLst/>
              <a:rect l="l" t="t" r="r" b="b"/>
              <a:pathLst>
                <a:path w="9973270" h="2870200">
                  <a:moveTo>
                    <a:pt x="0" y="0"/>
                  </a:moveTo>
                  <a:lnTo>
                    <a:pt x="9973270" y="0"/>
                  </a:lnTo>
                  <a:lnTo>
                    <a:pt x="9973270" y="2870200"/>
                  </a:lnTo>
                  <a:lnTo>
                    <a:pt x="0" y="2870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9973270" cy="2965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87"/>
                </a:lnSpc>
              </a:pPr>
              <a:r>
                <a:rPr lang="en-US" sz="2625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This is a job that triggers another job (the downstream job) upon completion. It typically runs first and passes its results or artifacts to the downstream job.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278541" y="2998886"/>
            <a:ext cx="8018115" cy="3356670"/>
            <a:chOff x="0" y="0"/>
            <a:chExt cx="10690820" cy="44755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690860" cy="4475607"/>
            </a:xfrm>
            <a:custGeom>
              <a:avLst/>
              <a:gdLst/>
              <a:ahLst/>
              <a:cxnLst/>
              <a:rect l="l" t="t" r="r" b="b"/>
              <a:pathLst>
                <a:path w="10690860" h="4475607">
                  <a:moveTo>
                    <a:pt x="0" y="53848"/>
                  </a:moveTo>
                  <a:cubicBezTo>
                    <a:pt x="0" y="24130"/>
                    <a:pt x="24130" y="0"/>
                    <a:pt x="53848" y="0"/>
                  </a:cubicBezTo>
                  <a:lnTo>
                    <a:pt x="10637012" y="0"/>
                  </a:lnTo>
                  <a:cubicBezTo>
                    <a:pt x="10666730" y="0"/>
                    <a:pt x="10690860" y="24130"/>
                    <a:pt x="10690860" y="53848"/>
                  </a:cubicBezTo>
                  <a:lnTo>
                    <a:pt x="10690860" y="4421759"/>
                  </a:lnTo>
                  <a:cubicBezTo>
                    <a:pt x="10690860" y="4451477"/>
                    <a:pt x="10666730" y="4475607"/>
                    <a:pt x="10637012" y="4475607"/>
                  </a:cubicBezTo>
                  <a:lnTo>
                    <a:pt x="53848" y="4475607"/>
                  </a:lnTo>
                  <a:cubicBezTo>
                    <a:pt x="24130" y="4475607"/>
                    <a:pt x="0" y="4451477"/>
                    <a:pt x="0" y="4421759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1593196" y="3124498"/>
            <a:ext cx="4036516" cy="714077"/>
            <a:chOff x="0" y="0"/>
            <a:chExt cx="5382022" cy="95210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382022" cy="952103"/>
            </a:xfrm>
            <a:custGeom>
              <a:avLst/>
              <a:gdLst/>
              <a:ahLst/>
              <a:cxnLst/>
              <a:rect l="l" t="t" r="r" b="b"/>
              <a:pathLst>
                <a:path w="5382022" h="952103">
                  <a:moveTo>
                    <a:pt x="0" y="0"/>
                  </a:moveTo>
                  <a:lnTo>
                    <a:pt x="5382022" y="0"/>
                  </a:lnTo>
                  <a:lnTo>
                    <a:pt x="5382022" y="952103"/>
                  </a:lnTo>
                  <a:lnTo>
                    <a:pt x="0" y="9521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5382022" cy="9902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37"/>
                </a:lnSpc>
              </a:pPr>
              <a:r>
                <a:rPr lang="en-US" sz="3125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Downstream jobs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47622" y="3933825"/>
            <a:ext cx="7479952" cy="2152650"/>
            <a:chOff x="0" y="0"/>
            <a:chExt cx="9973270" cy="2870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973270" cy="2870200"/>
            </a:xfrm>
            <a:custGeom>
              <a:avLst/>
              <a:gdLst/>
              <a:ahLst/>
              <a:cxnLst/>
              <a:rect l="l" t="t" r="r" b="b"/>
              <a:pathLst>
                <a:path w="9973270" h="2870200">
                  <a:moveTo>
                    <a:pt x="0" y="0"/>
                  </a:moveTo>
                  <a:lnTo>
                    <a:pt x="9973270" y="0"/>
                  </a:lnTo>
                  <a:lnTo>
                    <a:pt x="9973270" y="2870200"/>
                  </a:lnTo>
                  <a:lnTo>
                    <a:pt x="0" y="2870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0"/>
              <a:ext cx="9973270" cy="2965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87"/>
                </a:lnSpc>
              </a:pPr>
              <a:r>
                <a:rPr lang="en-US" sz="2625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This is a job that is triggered by an upstream job. It depends on the upstream job's execution and often uses the output or artifacts from the upstream job to perform further tasks.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91344" y="6658272"/>
            <a:ext cx="16305311" cy="538162"/>
            <a:chOff x="0" y="0"/>
            <a:chExt cx="21740415" cy="7175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740416" cy="717550"/>
            </a:xfrm>
            <a:custGeom>
              <a:avLst/>
              <a:gdLst/>
              <a:ahLst/>
              <a:cxnLst/>
              <a:rect l="l" t="t" r="r" b="b"/>
              <a:pathLst>
                <a:path w="21740416" h="717550">
                  <a:moveTo>
                    <a:pt x="0" y="0"/>
                  </a:moveTo>
                  <a:lnTo>
                    <a:pt x="21740416" y="0"/>
                  </a:lnTo>
                  <a:lnTo>
                    <a:pt x="21740416" y="717550"/>
                  </a:lnTo>
                  <a:lnTo>
                    <a:pt x="0" y="717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0"/>
              <a:ext cx="21740415" cy="812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87"/>
                </a:lnSpc>
              </a:pPr>
              <a:r>
                <a:rPr lang="en-US" sz="2625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For example: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91344" y="7499151"/>
            <a:ext cx="16305311" cy="538162"/>
            <a:chOff x="0" y="0"/>
            <a:chExt cx="21740415" cy="7175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740416" cy="717550"/>
            </a:xfrm>
            <a:custGeom>
              <a:avLst/>
              <a:gdLst/>
              <a:ahLst/>
              <a:cxnLst/>
              <a:rect l="l" t="t" r="r" b="b"/>
              <a:pathLst>
                <a:path w="21740416" h="717550">
                  <a:moveTo>
                    <a:pt x="0" y="0"/>
                  </a:moveTo>
                  <a:lnTo>
                    <a:pt x="21740416" y="0"/>
                  </a:lnTo>
                  <a:lnTo>
                    <a:pt x="21740416" y="717550"/>
                  </a:lnTo>
                  <a:lnTo>
                    <a:pt x="0" y="717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104775"/>
              <a:ext cx="21740415" cy="8223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1213" lvl="1" indent="-170606" algn="l">
                <a:lnSpc>
                  <a:spcPts val="3702"/>
                </a:lnSpc>
                <a:buFont typeface="Arial"/>
                <a:buChar char="•"/>
              </a:pPr>
              <a:r>
                <a:rPr lang="en-US" sz="226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An </a:t>
              </a:r>
              <a:r>
                <a:rPr lang="en-US" sz="2262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upstream job</a:t>
              </a:r>
              <a:r>
                <a:rPr lang="en-US" sz="226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might compile code and run unit tests.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91344" y="8131374"/>
            <a:ext cx="16305311" cy="538162"/>
            <a:chOff x="0" y="0"/>
            <a:chExt cx="21740415" cy="71755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740416" cy="717550"/>
            </a:xfrm>
            <a:custGeom>
              <a:avLst/>
              <a:gdLst/>
              <a:ahLst/>
              <a:cxnLst/>
              <a:rect l="l" t="t" r="r" b="b"/>
              <a:pathLst>
                <a:path w="21740416" h="717550">
                  <a:moveTo>
                    <a:pt x="0" y="0"/>
                  </a:moveTo>
                  <a:lnTo>
                    <a:pt x="21740416" y="0"/>
                  </a:lnTo>
                  <a:lnTo>
                    <a:pt x="21740416" y="717550"/>
                  </a:lnTo>
                  <a:lnTo>
                    <a:pt x="0" y="717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104775"/>
              <a:ext cx="21740415" cy="8223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1213" lvl="1" indent="-170606" algn="l">
                <a:lnSpc>
                  <a:spcPts val="3702"/>
                </a:lnSpc>
                <a:buFont typeface="Arial"/>
                <a:buChar char="•"/>
              </a:pPr>
              <a:r>
                <a:rPr lang="en-US" sz="226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A </a:t>
              </a:r>
              <a:r>
                <a:rPr lang="en-US" sz="2262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downstream job</a:t>
              </a:r>
              <a:r>
                <a:rPr lang="en-US" sz="226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might take the compiled code and deploy it to a staging environment.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91344" y="8972252"/>
            <a:ext cx="16305311" cy="538162"/>
            <a:chOff x="0" y="0"/>
            <a:chExt cx="21740415" cy="71755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740416" cy="717550"/>
            </a:xfrm>
            <a:custGeom>
              <a:avLst/>
              <a:gdLst/>
              <a:ahLst/>
              <a:cxnLst/>
              <a:rect l="l" t="t" r="r" b="b"/>
              <a:pathLst>
                <a:path w="21740416" h="717550">
                  <a:moveTo>
                    <a:pt x="0" y="0"/>
                  </a:moveTo>
                  <a:lnTo>
                    <a:pt x="21740416" y="0"/>
                  </a:lnTo>
                  <a:lnTo>
                    <a:pt x="21740416" y="717550"/>
                  </a:lnTo>
                  <a:lnTo>
                    <a:pt x="0" y="717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0"/>
              <a:ext cx="21740415" cy="812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87"/>
                </a:lnSpc>
              </a:pPr>
              <a:r>
                <a:rPr lang="en-US" sz="2625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This relationship allows for "</a:t>
              </a:r>
              <a:r>
                <a:rPr lang="en-US" sz="2625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execution of sequential automation workflows"</a:t>
              </a:r>
              <a:r>
                <a:rPr lang="en-US" sz="2625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in Jenkins.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823466"/>
            <a:ext cx="7088237" cy="885974"/>
            <a:chOff x="0" y="0"/>
            <a:chExt cx="9450983" cy="1181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50984" cy="1181298"/>
            </a:xfrm>
            <a:custGeom>
              <a:avLst/>
              <a:gdLst/>
              <a:ahLst/>
              <a:cxnLst/>
              <a:rect l="l" t="t" r="r" b="b"/>
              <a:pathLst>
                <a:path w="9450984" h="1181298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9450983" cy="12384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Hands-on Activity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2006595"/>
            <a:ext cx="16303526" cy="1133772"/>
            <a:chOff x="0" y="0"/>
            <a:chExt cx="21738035" cy="15116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1511697"/>
            </a:xfrm>
            <a:custGeom>
              <a:avLst/>
              <a:gdLst/>
              <a:ahLst/>
              <a:cxnLst/>
              <a:rect l="l" t="t" r="r" b="b"/>
              <a:pathLst>
                <a:path w="21738034" h="1511697">
                  <a:moveTo>
                    <a:pt x="0" y="0"/>
                  </a:moveTo>
                  <a:lnTo>
                    <a:pt x="21738034" y="0"/>
                  </a:lnTo>
                  <a:lnTo>
                    <a:pt x="21738034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1738035" cy="1616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Let's set up two separate pipelines in Jenkins and execute them sequentially to explore the concept of upstream and downstream jobs.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11176" y="3729186"/>
            <a:ext cx="38100" cy="5734199"/>
            <a:chOff x="0" y="0"/>
            <a:chExt cx="50800" cy="76455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" cy="7645654"/>
            </a:xfrm>
            <a:custGeom>
              <a:avLst/>
              <a:gdLst/>
              <a:ahLst/>
              <a:cxnLst/>
              <a:rect l="l" t="t" r="r" b="b"/>
              <a:pathLst>
                <a:path w="50800" h="7645654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7620254"/>
                  </a:lnTo>
                  <a:cubicBezTo>
                    <a:pt x="50800" y="7634224"/>
                    <a:pt x="39370" y="7645654"/>
                    <a:pt x="25400" y="7645654"/>
                  </a:cubicBezTo>
                  <a:cubicBezTo>
                    <a:pt x="11430" y="7645654"/>
                    <a:pt x="0" y="7634224"/>
                    <a:pt x="0" y="7620254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592015" y="4348014"/>
            <a:ext cx="850553" cy="38100"/>
            <a:chOff x="0" y="0"/>
            <a:chExt cx="1134070" cy="50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92238" y="4048125"/>
            <a:ext cx="637878" cy="637878"/>
            <a:chOff x="0" y="0"/>
            <a:chExt cx="850503" cy="85050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098575" y="4101256"/>
            <a:ext cx="425202" cy="531614"/>
            <a:chOff x="0" y="0"/>
            <a:chExt cx="566937" cy="70881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728764" y="4012704"/>
            <a:ext cx="6375052" cy="531614"/>
            <a:chOff x="0" y="0"/>
            <a:chExt cx="8500070" cy="70881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500070" cy="708818"/>
            </a:xfrm>
            <a:custGeom>
              <a:avLst/>
              <a:gdLst/>
              <a:ahLst/>
              <a:cxnLst/>
              <a:rect l="l" t="t" r="r" b="b"/>
              <a:pathLst>
                <a:path w="8500070" h="708818">
                  <a:moveTo>
                    <a:pt x="0" y="0"/>
                  </a:moveTo>
                  <a:lnTo>
                    <a:pt x="8500070" y="0"/>
                  </a:lnTo>
                  <a:lnTo>
                    <a:pt x="850007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500070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Create 2 Jenkins Pipeline Jobs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728764" y="4714429"/>
            <a:ext cx="14566999" cy="453629"/>
            <a:chOff x="0" y="0"/>
            <a:chExt cx="19422665" cy="60483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422666" cy="604838"/>
            </a:xfrm>
            <a:custGeom>
              <a:avLst/>
              <a:gdLst/>
              <a:ahLst/>
              <a:cxnLst/>
              <a:rect l="l" t="t" r="r" b="b"/>
              <a:pathLst>
                <a:path w="19422666" h="604838">
                  <a:moveTo>
                    <a:pt x="0" y="0"/>
                  </a:moveTo>
                  <a:lnTo>
                    <a:pt x="19422666" y="0"/>
                  </a:lnTo>
                  <a:lnTo>
                    <a:pt x="19422666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19422665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upstream job &amp; downstream job.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92015" y="6353919"/>
            <a:ext cx="850553" cy="38100"/>
            <a:chOff x="0" y="0"/>
            <a:chExt cx="1134070" cy="50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92238" y="6054030"/>
            <a:ext cx="637878" cy="637877"/>
            <a:chOff x="0" y="0"/>
            <a:chExt cx="850503" cy="85050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098575" y="6107162"/>
            <a:ext cx="425202" cy="531614"/>
            <a:chOff x="0" y="0"/>
            <a:chExt cx="566937" cy="70881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728764" y="6018610"/>
            <a:ext cx="4252912" cy="531614"/>
            <a:chOff x="0" y="0"/>
            <a:chExt cx="5670550" cy="70881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Run Upstream Job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728764" y="6720334"/>
            <a:ext cx="14566999" cy="453629"/>
            <a:chOff x="0" y="0"/>
            <a:chExt cx="19422665" cy="60483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9422666" cy="604838"/>
            </a:xfrm>
            <a:custGeom>
              <a:avLst/>
              <a:gdLst/>
              <a:ahLst/>
              <a:cxnLst/>
              <a:rect l="l" t="t" r="r" b="b"/>
              <a:pathLst>
                <a:path w="19422666" h="604838">
                  <a:moveTo>
                    <a:pt x="0" y="0"/>
                  </a:moveTo>
                  <a:lnTo>
                    <a:pt x="19422666" y="0"/>
                  </a:lnTo>
                  <a:lnTo>
                    <a:pt x="19422666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85725"/>
              <a:ext cx="19422665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Set the trigger of downstream job after successful execution.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592015" y="8359825"/>
            <a:ext cx="850553" cy="38100"/>
            <a:chOff x="0" y="0"/>
            <a:chExt cx="1134070" cy="50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992238" y="8059936"/>
            <a:ext cx="637878" cy="637877"/>
            <a:chOff x="0" y="0"/>
            <a:chExt cx="850503" cy="85050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098575" y="8113067"/>
            <a:ext cx="425202" cy="531614"/>
            <a:chOff x="0" y="0"/>
            <a:chExt cx="566937" cy="70881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728764" y="8024515"/>
            <a:ext cx="5347841" cy="531614"/>
            <a:chOff x="0" y="0"/>
            <a:chExt cx="7130455" cy="70881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130455" cy="708818"/>
            </a:xfrm>
            <a:custGeom>
              <a:avLst/>
              <a:gdLst/>
              <a:ahLst/>
              <a:cxnLst/>
              <a:rect l="l" t="t" r="r" b="b"/>
              <a:pathLst>
                <a:path w="7130455" h="708818">
                  <a:moveTo>
                    <a:pt x="0" y="0"/>
                  </a:moveTo>
                  <a:lnTo>
                    <a:pt x="7130455" y="0"/>
                  </a:lnTo>
                  <a:lnTo>
                    <a:pt x="7130455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7130455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Check the console output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728764" y="8726240"/>
            <a:ext cx="14566999" cy="453629"/>
            <a:chOff x="0" y="0"/>
            <a:chExt cx="19422665" cy="60483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9422666" cy="604838"/>
            </a:xfrm>
            <a:custGeom>
              <a:avLst/>
              <a:gdLst/>
              <a:ahLst/>
              <a:cxnLst/>
              <a:rect l="l" t="t" r="r" b="b"/>
              <a:pathLst>
                <a:path w="19422666" h="604838">
                  <a:moveTo>
                    <a:pt x="0" y="0"/>
                  </a:moveTo>
                  <a:lnTo>
                    <a:pt x="19422666" y="0"/>
                  </a:lnTo>
                  <a:lnTo>
                    <a:pt x="19422666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85725"/>
              <a:ext cx="19422665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Verify how the downstream job got triggered while upstream job is being executed.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505992"/>
            <a:ext cx="7088237" cy="885974"/>
            <a:chOff x="0" y="0"/>
            <a:chExt cx="9450983" cy="1181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50984" cy="1181298"/>
            </a:xfrm>
            <a:custGeom>
              <a:avLst/>
              <a:gdLst/>
              <a:ahLst/>
              <a:cxnLst/>
              <a:rect l="l" t="t" r="r" b="b"/>
              <a:pathLst>
                <a:path w="9450984" h="1181298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9450983" cy="12384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CI Best Practices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3277791"/>
            <a:ext cx="2717155" cy="1633686"/>
            <a:chOff x="0" y="0"/>
            <a:chExt cx="3622873" cy="21782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22802" cy="2178177"/>
            </a:xfrm>
            <a:custGeom>
              <a:avLst/>
              <a:gdLst/>
              <a:ahLst/>
              <a:cxnLst/>
              <a:rect l="l" t="t" r="r" b="b"/>
              <a:pathLst>
                <a:path w="3622802" h="217817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3566160" y="0"/>
                  </a:lnTo>
                  <a:cubicBezTo>
                    <a:pt x="3597529" y="0"/>
                    <a:pt x="3622802" y="25400"/>
                    <a:pt x="3622802" y="56642"/>
                  </a:cubicBezTo>
                  <a:lnTo>
                    <a:pt x="3622802" y="2121535"/>
                  </a:lnTo>
                  <a:cubicBezTo>
                    <a:pt x="3622802" y="2152904"/>
                    <a:pt x="3597402" y="2178177"/>
                    <a:pt x="3566160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151459" y="3845421"/>
            <a:ext cx="398710" cy="498276"/>
            <a:chOff x="0" y="0"/>
            <a:chExt cx="531613" cy="6643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1613" cy="664368"/>
            </a:xfrm>
            <a:custGeom>
              <a:avLst/>
              <a:gdLst/>
              <a:ahLst/>
              <a:cxnLst/>
              <a:rect l="l" t="t" r="r" b="b"/>
              <a:pathLst>
                <a:path w="531613" h="664368">
                  <a:moveTo>
                    <a:pt x="0" y="0"/>
                  </a:moveTo>
                  <a:lnTo>
                    <a:pt x="531613" y="0"/>
                  </a:lnTo>
                  <a:lnTo>
                    <a:pt x="531613" y="664368"/>
                  </a:lnTo>
                  <a:lnTo>
                    <a:pt x="0" y="664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33350"/>
              <a:ext cx="531613" cy="7977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999"/>
                </a:lnSpc>
              </a:pPr>
              <a:r>
                <a:rPr lang="en-US" sz="3125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92910" y="3561309"/>
            <a:ext cx="3544044" cy="442912"/>
            <a:chOff x="0" y="0"/>
            <a:chExt cx="4725392" cy="5905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Modular Pipelines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992910" y="4174331"/>
            <a:ext cx="4530924" cy="453629"/>
            <a:chOff x="0" y="0"/>
            <a:chExt cx="6041232" cy="60483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041232" cy="604838"/>
            </a:xfrm>
            <a:custGeom>
              <a:avLst/>
              <a:gdLst/>
              <a:ahLst/>
              <a:cxnLst/>
              <a:rect l="l" t="t" r="r" b="b"/>
              <a:pathLst>
                <a:path w="6041232" h="604838">
                  <a:moveTo>
                    <a:pt x="0" y="0"/>
                  </a:moveTo>
                  <a:lnTo>
                    <a:pt x="6041232" y="0"/>
                  </a:lnTo>
                  <a:lnTo>
                    <a:pt x="604123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6041232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Use Shared Libraries for reusability.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851076" y="4892427"/>
            <a:ext cx="13303002" cy="19050"/>
            <a:chOff x="0" y="0"/>
            <a:chExt cx="17737337" cy="25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737328" cy="25400"/>
            </a:xfrm>
            <a:custGeom>
              <a:avLst/>
              <a:gdLst/>
              <a:ahLst/>
              <a:cxnLst/>
              <a:rect l="l" t="t" r="r" b="b"/>
              <a:pathLst>
                <a:path w="17737328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7724628" y="0"/>
                  </a:lnTo>
                  <a:cubicBezTo>
                    <a:pt x="17731614" y="0"/>
                    <a:pt x="17737328" y="5715"/>
                    <a:pt x="17737328" y="12700"/>
                  </a:cubicBezTo>
                  <a:cubicBezTo>
                    <a:pt x="17737328" y="19685"/>
                    <a:pt x="17731614" y="25400"/>
                    <a:pt x="17724628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992238" y="5053161"/>
            <a:ext cx="5434459" cy="1633686"/>
            <a:chOff x="0" y="0"/>
            <a:chExt cx="7245945" cy="21782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45858" cy="2178177"/>
            </a:xfrm>
            <a:custGeom>
              <a:avLst/>
              <a:gdLst/>
              <a:ahLst/>
              <a:cxnLst/>
              <a:rect l="l" t="t" r="r" b="b"/>
              <a:pathLst>
                <a:path w="7245858" h="217817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189216" y="0"/>
                  </a:lnTo>
                  <a:cubicBezTo>
                    <a:pt x="7220585" y="0"/>
                    <a:pt x="7245858" y="25400"/>
                    <a:pt x="7245858" y="56642"/>
                  </a:cubicBezTo>
                  <a:lnTo>
                    <a:pt x="7245858" y="2121535"/>
                  </a:lnTo>
                  <a:cubicBezTo>
                    <a:pt x="7245858" y="2152904"/>
                    <a:pt x="7220458" y="2178177"/>
                    <a:pt x="7189216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3510111" y="5620791"/>
            <a:ext cx="398710" cy="498276"/>
            <a:chOff x="0" y="0"/>
            <a:chExt cx="531613" cy="66436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31613" cy="664368"/>
            </a:xfrm>
            <a:custGeom>
              <a:avLst/>
              <a:gdLst/>
              <a:ahLst/>
              <a:cxnLst/>
              <a:rect l="l" t="t" r="r" b="b"/>
              <a:pathLst>
                <a:path w="531613" h="664368">
                  <a:moveTo>
                    <a:pt x="0" y="0"/>
                  </a:moveTo>
                  <a:lnTo>
                    <a:pt x="531613" y="0"/>
                  </a:lnTo>
                  <a:lnTo>
                    <a:pt x="531613" y="664368"/>
                  </a:lnTo>
                  <a:lnTo>
                    <a:pt x="0" y="664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33350"/>
              <a:ext cx="531613" cy="7977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999"/>
                </a:lnSpc>
              </a:pPr>
              <a:r>
                <a:rPr lang="en-US" sz="3125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10214" y="5336679"/>
            <a:ext cx="3544044" cy="442912"/>
            <a:chOff x="0" y="0"/>
            <a:chExt cx="4725392" cy="5905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Reduce Build Times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10214" y="5949702"/>
            <a:ext cx="4003774" cy="453629"/>
            <a:chOff x="0" y="0"/>
            <a:chExt cx="5338365" cy="60483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338365" cy="604838"/>
            </a:xfrm>
            <a:custGeom>
              <a:avLst/>
              <a:gdLst/>
              <a:ahLst/>
              <a:cxnLst/>
              <a:rect l="l" t="t" r="r" b="b"/>
              <a:pathLst>
                <a:path w="5338365" h="604838">
                  <a:moveTo>
                    <a:pt x="0" y="0"/>
                  </a:moveTo>
                  <a:lnTo>
                    <a:pt x="5338365" y="0"/>
                  </a:lnTo>
                  <a:lnTo>
                    <a:pt x="533836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85725"/>
              <a:ext cx="5338365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Use caching and parallel stages.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568380" y="6667797"/>
            <a:ext cx="10585698" cy="19050"/>
            <a:chOff x="0" y="0"/>
            <a:chExt cx="14114263" cy="25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114272" cy="25400"/>
            </a:xfrm>
            <a:custGeom>
              <a:avLst/>
              <a:gdLst/>
              <a:ahLst/>
              <a:cxnLst/>
              <a:rect l="l" t="t" r="r" b="b"/>
              <a:pathLst>
                <a:path w="14114272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4101572" y="0"/>
                  </a:lnTo>
                  <a:cubicBezTo>
                    <a:pt x="14108557" y="0"/>
                    <a:pt x="14114272" y="5715"/>
                    <a:pt x="14114272" y="12700"/>
                  </a:cubicBezTo>
                  <a:cubicBezTo>
                    <a:pt x="14114272" y="19685"/>
                    <a:pt x="14108557" y="25400"/>
                    <a:pt x="14101572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992238" y="6828532"/>
            <a:ext cx="8151762" cy="1633686"/>
            <a:chOff x="0" y="0"/>
            <a:chExt cx="10869017" cy="217824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868914" cy="2178177"/>
            </a:xfrm>
            <a:custGeom>
              <a:avLst/>
              <a:gdLst/>
              <a:ahLst/>
              <a:cxnLst/>
              <a:rect l="l" t="t" r="r" b="b"/>
              <a:pathLst>
                <a:path w="10868914" h="217817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812273" y="0"/>
                  </a:lnTo>
                  <a:cubicBezTo>
                    <a:pt x="10843641" y="0"/>
                    <a:pt x="10868914" y="25400"/>
                    <a:pt x="10868914" y="56642"/>
                  </a:cubicBezTo>
                  <a:lnTo>
                    <a:pt x="10868914" y="2121535"/>
                  </a:lnTo>
                  <a:cubicBezTo>
                    <a:pt x="10868914" y="2152904"/>
                    <a:pt x="10843514" y="2178177"/>
                    <a:pt x="10812273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4868764" y="7396162"/>
            <a:ext cx="398710" cy="498276"/>
            <a:chOff x="0" y="0"/>
            <a:chExt cx="531613" cy="66436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31613" cy="664368"/>
            </a:xfrm>
            <a:custGeom>
              <a:avLst/>
              <a:gdLst/>
              <a:ahLst/>
              <a:cxnLst/>
              <a:rect l="l" t="t" r="r" b="b"/>
              <a:pathLst>
                <a:path w="531613" h="664368">
                  <a:moveTo>
                    <a:pt x="0" y="0"/>
                  </a:moveTo>
                  <a:lnTo>
                    <a:pt x="531613" y="0"/>
                  </a:lnTo>
                  <a:lnTo>
                    <a:pt x="531613" y="664368"/>
                  </a:lnTo>
                  <a:lnTo>
                    <a:pt x="0" y="664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133350"/>
              <a:ext cx="531613" cy="7977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999"/>
                </a:lnSpc>
              </a:pPr>
              <a:r>
                <a:rPr lang="en-US" sz="3125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427518" y="7112050"/>
            <a:ext cx="3705523" cy="442912"/>
            <a:chOff x="0" y="0"/>
            <a:chExt cx="4940697" cy="59055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940697" cy="590550"/>
            </a:xfrm>
            <a:custGeom>
              <a:avLst/>
              <a:gdLst/>
              <a:ahLst/>
              <a:cxnLst/>
              <a:rect l="l" t="t" r="r" b="b"/>
              <a:pathLst>
                <a:path w="4940697" h="590550">
                  <a:moveTo>
                    <a:pt x="0" y="0"/>
                  </a:moveTo>
                  <a:lnTo>
                    <a:pt x="4940697" y="0"/>
                  </a:lnTo>
                  <a:lnTo>
                    <a:pt x="4940697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4940697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Automated Rollbacks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427518" y="7725072"/>
            <a:ext cx="4662636" cy="453629"/>
            <a:chOff x="0" y="0"/>
            <a:chExt cx="6216848" cy="60483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216848" cy="604838"/>
            </a:xfrm>
            <a:custGeom>
              <a:avLst/>
              <a:gdLst/>
              <a:ahLst/>
              <a:cxnLst/>
              <a:rect l="l" t="t" r="r" b="b"/>
              <a:pathLst>
                <a:path w="6216848" h="604838">
                  <a:moveTo>
                    <a:pt x="0" y="0"/>
                  </a:moveTo>
                  <a:lnTo>
                    <a:pt x="6216848" y="0"/>
                  </a:lnTo>
                  <a:lnTo>
                    <a:pt x="6216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85725"/>
              <a:ext cx="6216848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Handle failures with post conditions.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87475" y="932409"/>
            <a:ext cx="9410402" cy="885974"/>
            <a:chOff x="0" y="0"/>
            <a:chExt cx="12547203" cy="1181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47203" cy="1181298"/>
            </a:xfrm>
            <a:custGeom>
              <a:avLst/>
              <a:gdLst/>
              <a:ahLst/>
              <a:cxnLst/>
              <a:rect l="l" t="t" r="r" b="b"/>
              <a:pathLst>
                <a:path w="12547203" h="1181298">
                  <a:moveTo>
                    <a:pt x="0" y="0"/>
                  </a:moveTo>
                  <a:lnTo>
                    <a:pt x="12547203" y="0"/>
                  </a:lnTo>
                  <a:lnTo>
                    <a:pt x="12547203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2547203" cy="12384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GitHub Actions vs. Jenkins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7475" y="2447032"/>
            <a:ext cx="16313051" cy="6704111"/>
            <a:chOff x="0" y="0"/>
            <a:chExt cx="21750735" cy="89388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50781" cy="8938768"/>
            </a:xfrm>
            <a:custGeom>
              <a:avLst/>
              <a:gdLst/>
              <a:ahLst/>
              <a:cxnLst/>
              <a:rect l="l" t="t" r="r" b="b"/>
              <a:pathLst>
                <a:path w="21750781" h="8938768">
                  <a:moveTo>
                    <a:pt x="0" y="62992"/>
                  </a:moveTo>
                  <a:cubicBezTo>
                    <a:pt x="0" y="28194"/>
                    <a:pt x="28194" y="0"/>
                    <a:pt x="63119" y="0"/>
                  </a:cubicBezTo>
                  <a:lnTo>
                    <a:pt x="21687662" y="0"/>
                  </a:lnTo>
                  <a:lnTo>
                    <a:pt x="21687662" y="6350"/>
                  </a:lnTo>
                  <a:lnTo>
                    <a:pt x="21687662" y="0"/>
                  </a:lnTo>
                  <a:cubicBezTo>
                    <a:pt x="21722460" y="0"/>
                    <a:pt x="21750781" y="28194"/>
                    <a:pt x="21750781" y="62992"/>
                  </a:cubicBezTo>
                  <a:lnTo>
                    <a:pt x="21744431" y="62992"/>
                  </a:lnTo>
                  <a:lnTo>
                    <a:pt x="21750781" y="62992"/>
                  </a:lnTo>
                  <a:lnTo>
                    <a:pt x="21750781" y="8875776"/>
                  </a:lnTo>
                  <a:lnTo>
                    <a:pt x="21744431" y="8875776"/>
                  </a:lnTo>
                  <a:lnTo>
                    <a:pt x="21750781" y="8875776"/>
                  </a:lnTo>
                  <a:cubicBezTo>
                    <a:pt x="21750781" y="8910574"/>
                    <a:pt x="21722587" y="8938768"/>
                    <a:pt x="21687662" y="8938768"/>
                  </a:cubicBezTo>
                  <a:lnTo>
                    <a:pt x="21687662" y="8932418"/>
                  </a:lnTo>
                  <a:lnTo>
                    <a:pt x="21687662" y="8938768"/>
                  </a:lnTo>
                  <a:lnTo>
                    <a:pt x="63119" y="8938768"/>
                  </a:lnTo>
                  <a:lnTo>
                    <a:pt x="63119" y="8932418"/>
                  </a:lnTo>
                  <a:lnTo>
                    <a:pt x="63119" y="8938768"/>
                  </a:lnTo>
                  <a:cubicBezTo>
                    <a:pt x="28321" y="8938768"/>
                    <a:pt x="0" y="8910574"/>
                    <a:pt x="0" y="8875776"/>
                  </a:cubicBezTo>
                  <a:lnTo>
                    <a:pt x="0" y="62992"/>
                  </a:lnTo>
                  <a:lnTo>
                    <a:pt x="6350" y="62992"/>
                  </a:lnTo>
                  <a:lnTo>
                    <a:pt x="0" y="62992"/>
                  </a:lnTo>
                  <a:moveTo>
                    <a:pt x="12700" y="62992"/>
                  </a:moveTo>
                  <a:lnTo>
                    <a:pt x="12700" y="8875776"/>
                  </a:lnTo>
                  <a:lnTo>
                    <a:pt x="6350" y="8875776"/>
                  </a:lnTo>
                  <a:lnTo>
                    <a:pt x="12700" y="8875776"/>
                  </a:lnTo>
                  <a:cubicBezTo>
                    <a:pt x="12700" y="8903589"/>
                    <a:pt x="35306" y="8926068"/>
                    <a:pt x="63119" y="8926068"/>
                  </a:cubicBezTo>
                  <a:lnTo>
                    <a:pt x="21687662" y="8926068"/>
                  </a:lnTo>
                  <a:cubicBezTo>
                    <a:pt x="21715476" y="8926068"/>
                    <a:pt x="21738081" y="8903589"/>
                    <a:pt x="21738081" y="8875776"/>
                  </a:cubicBezTo>
                  <a:lnTo>
                    <a:pt x="21738081" y="62992"/>
                  </a:lnTo>
                  <a:cubicBezTo>
                    <a:pt x="21738081" y="35179"/>
                    <a:pt x="21715476" y="12700"/>
                    <a:pt x="21687662" y="12700"/>
                  </a:cubicBezTo>
                  <a:lnTo>
                    <a:pt x="63119" y="12700"/>
                  </a:lnTo>
                  <a:lnTo>
                    <a:pt x="63119" y="6350"/>
                  </a:lnTo>
                  <a:lnTo>
                    <a:pt x="63119" y="12700"/>
                  </a:lnTo>
                  <a:cubicBezTo>
                    <a:pt x="35306" y="12700"/>
                    <a:pt x="12700" y="35179"/>
                    <a:pt x="12700" y="62992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1762" y="2461320"/>
            <a:ext cx="16282839" cy="890885"/>
            <a:chOff x="0" y="0"/>
            <a:chExt cx="21710452" cy="11878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10396" cy="1187831"/>
            </a:xfrm>
            <a:custGeom>
              <a:avLst/>
              <a:gdLst/>
              <a:ahLst/>
              <a:cxnLst/>
              <a:rect l="l" t="t" r="r" b="b"/>
              <a:pathLst>
                <a:path w="21710396" h="1187831">
                  <a:moveTo>
                    <a:pt x="0" y="0"/>
                  </a:moveTo>
                  <a:lnTo>
                    <a:pt x="21710396" y="0"/>
                  </a:lnTo>
                  <a:lnTo>
                    <a:pt x="21710396" y="1187831"/>
                  </a:lnTo>
                  <a:lnTo>
                    <a:pt x="0" y="118783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588145" y="2640955"/>
            <a:ext cx="4252912" cy="531614"/>
            <a:chOff x="0" y="0"/>
            <a:chExt cx="5670550" cy="70881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125"/>
                </a:lnSpc>
              </a:pPr>
              <a:r>
                <a:rPr lang="en-US" sz="3312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Feature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017544" y="2640955"/>
            <a:ext cx="4252912" cy="531614"/>
            <a:chOff x="0" y="0"/>
            <a:chExt cx="5670550" cy="7088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125"/>
                </a:lnSpc>
              </a:pPr>
              <a:r>
                <a:rPr lang="en-US" sz="3312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GitHub Actions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446942" y="2640955"/>
            <a:ext cx="4252912" cy="531614"/>
            <a:chOff x="0" y="0"/>
            <a:chExt cx="5670550" cy="7088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670550" cy="7469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125"/>
                </a:lnSpc>
              </a:pPr>
              <a:r>
                <a:rPr lang="en-US" sz="3312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Jenkins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1762" y="3352205"/>
            <a:ext cx="16282839" cy="812899"/>
            <a:chOff x="0" y="0"/>
            <a:chExt cx="21710452" cy="108386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710396" cy="1083818"/>
            </a:xfrm>
            <a:custGeom>
              <a:avLst/>
              <a:gdLst/>
              <a:ahLst/>
              <a:cxnLst/>
              <a:rect l="l" t="t" r="r" b="b"/>
              <a:pathLst>
                <a:path w="21710396" h="1083818">
                  <a:moveTo>
                    <a:pt x="0" y="0"/>
                  </a:moveTo>
                  <a:lnTo>
                    <a:pt x="21710396" y="0"/>
                  </a:lnTo>
                  <a:lnTo>
                    <a:pt x="21710396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287066" y="3531840"/>
            <a:ext cx="4855220" cy="453629"/>
            <a:chOff x="0" y="0"/>
            <a:chExt cx="6473627" cy="60483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473627" cy="604838"/>
            </a:xfrm>
            <a:custGeom>
              <a:avLst/>
              <a:gdLst/>
              <a:ahLst/>
              <a:cxnLst/>
              <a:rect l="l" t="t" r="r" b="b"/>
              <a:pathLst>
                <a:path w="6473627" h="604838">
                  <a:moveTo>
                    <a:pt x="0" y="0"/>
                  </a:moveTo>
                  <a:lnTo>
                    <a:pt x="6473627" y="0"/>
                  </a:lnTo>
                  <a:lnTo>
                    <a:pt x="647362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6473627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Type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18846" y="3531840"/>
            <a:ext cx="4850457" cy="453629"/>
            <a:chOff x="0" y="0"/>
            <a:chExt cx="6467277" cy="6048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467277" cy="604838"/>
            </a:xfrm>
            <a:custGeom>
              <a:avLst/>
              <a:gdLst/>
              <a:ahLst/>
              <a:cxnLst/>
              <a:rect l="l" t="t" r="r" b="b"/>
              <a:pathLst>
                <a:path w="6467277" h="604838">
                  <a:moveTo>
                    <a:pt x="0" y="0"/>
                  </a:moveTo>
                  <a:lnTo>
                    <a:pt x="6467277" y="0"/>
                  </a:lnTo>
                  <a:lnTo>
                    <a:pt x="646727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6467277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Cloud-based CI/CD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145864" y="3531840"/>
            <a:ext cx="4855220" cy="453629"/>
            <a:chOff x="0" y="0"/>
            <a:chExt cx="6473627" cy="60483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473627" cy="604838"/>
            </a:xfrm>
            <a:custGeom>
              <a:avLst/>
              <a:gdLst/>
              <a:ahLst/>
              <a:cxnLst/>
              <a:rect l="l" t="t" r="r" b="b"/>
              <a:pathLst>
                <a:path w="6473627" h="604838">
                  <a:moveTo>
                    <a:pt x="0" y="0"/>
                  </a:moveTo>
                  <a:lnTo>
                    <a:pt x="6473627" y="0"/>
                  </a:lnTo>
                  <a:lnTo>
                    <a:pt x="647362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85725"/>
              <a:ext cx="6473627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Self-hosted CI/CD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01762" y="4165104"/>
            <a:ext cx="16282839" cy="812899"/>
            <a:chOff x="0" y="0"/>
            <a:chExt cx="21710452" cy="108386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710396" cy="1083818"/>
            </a:xfrm>
            <a:custGeom>
              <a:avLst/>
              <a:gdLst/>
              <a:ahLst/>
              <a:cxnLst/>
              <a:rect l="l" t="t" r="r" b="b"/>
              <a:pathLst>
                <a:path w="21710396" h="1083818">
                  <a:moveTo>
                    <a:pt x="0" y="0"/>
                  </a:moveTo>
                  <a:lnTo>
                    <a:pt x="21710396" y="0"/>
                  </a:lnTo>
                  <a:lnTo>
                    <a:pt x="21710396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287066" y="4344740"/>
            <a:ext cx="4855220" cy="453629"/>
            <a:chOff x="0" y="0"/>
            <a:chExt cx="6473627" cy="60483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473627" cy="604838"/>
            </a:xfrm>
            <a:custGeom>
              <a:avLst/>
              <a:gdLst/>
              <a:ahLst/>
              <a:cxnLst/>
              <a:rect l="l" t="t" r="r" b="b"/>
              <a:pathLst>
                <a:path w="6473627" h="604838">
                  <a:moveTo>
                    <a:pt x="0" y="0"/>
                  </a:moveTo>
                  <a:lnTo>
                    <a:pt x="6473627" y="0"/>
                  </a:lnTo>
                  <a:lnTo>
                    <a:pt x="647362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85725"/>
              <a:ext cx="6473627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Installation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718846" y="4344740"/>
            <a:ext cx="4850457" cy="453629"/>
            <a:chOff x="0" y="0"/>
            <a:chExt cx="6467277" cy="60483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467277" cy="604838"/>
            </a:xfrm>
            <a:custGeom>
              <a:avLst/>
              <a:gdLst/>
              <a:ahLst/>
              <a:cxnLst/>
              <a:rect l="l" t="t" r="r" b="b"/>
              <a:pathLst>
                <a:path w="6467277" h="604838">
                  <a:moveTo>
                    <a:pt x="0" y="0"/>
                  </a:moveTo>
                  <a:lnTo>
                    <a:pt x="6467277" y="0"/>
                  </a:lnTo>
                  <a:lnTo>
                    <a:pt x="646727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85725"/>
              <a:ext cx="6467277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No installation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145864" y="4344740"/>
            <a:ext cx="4855220" cy="453629"/>
            <a:chOff x="0" y="0"/>
            <a:chExt cx="6473627" cy="60483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473627" cy="604838"/>
            </a:xfrm>
            <a:custGeom>
              <a:avLst/>
              <a:gdLst/>
              <a:ahLst/>
              <a:cxnLst/>
              <a:rect l="l" t="t" r="r" b="b"/>
              <a:pathLst>
                <a:path w="6473627" h="604838">
                  <a:moveTo>
                    <a:pt x="0" y="0"/>
                  </a:moveTo>
                  <a:lnTo>
                    <a:pt x="6473627" y="0"/>
                  </a:lnTo>
                  <a:lnTo>
                    <a:pt x="647362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85725"/>
              <a:ext cx="6473627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Manual installation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01762" y="4978002"/>
            <a:ext cx="16282839" cy="812899"/>
            <a:chOff x="0" y="0"/>
            <a:chExt cx="21710452" cy="108386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10396" cy="1083818"/>
            </a:xfrm>
            <a:custGeom>
              <a:avLst/>
              <a:gdLst/>
              <a:ahLst/>
              <a:cxnLst/>
              <a:rect l="l" t="t" r="r" b="b"/>
              <a:pathLst>
                <a:path w="21710396" h="1083818">
                  <a:moveTo>
                    <a:pt x="0" y="0"/>
                  </a:moveTo>
                  <a:lnTo>
                    <a:pt x="21710396" y="0"/>
                  </a:lnTo>
                  <a:lnTo>
                    <a:pt x="21710396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287066" y="5157639"/>
            <a:ext cx="4855220" cy="453629"/>
            <a:chOff x="0" y="0"/>
            <a:chExt cx="6473627" cy="60483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473627" cy="604838"/>
            </a:xfrm>
            <a:custGeom>
              <a:avLst/>
              <a:gdLst/>
              <a:ahLst/>
              <a:cxnLst/>
              <a:rect l="l" t="t" r="r" b="b"/>
              <a:pathLst>
                <a:path w="6473627" h="604838">
                  <a:moveTo>
                    <a:pt x="0" y="0"/>
                  </a:moveTo>
                  <a:lnTo>
                    <a:pt x="6473627" y="0"/>
                  </a:lnTo>
                  <a:lnTo>
                    <a:pt x="647362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85725"/>
              <a:ext cx="6473627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Cost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718846" y="5157639"/>
            <a:ext cx="4850457" cy="453629"/>
            <a:chOff x="0" y="0"/>
            <a:chExt cx="6467277" cy="60483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467277" cy="604838"/>
            </a:xfrm>
            <a:custGeom>
              <a:avLst/>
              <a:gdLst/>
              <a:ahLst/>
              <a:cxnLst/>
              <a:rect l="l" t="t" r="r" b="b"/>
              <a:pathLst>
                <a:path w="6467277" h="604838">
                  <a:moveTo>
                    <a:pt x="0" y="0"/>
                  </a:moveTo>
                  <a:lnTo>
                    <a:pt x="6467277" y="0"/>
                  </a:lnTo>
                  <a:lnTo>
                    <a:pt x="646727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85725"/>
              <a:ext cx="6467277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Free for public repos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145864" y="5157639"/>
            <a:ext cx="4855220" cy="453629"/>
            <a:chOff x="0" y="0"/>
            <a:chExt cx="6473627" cy="60483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473627" cy="604838"/>
            </a:xfrm>
            <a:custGeom>
              <a:avLst/>
              <a:gdLst/>
              <a:ahLst/>
              <a:cxnLst/>
              <a:rect l="l" t="t" r="r" b="b"/>
              <a:pathLst>
                <a:path w="6473627" h="604838">
                  <a:moveTo>
                    <a:pt x="0" y="0"/>
                  </a:moveTo>
                  <a:lnTo>
                    <a:pt x="6473627" y="0"/>
                  </a:lnTo>
                  <a:lnTo>
                    <a:pt x="647362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85725"/>
              <a:ext cx="6473627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Free, infrastructure costs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01762" y="5790902"/>
            <a:ext cx="16282839" cy="812899"/>
            <a:chOff x="0" y="0"/>
            <a:chExt cx="21710452" cy="1083865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1710396" cy="1083818"/>
            </a:xfrm>
            <a:custGeom>
              <a:avLst/>
              <a:gdLst/>
              <a:ahLst/>
              <a:cxnLst/>
              <a:rect l="l" t="t" r="r" b="b"/>
              <a:pathLst>
                <a:path w="21710396" h="1083818">
                  <a:moveTo>
                    <a:pt x="0" y="0"/>
                  </a:moveTo>
                  <a:lnTo>
                    <a:pt x="21710396" y="0"/>
                  </a:lnTo>
                  <a:lnTo>
                    <a:pt x="21710396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1287066" y="5970537"/>
            <a:ext cx="4855220" cy="453629"/>
            <a:chOff x="0" y="0"/>
            <a:chExt cx="6473627" cy="60483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473627" cy="604838"/>
            </a:xfrm>
            <a:custGeom>
              <a:avLst/>
              <a:gdLst/>
              <a:ahLst/>
              <a:cxnLst/>
              <a:rect l="l" t="t" r="r" b="b"/>
              <a:pathLst>
                <a:path w="6473627" h="604838">
                  <a:moveTo>
                    <a:pt x="0" y="0"/>
                  </a:moveTo>
                  <a:lnTo>
                    <a:pt x="6473627" y="0"/>
                  </a:lnTo>
                  <a:lnTo>
                    <a:pt x="647362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-85725"/>
              <a:ext cx="6473627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Ease of Use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718846" y="5970537"/>
            <a:ext cx="4850457" cy="453629"/>
            <a:chOff x="0" y="0"/>
            <a:chExt cx="6467277" cy="60483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467277" cy="604838"/>
            </a:xfrm>
            <a:custGeom>
              <a:avLst/>
              <a:gdLst/>
              <a:ahLst/>
              <a:cxnLst/>
              <a:rect l="l" t="t" r="r" b="b"/>
              <a:pathLst>
                <a:path w="6467277" h="604838">
                  <a:moveTo>
                    <a:pt x="0" y="0"/>
                  </a:moveTo>
                  <a:lnTo>
                    <a:pt x="6467277" y="0"/>
                  </a:lnTo>
                  <a:lnTo>
                    <a:pt x="646727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-85725"/>
              <a:ext cx="6467277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Simple YAML-based workflows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145864" y="5970537"/>
            <a:ext cx="4855220" cy="453629"/>
            <a:chOff x="0" y="0"/>
            <a:chExt cx="6473627" cy="60483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473627" cy="604838"/>
            </a:xfrm>
            <a:custGeom>
              <a:avLst/>
              <a:gdLst/>
              <a:ahLst/>
              <a:cxnLst/>
              <a:rect l="l" t="t" r="r" b="b"/>
              <a:pathLst>
                <a:path w="6473627" h="604838">
                  <a:moveTo>
                    <a:pt x="0" y="0"/>
                  </a:moveTo>
                  <a:lnTo>
                    <a:pt x="6473627" y="0"/>
                  </a:lnTo>
                  <a:lnTo>
                    <a:pt x="647362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-85725"/>
              <a:ext cx="6473627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UI-based with Groovy pipelines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01762" y="6603801"/>
            <a:ext cx="16282839" cy="1266527"/>
            <a:chOff x="0" y="0"/>
            <a:chExt cx="21710452" cy="1688703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1710396" cy="1688719"/>
            </a:xfrm>
            <a:custGeom>
              <a:avLst/>
              <a:gdLst/>
              <a:ahLst/>
              <a:cxnLst/>
              <a:rect l="l" t="t" r="r" b="b"/>
              <a:pathLst>
                <a:path w="21710396" h="1688719">
                  <a:moveTo>
                    <a:pt x="0" y="0"/>
                  </a:moveTo>
                  <a:lnTo>
                    <a:pt x="21710396" y="0"/>
                  </a:lnTo>
                  <a:lnTo>
                    <a:pt x="21710396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1287066" y="6783438"/>
            <a:ext cx="4855220" cy="453629"/>
            <a:chOff x="0" y="0"/>
            <a:chExt cx="6473627" cy="60483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473627" cy="604838"/>
            </a:xfrm>
            <a:custGeom>
              <a:avLst/>
              <a:gdLst/>
              <a:ahLst/>
              <a:cxnLst/>
              <a:rect l="l" t="t" r="r" b="b"/>
              <a:pathLst>
                <a:path w="6473627" h="604838">
                  <a:moveTo>
                    <a:pt x="0" y="0"/>
                  </a:moveTo>
                  <a:lnTo>
                    <a:pt x="6473627" y="0"/>
                  </a:lnTo>
                  <a:lnTo>
                    <a:pt x="647362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0" name="TextBox 70"/>
            <p:cNvSpPr txBox="1"/>
            <p:nvPr/>
          </p:nvSpPr>
          <p:spPr>
            <a:xfrm>
              <a:off x="0" y="-85725"/>
              <a:ext cx="6473627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Integration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718846" y="6783438"/>
            <a:ext cx="4850457" cy="453629"/>
            <a:chOff x="0" y="0"/>
            <a:chExt cx="6467277" cy="60483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467277" cy="604838"/>
            </a:xfrm>
            <a:custGeom>
              <a:avLst/>
              <a:gdLst/>
              <a:ahLst/>
              <a:cxnLst/>
              <a:rect l="l" t="t" r="r" b="b"/>
              <a:pathLst>
                <a:path w="6467277" h="604838">
                  <a:moveTo>
                    <a:pt x="0" y="0"/>
                  </a:moveTo>
                  <a:lnTo>
                    <a:pt x="6467277" y="0"/>
                  </a:lnTo>
                  <a:lnTo>
                    <a:pt x="646727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3" name="TextBox 73"/>
            <p:cNvSpPr txBox="1"/>
            <p:nvPr/>
          </p:nvSpPr>
          <p:spPr>
            <a:xfrm>
              <a:off x="0" y="-85725"/>
              <a:ext cx="6467277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Native GitHub support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145864" y="6783438"/>
            <a:ext cx="4855220" cy="907256"/>
            <a:chOff x="0" y="0"/>
            <a:chExt cx="6473627" cy="1209675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473627" cy="1209675"/>
            </a:xfrm>
            <a:custGeom>
              <a:avLst/>
              <a:gdLst/>
              <a:ahLst/>
              <a:cxnLst/>
              <a:rect l="l" t="t" r="r" b="b"/>
              <a:pathLst>
                <a:path w="6473627" h="1209675">
                  <a:moveTo>
                    <a:pt x="0" y="0"/>
                  </a:moveTo>
                  <a:lnTo>
                    <a:pt x="6473627" y="0"/>
                  </a:lnTo>
                  <a:lnTo>
                    <a:pt x="647362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6" name="TextBox 76"/>
            <p:cNvSpPr txBox="1"/>
            <p:nvPr/>
          </p:nvSpPr>
          <p:spPr>
            <a:xfrm>
              <a:off x="0" y="-85725"/>
              <a:ext cx="6473627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Supports various SCMs (GitHub, GitLab, Bitbucket)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001762" y="7870329"/>
            <a:ext cx="16282839" cy="1266528"/>
            <a:chOff x="0" y="0"/>
            <a:chExt cx="21710452" cy="1688703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1710396" cy="1688719"/>
            </a:xfrm>
            <a:custGeom>
              <a:avLst/>
              <a:gdLst/>
              <a:ahLst/>
              <a:cxnLst/>
              <a:rect l="l" t="t" r="r" b="b"/>
              <a:pathLst>
                <a:path w="21710396" h="1688719">
                  <a:moveTo>
                    <a:pt x="0" y="0"/>
                  </a:moveTo>
                  <a:lnTo>
                    <a:pt x="21710396" y="0"/>
                  </a:lnTo>
                  <a:lnTo>
                    <a:pt x="21710396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79" name="Group 79"/>
          <p:cNvGrpSpPr/>
          <p:nvPr/>
        </p:nvGrpSpPr>
        <p:grpSpPr>
          <a:xfrm>
            <a:off x="1287066" y="8049965"/>
            <a:ext cx="4855220" cy="453629"/>
            <a:chOff x="0" y="0"/>
            <a:chExt cx="6473627" cy="604838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6473627" cy="604838"/>
            </a:xfrm>
            <a:custGeom>
              <a:avLst/>
              <a:gdLst/>
              <a:ahLst/>
              <a:cxnLst/>
              <a:rect l="l" t="t" r="r" b="b"/>
              <a:pathLst>
                <a:path w="6473627" h="604838">
                  <a:moveTo>
                    <a:pt x="0" y="0"/>
                  </a:moveTo>
                  <a:lnTo>
                    <a:pt x="6473627" y="0"/>
                  </a:lnTo>
                  <a:lnTo>
                    <a:pt x="647362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0" y="-85725"/>
              <a:ext cx="6473627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Scalability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718846" y="8049965"/>
            <a:ext cx="4850457" cy="907256"/>
            <a:chOff x="0" y="0"/>
            <a:chExt cx="6467277" cy="1209675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6467277" cy="1209675"/>
            </a:xfrm>
            <a:custGeom>
              <a:avLst/>
              <a:gdLst/>
              <a:ahLst/>
              <a:cxnLst/>
              <a:rect l="l" t="t" r="r" b="b"/>
              <a:pathLst>
                <a:path w="6467277" h="1209675">
                  <a:moveTo>
                    <a:pt x="0" y="0"/>
                  </a:moveTo>
                  <a:lnTo>
                    <a:pt x="6467277" y="0"/>
                  </a:lnTo>
                  <a:lnTo>
                    <a:pt x="646727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4" name="TextBox 84"/>
            <p:cNvSpPr txBox="1"/>
            <p:nvPr/>
          </p:nvSpPr>
          <p:spPr>
            <a:xfrm>
              <a:off x="0" y="-85725"/>
              <a:ext cx="6467277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Runs on GitHub-hosted or self-hosted runners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2145864" y="8049965"/>
            <a:ext cx="4855220" cy="907256"/>
            <a:chOff x="0" y="0"/>
            <a:chExt cx="6473627" cy="1209675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6473627" cy="1209675"/>
            </a:xfrm>
            <a:custGeom>
              <a:avLst/>
              <a:gdLst/>
              <a:ahLst/>
              <a:cxnLst/>
              <a:rect l="l" t="t" r="r" b="b"/>
              <a:pathLst>
                <a:path w="6473627" h="1209675">
                  <a:moveTo>
                    <a:pt x="0" y="0"/>
                  </a:moveTo>
                  <a:lnTo>
                    <a:pt x="6473627" y="0"/>
                  </a:lnTo>
                  <a:lnTo>
                    <a:pt x="647362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7" name="TextBox 87"/>
            <p:cNvSpPr txBox="1"/>
            <p:nvPr/>
          </p:nvSpPr>
          <p:spPr>
            <a:xfrm>
              <a:off x="0" y="-85725"/>
              <a:ext cx="6473627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Requires own infrastructure for scaling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64301" y="4067174"/>
            <a:ext cx="12445182" cy="1076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19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end of Continuous Integration!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19800" y="5295900"/>
            <a:ext cx="5989811" cy="506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13"/>
              </a:lnSpc>
              <a:spcBef>
                <a:spcPct val="0"/>
              </a:spcBef>
            </a:pPr>
            <a:r>
              <a:rPr lang="en-US" sz="2587" dirty="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Next stop .... Testing frameworks.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1249</Words>
  <Application>Microsoft Macintosh PowerPoint</Application>
  <PresentationFormat>Custom</PresentationFormat>
  <Paragraphs>271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Arimo</vt:lpstr>
      <vt:lpstr>Calibri</vt:lpstr>
      <vt:lpstr>Source Serif Pro Bold</vt:lpstr>
      <vt:lpstr>Arimo Bold</vt:lpstr>
      <vt:lpstr>Source Serif Pro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Advanced-Jenkins.pptx</dc:title>
  <cp:lastModifiedBy>Alam, Anees</cp:lastModifiedBy>
  <cp:revision>2</cp:revision>
  <dcterms:created xsi:type="dcterms:W3CDTF">2006-08-16T00:00:00Z</dcterms:created>
  <dcterms:modified xsi:type="dcterms:W3CDTF">2025-03-23T08:33:27Z</dcterms:modified>
  <dc:identifier>DAGihcbFJ68</dc:identifier>
</cp:coreProperties>
</file>