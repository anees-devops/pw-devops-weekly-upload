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Merriweather" panose="020F0502020204030204" pitchFamily="2" charset="0"/>
      <p:bold r:id="rId29"/>
      <p:bold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CB3hoNVOkHPMP8ZX/+NRyMavu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0" name="Google Shape;180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82" name="Google Shape;182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7" name="Google Shape;217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19" name="Google Shape;219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0" name="Google Shape;240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42" name="Google Shape;242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8" name="Google Shape;258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60" name="Google Shape;260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6" name="Google Shape;276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278" name="Google Shape;278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0" name="Google Shape;320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322" name="Google Shape;322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4" name="Google Shape;364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366" name="Google Shape;366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4" name="Google Shape;404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sp>
        <p:nvSpPr>
          <p:cNvPr id="406" name="Google Shape;406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0" name="Google Shape;460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sp>
        <p:nvSpPr>
          <p:cNvPr id="462" name="Google Shape;462;p1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0" name="Google Shape;500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sp>
        <p:nvSpPr>
          <p:cNvPr id="502" name="Google Shape;502;p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55" name="Google Shape;555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557" name="Google Shape;557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1" name="Google Shape;631;p1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1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sp>
        <p:nvSpPr>
          <p:cNvPr id="633" name="Google Shape;633;p1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80" name="Google Shape;680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1" name="Google Shape;681;p1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</a:t>
            </a:r>
            <a:endParaRPr/>
          </a:p>
        </p:txBody>
      </p:sp>
      <p:sp>
        <p:nvSpPr>
          <p:cNvPr id="682" name="Google Shape;682;p1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09" name="Google Shape;709;p1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1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17</a:t>
            </a:r>
            <a:endParaRPr/>
          </a:p>
        </p:txBody>
      </p:sp>
      <p:sp>
        <p:nvSpPr>
          <p:cNvPr id="711" name="Google Shape;711;p1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58" name="Google Shape;758;p1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9" name="Google Shape;759;p1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  <p:sp>
        <p:nvSpPr>
          <p:cNvPr id="760" name="Google Shape;760;p1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95" name="Google Shape;795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1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</a:t>
            </a:r>
            <a:endParaRPr/>
          </a:p>
        </p:txBody>
      </p:sp>
      <p:sp>
        <p:nvSpPr>
          <p:cNvPr id="797" name="Google Shape;797;p1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88" name="Google Shape;888;p2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9" name="Google Shape;889;p2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sp>
        <p:nvSpPr>
          <p:cNvPr id="890" name="Google Shape;890;p2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31" name="Google Shape;931;p2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2" name="Google Shape;932;p2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</a:t>
            </a:r>
            <a:endParaRPr/>
          </a:p>
        </p:txBody>
      </p:sp>
      <p:sp>
        <p:nvSpPr>
          <p:cNvPr id="933" name="Google Shape;933;p2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62" name="Google Shape;962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3" name="Google Shape;963;p2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</a:t>
            </a:r>
            <a:endParaRPr/>
          </a:p>
        </p:txBody>
      </p:sp>
      <p:sp>
        <p:nvSpPr>
          <p:cNvPr id="964" name="Google Shape;964;p2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google.com/document/d/1qqRu10w7Cuq3KdWKw1xyF8oHz4KNDziZp0PWNnnXFWg/edit?tab=t.0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localhos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 descr="preencoded.png">
            <a:hlinkClick r:id="rId4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 extrusionOk="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 extrusionOk="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1148993" y="4104507"/>
            <a:ext cx="9445526" cy="1592630"/>
            <a:chOff x="0" y="-47625"/>
            <a:chExt cx="12594035" cy="2123507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2594035" cy="2075882"/>
            </a:xfrm>
            <a:custGeom>
              <a:avLst/>
              <a:gdLst/>
              <a:ahLst/>
              <a:cxnLst/>
              <a:rect l="l" t="t" r="r" b="b"/>
              <a:pathLst>
                <a:path w="12594035" h="2075882" extrusionOk="0">
                  <a:moveTo>
                    <a:pt x="0" y="0"/>
                  </a:moveTo>
                  <a:lnTo>
                    <a:pt x="12594035" y="0"/>
                  </a:lnTo>
                  <a:lnTo>
                    <a:pt x="12594035" y="2075882"/>
                  </a:lnTo>
                  <a:lnTo>
                    <a:pt x="0" y="2075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47625"/>
              <a:ext cx="12594035" cy="2123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52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9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Security Testing</a:t>
              </a:r>
              <a:endParaRPr/>
            </a:p>
          </p:txBody>
        </p:sp>
      </p:grpSp>
      <p:sp>
        <p:nvSpPr>
          <p:cNvPr id="99" name="Google Shape;99;p1"/>
          <p:cNvSpPr txBox="1"/>
          <p:nvPr/>
        </p:nvSpPr>
        <p:spPr>
          <a:xfrm>
            <a:off x="1028700" y="8736014"/>
            <a:ext cx="2137607" cy="5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3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Presenter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028700" y="9164639"/>
            <a:ext cx="4406824" cy="52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3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CC3000"/>
                </a:solidFill>
                <a:latin typeface="Open Sans"/>
                <a:ea typeface="Open Sans"/>
                <a:cs typeface="Open Sans"/>
                <a:sym typeface="Open Sans"/>
              </a:rPr>
              <a:t>Mohammad Anees Alam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677615" y="384647"/>
            <a:ext cx="5635027" cy="902120"/>
            <a:chOff x="0" y="-28575"/>
            <a:chExt cx="7513369" cy="1202827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7513369" cy="1174252"/>
            </a:xfrm>
            <a:custGeom>
              <a:avLst/>
              <a:gdLst/>
              <a:ahLst/>
              <a:cxnLst/>
              <a:rect l="l" t="t" r="r" b="b"/>
              <a:pathLst>
                <a:path w="7513369" h="1174252" extrusionOk="0">
                  <a:moveTo>
                    <a:pt x="0" y="0"/>
                  </a:moveTo>
                  <a:lnTo>
                    <a:pt x="7513369" y="0"/>
                  </a:lnTo>
                  <a:lnTo>
                    <a:pt x="7513369" y="1174252"/>
                  </a:lnTo>
                  <a:lnTo>
                    <a:pt x="0" y="1174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28575"/>
              <a:ext cx="7513369" cy="12028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66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Topics for today !</a:t>
              </a:r>
              <a:endParaRPr/>
            </a:p>
          </p:txBody>
        </p:sp>
      </p:grpSp>
      <p:sp>
        <p:nvSpPr>
          <p:cNvPr id="114" name="Google Shape;114;p2" descr="preencoded.png"/>
          <p:cNvSpPr/>
          <p:nvPr/>
        </p:nvSpPr>
        <p:spPr>
          <a:xfrm>
            <a:off x="677615" y="1524892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2142551" y="1925539"/>
            <a:ext cx="6796180" cy="536353"/>
            <a:chOff x="0" y="-9525"/>
            <a:chExt cx="9061573" cy="715136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9061573" cy="705611"/>
            </a:xfrm>
            <a:custGeom>
              <a:avLst/>
              <a:gdLst/>
              <a:ahLst/>
              <a:cxnLst/>
              <a:rect l="l" t="t" r="r" b="b"/>
              <a:pathLst>
                <a:path w="9061573" h="705611" extrusionOk="0">
                  <a:moveTo>
                    <a:pt x="0" y="0"/>
                  </a:moveTo>
                  <a:lnTo>
                    <a:pt x="9061573" y="0"/>
                  </a:lnTo>
                  <a:lnTo>
                    <a:pt x="9061573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9525"/>
              <a:ext cx="9061573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Intro: Static code analysis</a:t>
              </a:r>
              <a:endParaRPr/>
            </a:p>
          </p:txBody>
        </p:sp>
      </p:grpSp>
      <p:sp>
        <p:nvSpPr>
          <p:cNvPr id="118" name="Google Shape;118;p2" descr="preencoded.png"/>
          <p:cNvSpPr/>
          <p:nvPr/>
        </p:nvSpPr>
        <p:spPr>
          <a:xfrm>
            <a:off x="677615" y="2700486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2142551" y="3101131"/>
            <a:ext cx="6796180" cy="536353"/>
            <a:chOff x="0" y="-9525"/>
            <a:chExt cx="9061573" cy="715136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9061573" cy="705611"/>
            </a:xfrm>
            <a:custGeom>
              <a:avLst/>
              <a:gdLst/>
              <a:ahLst/>
              <a:cxnLst/>
              <a:rect l="l" t="t" r="r" b="b"/>
              <a:pathLst>
                <a:path w="9061573" h="705611" extrusionOk="0">
                  <a:moveTo>
                    <a:pt x="0" y="0"/>
                  </a:moveTo>
                  <a:lnTo>
                    <a:pt x="9061573" y="0"/>
                  </a:lnTo>
                  <a:lnTo>
                    <a:pt x="9061573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9525"/>
              <a:ext cx="9061573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SAST &amp; DAST overview</a:t>
              </a:r>
              <a:endParaRPr/>
            </a:p>
          </p:txBody>
        </p:sp>
      </p:grpSp>
      <p:sp>
        <p:nvSpPr>
          <p:cNvPr id="122" name="Google Shape;122;p2" descr="preencoded.png"/>
          <p:cNvSpPr/>
          <p:nvPr/>
        </p:nvSpPr>
        <p:spPr>
          <a:xfrm>
            <a:off x="677615" y="3876080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2"/>
          <p:cNvGrpSpPr/>
          <p:nvPr/>
        </p:nvGrpSpPr>
        <p:grpSpPr>
          <a:xfrm>
            <a:off x="2142551" y="4276725"/>
            <a:ext cx="8586930" cy="536353"/>
            <a:chOff x="0" y="-9525"/>
            <a:chExt cx="11449240" cy="715136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1449240" cy="705611"/>
            </a:xfrm>
            <a:custGeom>
              <a:avLst/>
              <a:gdLst/>
              <a:ahLst/>
              <a:cxnLst/>
              <a:rect l="l" t="t" r="r" b="b"/>
              <a:pathLst>
                <a:path w="11449240" h="705611" extrusionOk="0">
                  <a:moveTo>
                    <a:pt x="0" y="0"/>
                  </a:moveTo>
                  <a:lnTo>
                    <a:pt x="11449240" y="0"/>
                  </a:lnTo>
                  <a:lnTo>
                    <a:pt x="11449240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9525"/>
              <a:ext cx="11449240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Common tools used for SAST &amp; DAST</a:t>
              </a:r>
              <a:endParaRPr/>
            </a:p>
          </p:txBody>
        </p:sp>
      </p:grpSp>
      <p:sp>
        <p:nvSpPr>
          <p:cNvPr id="126" name="Google Shape;126;p2" descr="preencoded.png"/>
          <p:cNvSpPr/>
          <p:nvPr/>
        </p:nvSpPr>
        <p:spPr>
          <a:xfrm>
            <a:off x="677615" y="5051672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2"/>
          <p:cNvGrpSpPr/>
          <p:nvPr/>
        </p:nvGrpSpPr>
        <p:grpSpPr>
          <a:xfrm>
            <a:off x="2142551" y="5452318"/>
            <a:ext cx="7515295" cy="536353"/>
            <a:chOff x="0" y="-9525"/>
            <a:chExt cx="10020394" cy="715136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0020394" cy="705611"/>
            </a:xfrm>
            <a:custGeom>
              <a:avLst/>
              <a:gdLst/>
              <a:ahLst/>
              <a:cxnLst/>
              <a:rect l="l" t="t" r="r" b="b"/>
              <a:pathLst>
                <a:path w="10020394" h="705611" extrusionOk="0">
                  <a:moveTo>
                    <a:pt x="0" y="0"/>
                  </a:moveTo>
                  <a:lnTo>
                    <a:pt x="10020394" y="0"/>
                  </a:lnTo>
                  <a:lnTo>
                    <a:pt x="10020394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9525"/>
              <a:ext cx="10020394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Penetration Testing</a:t>
              </a:r>
              <a:endParaRPr/>
            </a:p>
          </p:txBody>
        </p:sp>
      </p:grpSp>
      <p:sp>
        <p:nvSpPr>
          <p:cNvPr id="130" name="Google Shape;130;p2" descr="preencoded.png"/>
          <p:cNvSpPr/>
          <p:nvPr/>
        </p:nvSpPr>
        <p:spPr>
          <a:xfrm>
            <a:off x="677615" y="6227266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2"/>
          <p:cNvGrpSpPr/>
          <p:nvPr/>
        </p:nvGrpSpPr>
        <p:grpSpPr>
          <a:xfrm>
            <a:off x="2142551" y="6627911"/>
            <a:ext cx="8804844" cy="536353"/>
            <a:chOff x="0" y="-9525"/>
            <a:chExt cx="11739792" cy="715136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1739792" cy="705611"/>
            </a:xfrm>
            <a:custGeom>
              <a:avLst/>
              <a:gdLst/>
              <a:ahLst/>
              <a:cxnLst/>
              <a:rect l="l" t="t" r="r" b="b"/>
              <a:pathLst>
                <a:path w="11739792" h="705611" extrusionOk="0">
                  <a:moveTo>
                    <a:pt x="0" y="0"/>
                  </a:moveTo>
                  <a:lnTo>
                    <a:pt x="11739792" y="0"/>
                  </a:lnTo>
                  <a:lnTo>
                    <a:pt x="11739792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0" y="-9525"/>
              <a:ext cx="11739792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Ethical hacking &amp; its limitations</a:t>
              </a:r>
              <a:endParaRPr/>
            </a:p>
          </p:txBody>
        </p:sp>
      </p:grpSp>
      <p:sp>
        <p:nvSpPr>
          <p:cNvPr id="134" name="Google Shape;134;p2" descr="preencoded.png"/>
          <p:cNvSpPr/>
          <p:nvPr/>
        </p:nvSpPr>
        <p:spPr>
          <a:xfrm>
            <a:off x="677615" y="7402860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2"/>
          <p:cNvGrpSpPr/>
          <p:nvPr/>
        </p:nvGrpSpPr>
        <p:grpSpPr>
          <a:xfrm>
            <a:off x="2142551" y="7803505"/>
            <a:ext cx="7960834" cy="536353"/>
            <a:chOff x="0" y="-9525"/>
            <a:chExt cx="10614446" cy="715136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10614445" cy="705611"/>
            </a:xfrm>
            <a:custGeom>
              <a:avLst/>
              <a:gdLst/>
              <a:ahLst/>
              <a:cxnLst/>
              <a:rect l="l" t="t" r="r" b="b"/>
              <a:pathLst>
                <a:path w="10614445" h="705611" extrusionOk="0">
                  <a:moveTo>
                    <a:pt x="0" y="0"/>
                  </a:moveTo>
                  <a:lnTo>
                    <a:pt x="10614445" y="0"/>
                  </a:lnTo>
                  <a:lnTo>
                    <a:pt x="10614445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0" y="-9525"/>
              <a:ext cx="10614446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Securing the CI/CD pipeline</a:t>
              </a:r>
              <a:endParaRPr/>
            </a:p>
          </p:txBody>
        </p:sp>
      </p:grpSp>
      <p:sp>
        <p:nvSpPr>
          <p:cNvPr id="138" name="Google Shape;138;p2" descr="preencoded.png"/>
          <p:cNvSpPr/>
          <p:nvPr/>
        </p:nvSpPr>
        <p:spPr>
          <a:xfrm>
            <a:off x="677615" y="8578454"/>
            <a:ext cx="967979" cy="1175594"/>
          </a:xfrm>
          <a:custGeom>
            <a:avLst/>
            <a:gdLst/>
            <a:ahLst/>
            <a:cxnLst/>
            <a:rect l="l" t="t" r="r" b="b"/>
            <a:pathLst>
              <a:path w="967979" h="1175594" extrusionOk="0">
                <a:moveTo>
                  <a:pt x="0" y="0"/>
                </a:moveTo>
                <a:lnTo>
                  <a:pt x="967979" y="0"/>
                </a:lnTo>
                <a:lnTo>
                  <a:pt x="967979" y="1175594"/>
                </a:lnTo>
                <a:lnTo>
                  <a:pt x="0" y="1175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356" r="-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2"/>
          <p:cNvGrpSpPr/>
          <p:nvPr/>
        </p:nvGrpSpPr>
        <p:grpSpPr>
          <a:xfrm>
            <a:off x="2142551" y="8979098"/>
            <a:ext cx="6359226" cy="536353"/>
            <a:chOff x="0" y="-9525"/>
            <a:chExt cx="8478968" cy="715136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8478968" cy="705611"/>
            </a:xfrm>
            <a:custGeom>
              <a:avLst/>
              <a:gdLst/>
              <a:ahLst/>
              <a:cxnLst/>
              <a:rect l="l" t="t" r="r" b="b"/>
              <a:pathLst>
                <a:path w="8478968" h="705611" extrusionOk="0">
                  <a:moveTo>
                    <a:pt x="0" y="0"/>
                  </a:moveTo>
                  <a:lnTo>
                    <a:pt x="8478968" y="0"/>
                  </a:lnTo>
                  <a:lnTo>
                    <a:pt x="8478968" y="705611"/>
                  </a:lnTo>
                  <a:lnTo>
                    <a:pt x="0" y="705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0" y="-9525"/>
              <a:ext cx="8478968" cy="71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Hands-on Activities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3"/>
          <p:cNvGrpSpPr/>
          <p:nvPr/>
        </p:nvGrpSpPr>
        <p:grpSpPr>
          <a:xfrm>
            <a:off x="853083" y="595435"/>
            <a:ext cx="7739399" cy="947642"/>
            <a:chOff x="0" y="-28575"/>
            <a:chExt cx="10319199" cy="1263523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10319199" cy="1234948"/>
            </a:xfrm>
            <a:custGeom>
              <a:avLst/>
              <a:gdLst/>
              <a:ahLst/>
              <a:cxnLst/>
              <a:rect l="l" t="t" r="r" b="b"/>
              <a:pathLst>
                <a:path w="10319199" h="1234948" extrusionOk="0">
                  <a:moveTo>
                    <a:pt x="0" y="0"/>
                  </a:moveTo>
                  <a:lnTo>
                    <a:pt x="10319199" y="0"/>
                  </a:lnTo>
                  <a:lnTo>
                    <a:pt x="10319199" y="1234948"/>
                  </a:lnTo>
                  <a:lnTo>
                    <a:pt x="0" y="1234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0" y="-28575"/>
              <a:ext cx="10319199" cy="1263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50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Static Code Analysis</a:t>
              </a:r>
              <a:endParaRPr/>
            </a:p>
          </p:txBody>
        </p:sp>
      </p:grpSp>
      <p:grpSp>
        <p:nvGrpSpPr>
          <p:cNvPr id="155" name="Google Shape;155;p3"/>
          <p:cNvGrpSpPr/>
          <p:nvPr/>
        </p:nvGrpSpPr>
        <p:grpSpPr>
          <a:xfrm>
            <a:off x="853082" y="2062757"/>
            <a:ext cx="3655962" cy="464195"/>
            <a:chOff x="0" y="-9525"/>
            <a:chExt cx="4874617" cy="618927"/>
          </a:xfrm>
        </p:grpSpPr>
        <p:sp>
          <p:nvSpPr>
            <p:cNvPr id="156" name="Google Shape;156;p3"/>
            <p:cNvSpPr/>
            <p:nvPr/>
          </p:nvSpPr>
          <p:spPr>
            <a:xfrm>
              <a:off x="0" y="0"/>
              <a:ext cx="4874617" cy="609402"/>
            </a:xfrm>
            <a:custGeom>
              <a:avLst/>
              <a:gdLst/>
              <a:ahLst/>
              <a:cxnLst/>
              <a:rect l="l" t="t" r="r" b="b"/>
              <a:pathLst>
                <a:path w="4874617" h="609402" extrusionOk="0">
                  <a:moveTo>
                    <a:pt x="0" y="0"/>
                  </a:moveTo>
                  <a:lnTo>
                    <a:pt x="4874617" y="0"/>
                  </a:lnTo>
                  <a:lnTo>
                    <a:pt x="4874617" y="609402"/>
                  </a:lnTo>
                  <a:lnTo>
                    <a:pt x="0" y="6094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0" y="-9525"/>
              <a:ext cx="4874617" cy="618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39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4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Definition: </a:t>
              </a:r>
              <a:endParaRPr/>
            </a:p>
          </p:txBody>
        </p:sp>
      </p:grpSp>
      <p:grpSp>
        <p:nvGrpSpPr>
          <p:cNvPr id="158" name="Google Shape;158;p3"/>
          <p:cNvGrpSpPr/>
          <p:nvPr/>
        </p:nvGrpSpPr>
        <p:grpSpPr>
          <a:xfrm>
            <a:off x="853082" y="2699147"/>
            <a:ext cx="10054680" cy="558851"/>
            <a:chOff x="0" y="-95250"/>
            <a:chExt cx="13406239" cy="745133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13406239" cy="649883"/>
            </a:xfrm>
            <a:custGeom>
              <a:avLst/>
              <a:gdLst/>
              <a:ahLst/>
              <a:cxnLst/>
              <a:rect l="l" t="t" r="r" b="b"/>
              <a:pathLst>
                <a:path w="13406239" h="649883" extrusionOk="0">
                  <a:moveTo>
                    <a:pt x="0" y="0"/>
                  </a:moveTo>
                  <a:lnTo>
                    <a:pt x="13406239" y="0"/>
                  </a:lnTo>
                  <a:lnTo>
                    <a:pt x="13406239" y="649883"/>
                  </a:lnTo>
                  <a:lnTo>
                    <a:pt x="0" y="6498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0" y="-95250"/>
              <a:ext cx="13406238" cy="745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Static Code Analysis analyzes source code without executing it. </a:t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53082" y="3405782"/>
            <a:ext cx="10054680" cy="1046262"/>
            <a:chOff x="0" y="-95250"/>
            <a:chExt cx="13406239" cy="1395015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13406239" cy="1299765"/>
            </a:xfrm>
            <a:custGeom>
              <a:avLst/>
              <a:gdLst/>
              <a:ahLst/>
              <a:cxnLst/>
              <a:rect l="l" t="t" r="r" b="b"/>
              <a:pathLst>
                <a:path w="13406239" h="1299765" extrusionOk="0">
                  <a:moveTo>
                    <a:pt x="0" y="0"/>
                  </a:moveTo>
                  <a:lnTo>
                    <a:pt x="13406239" y="0"/>
                  </a:lnTo>
                  <a:lnTo>
                    <a:pt x="13406239" y="1299765"/>
                  </a:lnTo>
                  <a:lnTo>
                    <a:pt x="0" y="12997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0" y="-95250"/>
              <a:ext cx="13406238" cy="1395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 identifies bugs, security vulnerabilities, and code smells early in the development cycle.</a:t>
              </a:r>
              <a:endParaRPr/>
            </a:p>
          </p:txBody>
        </p:sp>
      </p:grpSp>
      <p:grpSp>
        <p:nvGrpSpPr>
          <p:cNvPr id="164" name="Google Shape;164;p3"/>
          <p:cNvGrpSpPr/>
          <p:nvPr/>
        </p:nvGrpSpPr>
        <p:grpSpPr>
          <a:xfrm>
            <a:off x="853083" y="4692550"/>
            <a:ext cx="8824532" cy="1069331"/>
            <a:chOff x="0" y="-9525"/>
            <a:chExt cx="11766043" cy="1425775"/>
          </a:xfrm>
        </p:grpSpPr>
        <p:sp>
          <p:nvSpPr>
            <p:cNvPr id="165" name="Google Shape;165;p3"/>
            <p:cNvSpPr/>
            <p:nvPr/>
          </p:nvSpPr>
          <p:spPr>
            <a:xfrm>
              <a:off x="0" y="0"/>
              <a:ext cx="11766042" cy="1416250"/>
            </a:xfrm>
            <a:custGeom>
              <a:avLst/>
              <a:gdLst/>
              <a:ahLst/>
              <a:cxnLst/>
              <a:rect l="l" t="t" r="r" b="b"/>
              <a:pathLst>
                <a:path w="11766042" h="1416250" extrusionOk="0">
                  <a:moveTo>
                    <a:pt x="0" y="0"/>
                  </a:moveTo>
                  <a:lnTo>
                    <a:pt x="11766042" y="0"/>
                  </a:lnTo>
                  <a:lnTo>
                    <a:pt x="11766042" y="1416250"/>
                  </a:lnTo>
                  <a:lnTo>
                    <a:pt x="0" y="1416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0" y="-9525"/>
              <a:ext cx="11766043" cy="1425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39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4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SAST - Static Application Security Testing</a:t>
              </a:r>
              <a:endParaRPr/>
            </a:p>
          </p:txBody>
        </p:sp>
      </p:grpSp>
      <p:grpSp>
        <p:nvGrpSpPr>
          <p:cNvPr id="167" name="Google Shape;167;p3"/>
          <p:cNvGrpSpPr/>
          <p:nvPr/>
        </p:nvGrpSpPr>
        <p:grpSpPr>
          <a:xfrm>
            <a:off x="853082" y="5934075"/>
            <a:ext cx="10054680" cy="558849"/>
            <a:chOff x="0" y="-95250"/>
            <a:chExt cx="13406239" cy="745133"/>
          </a:xfrm>
        </p:grpSpPr>
        <p:sp>
          <p:nvSpPr>
            <p:cNvPr id="168" name="Google Shape;168;p3"/>
            <p:cNvSpPr/>
            <p:nvPr/>
          </p:nvSpPr>
          <p:spPr>
            <a:xfrm>
              <a:off x="0" y="0"/>
              <a:ext cx="13406239" cy="649883"/>
            </a:xfrm>
            <a:custGeom>
              <a:avLst/>
              <a:gdLst/>
              <a:ahLst/>
              <a:cxnLst/>
              <a:rect l="l" t="t" r="r" b="b"/>
              <a:pathLst>
                <a:path w="13406239" h="649883" extrusionOk="0">
                  <a:moveTo>
                    <a:pt x="0" y="0"/>
                  </a:moveTo>
                  <a:lnTo>
                    <a:pt x="13406239" y="0"/>
                  </a:lnTo>
                  <a:lnTo>
                    <a:pt x="13406239" y="649883"/>
                  </a:lnTo>
                  <a:lnTo>
                    <a:pt x="0" y="6498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0" y="-95250"/>
              <a:ext cx="13406238" cy="745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5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Static</a:t>
              </a:r>
              <a:r>
                <a:rPr lang="en-US" sz="237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→ Code is analyzed without execution.</a:t>
              </a:r>
              <a:endParaRPr/>
            </a:p>
          </p:txBody>
        </p:sp>
      </p:grpSp>
      <p:grpSp>
        <p:nvGrpSpPr>
          <p:cNvPr id="170" name="Google Shape;170;p3"/>
          <p:cNvGrpSpPr/>
          <p:nvPr/>
        </p:nvGrpSpPr>
        <p:grpSpPr>
          <a:xfrm>
            <a:off x="853082" y="6640712"/>
            <a:ext cx="10054680" cy="558849"/>
            <a:chOff x="0" y="-95250"/>
            <a:chExt cx="13406239" cy="745133"/>
          </a:xfrm>
        </p:grpSpPr>
        <p:sp>
          <p:nvSpPr>
            <p:cNvPr id="171" name="Google Shape;171;p3"/>
            <p:cNvSpPr/>
            <p:nvPr/>
          </p:nvSpPr>
          <p:spPr>
            <a:xfrm>
              <a:off x="0" y="0"/>
              <a:ext cx="13406239" cy="649883"/>
            </a:xfrm>
            <a:custGeom>
              <a:avLst/>
              <a:gdLst/>
              <a:ahLst/>
              <a:cxnLst/>
              <a:rect l="l" t="t" r="r" b="b"/>
              <a:pathLst>
                <a:path w="13406239" h="649883" extrusionOk="0">
                  <a:moveTo>
                    <a:pt x="0" y="0"/>
                  </a:moveTo>
                  <a:lnTo>
                    <a:pt x="13406239" y="0"/>
                  </a:lnTo>
                  <a:lnTo>
                    <a:pt x="13406239" y="649883"/>
                  </a:lnTo>
                  <a:lnTo>
                    <a:pt x="0" y="6498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0" y="-95250"/>
              <a:ext cx="13406238" cy="745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5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Application</a:t>
              </a:r>
              <a:r>
                <a:rPr lang="en-US" sz="237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→ Focuses on software source code or binaries.</a:t>
              </a:r>
              <a:endParaRPr/>
            </a:p>
          </p:txBody>
        </p:sp>
      </p:grpSp>
      <p:grpSp>
        <p:nvGrpSpPr>
          <p:cNvPr id="173" name="Google Shape;173;p3"/>
          <p:cNvGrpSpPr/>
          <p:nvPr/>
        </p:nvGrpSpPr>
        <p:grpSpPr>
          <a:xfrm>
            <a:off x="853082" y="7347348"/>
            <a:ext cx="10054680" cy="2021087"/>
            <a:chOff x="0" y="-95250"/>
            <a:chExt cx="13406239" cy="2694782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13406239" cy="2599532"/>
            </a:xfrm>
            <a:custGeom>
              <a:avLst/>
              <a:gdLst/>
              <a:ahLst/>
              <a:cxnLst/>
              <a:rect l="l" t="t" r="r" b="b"/>
              <a:pathLst>
                <a:path w="13406239" h="2599532" extrusionOk="0">
                  <a:moveTo>
                    <a:pt x="0" y="0"/>
                  </a:moveTo>
                  <a:lnTo>
                    <a:pt x="13406239" y="0"/>
                  </a:lnTo>
                  <a:lnTo>
                    <a:pt x="13406239" y="2599532"/>
                  </a:lnTo>
                  <a:lnTo>
                    <a:pt x="0" y="25995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0" y="-95250"/>
              <a:ext cx="13406238" cy="269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75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Security Testing</a:t>
              </a:r>
              <a:r>
                <a:rPr lang="en-US" sz="237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→ Aimed at identifying vulnerabilities, weaknesses, or security issues.</a:t>
              </a:r>
              <a:endParaRPr/>
            </a:p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75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lnSpc>
                  <a:spcPct val="1605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75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6" name="Google Shape;176;p3" descr="preencoded.png"/>
          <p:cNvSpPr/>
          <p:nvPr/>
        </p:nvSpPr>
        <p:spPr>
          <a:xfrm>
            <a:off x="11512004" y="2100411"/>
            <a:ext cx="5932289" cy="4058841"/>
          </a:xfrm>
          <a:custGeom>
            <a:avLst/>
            <a:gdLst/>
            <a:ahLst/>
            <a:cxnLst/>
            <a:rect l="l" t="t" r="r" b="b"/>
            <a:pathLst>
              <a:path w="5932289" h="4058841" extrusionOk="0">
                <a:moveTo>
                  <a:pt x="0" y="0"/>
                </a:moveTo>
                <a:lnTo>
                  <a:pt x="5932288" y="0"/>
                </a:lnTo>
                <a:lnTo>
                  <a:pt x="5932288" y="4058841"/>
                </a:lnTo>
                <a:lnTo>
                  <a:pt x="0" y="4058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 descr="preencoded.png">
            <a:hlinkClick r:id="rId4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 extrusionOk="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 extrusionOk="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4"/>
          <p:cNvGrpSpPr/>
          <p:nvPr/>
        </p:nvGrpSpPr>
        <p:grpSpPr>
          <a:xfrm>
            <a:off x="992237" y="780130"/>
            <a:ext cx="9876603" cy="1979469"/>
            <a:chOff x="0" y="-28575"/>
            <a:chExt cx="13168804" cy="2639293"/>
          </a:xfrm>
        </p:grpSpPr>
        <p:sp>
          <p:nvSpPr>
            <p:cNvPr id="190" name="Google Shape;190;p4"/>
            <p:cNvSpPr/>
            <p:nvPr/>
          </p:nvSpPr>
          <p:spPr>
            <a:xfrm>
              <a:off x="0" y="0"/>
              <a:ext cx="13168804" cy="2610718"/>
            </a:xfrm>
            <a:custGeom>
              <a:avLst/>
              <a:gdLst/>
              <a:ahLst/>
              <a:cxnLst/>
              <a:rect l="l" t="t" r="r" b="b"/>
              <a:pathLst>
                <a:path w="13168804" h="2610718" extrusionOk="0">
                  <a:moveTo>
                    <a:pt x="0" y="0"/>
                  </a:moveTo>
                  <a:lnTo>
                    <a:pt x="13168804" y="0"/>
                  </a:lnTo>
                  <a:lnTo>
                    <a:pt x="13168804" y="2610718"/>
                  </a:lnTo>
                  <a:lnTo>
                    <a:pt x="0" y="2610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0" y="-28575"/>
              <a:ext cx="13168804" cy="2639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Why SAST is Important in DevOps</a:t>
              </a:r>
              <a:endParaRPr/>
            </a:p>
          </p:txBody>
        </p:sp>
      </p:grpSp>
      <p:grpSp>
        <p:nvGrpSpPr>
          <p:cNvPr id="192" name="Google Shape;192;p4"/>
          <p:cNvGrpSpPr/>
          <p:nvPr/>
        </p:nvGrpSpPr>
        <p:grpSpPr>
          <a:xfrm>
            <a:off x="1417439" y="3339256"/>
            <a:ext cx="9020324" cy="1047028"/>
            <a:chOff x="0" y="-95250"/>
            <a:chExt cx="12027098" cy="1396036"/>
          </a:xfrm>
        </p:grpSpPr>
        <p:sp>
          <p:nvSpPr>
            <p:cNvPr id="193" name="Google Shape;193;p4"/>
            <p:cNvSpPr/>
            <p:nvPr/>
          </p:nvSpPr>
          <p:spPr>
            <a:xfrm>
              <a:off x="0" y="0"/>
              <a:ext cx="12027098" cy="1300786"/>
            </a:xfrm>
            <a:custGeom>
              <a:avLst/>
              <a:gdLst/>
              <a:ahLst/>
              <a:cxnLst/>
              <a:rect l="l" t="t" r="r" b="b"/>
              <a:pathLst>
                <a:path w="12027098" h="1300786" extrusionOk="0">
                  <a:moveTo>
                    <a:pt x="0" y="0"/>
                  </a:moveTo>
                  <a:lnTo>
                    <a:pt x="12027098" y="0"/>
                  </a:lnTo>
                  <a:lnTo>
                    <a:pt x="12027098" y="1300786"/>
                  </a:lnTo>
                  <a:lnTo>
                    <a:pt x="0" y="13007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0" y="-95250"/>
              <a:ext cx="12027098" cy="1396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8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Early Detection:</a:t>
              </a: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Catches security issues before deployment, following the "Shift Left" principle.</a:t>
              </a:r>
              <a:endParaRPr/>
            </a:p>
          </p:txBody>
        </p:sp>
      </p:grpSp>
      <p:grpSp>
        <p:nvGrpSpPr>
          <p:cNvPr id="195" name="Google Shape;195;p4"/>
          <p:cNvGrpSpPr/>
          <p:nvPr/>
        </p:nvGrpSpPr>
        <p:grpSpPr>
          <a:xfrm>
            <a:off x="1417439" y="4565451"/>
            <a:ext cx="9020324" cy="561253"/>
            <a:chOff x="0" y="-95250"/>
            <a:chExt cx="12027098" cy="748336"/>
          </a:xfrm>
        </p:grpSpPr>
        <p:sp>
          <p:nvSpPr>
            <p:cNvPr id="196" name="Google Shape;196;p4"/>
            <p:cNvSpPr/>
            <p:nvPr/>
          </p:nvSpPr>
          <p:spPr>
            <a:xfrm>
              <a:off x="0" y="0"/>
              <a:ext cx="12027098" cy="653086"/>
            </a:xfrm>
            <a:custGeom>
              <a:avLst/>
              <a:gdLst/>
              <a:ahLst/>
              <a:cxnLst/>
              <a:rect l="l" t="t" r="r" b="b"/>
              <a:pathLst>
                <a:path w="12027098" h="653086" extrusionOk="0">
                  <a:moveTo>
                    <a:pt x="0" y="0"/>
                  </a:moveTo>
                  <a:lnTo>
                    <a:pt x="12027098" y="0"/>
                  </a:lnTo>
                  <a:lnTo>
                    <a:pt x="12027098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4"/>
            <p:cNvSpPr txBox="1"/>
            <p:nvPr/>
          </p:nvSpPr>
          <p:spPr>
            <a:xfrm>
              <a:off x="0" y="-95250"/>
              <a:ext cx="12027098" cy="748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8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Automation:</a:t>
              </a: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Integrates into CI/CD to scan every pull request.</a:t>
              </a:r>
              <a:endParaRPr/>
            </a:p>
          </p:txBody>
        </p:sp>
      </p:grpSp>
      <p:grpSp>
        <p:nvGrpSpPr>
          <p:cNvPr id="198" name="Google Shape;198;p4"/>
          <p:cNvGrpSpPr/>
          <p:nvPr/>
        </p:nvGrpSpPr>
        <p:grpSpPr>
          <a:xfrm>
            <a:off x="1417439" y="5338018"/>
            <a:ext cx="9020324" cy="561253"/>
            <a:chOff x="0" y="-95250"/>
            <a:chExt cx="12027098" cy="748336"/>
          </a:xfrm>
        </p:grpSpPr>
        <p:sp>
          <p:nvSpPr>
            <p:cNvPr id="199" name="Google Shape;199;p4"/>
            <p:cNvSpPr/>
            <p:nvPr/>
          </p:nvSpPr>
          <p:spPr>
            <a:xfrm>
              <a:off x="0" y="0"/>
              <a:ext cx="12027098" cy="653086"/>
            </a:xfrm>
            <a:custGeom>
              <a:avLst/>
              <a:gdLst/>
              <a:ahLst/>
              <a:cxnLst/>
              <a:rect l="l" t="t" r="r" b="b"/>
              <a:pathLst>
                <a:path w="12027098" h="653086" extrusionOk="0">
                  <a:moveTo>
                    <a:pt x="0" y="0"/>
                  </a:moveTo>
                  <a:lnTo>
                    <a:pt x="12027098" y="0"/>
                  </a:lnTo>
                  <a:lnTo>
                    <a:pt x="12027098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4"/>
            <p:cNvSpPr txBox="1"/>
            <p:nvPr/>
          </p:nvSpPr>
          <p:spPr>
            <a:xfrm>
              <a:off x="0" y="-95250"/>
              <a:ext cx="12027098" cy="748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8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Saves Cost:</a:t>
              </a: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Fixing bugs in production is much more expensive.</a:t>
              </a:r>
              <a:endParaRPr/>
            </a:p>
          </p:txBody>
        </p:sp>
      </p:grpSp>
      <p:grpSp>
        <p:nvGrpSpPr>
          <p:cNvPr id="201" name="Google Shape;201;p4"/>
          <p:cNvGrpSpPr/>
          <p:nvPr/>
        </p:nvGrpSpPr>
        <p:grpSpPr>
          <a:xfrm>
            <a:off x="1417439" y="6110584"/>
            <a:ext cx="9020324" cy="561253"/>
            <a:chOff x="0" y="-95250"/>
            <a:chExt cx="12027098" cy="748336"/>
          </a:xfrm>
        </p:grpSpPr>
        <p:sp>
          <p:nvSpPr>
            <p:cNvPr id="202" name="Google Shape;202;p4"/>
            <p:cNvSpPr/>
            <p:nvPr/>
          </p:nvSpPr>
          <p:spPr>
            <a:xfrm>
              <a:off x="0" y="0"/>
              <a:ext cx="12027098" cy="653086"/>
            </a:xfrm>
            <a:custGeom>
              <a:avLst/>
              <a:gdLst/>
              <a:ahLst/>
              <a:cxnLst/>
              <a:rect l="l" t="t" r="r" b="b"/>
              <a:pathLst>
                <a:path w="12027098" h="653086" extrusionOk="0">
                  <a:moveTo>
                    <a:pt x="0" y="0"/>
                  </a:moveTo>
                  <a:lnTo>
                    <a:pt x="12027098" y="0"/>
                  </a:lnTo>
                  <a:lnTo>
                    <a:pt x="12027098" y="653086"/>
                  </a:lnTo>
                  <a:lnTo>
                    <a:pt x="0" y="6530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0" y="-95250"/>
              <a:ext cx="12027098" cy="748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8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Compliance:</a:t>
              </a: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Helps meet standards like OWASP Top 10.</a:t>
              </a:r>
              <a:endParaRPr/>
            </a:p>
          </p:txBody>
        </p:sp>
      </p:grpSp>
      <p:sp>
        <p:nvSpPr>
          <p:cNvPr id="204" name="Google Shape;204;p4"/>
          <p:cNvSpPr/>
          <p:nvPr/>
        </p:nvSpPr>
        <p:spPr>
          <a:xfrm>
            <a:off x="992238" y="3091755"/>
            <a:ext cx="38100" cy="3862864"/>
          </a:xfrm>
          <a:custGeom>
            <a:avLst/>
            <a:gdLst/>
            <a:ahLst/>
            <a:cxnLst/>
            <a:rect l="l" t="t" r="r" b="b"/>
            <a:pathLst>
              <a:path w="50800" h="5150485" extrusionOk="0">
                <a:moveTo>
                  <a:pt x="0" y="0"/>
                </a:moveTo>
                <a:lnTo>
                  <a:pt x="50800" y="0"/>
                </a:lnTo>
                <a:lnTo>
                  <a:pt x="50800" y="5150485"/>
                </a:lnTo>
                <a:lnTo>
                  <a:pt x="0" y="5150485"/>
                </a:lnTo>
                <a:close/>
              </a:path>
            </a:pathLst>
          </a:custGeom>
          <a:solidFill>
            <a:srgbClr val="FFAD9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4"/>
          <p:cNvGrpSpPr/>
          <p:nvPr/>
        </p:nvGrpSpPr>
        <p:grpSpPr>
          <a:xfrm>
            <a:off x="992238" y="7187804"/>
            <a:ext cx="9445526" cy="696387"/>
            <a:chOff x="0" y="-114300"/>
            <a:chExt cx="12594035" cy="928516"/>
          </a:xfrm>
        </p:grpSpPr>
        <p:sp>
          <p:nvSpPr>
            <p:cNvPr id="206" name="Google Shape;206;p4"/>
            <p:cNvSpPr/>
            <p:nvPr/>
          </p:nvSpPr>
          <p:spPr>
            <a:xfrm>
              <a:off x="0" y="0"/>
              <a:ext cx="12594035" cy="814216"/>
            </a:xfrm>
            <a:custGeom>
              <a:avLst/>
              <a:gdLst/>
              <a:ahLst/>
              <a:cxnLst/>
              <a:rect l="l" t="t" r="r" b="b"/>
              <a:pathLst>
                <a:path w="12594035" h="814216" extrusionOk="0">
                  <a:moveTo>
                    <a:pt x="0" y="0"/>
                  </a:moveTo>
                  <a:lnTo>
                    <a:pt x="12594035" y="0"/>
                  </a:lnTo>
                  <a:lnTo>
                    <a:pt x="12594035" y="814216"/>
                  </a:lnTo>
                  <a:lnTo>
                    <a:pt x="0" y="8142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4"/>
            <p:cNvSpPr txBox="1"/>
            <p:nvPr/>
          </p:nvSpPr>
          <p:spPr>
            <a:xfrm>
              <a:off x="0" y="-114300"/>
              <a:ext cx="12594035" cy="928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4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49" b="1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Common tools used:</a:t>
              </a:r>
              <a:endParaRPr/>
            </a:p>
          </p:txBody>
        </p:sp>
      </p:grpSp>
      <p:grpSp>
        <p:nvGrpSpPr>
          <p:cNvPr id="208" name="Google Shape;208;p4"/>
          <p:cNvGrpSpPr/>
          <p:nvPr/>
        </p:nvGrpSpPr>
        <p:grpSpPr>
          <a:xfrm>
            <a:off x="992238" y="8087916"/>
            <a:ext cx="9445526" cy="638324"/>
            <a:chOff x="0" y="-95250"/>
            <a:chExt cx="12594035" cy="851098"/>
          </a:xfrm>
        </p:grpSpPr>
        <p:sp>
          <p:nvSpPr>
            <p:cNvPr id="209" name="Google Shape;209;p4"/>
            <p:cNvSpPr/>
            <p:nvPr/>
          </p:nvSpPr>
          <p:spPr>
            <a:xfrm>
              <a:off x="0" y="0"/>
              <a:ext cx="12594035" cy="755848"/>
            </a:xfrm>
            <a:custGeom>
              <a:avLst/>
              <a:gdLst/>
              <a:ahLst/>
              <a:cxnLst/>
              <a:rect l="l" t="t" r="r" b="b"/>
              <a:pathLst>
                <a:path w="12594035" h="755848" extrusionOk="0">
                  <a:moveTo>
                    <a:pt x="0" y="0"/>
                  </a:moveTo>
                  <a:lnTo>
                    <a:pt x="12594035" y="0"/>
                  </a:lnTo>
                  <a:lnTo>
                    <a:pt x="1259403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0" y="-95250"/>
              <a:ext cx="12594035" cy="8510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60064" marR="0" lvl="1" indent="-180032" algn="l" rtl="0">
                <a:lnSpc>
                  <a:spcPct val="16288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87"/>
                <a:buFont typeface="Open Sans"/>
                <a:buAutoNum type="arabicPeriod"/>
              </a:pPr>
              <a:r>
                <a:rPr lang="en-US" sz="23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SonarQube</a:t>
              </a:r>
              <a:endParaRPr/>
            </a:p>
          </p:txBody>
        </p:sp>
      </p:grpSp>
      <p:grpSp>
        <p:nvGrpSpPr>
          <p:cNvPr id="211" name="Google Shape;211;p4"/>
          <p:cNvGrpSpPr/>
          <p:nvPr/>
        </p:nvGrpSpPr>
        <p:grpSpPr>
          <a:xfrm>
            <a:off x="992238" y="8753922"/>
            <a:ext cx="9445526" cy="638324"/>
            <a:chOff x="0" y="-95250"/>
            <a:chExt cx="12594035" cy="851098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12594035" cy="755848"/>
            </a:xfrm>
            <a:custGeom>
              <a:avLst/>
              <a:gdLst/>
              <a:ahLst/>
              <a:cxnLst/>
              <a:rect l="l" t="t" r="r" b="b"/>
              <a:pathLst>
                <a:path w="12594035" h="755848" extrusionOk="0">
                  <a:moveTo>
                    <a:pt x="0" y="0"/>
                  </a:moveTo>
                  <a:lnTo>
                    <a:pt x="12594035" y="0"/>
                  </a:lnTo>
                  <a:lnTo>
                    <a:pt x="1259403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95250"/>
              <a:ext cx="12594035" cy="8510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60064" marR="0" lvl="1" indent="-180032" algn="l" rtl="0">
                <a:lnSpc>
                  <a:spcPct val="16288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87"/>
                <a:buFont typeface="Open Sans"/>
                <a:buAutoNum type="arabicPeriod"/>
              </a:pPr>
              <a:r>
                <a:rPr lang="en-US" sz="23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Fortify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 descr="preencoded.png"/>
          <p:cNvSpPr/>
          <p:nvPr/>
        </p:nvSpPr>
        <p:spPr>
          <a:xfrm>
            <a:off x="1169406" y="783498"/>
            <a:ext cx="14670724" cy="3057788"/>
          </a:xfrm>
          <a:custGeom>
            <a:avLst/>
            <a:gdLst/>
            <a:ahLst/>
            <a:cxnLst/>
            <a:rect l="l" t="t" r="r" b="b"/>
            <a:pathLst>
              <a:path w="14670724" h="3057788" extrusionOk="0">
                <a:moveTo>
                  <a:pt x="0" y="0"/>
                </a:moveTo>
                <a:lnTo>
                  <a:pt x="14670724" y="0"/>
                </a:lnTo>
                <a:lnTo>
                  <a:pt x="14670724" y="3057788"/>
                </a:lnTo>
                <a:lnTo>
                  <a:pt x="0" y="305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711" t="-1716" r="-471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5"/>
          <p:cNvGrpSpPr/>
          <p:nvPr/>
        </p:nvGrpSpPr>
        <p:grpSpPr>
          <a:xfrm>
            <a:off x="992238" y="5218063"/>
            <a:ext cx="5670649" cy="723007"/>
            <a:chOff x="0" y="-19050"/>
            <a:chExt cx="7560865" cy="964010"/>
          </a:xfrm>
        </p:grpSpPr>
        <p:sp>
          <p:nvSpPr>
            <p:cNvPr id="226" name="Google Shape;226;p5"/>
            <p:cNvSpPr/>
            <p:nvPr/>
          </p:nvSpPr>
          <p:spPr>
            <a:xfrm>
              <a:off x="0" y="0"/>
              <a:ext cx="7560865" cy="944960"/>
            </a:xfrm>
            <a:custGeom>
              <a:avLst/>
              <a:gdLst/>
              <a:ahLst/>
              <a:cxnLst/>
              <a:rect l="l" t="t" r="r" b="b"/>
              <a:pathLst>
                <a:path w="7560865" h="944960" extrusionOk="0">
                  <a:moveTo>
                    <a:pt x="0" y="0"/>
                  </a:moveTo>
                  <a:lnTo>
                    <a:pt x="7560865" y="0"/>
                  </a:lnTo>
                  <a:lnTo>
                    <a:pt x="7560865" y="944960"/>
                  </a:lnTo>
                  <a:lnTo>
                    <a:pt x="0" y="94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0" y="-19050"/>
              <a:ext cx="7560865" cy="964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3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3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Tool: SonarQube</a:t>
              </a:r>
              <a:endParaRPr/>
            </a:p>
          </p:txBody>
        </p:sp>
      </p:grpSp>
      <p:grpSp>
        <p:nvGrpSpPr>
          <p:cNvPr id="228" name="Google Shape;228;p5"/>
          <p:cNvGrpSpPr/>
          <p:nvPr/>
        </p:nvGrpSpPr>
        <p:grpSpPr>
          <a:xfrm>
            <a:off x="992238" y="6181428"/>
            <a:ext cx="16303526" cy="645467"/>
            <a:chOff x="0" y="-104775"/>
            <a:chExt cx="21738035" cy="860623"/>
          </a:xfrm>
        </p:grpSpPr>
        <p:sp>
          <p:nvSpPr>
            <p:cNvPr id="229" name="Google Shape;229;p5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5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SonarQube is an open-source tool for analyzing code quality and security. </a:t>
              </a:r>
              <a:endParaRPr/>
            </a:p>
          </p:txBody>
        </p:sp>
      </p:grpSp>
      <p:grpSp>
        <p:nvGrpSpPr>
          <p:cNvPr id="231" name="Google Shape;231;p5"/>
          <p:cNvGrpSpPr/>
          <p:nvPr/>
        </p:nvGrpSpPr>
        <p:grpSpPr>
          <a:xfrm>
            <a:off x="992238" y="7067253"/>
            <a:ext cx="16303526" cy="645467"/>
            <a:chOff x="0" y="-104775"/>
            <a:chExt cx="21738035" cy="860623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 supports many languages like Python, Java, and JavaScript.</a:t>
              </a:r>
              <a:endParaRPr/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992238" y="7953078"/>
            <a:ext cx="16303526" cy="645467"/>
            <a:chOff x="0" y="-104775"/>
            <a:chExt cx="21738035" cy="860623"/>
          </a:xfrm>
        </p:grpSpPr>
        <p:sp>
          <p:nvSpPr>
            <p:cNvPr id="235" name="Google Shape;235;p5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web dashboard displays bugs, code smells, and security hotspots.</a:t>
              </a:r>
            </a:p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750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u="sng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Setup Guide and hands-on: </a:t>
              </a:r>
              <a:r>
                <a:rPr lang="en-US" sz="2400" b="1" u="sng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  <a:hlinkClick r:id="rId5"/>
                </a:rPr>
                <a:t>Here</a:t>
              </a:r>
              <a:endParaRPr sz="1200" b="1" u="sng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 descr="preencoded.png">
            <a:hlinkClick r:id="rId4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 extrusionOk="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6"/>
          <p:cNvGrpSpPr/>
          <p:nvPr/>
        </p:nvGrpSpPr>
        <p:grpSpPr>
          <a:xfrm>
            <a:off x="992238" y="2825651"/>
            <a:ext cx="16303526" cy="1793378"/>
            <a:chOff x="0" y="-28575"/>
            <a:chExt cx="21738035" cy="2391172"/>
          </a:xfrm>
        </p:grpSpPr>
        <p:sp>
          <p:nvSpPr>
            <p:cNvPr id="250" name="Google Shape;250;p6"/>
            <p:cNvSpPr/>
            <p:nvPr/>
          </p:nvSpPr>
          <p:spPr>
            <a:xfrm>
              <a:off x="0" y="0"/>
              <a:ext cx="21738034" cy="2362597"/>
            </a:xfrm>
            <a:custGeom>
              <a:avLst/>
              <a:gdLst/>
              <a:ahLst/>
              <a:cxnLst/>
              <a:rect l="l" t="t" r="r" b="b"/>
              <a:pathLst>
                <a:path w="21738034" h="2362597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0" y="-28575"/>
              <a:ext cx="21738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Do we have any existing software or a tool that already does this? </a:t>
              </a:r>
              <a:endParaRPr/>
            </a:p>
          </p:txBody>
        </p:sp>
      </p:grpSp>
      <p:grpSp>
        <p:nvGrpSpPr>
          <p:cNvPr id="252" name="Google Shape;252;p6"/>
          <p:cNvGrpSpPr/>
          <p:nvPr/>
        </p:nvGrpSpPr>
        <p:grpSpPr>
          <a:xfrm>
            <a:off x="992238" y="5901630"/>
            <a:ext cx="16303526" cy="1793378"/>
            <a:chOff x="0" y="-28575"/>
            <a:chExt cx="21738035" cy="2391172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21738034" cy="2362597"/>
            </a:xfrm>
            <a:custGeom>
              <a:avLst/>
              <a:gdLst/>
              <a:ahLst/>
              <a:cxnLst/>
              <a:rect l="l" t="t" r="r" b="b"/>
              <a:pathLst>
                <a:path w="21738034" h="2362597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0" y="-28575"/>
              <a:ext cx="21738035" cy="2391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IF YES, then how is it different from SonarQube ??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7"/>
          <p:cNvGrpSpPr/>
          <p:nvPr/>
        </p:nvGrpSpPr>
        <p:grpSpPr>
          <a:xfrm>
            <a:off x="1482097" y="2384469"/>
            <a:ext cx="14836559" cy="1979469"/>
            <a:chOff x="0" y="-28575"/>
            <a:chExt cx="19782078" cy="2639293"/>
          </a:xfrm>
        </p:grpSpPr>
        <p:sp>
          <p:nvSpPr>
            <p:cNvPr id="266" name="Google Shape;266;p7"/>
            <p:cNvSpPr/>
            <p:nvPr/>
          </p:nvSpPr>
          <p:spPr>
            <a:xfrm>
              <a:off x="0" y="0"/>
              <a:ext cx="19782078" cy="2610718"/>
            </a:xfrm>
            <a:custGeom>
              <a:avLst/>
              <a:gdLst/>
              <a:ahLst/>
              <a:cxnLst/>
              <a:rect l="l" t="t" r="r" b="b"/>
              <a:pathLst>
                <a:path w="19782078" h="2610718" extrusionOk="0">
                  <a:moveTo>
                    <a:pt x="0" y="0"/>
                  </a:moveTo>
                  <a:lnTo>
                    <a:pt x="19782078" y="0"/>
                  </a:lnTo>
                  <a:lnTo>
                    <a:pt x="19782078" y="2610718"/>
                  </a:lnTo>
                  <a:lnTo>
                    <a:pt x="0" y="2610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 txBox="1"/>
            <p:nvPr/>
          </p:nvSpPr>
          <p:spPr>
            <a:xfrm>
              <a:off x="0" y="-28575"/>
              <a:ext cx="19782078" cy="2639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 sample from VS Code : Spot the error !</a:t>
              </a:r>
              <a:endParaRPr/>
            </a:p>
          </p:txBody>
        </p:sp>
      </p:grpSp>
      <p:sp>
        <p:nvSpPr>
          <p:cNvPr id="268" name="Google Shape;268;p7"/>
          <p:cNvSpPr/>
          <p:nvPr/>
        </p:nvSpPr>
        <p:spPr>
          <a:xfrm>
            <a:off x="992238" y="4363939"/>
            <a:ext cx="16303466" cy="2239518"/>
          </a:xfrm>
          <a:custGeom>
            <a:avLst/>
            <a:gdLst/>
            <a:ahLst/>
            <a:cxnLst/>
            <a:rect l="l" t="t" r="r" b="b"/>
            <a:pathLst>
              <a:path w="21737955" h="2986024" extrusionOk="0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21579205" y="0"/>
                </a:lnTo>
                <a:cubicBezTo>
                  <a:pt x="21666836" y="0"/>
                  <a:pt x="21737955" y="71120"/>
                  <a:pt x="21737955" y="158750"/>
                </a:cubicBezTo>
                <a:lnTo>
                  <a:pt x="21737955" y="2827274"/>
                </a:lnTo>
                <a:cubicBezTo>
                  <a:pt x="21737955" y="2914904"/>
                  <a:pt x="21666836" y="2986024"/>
                  <a:pt x="21579205" y="2986024"/>
                </a:cubicBezTo>
                <a:lnTo>
                  <a:pt x="158750" y="2986024"/>
                </a:lnTo>
                <a:cubicBezTo>
                  <a:pt x="71120" y="2986024"/>
                  <a:pt x="0" y="2914904"/>
                  <a:pt x="0" y="2827274"/>
                </a:cubicBezTo>
                <a:close/>
              </a:path>
            </a:pathLst>
          </a:custGeom>
          <a:solidFill>
            <a:srgbClr val="FFD8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978099" y="4363939"/>
            <a:ext cx="16331851" cy="2690285"/>
          </a:xfrm>
          <a:custGeom>
            <a:avLst/>
            <a:gdLst/>
            <a:ahLst/>
            <a:cxnLst/>
            <a:rect l="l" t="t" r="r" b="b"/>
            <a:pathLst>
              <a:path w="21775801" h="3587046" extrusionOk="0">
                <a:moveTo>
                  <a:pt x="0" y="68193"/>
                </a:moveTo>
                <a:cubicBezTo>
                  <a:pt x="0" y="30511"/>
                  <a:pt x="25400" y="0"/>
                  <a:pt x="56769" y="0"/>
                </a:cubicBezTo>
                <a:lnTo>
                  <a:pt x="21719032" y="0"/>
                </a:lnTo>
                <a:cubicBezTo>
                  <a:pt x="21750401" y="0"/>
                  <a:pt x="21775801" y="30511"/>
                  <a:pt x="21775801" y="68193"/>
                </a:cubicBezTo>
                <a:lnTo>
                  <a:pt x="21775801" y="3518866"/>
                </a:lnTo>
                <a:cubicBezTo>
                  <a:pt x="21775801" y="3556548"/>
                  <a:pt x="21750401" y="3587046"/>
                  <a:pt x="21719032" y="3587046"/>
                </a:cubicBezTo>
                <a:lnTo>
                  <a:pt x="56769" y="3587046"/>
                </a:lnTo>
                <a:cubicBezTo>
                  <a:pt x="25400" y="3587046"/>
                  <a:pt x="0" y="3556548"/>
                  <a:pt x="0" y="3518866"/>
                </a:cubicBezTo>
                <a:close/>
              </a:path>
            </a:pathLst>
          </a:custGeom>
          <a:solidFill>
            <a:srgbClr val="FFD8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7"/>
          <p:cNvGrpSpPr/>
          <p:nvPr/>
        </p:nvGrpSpPr>
        <p:grpSpPr>
          <a:xfrm>
            <a:off x="1261616" y="4426446"/>
            <a:ext cx="15764768" cy="2903861"/>
            <a:chOff x="0" y="-200025"/>
            <a:chExt cx="21019691" cy="3871814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21019691" cy="3671789"/>
            </a:xfrm>
            <a:custGeom>
              <a:avLst/>
              <a:gdLst/>
              <a:ahLst/>
              <a:cxnLst/>
              <a:rect l="l" t="t" r="r" b="b"/>
              <a:pathLst>
                <a:path w="21019691" h="3671789" extrusionOk="0">
                  <a:moveTo>
                    <a:pt x="0" y="0"/>
                  </a:moveTo>
                  <a:lnTo>
                    <a:pt x="21019691" y="0"/>
                  </a:lnTo>
                  <a:lnTo>
                    <a:pt x="21019691" y="3671789"/>
                  </a:lnTo>
                  <a:lnTo>
                    <a:pt x="0" y="36717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0" y="-200025"/>
              <a:ext cx="21019690" cy="38718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87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def send_email(recipient, subject, body)</a:t>
              </a:r>
              <a:endParaRPr/>
            </a:p>
            <a:p>
              <a:pPr marL="0" marR="0" lvl="0" indent="0" algn="l" rtl="0">
                <a:lnSpc>
                  <a:spcPct val="16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87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password = "SuperSecret123"</a:t>
              </a:r>
              <a:endParaRPr/>
            </a:p>
            <a:p>
              <a:pPr marL="0" marR="0" lvl="0" indent="0" algn="l" rtl="0">
                <a:lnSpc>
                  <a:spcPct val="16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87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print("Sending email to", recipient)</a:t>
              </a:r>
              <a:endParaRPr/>
            </a:p>
            <a:p>
              <a:pPr marL="0" marR="0" lvl="0" indent="0" algn="l" rtl="0">
                <a:lnSpc>
                  <a:spcPct val="16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87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8"/>
          <p:cNvGrpSpPr/>
          <p:nvPr/>
        </p:nvGrpSpPr>
        <p:grpSpPr>
          <a:xfrm>
            <a:off x="924669" y="1186457"/>
            <a:ext cx="6605141" cy="839838"/>
            <a:chOff x="0" y="-19050"/>
            <a:chExt cx="8806855" cy="1119783"/>
          </a:xfrm>
        </p:grpSpPr>
        <p:sp>
          <p:nvSpPr>
            <p:cNvPr id="284" name="Google Shape;284;p8"/>
            <p:cNvSpPr/>
            <p:nvPr/>
          </p:nvSpPr>
          <p:spPr>
            <a:xfrm>
              <a:off x="0" y="0"/>
              <a:ext cx="8806855" cy="1100733"/>
            </a:xfrm>
            <a:custGeom>
              <a:avLst/>
              <a:gdLst/>
              <a:ahLst/>
              <a:cxnLst/>
              <a:rect l="l" t="t" r="r" b="b"/>
              <a:pathLst>
                <a:path w="8806855" h="1100733" extrusionOk="0">
                  <a:moveTo>
                    <a:pt x="0" y="0"/>
                  </a:moveTo>
                  <a:lnTo>
                    <a:pt x="8806855" y="0"/>
                  </a:lnTo>
                  <a:lnTo>
                    <a:pt x="8806855" y="1100733"/>
                  </a:lnTo>
                  <a:lnTo>
                    <a:pt x="0" y="1100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8"/>
            <p:cNvSpPr txBox="1"/>
            <p:nvPr/>
          </p:nvSpPr>
          <p:spPr>
            <a:xfrm>
              <a:off x="0" y="-19050"/>
              <a:ext cx="8806855" cy="11197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3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VS Code vs SAST:</a:t>
              </a:r>
              <a:endParaRPr/>
            </a:p>
          </p:txBody>
        </p:sp>
      </p:grpSp>
      <p:grpSp>
        <p:nvGrpSpPr>
          <p:cNvPr id="286" name="Google Shape;286;p8"/>
          <p:cNvGrpSpPr/>
          <p:nvPr/>
        </p:nvGrpSpPr>
        <p:grpSpPr>
          <a:xfrm>
            <a:off x="924669" y="2476054"/>
            <a:ext cx="16438662" cy="606921"/>
            <a:chOff x="0" y="-104775"/>
            <a:chExt cx="21918216" cy="809228"/>
          </a:xfrm>
        </p:grpSpPr>
        <p:sp>
          <p:nvSpPr>
            <p:cNvPr id="287" name="Google Shape;287;p8"/>
            <p:cNvSpPr/>
            <p:nvPr/>
          </p:nvSpPr>
          <p:spPr>
            <a:xfrm>
              <a:off x="0" y="0"/>
              <a:ext cx="21918216" cy="704453"/>
            </a:xfrm>
            <a:custGeom>
              <a:avLst/>
              <a:gdLst/>
              <a:ahLst/>
              <a:cxnLst/>
              <a:rect l="l" t="t" r="r" b="b"/>
              <a:pathLst>
                <a:path w="21918216" h="704453" extrusionOk="0">
                  <a:moveTo>
                    <a:pt x="0" y="0"/>
                  </a:moveTo>
                  <a:lnTo>
                    <a:pt x="21918216" y="0"/>
                  </a:lnTo>
                  <a:lnTo>
                    <a:pt x="21918216" y="704453"/>
                  </a:lnTo>
                  <a:lnTo>
                    <a:pt x="0" y="7044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0" y="-104775"/>
              <a:ext cx="21918215" cy="809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Let's understand the use-case of using SAST when we have an existing tool to highlight our code mistakes.</a:t>
              </a:r>
              <a:endParaRPr/>
            </a:p>
          </p:txBody>
        </p:sp>
      </p:grpSp>
      <p:sp>
        <p:nvSpPr>
          <p:cNvPr id="289" name="Google Shape;289;p8"/>
          <p:cNvSpPr/>
          <p:nvPr/>
        </p:nvSpPr>
        <p:spPr>
          <a:xfrm>
            <a:off x="924669" y="3677394"/>
            <a:ext cx="7897177" cy="2086928"/>
          </a:xfrm>
          <a:custGeom>
            <a:avLst/>
            <a:gdLst/>
            <a:ahLst/>
            <a:cxnLst/>
            <a:rect l="l" t="t" r="r" b="b"/>
            <a:pathLst>
              <a:path w="10529570" h="2782570" extrusionOk="0">
                <a:moveTo>
                  <a:pt x="0" y="147955"/>
                </a:moveTo>
                <a:cubicBezTo>
                  <a:pt x="0" y="66294"/>
                  <a:pt x="66294" y="0"/>
                  <a:pt x="147955" y="0"/>
                </a:cubicBezTo>
                <a:lnTo>
                  <a:pt x="10381615" y="0"/>
                </a:lnTo>
                <a:cubicBezTo>
                  <a:pt x="10463276" y="0"/>
                  <a:pt x="10529570" y="66294"/>
                  <a:pt x="10529570" y="147955"/>
                </a:cubicBezTo>
                <a:lnTo>
                  <a:pt x="10529570" y="2634615"/>
                </a:lnTo>
                <a:cubicBezTo>
                  <a:pt x="10529570" y="2716276"/>
                  <a:pt x="10463276" y="2782570"/>
                  <a:pt x="10381615" y="2782570"/>
                </a:cubicBezTo>
                <a:lnTo>
                  <a:pt x="147955" y="2782570"/>
                </a:lnTo>
                <a:cubicBezTo>
                  <a:pt x="66294" y="2782443"/>
                  <a:pt x="0" y="2716276"/>
                  <a:pt x="0" y="2634488"/>
                </a:cubicBezTo>
                <a:close/>
              </a:path>
            </a:pathLst>
          </a:custGeom>
          <a:solidFill>
            <a:srgbClr val="FFD8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911573" y="3677394"/>
            <a:ext cx="7923276" cy="2242008"/>
          </a:xfrm>
          <a:custGeom>
            <a:avLst/>
            <a:gdLst/>
            <a:ahLst/>
            <a:cxnLst/>
            <a:rect l="l" t="t" r="r" b="b"/>
            <a:pathLst>
              <a:path w="10564368" h="2989344" extrusionOk="0">
                <a:moveTo>
                  <a:pt x="0" y="56761"/>
                </a:moveTo>
                <a:cubicBezTo>
                  <a:pt x="0" y="25379"/>
                  <a:pt x="23622" y="0"/>
                  <a:pt x="52832" y="0"/>
                </a:cubicBezTo>
                <a:lnTo>
                  <a:pt x="10511536" y="0"/>
                </a:lnTo>
                <a:cubicBezTo>
                  <a:pt x="10540746" y="0"/>
                  <a:pt x="10564368" y="25379"/>
                  <a:pt x="10564368" y="56761"/>
                </a:cubicBezTo>
                <a:lnTo>
                  <a:pt x="10564368" y="2932584"/>
                </a:lnTo>
                <a:cubicBezTo>
                  <a:pt x="10564368" y="2963966"/>
                  <a:pt x="10540746" y="2989344"/>
                  <a:pt x="10511536" y="2989344"/>
                </a:cubicBezTo>
                <a:lnTo>
                  <a:pt x="52832" y="2989344"/>
                </a:lnTo>
                <a:cubicBezTo>
                  <a:pt x="23622" y="2989344"/>
                  <a:pt x="0" y="2963966"/>
                  <a:pt x="0" y="2932584"/>
                </a:cubicBezTo>
                <a:close/>
              </a:path>
            </a:pathLst>
          </a:custGeom>
          <a:solidFill>
            <a:srgbClr val="FFD8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8"/>
          <p:cNvGrpSpPr/>
          <p:nvPr/>
        </p:nvGrpSpPr>
        <p:grpSpPr>
          <a:xfrm>
            <a:off x="1175742" y="3761185"/>
            <a:ext cx="7394973" cy="2158255"/>
            <a:chOff x="0" y="-152400"/>
            <a:chExt cx="9859963" cy="2877673"/>
          </a:xfrm>
        </p:grpSpPr>
        <p:sp>
          <p:nvSpPr>
            <p:cNvPr id="292" name="Google Shape;292;p8"/>
            <p:cNvSpPr/>
            <p:nvPr/>
          </p:nvSpPr>
          <p:spPr>
            <a:xfrm>
              <a:off x="0" y="0"/>
              <a:ext cx="9859963" cy="2725273"/>
            </a:xfrm>
            <a:custGeom>
              <a:avLst/>
              <a:gdLst/>
              <a:ahLst/>
              <a:cxnLst/>
              <a:rect l="l" t="t" r="r" b="b"/>
              <a:pathLst>
                <a:path w="9859963" h="2725273" extrusionOk="0">
                  <a:moveTo>
                    <a:pt x="0" y="0"/>
                  </a:moveTo>
                  <a:lnTo>
                    <a:pt x="9859963" y="0"/>
                  </a:lnTo>
                  <a:lnTo>
                    <a:pt x="9859963" y="2725273"/>
                  </a:lnTo>
                  <a:lnTo>
                    <a:pt x="0" y="2725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0" y="-152400"/>
              <a:ext cx="9859963" cy="28776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def send_email(recipient, subject, body)</a:t>
              </a:r>
              <a:endParaRPr/>
            </a:p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password = "SuperSecret123"</a:t>
              </a:r>
              <a:endParaRPr/>
            </a:p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print("Sending email to", recipient)</a:t>
              </a:r>
              <a:endParaRPr/>
            </a:p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562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94" name="Google Shape;294;p8"/>
          <p:cNvGrpSpPr/>
          <p:nvPr/>
        </p:nvGrpSpPr>
        <p:grpSpPr>
          <a:xfrm>
            <a:off x="2891730" y="6054328"/>
            <a:ext cx="3962995" cy="502444"/>
            <a:chOff x="0" y="-9525"/>
            <a:chExt cx="5283993" cy="669925"/>
          </a:xfrm>
        </p:grpSpPr>
        <p:sp>
          <p:nvSpPr>
            <p:cNvPr id="295" name="Google Shape;295;p8"/>
            <p:cNvSpPr/>
            <p:nvPr/>
          </p:nvSpPr>
          <p:spPr>
            <a:xfrm>
              <a:off x="0" y="0"/>
              <a:ext cx="5283993" cy="660400"/>
            </a:xfrm>
            <a:custGeom>
              <a:avLst/>
              <a:gdLst/>
              <a:ahLst/>
              <a:cxnLst/>
              <a:rect l="l" t="t" r="r" b="b"/>
              <a:pathLst>
                <a:path w="5283993" h="660400" extrusionOk="0">
                  <a:moveTo>
                    <a:pt x="0" y="0"/>
                  </a:moveTo>
                  <a:lnTo>
                    <a:pt x="5283993" y="0"/>
                  </a:lnTo>
                  <a:lnTo>
                    <a:pt x="5283993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8"/>
            <p:cNvSpPr txBox="1"/>
            <p:nvPr/>
          </p:nvSpPr>
          <p:spPr>
            <a:xfrm>
              <a:off x="0" y="-9525"/>
              <a:ext cx="5283993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65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VS Code</a:t>
              </a:r>
              <a:endParaRPr/>
            </a:p>
          </p:txBody>
        </p:sp>
      </p:grpSp>
      <p:grpSp>
        <p:nvGrpSpPr>
          <p:cNvPr id="297" name="Google Shape;297;p8"/>
          <p:cNvGrpSpPr/>
          <p:nvPr/>
        </p:nvGrpSpPr>
        <p:grpSpPr>
          <a:xfrm>
            <a:off x="924669" y="6756647"/>
            <a:ext cx="7897117" cy="1066101"/>
            <a:chOff x="0" y="-85725"/>
            <a:chExt cx="10529490" cy="1421467"/>
          </a:xfrm>
        </p:grpSpPr>
        <p:sp>
          <p:nvSpPr>
            <p:cNvPr id="298" name="Google Shape;298;p8"/>
            <p:cNvSpPr/>
            <p:nvPr/>
          </p:nvSpPr>
          <p:spPr>
            <a:xfrm>
              <a:off x="0" y="0"/>
              <a:ext cx="10529490" cy="1335742"/>
            </a:xfrm>
            <a:custGeom>
              <a:avLst/>
              <a:gdLst/>
              <a:ahLst/>
              <a:cxnLst/>
              <a:rect l="l" t="t" r="r" b="b"/>
              <a:pathLst>
                <a:path w="10529490" h="1335742" extrusionOk="0">
                  <a:moveTo>
                    <a:pt x="0" y="0"/>
                  </a:moveTo>
                  <a:lnTo>
                    <a:pt x="10529490" y="0"/>
                  </a:lnTo>
                  <a:lnTo>
                    <a:pt x="10529490" y="1335742"/>
                  </a:lnTo>
                  <a:lnTo>
                    <a:pt x="0" y="13357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 txBox="1"/>
            <p:nvPr/>
          </p:nvSpPr>
          <p:spPr>
            <a:xfrm>
              <a:off x="0" y="-85725"/>
              <a:ext cx="10529490" cy="1421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71374" marR="0" lvl="1" indent="-185687" algn="l" rtl="0">
                <a:lnSpc>
                  <a:spcPct val="16060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462"/>
                <a:buFont typeface="Arial"/>
                <a:buChar char="•"/>
              </a:pPr>
              <a:r>
                <a:rPr lang="en-US" sz="246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VS Code shows a red squiggly: </a:t>
              </a:r>
              <a:r>
                <a:rPr lang="en-US" sz="2462" b="0" i="0" u="none" strike="noStrike" cap="none">
                  <a:solidFill>
                    <a:srgbClr val="910D0D"/>
                  </a:solidFill>
                  <a:latin typeface="Open Sans"/>
                  <a:ea typeface="Open Sans"/>
                  <a:cs typeface="Open Sans"/>
                  <a:sym typeface="Open Sans"/>
                </a:rPr>
                <a:t>SyntaxError: expected ':'</a:t>
              </a:r>
              <a:endParaRPr/>
            </a:p>
          </p:txBody>
        </p:sp>
      </p:grpSp>
      <p:grpSp>
        <p:nvGrpSpPr>
          <p:cNvPr id="300" name="Google Shape;300;p8"/>
          <p:cNvGrpSpPr/>
          <p:nvPr/>
        </p:nvGrpSpPr>
        <p:grpSpPr>
          <a:xfrm>
            <a:off x="937766" y="7872854"/>
            <a:ext cx="7897117" cy="1027545"/>
            <a:chOff x="0" y="-85725"/>
            <a:chExt cx="10529490" cy="1370060"/>
          </a:xfrm>
        </p:grpSpPr>
        <p:sp>
          <p:nvSpPr>
            <p:cNvPr id="301" name="Google Shape;301;p8"/>
            <p:cNvSpPr/>
            <p:nvPr/>
          </p:nvSpPr>
          <p:spPr>
            <a:xfrm>
              <a:off x="0" y="0"/>
              <a:ext cx="10529490" cy="1284335"/>
            </a:xfrm>
            <a:custGeom>
              <a:avLst/>
              <a:gdLst/>
              <a:ahLst/>
              <a:cxnLst/>
              <a:rect l="l" t="t" r="r" b="b"/>
              <a:pathLst>
                <a:path w="10529490" h="1284335" extrusionOk="0">
                  <a:moveTo>
                    <a:pt x="0" y="0"/>
                  </a:moveTo>
                  <a:lnTo>
                    <a:pt x="10529490" y="0"/>
                  </a:lnTo>
                  <a:lnTo>
                    <a:pt x="10529490" y="1284335"/>
                  </a:lnTo>
                  <a:lnTo>
                    <a:pt x="0" y="1284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8"/>
            <p:cNvSpPr txBox="1"/>
            <p:nvPr/>
          </p:nvSpPr>
          <p:spPr>
            <a:xfrm>
              <a:off x="0" y="-85725"/>
              <a:ext cx="10529490" cy="1370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56293" marR="0" lvl="1" indent="-178147" algn="l" rtl="0">
                <a:lnSpc>
                  <a:spcPct val="160626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62"/>
                <a:buFont typeface="Arial"/>
                <a:buChar char="•"/>
              </a:pPr>
              <a:r>
                <a:rPr lang="en-US" sz="236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code won’t run due to the missing colon on the def line.</a:t>
              </a:r>
              <a:endParaRPr/>
            </a:p>
          </p:txBody>
        </p:sp>
      </p:grpSp>
      <p:grpSp>
        <p:nvGrpSpPr>
          <p:cNvPr id="303" name="Google Shape;303;p8"/>
          <p:cNvGrpSpPr/>
          <p:nvPr/>
        </p:nvGrpSpPr>
        <p:grpSpPr>
          <a:xfrm>
            <a:off x="1028700" y="8978980"/>
            <a:ext cx="7897117" cy="551295"/>
            <a:chOff x="0" y="-85725"/>
            <a:chExt cx="10529490" cy="735060"/>
          </a:xfrm>
        </p:grpSpPr>
        <p:sp>
          <p:nvSpPr>
            <p:cNvPr id="304" name="Google Shape;304;p8"/>
            <p:cNvSpPr/>
            <p:nvPr/>
          </p:nvSpPr>
          <p:spPr>
            <a:xfrm>
              <a:off x="0" y="0"/>
              <a:ext cx="10529490" cy="649335"/>
            </a:xfrm>
            <a:custGeom>
              <a:avLst/>
              <a:gdLst/>
              <a:ahLst/>
              <a:cxnLst/>
              <a:rect l="l" t="t" r="r" b="b"/>
              <a:pathLst>
                <a:path w="10529490" h="649335" extrusionOk="0">
                  <a:moveTo>
                    <a:pt x="0" y="0"/>
                  </a:moveTo>
                  <a:lnTo>
                    <a:pt x="10529490" y="0"/>
                  </a:lnTo>
                  <a:lnTo>
                    <a:pt x="10529490" y="649335"/>
                  </a:lnTo>
                  <a:lnTo>
                    <a:pt x="0" y="649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 txBox="1"/>
            <p:nvPr/>
          </p:nvSpPr>
          <p:spPr>
            <a:xfrm>
              <a:off x="0" y="-85725"/>
              <a:ext cx="10529490" cy="735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56293" marR="0" lvl="1" indent="-178147" algn="l" rtl="0">
                <a:lnSpc>
                  <a:spcPct val="160626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62"/>
                <a:buFont typeface="Arial"/>
                <a:buChar char="•"/>
              </a:pPr>
              <a:r>
                <a:rPr lang="en-US" sz="236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is a </a:t>
              </a:r>
              <a:r>
                <a:rPr lang="en-US" sz="2362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syntax-level error</a:t>
              </a:r>
              <a:r>
                <a:rPr lang="en-US" sz="236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, caught by the </a:t>
              </a:r>
              <a:r>
                <a:rPr lang="en-US" sz="2362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editor.</a:t>
              </a:r>
              <a:endParaRPr/>
            </a:p>
          </p:txBody>
        </p:sp>
      </p:grpSp>
      <p:sp>
        <p:nvSpPr>
          <p:cNvPr id="306" name="Google Shape;306;p8"/>
          <p:cNvSpPr/>
          <p:nvPr/>
        </p:nvSpPr>
        <p:spPr>
          <a:xfrm>
            <a:off x="9475737" y="3677394"/>
            <a:ext cx="7897177" cy="2086928"/>
          </a:xfrm>
          <a:custGeom>
            <a:avLst/>
            <a:gdLst/>
            <a:ahLst/>
            <a:cxnLst/>
            <a:rect l="l" t="t" r="r" b="b"/>
            <a:pathLst>
              <a:path w="10529570" h="2782570" extrusionOk="0">
                <a:moveTo>
                  <a:pt x="0" y="147955"/>
                </a:moveTo>
                <a:cubicBezTo>
                  <a:pt x="0" y="66294"/>
                  <a:pt x="66294" y="0"/>
                  <a:pt x="147955" y="0"/>
                </a:cubicBezTo>
                <a:lnTo>
                  <a:pt x="10381615" y="0"/>
                </a:lnTo>
                <a:cubicBezTo>
                  <a:pt x="10463276" y="0"/>
                  <a:pt x="10529570" y="66294"/>
                  <a:pt x="10529570" y="147955"/>
                </a:cubicBezTo>
                <a:lnTo>
                  <a:pt x="10529570" y="2634615"/>
                </a:lnTo>
                <a:cubicBezTo>
                  <a:pt x="10529570" y="2716276"/>
                  <a:pt x="10463276" y="2782570"/>
                  <a:pt x="10381615" y="2782570"/>
                </a:cubicBezTo>
                <a:lnTo>
                  <a:pt x="147955" y="2782570"/>
                </a:lnTo>
                <a:cubicBezTo>
                  <a:pt x="66294" y="2782443"/>
                  <a:pt x="0" y="2716276"/>
                  <a:pt x="0" y="2634488"/>
                </a:cubicBezTo>
                <a:close/>
              </a:path>
            </a:pathLst>
          </a:custGeom>
          <a:solidFill>
            <a:srgbClr val="FFD8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9462641" y="3677394"/>
            <a:ext cx="7923276" cy="2086833"/>
          </a:xfrm>
          <a:custGeom>
            <a:avLst/>
            <a:gdLst/>
            <a:ahLst/>
            <a:cxnLst/>
            <a:rect l="l" t="t" r="r" b="b"/>
            <a:pathLst>
              <a:path w="10564368" h="2782443" extrusionOk="0">
                <a:moveTo>
                  <a:pt x="0" y="52832"/>
                </a:moveTo>
                <a:cubicBezTo>
                  <a:pt x="0" y="23622"/>
                  <a:pt x="23622" y="0"/>
                  <a:pt x="52832" y="0"/>
                </a:cubicBezTo>
                <a:lnTo>
                  <a:pt x="10511536" y="0"/>
                </a:lnTo>
                <a:cubicBezTo>
                  <a:pt x="10540746" y="0"/>
                  <a:pt x="10564368" y="23622"/>
                  <a:pt x="10564368" y="52832"/>
                </a:cubicBezTo>
                <a:lnTo>
                  <a:pt x="10564368" y="2729611"/>
                </a:lnTo>
                <a:cubicBezTo>
                  <a:pt x="10564368" y="2758821"/>
                  <a:pt x="10540746" y="2782443"/>
                  <a:pt x="10511536" y="2782443"/>
                </a:cubicBezTo>
                <a:lnTo>
                  <a:pt x="52832" y="2782443"/>
                </a:lnTo>
                <a:cubicBezTo>
                  <a:pt x="23622" y="2782443"/>
                  <a:pt x="0" y="2758821"/>
                  <a:pt x="0" y="2729611"/>
                </a:cubicBezTo>
                <a:close/>
              </a:path>
            </a:pathLst>
          </a:custGeom>
          <a:solidFill>
            <a:srgbClr val="FFD8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8"/>
          <p:cNvGrpSpPr/>
          <p:nvPr/>
        </p:nvGrpSpPr>
        <p:grpSpPr>
          <a:xfrm>
            <a:off x="9726811" y="3761185"/>
            <a:ext cx="7394973" cy="2158255"/>
            <a:chOff x="0" y="-152400"/>
            <a:chExt cx="9859963" cy="2877673"/>
          </a:xfrm>
        </p:grpSpPr>
        <p:sp>
          <p:nvSpPr>
            <p:cNvPr id="309" name="Google Shape;309;p8"/>
            <p:cNvSpPr/>
            <p:nvPr/>
          </p:nvSpPr>
          <p:spPr>
            <a:xfrm>
              <a:off x="0" y="0"/>
              <a:ext cx="9859963" cy="2725273"/>
            </a:xfrm>
            <a:custGeom>
              <a:avLst/>
              <a:gdLst/>
              <a:ahLst/>
              <a:cxnLst/>
              <a:rect l="l" t="t" r="r" b="b"/>
              <a:pathLst>
                <a:path w="9859963" h="2725273" extrusionOk="0">
                  <a:moveTo>
                    <a:pt x="0" y="0"/>
                  </a:moveTo>
                  <a:lnTo>
                    <a:pt x="9859963" y="0"/>
                  </a:lnTo>
                  <a:lnTo>
                    <a:pt x="9859963" y="2725273"/>
                  </a:lnTo>
                  <a:lnTo>
                    <a:pt x="0" y="2725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 txBox="1"/>
            <p:nvPr/>
          </p:nvSpPr>
          <p:spPr>
            <a:xfrm>
              <a:off x="0" y="-152400"/>
              <a:ext cx="9859963" cy="28776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def send_email(recipient, subject, body):</a:t>
              </a:r>
              <a:endParaRPr/>
            </a:p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password = "SuperSecret123"</a:t>
              </a:r>
              <a:endParaRPr/>
            </a:p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print("Sending email to", recipient)</a:t>
              </a:r>
              <a:endParaRPr/>
            </a:p>
            <a:p>
              <a:pPr marL="0" marR="0" lvl="0" indent="0" algn="l" rtl="0">
                <a:lnSpc>
                  <a:spcPct val="1606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562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11442799" y="6054328"/>
            <a:ext cx="3962995" cy="502444"/>
            <a:chOff x="0" y="-9525"/>
            <a:chExt cx="5283993" cy="669925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5283993" cy="660400"/>
            </a:xfrm>
            <a:custGeom>
              <a:avLst/>
              <a:gdLst/>
              <a:ahLst/>
              <a:cxnLst/>
              <a:rect l="l" t="t" r="r" b="b"/>
              <a:pathLst>
                <a:path w="5283993" h="660400" extrusionOk="0">
                  <a:moveTo>
                    <a:pt x="0" y="0"/>
                  </a:moveTo>
                  <a:lnTo>
                    <a:pt x="5283993" y="0"/>
                  </a:lnTo>
                  <a:lnTo>
                    <a:pt x="5283993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 txBox="1"/>
            <p:nvPr/>
          </p:nvSpPr>
          <p:spPr>
            <a:xfrm>
              <a:off x="0" y="-9525"/>
              <a:ext cx="5283993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65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SonarQube</a:t>
              </a:r>
              <a:endParaRPr/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9475737" y="6756647"/>
            <a:ext cx="7897117" cy="1662126"/>
            <a:chOff x="0" y="-85725"/>
            <a:chExt cx="10529490" cy="2216168"/>
          </a:xfrm>
        </p:grpSpPr>
        <p:sp>
          <p:nvSpPr>
            <p:cNvPr id="315" name="Google Shape;315;p8"/>
            <p:cNvSpPr/>
            <p:nvPr/>
          </p:nvSpPr>
          <p:spPr>
            <a:xfrm>
              <a:off x="0" y="0"/>
              <a:ext cx="10529490" cy="2130443"/>
            </a:xfrm>
            <a:custGeom>
              <a:avLst/>
              <a:gdLst/>
              <a:ahLst/>
              <a:cxnLst/>
              <a:rect l="l" t="t" r="r" b="b"/>
              <a:pathLst>
                <a:path w="10529490" h="2130443" extrusionOk="0">
                  <a:moveTo>
                    <a:pt x="0" y="0"/>
                  </a:moveTo>
                  <a:lnTo>
                    <a:pt x="10529490" y="0"/>
                  </a:lnTo>
                  <a:lnTo>
                    <a:pt x="10529490" y="2130443"/>
                  </a:lnTo>
                  <a:lnTo>
                    <a:pt x="0" y="21304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 txBox="1"/>
            <p:nvPr/>
          </p:nvSpPr>
          <p:spPr>
            <a:xfrm>
              <a:off x="0" y="-85725"/>
              <a:ext cx="10529490" cy="2216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56293" marR="0" lvl="1" indent="-178147" algn="l" rtl="0">
                <a:lnSpc>
                  <a:spcPct val="160626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62"/>
                <a:buFont typeface="Arial"/>
                <a:buChar char="•"/>
              </a:pPr>
              <a:r>
                <a:rPr lang="en-US" sz="236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updated code will run successfully in the VS Code without any errors, but SonarQube will catch an error here…. Why ?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9"/>
          <p:cNvGrpSpPr/>
          <p:nvPr/>
        </p:nvGrpSpPr>
        <p:grpSpPr>
          <a:xfrm>
            <a:off x="1001762" y="3329826"/>
            <a:ext cx="8151762" cy="1103169"/>
            <a:chOff x="0" y="-28575"/>
            <a:chExt cx="10869017" cy="1470893"/>
          </a:xfrm>
        </p:grpSpPr>
        <p:sp>
          <p:nvSpPr>
            <p:cNvPr id="328" name="Google Shape;328;p9"/>
            <p:cNvSpPr/>
            <p:nvPr/>
          </p:nvSpPr>
          <p:spPr>
            <a:xfrm>
              <a:off x="0" y="0"/>
              <a:ext cx="10869017" cy="1442318"/>
            </a:xfrm>
            <a:custGeom>
              <a:avLst/>
              <a:gdLst/>
              <a:ahLst/>
              <a:cxnLst/>
              <a:rect l="l" t="t" r="r" b="b"/>
              <a:pathLst>
                <a:path w="10869017" h="1442318" extrusionOk="0">
                  <a:moveTo>
                    <a:pt x="0" y="0"/>
                  </a:moveTo>
                  <a:lnTo>
                    <a:pt x="10869017" y="0"/>
                  </a:lnTo>
                  <a:lnTo>
                    <a:pt x="10869017" y="1442318"/>
                  </a:lnTo>
                  <a:lnTo>
                    <a:pt x="0" y="1442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9"/>
            <p:cNvSpPr txBox="1"/>
            <p:nvPr/>
          </p:nvSpPr>
          <p:spPr>
            <a:xfrm>
              <a:off x="0" y="-28575"/>
              <a:ext cx="10869017" cy="1470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Summary</a:t>
              </a:r>
              <a:endParaRPr/>
            </a:p>
          </p:txBody>
        </p:sp>
      </p:grpSp>
      <p:sp>
        <p:nvSpPr>
          <p:cNvPr id="330" name="Google Shape;330;p9"/>
          <p:cNvSpPr/>
          <p:nvPr/>
        </p:nvSpPr>
        <p:spPr>
          <a:xfrm>
            <a:off x="987475" y="4909245"/>
            <a:ext cx="16313086" cy="2771775"/>
          </a:xfrm>
          <a:custGeom>
            <a:avLst/>
            <a:gdLst/>
            <a:ahLst/>
            <a:cxnLst/>
            <a:rect l="l" t="t" r="r" b="b"/>
            <a:pathLst>
              <a:path w="21750782" h="3695700" extrusionOk="0">
                <a:moveTo>
                  <a:pt x="0" y="165100"/>
                </a:moveTo>
                <a:cubicBezTo>
                  <a:pt x="0" y="73914"/>
                  <a:pt x="74168" y="0"/>
                  <a:pt x="165608" y="0"/>
                </a:cubicBezTo>
                <a:lnTo>
                  <a:pt x="21585174" y="0"/>
                </a:lnTo>
                <a:lnTo>
                  <a:pt x="21585174" y="6350"/>
                </a:lnTo>
                <a:lnTo>
                  <a:pt x="21585174" y="0"/>
                </a:lnTo>
                <a:cubicBezTo>
                  <a:pt x="21676613" y="0"/>
                  <a:pt x="21750782" y="73914"/>
                  <a:pt x="21750782" y="165100"/>
                </a:cubicBezTo>
                <a:lnTo>
                  <a:pt x="21744432" y="165100"/>
                </a:lnTo>
                <a:lnTo>
                  <a:pt x="21750782" y="165100"/>
                </a:lnTo>
                <a:lnTo>
                  <a:pt x="21750782" y="3530600"/>
                </a:lnTo>
                <a:lnTo>
                  <a:pt x="21744432" y="3530600"/>
                </a:lnTo>
                <a:lnTo>
                  <a:pt x="21750782" y="3530600"/>
                </a:lnTo>
                <a:cubicBezTo>
                  <a:pt x="21750782" y="3621786"/>
                  <a:pt x="21676613" y="3695700"/>
                  <a:pt x="21585174" y="3695700"/>
                </a:cubicBezTo>
                <a:lnTo>
                  <a:pt x="21585174" y="3689350"/>
                </a:lnTo>
                <a:lnTo>
                  <a:pt x="21585174" y="3695700"/>
                </a:lnTo>
                <a:lnTo>
                  <a:pt x="165608" y="3695700"/>
                </a:lnTo>
                <a:lnTo>
                  <a:pt x="165608" y="3689350"/>
                </a:lnTo>
                <a:lnTo>
                  <a:pt x="165608" y="3695700"/>
                </a:lnTo>
                <a:cubicBezTo>
                  <a:pt x="74168" y="3695700"/>
                  <a:pt x="0" y="3621786"/>
                  <a:pt x="0" y="3530600"/>
                </a:cubicBezTo>
                <a:lnTo>
                  <a:pt x="0" y="165100"/>
                </a:lnTo>
                <a:lnTo>
                  <a:pt x="6350" y="165100"/>
                </a:lnTo>
                <a:lnTo>
                  <a:pt x="0" y="165100"/>
                </a:lnTo>
                <a:moveTo>
                  <a:pt x="12700" y="165100"/>
                </a:moveTo>
                <a:lnTo>
                  <a:pt x="12700" y="3530600"/>
                </a:lnTo>
                <a:lnTo>
                  <a:pt x="6350" y="3530600"/>
                </a:lnTo>
                <a:lnTo>
                  <a:pt x="12700" y="3530600"/>
                </a:lnTo>
                <a:cubicBezTo>
                  <a:pt x="12700" y="3614801"/>
                  <a:pt x="81153" y="3683000"/>
                  <a:pt x="165608" y="3683000"/>
                </a:cubicBezTo>
                <a:lnTo>
                  <a:pt x="21585174" y="3683000"/>
                </a:lnTo>
                <a:cubicBezTo>
                  <a:pt x="21669629" y="3683000"/>
                  <a:pt x="21738082" y="3614801"/>
                  <a:pt x="21738082" y="3530600"/>
                </a:cubicBezTo>
                <a:lnTo>
                  <a:pt x="21738082" y="165100"/>
                </a:lnTo>
                <a:cubicBezTo>
                  <a:pt x="21738082" y="80899"/>
                  <a:pt x="21669629" y="12700"/>
                  <a:pt x="21585174" y="12700"/>
                </a:cubicBezTo>
                <a:lnTo>
                  <a:pt x="165608" y="12700"/>
                </a:lnTo>
                <a:lnTo>
                  <a:pt x="165608" y="6350"/>
                </a:lnTo>
                <a:lnTo>
                  <a:pt x="165608" y="12700"/>
                </a:lnTo>
                <a:cubicBezTo>
                  <a:pt x="81153" y="12700"/>
                  <a:pt x="12700" y="80899"/>
                  <a:pt x="12700" y="165100"/>
                </a:cubicBez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001762" y="4923532"/>
            <a:ext cx="16284511" cy="890873"/>
          </a:xfrm>
          <a:custGeom>
            <a:avLst/>
            <a:gdLst/>
            <a:ahLst/>
            <a:cxnLst/>
            <a:rect l="l" t="t" r="r" b="b"/>
            <a:pathLst>
              <a:path w="21712682" h="1187831" extrusionOk="0">
                <a:moveTo>
                  <a:pt x="0" y="0"/>
                </a:moveTo>
                <a:lnTo>
                  <a:pt x="21712682" y="0"/>
                </a:lnTo>
                <a:lnTo>
                  <a:pt x="21712682" y="1187831"/>
                </a:lnTo>
                <a:lnTo>
                  <a:pt x="0" y="118783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" name="Google Shape;332;p9"/>
          <p:cNvGrpSpPr/>
          <p:nvPr/>
        </p:nvGrpSpPr>
        <p:grpSpPr>
          <a:xfrm>
            <a:off x="1285578" y="5096023"/>
            <a:ext cx="2886968" cy="538758"/>
            <a:chOff x="0" y="-9525"/>
            <a:chExt cx="3849290" cy="718343"/>
          </a:xfrm>
        </p:grpSpPr>
        <p:sp>
          <p:nvSpPr>
            <p:cNvPr id="333" name="Google Shape;333;p9"/>
            <p:cNvSpPr/>
            <p:nvPr/>
          </p:nvSpPr>
          <p:spPr>
            <a:xfrm>
              <a:off x="0" y="0"/>
              <a:ext cx="3849290" cy="708818"/>
            </a:xfrm>
            <a:custGeom>
              <a:avLst/>
              <a:gdLst/>
              <a:ahLst/>
              <a:cxnLst/>
              <a:rect l="l" t="t" r="r" b="b"/>
              <a:pathLst>
                <a:path w="3849290" h="708818" extrusionOk="0">
                  <a:moveTo>
                    <a:pt x="0" y="0"/>
                  </a:moveTo>
                  <a:lnTo>
                    <a:pt x="3849290" y="0"/>
                  </a:lnTo>
                  <a:lnTo>
                    <a:pt x="384929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0" y="-9525"/>
              <a:ext cx="3849290" cy="718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Tool</a:t>
              </a:r>
              <a:endParaRPr/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5540723" y="5096023"/>
            <a:ext cx="4252912" cy="538758"/>
            <a:chOff x="0" y="-9525"/>
            <a:chExt cx="5670550" cy="718343"/>
          </a:xfrm>
        </p:grpSpPr>
        <p:sp>
          <p:nvSpPr>
            <p:cNvPr id="336" name="Google Shape;336;p9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 extrusionOk="0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0" y="-9525"/>
              <a:ext cx="5670550" cy="718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What it detects</a:t>
              </a:r>
              <a:endParaRPr/>
            </a:p>
          </p:txBody>
        </p:sp>
      </p:grpSp>
      <p:grpSp>
        <p:nvGrpSpPr>
          <p:cNvPr id="338" name="Google Shape;338;p9"/>
          <p:cNvGrpSpPr/>
          <p:nvPr/>
        </p:nvGrpSpPr>
        <p:grpSpPr>
          <a:xfrm>
            <a:off x="11955810" y="5096023"/>
            <a:ext cx="4252912" cy="538758"/>
            <a:chOff x="0" y="-9525"/>
            <a:chExt cx="5670550" cy="718343"/>
          </a:xfrm>
        </p:grpSpPr>
        <p:sp>
          <p:nvSpPr>
            <p:cNvPr id="339" name="Google Shape;339;p9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 extrusionOk="0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9"/>
            <p:cNvSpPr txBox="1"/>
            <p:nvPr/>
          </p:nvSpPr>
          <p:spPr>
            <a:xfrm>
              <a:off x="0" y="-9525"/>
              <a:ext cx="5670550" cy="718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Code Outcome</a:t>
              </a:r>
              <a:endParaRPr/>
            </a:p>
          </p:txBody>
        </p:sp>
      </p:grpSp>
      <p:sp>
        <p:nvSpPr>
          <p:cNvPr id="341" name="Google Shape;341;p9"/>
          <p:cNvSpPr/>
          <p:nvPr/>
        </p:nvSpPr>
        <p:spPr>
          <a:xfrm>
            <a:off x="1001762" y="5814418"/>
            <a:ext cx="16284511" cy="926115"/>
          </a:xfrm>
          <a:custGeom>
            <a:avLst/>
            <a:gdLst/>
            <a:ahLst/>
            <a:cxnLst/>
            <a:rect l="l" t="t" r="r" b="b"/>
            <a:pathLst>
              <a:path w="21712682" h="1234821" extrusionOk="0">
                <a:moveTo>
                  <a:pt x="0" y="0"/>
                </a:moveTo>
                <a:lnTo>
                  <a:pt x="21712682" y="0"/>
                </a:lnTo>
                <a:lnTo>
                  <a:pt x="21712682" y="1234821"/>
                </a:lnTo>
                <a:lnTo>
                  <a:pt x="0" y="12348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9"/>
          <p:cNvGrpSpPr/>
          <p:nvPr/>
        </p:nvGrpSpPr>
        <p:grpSpPr>
          <a:xfrm>
            <a:off x="1285578" y="5901183"/>
            <a:ext cx="2886968" cy="722940"/>
            <a:chOff x="0" y="-123825"/>
            <a:chExt cx="3849290" cy="963919"/>
          </a:xfrm>
        </p:grpSpPr>
        <p:sp>
          <p:nvSpPr>
            <p:cNvPr id="343" name="Google Shape;343;p9"/>
            <p:cNvSpPr/>
            <p:nvPr/>
          </p:nvSpPr>
          <p:spPr>
            <a:xfrm>
              <a:off x="0" y="0"/>
              <a:ext cx="3849290" cy="840094"/>
            </a:xfrm>
            <a:custGeom>
              <a:avLst/>
              <a:gdLst/>
              <a:ahLst/>
              <a:cxnLst/>
              <a:rect l="l" t="t" r="r" b="b"/>
              <a:pathLst>
                <a:path w="3849290" h="840094" extrusionOk="0">
                  <a:moveTo>
                    <a:pt x="0" y="0"/>
                  </a:moveTo>
                  <a:lnTo>
                    <a:pt x="3849290" y="0"/>
                  </a:lnTo>
                  <a:lnTo>
                    <a:pt x="3849290" y="840094"/>
                  </a:lnTo>
                  <a:lnTo>
                    <a:pt x="0" y="840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9"/>
            <p:cNvSpPr txBox="1"/>
            <p:nvPr/>
          </p:nvSpPr>
          <p:spPr>
            <a:xfrm>
              <a:off x="0" y="-123825"/>
              <a:ext cx="3849290" cy="96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VS code</a:t>
              </a:r>
              <a:endParaRPr/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4749105" y="5915471"/>
            <a:ext cx="5836146" cy="597140"/>
            <a:chOff x="0" y="-104775"/>
            <a:chExt cx="7781528" cy="796187"/>
          </a:xfrm>
        </p:grpSpPr>
        <p:sp>
          <p:nvSpPr>
            <p:cNvPr id="346" name="Google Shape;346;p9"/>
            <p:cNvSpPr/>
            <p:nvPr/>
          </p:nvSpPr>
          <p:spPr>
            <a:xfrm>
              <a:off x="0" y="0"/>
              <a:ext cx="7781528" cy="691412"/>
            </a:xfrm>
            <a:custGeom>
              <a:avLst/>
              <a:gdLst/>
              <a:ahLst/>
              <a:cxnLst/>
              <a:rect l="l" t="t" r="r" b="b"/>
              <a:pathLst>
                <a:path w="7781528" h="691412" extrusionOk="0">
                  <a:moveTo>
                    <a:pt x="0" y="0"/>
                  </a:moveTo>
                  <a:lnTo>
                    <a:pt x="7781528" y="0"/>
                  </a:lnTo>
                  <a:lnTo>
                    <a:pt x="778152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9"/>
            <p:cNvSpPr txBox="1"/>
            <p:nvPr/>
          </p:nvSpPr>
          <p:spPr>
            <a:xfrm>
              <a:off x="0" y="-104775"/>
              <a:ext cx="7781528" cy="796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Syntax errors (like missing :)</a:t>
              </a:r>
              <a:endParaRPr/>
            </a:p>
          </p:txBody>
        </p:sp>
      </p:grpSp>
      <p:grpSp>
        <p:nvGrpSpPr>
          <p:cNvPr id="348" name="Google Shape;348;p9"/>
          <p:cNvGrpSpPr/>
          <p:nvPr/>
        </p:nvGrpSpPr>
        <p:grpSpPr>
          <a:xfrm>
            <a:off x="11161811" y="5915471"/>
            <a:ext cx="5840909" cy="597140"/>
            <a:chOff x="0" y="-104775"/>
            <a:chExt cx="7787878" cy="796187"/>
          </a:xfrm>
        </p:grpSpPr>
        <p:sp>
          <p:nvSpPr>
            <p:cNvPr id="349" name="Google Shape;349;p9"/>
            <p:cNvSpPr/>
            <p:nvPr/>
          </p:nvSpPr>
          <p:spPr>
            <a:xfrm>
              <a:off x="0" y="0"/>
              <a:ext cx="7787878" cy="691412"/>
            </a:xfrm>
            <a:custGeom>
              <a:avLst/>
              <a:gdLst/>
              <a:ahLst/>
              <a:cxnLst/>
              <a:rect l="l" t="t" r="r" b="b"/>
              <a:pathLst>
                <a:path w="7787878" h="691412" extrusionOk="0">
                  <a:moveTo>
                    <a:pt x="0" y="0"/>
                  </a:moveTo>
                  <a:lnTo>
                    <a:pt x="7787878" y="0"/>
                  </a:lnTo>
                  <a:lnTo>
                    <a:pt x="778787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9"/>
            <p:cNvSpPr txBox="1"/>
            <p:nvPr/>
          </p:nvSpPr>
          <p:spPr>
            <a:xfrm>
              <a:off x="0" y="-104775"/>
              <a:ext cx="7787878" cy="796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Code won’t run</a:t>
              </a:r>
              <a:endParaRPr/>
            </a:p>
          </p:txBody>
        </p:sp>
      </p:grpSp>
      <p:sp>
        <p:nvSpPr>
          <p:cNvPr id="351" name="Google Shape;351;p9"/>
          <p:cNvSpPr/>
          <p:nvPr/>
        </p:nvSpPr>
        <p:spPr>
          <a:xfrm>
            <a:off x="1001762" y="6740575"/>
            <a:ext cx="16284511" cy="926115"/>
          </a:xfrm>
          <a:custGeom>
            <a:avLst/>
            <a:gdLst/>
            <a:ahLst/>
            <a:cxnLst/>
            <a:rect l="l" t="t" r="r" b="b"/>
            <a:pathLst>
              <a:path w="21712682" h="1234821" extrusionOk="0">
                <a:moveTo>
                  <a:pt x="0" y="0"/>
                </a:moveTo>
                <a:lnTo>
                  <a:pt x="21712682" y="0"/>
                </a:lnTo>
                <a:lnTo>
                  <a:pt x="21712682" y="1234821"/>
                </a:lnTo>
                <a:lnTo>
                  <a:pt x="0" y="123482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9"/>
          <p:cNvGrpSpPr/>
          <p:nvPr/>
        </p:nvGrpSpPr>
        <p:grpSpPr>
          <a:xfrm>
            <a:off x="1285578" y="6827341"/>
            <a:ext cx="2886968" cy="722940"/>
            <a:chOff x="0" y="-123825"/>
            <a:chExt cx="3849290" cy="963919"/>
          </a:xfrm>
        </p:grpSpPr>
        <p:sp>
          <p:nvSpPr>
            <p:cNvPr id="353" name="Google Shape;353;p9"/>
            <p:cNvSpPr/>
            <p:nvPr/>
          </p:nvSpPr>
          <p:spPr>
            <a:xfrm>
              <a:off x="0" y="0"/>
              <a:ext cx="3849290" cy="840094"/>
            </a:xfrm>
            <a:custGeom>
              <a:avLst/>
              <a:gdLst/>
              <a:ahLst/>
              <a:cxnLst/>
              <a:rect l="l" t="t" r="r" b="b"/>
              <a:pathLst>
                <a:path w="3849290" h="840094" extrusionOk="0">
                  <a:moveTo>
                    <a:pt x="0" y="0"/>
                  </a:moveTo>
                  <a:lnTo>
                    <a:pt x="3849290" y="0"/>
                  </a:lnTo>
                  <a:lnTo>
                    <a:pt x="3849290" y="840094"/>
                  </a:lnTo>
                  <a:lnTo>
                    <a:pt x="0" y="840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9"/>
            <p:cNvSpPr txBox="1"/>
            <p:nvPr/>
          </p:nvSpPr>
          <p:spPr>
            <a:xfrm>
              <a:off x="0" y="-123825"/>
              <a:ext cx="3849290" cy="96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SonarQube</a:t>
              </a:r>
              <a:endParaRPr/>
            </a:p>
          </p:txBody>
        </p:sp>
      </p:grpSp>
      <p:grpSp>
        <p:nvGrpSpPr>
          <p:cNvPr id="355" name="Google Shape;355;p9"/>
          <p:cNvGrpSpPr/>
          <p:nvPr/>
        </p:nvGrpSpPr>
        <p:grpSpPr>
          <a:xfrm>
            <a:off x="4749105" y="6841629"/>
            <a:ext cx="5836146" cy="597140"/>
            <a:chOff x="0" y="-104775"/>
            <a:chExt cx="7781528" cy="796187"/>
          </a:xfrm>
        </p:grpSpPr>
        <p:sp>
          <p:nvSpPr>
            <p:cNvPr id="356" name="Google Shape;356;p9"/>
            <p:cNvSpPr/>
            <p:nvPr/>
          </p:nvSpPr>
          <p:spPr>
            <a:xfrm>
              <a:off x="0" y="0"/>
              <a:ext cx="7781528" cy="691412"/>
            </a:xfrm>
            <a:custGeom>
              <a:avLst/>
              <a:gdLst/>
              <a:ahLst/>
              <a:cxnLst/>
              <a:rect l="l" t="t" r="r" b="b"/>
              <a:pathLst>
                <a:path w="7781528" h="691412" extrusionOk="0">
                  <a:moveTo>
                    <a:pt x="0" y="0"/>
                  </a:moveTo>
                  <a:lnTo>
                    <a:pt x="7781528" y="0"/>
                  </a:lnTo>
                  <a:lnTo>
                    <a:pt x="778152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9"/>
            <p:cNvSpPr txBox="1"/>
            <p:nvPr/>
          </p:nvSpPr>
          <p:spPr>
            <a:xfrm>
              <a:off x="0" y="-104775"/>
              <a:ext cx="7781528" cy="796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Hardcoded secrets, insecure patterns</a:t>
              </a:r>
              <a:endParaRPr/>
            </a:p>
          </p:txBody>
        </p:sp>
      </p:grpSp>
      <p:grpSp>
        <p:nvGrpSpPr>
          <p:cNvPr id="358" name="Google Shape;358;p9"/>
          <p:cNvGrpSpPr/>
          <p:nvPr/>
        </p:nvGrpSpPr>
        <p:grpSpPr>
          <a:xfrm>
            <a:off x="11161811" y="6841629"/>
            <a:ext cx="5840909" cy="597140"/>
            <a:chOff x="0" y="-104775"/>
            <a:chExt cx="7787878" cy="796187"/>
          </a:xfrm>
        </p:grpSpPr>
        <p:sp>
          <p:nvSpPr>
            <p:cNvPr id="359" name="Google Shape;359;p9"/>
            <p:cNvSpPr/>
            <p:nvPr/>
          </p:nvSpPr>
          <p:spPr>
            <a:xfrm>
              <a:off x="0" y="0"/>
              <a:ext cx="7787878" cy="691412"/>
            </a:xfrm>
            <a:custGeom>
              <a:avLst/>
              <a:gdLst/>
              <a:ahLst/>
              <a:cxnLst/>
              <a:rect l="l" t="t" r="r" b="b"/>
              <a:pathLst>
                <a:path w="7787878" h="691412" extrusionOk="0">
                  <a:moveTo>
                    <a:pt x="0" y="0"/>
                  </a:moveTo>
                  <a:lnTo>
                    <a:pt x="7787878" y="0"/>
                  </a:lnTo>
                  <a:lnTo>
                    <a:pt x="7787878" y="691412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9"/>
            <p:cNvSpPr txBox="1"/>
            <p:nvPr/>
          </p:nvSpPr>
          <p:spPr>
            <a:xfrm>
              <a:off x="0" y="-104775"/>
              <a:ext cx="7787878" cy="796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Code runs fine, but is unsafe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" name="Google Shape;371;p10"/>
          <p:cNvGrpSpPr/>
          <p:nvPr/>
        </p:nvGrpSpPr>
        <p:grpSpPr>
          <a:xfrm>
            <a:off x="807095" y="620912"/>
            <a:ext cx="5765601" cy="893255"/>
            <a:chOff x="0" y="-19050"/>
            <a:chExt cx="7687468" cy="1191006"/>
          </a:xfrm>
        </p:grpSpPr>
        <p:sp>
          <p:nvSpPr>
            <p:cNvPr id="372" name="Google Shape;372;p10"/>
            <p:cNvSpPr/>
            <p:nvPr/>
          </p:nvSpPr>
          <p:spPr>
            <a:xfrm>
              <a:off x="0" y="0"/>
              <a:ext cx="7687468" cy="1171956"/>
            </a:xfrm>
            <a:custGeom>
              <a:avLst/>
              <a:gdLst/>
              <a:ahLst/>
              <a:cxnLst/>
              <a:rect l="l" t="t" r="r" b="b"/>
              <a:pathLst>
                <a:path w="7687468" h="1171956" extrusionOk="0">
                  <a:moveTo>
                    <a:pt x="0" y="0"/>
                  </a:moveTo>
                  <a:lnTo>
                    <a:pt x="7687468" y="0"/>
                  </a:lnTo>
                  <a:lnTo>
                    <a:pt x="7687468" y="1171956"/>
                  </a:lnTo>
                  <a:lnTo>
                    <a:pt x="0" y="11719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0"/>
            <p:cNvSpPr txBox="1"/>
            <p:nvPr/>
          </p:nvSpPr>
          <p:spPr>
            <a:xfrm>
              <a:off x="0" y="-19050"/>
              <a:ext cx="7687468" cy="1191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0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Tool: Fortify</a:t>
              </a:r>
              <a:endParaRPr/>
            </a:p>
          </p:txBody>
        </p:sp>
      </p:grpSp>
      <p:grpSp>
        <p:nvGrpSpPr>
          <p:cNvPr id="374" name="Google Shape;374;p10"/>
          <p:cNvGrpSpPr/>
          <p:nvPr/>
        </p:nvGrpSpPr>
        <p:grpSpPr>
          <a:xfrm>
            <a:off x="807095" y="1738461"/>
            <a:ext cx="16673810" cy="622341"/>
            <a:chOff x="0" y="-104775"/>
            <a:chExt cx="22231747" cy="829788"/>
          </a:xfrm>
        </p:grpSpPr>
        <p:sp>
          <p:nvSpPr>
            <p:cNvPr id="375" name="Google Shape;375;p10"/>
            <p:cNvSpPr/>
            <p:nvPr/>
          </p:nvSpPr>
          <p:spPr>
            <a:xfrm>
              <a:off x="0" y="0"/>
              <a:ext cx="22231747" cy="725013"/>
            </a:xfrm>
            <a:custGeom>
              <a:avLst/>
              <a:gdLst/>
              <a:ahLst/>
              <a:cxnLst/>
              <a:rect l="l" t="t" r="r" b="b"/>
              <a:pathLst>
                <a:path w="22231747" h="725013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725013"/>
                  </a:lnTo>
                  <a:lnTo>
                    <a:pt x="0" y="725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0"/>
            <p:cNvSpPr txBox="1"/>
            <p:nvPr/>
          </p:nvSpPr>
          <p:spPr>
            <a:xfrm>
              <a:off x="0" y="-104775"/>
              <a:ext cx="22231747" cy="8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1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49" i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Enterprise-grade security scanning for compliance and threat mitigation.</a:t>
              </a:r>
              <a:endParaRPr/>
            </a:p>
          </p:txBody>
        </p:sp>
      </p:grpSp>
      <p:grpSp>
        <p:nvGrpSpPr>
          <p:cNvPr id="377" name="Google Shape;377;p10"/>
          <p:cNvGrpSpPr/>
          <p:nvPr/>
        </p:nvGrpSpPr>
        <p:grpSpPr>
          <a:xfrm>
            <a:off x="807095" y="2739422"/>
            <a:ext cx="16673810" cy="1689142"/>
            <a:chOff x="0" y="-104775"/>
            <a:chExt cx="22231747" cy="2252189"/>
          </a:xfrm>
        </p:grpSpPr>
        <p:sp>
          <p:nvSpPr>
            <p:cNvPr id="378" name="Google Shape;378;p10"/>
            <p:cNvSpPr/>
            <p:nvPr/>
          </p:nvSpPr>
          <p:spPr>
            <a:xfrm>
              <a:off x="0" y="0"/>
              <a:ext cx="22231747" cy="2147414"/>
            </a:xfrm>
            <a:custGeom>
              <a:avLst/>
              <a:gdLst/>
              <a:ahLst/>
              <a:cxnLst/>
              <a:rect l="l" t="t" r="r" b="b"/>
              <a:pathLst>
                <a:path w="22231747" h="2147414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2147414"/>
                  </a:lnTo>
                  <a:lnTo>
                    <a:pt x="0" y="2147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0"/>
            <p:cNvSpPr txBox="1"/>
            <p:nvPr/>
          </p:nvSpPr>
          <p:spPr>
            <a:xfrm>
              <a:off x="0" y="-104775"/>
              <a:ext cx="22231747" cy="225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11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49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What is Fortify?</a:t>
              </a:r>
              <a:endParaRPr/>
            </a:p>
            <a:p>
              <a:pPr marL="0" marR="0" lvl="0" indent="0" algn="l" rtl="0">
                <a:lnSpc>
                  <a:spcPct val="1611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Fortify, developed by OpenText (formerly Micro Focus), is a </a:t>
              </a:r>
              <a:r>
                <a:rPr lang="en-US" sz="2649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Static Application Security Testing (SAST)</a:t>
              </a:r>
              <a:r>
                <a:rPr lang="en-US" sz="26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tool widely used by enterprises to:</a:t>
              </a:r>
              <a:endParaRPr/>
            </a:p>
          </p:txBody>
        </p:sp>
      </p:grpSp>
      <p:grpSp>
        <p:nvGrpSpPr>
          <p:cNvPr id="380" name="Google Shape;380;p10"/>
          <p:cNvGrpSpPr/>
          <p:nvPr/>
        </p:nvGrpSpPr>
        <p:grpSpPr>
          <a:xfrm>
            <a:off x="807095" y="4744938"/>
            <a:ext cx="16673810" cy="525513"/>
            <a:chOff x="0" y="-85725"/>
            <a:chExt cx="22231747" cy="700683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22231747" cy="614958"/>
            </a:xfrm>
            <a:custGeom>
              <a:avLst/>
              <a:gdLst/>
              <a:ahLst/>
              <a:cxnLst/>
              <a:rect l="l" t="t" r="r" b="b"/>
              <a:pathLst>
                <a:path w="22231747" h="614958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614958"/>
                  </a:lnTo>
                  <a:lnTo>
                    <a:pt x="0" y="61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0"/>
            <p:cNvSpPr txBox="1"/>
            <p:nvPr/>
          </p:nvSpPr>
          <p:spPr>
            <a:xfrm>
              <a:off x="0" y="-85725"/>
              <a:ext cx="22231747" cy="700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33672" marR="0" lvl="1" indent="-166836" algn="l" rtl="0">
                <a:lnSpc>
                  <a:spcPct val="158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12"/>
                <a:buFont typeface="Arial"/>
                <a:buChar char="•"/>
              </a:pPr>
              <a:r>
                <a:rPr lang="en-US" sz="221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Analyze source code for potential security vulnerabilities.</a:t>
              </a:r>
              <a:endParaRPr/>
            </a:p>
          </p:txBody>
        </p:sp>
      </p:grpSp>
      <p:grpSp>
        <p:nvGrpSpPr>
          <p:cNvPr id="383" name="Google Shape;383;p10"/>
          <p:cNvGrpSpPr/>
          <p:nvPr/>
        </p:nvGrpSpPr>
        <p:grpSpPr>
          <a:xfrm>
            <a:off x="807095" y="5286821"/>
            <a:ext cx="16673810" cy="525513"/>
            <a:chOff x="0" y="-85725"/>
            <a:chExt cx="22231747" cy="700683"/>
          </a:xfrm>
        </p:grpSpPr>
        <p:sp>
          <p:nvSpPr>
            <p:cNvPr id="384" name="Google Shape;384;p10"/>
            <p:cNvSpPr/>
            <p:nvPr/>
          </p:nvSpPr>
          <p:spPr>
            <a:xfrm>
              <a:off x="0" y="0"/>
              <a:ext cx="22231747" cy="614958"/>
            </a:xfrm>
            <a:custGeom>
              <a:avLst/>
              <a:gdLst/>
              <a:ahLst/>
              <a:cxnLst/>
              <a:rect l="l" t="t" r="r" b="b"/>
              <a:pathLst>
                <a:path w="22231747" h="614958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614958"/>
                  </a:lnTo>
                  <a:lnTo>
                    <a:pt x="0" y="61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0"/>
            <p:cNvSpPr txBox="1"/>
            <p:nvPr/>
          </p:nvSpPr>
          <p:spPr>
            <a:xfrm>
              <a:off x="0" y="-85725"/>
              <a:ext cx="22231747" cy="700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33672" marR="0" lvl="1" indent="-166836" algn="l" rtl="0">
                <a:lnSpc>
                  <a:spcPct val="158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12"/>
                <a:buFont typeface="Arial"/>
                <a:buChar char="•"/>
              </a:pPr>
              <a:r>
                <a:rPr lang="en-US" sz="221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Ensure compliance with standards such as OWASP Top 10, CWE, PCI-DSS, and NIST.</a:t>
              </a:r>
              <a:endParaRPr/>
            </a:p>
          </p:txBody>
        </p:sp>
      </p:grpSp>
      <p:grpSp>
        <p:nvGrpSpPr>
          <p:cNvPr id="386" name="Google Shape;386;p10"/>
          <p:cNvGrpSpPr/>
          <p:nvPr/>
        </p:nvGrpSpPr>
        <p:grpSpPr>
          <a:xfrm>
            <a:off x="807095" y="5828705"/>
            <a:ext cx="16673810" cy="525513"/>
            <a:chOff x="0" y="-85725"/>
            <a:chExt cx="22231747" cy="700683"/>
          </a:xfrm>
        </p:grpSpPr>
        <p:sp>
          <p:nvSpPr>
            <p:cNvPr id="387" name="Google Shape;387;p10"/>
            <p:cNvSpPr/>
            <p:nvPr/>
          </p:nvSpPr>
          <p:spPr>
            <a:xfrm>
              <a:off x="0" y="0"/>
              <a:ext cx="22231747" cy="614958"/>
            </a:xfrm>
            <a:custGeom>
              <a:avLst/>
              <a:gdLst/>
              <a:ahLst/>
              <a:cxnLst/>
              <a:rect l="l" t="t" r="r" b="b"/>
              <a:pathLst>
                <a:path w="22231747" h="614958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614958"/>
                  </a:lnTo>
                  <a:lnTo>
                    <a:pt x="0" y="61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0"/>
            <p:cNvSpPr txBox="1"/>
            <p:nvPr/>
          </p:nvSpPr>
          <p:spPr>
            <a:xfrm>
              <a:off x="0" y="-85725"/>
              <a:ext cx="22231747" cy="700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33672" marR="0" lvl="1" indent="-166836" algn="l" rtl="0">
                <a:lnSpc>
                  <a:spcPct val="158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12"/>
                <a:buFont typeface="Arial"/>
                <a:buChar char="•"/>
              </a:pPr>
              <a:r>
                <a:rPr lang="en-US" sz="221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Detect security risks early within the software development lifecycle and CI/CD pipelines.</a:t>
              </a:r>
              <a:endParaRPr/>
            </a:p>
          </p:txBody>
        </p:sp>
      </p:grpSp>
      <p:grpSp>
        <p:nvGrpSpPr>
          <p:cNvPr id="389" name="Google Shape;389;p10"/>
          <p:cNvGrpSpPr/>
          <p:nvPr/>
        </p:nvGrpSpPr>
        <p:grpSpPr>
          <a:xfrm>
            <a:off x="807095" y="7321451"/>
            <a:ext cx="3459361" cy="603567"/>
            <a:chOff x="0" y="-9525"/>
            <a:chExt cx="4612482" cy="804756"/>
          </a:xfrm>
        </p:grpSpPr>
        <p:sp>
          <p:nvSpPr>
            <p:cNvPr id="390" name="Google Shape;390;p10"/>
            <p:cNvSpPr/>
            <p:nvPr/>
          </p:nvSpPr>
          <p:spPr>
            <a:xfrm>
              <a:off x="0" y="0"/>
              <a:ext cx="4612482" cy="795231"/>
            </a:xfrm>
            <a:custGeom>
              <a:avLst/>
              <a:gdLst/>
              <a:ahLst/>
              <a:cxnLst/>
              <a:rect l="l" t="t" r="r" b="b"/>
              <a:pathLst>
                <a:path w="4612482" h="795231" extrusionOk="0">
                  <a:moveTo>
                    <a:pt x="0" y="0"/>
                  </a:moveTo>
                  <a:lnTo>
                    <a:pt x="4612482" y="0"/>
                  </a:lnTo>
                  <a:lnTo>
                    <a:pt x="4612482" y="795231"/>
                  </a:lnTo>
                  <a:lnTo>
                    <a:pt x="0" y="7952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0"/>
            <p:cNvSpPr txBox="1"/>
            <p:nvPr/>
          </p:nvSpPr>
          <p:spPr>
            <a:xfrm>
              <a:off x="0" y="-9525"/>
              <a:ext cx="4612482" cy="804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5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Typical Use Cases</a:t>
              </a:r>
              <a:endParaRPr/>
            </a:p>
          </p:txBody>
        </p:sp>
      </p:grpSp>
      <p:grpSp>
        <p:nvGrpSpPr>
          <p:cNvPr id="392" name="Google Shape;392;p10"/>
          <p:cNvGrpSpPr/>
          <p:nvPr/>
        </p:nvGrpSpPr>
        <p:grpSpPr>
          <a:xfrm>
            <a:off x="807095" y="8042522"/>
            <a:ext cx="16673810" cy="525513"/>
            <a:chOff x="0" y="-85725"/>
            <a:chExt cx="22231747" cy="700683"/>
          </a:xfrm>
        </p:grpSpPr>
        <p:sp>
          <p:nvSpPr>
            <p:cNvPr id="393" name="Google Shape;393;p10"/>
            <p:cNvSpPr/>
            <p:nvPr/>
          </p:nvSpPr>
          <p:spPr>
            <a:xfrm>
              <a:off x="0" y="0"/>
              <a:ext cx="22231747" cy="614958"/>
            </a:xfrm>
            <a:custGeom>
              <a:avLst/>
              <a:gdLst/>
              <a:ahLst/>
              <a:cxnLst/>
              <a:rect l="l" t="t" r="r" b="b"/>
              <a:pathLst>
                <a:path w="22231747" h="614958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614958"/>
                  </a:lnTo>
                  <a:lnTo>
                    <a:pt x="0" y="61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0"/>
            <p:cNvSpPr txBox="1"/>
            <p:nvPr/>
          </p:nvSpPr>
          <p:spPr>
            <a:xfrm>
              <a:off x="0" y="-85725"/>
              <a:ext cx="22231747" cy="700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33672" marR="0" lvl="1" indent="-166836" algn="l" rtl="0">
                <a:lnSpc>
                  <a:spcPct val="158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12"/>
                <a:buFont typeface="Arial"/>
                <a:buChar char="•"/>
              </a:pPr>
              <a:r>
                <a:rPr lang="en-US" sz="2212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Government or financial applications</a:t>
              </a:r>
              <a:r>
                <a:rPr lang="en-US" sz="221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needing strict compliance.</a:t>
              </a:r>
              <a:endParaRPr/>
            </a:p>
          </p:txBody>
        </p:sp>
      </p:grpSp>
      <p:grpSp>
        <p:nvGrpSpPr>
          <p:cNvPr id="395" name="Google Shape;395;p10"/>
          <p:cNvGrpSpPr/>
          <p:nvPr/>
        </p:nvGrpSpPr>
        <p:grpSpPr>
          <a:xfrm>
            <a:off x="807095" y="8584406"/>
            <a:ext cx="16673810" cy="525513"/>
            <a:chOff x="0" y="-85725"/>
            <a:chExt cx="22231747" cy="700683"/>
          </a:xfrm>
        </p:grpSpPr>
        <p:sp>
          <p:nvSpPr>
            <p:cNvPr id="396" name="Google Shape;396;p10"/>
            <p:cNvSpPr/>
            <p:nvPr/>
          </p:nvSpPr>
          <p:spPr>
            <a:xfrm>
              <a:off x="0" y="0"/>
              <a:ext cx="22231747" cy="614958"/>
            </a:xfrm>
            <a:custGeom>
              <a:avLst/>
              <a:gdLst/>
              <a:ahLst/>
              <a:cxnLst/>
              <a:rect l="l" t="t" r="r" b="b"/>
              <a:pathLst>
                <a:path w="22231747" h="614958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614958"/>
                  </a:lnTo>
                  <a:lnTo>
                    <a:pt x="0" y="61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0"/>
            <p:cNvSpPr txBox="1"/>
            <p:nvPr/>
          </p:nvSpPr>
          <p:spPr>
            <a:xfrm>
              <a:off x="0" y="-85725"/>
              <a:ext cx="22231747" cy="700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33672" marR="0" lvl="1" indent="-166836" algn="l" rtl="0">
                <a:lnSpc>
                  <a:spcPct val="158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12"/>
                <a:buFont typeface="Arial"/>
                <a:buChar char="•"/>
              </a:pPr>
              <a:r>
                <a:rPr lang="en-US" sz="2212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Enterprises</a:t>
              </a:r>
              <a:r>
                <a:rPr lang="en-US" sz="221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who need in-depth static analysis with customizable rules.</a:t>
              </a:r>
              <a:endParaRPr/>
            </a:p>
          </p:txBody>
        </p:sp>
      </p:grpSp>
      <p:grpSp>
        <p:nvGrpSpPr>
          <p:cNvPr id="398" name="Google Shape;398;p10"/>
          <p:cNvGrpSpPr/>
          <p:nvPr/>
        </p:nvGrpSpPr>
        <p:grpSpPr>
          <a:xfrm>
            <a:off x="807095" y="9126290"/>
            <a:ext cx="16673810" cy="525513"/>
            <a:chOff x="0" y="-85725"/>
            <a:chExt cx="22231747" cy="700683"/>
          </a:xfrm>
        </p:grpSpPr>
        <p:sp>
          <p:nvSpPr>
            <p:cNvPr id="399" name="Google Shape;399;p10"/>
            <p:cNvSpPr/>
            <p:nvPr/>
          </p:nvSpPr>
          <p:spPr>
            <a:xfrm>
              <a:off x="0" y="0"/>
              <a:ext cx="22231747" cy="614958"/>
            </a:xfrm>
            <a:custGeom>
              <a:avLst/>
              <a:gdLst/>
              <a:ahLst/>
              <a:cxnLst/>
              <a:rect l="l" t="t" r="r" b="b"/>
              <a:pathLst>
                <a:path w="22231747" h="614958" extrusionOk="0">
                  <a:moveTo>
                    <a:pt x="0" y="0"/>
                  </a:moveTo>
                  <a:lnTo>
                    <a:pt x="22231747" y="0"/>
                  </a:lnTo>
                  <a:lnTo>
                    <a:pt x="22231747" y="614958"/>
                  </a:lnTo>
                  <a:lnTo>
                    <a:pt x="0" y="614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0"/>
            <p:cNvSpPr txBox="1"/>
            <p:nvPr/>
          </p:nvSpPr>
          <p:spPr>
            <a:xfrm>
              <a:off x="0" y="-85725"/>
              <a:ext cx="22231747" cy="700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333672" marR="0" lvl="1" indent="-166836" algn="l" rtl="0">
                <a:lnSpc>
                  <a:spcPct val="15863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12"/>
                <a:buFont typeface="Arial"/>
                <a:buChar char="•"/>
              </a:pPr>
              <a:r>
                <a:rPr lang="en-US" sz="2212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CI/CD pipelines</a:t>
              </a:r>
              <a:r>
                <a:rPr lang="en-US" sz="2212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that must reject insecure builds automatically.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1" name="Google Shape;411;p11"/>
          <p:cNvGrpSpPr/>
          <p:nvPr/>
        </p:nvGrpSpPr>
        <p:grpSpPr>
          <a:xfrm>
            <a:off x="992238" y="1341685"/>
            <a:ext cx="11267468" cy="1103169"/>
            <a:chOff x="0" y="-28575"/>
            <a:chExt cx="15023291" cy="1470893"/>
          </a:xfrm>
        </p:grpSpPr>
        <p:sp>
          <p:nvSpPr>
            <p:cNvPr id="412" name="Google Shape;412;p11"/>
            <p:cNvSpPr/>
            <p:nvPr/>
          </p:nvSpPr>
          <p:spPr>
            <a:xfrm>
              <a:off x="0" y="0"/>
              <a:ext cx="15023291" cy="1442318"/>
            </a:xfrm>
            <a:custGeom>
              <a:avLst/>
              <a:gdLst/>
              <a:ahLst/>
              <a:cxnLst/>
              <a:rect l="l" t="t" r="r" b="b"/>
              <a:pathLst>
                <a:path w="15023291" h="1442318" extrusionOk="0">
                  <a:moveTo>
                    <a:pt x="0" y="0"/>
                  </a:moveTo>
                  <a:lnTo>
                    <a:pt x="15023291" y="0"/>
                  </a:lnTo>
                  <a:lnTo>
                    <a:pt x="15023291" y="1442318"/>
                  </a:lnTo>
                  <a:lnTo>
                    <a:pt x="0" y="1442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1"/>
            <p:cNvSpPr txBox="1"/>
            <p:nvPr/>
          </p:nvSpPr>
          <p:spPr>
            <a:xfrm>
              <a:off x="0" y="-28575"/>
              <a:ext cx="15023291" cy="1470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Quick overview of Fortify</a:t>
              </a:r>
              <a:endParaRPr/>
            </a:p>
          </p:txBody>
        </p:sp>
      </p:grpSp>
      <p:sp>
        <p:nvSpPr>
          <p:cNvPr id="414" name="Google Shape;414;p11"/>
          <p:cNvSpPr/>
          <p:nvPr/>
        </p:nvSpPr>
        <p:spPr>
          <a:xfrm>
            <a:off x="987475" y="2811364"/>
            <a:ext cx="16313086" cy="6117051"/>
          </a:xfrm>
          <a:custGeom>
            <a:avLst/>
            <a:gdLst/>
            <a:ahLst/>
            <a:cxnLst/>
            <a:rect l="l" t="t" r="r" b="b"/>
            <a:pathLst>
              <a:path w="21750782" h="8156067" extrusionOk="0">
                <a:moveTo>
                  <a:pt x="0" y="165100"/>
                </a:moveTo>
                <a:cubicBezTo>
                  <a:pt x="0" y="73914"/>
                  <a:pt x="74041" y="0"/>
                  <a:pt x="165354" y="0"/>
                </a:cubicBezTo>
                <a:lnTo>
                  <a:pt x="21585428" y="0"/>
                </a:lnTo>
                <a:lnTo>
                  <a:pt x="21585428" y="6350"/>
                </a:lnTo>
                <a:lnTo>
                  <a:pt x="21585428" y="0"/>
                </a:lnTo>
                <a:cubicBezTo>
                  <a:pt x="21676742" y="0"/>
                  <a:pt x="21750782" y="73914"/>
                  <a:pt x="21750782" y="165100"/>
                </a:cubicBezTo>
                <a:lnTo>
                  <a:pt x="21744432" y="165100"/>
                </a:lnTo>
                <a:lnTo>
                  <a:pt x="21750782" y="165100"/>
                </a:lnTo>
                <a:lnTo>
                  <a:pt x="21750782" y="7990967"/>
                </a:lnTo>
                <a:lnTo>
                  <a:pt x="21744432" y="7990967"/>
                </a:lnTo>
                <a:lnTo>
                  <a:pt x="21750782" y="7990967"/>
                </a:lnTo>
                <a:cubicBezTo>
                  <a:pt x="21750782" y="8082153"/>
                  <a:pt x="21676742" y="8156067"/>
                  <a:pt x="21585428" y="8156067"/>
                </a:cubicBezTo>
                <a:lnTo>
                  <a:pt x="21585428" y="8149717"/>
                </a:lnTo>
                <a:lnTo>
                  <a:pt x="21585428" y="8156067"/>
                </a:lnTo>
                <a:lnTo>
                  <a:pt x="165354" y="8156067"/>
                </a:lnTo>
                <a:lnTo>
                  <a:pt x="165354" y="8149717"/>
                </a:lnTo>
                <a:lnTo>
                  <a:pt x="165354" y="8156067"/>
                </a:lnTo>
                <a:cubicBezTo>
                  <a:pt x="74041" y="8156067"/>
                  <a:pt x="0" y="8082153"/>
                  <a:pt x="0" y="7990967"/>
                </a:cubicBezTo>
                <a:lnTo>
                  <a:pt x="0" y="165100"/>
                </a:lnTo>
                <a:lnTo>
                  <a:pt x="6350" y="165100"/>
                </a:lnTo>
                <a:lnTo>
                  <a:pt x="0" y="165100"/>
                </a:lnTo>
                <a:moveTo>
                  <a:pt x="12700" y="165100"/>
                </a:moveTo>
                <a:lnTo>
                  <a:pt x="12700" y="7990967"/>
                </a:lnTo>
                <a:lnTo>
                  <a:pt x="6350" y="7990967"/>
                </a:lnTo>
                <a:lnTo>
                  <a:pt x="12700" y="7990967"/>
                </a:lnTo>
                <a:cubicBezTo>
                  <a:pt x="12700" y="8075168"/>
                  <a:pt x="81026" y="8143367"/>
                  <a:pt x="165354" y="8143367"/>
                </a:cubicBezTo>
                <a:lnTo>
                  <a:pt x="21585428" y="8143367"/>
                </a:lnTo>
                <a:cubicBezTo>
                  <a:pt x="21669756" y="8143367"/>
                  <a:pt x="21738082" y="8075168"/>
                  <a:pt x="21738082" y="7990967"/>
                </a:cubicBezTo>
                <a:lnTo>
                  <a:pt x="21738082" y="165100"/>
                </a:lnTo>
                <a:cubicBezTo>
                  <a:pt x="21738082" y="80899"/>
                  <a:pt x="21669756" y="12700"/>
                  <a:pt x="21585428" y="12700"/>
                </a:cubicBezTo>
                <a:lnTo>
                  <a:pt x="165354" y="12700"/>
                </a:lnTo>
                <a:lnTo>
                  <a:pt x="165354" y="6350"/>
                </a:lnTo>
                <a:lnTo>
                  <a:pt x="165354" y="12700"/>
                </a:lnTo>
                <a:cubicBezTo>
                  <a:pt x="81026" y="12700"/>
                  <a:pt x="12700" y="80899"/>
                  <a:pt x="12700" y="165100"/>
                </a:cubicBez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1001762" y="2825651"/>
            <a:ext cx="16284511" cy="890873"/>
          </a:xfrm>
          <a:custGeom>
            <a:avLst/>
            <a:gdLst/>
            <a:ahLst/>
            <a:cxnLst/>
            <a:rect l="l" t="t" r="r" b="b"/>
            <a:pathLst>
              <a:path w="21712682" h="1187831" extrusionOk="0">
                <a:moveTo>
                  <a:pt x="0" y="0"/>
                </a:moveTo>
                <a:lnTo>
                  <a:pt x="21712682" y="0"/>
                </a:lnTo>
                <a:lnTo>
                  <a:pt x="21712682" y="1187831"/>
                </a:lnTo>
                <a:lnTo>
                  <a:pt x="0" y="118783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6" name="Google Shape;416;p11"/>
          <p:cNvGrpSpPr/>
          <p:nvPr/>
        </p:nvGrpSpPr>
        <p:grpSpPr>
          <a:xfrm>
            <a:off x="1800969" y="2908325"/>
            <a:ext cx="4252912" cy="718393"/>
            <a:chOff x="0" y="-9525"/>
            <a:chExt cx="5670550" cy="957857"/>
          </a:xfrm>
        </p:grpSpPr>
        <p:sp>
          <p:nvSpPr>
            <p:cNvPr id="417" name="Google Shape;417;p11"/>
            <p:cNvSpPr/>
            <p:nvPr/>
          </p:nvSpPr>
          <p:spPr>
            <a:xfrm>
              <a:off x="0" y="0"/>
              <a:ext cx="5670550" cy="948332"/>
            </a:xfrm>
            <a:custGeom>
              <a:avLst/>
              <a:gdLst/>
              <a:ahLst/>
              <a:cxnLst/>
              <a:rect l="l" t="t" r="r" b="b"/>
              <a:pathLst>
                <a:path w="5670550" h="948332" extrusionOk="0">
                  <a:moveTo>
                    <a:pt x="0" y="0"/>
                  </a:moveTo>
                  <a:lnTo>
                    <a:pt x="5670550" y="0"/>
                  </a:lnTo>
                  <a:lnTo>
                    <a:pt x="5670550" y="948332"/>
                  </a:lnTo>
                  <a:lnTo>
                    <a:pt x="0" y="948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1"/>
            <p:cNvSpPr txBox="1"/>
            <p:nvPr/>
          </p:nvSpPr>
          <p:spPr>
            <a:xfrm>
              <a:off x="0" y="-9525"/>
              <a:ext cx="5670550" cy="957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Aspect</a:t>
              </a:r>
              <a:endParaRPr/>
            </a:p>
          </p:txBody>
        </p:sp>
      </p:grpSp>
      <p:grpSp>
        <p:nvGrpSpPr>
          <p:cNvPr id="419" name="Google Shape;419;p11"/>
          <p:cNvGrpSpPr/>
          <p:nvPr/>
        </p:nvGrpSpPr>
        <p:grpSpPr>
          <a:xfrm>
            <a:off x="9947821" y="2998142"/>
            <a:ext cx="4252912" cy="718394"/>
            <a:chOff x="0" y="-9525"/>
            <a:chExt cx="5670550" cy="957858"/>
          </a:xfrm>
        </p:grpSpPr>
        <p:sp>
          <p:nvSpPr>
            <p:cNvPr id="420" name="Google Shape;420;p11"/>
            <p:cNvSpPr/>
            <p:nvPr/>
          </p:nvSpPr>
          <p:spPr>
            <a:xfrm>
              <a:off x="0" y="0"/>
              <a:ext cx="5670550" cy="948333"/>
            </a:xfrm>
            <a:custGeom>
              <a:avLst/>
              <a:gdLst/>
              <a:ahLst/>
              <a:cxnLst/>
              <a:rect l="l" t="t" r="r" b="b"/>
              <a:pathLst>
                <a:path w="5670550" h="948333" extrusionOk="0">
                  <a:moveTo>
                    <a:pt x="0" y="0"/>
                  </a:moveTo>
                  <a:lnTo>
                    <a:pt x="5670550" y="0"/>
                  </a:lnTo>
                  <a:lnTo>
                    <a:pt x="5670550" y="948333"/>
                  </a:lnTo>
                  <a:lnTo>
                    <a:pt x="0" y="948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1"/>
            <p:cNvSpPr txBox="1"/>
            <p:nvPr/>
          </p:nvSpPr>
          <p:spPr>
            <a:xfrm>
              <a:off x="0" y="-9525"/>
              <a:ext cx="5670550" cy="957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Description</a:t>
              </a:r>
              <a:endParaRPr/>
            </a:p>
          </p:txBody>
        </p:sp>
      </p:grpSp>
      <p:sp>
        <p:nvSpPr>
          <p:cNvPr id="422" name="Google Shape;422;p11"/>
          <p:cNvSpPr/>
          <p:nvPr/>
        </p:nvSpPr>
        <p:spPr>
          <a:xfrm>
            <a:off x="1001762" y="3716536"/>
            <a:ext cx="16284511" cy="926115"/>
          </a:xfrm>
          <a:custGeom>
            <a:avLst/>
            <a:gdLst/>
            <a:ahLst/>
            <a:cxnLst/>
            <a:rect l="l" t="t" r="r" b="b"/>
            <a:pathLst>
              <a:path w="21712682" h="1234821" extrusionOk="0">
                <a:moveTo>
                  <a:pt x="0" y="0"/>
                </a:moveTo>
                <a:lnTo>
                  <a:pt x="21712682" y="0"/>
                </a:lnTo>
                <a:lnTo>
                  <a:pt x="21712682" y="1234821"/>
                </a:lnTo>
                <a:lnTo>
                  <a:pt x="0" y="12348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p11"/>
          <p:cNvGrpSpPr/>
          <p:nvPr/>
        </p:nvGrpSpPr>
        <p:grpSpPr>
          <a:xfrm>
            <a:off x="1285429" y="3817590"/>
            <a:ext cx="5283994" cy="645467"/>
            <a:chOff x="0" y="-104775"/>
            <a:chExt cx="7045325" cy="860623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7045325" cy="755848"/>
            </a:xfrm>
            <a:custGeom>
              <a:avLst/>
              <a:gdLst/>
              <a:ahLst/>
              <a:cxnLst/>
              <a:rect l="l" t="t" r="r" b="b"/>
              <a:pathLst>
                <a:path w="7045325" h="755848" extrusionOk="0">
                  <a:moveTo>
                    <a:pt x="0" y="0"/>
                  </a:moveTo>
                  <a:lnTo>
                    <a:pt x="7045325" y="0"/>
                  </a:lnTo>
                  <a:lnTo>
                    <a:pt x="704532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1"/>
            <p:cNvSpPr txBox="1"/>
            <p:nvPr/>
          </p:nvSpPr>
          <p:spPr>
            <a:xfrm>
              <a:off x="0" y="-104775"/>
              <a:ext cx="704532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Type</a:t>
              </a:r>
              <a:endParaRPr/>
            </a:p>
          </p:txBody>
        </p:sp>
      </p:grpSp>
      <p:grpSp>
        <p:nvGrpSpPr>
          <p:cNvPr id="426" name="Google Shape;426;p11"/>
          <p:cNvGrpSpPr/>
          <p:nvPr/>
        </p:nvGrpSpPr>
        <p:grpSpPr>
          <a:xfrm>
            <a:off x="7145982" y="3817590"/>
            <a:ext cx="9856737" cy="645467"/>
            <a:chOff x="0" y="-104775"/>
            <a:chExt cx="13142317" cy="860623"/>
          </a:xfrm>
        </p:grpSpPr>
        <p:sp>
          <p:nvSpPr>
            <p:cNvPr id="427" name="Google Shape;427;p11"/>
            <p:cNvSpPr/>
            <p:nvPr/>
          </p:nvSpPr>
          <p:spPr>
            <a:xfrm>
              <a:off x="0" y="0"/>
              <a:ext cx="13142317" cy="755848"/>
            </a:xfrm>
            <a:custGeom>
              <a:avLst/>
              <a:gdLst/>
              <a:ahLst/>
              <a:cxnLst/>
              <a:rect l="l" t="t" r="r" b="b"/>
              <a:pathLst>
                <a:path w="13142317" h="755848" extrusionOk="0">
                  <a:moveTo>
                    <a:pt x="0" y="0"/>
                  </a:moveTo>
                  <a:lnTo>
                    <a:pt x="13142317" y="0"/>
                  </a:lnTo>
                  <a:lnTo>
                    <a:pt x="131423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1"/>
            <p:cNvSpPr txBox="1"/>
            <p:nvPr/>
          </p:nvSpPr>
          <p:spPr>
            <a:xfrm>
              <a:off x="0" y="-104775"/>
              <a:ext cx="13142317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Static Application Security Testing (SAST)</a:t>
              </a:r>
              <a:endParaRPr/>
            </a:p>
          </p:txBody>
        </p:sp>
      </p:grpSp>
      <p:sp>
        <p:nvSpPr>
          <p:cNvPr id="429" name="Google Shape;429;p11"/>
          <p:cNvSpPr/>
          <p:nvPr/>
        </p:nvSpPr>
        <p:spPr>
          <a:xfrm>
            <a:off x="1001762" y="4642694"/>
            <a:ext cx="16284511" cy="926116"/>
          </a:xfrm>
          <a:custGeom>
            <a:avLst/>
            <a:gdLst/>
            <a:ahLst/>
            <a:cxnLst/>
            <a:rect l="l" t="t" r="r" b="b"/>
            <a:pathLst>
              <a:path w="21712682" h="1234821" extrusionOk="0">
                <a:moveTo>
                  <a:pt x="0" y="0"/>
                </a:moveTo>
                <a:lnTo>
                  <a:pt x="21712682" y="0"/>
                </a:lnTo>
                <a:lnTo>
                  <a:pt x="21712682" y="1234821"/>
                </a:lnTo>
                <a:lnTo>
                  <a:pt x="0" y="123482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11"/>
          <p:cNvGrpSpPr/>
          <p:nvPr/>
        </p:nvGrpSpPr>
        <p:grpSpPr>
          <a:xfrm>
            <a:off x="1285429" y="4743748"/>
            <a:ext cx="5283994" cy="645467"/>
            <a:chOff x="0" y="-104775"/>
            <a:chExt cx="7045325" cy="860623"/>
          </a:xfrm>
        </p:grpSpPr>
        <p:sp>
          <p:nvSpPr>
            <p:cNvPr id="431" name="Google Shape;431;p11"/>
            <p:cNvSpPr/>
            <p:nvPr/>
          </p:nvSpPr>
          <p:spPr>
            <a:xfrm>
              <a:off x="0" y="0"/>
              <a:ext cx="7045325" cy="755848"/>
            </a:xfrm>
            <a:custGeom>
              <a:avLst/>
              <a:gdLst/>
              <a:ahLst/>
              <a:cxnLst/>
              <a:rect l="l" t="t" r="r" b="b"/>
              <a:pathLst>
                <a:path w="7045325" h="755848" extrusionOk="0">
                  <a:moveTo>
                    <a:pt x="0" y="0"/>
                  </a:moveTo>
                  <a:lnTo>
                    <a:pt x="7045325" y="0"/>
                  </a:lnTo>
                  <a:lnTo>
                    <a:pt x="704532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1"/>
            <p:cNvSpPr txBox="1"/>
            <p:nvPr/>
          </p:nvSpPr>
          <p:spPr>
            <a:xfrm>
              <a:off x="0" y="-104775"/>
              <a:ext cx="704532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Input</a:t>
              </a:r>
              <a:endParaRPr/>
            </a:p>
          </p:txBody>
        </p:sp>
      </p:grpSp>
      <p:grpSp>
        <p:nvGrpSpPr>
          <p:cNvPr id="433" name="Google Shape;433;p11"/>
          <p:cNvGrpSpPr/>
          <p:nvPr/>
        </p:nvGrpSpPr>
        <p:grpSpPr>
          <a:xfrm>
            <a:off x="7145982" y="4743748"/>
            <a:ext cx="9856737" cy="645467"/>
            <a:chOff x="0" y="-104775"/>
            <a:chExt cx="13142317" cy="860623"/>
          </a:xfrm>
        </p:grpSpPr>
        <p:sp>
          <p:nvSpPr>
            <p:cNvPr id="434" name="Google Shape;434;p11"/>
            <p:cNvSpPr/>
            <p:nvPr/>
          </p:nvSpPr>
          <p:spPr>
            <a:xfrm>
              <a:off x="0" y="0"/>
              <a:ext cx="13142317" cy="755848"/>
            </a:xfrm>
            <a:custGeom>
              <a:avLst/>
              <a:gdLst/>
              <a:ahLst/>
              <a:cxnLst/>
              <a:rect l="l" t="t" r="r" b="b"/>
              <a:pathLst>
                <a:path w="13142317" h="755848" extrusionOk="0">
                  <a:moveTo>
                    <a:pt x="0" y="0"/>
                  </a:moveTo>
                  <a:lnTo>
                    <a:pt x="13142317" y="0"/>
                  </a:lnTo>
                  <a:lnTo>
                    <a:pt x="131423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1"/>
            <p:cNvSpPr txBox="1"/>
            <p:nvPr/>
          </p:nvSpPr>
          <p:spPr>
            <a:xfrm>
              <a:off x="0" y="-104775"/>
              <a:ext cx="13142317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Source code (Java, Python, JS, C#, etc.)</a:t>
              </a:r>
              <a:endParaRPr/>
            </a:p>
          </p:txBody>
        </p:sp>
      </p:grpSp>
      <p:sp>
        <p:nvSpPr>
          <p:cNvPr id="436" name="Google Shape;436;p11"/>
          <p:cNvSpPr/>
          <p:nvPr/>
        </p:nvSpPr>
        <p:spPr>
          <a:xfrm>
            <a:off x="1001762" y="5568851"/>
            <a:ext cx="16284511" cy="1493044"/>
          </a:xfrm>
          <a:custGeom>
            <a:avLst/>
            <a:gdLst/>
            <a:ahLst/>
            <a:cxnLst/>
            <a:rect l="l" t="t" r="r" b="b"/>
            <a:pathLst>
              <a:path w="21712682" h="1990725" extrusionOk="0">
                <a:moveTo>
                  <a:pt x="0" y="0"/>
                </a:moveTo>
                <a:lnTo>
                  <a:pt x="21712682" y="0"/>
                </a:lnTo>
                <a:lnTo>
                  <a:pt x="21712682" y="1990725"/>
                </a:lnTo>
                <a:lnTo>
                  <a:pt x="0" y="199072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7" name="Google Shape;437;p11"/>
          <p:cNvGrpSpPr/>
          <p:nvPr/>
        </p:nvGrpSpPr>
        <p:grpSpPr>
          <a:xfrm>
            <a:off x="1285429" y="5669905"/>
            <a:ext cx="5283994" cy="645467"/>
            <a:chOff x="0" y="-104775"/>
            <a:chExt cx="7045325" cy="860623"/>
          </a:xfrm>
        </p:grpSpPr>
        <p:sp>
          <p:nvSpPr>
            <p:cNvPr id="438" name="Google Shape;438;p11"/>
            <p:cNvSpPr/>
            <p:nvPr/>
          </p:nvSpPr>
          <p:spPr>
            <a:xfrm>
              <a:off x="0" y="0"/>
              <a:ext cx="7045325" cy="755848"/>
            </a:xfrm>
            <a:custGeom>
              <a:avLst/>
              <a:gdLst/>
              <a:ahLst/>
              <a:cxnLst/>
              <a:rect l="l" t="t" r="r" b="b"/>
              <a:pathLst>
                <a:path w="7045325" h="755848" extrusionOk="0">
                  <a:moveTo>
                    <a:pt x="0" y="0"/>
                  </a:moveTo>
                  <a:lnTo>
                    <a:pt x="7045325" y="0"/>
                  </a:lnTo>
                  <a:lnTo>
                    <a:pt x="704532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1"/>
            <p:cNvSpPr txBox="1"/>
            <p:nvPr/>
          </p:nvSpPr>
          <p:spPr>
            <a:xfrm>
              <a:off x="0" y="-104775"/>
              <a:ext cx="704532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Output</a:t>
              </a:r>
              <a:endParaRPr/>
            </a:p>
          </p:txBody>
        </p:sp>
      </p:grpSp>
      <p:grpSp>
        <p:nvGrpSpPr>
          <p:cNvPr id="440" name="Google Shape;440;p11"/>
          <p:cNvGrpSpPr/>
          <p:nvPr/>
        </p:nvGrpSpPr>
        <p:grpSpPr>
          <a:xfrm>
            <a:off x="7145982" y="5669905"/>
            <a:ext cx="9856737" cy="1212353"/>
            <a:chOff x="0" y="-104775"/>
            <a:chExt cx="13142317" cy="1616472"/>
          </a:xfrm>
        </p:grpSpPr>
        <p:sp>
          <p:nvSpPr>
            <p:cNvPr id="441" name="Google Shape;441;p11"/>
            <p:cNvSpPr/>
            <p:nvPr/>
          </p:nvSpPr>
          <p:spPr>
            <a:xfrm>
              <a:off x="0" y="0"/>
              <a:ext cx="13142317" cy="1511697"/>
            </a:xfrm>
            <a:custGeom>
              <a:avLst/>
              <a:gdLst/>
              <a:ahLst/>
              <a:cxnLst/>
              <a:rect l="l" t="t" r="r" b="b"/>
              <a:pathLst>
                <a:path w="13142317" h="1511697" extrusionOk="0">
                  <a:moveTo>
                    <a:pt x="0" y="0"/>
                  </a:moveTo>
                  <a:lnTo>
                    <a:pt x="13142317" y="0"/>
                  </a:lnTo>
                  <a:lnTo>
                    <a:pt x="13142317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1"/>
            <p:cNvSpPr txBox="1"/>
            <p:nvPr/>
          </p:nvSpPr>
          <p:spPr>
            <a:xfrm>
              <a:off x="0" y="-104775"/>
              <a:ext cx="13142317" cy="1616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Detailed security vulnerability reports with line-by-line code context</a:t>
              </a:r>
              <a:endParaRPr/>
            </a:p>
          </p:txBody>
        </p:sp>
      </p:grpSp>
      <p:sp>
        <p:nvSpPr>
          <p:cNvPr id="443" name="Google Shape;443;p11"/>
          <p:cNvSpPr/>
          <p:nvPr/>
        </p:nvSpPr>
        <p:spPr>
          <a:xfrm>
            <a:off x="1001762" y="7061895"/>
            <a:ext cx="16284511" cy="926115"/>
          </a:xfrm>
          <a:custGeom>
            <a:avLst/>
            <a:gdLst/>
            <a:ahLst/>
            <a:cxnLst/>
            <a:rect l="l" t="t" r="r" b="b"/>
            <a:pathLst>
              <a:path w="21712682" h="1234821" extrusionOk="0">
                <a:moveTo>
                  <a:pt x="0" y="0"/>
                </a:moveTo>
                <a:lnTo>
                  <a:pt x="21712682" y="0"/>
                </a:lnTo>
                <a:lnTo>
                  <a:pt x="21712682" y="1234821"/>
                </a:lnTo>
                <a:lnTo>
                  <a:pt x="0" y="123482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11"/>
          <p:cNvGrpSpPr/>
          <p:nvPr/>
        </p:nvGrpSpPr>
        <p:grpSpPr>
          <a:xfrm>
            <a:off x="1285429" y="7162949"/>
            <a:ext cx="5283994" cy="645467"/>
            <a:chOff x="0" y="-104775"/>
            <a:chExt cx="7045325" cy="860623"/>
          </a:xfrm>
        </p:grpSpPr>
        <p:sp>
          <p:nvSpPr>
            <p:cNvPr id="445" name="Google Shape;445;p11"/>
            <p:cNvSpPr/>
            <p:nvPr/>
          </p:nvSpPr>
          <p:spPr>
            <a:xfrm>
              <a:off x="0" y="0"/>
              <a:ext cx="7045325" cy="755848"/>
            </a:xfrm>
            <a:custGeom>
              <a:avLst/>
              <a:gdLst/>
              <a:ahLst/>
              <a:cxnLst/>
              <a:rect l="l" t="t" r="r" b="b"/>
              <a:pathLst>
                <a:path w="7045325" h="755848" extrusionOk="0">
                  <a:moveTo>
                    <a:pt x="0" y="0"/>
                  </a:moveTo>
                  <a:lnTo>
                    <a:pt x="7045325" y="0"/>
                  </a:lnTo>
                  <a:lnTo>
                    <a:pt x="704532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1"/>
            <p:cNvSpPr txBox="1"/>
            <p:nvPr/>
          </p:nvSpPr>
          <p:spPr>
            <a:xfrm>
              <a:off x="0" y="-104775"/>
              <a:ext cx="704532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Goal</a:t>
              </a:r>
              <a:endParaRPr/>
            </a:p>
          </p:txBody>
        </p:sp>
      </p:grpSp>
      <p:grpSp>
        <p:nvGrpSpPr>
          <p:cNvPr id="447" name="Google Shape;447;p11"/>
          <p:cNvGrpSpPr/>
          <p:nvPr/>
        </p:nvGrpSpPr>
        <p:grpSpPr>
          <a:xfrm>
            <a:off x="7145982" y="7162949"/>
            <a:ext cx="9856737" cy="645467"/>
            <a:chOff x="0" y="-104775"/>
            <a:chExt cx="13142317" cy="860623"/>
          </a:xfrm>
        </p:grpSpPr>
        <p:sp>
          <p:nvSpPr>
            <p:cNvPr id="448" name="Google Shape;448;p11"/>
            <p:cNvSpPr/>
            <p:nvPr/>
          </p:nvSpPr>
          <p:spPr>
            <a:xfrm>
              <a:off x="0" y="0"/>
              <a:ext cx="13142317" cy="755848"/>
            </a:xfrm>
            <a:custGeom>
              <a:avLst/>
              <a:gdLst/>
              <a:ahLst/>
              <a:cxnLst/>
              <a:rect l="l" t="t" r="r" b="b"/>
              <a:pathLst>
                <a:path w="13142317" h="755848" extrusionOk="0">
                  <a:moveTo>
                    <a:pt x="0" y="0"/>
                  </a:moveTo>
                  <a:lnTo>
                    <a:pt x="13142317" y="0"/>
                  </a:lnTo>
                  <a:lnTo>
                    <a:pt x="131423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1"/>
            <p:cNvSpPr txBox="1"/>
            <p:nvPr/>
          </p:nvSpPr>
          <p:spPr>
            <a:xfrm>
              <a:off x="0" y="-104775"/>
              <a:ext cx="13142317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Catch and fix security flaws </a:t>
              </a: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before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deployment</a:t>
              </a:r>
              <a:endParaRPr/>
            </a:p>
          </p:txBody>
        </p:sp>
      </p:grpSp>
      <p:sp>
        <p:nvSpPr>
          <p:cNvPr id="450" name="Google Shape;450;p11"/>
          <p:cNvSpPr/>
          <p:nvPr/>
        </p:nvSpPr>
        <p:spPr>
          <a:xfrm>
            <a:off x="1001762" y="7988052"/>
            <a:ext cx="16284511" cy="926115"/>
          </a:xfrm>
          <a:custGeom>
            <a:avLst/>
            <a:gdLst/>
            <a:ahLst/>
            <a:cxnLst/>
            <a:rect l="l" t="t" r="r" b="b"/>
            <a:pathLst>
              <a:path w="21712682" h="1234821" extrusionOk="0">
                <a:moveTo>
                  <a:pt x="0" y="0"/>
                </a:moveTo>
                <a:lnTo>
                  <a:pt x="21712682" y="0"/>
                </a:lnTo>
                <a:lnTo>
                  <a:pt x="21712682" y="1234821"/>
                </a:lnTo>
                <a:lnTo>
                  <a:pt x="0" y="12348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1" name="Google Shape;451;p11"/>
          <p:cNvGrpSpPr/>
          <p:nvPr/>
        </p:nvGrpSpPr>
        <p:grpSpPr>
          <a:xfrm>
            <a:off x="1285429" y="8089106"/>
            <a:ext cx="5283994" cy="645467"/>
            <a:chOff x="0" y="-104775"/>
            <a:chExt cx="7045325" cy="860623"/>
          </a:xfrm>
        </p:grpSpPr>
        <p:sp>
          <p:nvSpPr>
            <p:cNvPr id="452" name="Google Shape;452;p11"/>
            <p:cNvSpPr/>
            <p:nvPr/>
          </p:nvSpPr>
          <p:spPr>
            <a:xfrm>
              <a:off x="0" y="0"/>
              <a:ext cx="7045325" cy="755848"/>
            </a:xfrm>
            <a:custGeom>
              <a:avLst/>
              <a:gdLst/>
              <a:ahLst/>
              <a:cxnLst/>
              <a:rect l="l" t="t" r="r" b="b"/>
              <a:pathLst>
                <a:path w="7045325" h="755848" extrusionOk="0">
                  <a:moveTo>
                    <a:pt x="0" y="0"/>
                  </a:moveTo>
                  <a:lnTo>
                    <a:pt x="7045325" y="0"/>
                  </a:lnTo>
                  <a:lnTo>
                    <a:pt x="7045325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1"/>
            <p:cNvSpPr txBox="1"/>
            <p:nvPr/>
          </p:nvSpPr>
          <p:spPr>
            <a:xfrm>
              <a:off x="0" y="-104775"/>
              <a:ext cx="704532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Deployment</a:t>
              </a:r>
              <a:endParaRPr/>
            </a:p>
          </p:txBody>
        </p:sp>
      </p:grpSp>
      <p:grpSp>
        <p:nvGrpSpPr>
          <p:cNvPr id="454" name="Google Shape;454;p11"/>
          <p:cNvGrpSpPr/>
          <p:nvPr/>
        </p:nvGrpSpPr>
        <p:grpSpPr>
          <a:xfrm>
            <a:off x="7145982" y="8089106"/>
            <a:ext cx="9856737" cy="645467"/>
            <a:chOff x="0" y="-104775"/>
            <a:chExt cx="13142317" cy="860623"/>
          </a:xfrm>
        </p:grpSpPr>
        <p:sp>
          <p:nvSpPr>
            <p:cNvPr id="455" name="Google Shape;455;p11"/>
            <p:cNvSpPr/>
            <p:nvPr/>
          </p:nvSpPr>
          <p:spPr>
            <a:xfrm>
              <a:off x="0" y="0"/>
              <a:ext cx="13142317" cy="755848"/>
            </a:xfrm>
            <a:custGeom>
              <a:avLst/>
              <a:gdLst/>
              <a:ahLst/>
              <a:cxnLst/>
              <a:rect l="l" t="t" r="r" b="b"/>
              <a:pathLst>
                <a:path w="13142317" h="755848" extrusionOk="0">
                  <a:moveTo>
                    <a:pt x="0" y="0"/>
                  </a:moveTo>
                  <a:lnTo>
                    <a:pt x="13142317" y="0"/>
                  </a:lnTo>
                  <a:lnTo>
                    <a:pt x="131423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1"/>
            <p:cNvSpPr txBox="1"/>
            <p:nvPr/>
          </p:nvSpPr>
          <p:spPr>
            <a:xfrm>
              <a:off x="0" y="-104775"/>
              <a:ext cx="13142317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Can be run on-premise or integrated into CI/CD pipelines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p12"/>
          <p:cNvGrpSpPr/>
          <p:nvPr/>
        </p:nvGrpSpPr>
        <p:grpSpPr>
          <a:xfrm>
            <a:off x="780157" y="767569"/>
            <a:ext cx="13022716" cy="687610"/>
            <a:chOff x="0" y="-9525"/>
            <a:chExt cx="17363621" cy="916813"/>
          </a:xfrm>
        </p:grpSpPr>
        <p:sp>
          <p:nvSpPr>
            <p:cNvPr id="468" name="Google Shape;468;p12"/>
            <p:cNvSpPr/>
            <p:nvPr/>
          </p:nvSpPr>
          <p:spPr>
            <a:xfrm>
              <a:off x="0" y="0"/>
              <a:ext cx="17363621" cy="907288"/>
            </a:xfrm>
            <a:custGeom>
              <a:avLst/>
              <a:gdLst/>
              <a:ahLst/>
              <a:cxnLst/>
              <a:rect l="l" t="t" r="r" b="b"/>
              <a:pathLst>
                <a:path w="17363621" h="907288" extrusionOk="0">
                  <a:moveTo>
                    <a:pt x="0" y="0"/>
                  </a:moveTo>
                  <a:lnTo>
                    <a:pt x="17363621" y="0"/>
                  </a:lnTo>
                  <a:lnTo>
                    <a:pt x="17363621" y="907288"/>
                  </a:lnTo>
                  <a:lnTo>
                    <a:pt x="0" y="907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2"/>
            <p:cNvSpPr txBox="1"/>
            <p:nvPr/>
          </p:nvSpPr>
          <p:spPr>
            <a:xfrm>
              <a:off x="0" y="-9525"/>
              <a:ext cx="17363620" cy="916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Dynamic Application Security Testing (DAST) </a:t>
              </a:r>
              <a:endParaRPr/>
            </a:p>
          </p:txBody>
        </p:sp>
      </p:grpSp>
      <p:grpSp>
        <p:nvGrpSpPr>
          <p:cNvPr id="470" name="Google Shape;470;p12"/>
          <p:cNvGrpSpPr/>
          <p:nvPr/>
        </p:nvGrpSpPr>
        <p:grpSpPr>
          <a:xfrm>
            <a:off x="780157" y="1545059"/>
            <a:ext cx="16727686" cy="1599147"/>
            <a:chOff x="0" y="-95250"/>
            <a:chExt cx="22303582" cy="2132197"/>
          </a:xfrm>
        </p:grpSpPr>
        <p:sp>
          <p:nvSpPr>
            <p:cNvPr id="471" name="Google Shape;471;p12"/>
            <p:cNvSpPr/>
            <p:nvPr/>
          </p:nvSpPr>
          <p:spPr>
            <a:xfrm>
              <a:off x="0" y="0"/>
              <a:ext cx="22303581" cy="2036947"/>
            </a:xfrm>
            <a:custGeom>
              <a:avLst/>
              <a:gdLst/>
              <a:ahLst/>
              <a:cxnLst/>
              <a:rect l="l" t="t" r="r" b="b"/>
              <a:pathLst>
                <a:path w="22303581" h="203694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2036947"/>
                  </a:lnTo>
                  <a:lnTo>
                    <a:pt x="0" y="2036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2"/>
            <p:cNvSpPr txBox="1"/>
            <p:nvPr/>
          </p:nvSpPr>
          <p:spPr>
            <a:xfrm>
              <a:off x="0" y="-95250"/>
              <a:ext cx="22303582" cy="21321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22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5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Dynamic Application Security Testing (DAST)</a:t>
              </a: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a technique used to identify vulnerabilities in running web applications. </a:t>
              </a:r>
              <a:endParaRPr/>
            </a:p>
          </p:txBody>
        </p:sp>
      </p:grpSp>
      <p:grpSp>
        <p:nvGrpSpPr>
          <p:cNvPr id="473" name="Google Shape;473;p12"/>
          <p:cNvGrpSpPr/>
          <p:nvPr/>
        </p:nvGrpSpPr>
        <p:grpSpPr>
          <a:xfrm>
            <a:off x="780157" y="3214241"/>
            <a:ext cx="16727686" cy="972636"/>
            <a:chOff x="0" y="-76200"/>
            <a:chExt cx="22303582" cy="1296847"/>
          </a:xfrm>
        </p:grpSpPr>
        <p:sp>
          <p:nvSpPr>
            <p:cNvPr id="474" name="Google Shape;474;p12"/>
            <p:cNvSpPr/>
            <p:nvPr/>
          </p:nvSpPr>
          <p:spPr>
            <a:xfrm>
              <a:off x="0" y="0"/>
              <a:ext cx="22303581" cy="1220647"/>
            </a:xfrm>
            <a:custGeom>
              <a:avLst/>
              <a:gdLst/>
              <a:ahLst/>
              <a:cxnLst/>
              <a:rect l="l" t="t" r="r" b="b"/>
              <a:pathLst>
                <a:path w="22303581" h="122064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1220647"/>
                  </a:lnTo>
                  <a:lnTo>
                    <a:pt x="0" y="12206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2"/>
            <p:cNvSpPr txBox="1"/>
            <p:nvPr/>
          </p:nvSpPr>
          <p:spPr>
            <a:xfrm>
              <a:off x="0" y="-76200"/>
              <a:ext cx="22303582" cy="1296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39327" marR="0" lvl="1" indent="-169663" algn="l" rtl="0">
                <a:lnSpc>
                  <a:spcPct val="15718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49"/>
                <a:buFont typeface="Arial"/>
                <a:buChar char="•"/>
              </a:pPr>
              <a:r>
                <a:rPr lang="en-US" sz="22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Unlike SAST, which analyzes source code, DAST operates from the outside—treating the application as a "black box" and focusing on its behavior.</a:t>
              </a:r>
              <a:endParaRPr/>
            </a:p>
          </p:txBody>
        </p:sp>
      </p:grpSp>
      <p:grpSp>
        <p:nvGrpSpPr>
          <p:cNvPr id="476" name="Google Shape;476;p12"/>
          <p:cNvGrpSpPr/>
          <p:nvPr/>
        </p:nvGrpSpPr>
        <p:grpSpPr>
          <a:xfrm>
            <a:off x="780157" y="4222701"/>
            <a:ext cx="16727686" cy="544905"/>
            <a:chOff x="0" y="-76200"/>
            <a:chExt cx="22303582" cy="726541"/>
          </a:xfrm>
        </p:grpSpPr>
        <p:sp>
          <p:nvSpPr>
            <p:cNvPr id="477" name="Google Shape;477;p12"/>
            <p:cNvSpPr/>
            <p:nvPr/>
          </p:nvSpPr>
          <p:spPr>
            <a:xfrm>
              <a:off x="0" y="0"/>
              <a:ext cx="22303581" cy="650341"/>
            </a:xfrm>
            <a:custGeom>
              <a:avLst/>
              <a:gdLst/>
              <a:ahLst/>
              <a:cxnLst/>
              <a:rect l="l" t="t" r="r" b="b"/>
              <a:pathLst>
                <a:path w="22303581" h="650341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650341"/>
                  </a:lnTo>
                  <a:lnTo>
                    <a:pt x="0" y="6503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2"/>
            <p:cNvSpPr txBox="1"/>
            <p:nvPr/>
          </p:nvSpPr>
          <p:spPr>
            <a:xfrm>
              <a:off x="0" y="-76200"/>
              <a:ext cx="22303582" cy="726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54408" marR="0" lvl="1" indent="-177204" algn="l" rtl="0">
                <a:lnSpc>
                  <a:spcPct val="157173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49"/>
                <a:buFont typeface="Arial"/>
                <a:buChar char="•"/>
              </a:pPr>
              <a:r>
                <a:rPr lang="en-US" sz="23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 simulates an external attacker interacting with the app through a browser, without access to the underlying code.</a:t>
              </a:r>
              <a:endParaRPr/>
            </a:p>
          </p:txBody>
        </p:sp>
      </p:grpSp>
      <p:grpSp>
        <p:nvGrpSpPr>
          <p:cNvPr id="479" name="Google Shape;479;p12"/>
          <p:cNvGrpSpPr/>
          <p:nvPr/>
        </p:nvGrpSpPr>
        <p:grpSpPr>
          <a:xfrm>
            <a:off x="780157" y="5265539"/>
            <a:ext cx="16727686" cy="635805"/>
            <a:chOff x="0" y="-104775"/>
            <a:chExt cx="22303582" cy="847740"/>
          </a:xfrm>
        </p:grpSpPr>
        <p:sp>
          <p:nvSpPr>
            <p:cNvPr id="480" name="Google Shape;480;p12"/>
            <p:cNvSpPr/>
            <p:nvPr/>
          </p:nvSpPr>
          <p:spPr>
            <a:xfrm>
              <a:off x="0" y="0"/>
              <a:ext cx="22303581" cy="742965"/>
            </a:xfrm>
            <a:custGeom>
              <a:avLst/>
              <a:gdLst/>
              <a:ahLst/>
              <a:cxnLst/>
              <a:rect l="l" t="t" r="r" b="b"/>
              <a:pathLst>
                <a:path w="22303581" h="742965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742965"/>
                  </a:lnTo>
                  <a:lnTo>
                    <a:pt x="0" y="742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2"/>
            <p:cNvSpPr txBox="1"/>
            <p:nvPr/>
          </p:nvSpPr>
          <p:spPr>
            <a:xfrm>
              <a:off x="0" y="-104775"/>
              <a:ext cx="22303582" cy="847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DAST typically identifies issues such as:</a:t>
              </a:r>
              <a:endParaRPr/>
            </a:p>
          </p:txBody>
        </p:sp>
      </p:grpSp>
      <p:grpSp>
        <p:nvGrpSpPr>
          <p:cNvPr id="482" name="Google Shape;482;p12"/>
          <p:cNvGrpSpPr/>
          <p:nvPr/>
        </p:nvGrpSpPr>
        <p:grpSpPr>
          <a:xfrm>
            <a:off x="780157" y="5983486"/>
            <a:ext cx="16727686" cy="524961"/>
            <a:chOff x="0" y="-76200"/>
            <a:chExt cx="22303582" cy="699947"/>
          </a:xfrm>
        </p:grpSpPr>
        <p:sp>
          <p:nvSpPr>
            <p:cNvPr id="483" name="Google Shape;483;p12"/>
            <p:cNvSpPr/>
            <p:nvPr/>
          </p:nvSpPr>
          <p:spPr>
            <a:xfrm>
              <a:off x="0" y="0"/>
              <a:ext cx="22303581" cy="623747"/>
            </a:xfrm>
            <a:custGeom>
              <a:avLst/>
              <a:gdLst/>
              <a:ahLst/>
              <a:cxnLst/>
              <a:rect l="l" t="t" r="r" b="b"/>
              <a:pathLst>
                <a:path w="22303581" h="62374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623747"/>
                  </a:lnTo>
                  <a:lnTo>
                    <a:pt x="0" y="623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2"/>
            <p:cNvSpPr txBox="1"/>
            <p:nvPr/>
          </p:nvSpPr>
          <p:spPr>
            <a:xfrm>
              <a:off x="0" y="-76200"/>
              <a:ext cx="22303582" cy="699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39327" marR="0" lvl="1" indent="-169663" algn="l" rtl="0">
                <a:lnSpc>
                  <a:spcPct val="15718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49"/>
                <a:buFont typeface="Arial"/>
                <a:buChar char="•"/>
              </a:pPr>
              <a:r>
                <a:rPr lang="en-US" sz="22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SQL Injection (e.g., ?id=1 OR 1=1)</a:t>
              </a:r>
              <a:endParaRPr/>
            </a:p>
          </p:txBody>
        </p:sp>
      </p:grpSp>
      <p:grpSp>
        <p:nvGrpSpPr>
          <p:cNvPr id="485" name="Google Shape;485;p12"/>
          <p:cNvGrpSpPr/>
          <p:nvPr/>
        </p:nvGrpSpPr>
        <p:grpSpPr>
          <a:xfrm>
            <a:off x="780157" y="6507212"/>
            <a:ext cx="16727686" cy="524961"/>
            <a:chOff x="0" y="-76200"/>
            <a:chExt cx="22303582" cy="699947"/>
          </a:xfrm>
        </p:grpSpPr>
        <p:sp>
          <p:nvSpPr>
            <p:cNvPr id="486" name="Google Shape;486;p12"/>
            <p:cNvSpPr/>
            <p:nvPr/>
          </p:nvSpPr>
          <p:spPr>
            <a:xfrm>
              <a:off x="0" y="0"/>
              <a:ext cx="22303581" cy="623747"/>
            </a:xfrm>
            <a:custGeom>
              <a:avLst/>
              <a:gdLst/>
              <a:ahLst/>
              <a:cxnLst/>
              <a:rect l="l" t="t" r="r" b="b"/>
              <a:pathLst>
                <a:path w="22303581" h="62374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623747"/>
                  </a:lnTo>
                  <a:lnTo>
                    <a:pt x="0" y="623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2"/>
            <p:cNvSpPr txBox="1"/>
            <p:nvPr/>
          </p:nvSpPr>
          <p:spPr>
            <a:xfrm>
              <a:off x="0" y="-76200"/>
              <a:ext cx="22303582" cy="699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39327" marR="0" lvl="1" indent="-169663" algn="l" rtl="0">
                <a:lnSpc>
                  <a:spcPct val="15718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49"/>
                <a:buFont typeface="Arial"/>
                <a:buChar char="•"/>
              </a:pPr>
              <a:r>
                <a:rPr lang="en-US" sz="22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Cross-Site Scripting (XSS)</a:t>
              </a:r>
              <a:endParaRPr/>
            </a:p>
          </p:txBody>
        </p:sp>
      </p:grpSp>
      <p:grpSp>
        <p:nvGrpSpPr>
          <p:cNvPr id="488" name="Google Shape;488;p12"/>
          <p:cNvGrpSpPr/>
          <p:nvPr/>
        </p:nvGrpSpPr>
        <p:grpSpPr>
          <a:xfrm>
            <a:off x="780157" y="7030939"/>
            <a:ext cx="16727686" cy="524961"/>
            <a:chOff x="0" y="-76200"/>
            <a:chExt cx="22303582" cy="699947"/>
          </a:xfrm>
        </p:grpSpPr>
        <p:sp>
          <p:nvSpPr>
            <p:cNvPr id="489" name="Google Shape;489;p12"/>
            <p:cNvSpPr/>
            <p:nvPr/>
          </p:nvSpPr>
          <p:spPr>
            <a:xfrm>
              <a:off x="0" y="0"/>
              <a:ext cx="22303581" cy="623747"/>
            </a:xfrm>
            <a:custGeom>
              <a:avLst/>
              <a:gdLst/>
              <a:ahLst/>
              <a:cxnLst/>
              <a:rect l="l" t="t" r="r" b="b"/>
              <a:pathLst>
                <a:path w="22303581" h="62374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623747"/>
                  </a:lnTo>
                  <a:lnTo>
                    <a:pt x="0" y="623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2"/>
            <p:cNvSpPr txBox="1"/>
            <p:nvPr/>
          </p:nvSpPr>
          <p:spPr>
            <a:xfrm>
              <a:off x="0" y="-76200"/>
              <a:ext cx="22303582" cy="699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39327" marR="0" lvl="1" indent="-169663" algn="l" rtl="0">
                <a:lnSpc>
                  <a:spcPct val="15718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49"/>
                <a:buFont typeface="Arial"/>
                <a:buChar char="•"/>
              </a:pPr>
              <a:r>
                <a:rPr lang="en-US" sz="22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Broken authentication mechanisms</a:t>
              </a:r>
              <a:endParaRPr/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780157" y="7554665"/>
            <a:ext cx="16727686" cy="524961"/>
            <a:chOff x="0" y="-76200"/>
            <a:chExt cx="22303582" cy="699947"/>
          </a:xfrm>
        </p:grpSpPr>
        <p:sp>
          <p:nvSpPr>
            <p:cNvPr id="492" name="Google Shape;492;p12"/>
            <p:cNvSpPr/>
            <p:nvPr/>
          </p:nvSpPr>
          <p:spPr>
            <a:xfrm>
              <a:off x="0" y="0"/>
              <a:ext cx="22303581" cy="623747"/>
            </a:xfrm>
            <a:custGeom>
              <a:avLst/>
              <a:gdLst/>
              <a:ahLst/>
              <a:cxnLst/>
              <a:rect l="l" t="t" r="r" b="b"/>
              <a:pathLst>
                <a:path w="22303581" h="62374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623747"/>
                  </a:lnTo>
                  <a:lnTo>
                    <a:pt x="0" y="623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2"/>
            <p:cNvSpPr txBox="1"/>
            <p:nvPr/>
          </p:nvSpPr>
          <p:spPr>
            <a:xfrm>
              <a:off x="0" y="-76200"/>
              <a:ext cx="22303582" cy="6999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39327" marR="0" lvl="1" indent="-169663" algn="l" rtl="0">
                <a:lnSpc>
                  <a:spcPct val="15718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49"/>
                <a:buFont typeface="Arial"/>
                <a:buChar char="•"/>
              </a:pPr>
              <a:r>
                <a:rPr lang="en-US" sz="22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Misconfigured security headers (e.g., missing Content Security Policy)</a:t>
              </a:r>
              <a:endParaRPr/>
            </a:p>
          </p:txBody>
        </p:sp>
      </p:grpSp>
      <p:grpSp>
        <p:nvGrpSpPr>
          <p:cNvPr id="494" name="Google Shape;494;p12"/>
          <p:cNvGrpSpPr/>
          <p:nvPr/>
        </p:nvGrpSpPr>
        <p:grpSpPr>
          <a:xfrm>
            <a:off x="780157" y="8933408"/>
            <a:ext cx="16727686" cy="560391"/>
            <a:chOff x="0" y="-95250"/>
            <a:chExt cx="22303582" cy="747187"/>
          </a:xfrm>
        </p:grpSpPr>
        <p:sp>
          <p:nvSpPr>
            <p:cNvPr id="495" name="Google Shape;495;p12"/>
            <p:cNvSpPr/>
            <p:nvPr/>
          </p:nvSpPr>
          <p:spPr>
            <a:xfrm>
              <a:off x="0" y="0"/>
              <a:ext cx="22303581" cy="651937"/>
            </a:xfrm>
            <a:custGeom>
              <a:avLst/>
              <a:gdLst/>
              <a:ahLst/>
              <a:cxnLst/>
              <a:rect l="l" t="t" r="r" b="b"/>
              <a:pathLst>
                <a:path w="22303581" h="651937" extrusionOk="0">
                  <a:moveTo>
                    <a:pt x="0" y="0"/>
                  </a:moveTo>
                  <a:lnTo>
                    <a:pt x="22303581" y="0"/>
                  </a:lnTo>
                  <a:lnTo>
                    <a:pt x="22303581" y="651937"/>
                  </a:lnTo>
                  <a:lnTo>
                    <a:pt x="0" y="651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2"/>
            <p:cNvSpPr txBox="1"/>
            <p:nvPr/>
          </p:nvSpPr>
          <p:spPr>
            <a:xfrm>
              <a:off x="0" y="-95250"/>
              <a:ext cx="22303582" cy="747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Common Tools used are :</a:t>
              </a: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OWASP ZAP &amp; Burp Suite</a:t>
              </a:r>
              <a:r>
                <a:rPr lang="en-US" sz="23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3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 descr="preencoded.png"/>
          <p:cNvSpPr/>
          <p:nvPr/>
        </p:nvSpPr>
        <p:spPr>
          <a:xfrm>
            <a:off x="12494126" y="0"/>
            <a:ext cx="5793874" cy="8690810"/>
          </a:xfrm>
          <a:custGeom>
            <a:avLst/>
            <a:gdLst/>
            <a:ahLst/>
            <a:cxnLst/>
            <a:rect l="l" t="t" r="r" b="b"/>
            <a:pathLst>
              <a:path w="5793874" h="8690810" extrusionOk="0">
                <a:moveTo>
                  <a:pt x="0" y="0"/>
                </a:moveTo>
                <a:lnTo>
                  <a:pt x="5793874" y="0"/>
                </a:lnTo>
                <a:lnTo>
                  <a:pt x="5793874" y="8690810"/>
                </a:lnTo>
                <a:lnTo>
                  <a:pt x="0" y="8690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13"/>
          <p:cNvGrpSpPr/>
          <p:nvPr/>
        </p:nvGrpSpPr>
        <p:grpSpPr>
          <a:xfrm>
            <a:off x="955179" y="1001763"/>
            <a:ext cx="6823025" cy="874365"/>
            <a:chOff x="0" y="-28575"/>
            <a:chExt cx="9097367" cy="1165820"/>
          </a:xfrm>
        </p:grpSpPr>
        <p:sp>
          <p:nvSpPr>
            <p:cNvPr id="509" name="Google Shape;509;p13"/>
            <p:cNvSpPr/>
            <p:nvPr/>
          </p:nvSpPr>
          <p:spPr>
            <a:xfrm>
              <a:off x="0" y="0"/>
              <a:ext cx="9097366" cy="1137245"/>
            </a:xfrm>
            <a:custGeom>
              <a:avLst/>
              <a:gdLst/>
              <a:ahLst/>
              <a:cxnLst/>
              <a:rect l="l" t="t" r="r" b="b"/>
              <a:pathLst>
                <a:path w="9097366" h="1137245" extrusionOk="0">
                  <a:moveTo>
                    <a:pt x="0" y="0"/>
                  </a:moveTo>
                  <a:lnTo>
                    <a:pt x="9097366" y="0"/>
                  </a:lnTo>
                  <a:lnTo>
                    <a:pt x="9097366" y="1137245"/>
                  </a:lnTo>
                  <a:lnTo>
                    <a:pt x="0" y="1137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3"/>
            <p:cNvSpPr txBox="1"/>
            <p:nvPr/>
          </p:nvSpPr>
          <p:spPr>
            <a:xfrm>
              <a:off x="0" y="-28575"/>
              <a:ext cx="9097367" cy="11658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8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Tool: OWASP ZAP</a:t>
              </a:r>
              <a:endParaRPr/>
            </a:p>
          </p:txBody>
        </p:sp>
      </p:grpSp>
      <p:grpSp>
        <p:nvGrpSpPr>
          <p:cNvPr id="511" name="Google Shape;511;p13"/>
          <p:cNvGrpSpPr/>
          <p:nvPr/>
        </p:nvGrpSpPr>
        <p:grpSpPr>
          <a:xfrm>
            <a:off x="955179" y="2221111"/>
            <a:ext cx="9519642" cy="500955"/>
            <a:chOff x="0" y="-85725"/>
            <a:chExt cx="12692857" cy="667940"/>
          </a:xfrm>
        </p:grpSpPr>
        <p:sp>
          <p:nvSpPr>
            <p:cNvPr id="512" name="Google Shape;512;p13"/>
            <p:cNvSpPr/>
            <p:nvPr/>
          </p:nvSpPr>
          <p:spPr>
            <a:xfrm>
              <a:off x="0" y="0"/>
              <a:ext cx="12692857" cy="582215"/>
            </a:xfrm>
            <a:custGeom>
              <a:avLst/>
              <a:gdLst/>
              <a:ahLst/>
              <a:cxnLst/>
              <a:rect l="l" t="t" r="r" b="b"/>
              <a:pathLst>
                <a:path w="12692857" h="582215" extrusionOk="0">
                  <a:moveTo>
                    <a:pt x="0" y="0"/>
                  </a:moveTo>
                  <a:lnTo>
                    <a:pt x="12692857" y="0"/>
                  </a:lnTo>
                  <a:lnTo>
                    <a:pt x="12692857" y="582215"/>
                  </a:lnTo>
                  <a:lnTo>
                    <a:pt x="0" y="582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3"/>
            <p:cNvSpPr txBox="1"/>
            <p:nvPr/>
          </p:nvSpPr>
          <p:spPr>
            <a:xfrm>
              <a:off x="0" y="-85725"/>
              <a:ext cx="12692857" cy="66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ZAP - Zed Attack Proxy</a:t>
              </a:r>
              <a:endParaRPr/>
            </a:p>
          </p:txBody>
        </p:sp>
      </p:grpSp>
      <p:grpSp>
        <p:nvGrpSpPr>
          <p:cNvPr id="514" name="Google Shape;514;p13"/>
          <p:cNvGrpSpPr/>
          <p:nvPr/>
        </p:nvGrpSpPr>
        <p:grpSpPr>
          <a:xfrm>
            <a:off x="955179" y="2964805"/>
            <a:ext cx="9519642" cy="610046"/>
            <a:chOff x="0" y="-85725"/>
            <a:chExt cx="12692857" cy="813395"/>
          </a:xfrm>
        </p:grpSpPr>
        <p:sp>
          <p:nvSpPr>
            <p:cNvPr id="515" name="Google Shape;515;p13"/>
            <p:cNvSpPr/>
            <p:nvPr/>
          </p:nvSpPr>
          <p:spPr>
            <a:xfrm>
              <a:off x="0" y="0"/>
              <a:ext cx="12692857" cy="727670"/>
            </a:xfrm>
            <a:custGeom>
              <a:avLst/>
              <a:gdLst/>
              <a:ahLst/>
              <a:cxnLst/>
              <a:rect l="l" t="t" r="r" b="b"/>
              <a:pathLst>
                <a:path w="12692857" h="727670" extrusionOk="0">
                  <a:moveTo>
                    <a:pt x="0" y="0"/>
                  </a:moveTo>
                  <a:lnTo>
                    <a:pt x="12692857" y="0"/>
                  </a:lnTo>
                  <a:lnTo>
                    <a:pt x="12692857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3"/>
            <p:cNvSpPr txBox="1"/>
            <p:nvPr/>
          </p:nvSpPr>
          <p:spPr>
            <a:xfrm>
              <a:off x="0" y="-85725"/>
              <a:ext cx="12692857" cy="813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0477" marR="0" lvl="1" indent="-160238" algn="l" rtl="0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25"/>
                <a:buFont typeface="Arial"/>
                <a:buChar char="•"/>
              </a:pPr>
              <a:r>
                <a:rPr lang="en-US" sz="2125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Open-source security scanner from OWASP.</a:t>
              </a:r>
              <a:endParaRPr/>
            </a:p>
          </p:txBody>
        </p:sp>
      </p:grpSp>
      <p:grpSp>
        <p:nvGrpSpPr>
          <p:cNvPr id="517" name="Google Shape;517;p13"/>
          <p:cNvGrpSpPr/>
          <p:nvPr/>
        </p:nvGrpSpPr>
        <p:grpSpPr>
          <a:xfrm>
            <a:off x="955179" y="3605956"/>
            <a:ext cx="9519642" cy="610046"/>
            <a:chOff x="0" y="-85725"/>
            <a:chExt cx="12692857" cy="813395"/>
          </a:xfrm>
        </p:grpSpPr>
        <p:sp>
          <p:nvSpPr>
            <p:cNvPr id="518" name="Google Shape;518;p13"/>
            <p:cNvSpPr/>
            <p:nvPr/>
          </p:nvSpPr>
          <p:spPr>
            <a:xfrm>
              <a:off x="0" y="0"/>
              <a:ext cx="12692857" cy="727670"/>
            </a:xfrm>
            <a:custGeom>
              <a:avLst/>
              <a:gdLst/>
              <a:ahLst/>
              <a:cxnLst/>
              <a:rect l="l" t="t" r="r" b="b"/>
              <a:pathLst>
                <a:path w="12692857" h="727670" extrusionOk="0">
                  <a:moveTo>
                    <a:pt x="0" y="0"/>
                  </a:moveTo>
                  <a:lnTo>
                    <a:pt x="12692857" y="0"/>
                  </a:lnTo>
                  <a:lnTo>
                    <a:pt x="12692857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3"/>
            <p:cNvSpPr txBox="1"/>
            <p:nvPr/>
          </p:nvSpPr>
          <p:spPr>
            <a:xfrm>
              <a:off x="0" y="-85725"/>
              <a:ext cx="12692857" cy="813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0477" marR="0" lvl="1" indent="-160238" algn="l" rtl="0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25"/>
                <a:buFont typeface="Arial"/>
                <a:buChar char="•"/>
              </a:pPr>
              <a:r>
                <a:rPr lang="en-US" sz="2125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Simulates attacks to find vulnerabilities.</a:t>
              </a:r>
              <a:endParaRPr/>
            </a:p>
          </p:txBody>
        </p:sp>
      </p:grpSp>
      <p:grpSp>
        <p:nvGrpSpPr>
          <p:cNvPr id="520" name="Google Shape;520;p13"/>
          <p:cNvGrpSpPr/>
          <p:nvPr/>
        </p:nvGrpSpPr>
        <p:grpSpPr>
          <a:xfrm>
            <a:off x="955179" y="4247108"/>
            <a:ext cx="9519642" cy="610046"/>
            <a:chOff x="0" y="-85725"/>
            <a:chExt cx="12692857" cy="813395"/>
          </a:xfrm>
        </p:grpSpPr>
        <p:sp>
          <p:nvSpPr>
            <p:cNvPr id="521" name="Google Shape;521;p13"/>
            <p:cNvSpPr/>
            <p:nvPr/>
          </p:nvSpPr>
          <p:spPr>
            <a:xfrm>
              <a:off x="0" y="0"/>
              <a:ext cx="12692857" cy="727670"/>
            </a:xfrm>
            <a:custGeom>
              <a:avLst/>
              <a:gdLst/>
              <a:ahLst/>
              <a:cxnLst/>
              <a:rect l="l" t="t" r="r" b="b"/>
              <a:pathLst>
                <a:path w="12692857" h="727670" extrusionOk="0">
                  <a:moveTo>
                    <a:pt x="0" y="0"/>
                  </a:moveTo>
                  <a:lnTo>
                    <a:pt x="12692857" y="0"/>
                  </a:lnTo>
                  <a:lnTo>
                    <a:pt x="12692857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3"/>
            <p:cNvSpPr txBox="1"/>
            <p:nvPr/>
          </p:nvSpPr>
          <p:spPr>
            <a:xfrm>
              <a:off x="0" y="-85725"/>
              <a:ext cx="12692857" cy="813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0477" marR="0" lvl="1" indent="-160238" algn="l" rtl="0">
                <a:lnSpc>
                  <a:spcPct val="16174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25"/>
                <a:buFont typeface="Arial"/>
                <a:buChar char="•"/>
              </a:pPr>
              <a:r>
                <a:rPr lang="en-US" sz="2125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Offers both GUI and CLI interfaces.</a:t>
              </a:r>
              <a:endParaRPr/>
            </a:p>
          </p:txBody>
        </p:sp>
      </p:grpSp>
      <p:sp>
        <p:nvSpPr>
          <p:cNvPr id="523" name="Google Shape;523;p13"/>
          <p:cNvSpPr/>
          <p:nvPr/>
        </p:nvSpPr>
        <p:spPr>
          <a:xfrm>
            <a:off x="950416" y="5159425"/>
            <a:ext cx="9529191" cy="4109180"/>
          </a:xfrm>
          <a:custGeom>
            <a:avLst/>
            <a:gdLst/>
            <a:ahLst/>
            <a:cxnLst/>
            <a:rect l="l" t="t" r="r" b="b"/>
            <a:pathLst>
              <a:path w="12705588" h="5478907" extrusionOk="0">
                <a:moveTo>
                  <a:pt x="0" y="159131"/>
                </a:moveTo>
                <a:cubicBezTo>
                  <a:pt x="0" y="71247"/>
                  <a:pt x="71374" y="0"/>
                  <a:pt x="159385" y="0"/>
                </a:cubicBezTo>
                <a:lnTo>
                  <a:pt x="12546203" y="0"/>
                </a:lnTo>
                <a:lnTo>
                  <a:pt x="12546203" y="6350"/>
                </a:lnTo>
                <a:lnTo>
                  <a:pt x="12546203" y="0"/>
                </a:lnTo>
                <a:cubicBezTo>
                  <a:pt x="12634214" y="0"/>
                  <a:pt x="12705588" y="71247"/>
                  <a:pt x="12705588" y="159131"/>
                </a:cubicBezTo>
                <a:lnTo>
                  <a:pt x="12699238" y="159131"/>
                </a:lnTo>
                <a:lnTo>
                  <a:pt x="12705588" y="159131"/>
                </a:lnTo>
                <a:lnTo>
                  <a:pt x="12705588" y="5319649"/>
                </a:lnTo>
                <a:lnTo>
                  <a:pt x="12699238" y="5319649"/>
                </a:lnTo>
                <a:lnTo>
                  <a:pt x="12705588" y="5319649"/>
                </a:lnTo>
                <a:cubicBezTo>
                  <a:pt x="12705588" y="5407533"/>
                  <a:pt x="12634214" y="5478780"/>
                  <a:pt x="12546203" y="5478780"/>
                </a:cubicBezTo>
                <a:lnTo>
                  <a:pt x="12546203" y="5472430"/>
                </a:lnTo>
                <a:lnTo>
                  <a:pt x="12546203" y="5478780"/>
                </a:lnTo>
                <a:lnTo>
                  <a:pt x="159385" y="5478780"/>
                </a:lnTo>
                <a:lnTo>
                  <a:pt x="159385" y="5472430"/>
                </a:lnTo>
                <a:lnTo>
                  <a:pt x="159385" y="5478780"/>
                </a:lnTo>
                <a:cubicBezTo>
                  <a:pt x="71374" y="5478907"/>
                  <a:pt x="0" y="5407660"/>
                  <a:pt x="0" y="5319649"/>
                </a:cubicBezTo>
                <a:lnTo>
                  <a:pt x="0" y="159131"/>
                </a:lnTo>
                <a:lnTo>
                  <a:pt x="6350" y="159131"/>
                </a:lnTo>
                <a:lnTo>
                  <a:pt x="0" y="159131"/>
                </a:lnTo>
                <a:moveTo>
                  <a:pt x="12700" y="159131"/>
                </a:moveTo>
                <a:lnTo>
                  <a:pt x="12700" y="5319649"/>
                </a:lnTo>
                <a:lnTo>
                  <a:pt x="6350" y="5319649"/>
                </a:lnTo>
                <a:lnTo>
                  <a:pt x="12700" y="5319649"/>
                </a:lnTo>
                <a:cubicBezTo>
                  <a:pt x="12700" y="5400548"/>
                  <a:pt x="78359" y="5466080"/>
                  <a:pt x="159385" y="5466080"/>
                </a:cubicBezTo>
                <a:lnTo>
                  <a:pt x="12546203" y="5466080"/>
                </a:lnTo>
                <a:cubicBezTo>
                  <a:pt x="12627229" y="5466080"/>
                  <a:pt x="12692888" y="5400548"/>
                  <a:pt x="12692888" y="5319649"/>
                </a:cubicBezTo>
                <a:lnTo>
                  <a:pt x="12692888" y="159131"/>
                </a:lnTo>
                <a:cubicBezTo>
                  <a:pt x="12692888" y="78232"/>
                  <a:pt x="12627229" y="12700"/>
                  <a:pt x="12546203" y="12700"/>
                </a:cubicBezTo>
                <a:lnTo>
                  <a:pt x="159385" y="12700"/>
                </a:lnTo>
                <a:lnTo>
                  <a:pt x="159385" y="6350"/>
                </a:lnTo>
                <a:lnTo>
                  <a:pt x="159385" y="12700"/>
                </a:lnTo>
                <a:cubicBezTo>
                  <a:pt x="78359" y="12700"/>
                  <a:pt x="12700" y="78232"/>
                  <a:pt x="12700" y="159131"/>
                </a:cubicBezTo>
                <a:close/>
              </a:path>
            </a:pathLst>
          </a:custGeom>
          <a:solidFill>
            <a:srgbClr val="000000">
              <a:alpha val="39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964704" y="5173712"/>
            <a:ext cx="9500615" cy="858107"/>
          </a:xfrm>
          <a:custGeom>
            <a:avLst/>
            <a:gdLst/>
            <a:ahLst/>
            <a:cxnLst/>
            <a:rect l="l" t="t" r="r" b="b"/>
            <a:pathLst>
              <a:path w="12667488" h="1144143" extrusionOk="0">
                <a:moveTo>
                  <a:pt x="0" y="0"/>
                </a:moveTo>
                <a:lnTo>
                  <a:pt x="12667488" y="0"/>
                </a:lnTo>
                <a:lnTo>
                  <a:pt x="12667488" y="1144143"/>
                </a:lnTo>
                <a:lnTo>
                  <a:pt x="0" y="114414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" name="Google Shape;525;p13"/>
          <p:cNvGrpSpPr/>
          <p:nvPr/>
        </p:nvGrpSpPr>
        <p:grpSpPr>
          <a:xfrm>
            <a:off x="1237655" y="5339804"/>
            <a:ext cx="2356694" cy="518815"/>
            <a:chOff x="0" y="-9525"/>
            <a:chExt cx="3142258" cy="691753"/>
          </a:xfrm>
        </p:grpSpPr>
        <p:sp>
          <p:nvSpPr>
            <p:cNvPr id="526" name="Google Shape;526;p13"/>
            <p:cNvSpPr/>
            <p:nvPr/>
          </p:nvSpPr>
          <p:spPr>
            <a:xfrm>
              <a:off x="0" y="0"/>
              <a:ext cx="3142258" cy="682228"/>
            </a:xfrm>
            <a:custGeom>
              <a:avLst/>
              <a:gdLst/>
              <a:ahLst/>
              <a:cxnLst/>
              <a:rect l="l" t="t" r="r" b="b"/>
              <a:pathLst>
                <a:path w="3142258" h="682228" extrusionOk="0">
                  <a:moveTo>
                    <a:pt x="0" y="0"/>
                  </a:moveTo>
                  <a:lnTo>
                    <a:pt x="3142258" y="0"/>
                  </a:lnTo>
                  <a:lnTo>
                    <a:pt x="3142258" y="682228"/>
                  </a:lnTo>
                  <a:lnTo>
                    <a:pt x="0" y="68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3"/>
            <p:cNvSpPr txBox="1"/>
            <p:nvPr/>
          </p:nvSpPr>
          <p:spPr>
            <a:xfrm>
              <a:off x="0" y="-9525"/>
              <a:ext cx="3142258" cy="691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54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Phase</a:t>
              </a:r>
              <a:endParaRPr/>
            </a:p>
          </p:txBody>
        </p:sp>
      </p:grpSp>
      <p:grpSp>
        <p:nvGrpSpPr>
          <p:cNvPr id="528" name="Google Shape;528;p13"/>
          <p:cNvGrpSpPr/>
          <p:nvPr/>
        </p:nvGrpSpPr>
        <p:grpSpPr>
          <a:xfrm>
            <a:off x="5124004" y="5339804"/>
            <a:ext cx="4093815" cy="518815"/>
            <a:chOff x="0" y="-9525"/>
            <a:chExt cx="5458420" cy="691753"/>
          </a:xfrm>
        </p:grpSpPr>
        <p:sp>
          <p:nvSpPr>
            <p:cNvPr id="529" name="Google Shape;529;p13"/>
            <p:cNvSpPr/>
            <p:nvPr/>
          </p:nvSpPr>
          <p:spPr>
            <a:xfrm>
              <a:off x="0" y="0"/>
              <a:ext cx="5458420" cy="682228"/>
            </a:xfrm>
            <a:custGeom>
              <a:avLst/>
              <a:gdLst/>
              <a:ahLst/>
              <a:cxnLst/>
              <a:rect l="l" t="t" r="r" b="b"/>
              <a:pathLst>
                <a:path w="5458420" h="682228" extrusionOk="0">
                  <a:moveTo>
                    <a:pt x="0" y="0"/>
                  </a:moveTo>
                  <a:lnTo>
                    <a:pt x="5458420" y="0"/>
                  </a:lnTo>
                  <a:lnTo>
                    <a:pt x="5458420" y="682228"/>
                  </a:lnTo>
                  <a:lnTo>
                    <a:pt x="0" y="68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3"/>
            <p:cNvSpPr txBox="1"/>
            <p:nvPr/>
          </p:nvSpPr>
          <p:spPr>
            <a:xfrm>
              <a:off x="0" y="-9525"/>
              <a:ext cx="5458420" cy="691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54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Description</a:t>
              </a:r>
              <a:endParaRPr/>
            </a:p>
          </p:txBody>
        </p:sp>
      </p:grpSp>
      <p:sp>
        <p:nvSpPr>
          <p:cNvPr id="531" name="Google Shape;531;p13"/>
          <p:cNvSpPr/>
          <p:nvPr/>
        </p:nvSpPr>
        <p:spPr>
          <a:xfrm>
            <a:off x="964704" y="6031855"/>
            <a:ext cx="9500615" cy="892207"/>
          </a:xfrm>
          <a:custGeom>
            <a:avLst/>
            <a:gdLst/>
            <a:ahLst/>
            <a:cxnLst/>
            <a:rect l="l" t="t" r="r" b="b"/>
            <a:pathLst>
              <a:path w="12667488" h="1189609" extrusionOk="0">
                <a:moveTo>
                  <a:pt x="0" y="0"/>
                </a:moveTo>
                <a:lnTo>
                  <a:pt x="12667488" y="0"/>
                </a:lnTo>
                <a:lnTo>
                  <a:pt x="12667488" y="1189609"/>
                </a:lnTo>
                <a:lnTo>
                  <a:pt x="0" y="1189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2" name="Google Shape;532;p13"/>
          <p:cNvGrpSpPr/>
          <p:nvPr/>
        </p:nvGrpSpPr>
        <p:grpSpPr>
          <a:xfrm>
            <a:off x="1237655" y="6126510"/>
            <a:ext cx="2356694" cy="624333"/>
            <a:chOff x="0" y="-104775"/>
            <a:chExt cx="3142258" cy="832445"/>
          </a:xfrm>
        </p:grpSpPr>
        <p:sp>
          <p:nvSpPr>
            <p:cNvPr id="533" name="Google Shape;533;p13"/>
            <p:cNvSpPr/>
            <p:nvPr/>
          </p:nvSpPr>
          <p:spPr>
            <a:xfrm>
              <a:off x="0" y="0"/>
              <a:ext cx="3142258" cy="727670"/>
            </a:xfrm>
            <a:custGeom>
              <a:avLst/>
              <a:gdLst/>
              <a:ahLst/>
              <a:cxnLst/>
              <a:rect l="l" t="t" r="r" b="b"/>
              <a:pathLst>
                <a:path w="3142258" h="727670" extrusionOk="0">
                  <a:moveTo>
                    <a:pt x="0" y="0"/>
                  </a:moveTo>
                  <a:lnTo>
                    <a:pt x="3142258" y="0"/>
                  </a:lnTo>
                  <a:lnTo>
                    <a:pt x="3142258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3"/>
            <p:cNvSpPr txBox="1"/>
            <p:nvPr/>
          </p:nvSpPr>
          <p:spPr>
            <a:xfrm>
              <a:off x="0" y="-104775"/>
              <a:ext cx="3142258" cy="83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Spider</a:t>
              </a:r>
              <a:endParaRPr/>
            </a:p>
          </p:txBody>
        </p:sp>
      </p:grpSp>
      <p:grpSp>
        <p:nvGrpSpPr>
          <p:cNvPr id="535" name="Google Shape;535;p13"/>
          <p:cNvGrpSpPr/>
          <p:nvPr/>
        </p:nvGrpSpPr>
        <p:grpSpPr>
          <a:xfrm>
            <a:off x="4149477" y="6126510"/>
            <a:ext cx="6043017" cy="624333"/>
            <a:chOff x="0" y="-104775"/>
            <a:chExt cx="8057357" cy="832445"/>
          </a:xfrm>
        </p:grpSpPr>
        <p:sp>
          <p:nvSpPr>
            <p:cNvPr id="536" name="Google Shape;536;p13"/>
            <p:cNvSpPr/>
            <p:nvPr/>
          </p:nvSpPr>
          <p:spPr>
            <a:xfrm>
              <a:off x="0" y="0"/>
              <a:ext cx="8057357" cy="727670"/>
            </a:xfrm>
            <a:custGeom>
              <a:avLst/>
              <a:gdLst/>
              <a:ahLst/>
              <a:cxnLst/>
              <a:rect l="l" t="t" r="r" b="b"/>
              <a:pathLst>
                <a:path w="8057357" h="727670" extrusionOk="0">
                  <a:moveTo>
                    <a:pt x="0" y="0"/>
                  </a:moveTo>
                  <a:lnTo>
                    <a:pt x="8057357" y="0"/>
                  </a:lnTo>
                  <a:lnTo>
                    <a:pt x="8057357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3"/>
            <p:cNvSpPr txBox="1"/>
            <p:nvPr/>
          </p:nvSpPr>
          <p:spPr>
            <a:xfrm>
              <a:off x="0" y="-104775"/>
              <a:ext cx="8057357" cy="83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Crawls the site and builds a sitemap</a:t>
              </a:r>
              <a:endParaRPr/>
            </a:p>
          </p:txBody>
        </p:sp>
      </p:grpSp>
      <p:sp>
        <p:nvSpPr>
          <p:cNvPr id="538" name="Google Shape;538;p13"/>
          <p:cNvSpPr/>
          <p:nvPr/>
        </p:nvSpPr>
        <p:spPr>
          <a:xfrm>
            <a:off x="964704" y="6924080"/>
            <a:ext cx="9500615" cy="1437989"/>
          </a:xfrm>
          <a:custGeom>
            <a:avLst/>
            <a:gdLst/>
            <a:ahLst/>
            <a:cxnLst/>
            <a:rect l="l" t="t" r="r" b="b"/>
            <a:pathLst>
              <a:path w="12667488" h="1917319" extrusionOk="0">
                <a:moveTo>
                  <a:pt x="0" y="0"/>
                </a:moveTo>
                <a:lnTo>
                  <a:pt x="12667488" y="0"/>
                </a:lnTo>
                <a:lnTo>
                  <a:pt x="12667488" y="1917319"/>
                </a:lnTo>
                <a:lnTo>
                  <a:pt x="0" y="191731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9" name="Google Shape;539;p13"/>
          <p:cNvGrpSpPr/>
          <p:nvPr/>
        </p:nvGrpSpPr>
        <p:grpSpPr>
          <a:xfrm>
            <a:off x="1237655" y="7018735"/>
            <a:ext cx="2356694" cy="624333"/>
            <a:chOff x="0" y="-104775"/>
            <a:chExt cx="3142258" cy="832445"/>
          </a:xfrm>
        </p:grpSpPr>
        <p:sp>
          <p:nvSpPr>
            <p:cNvPr id="540" name="Google Shape;540;p13"/>
            <p:cNvSpPr/>
            <p:nvPr/>
          </p:nvSpPr>
          <p:spPr>
            <a:xfrm>
              <a:off x="0" y="0"/>
              <a:ext cx="3142258" cy="727670"/>
            </a:xfrm>
            <a:custGeom>
              <a:avLst/>
              <a:gdLst/>
              <a:ahLst/>
              <a:cxnLst/>
              <a:rect l="l" t="t" r="r" b="b"/>
              <a:pathLst>
                <a:path w="3142258" h="727670" extrusionOk="0">
                  <a:moveTo>
                    <a:pt x="0" y="0"/>
                  </a:moveTo>
                  <a:lnTo>
                    <a:pt x="3142258" y="0"/>
                  </a:lnTo>
                  <a:lnTo>
                    <a:pt x="3142258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3"/>
            <p:cNvSpPr txBox="1"/>
            <p:nvPr/>
          </p:nvSpPr>
          <p:spPr>
            <a:xfrm>
              <a:off x="0" y="-104775"/>
              <a:ext cx="3142258" cy="83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Passive scan</a:t>
              </a:r>
              <a:endParaRPr/>
            </a:p>
          </p:txBody>
        </p:sp>
      </p:grpSp>
      <p:grpSp>
        <p:nvGrpSpPr>
          <p:cNvPr id="542" name="Google Shape;542;p13"/>
          <p:cNvGrpSpPr/>
          <p:nvPr/>
        </p:nvGrpSpPr>
        <p:grpSpPr>
          <a:xfrm>
            <a:off x="4149477" y="7018735"/>
            <a:ext cx="6043017" cy="1170086"/>
            <a:chOff x="0" y="-104775"/>
            <a:chExt cx="8057357" cy="1560115"/>
          </a:xfrm>
        </p:grpSpPr>
        <p:sp>
          <p:nvSpPr>
            <p:cNvPr id="543" name="Google Shape;543;p13"/>
            <p:cNvSpPr/>
            <p:nvPr/>
          </p:nvSpPr>
          <p:spPr>
            <a:xfrm>
              <a:off x="0" y="0"/>
              <a:ext cx="8057357" cy="1455340"/>
            </a:xfrm>
            <a:custGeom>
              <a:avLst/>
              <a:gdLst/>
              <a:ahLst/>
              <a:cxnLst/>
              <a:rect l="l" t="t" r="r" b="b"/>
              <a:pathLst>
                <a:path w="8057357" h="1455340" extrusionOk="0">
                  <a:moveTo>
                    <a:pt x="0" y="0"/>
                  </a:moveTo>
                  <a:lnTo>
                    <a:pt x="8057357" y="0"/>
                  </a:lnTo>
                  <a:lnTo>
                    <a:pt x="8057357" y="1455340"/>
                  </a:lnTo>
                  <a:lnTo>
                    <a:pt x="0" y="14553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3"/>
            <p:cNvSpPr txBox="1"/>
            <p:nvPr/>
          </p:nvSpPr>
          <p:spPr>
            <a:xfrm>
              <a:off x="0" y="-104775"/>
              <a:ext cx="8057357" cy="15601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Observes responses (e.g., insecure cookies, headers)</a:t>
              </a:r>
              <a:endParaRPr/>
            </a:p>
          </p:txBody>
        </p:sp>
      </p:grpSp>
      <p:sp>
        <p:nvSpPr>
          <p:cNvPr id="545" name="Google Shape;545;p13"/>
          <p:cNvSpPr/>
          <p:nvPr/>
        </p:nvSpPr>
        <p:spPr>
          <a:xfrm>
            <a:off x="964704" y="8362057"/>
            <a:ext cx="9500615" cy="892207"/>
          </a:xfrm>
          <a:custGeom>
            <a:avLst/>
            <a:gdLst/>
            <a:ahLst/>
            <a:cxnLst/>
            <a:rect l="l" t="t" r="r" b="b"/>
            <a:pathLst>
              <a:path w="12667488" h="1189609" extrusionOk="0">
                <a:moveTo>
                  <a:pt x="0" y="0"/>
                </a:moveTo>
                <a:lnTo>
                  <a:pt x="12667488" y="0"/>
                </a:lnTo>
                <a:lnTo>
                  <a:pt x="12667488" y="1189609"/>
                </a:lnTo>
                <a:lnTo>
                  <a:pt x="0" y="118960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6" name="Google Shape;546;p13"/>
          <p:cNvGrpSpPr/>
          <p:nvPr/>
        </p:nvGrpSpPr>
        <p:grpSpPr>
          <a:xfrm>
            <a:off x="1237655" y="8456711"/>
            <a:ext cx="2356694" cy="624333"/>
            <a:chOff x="0" y="-104775"/>
            <a:chExt cx="3142258" cy="832445"/>
          </a:xfrm>
        </p:grpSpPr>
        <p:sp>
          <p:nvSpPr>
            <p:cNvPr id="547" name="Google Shape;547;p13"/>
            <p:cNvSpPr/>
            <p:nvPr/>
          </p:nvSpPr>
          <p:spPr>
            <a:xfrm>
              <a:off x="0" y="0"/>
              <a:ext cx="3142258" cy="727670"/>
            </a:xfrm>
            <a:custGeom>
              <a:avLst/>
              <a:gdLst/>
              <a:ahLst/>
              <a:cxnLst/>
              <a:rect l="l" t="t" r="r" b="b"/>
              <a:pathLst>
                <a:path w="3142258" h="727670" extrusionOk="0">
                  <a:moveTo>
                    <a:pt x="0" y="0"/>
                  </a:moveTo>
                  <a:lnTo>
                    <a:pt x="3142258" y="0"/>
                  </a:lnTo>
                  <a:lnTo>
                    <a:pt x="3142258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3"/>
            <p:cNvSpPr txBox="1"/>
            <p:nvPr/>
          </p:nvSpPr>
          <p:spPr>
            <a:xfrm>
              <a:off x="0" y="-104775"/>
              <a:ext cx="3142258" cy="83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Active scan</a:t>
              </a:r>
              <a:endParaRPr/>
            </a:p>
          </p:txBody>
        </p:sp>
      </p:grpSp>
      <p:grpSp>
        <p:nvGrpSpPr>
          <p:cNvPr id="549" name="Google Shape;549;p13"/>
          <p:cNvGrpSpPr/>
          <p:nvPr/>
        </p:nvGrpSpPr>
        <p:grpSpPr>
          <a:xfrm>
            <a:off x="4149477" y="8456711"/>
            <a:ext cx="6043017" cy="624333"/>
            <a:chOff x="0" y="-104775"/>
            <a:chExt cx="8057357" cy="832445"/>
          </a:xfrm>
        </p:grpSpPr>
        <p:sp>
          <p:nvSpPr>
            <p:cNvPr id="550" name="Google Shape;550;p13"/>
            <p:cNvSpPr/>
            <p:nvPr/>
          </p:nvSpPr>
          <p:spPr>
            <a:xfrm>
              <a:off x="0" y="0"/>
              <a:ext cx="8057357" cy="727670"/>
            </a:xfrm>
            <a:custGeom>
              <a:avLst/>
              <a:gdLst/>
              <a:ahLst/>
              <a:cxnLst/>
              <a:rect l="l" t="t" r="r" b="b"/>
              <a:pathLst>
                <a:path w="8057357" h="727670" extrusionOk="0">
                  <a:moveTo>
                    <a:pt x="0" y="0"/>
                  </a:moveTo>
                  <a:lnTo>
                    <a:pt x="8057357" y="0"/>
                  </a:lnTo>
                  <a:lnTo>
                    <a:pt x="8057357" y="727670"/>
                  </a:lnTo>
                  <a:lnTo>
                    <a:pt x="0" y="727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3"/>
            <p:cNvSpPr txBox="1"/>
            <p:nvPr/>
          </p:nvSpPr>
          <p:spPr>
            <a:xfrm>
              <a:off x="0" y="-104775"/>
              <a:ext cx="8057357" cy="83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Tries to exploit issues (XSS, SQLi, etc.)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4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2" name="Google Shape;562;p14"/>
          <p:cNvGrpSpPr/>
          <p:nvPr/>
        </p:nvGrpSpPr>
        <p:grpSpPr>
          <a:xfrm>
            <a:off x="549028" y="424308"/>
            <a:ext cx="5725125" cy="620165"/>
            <a:chOff x="0" y="-9525"/>
            <a:chExt cx="7633500" cy="826886"/>
          </a:xfrm>
        </p:grpSpPr>
        <p:sp>
          <p:nvSpPr>
            <p:cNvPr id="563" name="Google Shape;563;p14"/>
            <p:cNvSpPr/>
            <p:nvPr/>
          </p:nvSpPr>
          <p:spPr>
            <a:xfrm>
              <a:off x="0" y="0"/>
              <a:ext cx="7633399" cy="817361"/>
            </a:xfrm>
            <a:custGeom>
              <a:avLst/>
              <a:gdLst/>
              <a:ahLst/>
              <a:cxnLst/>
              <a:rect l="l" t="t" r="r" b="b"/>
              <a:pathLst>
                <a:path w="7633399" h="817361" extrusionOk="0">
                  <a:moveTo>
                    <a:pt x="0" y="0"/>
                  </a:moveTo>
                  <a:lnTo>
                    <a:pt x="7633399" y="0"/>
                  </a:lnTo>
                  <a:lnTo>
                    <a:pt x="7633399" y="817361"/>
                  </a:lnTo>
                  <a:lnTo>
                    <a:pt x="0" y="8173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4"/>
            <p:cNvSpPr txBox="1"/>
            <p:nvPr/>
          </p:nvSpPr>
          <p:spPr>
            <a:xfrm>
              <a:off x="0" y="-9525"/>
              <a:ext cx="7633500" cy="82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44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Hands-on Activity</a:t>
              </a:r>
              <a:endParaRPr/>
            </a:p>
          </p:txBody>
        </p:sp>
      </p:grpSp>
      <p:grpSp>
        <p:nvGrpSpPr>
          <p:cNvPr id="565" name="Google Shape;565;p14"/>
          <p:cNvGrpSpPr/>
          <p:nvPr/>
        </p:nvGrpSpPr>
        <p:grpSpPr>
          <a:xfrm>
            <a:off x="549028" y="1295252"/>
            <a:ext cx="9648900" cy="382757"/>
            <a:chOff x="0" y="-19050"/>
            <a:chExt cx="12865200" cy="510343"/>
          </a:xfrm>
        </p:grpSpPr>
        <p:sp>
          <p:nvSpPr>
            <p:cNvPr id="566" name="Google Shape;566;p14"/>
            <p:cNvSpPr/>
            <p:nvPr/>
          </p:nvSpPr>
          <p:spPr>
            <a:xfrm>
              <a:off x="0" y="0"/>
              <a:ext cx="12865105" cy="491293"/>
            </a:xfrm>
            <a:custGeom>
              <a:avLst/>
              <a:gdLst/>
              <a:ahLst/>
              <a:cxnLst/>
              <a:rect l="l" t="t" r="r" b="b"/>
              <a:pathLst>
                <a:path w="12865105" h="491293" extrusionOk="0">
                  <a:moveTo>
                    <a:pt x="0" y="0"/>
                  </a:moveTo>
                  <a:lnTo>
                    <a:pt x="12865105" y="0"/>
                  </a:lnTo>
                  <a:lnTo>
                    <a:pt x="12865105" y="491293"/>
                  </a:lnTo>
                  <a:lnTo>
                    <a:pt x="0" y="4912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4"/>
            <p:cNvSpPr txBox="1"/>
            <p:nvPr/>
          </p:nvSpPr>
          <p:spPr>
            <a:xfrm>
              <a:off x="0" y="-19050"/>
              <a:ext cx="128652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76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Scan a Local Web App using ZAP to understand the functionality.</a:t>
              </a:r>
              <a:endParaRPr/>
            </a:p>
          </p:txBody>
        </p:sp>
      </p:grpSp>
      <p:sp>
        <p:nvSpPr>
          <p:cNvPr id="568" name="Google Shape;568;p14"/>
          <p:cNvSpPr/>
          <p:nvPr/>
        </p:nvSpPr>
        <p:spPr>
          <a:xfrm>
            <a:off x="725389" y="1686520"/>
            <a:ext cx="19050" cy="8171593"/>
          </a:xfrm>
          <a:custGeom>
            <a:avLst/>
            <a:gdLst/>
            <a:ahLst/>
            <a:cxnLst/>
            <a:rect l="l" t="t" r="r" b="b"/>
            <a:pathLst>
              <a:path w="25400" h="10895457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cubicBezTo>
                  <a:pt x="19685" y="0"/>
                  <a:pt x="25400" y="5715"/>
                  <a:pt x="25400" y="12700"/>
                </a:cubicBezTo>
                <a:lnTo>
                  <a:pt x="25400" y="10882757"/>
                </a:lnTo>
                <a:cubicBezTo>
                  <a:pt x="25400" y="10889742"/>
                  <a:pt x="19685" y="10895457"/>
                  <a:pt x="12700" y="10895457"/>
                </a:cubicBezTo>
                <a:cubicBezTo>
                  <a:pt x="5715" y="10895457"/>
                  <a:pt x="0" y="10889742"/>
                  <a:pt x="0" y="10882757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882774" y="2029718"/>
            <a:ext cx="470630" cy="19050"/>
          </a:xfrm>
          <a:custGeom>
            <a:avLst/>
            <a:gdLst/>
            <a:ahLst/>
            <a:cxnLst/>
            <a:rect l="l" t="t" r="r" b="b"/>
            <a:pathLst>
              <a:path w="627507" h="25400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614807" y="0"/>
                </a:lnTo>
                <a:cubicBezTo>
                  <a:pt x="621792" y="0"/>
                  <a:pt x="627507" y="5715"/>
                  <a:pt x="627507" y="12700"/>
                </a:cubicBezTo>
                <a:cubicBezTo>
                  <a:pt x="627507" y="19685"/>
                  <a:pt x="621792" y="25400"/>
                  <a:pt x="61480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" name="Google Shape;570;p14"/>
          <p:cNvGrpSpPr/>
          <p:nvPr/>
        </p:nvGrpSpPr>
        <p:grpSpPr>
          <a:xfrm>
            <a:off x="544190" y="1858119"/>
            <a:ext cx="362426" cy="362426"/>
            <a:chOff x="0" y="0"/>
            <a:chExt cx="483235" cy="483235"/>
          </a:xfrm>
        </p:grpSpPr>
        <p:sp>
          <p:nvSpPr>
            <p:cNvPr id="571" name="Google Shape;571;p14"/>
            <p:cNvSpPr/>
            <p:nvPr/>
          </p:nvSpPr>
          <p:spPr>
            <a:xfrm>
              <a:off x="6350" y="6350"/>
              <a:ext cx="470535" cy="470535"/>
            </a:xfrm>
            <a:custGeom>
              <a:avLst/>
              <a:gdLst/>
              <a:ahLst/>
              <a:cxnLst/>
              <a:rect l="l" t="t" r="r" b="b"/>
              <a:pathLst>
                <a:path w="470535" h="470535" extrusionOk="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382651" y="0"/>
                  </a:lnTo>
                  <a:cubicBezTo>
                    <a:pt x="431165" y="0"/>
                    <a:pt x="470535" y="39370"/>
                    <a:pt x="470535" y="87884"/>
                  </a:cubicBezTo>
                  <a:lnTo>
                    <a:pt x="470535" y="382651"/>
                  </a:lnTo>
                  <a:cubicBezTo>
                    <a:pt x="470535" y="431165"/>
                    <a:pt x="431165" y="470535"/>
                    <a:pt x="382651" y="470535"/>
                  </a:cubicBezTo>
                  <a:lnTo>
                    <a:pt x="87884" y="470535"/>
                  </a:lnTo>
                  <a:cubicBezTo>
                    <a:pt x="39370" y="470535"/>
                    <a:pt x="0" y="431165"/>
                    <a:pt x="0" y="382651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4"/>
            <p:cNvSpPr/>
            <p:nvPr/>
          </p:nvSpPr>
          <p:spPr>
            <a:xfrm>
              <a:off x="0" y="0"/>
              <a:ext cx="483235" cy="483235"/>
            </a:xfrm>
            <a:custGeom>
              <a:avLst/>
              <a:gdLst/>
              <a:ahLst/>
              <a:cxnLst/>
              <a:rect l="l" t="t" r="r" b="b"/>
              <a:pathLst>
                <a:path w="483235" h="483235" extrusionOk="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389001" y="0"/>
                  </a:lnTo>
                  <a:lnTo>
                    <a:pt x="389001" y="6350"/>
                  </a:lnTo>
                  <a:lnTo>
                    <a:pt x="389001" y="0"/>
                  </a:lnTo>
                  <a:lnTo>
                    <a:pt x="389001" y="6350"/>
                  </a:lnTo>
                  <a:lnTo>
                    <a:pt x="389001" y="0"/>
                  </a:lnTo>
                  <a:cubicBezTo>
                    <a:pt x="441071" y="0"/>
                    <a:pt x="483235" y="42164"/>
                    <a:pt x="483235" y="94234"/>
                  </a:cubicBezTo>
                  <a:lnTo>
                    <a:pt x="483235" y="389001"/>
                  </a:lnTo>
                  <a:lnTo>
                    <a:pt x="476885" y="389001"/>
                  </a:lnTo>
                  <a:lnTo>
                    <a:pt x="483235" y="389001"/>
                  </a:lnTo>
                  <a:cubicBezTo>
                    <a:pt x="483235" y="441071"/>
                    <a:pt x="441071" y="483235"/>
                    <a:pt x="389001" y="483235"/>
                  </a:cubicBezTo>
                  <a:lnTo>
                    <a:pt x="389001" y="476885"/>
                  </a:lnTo>
                  <a:lnTo>
                    <a:pt x="389001" y="483235"/>
                  </a:lnTo>
                  <a:lnTo>
                    <a:pt x="94234" y="483235"/>
                  </a:lnTo>
                  <a:lnTo>
                    <a:pt x="94234" y="476885"/>
                  </a:lnTo>
                  <a:lnTo>
                    <a:pt x="94234" y="483235"/>
                  </a:lnTo>
                  <a:cubicBezTo>
                    <a:pt x="42164" y="483235"/>
                    <a:pt x="0" y="441071"/>
                    <a:pt x="0" y="389001"/>
                  </a:cubicBezTo>
                  <a:lnTo>
                    <a:pt x="0" y="94234"/>
                  </a:lnTo>
                  <a:lnTo>
                    <a:pt x="6350" y="94234"/>
                  </a:lnTo>
                  <a:lnTo>
                    <a:pt x="0" y="94234"/>
                  </a:lnTo>
                  <a:moveTo>
                    <a:pt x="12700" y="94234"/>
                  </a:moveTo>
                  <a:lnTo>
                    <a:pt x="12700" y="389001"/>
                  </a:lnTo>
                  <a:lnTo>
                    <a:pt x="6350" y="389001"/>
                  </a:lnTo>
                  <a:lnTo>
                    <a:pt x="12700" y="389001"/>
                  </a:lnTo>
                  <a:cubicBezTo>
                    <a:pt x="12700" y="433959"/>
                    <a:pt x="49149" y="470535"/>
                    <a:pt x="94234" y="470535"/>
                  </a:cubicBezTo>
                  <a:lnTo>
                    <a:pt x="389001" y="470535"/>
                  </a:lnTo>
                  <a:cubicBezTo>
                    <a:pt x="433959" y="470535"/>
                    <a:pt x="470535" y="434086"/>
                    <a:pt x="470535" y="389001"/>
                  </a:cubicBezTo>
                  <a:lnTo>
                    <a:pt x="470535" y="94234"/>
                  </a:lnTo>
                  <a:lnTo>
                    <a:pt x="476885" y="94234"/>
                  </a:lnTo>
                  <a:lnTo>
                    <a:pt x="470535" y="94234"/>
                  </a:lnTo>
                  <a:cubicBezTo>
                    <a:pt x="470535" y="49149"/>
                    <a:pt x="433959" y="12700"/>
                    <a:pt x="389001" y="12700"/>
                  </a:cubicBezTo>
                  <a:lnTo>
                    <a:pt x="94234" y="12700"/>
                  </a:lnTo>
                  <a:lnTo>
                    <a:pt x="94234" y="6350"/>
                  </a:lnTo>
                  <a:lnTo>
                    <a:pt x="94234" y="12700"/>
                  </a:lnTo>
                  <a:cubicBezTo>
                    <a:pt x="49149" y="12700"/>
                    <a:pt x="12700" y="49149"/>
                    <a:pt x="12700" y="94234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" name="Google Shape;573;p14"/>
          <p:cNvGrpSpPr/>
          <p:nvPr/>
        </p:nvGrpSpPr>
        <p:grpSpPr>
          <a:xfrm>
            <a:off x="607665" y="1892201"/>
            <a:ext cx="235350" cy="294188"/>
            <a:chOff x="0" y="0"/>
            <a:chExt cx="313800" cy="392250"/>
          </a:xfrm>
        </p:grpSpPr>
        <p:sp>
          <p:nvSpPr>
            <p:cNvPr id="574" name="Google Shape;574;p14"/>
            <p:cNvSpPr/>
            <p:nvPr/>
          </p:nvSpPr>
          <p:spPr>
            <a:xfrm>
              <a:off x="0" y="0"/>
              <a:ext cx="313730" cy="392113"/>
            </a:xfrm>
            <a:custGeom>
              <a:avLst/>
              <a:gdLst/>
              <a:ahLst/>
              <a:cxnLst/>
              <a:rect l="l" t="t" r="r" b="b"/>
              <a:pathLst>
                <a:path w="313730" h="392113" extrusionOk="0">
                  <a:moveTo>
                    <a:pt x="0" y="0"/>
                  </a:moveTo>
                  <a:lnTo>
                    <a:pt x="313730" y="0"/>
                  </a:lnTo>
                  <a:lnTo>
                    <a:pt x="313730" y="392113"/>
                  </a:lnTo>
                  <a:lnTo>
                    <a:pt x="0" y="392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4"/>
            <p:cNvSpPr txBox="1"/>
            <p:nvPr/>
          </p:nvSpPr>
          <p:spPr>
            <a:xfrm>
              <a:off x="0" y="19050"/>
              <a:ext cx="3138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</a:t>
              </a:r>
              <a:endParaRPr/>
            </a:p>
          </p:txBody>
        </p:sp>
      </p:grpSp>
      <p:grpSp>
        <p:nvGrpSpPr>
          <p:cNvPr id="576" name="Google Shape;576;p14"/>
          <p:cNvGrpSpPr/>
          <p:nvPr/>
        </p:nvGrpSpPr>
        <p:grpSpPr>
          <a:xfrm>
            <a:off x="1510010" y="1829097"/>
            <a:ext cx="2353500" cy="405225"/>
            <a:chOff x="0" y="-19050"/>
            <a:chExt cx="3138000" cy="540300"/>
          </a:xfrm>
        </p:grpSpPr>
        <p:sp>
          <p:nvSpPr>
            <p:cNvPr id="577" name="Google Shape;577;p14"/>
            <p:cNvSpPr/>
            <p:nvPr/>
          </p:nvSpPr>
          <p:spPr>
            <a:xfrm>
              <a:off x="0" y="0"/>
              <a:ext cx="3137892" cy="521132"/>
            </a:xfrm>
            <a:custGeom>
              <a:avLst/>
              <a:gdLst/>
              <a:ahLst/>
              <a:cxnLst/>
              <a:rect l="l" t="t" r="r" b="b"/>
              <a:pathLst>
                <a:path w="3137892" h="521132" extrusionOk="0">
                  <a:moveTo>
                    <a:pt x="0" y="0"/>
                  </a:moveTo>
                  <a:lnTo>
                    <a:pt x="3137892" y="0"/>
                  </a:lnTo>
                  <a:lnTo>
                    <a:pt x="3137892" y="521132"/>
                  </a:lnTo>
                  <a:lnTo>
                    <a:pt x="0" y="521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4"/>
            <p:cNvSpPr txBox="1"/>
            <p:nvPr/>
          </p:nvSpPr>
          <p:spPr>
            <a:xfrm>
              <a:off x="0" y="-19050"/>
              <a:ext cx="31380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75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Install ZAP</a:t>
              </a:r>
              <a:endParaRPr/>
            </a:p>
          </p:txBody>
        </p:sp>
      </p:grpSp>
      <p:grpSp>
        <p:nvGrpSpPr>
          <p:cNvPr id="579" name="Google Shape;579;p14"/>
          <p:cNvGrpSpPr/>
          <p:nvPr/>
        </p:nvGrpSpPr>
        <p:grpSpPr>
          <a:xfrm>
            <a:off x="1510010" y="2214355"/>
            <a:ext cx="16229025" cy="451800"/>
            <a:chOff x="0" y="-76200"/>
            <a:chExt cx="21638700" cy="602400"/>
          </a:xfrm>
        </p:grpSpPr>
        <p:sp>
          <p:nvSpPr>
            <p:cNvPr id="580" name="Google Shape;580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#mac: MIGHT NOT BE SUPPORTED </a:t>
              </a:r>
              <a:endParaRPr/>
            </a:p>
          </p:txBody>
        </p:sp>
      </p:grpSp>
      <p:grpSp>
        <p:nvGrpSpPr>
          <p:cNvPr id="582" name="Google Shape;582;p14"/>
          <p:cNvGrpSpPr/>
          <p:nvPr/>
        </p:nvGrpSpPr>
        <p:grpSpPr>
          <a:xfrm>
            <a:off x="1510010" y="2622143"/>
            <a:ext cx="16229025" cy="451800"/>
            <a:chOff x="0" y="-76200"/>
            <a:chExt cx="21638700" cy="602400"/>
          </a:xfrm>
        </p:grpSpPr>
        <p:sp>
          <p:nvSpPr>
            <p:cNvPr id="583" name="Google Shape;583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brew install --cask owasp-zap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, </a:t>
              </a:r>
              <a:endParaRPr/>
            </a:p>
          </p:txBody>
        </p:sp>
      </p:grpSp>
      <p:grpSp>
        <p:nvGrpSpPr>
          <p:cNvPr id="585" name="Google Shape;585;p14"/>
          <p:cNvGrpSpPr/>
          <p:nvPr/>
        </p:nvGrpSpPr>
        <p:grpSpPr>
          <a:xfrm>
            <a:off x="1510010" y="3029933"/>
            <a:ext cx="16229025" cy="451800"/>
            <a:chOff x="0" y="-76200"/>
            <a:chExt cx="21638700" cy="602400"/>
          </a:xfrm>
        </p:grpSpPr>
        <p:sp>
          <p:nvSpPr>
            <p:cNvPr id="586" name="Google Shape;586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To run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</a:t>
              </a:r>
              <a:r>
                <a:rPr lang="en-US" sz="1899" b="1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open -a "OWASP ZAP"</a:t>
              </a:r>
              <a:endParaRPr/>
            </a:p>
          </p:txBody>
        </p:sp>
      </p:grpSp>
      <p:grpSp>
        <p:nvGrpSpPr>
          <p:cNvPr id="588" name="Google Shape;588;p14"/>
          <p:cNvGrpSpPr/>
          <p:nvPr/>
        </p:nvGrpSpPr>
        <p:grpSpPr>
          <a:xfrm>
            <a:off x="1510010" y="3805535"/>
            <a:ext cx="16229025" cy="451800"/>
            <a:chOff x="0" y="-76200"/>
            <a:chExt cx="21638700" cy="602400"/>
          </a:xfrm>
        </p:grpSpPr>
        <p:sp>
          <p:nvSpPr>
            <p:cNvPr id="589" name="Google Shape;589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#Linux:</a:t>
              </a:r>
              <a:endParaRPr/>
            </a:p>
          </p:txBody>
        </p:sp>
      </p:grpSp>
      <p:grpSp>
        <p:nvGrpSpPr>
          <p:cNvPr id="591" name="Google Shape;591;p14"/>
          <p:cNvGrpSpPr/>
          <p:nvPr/>
        </p:nvGrpSpPr>
        <p:grpSpPr>
          <a:xfrm>
            <a:off x="1510010" y="4213324"/>
            <a:ext cx="16229025" cy="451800"/>
            <a:chOff x="0" y="-76200"/>
            <a:chExt cx="21638700" cy="602400"/>
          </a:xfrm>
        </p:grpSpPr>
        <p:sp>
          <p:nvSpPr>
            <p:cNvPr id="592" name="Google Shape;592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sudo apt update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899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sudo apt install snapd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899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sudo snap install zaproxy [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installs ZAP via </a:t>
              </a:r>
              <a:r>
                <a:rPr lang="en-US" sz="1899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Snap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r>
                <a:rPr lang="en-US" sz="1899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]</a:t>
              </a:r>
              <a:endParaRPr/>
            </a:p>
          </p:txBody>
        </p:sp>
      </p:grpSp>
      <p:grpSp>
        <p:nvGrpSpPr>
          <p:cNvPr id="594" name="Google Shape;594;p14"/>
          <p:cNvGrpSpPr/>
          <p:nvPr/>
        </p:nvGrpSpPr>
        <p:grpSpPr>
          <a:xfrm>
            <a:off x="1510010" y="4621114"/>
            <a:ext cx="16229025" cy="451800"/>
            <a:chOff x="0" y="-76200"/>
            <a:chExt cx="21638700" cy="602400"/>
          </a:xfrm>
        </p:grpSpPr>
        <p:sp>
          <p:nvSpPr>
            <p:cNvPr id="595" name="Google Shape;595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To run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</a:t>
              </a:r>
              <a:r>
                <a:rPr lang="en-US" sz="1899" b="1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zaproxy</a:t>
              </a:r>
              <a:endParaRPr/>
            </a:p>
          </p:txBody>
        </p:sp>
      </p:grpSp>
      <p:sp>
        <p:nvSpPr>
          <p:cNvPr id="597" name="Google Shape;597;p14"/>
          <p:cNvSpPr/>
          <p:nvPr/>
        </p:nvSpPr>
        <p:spPr>
          <a:xfrm>
            <a:off x="882774" y="5648920"/>
            <a:ext cx="470630" cy="19050"/>
          </a:xfrm>
          <a:custGeom>
            <a:avLst/>
            <a:gdLst/>
            <a:ahLst/>
            <a:cxnLst/>
            <a:rect l="l" t="t" r="r" b="b"/>
            <a:pathLst>
              <a:path w="627507" h="25400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614807" y="0"/>
                </a:lnTo>
                <a:cubicBezTo>
                  <a:pt x="621792" y="0"/>
                  <a:pt x="627507" y="5715"/>
                  <a:pt x="627507" y="12700"/>
                </a:cubicBezTo>
                <a:cubicBezTo>
                  <a:pt x="627507" y="19685"/>
                  <a:pt x="621792" y="25400"/>
                  <a:pt x="61480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" name="Google Shape;598;p14"/>
          <p:cNvGrpSpPr/>
          <p:nvPr/>
        </p:nvGrpSpPr>
        <p:grpSpPr>
          <a:xfrm>
            <a:off x="544190" y="5477321"/>
            <a:ext cx="362426" cy="362426"/>
            <a:chOff x="0" y="0"/>
            <a:chExt cx="483235" cy="483235"/>
          </a:xfrm>
        </p:grpSpPr>
        <p:sp>
          <p:nvSpPr>
            <p:cNvPr id="599" name="Google Shape;599;p14"/>
            <p:cNvSpPr/>
            <p:nvPr/>
          </p:nvSpPr>
          <p:spPr>
            <a:xfrm>
              <a:off x="6350" y="6350"/>
              <a:ext cx="470535" cy="470535"/>
            </a:xfrm>
            <a:custGeom>
              <a:avLst/>
              <a:gdLst/>
              <a:ahLst/>
              <a:cxnLst/>
              <a:rect l="l" t="t" r="r" b="b"/>
              <a:pathLst>
                <a:path w="470535" h="470535" extrusionOk="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382651" y="0"/>
                  </a:lnTo>
                  <a:cubicBezTo>
                    <a:pt x="431165" y="0"/>
                    <a:pt x="470535" y="39370"/>
                    <a:pt x="470535" y="87884"/>
                  </a:cubicBezTo>
                  <a:lnTo>
                    <a:pt x="470535" y="382651"/>
                  </a:lnTo>
                  <a:cubicBezTo>
                    <a:pt x="470535" y="431165"/>
                    <a:pt x="431165" y="470535"/>
                    <a:pt x="382651" y="470535"/>
                  </a:cubicBezTo>
                  <a:lnTo>
                    <a:pt x="87884" y="470535"/>
                  </a:lnTo>
                  <a:cubicBezTo>
                    <a:pt x="39370" y="470535"/>
                    <a:pt x="0" y="431165"/>
                    <a:pt x="0" y="382651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4"/>
            <p:cNvSpPr/>
            <p:nvPr/>
          </p:nvSpPr>
          <p:spPr>
            <a:xfrm>
              <a:off x="0" y="0"/>
              <a:ext cx="483235" cy="483235"/>
            </a:xfrm>
            <a:custGeom>
              <a:avLst/>
              <a:gdLst/>
              <a:ahLst/>
              <a:cxnLst/>
              <a:rect l="l" t="t" r="r" b="b"/>
              <a:pathLst>
                <a:path w="483235" h="483235" extrusionOk="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389001" y="0"/>
                  </a:lnTo>
                  <a:lnTo>
                    <a:pt x="389001" y="6350"/>
                  </a:lnTo>
                  <a:lnTo>
                    <a:pt x="389001" y="0"/>
                  </a:lnTo>
                  <a:lnTo>
                    <a:pt x="389001" y="6350"/>
                  </a:lnTo>
                  <a:lnTo>
                    <a:pt x="389001" y="0"/>
                  </a:lnTo>
                  <a:cubicBezTo>
                    <a:pt x="441071" y="0"/>
                    <a:pt x="483235" y="42164"/>
                    <a:pt x="483235" y="94234"/>
                  </a:cubicBezTo>
                  <a:lnTo>
                    <a:pt x="483235" y="389001"/>
                  </a:lnTo>
                  <a:lnTo>
                    <a:pt x="476885" y="389001"/>
                  </a:lnTo>
                  <a:lnTo>
                    <a:pt x="483235" y="389001"/>
                  </a:lnTo>
                  <a:cubicBezTo>
                    <a:pt x="483235" y="441071"/>
                    <a:pt x="441071" y="483235"/>
                    <a:pt x="389001" y="483235"/>
                  </a:cubicBezTo>
                  <a:lnTo>
                    <a:pt x="389001" y="476885"/>
                  </a:lnTo>
                  <a:lnTo>
                    <a:pt x="389001" y="483235"/>
                  </a:lnTo>
                  <a:lnTo>
                    <a:pt x="94234" y="483235"/>
                  </a:lnTo>
                  <a:lnTo>
                    <a:pt x="94234" y="476885"/>
                  </a:lnTo>
                  <a:lnTo>
                    <a:pt x="94234" y="483235"/>
                  </a:lnTo>
                  <a:cubicBezTo>
                    <a:pt x="42164" y="483235"/>
                    <a:pt x="0" y="441071"/>
                    <a:pt x="0" y="389001"/>
                  </a:cubicBezTo>
                  <a:lnTo>
                    <a:pt x="0" y="94234"/>
                  </a:lnTo>
                  <a:lnTo>
                    <a:pt x="6350" y="94234"/>
                  </a:lnTo>
                  <a:lnTo>
                    <a:pt x="0" y="94234"/>
                  </a:lnTo>
                  <a:moveTo>
                    <a:pt x="12700" y="94234"/>
                  </a:moveTo>
                  <a:lnTo>
                    <a:pt x="12700" y="389001"/>
                  </a:lnTo>
                  <a:lnTo>
                    <a:pt x="6350" y="389001"/>
                  </a:lnTo>
                  <a:lnTo>
                    <a:pt x="12700" y="389001"/>
                  </a:lnTo>
                  <a:cubicBezTo>
                    <a:pt x="12700" y="433959"/>
                    <a:pt x="49149" y="470535"/>
                    <a:pt x="94234" y="470535"/>
                  </a:cubicBezTo>
                  <a:lnTo>
                    <a:pt x="389001" y="470535"/>
                  </a:lnTo>
                  <a:cubicBezTo>
                    <a:pt x="433959" y="470535"/>
                    <a:pt x="470535" y="434086"/>
                    <a:pt x="470535" y="389001"/>
                  </a:cubicBezTo>
                  <a:lnTo>
                    <a:pt x="470535" y="94234"/>
                  </a:lnTo>
                  <a:lnTo>
                    <a:pt x="476885" y="94234"/>
                  </a:lnTo>
                  <a:lnTo>
                    <a:pt x="470535" y="94234"/>
                  </a:lnTo>
                  <a:cubicBezTo>
                    <a:pt x="470535" y="49149"/>
                    <a:pt x="433959" y="12700"/>
                    <a:pt x="389001" y="12700"/>
                  </a:cubicBezTo>
                  <a:lnTo>
                    <a:pt x="94234" y="12700"/>
                  </a:lnTo>
                  <a:lnTo>
                    <a:pt x="94234" y="6350"/>
                  </a:lnTo>
                  <a:lnTo>
                    <a:pt x="94234" y="12700"/>
                  </a:lnTo>
                  <a:cubicBezTo>
                    <a:pt x="49149" y="12700"/>
                    <a:pt x="12700" y="49149"/>
                    <a:pt x="12700" y="94234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1" name="Google Shape;601;p14"/>
          <p:cNvGrpSpPr/>
          <p:nvPr/>
        </p:nvGrpSpPr>
        <p:grpSpPr>
          <a:xfrm>
            <a:off x="607665" y="5511402"/>
            <a:ext cx="235350" cy="294188"/>
            <a:chOff x="0" y="0"/>
            <a:chExt cx="313800" cy="392250"/>
          </a:xfrm>
        </p:grpSpPr>
        <p:sp>
          <p:nvSpPr>
            <p:cNvPr id="602" name="Google Shape;602;p14"/>
            <p:cNvSpPr/>
            <p:nvPr/>
          </p:nvSpPr>
          <p:spPr>
            <a:xfrm>
              <a:off x="0" y="0"/>
              <a:ext cx="313730" cy="392113"/>
            </a:xfrm>
            <a:custGeom>
              <a:avLst/>
              <a:gdLst/>
              <a:ahLst/>
              <a:cxnLst/>
              <a:rect l="l" t="t" r="r" b="b"/>
              <a:pathLst>
                <a:path w="313730" h="392113" extrusionOk="0">
                  <a:moveTo>
                    <a:pt x="0" y="0"/>
                  </a:moveTo>
                  <a:lnTo>
                    <a:pt x="313730" y="0"/>
                  </a:lnTo>
                  <a:lnTo>
                    <a:pt x="313730" y="392113"/>
                  </a:lnTo>
                  <a:lnTo>
                    <a:pt x="0" y="392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4"/>
            <p:cNvSpPr txBox="1"/>
            <p:nvPr/>
          </p:nvSpPr>
          <p:spPr>
            <a:xfrm>
              <a:off x="0" y="19050"/>
              <a:ext cx="3138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</a:t>
              </a:r>
              <a:endParaRPr/>
            </a:p>
          </p:txBody>
        </p:sp>
      </p:grpSp>
      <p:grpSp>
        <p:nvGrpSpPr>
          <p:cNvPr id="604" name="Google Shape;604;p14"/>
          <p:cNvGrpSpPr/>
          <p:nvPr/>
        </p:nvGrpSpPr>
        <p:grpSpPr>
          <a:xfrm>
            <a:off x="1510010" y="5477035"/>
            <a:ext cx="5593548" cy="405225"/>
            <a:chOff x="0" y="-19050"/>
            <a:chExt cx="7458064" cy="540300"/>
          </a:xfrm>
        </p:grpSpPr>
        <p:sp>
          <p:nvSpPr>
            <p:cNvPr id="605" name="Google Shape;605;p14"/>
            <p:cNvSpPr/>
            <p:nvPr/>
          </p:nvSpPr>
          <p:spPr>
            <a:xfrm>
              <a:off x="0" y="0"/>
              <a:ext cx="7458064" cy="521132"/>
            </a:xfrm>
            <a:custGeom>
              <a:avLst/>
              <a:gdLst/>
              <a:ahLst/>
              <a:cxnLst/>
              <a:rect l="l" t="t" r="r" b="b"/>
              <a:pathLst>
                <a:path w="7458064" h="521132" extrusionOk="0">
                  <a:moveTo>
                    <a:pt x="0" y="0"/>
                  </a:moveTo>
                  <a:lnTo>
                    <a:pt x="7458064" y="0"/>
                  </a:lnTo>
                  <a:lnTo>
                    <a:pt x="7458064" y="521132"/>
                  </a:lnTo>
                  <a:lnTo>
                    <a:pt x="0" y="5211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4"/>
            <p:cNvSpPr txBox="1"/>
            <p:nvPr/>
          </p:nvSpPr>
          <p:spPr>
            <a:xfrm>
              <a:off x="0" y="-19050"/>
              <a:ext cx="74580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75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Scan a Local Web App</a:t>
              </a:r>
              <a:endParaRPr/>
            </a:p>
          </p:txBody>
        </p:sp>
      </p:grpSp>
      <p:grpSp>
        <p:nvGrpSpPr>
          <p:cNvPr id="607" name="Google Shape;607;p14"/>
          <p:cNvGrpSpPr/>
          <p:nvPr/>
        </p:nvGrpSpPr>
        <p:grpSpPr>
          <a:xfrm>
            <a:off x="1510010" y="5834546"/>
            <a:ext cx="16229025" cy="451800"/>
            <a:chOff x="0" y="-76200"/>
            <a:chExt cx="21638700" cy="602400"/>
          </a:xfrm>
        </p:grpSpPr>
        <p:sp>
          <p:nvSpPr>
            <p:cNvPr id="608" name="Google Shape;608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You can use </a:t>
              </a:r>
              <a:r>
                <a:rPr lang="en-US" sz="1899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testphp.vulnweb.com/</a:t>
              </a: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for a local app.</a:t>
              </a:r>
              <a:endParaRPr/>
            </a:p>
          </p:txBody>
        </p:sp>
      </p:grpSp>
      <p:grpSp>
        <p:nvGrpSpPr>
          <p:cNvPr id="610" name="Google Shape;610;p14"/>
          <p:cNvGrpSpPr/>
          <p:nvPr/>
        </p:nvGrpSpPr>
        <p:grpSpPr>
          <a:xfrm>
            <a:off x="1510010" y="6609160"/>
            <a:ext cx="16229025" cy="451800"/>
            <a:chOff x="0" y="-76200"/>
            <a:chExt cx="21638700" cy="602400"/>
          </a:xfrm>
        </p:grpSpPr>
        <p:sp>
          <p:nvSpPr>
            <p:cNvPr id="611" name="Google Shape;611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Step 1: Launch ZAP</a:t>
              </a:r>
              <a:endParaRPr/>
            </a:p>
          </p:txBody>
        </p:sp>
      </p:grpSp>
      <p:grpSp>
        <p:nvGrpSpPr>
          <p:cNvPr id="613" name="Google Shape;613;p14"/>
          <p:cNvGrpSpPr/>
          <p:nvPr/>
        </p:nvGrpSpPr>
        <p:grpSpPr>
          <a:xfrm>
            <a:off x="1510010" y="7016949"/>
            <a:ext cx="16229025" cy="451800"/>
            <a:chOff x="0" y="-76200"/>
            <a:chExt cx="21638700" cy="602400"/>
          </a:xfrm>
        </p:grpSpPr>
        <p:sp>
          <p:nvSpPr>
            <p:cNvPr id="614" name="Google Shape;614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open ZAP.app file or use run command to open ZAP.</a:t>
              </a:r>
              <a:endParaRPr/>
            </a:p>
          </p:txBody>
        </p:sp>
      </p:grpSp>
      <p:grpSp>
        <p:nvGrpSpPr>
          <p:cNvPr id="616" name="Google Shape;616;p14"/>
          <p:cNvGrpSpPr/>
          <p:nvPr/>
        </p:nvGrpSpPr>
        <p:grpSpPr>
          <a:xfrm>
            <a:off x="1510010" y="7832526"/>
            <a:ext cx="16229025" cy="451800"/>
            <a:chOff x="0" y="-76200"/>
            <a:chExt cx="21638700" cy="602400"/>
          </a:xfrm>
        </p:grpSpPr>
        <p:sp>
          <p:nvSpPr>
            <p:cNvPr id="617" name="Google Shape;617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Step 2: Set Up the Scan</a:t>
              </a:r>
              <a:endParaRPr/>
            </a:p>
          </p:txBody>
        </p:sp>
      </p:grpSp>
      <p:grpSp>
        <p:nvGrpSpPr>
          <p:cNvPr id="619" name="Google Shape;619;p14"/>
          <p:cNvGrpSpPr/>
          <p:nvPr/>
        </p:nvGrpSpPr>
        <p:grpSpPr>
          <a:xfrm>
            <a:off x="1510010" y="8247460"/>
            <a:ext cx="16229025" cy="375975"/>
            <a:chOff x="0" y="-66675"/>
            <a:chExt cx="21638700" cy="501300"/>
          </a:xfrm>
        </p:grpSpPr>
        <p:sp>
          <p:nvSpPr>
            <p:cNvPr id="620" name="Google Shape;620;p14"/>
            <p:cNvSpPr/>
            <p:nvPr/>
          </p:nvSpPr>
          <p:spPr>
            <a:xfrm>
              <a:off x="0" y="0"/>
              <a:ext cx="21638617" cy="434573"/>
            </a:xfrm>
            <a:custGeom>
              <a:avLst/>
              <a:gdLst/>
              <a:ahLst/>
              <a:cxnLst/>
              <a:rect l="l" t="t" r="r" b="b"/>
              <a:pathLst>
                <a:path w="21638617" h="434573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434573"/>
                  </a:lnTo>
                  <a:lnTo>
                    <a:pt x="0" y="434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4"/>
            <p:cNvSpPr txBox="1"/>
            <p:nvPr/>
          </p:nvSpPr>
          <p:spPr>
            <a:xfrm>
              <a:off x="0" y="-66675"/>
              <a:ext cx="216387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39414" marR="0" lvl="1" indent="-119708" algn="l" rtl="0">
                <a:lnSpc>
                  <a:spcPct val="16320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1587"/>
                <a:buFont typeface="Arial"/>
                <a:buChar char="•"/>
              </a:pPr>
              <a:r>
                <a:rPr lang="en-US" sz="15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 "Quick Start" tab:</a:t>
              </a:r>
              <a:endParaRPr/>
            </a:p>
          </p:txBody>
        </p:sp>
      </p:grpSp>
      <p:grpSp>
        <p:nvGrpSpPr>
          <p:cNvPr id="622" name="Google Shape;622;p14"/>
          <p:cNvGrpSpPr/>
          <p:nvPr/>
        </p:nvGrpSpPr>
        <p:grpSpPr>
          <a:xfrm>
            <a:off x="1510010" y="8615958"/>
            <a:ext cx="16229025" cy="699786"/>
            <a:chOff x="0" y="-66675"/>
            <a:chExt cx="21638700" cy="933048"/>
          </a:xfrm>
        </p:grpSpPr>
        <p:sp>
          <p:nvSpPr>
            <p:cNvPr id="623" name="Google Shape;623;p14"/>
            <p:cNvSpPr/>
            <p:nvPr/>
          </p:nvSpPr>
          <p:spPr>
            <a:xfrm>
              <a:off x="0" y="0"/>
              <a:ext cx="21638617" cy="866373"/>
            </a:xfrm>
            <a:custGeom>
              <a:avLst/>
              <a:gdLst/>
              <a:ahLst/>
              <a:cxnLst/>
              <a:rect l="l" t="t" r="r" b="b"/>
              <a:pathLst>
                <a:path w="21638617" h="866373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866373"/>
                  </a:lnTo>
                  <a:lnTo>
                    <a:pt x="0" y="866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4"/>
            <p:cNvSpPr txBox="1"/>
            <p:nvPr/>
          </p:nvSpPr>
          <p:spPr>
            <a:xfrm>
              <a:off x="0" y="-66675"/>
              <a:ext cx="21638700" cy="9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12416" marR="0" lvl="2" indent="-270806" algn="l" rtl="0">
                <a:lnSpc>
                  <a:spcPct val="163201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1587"/>
                <a:buFont typeface="Arial"/>
                <a:buChar char="⚬"/>
              </a:pPr>
              <a:r>
                <a:rPr lang="en-US" sz="15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Enter: </a:t>
              </a:r>
              <a:r>
                <a:rPr lang="en-US" sz="158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testphp.vulnweb.com/ </a:t>
              </a:r>
              <a:r>
                <a:rPr lang="en-US" sz="15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and click on </a:t>
              </a:r>
              <a:r>
                <a:rPr lang="en-US" sz="158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Attack</a:t>
              </a:r>
              <a:endParaRPr/>
            </a:p>
            <a:p>
              <a:pPr marL="812416" marR="0" lvl="2" indent="-270806" algn="l" rtl="0">
                <a:lnSpc>
                  <a:spcPct val="1632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87" b="1" i="0" u="none" strike="noStrike" cap="non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25" name="Google Shape;625;p14"/>
          <p:cNvGrpSpPr/>
          <p:nvPr/>
        </p:nvGrpSpPr>
        <p:grpSpPr>
          <a:xfrm>
            <a:off x="1510010" y="9330333"/>
            <a:ext cx="16229025" cy="451800"/>
            <a:chOff x="0" y="-76200"/>
            <a:chExt cx="21638700" cy="602400"/>
          </a:xfrm>
        </p:grpSpPr>
        <p:sp>
          <p:nvSpPr>
            <p:cNvPr id="626" name="Google Shape;626;p14"/>
            <p:cNvSpPr/>
            <p:nvPr/>
          </p:nvSpPr>
          <p:spPr>
            <a:xfrm>
              <a:off x="0" y="0"/>
              <a:ext cx="21638617" cy="526136"/>
            </a:xfrm>
            <a:custGeom>
              <a:avLst/>
              <a:gdLst/>
              <a:ahLst/>
              <a:cxnLst/>
              <a:rect l="l" t="t" r="r" b="b"/>
              <a:pathLst>
                <a:path w="21638617" h="526136" extrusionOk="0">
                  <a:moveTo>
                    <a:pt x="0" y="0"/>
                  </a:moveTo>
                  <a:lnTo>
                    <a:pt x="21638617" y="0"/>
                  </a:lnTo>
                  <a:lnTo>
                    <a:pt x="21638617" y="526136"/>
                  </a:lnTo>
                  <a:lnTo>
                    <a:pt x="0" y="5261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4"/>
            <p:cNvSpPr txBox="1"/>
            <p:nvPr/>
          </p:nvSpPr>
          <p:spPr>
            <a:xfrm>
              <a:off x="0" y="-76200"/>
              <a:ext cx="216387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5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ZAP will spider the site (crawl all pages) then run passive + active scans.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8" name="Google Shape;638;p15"/>
          <p:cNvGrpSpPr/>
          <p:nvPr/>
        </p:nvGrpSpPr>
        <p:grpSpPr>
          <a:xfrm>
            <a:off x="784324" y="594866"/>
            <a:ext cx="5603230" cy="721816"/>
            <a:chOff x="0" y="-28575"/>
            <a:chExt cx="7470973" cy="962422"/>
          </a:xfrm>
        </p:grpSpPr>
        <p:sp>
          <p:nvSpPr>
            <p:cNvPr id="639" name="Google Shape;639;p15"/>
            <p:cNvSpPr/>
            <p:nvPr/>
          </p:nvSpPr>
          <p:spPr>
            <a:xfrm>
              <a:off x="0" y="0"/>
              <a:ext cx="7470973" cy="933847"/>
            </a:xfrm>
            <a:custGeom>
              <a:avLst/>
              <a:gdLst/>
              <a:ahLst/>
              <a:cxnLst/>
              <a:rect l="l" t="t" r="r" b="b"/>
              <a:pathLst>
                <a:path w="7470973" h="933847" extrusionOk="0">
                  <a:moveTo>
                    <a:pt x="0" y="0"/>
                  </a:moveTo>
                  <a:lnTo>
                    <a:pt x="7470973" y="0"/>
                  </a:lnTo>
                  <a:lnTo>
                    <a:pt x="7470973" y="933847"/>
                  </a:lnTo>
                  <a:lnTo>
                    <a:pt x="0" y="933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5"/>
            <p:cNvSpPr txBox="1"/>
            <p:nvPr/>
          </p:nvSpPr>
          <p:spPr>
            <a:xfrm>
              <a:off x="0" y="-28575"/>
              <a:ext cx="7470973" cy="962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75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Tool: Burp Suite</a:t>
              </a:r>
              <a:endParaRPr/>
            </a:p>
          </p:txBody>
        </p:sp>
      </p:grpSp>
      <p:grpSp>
        <p:nvGrpSpPr>
          <p:cNvPr id="641" name="Google Shape;641;p15"/>
          <p:cNvGrpSpPr/>
          <p:nvPr/>
        </p:nvGrpSpPr>
        <p:grpSpPr>
          <a:xfrm>
            <a:off x="784324" y="1700510"/>
            <a:ext cx="16719352" cy="960536"/>
            <a:chOff x="0" y="-85725"/>
            <a:chExt cx="22292469" cy="1280715"/>
          </a:xfrm>
        </p:grpSpPr>
        <p:sp>
          <p:nvSpPr>
            <p:cNvPr id="642" name="Google Shape;642;p15"/>
            <p:cNvSpPr/>
            <p:nvPr/>
          </p:nvSpPr>
          <p:spPr>
            <a:xfrm>
              <a:off x="0" y="0"/>
              <a:ext cx="22292469" cy="1194990"/>
            </a:xfrm>
            <a:custGeom>
              <a:avLst/>
              <a:gdLst/>
              <a:ahLst/>
              <a:cxnLst/>
              <a:rect l="l" t="t" r="r" b="b"/>
              <a:pathLst>
                <a:path w="22292469" h="1194990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1194990"/>
                  </a:lnTo>
                  <a:lnTo>
                    <a:pt x="0" y="1194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5"/>
            <p:cNvSpPr txBox="1"/>
            <p:nvPr/>
          </p:nvSpPr>
          <p:spPr>
            <a:xfrm>
              <a:off x="0" y="-85725"/>
              <a:ext cx="22292468" cy="1280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Burp Suite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(developed by PortSwigger) is a powerful tool for web vulnerability scanning and penetration testing. It enables security professionals and DevOps engineers to:</a:t>
              </a:r>
              <a:endParaRPr/>
            </a:p>
          </p:txBody>
        </p:sp>
      </p:grpSp>
      <p:grpSp>
        <p:nvGrpSpPr>
          <p:cNvPr id="644" name="Google Shape;644;p15"/>
          <p:cNvGrpSpPr/>
          <p:nvPr/>
        </p:nvGrpSpPr>
        <p:grpSpPr>
          <a:xfrm>
            <a:off x="784324" y="2848867"/>
            <a:ext cx="16719352" cy="512415"/>
            <a:chOff x="0" y="-85725"/>
            <a:chExt cx="22292469" cy="683220"/>
          </a:xfrm>
        </p:grpSpPr>
        <p:sp>
          <p:nvSpPr>
            <p:cNvPr id="645" name="Google Shape;645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Arial"/>
                <a:buChar char="•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Intercept and manipulate HTTP/HTTPS traffic</a:t>
              </a:r>
              <a:endParaRPr/>
            </a:p>
          </p:txBody>
        </p:sp>
      </p:grpSp>
      <p:grpSp>
        <p:nvGrpSpPr>
          <p:cNvPr id="647" name="Google Shape;647;p15"/>
          <p:cNvGrpSpPr/>
          <p:nvPr/>
        </p:nvGrpSpPr>
        <p:grpSpPr>
          <a:xfrm>
            <a:off x="784324" y="3375422"/>
            <a:ext cx="16719352" cy="512415"/>
            <a:chOff x="0" y="-85725"/>
            <a:chExt cx="22292469" cy="683220"/>
          </a:xfrm>
        </p:grpSpPr>
        <p:sp>
          <p:nvSpPr>
            <p:cNvPr id="648" name="Google Shape;648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Arial"/>
                <a:buChar char="•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Automatically scan for security vulnerabilities</a:t>
              </a:r>
              <a:endParaRPr/>
            </a:p>
          </p:txBody>
        </p:sp>
      </p:grpSp>
      <p:grpSp>
        <p:nvGrpSpPr>
          <p:cNvPr id="650" name="Google Shape;650;p15"/>
          <p:cNvGrpSpPr/>
          <p:nvPr/>
        </p:nvGrpSpPr>
        <p:grpSpPr>
          <a:xfrm>
            <a:off x="784324" y="3901976"/>
            <a:ext cx="16719352" cy="512415"/>
            <a:chOff x="0" y="-85725"/>
            <a:chExt cx="22292469" cy="683220"/>
          </a:xfrm>
        </p:grpSpPr>
        <p:sp>
          <p:nvSpPr>
            <p:cNvPr id="651" name="Google Shape;651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Arial"/>
                <a:buChar char="•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Identify issues such as XSS, SQL Injection, and CSRF</a:t>
              </a:r>
              <a:endParaRPr/>
            </a:p>
          </p:txBody>
        </p:sp>
      </p:grpSp>
      <p:grpSp>
        <p:nvGrpSpPr>
          <p:cNvPr id="653" name="Google Shape;653;p15"/>
          <p:cNvGrpSpPr/>
          <p:nvPr/>
        </p:nvGrpSpPr>
        <p:grpSpPr>
          <a:xfrm>
            <a:off x="784324" y="4428530"/>
            <a:ext cx="16719352" cy="512415"/>
            <a:chOff x="0" y="-85725"/>
            <a:chExt cx="22292469" cy="683220"/>
          </a:xfrm>
        </p:grpSpPr>
        <p:sp>
          <p:nvSpPr>
            <p:cNvPr id="654" name="Google Shape;654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Arial"/>
                <a:buChar char="•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Replay, edit, and fuzz HTTP requests to evaluate application responses</a:t>
              </a:r>
              <a:endParaRPr/>
            </a:p>
          </p:txBody>
        </p:sp>
      </p:grpSp>
      <p:grpSp>
        <p:nvGrpSpPr>
          <p:cNvPr id="656" name="Google Shape;656;p15"/>
          <p:cNvGrpSpPr/>
          <p:nvPr/>
        </p:nvGrpSpPr>
        <p:grpSpPr>
          <a:xfrm>
            <a:off x="784324" y="5814715"/>
            <a:ext cx="16719352" cy="616223"/>
            <a:chOff x="0" y="-104775"/>
            <a:chExt cx="22292469" cy="821631"/>
          </a:xfrm>
        </p:grpSpPr>
        <p:sp>
          <p:nvSpPr>
            <p:cNvPr id="657" name="Google Shape;657;p15"/>
            <p:cNvSpPr/>
            <p:nvPr/>
          </p:nvSpPr>
          <p:spPr>
            <a:xfrm>
              <a:off x="0" y="0"/>
              <a:ext cx="22292469" cy="716856"/>
            </a:xfrm>
            <a:custGeom>
              <a:avLst/>
              <a:gdLst/>
              <a:ahLst/>
              <a:cxnLst/>
              <a:rect l="l" t="t" r="r" b="b"/>
              <a:pathLst>
                <a:path w="22292469" h="716856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716856"/>
                  </a:lnTo>
                  <a:lnTo>
                    <a:pt x="0" y="7168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5"/>
            <p:cNvSpPr txBox="1"/>
            <p:nvPr/>
          </p:nvSpPr>
          <p:spPr>
            <a:xfrm>
              <a:off x="0" y="-104775"/>
              <a:ext cx="22292468" cy="821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How Burp Suite Works:</a:t>
              </a:r>
              <a:endParaRPr/>
            </a:p>
          </p:txBody>
        </p:sp>
      </p:grpSp>
      <p:grpSp>
        <p:nvGrpSpPr>
          <p:cNvPr id="659" name="Google Shape;659;p15"/>
          <p:cNvGrpSpPr/>
          <p:nvPr/>
        </p:nvGrpSpPr>
        <p:grpSpPr>
          <a:xfrm>
            <a:off x="784324" y="6529238"/>
            <a:ext cx="16719352" cy="512415"/>
            <a:chOff x="0" y="-85725"/>
            <a:chExt cx="22292469" cy="683220"/>
          </a:xfrm>
        </p:grpSpPr>
        <p:sp>
          <p:nvSpPr>
            <p:cNvPr id="660" name="Google Shape;660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Open Sans"/>
                <a:buAutoNum type="arabicPeriod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browser sends an HTTP/HTTPS request.</a:t>
              </a:r>
              <a:endParaRPr/>
            </a:p>
          </p:txBody>
        </p:sp>
      </p:grpSp>
      <p:grpSp>
        <p:nvGrpSpPr>
          <p:cNvPr id="662" name="Google Shape;662;p15"/>
          <p:cNvGrpSpPr/>
          <p:nvPr/>
        </p:nvGrpSpPr>
        <p:grpSpPr>
          <a:xfrm>
            <a:off x="784324" y="7055792"/>
            <a:ext cx="16719352" cy="512415"/>
            <a:chOff x="0" y="-85725"/>
            <a:chExt cx="22292469" cy="683220"/>
          </a:xfrm>
        </p:grpSpPr>
        <p:sp>
          <p:nvSpPr>
            <p:cNvPr id="663" name="Google Shape;663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Open Sans"/>
                <a:buAutoNum type="arabicPeriod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Burp Suite intercepts the request before it reaches the server.</a:t>
              </a:r>
              <a:endParaRPr/>
            </a:p>
          </p:txBody>
        </p:sp>
      </p:grpSp>
      <p:grpSp>
        <p:nvGrpSpPr>
          <p:cNvPr id="665" name="Google Shape;665;p15"/>
          <p:cNvGrpSpPr/>
          <p:nvPr/>
        </p:nvGrpSpPr>
        <p:grpSpPr>
          <a:xfrm>
            <a:off x="784324" y="7582346"/>
            <a:ext cx="16719352" cy="512415"/>
            <a:chOff x="0" y="-85725"/>
            <a:chExt cx="22292469" cy="683220"/>
          </a:xfrm>
        </p:grpSpPr>
        <p:sp>
          <p:nvSpPr>
            <p:cNvPr id="666" name="Google Shape;666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Open Sans"/>
                <a:buAutoNum type="arabicPeriod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You review or modify the request as needed.</a:t>
              </a:r>
              <a:endParaRPr/>
            </a:p>
          </p:txBody>
        </p:sp>
      </p:grpSp>
      <p:grpSp>
        <p:nvGrpSpPr>
          <p:cNvPr id="668" name="Google Shape;668;p15"/>
          <p:cNvGrpSpPr/>
          <p:nvPr/>
        </p:nvGrpSpPr>
        <p:grpSpPr>
          <a:xfrm>
            <a:off x="784324" y="8108900"/>
            <a:ext cx="16719352" cy="512415"/>
            <a:chOff x="0" y="-85725"/>
            <a:chExt cx="22292469" cy="683220"/>
          </a:xfrm>
        </p:grpSpPr>
        <p:sp>
          <p:nvSpPr>
            <p:cNvPr id="669" name="Google Shape;669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Open Sans"/>
                <a:buAutoNum type="arabicPeriod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Burp forwards the request to the target server.</a:t>
              </a:r>
              <a:endParaRPr/>
            </a:p>
          </p:txBody>
        </p:sp>
      </p:grpSp>
      <p:grpSp>
        <p:nvGrpSpPr>
          <p:cNvPr id="671" name="Google Shape;671;p15"/>
          <p:cNvGrpSpPr/>
          <p:nvPr/>
        </p:nvGrpSpPr>
        <p:grpSpPr>
          <a:xfrm>
            <a:off x="784324" y="8635453"/>
            <a:ext cx="16719352" cy="512415"/>
            <a:chOff x="0" y="-85725"/>
            <a:chExt cx="22292469" cy="683220"/>
          </a:xfrm>
        </p:grpSpPr>
        <p:sp>
          <p:nvSpPr>
            <p:cNvPr id="672" name="Google Shape;672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Open Sans"/>
                <a:buAutoNum type="arabicPeriod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server responds, and the response passes back through Burp.</a:t>
              </a:r>
              <a:endParaRPr/>
            </a:p>
          </p:txBody>
        </p:sp>
      </p:grpSp>
      <p:grpSp>
        <p:nvGrpSpPr>
          <p:cNvPr id="674" name="Google Shape;674;p15"/>
          <p:cNvGrpSpPr/>
          <p:nvPr/>
        </p:nvGrpSpPr>
        <p:grpSpPr>
          <a:xfrm>
            <a:off x="784324" y="9162008"/>
            <a:ext cx="16719352" cy="512415"/>
            <a:chOff x="0" y="-85725"/>
            <a:chExt cx="22292469" cy="683220"/>
          </a:xfrm>
        </p:grpSpPr>
        <p:sp>
          <p:nvSpPr>
            <p:cNvPr id="675" name="Google Shape;675;p15"/>
            <p:cNvSpPr/>
            <p:nvPr/>
          </p:nvSpPr>
          <p:spPr>
            <a:xfrm>
              <a:off x="0" y="0"/>
              <a:ext cx="22292469" cy="597495"/>
            </a:xfrm>
            <a:custGeom>
              <a:avLst/>
              <a:gdLst/>
              <a:ahLst/>
              <a:cxnLst/>
              <a:rect l="l" t="t" r="r" b="b"/>
              <a:pathLst>
                <a:path w="22292469" h="597495" extrusionOk="0">
                  <a:moveTo>
                    <a:pt x="0" y="0"/>
                  </a:moveTo>
                  <a:lnTo>
                    <a:pt x="22292469" y="0"/>
                  </a:lnTo>
                  <a:lnTo>
                    <a:pt x="22292469" y="597495"/>
                  </a:lnTo>
                  <a:lnTo>
                    <a:pt x="0" y="59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5"/>
            <p:cNvSpPr txBox="1"/>
            <p:nvPr/>
          </p:nvSpPr>
          <p:spPr>
            <a:xfrm>
              <a:off x="0" y="-85725"/>
              <a:ext cx="22292468" cy="68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24246" marR="0" lvl="1" indent="-162123" algn="l" rtl="0">
                <a:lnSpc>
                  <a:spcPct val="160772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149"/>
                <a:buFont typeface="Open Sans"/>
                <a:buAutoNum type="arabicPeriod"/>
              </a:pPr>
              <a:r>
                <a:rPr lang="en-US" sz="21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modified or original response is then displayed in your browser.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7" name="Google Shape;687;p16"/>
          <p:cNvGrpSpPr/>
          <p:nvPr/>
        </p:nvGrpSpPr>
        <p:grpSpPr>
          <a:xfrm>
            <a:off x="877789" y="980970"/>
            <a:ext cx="6779587" cy="1135515"/>
            <a:chOff x="0" y="-28575"/>
            <a:chExt cx="9039450" cy="1514020"/>
          </a:xfrm>
        </p:grpSpPr>
        <p:sp>
          <p:nvSpPr>
            <p:cNvPr id="688" name="Google Shape;688;p16"/>
            <p:cNvSpPr/>
            <p:nvPr/>
          </p:nvSpPr>
          <p:spPr>
            <a:xfrm>
              <a:off x="0" y="0"/>
              <a:ext cx="9039450" cy="1485445"/>
            </a:xfrm>
            <a:custGeom>
              <a:avLst/>
              <a:gdLst/>
              <a:ahLst/>
              <a:cxnLst/>
              <a:rect l="l" t="t" r="r" b="b"/>
              <a:pathLst>
                <a:path w="9039450" h="1485445" extrusionOk="0">
                  <a:moveTo>
                    <a:pt x="0" y="0"/>
                  </a:moveTo>
                  <a:lnTo>
                    <a:pt x="9039450" y="0"/>
                  </a:lnTo>
                  <a:lnTo>
                    <a:pt x="9039450" y="1485445"/>
                  </a:lnTo>
                  <a:lnTo>
                    <a:pt x="0" y="1485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6"/>
            <p:cNvSpPr txBox="1"/>
            <p:nvPr/>
          </p:nvSpPr>
          <p:spPr>
            <a:xfrm>
              <a:off x="0" y="-28575"/>
              <a:ext cx="9039450" cy="1514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6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75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Penetration Testing </a:t>
              </a:r>
              <a:endParaRPr/>
            </a:p>
          </p:txBody>
        </p:sp>
      </p:grpSp>
      <p:grpSp>
        <p:nvGrpSpPr>
          <p:cNvPr id="690" name="Google Shape;690;p16"/>
          <p:cNvGrpSpPr/>
          <p:nvPr/>
        </p:nvGrpSpPr>
        <p:grpSpPr>
          <a:xfrm>
            <a:off x="877789" y="2404616"/>
            <a:ext cx="9846022" cy="1569393"/>
            <a:chOff x="0" y="-85725"/>
            <a:chExt cx="13128030" cy="2092523"/>
          </a:xfrm>
        </p:grpSpPr>
        <p:sp>
          <p:nvSpPr>
            <p:cNvPr id="691" name="Google Shape;691;p16"/>
            <p:cNvSpPr/>
            <p:nvPr/>
          </p:nvSpPr>
          <p:spPr>
            <a:xfrm>
              <a:off x="0" y="0"/>
              <a:ext cx="13128030" cy="2006798"/>
            </a:xfrm>
            <a:custGeom>
              <a:avLst/>
              <a:gdLst/>
              <a:ahLst/>
              <a:cxnLst/>
              <a:rect l="l" t="t" r="r" b="b"/>
              <a:pathLst>
                <a:path w="13128030" h="2006798" extrusionOk="0">
                  <a:moveTo>
                    <a:pt x="0" y="0"/>
                  </a:moveTo>
                  <a:lnTo>
                    <a:pt x="13128030" y="0"/>
                  </a:lnTo>
                  <a:lnTo>
                    <a:pt x="13128030" y="2006798"/>
                  </a:lnTo>
                  <a:lnTo>
                    <a:pt x="0" y="2006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6"/>
            <p:cNvSpPr txBox="1"/>
            <p:nvPr/>
          </p:nvSpPr>
          <p:spPr>
            <a:xfrm>
              <a:off x="0" y="-85725"/>
              <a:ext cx="13128030" cy="2092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5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3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Penetration Testing (or Pen Testing)</a:t>
              </a:r>
              <a:r>
                <a:rPr lang="en-US" sz="243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a simulated cyberattack against your system to uncover security weaknesses before malicious hackers can find and exploit them.</a:t>
              </a:r>
              <a:endParaRPr/>
            </a:p>
          </p:txBody>
        </p:sp>
      </p:grpSp>
      <p:grpSp>
        <p:nvGrpSpPr>
          <p:cNvPr id="693" name="Google Shape;693;p16"/>
          <p:cNvGrpSpPr/>
          <p:nvPr/>
        </p:nvGrpSpPr>
        <p:grpSpPr>
          <a:xfrm>
            <a:off x="877789" y="4236466"/>
            <a:ext cx="9846022" cy="573138"/>
            <a:chOff x="0" y="-95250"/>
            <a:chExt cx="13128030" cy="764183"/>
          </a:xfrm>
        </p:grpSpPr>
        <p:sp>
          <p:nvSpPr>
            <p:cNvPr id="694" name="Google Shape;694;p16"/>
            <p:cNvSpPr/>
            <p:nvPr/>
          </p:nvSpPr>
          <p:spPr>
            <a:xfrm>
              <a:off x="0" y="0"/>
              <a:ext cx="13128030" cy="668933"/>
            </a:xfrm>
            <a:custGeom>
              <a:avLst/>
              <a:gdLst/>
              <a:ahLst/>
              <a:cxnLst/>
              <a:rect l="l" t="t" r="r" b="b"/>
              <a:pathLst>
                <a:path w="13128030" h="668933" extrusionOk="0">
                  <a:moveTo>
                    <a:pt x="0" y="0"/>
                  </a:moveTo>
                  <a:lnTo>
                    <a:pt x="13128030" y="0"/>
                  </a:lnTo>
                  <a:lnTo>
                    <a:pt x="13128030" y="668933"/>
                  </a:lnTo>
                  <a:lnTo>
                    <a:pt x="0" y="668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6"/>
            <p:cNvSpPr txBox="1"/>
            <p:nvPr/>
          </p:nvSpPr>
          <p:spPr>
            <a:xfrm>
              <a:off x="0" y="-95250"/>
              <a:ext cx="13128030" cy="7641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52523" marR="0" lvl="1" indent="-176262" algn="l" rtl="0">
                <a:lnSpc>
                  <a:spcPct val="161317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337"/>
                <a:buFont typeface="Arial"/>
                <a:buChar char="•"/>
              </a:pPr>
              <a:r>
                <a:rPr lang="en-US" sz="233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Goal:</a:t>
              </a:r>
              <a:r>
                <a:rPr lang="en-US" sz="233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Identify vulnerabilities in software, networks, or systems.</a:t>
              </a:r>
              <a:endParaRPr/>
            </a:p>
          </p:txBody>
        </p:sp>
      </p:grpSp>
      <p:grpSp>
        <p:nvGrpSpPr>
          <p:cNvPr id="696" name="Google Shape;696;p16"/>
          <p:cNvGrpSpPr/>
          <p:nvPr/>
        </p:nvGrpSpPr>
        <p:grpSpPr>
          <a:xfrm>
            <a:off x="877789" y="5072062"/>
            <a:ext cx="9846022" cy="1074837"/>
            <a:chOff x="0" y="-95250"/>
            <a:chExt cx="13128030" cy="1433115"/>
          </a:xfrm>
        </p:grpSpPr>
        <p:sp>
          <p:nvSpPr>
            <p:cNvPr id="697" name="Google Shape;697;p16"/>
            <p:cNvSpPr/>
            <p:nvPr/>
          </p:nvSpPr>
          <p:spPr>
            <a:xfrm>
              <a:off x="0" y="0"/>
              <a:ext cx="13128030" cy="1337865"/>
            </a:xfrm>
            <a:custGeom>
              <a:avLst/>
              <a:gdLst/>
              <a:ahLst/>
              <a:cxnLst/>
              <a:rect l="l" t="t" r="r" b="b"/>
              <a:pathLst>
                <a:path w="13128030" h="1337865" extrusionOk="0">
                  <a:moveTo>
                    <a:pt x="0" y="0"/>
                  </a:moveTo>
                  <a:lnTo>
                    <a:pt x="13128030" y="0"/>
                  </a:lnTo>
                  <a:lnTo>
                    <a:pt x="13128030" y="1337865"/>
                  </a:lnTo>
                  <a:lnTo>
                    <a:pt x="0" y="1337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6"/>
            <p:cNvSpPr txBox="1"/>
            <p:nvPr/>
          </p:nvSpPr>
          <p:spPr>
            <a:xfrm>
              <a:off x="0" y="-95250"/>
              <a:ext cx="13128030" cy="14331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37443" marR="0" lvl="1" indent="-168721" algn="l" rtl="0">
                <a:lnSpc>
                  <a:spcPct val="161287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237"/>
                <a:buFont typeface="Arial"/>
                <a:buChar char="•"/>
              </a:pPr>
              <a:r>
                <a:rPr lang="en-US" sz="223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Approach:</a:t>
              </a:r>
              <a:r>
                <a:rPr lang="en-US" sz="223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“Ethical hackers” (with permission) attempt to exploit systems the same way a real attacker would.</a:t>
              </a:r>
              <a:endParaRPr/>
            </a:p>
          </p:txBody>
        </p:sp>
      </p:grpSp>
      <p:grpSp>
        <p:nvGrpSpPr>
          <p:cNvPr id="699" name="Google Shape;699;p16"/>
          <p:cNvGrpSpPr/>
          <p:nvPr/>
        </p:nvGrpSpPr>
        <p:grpSpPr>
          <a:xfrm>
            <a:off x="877789" y="6436402"/>
            <a:ext cx="9846022" cy="1067693"/>
            <a:chOff x="0" y="-85725"/>
            <a:chExt cx="13128030" cy="1423590"/>
          </a:xfrm>
        </p:grpSpPr>
        <p:sp>
          <p:nvSpPr>
            <p:cNvPr id="700" name="Google Shape;700;p16"/>
            <p:cNvSpPr/>
            <p:nvPr/>
          </p:nvSpPr>
          <p:spPr>
            <a:xfrm>
              <a:off x="0" y="0"/>
              <a:ext cx="13128030" cy="1337865"/>
            </a:xfrm>
            <a:custGeom>
              <a:avLst/>
              <a:gdLst/>
              <a:ahLst/>
              <a:cxnLst/>
              <a:rect l="l" t="t" r="r" b="b"/>
              <a:pathLst>
                <a:path w="13128030" h="1337865" extrusionOk="0">
                  <a:moveTo>
                    <a:pt x="0" y="0"/>
                  </a:moveTo>
                  <a:lnTo>
                    <a:pt x="13128030" y="0"/>
                  </a:lnTo>
                  <a:lnTo>
                    <a:pt x="13128030" y="1337865"/>
                  </a:lnTo>
                  <a:lnTo>
                    <a:pt x="0" y="1337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6"/>
            <p:cNvSpPr txBox="1"/>
            <p:nvPr/>
          </p:nvSpPr>
          <p:spPr>
            <a:xfrm>
              <a:off x="0" y="-85725"/>
              <a:ext cx="13128030" cy="1423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5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3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Pentesting is an important component of a security testing strategy. </a:t>
              </a:r>
              <a:endParaRPr/>
            </a:p>
          </p:txBody>
        </p:sp>
      </p:grpSp>
      <p:grpSp>
        <p:nvGrpSpPr>
          <p:cNvPr id="702" name="Google Shape;702;p16"/>
          <p:cNvGrpSpPr/>
          <p:nvPr/>
        </p:nvGrpSpPr>
        <p:grpSpPr>
          <a:xfrm>
            <a:off x="877789" y="7576961"/>
            <a:ext cx="9846022" cy="1067693"/>
            <a:chOff x="0" y="-85725"/>
            <a:chExt cx="13128030" cy="1423590"/>
          </a:xfrm>
        </p:grpSpPr>
        <p:sp>
          <p:nvSpPr>
            <p:cNvPr id="703" name="Google Shape;703;p16"/>
            <p:cNvSpPr/>
            <p:nvPr/>
          </p:nvSpPr>
          <p:spPr>
            <a:xfrm>
              <a:off x="0" y="0"/>
              <a:ext cx="13128030" cy="1337865"/>
            </a:xfrm>
            <a:custGeom>
              <a:avLst/>
              <a:gdLst/>
              <a:ahLst/>
              <a:cxnLst/>
              <a:rect l="l" t="t" r="r" b="b"/>
              <a:pathLst>
                <a:path w="13128030" h="1337865" extrusionOk="0">
                  <a:moveTo>
                    <a:pt x="0" y="0"/>
                  </a:moveTo>
                  <a:lnTo>
                    <a:pt x="13128030" y="0"/>
                  </a:lnTo>
                  <a:lnTo>
                    <a:pt x="13128030" y="1337865"/>
                  </a:lnTo>
                  <a:lnTo>
                    <a:pt x="0" y="1337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6"/>
            <p:cNvSpPr txBox="1"/>
            <p:nvPr/>
          </p:nvSpPr>
          <p:spPr>
            <a:xfrm>
              <a:off x="0" y="-85725"/>
              <a:ext cx="13128030" cy="1423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5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3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 the DevOps lifecycle, it's typically done after deployment but can be automated in CI/CD pipelines using tools that simulate attacks.</a:t>
              </a:r>
              <a:endParaRPr/>
            </a:p>
          </p:txBody>
        </p:sp>
      </p:grpSp>
      <p:sp>
        <p:nvSpPr>
          <p:cNvPr id="705" name="Google Shape;705;p16" descr="preencoded.png"/>
          <p:cNvSpPr/>
          <p:nvPr/>
        </p:nvSpPr>
        <p:spPr>
          <a:xfrm>
            <a:off x="11345316" y="2525316"/>
            <a:ext cx="6074271" cy="4156025"/>
          </a:xfrm>
          <a:custGeom>
            <a:avLst/>
            <a:gdLst/>
            <a:ahLst/>
            <a:cxnLst/>
            <a:rect l="l" t="t" r="r" b="b"/>
            <a:pathLst>
              <a:path w="6074271" h="4156025" extrusionOk="0">
                <a:moveTo>
                  <a:pt x="0" y="0"/>
                </a:moveTo>
                <a:lnTo>
                  <a:pt x="6074272" y="0"/>
                </a:lnTo>
                <a:lnTo>
                  <a:pt x="6074272" y="4156025"/>
                </a:lnTo>
                <a:lnTo>
                  <a:pt x="0" y="4156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9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7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6" name="Google Shape;716;p17"/>
          <p:cNvGrpSpPr/>
          <p:nvPr/>
        </p:nvGrpSpPr>
        <p:grpSpPr>
          <a:xfrm>
            <a:off x="779264" y="619113"/>
            <a:ext cx="5237012" cy="687610"/>
            <a:chOff x="0" y="-9525"/>
            <a:chExt cx="6982682" cy="916813"/>
          </a:xfrm>
        </p:grpSpPr>
        <p:sp>
          <p:nvSpPr>
            <p:cNvPr id="717" name="Google Shape;717;p17"/>
            <p:cNvSpPr/>
            <p:nvPr/>
          </p:nvSpPr>
          <p:spPr>
            <a:xfrm>
              <a:off x="0" y="0"/>
              <a:ext cx="6982682" cy="907288"/>
            </a:xfrm>
            <a:custGeom>
              <a:avLst/>
              <a:gdLst/>
              <a:ahLst/>
              <a:cxnLst/>
              <a:rect l="l" t="t" r="r" b="b"/>
              <a:pathLst>
                <a:path w="6982682" h="907288" extrusionOk="0">
                  <a:moveTo>
                    <a:pt x="0" y="0"/>
                  </a:moveTo>
                  <a:lnTo>
                    <a:pt x="6982682" y="0"/>
                  </a:lnTo>
                  <a:lnTo>
                    <a:pt x="6982682" y="907288"/>
                  </a:lnTo>
                  <a:lnTo>
                    <a:pt x="0" y="907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 txBox="1"/>
            <p:nvPr/>
          </p:nvSpPr>
          <p:spPr>
            <a:xfrm>
              <a:off x="0" y="-9525"/>
              <a:ext cx="6982681" cy="916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Ethical Hacking</a:t>
              </a:r>
              <a:endParaRPr/>
            </a:p>
          </p:txBody>
        </p:sp>
      </p:grpSp>
      <p:grpSp>
        <p:nvGrpSpPr>
          <p:cNvPr id="719" name="Google Shape;719;p17"/>
          <p:cNvGrpSpPr/>
          <p:nvPr/>
        </p:nvGrpSpPr>
        <p:grpSpPr>
          <a:xfrm>
            <a:off x="779264" y="1625798"/>
            <a:ext cx="16729471" cy="954882"/>
            <a:chOff x="0" y="-85725"/>
            <a:chExt cx="22305962" cy="1273175"/>
          </a:xfrm>
        </p:grpSpPr>
        <p:sp>
          <p:nvSpPr>
            <p:cNvPr id="720" name="Google Shape;720;p17"/>
            <p:cNvSpPr/>
            <p:nvPr/>
          </p:nvSpPr>
          <p:spPr>
            <a:xfrm>
              <a:off x="0" y="0"/>
              <a:ext cx="22305962" cy="1187450"/>
            </a:xfrm>
            <a:custGeom>
              <a:avLst/>
              <a:gdLst/>
              <a:ahLst/>
              <a:cxnLst/>
              <a:rect l="l" t="t" r="r" b="b"/>
              <a:pathLst>
                <a:path w="22305962" h="1187450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 txBox="1"/>
            <p:nvPr/>
          </p:nvSpPr>
          <p:spPr>
            <a:xfrm>
              <a:off x="0" y="-85725"/>
              <a:ext cx="22305962" cy="1273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Ethical hacking is the authorized, legal process of testing systems by attempting to bypass security measures to uncover potential vulnerabilities.</a:t>
              </a:r>
              <a:endParaRPr/>
            </a:p>
          </p:txBody>
        </p:sp>
      </p:grpSp>
      <p:grpSp>
        <p:nvGrpSpPr>
          <p:cNvPr id="722" name="Google Shape;722;p17"/>
          <p:cNvGrpSpPr/>
          <p:nvPr/>
        </p:nvGrpSpPr>
        <p:grpSpPr>
          <a:xfrm>
            <a:off x="779264" y="2774007"/>
            <a:ext cx="16729471" cy="502444"/>
            <a:chOff x="0" y="-76200"/>
            <a:chExt cx="22305962" cy="669925"/>
          </a:xfrm>
        </p:grpSpPr>
        <p:sp>
          <p:nvSpPr>
            <p:cNvPr id="723" name="Google Shape;723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09165" marR="0" lvl="1" indent="-15458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•"/>
              </a:pPr>
              <a:r>
                <a:rPr lang="en-US" sz="2049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Who performs it?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Trained and certified professionals with explicit permission.</a:t>
              </a:r>
              <a:endParaRPr/>
            </a:p>
          </p:txBody>
        </p:sp>
      </p:grpSp>
      <p:grpSp>
        <p:nvGrpSpPr>
          <p:cNvPr id="725" name="Google Shape;725;p17"/>
          <p:cNvGrpSpPr/>
          <p:nvPr/>
        </p:nvGrpSpPr>
        <p:grpSpPr>
          <a:xfrm>
            <a:off x="779264" y="3297139"/>
            <a:ext cx="16729471" cy="502444"/>
            <a:chOff x="0" y="-76200"/>
            <a:chExt cx="22305962" cy="669925"/>
          </a:xfrm>
        </p:grpSpPr>
        <p:sp>
          <p:nvSpPr>
            <p:cNvPr id="726" name="Google Shape;726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09165" marR="0" lvl="1" indent="-15458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•"/>
              </a:pPr>
              <a:r>
                <a:rPr lang="en-US" sz="2049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Why is it done?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To improve security by identifying weaknesses from the perspective of a potential attacker.</a:t>
              </a:r>
              <a:endParaRPr/>
            </a:p>
          </p:txBody>
        </p:sp>
      </p:grpSp>
      <p:grpSp>
        <p:nvGrpSpPr>
          <p:cNvPr id="728" name="Google Shape;728;p17"/>
          <p:cNvGrpSpPr/>
          <p:nvPr/>
        </p:nvGrpSpPr>
        <p:grpSpPr>
          <a:xfrm>
            <a:off x="779264" y="4686986"/>
            <a:ext cx="9067290" cy="516700"/>
            <a:chOff x="0" y="-9525"/>
            <a:chExt cx="12089721" cy="688933"/>
          </a:xfrm>
        </p:grpSpPr>
        <p:sp>
          <p:nvSpPr>
            <p:cNvPr id="729" name="Google Shape;729;p17"/>
            <p:cNvSpPr/>
            <p:nvPr/>
          </p:nvSpPr>
          <p:spPr>
            <a:xfrm>
              <a:off x="0" y="0"/>
              <a:ext cx="12089721" cy="679408"/>
            </a:xfrm>
            <a:custGeom>
              <a:avLst/>
              <a:gdLst/>
              <a:ahLst/>
              <a:cxnLst/>
              <a:rect l="l" t="t" r="r" b="b"/>
              <a:pathLst>
                <a:path w="12089721" h="679408" extrusionOk="0">
                  <a:moveTo>
                    <a:pt x="0" y="0"/>
                  </a:moveTo>
                  <a:lnTo>
                    <a:pt x="12089721" y="0"/>
                  </a:lnTo>
                  <a:lnTo>
                    <a:pt x="12089721" y="679408"/>
                  </a:lnTo>
                  <a:lnTo>
                    <a:pt x="0" y="679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7"/>
            <p:cNvSpPr txBox="1"/>
            <p:nvPr/>
          </p:nvSpPr>
          <p:spPr>
            <a:xfrm>
              <a:off x="0" y="-9525"/>
              <a:ext cx="12089721" cy="688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37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25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How is it different from penetration testing ?</a:t>
              </a:r>
              <a:endParaRPr/>
            </a:p>
          </p:txBody>
        </p:sp>
      </p:grpSp>
      <p:grpSp>
        <p:nvGrpSpPr>
          <p:cNvPr id="731" name="Google Shape;731;p17"/>
          <p:cNvGrpSpPr/>
          <p:nvPr/>
        </p:nvGrpSpPr>
        <p:grpSpPr>
          <a:xfrm>
            <a:off x="779264" y="5434459"/>
            <a:ext cx="16729471" cy="502444"/>
            <a:chOff x="0" y="-76200"/>
            <a:chExt cx="22305962" cy="669925"/>
          </a:xfrm>
        </p:grpSpPr>
        <p:sp>
          <p:nvSpPr>
            <p:cNvPr id="732" name="Google Shape;732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09165" marR="0" lvl="1" indent="-15458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•"/>
              </a:pPr>
              <a:r>
                <a:rPr lang="en-US" sz="2049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Scope &amp; Coverage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</p:txBody>
        </p:sp>
      </p:grpSp>
      <p:grpSp>
        <p:nvGrpSpPr>
          <p:cNvPr id="734" name="Google Shape;734;p17"/>
          <p:cNvGrpSpPr/>
          <p:nvPr/>
        </p:nvGrpSpPr>
        <p:grpSpPr>
          <a:xfrm>
            <a:off x="779264" y="5957590"/>
            <a:ext cx="16729471" cy="502444"/>
            <a:chOff x="0" y="-76200"/>
            <a:chExt cx="22305962" cy="669925"/>
          </a:xfrm>
        </p:grpSpPr>
        <p:sp>
          <p:nvSpPr>
            <p:cNvPr id="735" name="Google Shape;735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11268" marR="0" lvl="2" indent="-27042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⚬"/>
              </a:pPr>
              <a:r>
                <a:rPr lang="en-US" sz="2049" b="0" i="1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Penetration Testing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targets specific systems or applications.</a:t>
              </a:r>
              <a:endParaRPr/>
            </a:p>
          </p:txBody>
        </p:sp>
      </p:grpSp>
      <p:grpSp>
        <p:nvGrpSpPr>
          <p:cNvPr id="737" name="Google Shape;737;p17"/>
          <p:cNvGrpSpPr/>
          <p:nvPr/>
        </p:nvGrpSpPr>
        <p:grpSpPr>
          <a:xfrm>
            <a:off x="779264" y="6480721"/>
            <a:ext cx="16729471" cy="502444"/>
            <a:chOff x="0" y="-76200"/>
            <a:chExt cx="22305962" cy="669925"/>
          </a:xfrm>
        </p:grpSpPr>
        <p:sp>
          <p:nvSpPr>
            <p:cNvPr id="738" name="Google Shape;738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11268" marR="0" lvl="2" indent="-27042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⚬"/>
              </a:pPr>
              <a:r>
                <a:rPr lang="en-US" sz="2049" b="0" i="1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Ethical Hacking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may include broader methods like social engineering or physical security testing.</a:t>
              </a:r>
              <a:endParaRPr/>
            </a:p>
          </p:txBody>
        </p:sp>
      </p:grpSp>
      <p:grpSp>
        <p:nvGrpSpPr>
          <p:cNvPr id="740" name="Google Shape;740;p17"/>
          <p:cNvGrpSpPr/>
          <p:nvPr/>
        </p:nvGrpSpPr>
        <p:grpSpPr>
          <a:xfrm>
            <a:off x="779264" y="7003851"/>
            <a:ext cx="16729471" cy="502444"/>
            <a:chOff x="0" y="-76200"/>
            <a:chExt cx="22305962" cy="669925"/>
          </a:xfrm>
        </p:grpSpPr>
        <p:sp>
          <p:nvSpPr>
            <p:cNvPr id="741" name="Google Shape;741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09165" marR="0" lvl="1" indent="-15458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•"/>
              </a:pPr>
              <a:r>
                <a:rPr lang="en-US" sz="2049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Tools &amp; Methods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</p:txBody>
        </p:sp>
      </p:grpSp>
      <p:grpSp>
        <p:nvGrpSpPr>
          <p:cNvPr id="743" name="Google Shape;743;p17"/>
          <p:cNvGrpSpPr/>
          <p:nvPr/>
        </p:nvGrpSpPr>
        <p:grpSpPr>
          <a:xfrm>
            <a:off x="779264" y="7526982"/>
            <a:ext cx="16729471" cy="502444"/>
            <a:chOff x="0" y="-76200"/>
            <a:chExt cx="22305962" cy="669925"/>
          </a:xfrm>
        </p:grpSpPr>
        <p:sp>
          <p:nvSpPr>
            <p:cNvPr id="744" name="Google Shape;744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11268" marR="0" lvl="2" indent="-27042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⚬"/>
              </a:pP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Both use similar tools, but ethical hacking may also involve non-technical techniques (e.g., phishing).</a:t>
              </a:r>
              <a:endParaRPr/>
            </a:p>
          </p:txBody>
        </p:sp>
      </p:grpSp>
      <p:grpSp>
        <p:nvGrpSpPr>
          <p:cNvPr id="746" name="Google Shape;746;p17"/>
          <p:cNvGrpSpPr/>
          <p:nvPr/>
        </p:nvGrpSpPr>
        <p:grpSpPr>
          <a:xfrm>
            <a:off x="779264" y="8050114"/>
            <a:ext cx="16729471" cy="502444"/>
            <a:chOff x="0" y="-76200"/>
            <a:chExt cx="22305962" cy="669925"/>
          </a:xfrm>
        </p:grpSpPr>
        <p:sp>
          <p:nvSpPr>
            <p:cNvPr id="747" name="Google Shape;747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09165" marR="0" lvl="1" indent="-15458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•"/>
              </a:pPr>
              <a:r>
                <a:rPr lang="en-US" sz="2049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Purpose &amp; Authorization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</p:txBody>
        </p:sp>
      </p:grpSp>
      <p:grpSp>
        <p:nvGrpSpPr>
          <p:cNvPr id="749" name="Google Shape;749;p17"/>
          <p:cNvGrpSpPr/>
          <p:nvPr/>
        </p:nvGrpSpPr>
        <p:grpSpPr>
          <a:xfrm>
            <a:off x="779264" y="8573244"/>
            <a:ext cx="16729471" cy="502444"/>
            <a:chOff x="0" y="-76200"/>
            <a:chExt cx="22305962" cy="669925"/>
          </a:xfrm>
        </p:grpSpPr>
        <p:sp>
          <p:nvSpPr>
            <p:cNvPr id="750" name="Google Shape;750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11268" marR="0" lvl="2" indent="-27042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⚬"/>
              </a:pPr>
              <a:r>
                <a:rPr lang="en-US" sz="2049" b="0" i="1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Pen Testing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assesses system-specific security.</a:t>
              </a:r>
              <a:endParaRPr/>
            </a:p>
          </p:txBody>
        </p:sp>
      </p:grpSp>
      <p:grpSp>
        <p:nvGrpSpPr>
          <p:cNvPr id="752" name="Google Shape;752;p17"/>
          <p:cNvGrpSpPr/>
          <p:nvPr/>
        </p:nvGrpSpPr>
        <p:grpSpPr>
          <a:xfrm>
            <a:off x="779264" y="9096375"/>
            <a:ext cx="16729471" cy="502444"/>
            <a:chOff x="0" y="-76200"/>
            <a:chExt cx="22305962" cy="669925"/>
          </a:xfrm>
        </p:grpSpPr>
        <p:sp>
          <p:nvSpPr>
            <p:cNvPr id="753" name="Google Shape;753;p17"/>
            <p:cNvSpPr/>
            <p:nvPr/>
          </p:nvSpPr>
          <p:spPr>
            <a:xfrm>
              <a:off x="0" y="0"/>
              <a:ext cx="22305962" cy="593725"/>
            </a:xfrm>
            <a:custGeom>
              <a:avLst/>
              <a:gdLst/>
              <a:ahLst/>
              <a:cxnLst/>
              <a:rect l="l" t="t" r="r" b="b"/>
              <a:pathLst>
                <a:path w="22305962" h="593725" extrusionOk="0">
                  <a:moveTo>
                    <a:pt x="0" y="0"/>
                  </a:moveTo>
                  <a:lnTo>
                    <a:pt x="22305962" y="0"/>
                  </a:lnTo>
                  <a:lnTo>
                    <a:pt x="22305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7"/>
            <p:cNvSpPr txBox="1"/>
            <p:nvPr/>
          </p:nvSpPr>
          <p:spPr>
            <a:xfrm>
              <a:off x="0" y="-76200"/>
              <a:ext cx="22305962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11268" marR="0" lvl="2" indent="-270423" algn="l" rtl="0">
                <a:lnSpc>
                  <a:spcPct val="157198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049"/>
                <a:buFont typeface="Arial"/>
                <a:buChar char="⚬"/>
              </a:pPr>
              <a:r>
                <a:rPr lang="en-US" sz="2049" b="0" i="1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Ethical Hacking</a:t>
              </a:r>
              <a:r>
                <a:rPr lang="en-US" sz="2049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focuses on improving overall cybersecurity, always with explicit legal permission.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8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5" name="Google Shape;765;p18"/>
          <p:cNvGrpSpPr/>
          <p:nvPr/>
        </p:nvGrpSpPr>
        <p:grpSpPr>
          <a:xfrm>
            <a:off x="992237" y="1253096"/>
            <a:ext cx="16010633" cy="879460"/>
            <a:chOff x="0" y="-19050"/>
            <a:chExt cx="21347510" cy="1172612"/>
          </a:xfrm>
        </p:grpSpPr>
        <p:sp>
          <p:nvSpPr>
            <p:cNvPr id="766" name="Google Shape;766;p18"/>
            <p:cNvSpPr/>
            <p:nvPr/>
          </p:nvSpPr>
          <p:spPr>
            <a:xfrm>
              <a:off x="0" y="0"/>
              <a:ext cx="21347509" cy="1153562"/>
            </a:xfrm>
            <a:custGeom>
              <a:avLst/>
              <a:gdLst/>
              <a:ahLst/>
              <a:cxnLst/>
              <a:rect l="l" t="t" r="r" b="b"/>
              <a:pathLst>
                <a:path w="21347509" h="1153562" extrusionOk="0">
                  <a:moveTo>
                    <a:pt x="0" y="0"/>
                  </a:moveTo>
                  <a:lnTo>
                    <a:pt x="21347509" y="0"/>
                  </a:lnTo>
                  <a:lnTo>
                    <a:pt x="21347509" y="1153562"/>
                  </a:lnTo>
                  <a:lnTo>
                    <a:pt x="0" y="1153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8"/>
            <p:cNvSpPr txBox="1"/>
            <p:nvPr/>
          </p:nvSpPr>
          <p:spPr>
            <a:xfrm>
              <a:off x="0" y="-19050"/>
              <a:ext cx="21347510" cy="1172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3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3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Tools for Penetration: Nmap &amp; Metasploit Framework</a:t>
              </a:r>
              <a:endParaRPr/>
            </a:p>
          </p:txBody>
        </p:sp>
      </p:grpSp>
      <p:grpSp>
        <p:nvGrpSpPr>
          <p:cNvPr id="768" name="Google Shape;768;p18"/>
          <p:cNvGrpSpPr/>
          <p:nvPr/>
        </p:nvGrpSpPr>
        <p:grpSpPr>
          <a:xfrm>
            <a:off x="987475" y="2694980"/>
            <a:ext cx="8019669" cy="6172676"/>
            <a:chOff x="0" y="0"/>
            <a:chExt cx="10692892" cy="8230235"/>
          </a:xfrm>
        </p:grpSpPr>
        <p:sp>
          <p:nvSpPr>
            <p:cNvPr id="769" name="Google Shape;769;p18"/>
            <p:cNvSpPr/>
            <p:nvPr/>
          </p:nvSpPr>
          <p:spPr>
            <a:xfrm>
              <a:off x="6350" y="6350"/>
              <a:ext cx="10680192" cy="8217535"/>
            </a:xfrm>
            <a:custGeom>
              <a:avLst/>
              <a:gdLst/>
              <a:ahLst/>
              <a:cxnLst/>
              <a:rect l="l" t="t" r="r" b="b"/>
              <a:pathLst>
                <a:path w="10680192" h="8217535" extrusionOk="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0521315" y="0"/>
                  </a:lnTo>
                  <a:cubicBezTo>
                    <a:pt x="10609072" y="0"/>
                    <a:pt x="10680192" y="71120"/>
                    <a:pt x="10680192" y="158750"/>
                  </a:cubicBezTo>
                  <a:lnTo>
                    <a:pt x="10680192" y="8058785"/>
                  </a:lnTo>
                  <a:cubicBezTo>
                    <a:pt x="10680192" y="8146415"/>
                    <a:pt x="10609072" y="8217535"/>
                    <a:pt x="10521315" y="8217535"/>
                  </a:cubicBezTo>
                  <a:lnTo>
                    <a:pt x="158877" y="8217535"/>
                  </a:lnTo>
                  <a:cubicBezTo>
                    <a:pt x="71120" y="8217535"/>
                    <a:pt x="0" y="8146415"/>
                    <a:pt x="0" y="8058785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0" y="0"/>
              <a:ext cx="10692892" cy="8230235"/>
            </a:xfrm>
            <a:custGeom>
              <a:avLst/>
              <a:gdLst/>
              <a:ahLst/>
              <a:cxnLst/>
              <a:rect l="l" t="t" r="r" b="b"/>
              <a:pathLst>
                <a:path w="10692892" h="8230235" extrusionOk="0">
                  <a:moveTo>
                    <a:pt x="0" y="165100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527665" y="0"/>
                  </a:lnTo>
                  <a:lnTo>
                    <a:pt x="10527665" y="6350"/>
                  </a:lnTo>
                  <a:lnTo>
                    <a:pt x="10527665" y="0"/>
                  </a:lnTo>
                  <a:cubicBezTo>
                    <a:pt x="10618851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8065135"/>
                  </a:lnTo>
                  <a:lnTo>
                    <a:pt x="10686542" y="8065135"/>
                  </a:lnTo>
                  <a:lnTo>
                    <a:pt x="10692892" y="8065135"/>
                  </a:lnTo>
                  <a:cubicBezTo>
                    <a:pt x="10692892" y="8156321"/>
                    <a:pt x="10618978" y="8230235"/>
                    <a:pt x="10527665" y="8230235"/>
                  </a:cubicBezTo>
                  <a:lnTo>
                    <a:pt x="10527665" y="8223885"/>
                  </a:lnTo>
                  <a:lnTo>
                    <a:pt x="10527665" y="8230235"/>
                  </a:lnTo>
                  <a:lnTo>
                    <a:pt x="165227" y="8230235"/>
                  </a:lnTo>
                  <a:lnTo>
                    <a:pt x="165227" y="8223885"/>
                  </a:lnTo>
                  <a:lnTo>
                    <a:pt x="165227" y="8230235"/>
                  </a:lnTo>
                  <a:cubicBezTo>
                    <a:pt x="74041" y="8230235"/>
                    <a:pt x="0" y="8156321"/>
                    <a:pt x="0" y="806513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8065135"/>
                  </a:lnTo>
                  <a:lnTo>
                    <a:pt x="6350" y="8065135"/>
                  </a:lnTo>
                  <a:lnTo>
                    <a:pt x="12700" y="8065135"/>
                  </a:lnTo>
                  <a:cubicBezTo>
                    <a:pt x="12700" y="8149336"/>
                    <a:pt x="80899" y="8217535"/>
                    <a:pt x="165227" y="8217535"/>
                  </a:cubicBezTo>
                  <a:lnTo>
                    <a:pt x="10527665" y="8217535"/>
                  </a:lnTo>
                  <a:cubicBezTo>
                    <a:pt x="10611866" y="8217535"/>
                    <a:pt x="10680192" y="8149336"/>
                    <a:pt x="10680192" y="8065135"/>
                  </a:cubicBezTo>
                  <a:lnTo>
                    <a:pt x="10680192" y="165100"/>
                  </a:lnTo>
                  <a:cubicBezTo>
                    <a:pt x="10680192" y="80899"/>
                    <a:pt x="10611993" y="12700"/>
                    <a:pt x="10527665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1" name="Google Shape;771;p18"/>
          <p:cNvGrpSpPr/>
          <p:nvPr/>
        </p:nvGrpSpPr>
        <p:grpSpPr>
          <a:xfrm>
            <a:off x="2378125" y="2932702"/>
            <a:ext cx="5610449" cy="644636"/>
            <a:chOff x="0" y="-9525"/>
            <a:chExt cx="7480598" cy="859515"/>
          </a:xfrm>
        </p:grpSpPr>
        <p:sp>
          <p:nvSpPr>
            <p:cNvPr id="772" name="Google Shape;772;p18"/>
            <p:cNvSpPr/>
            <p:nvPr/>
          </p:nvSpPr>
          <p:spPr>
            <a:xfrm>
              <a:off x="0" y="0"/>
              <a:ext cx="7480598" cy="849990"/>
            </a:xfrm>
            <a:custGeom>
              <a:avLst/>
              <a:gdLst/>
              <a:ahLst/>
              <a:cxnLst/>
              <a:rect l="l" t="t" r="r" b="b"/>
              <a:pathLst>
                <a:path w="7480598" h="849990" extrusionOk="0">
                  <a:moveTo>
                    <a:pt x="0" y="0"/>
                  </a:moveTo>
                  <a:lnTo>
                    <a:pt x="7480598" y="0"/>
                  </a:lnTo>
                  <a:lnTo>
                    <a:pt x="7480598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8"/>
            <p:cNvSpPr txBox="1"/>
            <p:nvPr/>
          </p:nvSpPr>
          <p:spPr>
            <a:xfrm>
              <a:off x="0" y="-9525"/>
              <a:ext cx="7480598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NMap (Network Mapper)</a:t>
              </a:r>
              <a:endParaRPr/>
            </a:p>
          </p:txBody>
        </p:sp>
      </p:grpSp>
      <p:grpSp>
        <p:nvGrpSpPr>
          <p:cNvPr id="774" name="Google Shape;774;p18"/>
          <p:cNvGrpSpPr/>
          <p:nvPr/>
        </p:nvGrpSpPr>
        <p:grpSpPr>
          <a:xfrm>
            <a:off x="1285280" y="3615929"/>
            <a:ext cx="7423995" cy="1779240"/>
            <a:chOff x="0" y="-104775"/>
            <a:chExt cx="9898659" cy="2372320"/>
          </a:xfrm>
        </p:grpSpPr>
        <p:sp>
          <p:nvSpPr>
            <p:cNvPr id="775" name="Google Shape;775;p18"/>
            <p:cNvSpPr/>
            <p:nvPr/>
          </p:nvSpPr>
          <p:spPr>
            <a:xfrm>
              <a:off x="0" y="0"/>
              <a:ext cx="9898659" cy="2267545"/>
            </a:xfrm>
            <a:custGeom>
              <a:avLst/>
              <a:gdLst/>
              <a:ahLst/>
              <a:cxnLst/>
              <a:rect l="l" t="t" r="r" b="b"/>
              <a:pathLst>
                <a:path w="9898659" h="2267545" extrusionOk="0">
                  <a:moveTo>
                    <a:pt x="0" y="0"/>
                  </a:moveTo>
                  <a:lnTo>
                    <a:pt x="9898659" y="0"/>
                  </a:lnTo>
                  <a:lnTo>
                    <a:pt x="9898659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8"/>
            <p:cNvSpPr txBox="1"/>
            <p:nvPr/>
          </p:nvSpPr>
          <p:spPr>
            <a:xfrm>
              <a:off x="0" y="-104775"/>
              <a:ext cx="9898658" cy="2372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Purpose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Detects open ports, active services, and possible entry points in a network.</a:t>
              </a:r>
              <a:endParaRPr/>
            </a:p>
          </p:txBody>
        </p:sp>
      </p:grpSp>
      <p:grpSp>
        <p:nvGrpSpPr>
          <p:cNvPr id="777" name="Google Shape;777;p18"/>
          <p:cNvGrpSpPr/>
          <p:nvPr/>
        </p:nvGrpSpPr>
        <p:grpSpPr>
          <a:xfrm>
            <a:off x="1285280" y="6223695"/>
            <a:ext cx="7423995" cy="2346126"/>
            <a:chOff x="0" y="-104775"/>
            <a:chExt cx="9898659" cy="3128168"/>
          </a:xfrm>
        </p:grpSpPr>
        <p:sp>
          <p:nvSpPr>
            <p:cNvPr id="778" name="Google Shape;778;p18"/>
            <p:cNvSpPr/>
            <p:nvPr/>
          </p:nvSpPr>
          <p:spPr>
            <a:xfrm>
              <a:off x="0" y="0"/>
              <a:ext cx="9898659" cy="3023393"/>
            </a:xfrm>
            <a:custGeom>
              <a:avLst/>
              <a:gdLst/>
              <a:ahLst/>
              <a:cxnLst/>
              <a:rect l="l" t="t" r="r" b="b"/>
              <a:pathLst>
                <a:path w="9898659" h="3023393" extrusionOk="0">
                  <a:moveTo>
                    <a:pt x="0" y="0"/>
                  </a:moveTo>
                  <a:lnTo>
                    <a:pt x="9898659" y="0"/>
                  </a:lnTo>
                  <a:lnTo>
                    <a:pt x="9898659" y="3023393"/>
                  </a:lnTo>
                  <a:lnTo>
                    <a:pt x="0" y="30233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8"/>
            <p:cNvSpPr txBox="1"/>
            <p:nvPr/>
          </p:nvSpPr>
          <p:spPr>
            <a:xfrm>
              <a:off x="0" y="-104775"/>
              <a:ext cx="9898658" cy="3128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Case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Used to map devices, identify operating systems, and find vulnerable ports within a network.</a:t>
              </a:r>
              <a:endParaRPr/>
            </a:p>
          </p:txBody>
        </p:sp>
      </p:grpSp>
      <p:grpSp>
        <p:nvGrpSpPr>
          <p:cNvPr id="780" name="Google Shape;780;p18"/>
          <p:cNvGrpSpPr/>
          <p:nvPr/>
        </p:nvGrpSpPr>
        <p:grpSpPr>
          <a:xfrm>
            <a:off x="9281071" y="2694980"/>
            <a:ext cx="8019669" cy="6172676"/>
            <a:chOff x="0" y="0"/>
            <a:chExt cx="10692892" cy="8230235"/>
          </a:xfrm>
        </p:grpSpPr>
        <p:sp>
          <p:nvSpPr>
            <p:cNvPr id="781" name="Google Shape;781;p18"/>
            <p:cNvSpPr/>
            <p:nvPr/>
          </p:nvSpPr>
          <p:spPr>
            <a:xfrm>
              <a:off x="6350" y="6350"/>
              <a:ext cx="10680192" cy="8217535"/>
            </a:xfrm>
            <a:custGeom>
              <a:avLst/>
              <a:gdLst/>
              <a:ahLst/>
              <a:cxnLst/>
              <a:rect l="l" t="t" r="r" b="b"/>
              <a:pathLst>
                <a:path w="10680192" h="8217535" extrusionOk="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0521315" y="0"/>
                  </a:lnTo>
                  <a:cubicBezTo>
                    <a:pt x="10609072" y="0"/>
                    <a:pt x="10680192" y="71120"/>
                    <a:pt x="10680192" y="158750"/>
                  </a:cubicBezTo>
                  <a:lnTo>
                    <a:pt x="10680192" y="8058785"/>
                  </a:lnTo>
                  <a:cubicBezTo>
                    <a:pt x="10680192" y="8146415"/>
                    <a:pt x="10609072" y="8217535"/>
                    <a:pt x="10521315" y="8217535"/>
                  </a:cubicBezTo>
                  <a:lnTo>
                    <a:pt x="158877" y="8217535"/>
                  </a:lnTo>
                  <a:cubicBezTo>
                    <a:pt x="71120" y="8217535"/>
                    <a:pt x="0" y="8146415"/>
                    <a:pt x="0" y="8058785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0" y="0"/>
              <a:ext cx="10692892" cy="8230235"/>
            </a:xfrm>
            <a:custGeom>
              <a:avLst/>
              <a:gdLst/>
              <a:ahLst/>
              <a:cxnLst/>
              <a:rect l="l" t="t" r="r" b="b"/>
              <a:pathLst>
                <a:path w="10692892" h="8230235" extrusionOk="0">
                  <a:moveTo>
                    <a:pt x="0" y="165100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527665" y="0"/>
                  </a:lnTo>
                  <a:lnTo>
                    <a:pt x="10527665" y="6350"/>
                  </a:lnTo>
                  <a:lnTo>
                    <a:pt x="10527665" y="0"/>
                  </a:lnTo>
                  <a:cubicBezTo>
                    <a:pt x="10618851" y="0"/>
                    <a:pt x="10692892" y="73914"/>
                    <a:pt x="10692892" y="165100"/>
                  </a:cubicBezTo>
                  <a:lnTo>
                    <a:pt x="10686542" y="165100"/>
                  </a:lnTo>
                  <a:lnTo>
                    <a:pt x="10692892" y="165100"/>
                  </a:lnTo>
                  <a:lnTo>
                    <a:pt x="10692892" y="8065135"/>
                  </a:lnTo>
                  <a:lnTo>
                    <a:pt x="10686542" y="8065135"/>
                  </a:lnTo>
                  <a:lnTo>
                    <a:pt x="10692892" y="8065135"/>
                  </a:lnTo>
                  <a:cubicBezTo>
                    <a:pt x="10692892" y="8156321"/>
                    <a:pt x="10618978" y="8230235"/>
                    <a:pt x="10527665" y="8230235"/>
                  </a:cubicBezTo>
                  <a:lnTo>
                    <a:pt x="10527665" y="8223885"/>
                  </a:lnTo>
                  <a:lnTo>
                    <a:pt x="10527665" y="8230235"/>
                  </a:lnTo>
                  <a:lnTo>
                    <a:pt x="165227" y="8230235"/>
                  </a:lnTo>
                  <a:lnTo>
                    <a:pt x="165227" y="8223885"/>
                  </a:lnTo>
                  <a:lnTo>
                    <a:pt x="165227" y="8230235"/>
                  </a:lnTo>
                  <a:cubicBezTo>
                    <a:pt x="74041" y="8230235"/>
                    <a:pt x="0" y="8156321"/>
                    <a:pt x="0" y="806513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8065135"/>
                  </a:lnTo>
                  <a:lnTo>
                    <a:pt x="6350" y="8065135"/>
                  </a:lnTo>
                  <a:lnTo>
                    <a:pt x="12700" y="8065135"/>
                  </a:lnTo>
                  <a:cubicBezTo>
                    <a:pt x="12700" y="8149336"/>
                    <a:pt x="80899" y="8217535"/>
                    <a:pt x="165227" y="8217535"/>
                  </a:cubicBezTo>
                  <a:lnTo>
                    <a:pt x="10527665" y="8217535"/>
                  </a:lnTo>
                  <a:cubicBezTo>
                    <a:pt x="10611866" y="8217535"/>
                    <a:pt x="10680192" y="8149336"/>
                    <a:pt x="10680192" y="8065135"/>
                  </a:cubicBezTo>
                  <a:lnTo>
                    <a:pt x="10680192" y="165100"/>
                  </a:lnTo>
                  <a:cubicBezTo>
                    <a:pt x="10680192" y="80899"/>
                    <a:pt x="10611993" y="12700"/>
                    <a:pt x="10527665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3" name="Google Shape;783;p18"/>
          <p:cNvGrpSpPr/>
          <p:nvPr/>
        </p:nvGrpSpPr>
        <p:grpSpPr>
          <a:xfrm>
            <a:off x="10373058" y="2932702"/>
            <a:ext cx="5306431" cy="644636"/>
            <a:chOff x="0" y="-9525"/>
            <a:chExt cx="7075242" cy="859515"/>
          </a:xfrm>
        </p:grpSpPr>
        <p:sp>
          <p:nvSpPr>
            <p:cNvPr id="784" name="Google Shape;784;p18"/>
            <p:cNvSpPr/>
            <p:nvPr/>
          </p:nvSpPr>
          <p:spPr>
            <a:xfrm>
              <a:off x="0" y="0"/>
              <a:ext cx="7075242" cy="849990"/>
            </a:xfrm>
            <a:custGeom>
              <a:avLst/>
              <a:gdLst/>
              <a:ahLst/>
              <a:cxnLst/>
              <a:rect l="l" t="t" r="r" b="b"/>
              <a:pathLst>
                <a:path w="7075242" h="849990" extrusionOk="0">
                  <a:moveTo>
                    <a:pt x="0" y="0"/>
                  </a:moveTo>
                  <a:lnTo>
                    <a:pt x="7075242" y="0"/>
                  </a:lnTo>
                  <a:lnTo>
                    <a:pt x="7075242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8"/>
            <p:cNvSpPr txBox="1"/>
            <p:nvPr/>
          </p:nvSpPr>
          <p:spPr>
            <a:xfrm>
              <a:off x="0" y="-9525"/>
              <a:ext cx="7075242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Metasploit Framework</a:t>
              </a:r>
              <a:endParaRPr/>
            </a:p>
          </p:txBody>
        </p:sp>
      </p:grpSp>
      <p:grpSp>
        <p:nvGrpSpPr>
          <p:cNvPr id="786" name="Google Shape;786;p18"/>
          <p:cNvGrpSpPr/>
          <p:nvPr/>
        </p:nvGrpSpPr>
        <p:grpSpPr>
          <a:xfrm>
            <a:off x="9578876" y="3615929"/>
            <a:ext cx="7423995" cy="1779240"/>
            <a:chOff x="0" y="-104775"/>
            <a:chExt cx="9898659" cy="2372320"/>
          </a:xfrm>
        </p:grpSpPr>
        <p:sp>
          <p:nvSpPr>
            <p:cNvPr id="787" name="Google Shape;787;p18"/>
            <p:cNvSpPr/>
            <p:nvPr/>
          </p:nvSpPr>
          <p:spPr>
            <a:xfrm>
              <a:off x="0" y="0"/>
              <a:ext cx="9898659" cy="2267545"/>
            </a:xfrm>
            <a:custGeom>
              <a:avLst/>
              <a:gdLst/>
              <a:ahLst/>
              <a:cxnLst/>
              <a:rect l="l" t="t" r="r" b="b"/>
              <a:pathLst>
                <a:path w="9898659" h="2267545" extrusionOk="0">
                  <a:moveTo>
                    <a:pt x="0" y="0"/>
                  </a:moveTo>
                  <a:lnTo>
                    <a:pt x="9898659" y="0"/>
                  </a:lnTo>
                  <a:lnTo>
                    <a:pt x="9898659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8"/>
            <p:cNvSpPr txBox="1"/>
            <p:nvPr/>
          </p:nvSpPr>
          <p:spPr>
            <a:xfrm>
              <a:off x="0" y="-104775"/>
              <a:ext cx="9898658" cy="2372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Purpose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Executes real-world exploits to test the impact of known vulnerabilities.</a:t>
              </a:r>
              <a:endParaRPr/>
            </a:p>
          </p:txBody>
        </p:sp>
      </p:grpSp>
      <p:grpSp>
        <p:nvGrpSpPr>
          <p:cNvPr id="789" name="Google Shape;789;p18"/>
          <p:cNvGrpSpPr/>
          <p:nvPr/>
        </p:nvGrpSpPr>
        <p:grpSpPr>
          <a:xfrm>
            <a:off x="9578876" y="6223695"/>
            <a:ext cx="7423995" cy="2346126"/>
            <a:chOff x="0" y="-104775"/>
            <a:chExt cx="9898659" cy="3128168"/>
          </a:xfrm>
        </p:grpSpPr>
        <p:sp>
          <p:nvSpPr>
            <p:cNvPr id="790" name="Google Shape;790;p18"/>
            <p:cNvSpPr/>
            <p:nvPr/>
          </p:nvSpPr>
          <p:spPr>
            <a:xfrm>
              <a:off x="0" y="0"/>
              <a:ext cx="9898659" cy="3023393"/>
            </a:xfrm>
            <a:custGeom>
              <a:avLst/>
              <a:gdLst/>
              <a:ahLst/>
              <a:cxnLst/>
              <a:rect l="l" t="t" r="r" b="b"/>
              <a:pathLst>
                <a:path w="9898659" h="3023393" extrusionOk="0">
                  <a:moveTo>
                    <a:pt x="0" y="0"/>
                  </a:moveTo>
                  <a:lnTo>
                    <a:pt x="9898659" y="0"/>
                  </a:lnTo>
                  <a:lnTo>
                    <a:pt x="9898659" y="3023393"/>
                  </a:lnTo>
                  <a:lnTo>
                    <a:pt x="0" y="30233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 txBox="1"/>
            <p:nvPr/>
          </p:nvSpPr>
          <p:spPr>
            <a:xfrm>
              <a:off x="0" y="-104775"/>
              <a:ext cx="9898658" cy="3128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Case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  <a:p>
              <a:pPr marL="0" marR="0" lvl="0" indent="0" algn="ctr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After identifying a weakness (like outdated software), Metasploit simulates how an attacker could exploit it.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9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2" name="Google Shape;802;p19"/>
          <p:cNvGrpSpPr/>
          <p:nvPr/>
        </p:nvGrpSpPr>
        <p:grpSpPr>
          <a:xfrm>
            <a:off x="614660" y="468660"/>
            <a:ext cx="4763170" cy="714226"/>
            <a:chOff x="0" y="-19050"/>
            <a:chExt cx="6350893" cy="952302"/>
          </a:xfrm>
        </p:grpSpPr>
        <p:sp>
          <p:nvSpPr>
            <p:cNvPr id="803" name="Google Shape;803;p19"/>
            <p:cNvSpPr/>
            <p:nvPr/>
          </p:nvSpPr>
          <p:spPr>
            <a:xfrm>
              <a:off x="0" y="0"/>
              <a:ext cx="6350893" cy="933252"/>
            </a:xfrm>
            <a:custGeom>
              <a:avLst/>
              <a:gdLst/>
              <a:ahLst/>
              <a:cxnLst/>
              <a:rect l="l" t="t" r="r" b="b"/>
              <a:pathLst>
                <a:path w="6350893" h="933252" extrusionOk="0">
                  <a:moveTo>
                    <a:pt x="0" y="0"/>
                  </a:moveTo>
                  <a:lnTo>
                    <a:pt x="6350893" y="0"/>
                  </a:lnTo>
                  <a:lnTo>
                    <a:pt x="6350893" y="933252"/>
                  </a:lnTo>
                  <a:lnTo>
                    <a:pt x="0" y="933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9"/>
            <p:cNvSpPr txBox="1"/>
            <p:nvPr/>
          </p:nvSpPr>
          <p:spPr>
            <a:xfrm>
              <a:off x="0" y="-19050"/>
              <a:ext cx="6350893" cy="952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54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3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Hands-on Activity</a:t>
              </a:r>
              <a:endParaRPr/>
            </a:p>
          </p:txBody>
        </p:sp>
      </p:grpSp>
      <p:grpSp>
        <p:nvGrpSpPr>
          <p:cNvPr id="805" name="Google Shape;805;p19"/>
          <p:cNvGrpSpPr/>
          <p:nvPr/>
        </p:nvGrpSpPr>
        <p:grpSpPr>
          <a:xfrm>
            <a:off x="614660" y="1318617"/>
            <a:ext cx="17058680" cy="496171"/>
            <a:chOff x="0" y="-85725"/>
            <a:chExt cx="22744907" cy="661560"/>
          </a:xfrm>
        </p:grpSpPr>
        <p:sp>
          <p:nvSpPr>
            <p:cNvPr id="806" name="Google Shape;806;p19"/>
            <p:cNvSpPr/>
            <p:nvPr/>
          </p:nvSpPr>
          <p:spPr>
            <a:xfrm>
              <a:off x="0" y="0"/>
              <a:ext cx="22744906" cy="575835"/>
            </a:xfrm>
            <a:custGeom>
              <a:avLst/>
              <a:gdLst/>
              <a:ahLst/>
              <a:cxnLst/>
              <a:rect l="l" t="t" r="r" b="b"/>
              <a:pathLst>
                <a:path w="22744906" h="575835" extrusionOk="0">
                  <a:moveTo>
                    <a:pt x="0" y="0"/>
                  </a:moveTo>
                  <a:lnTo>
                    <a:pt x="22744906" y="0"/>
                  </a:lnTo>
                  <a:lnTo>
                    <a:pt x="22744906" y="575835"/>
                  </a:lnTo>
                  <a:lnTo>
                    <a:pt x="0" y="5758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9"/>
            <p:cNvSpPr txBox="1"/>
            <p:nvPr/>
          </p:nvSpPr>
          <p:spPr>
            <a:xfrm>
              <a:off x="0" y="-85725"/>
              <a:ext cx="22744907" cy="661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296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Simulate a </a:t>
              </a:r>
              <a:r>
                <a:rPr lang="en-US" sz="20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basic penetration test</a:t>
              </a:r>
              <a:r>
                <a:rPr lang="en-US" sz="20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on our own machine to understand how attackers might </a:t>
              </a:r>
              <a:r>
                <a:rPr lang="en-US" sz="2087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discover and analyze open services</a:t>
              </a:r>
              <a:r>
                <a:rPr lang="en-US" sz="20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endParaRPr/>
            </a:p>
          </p:txBody>
        </p:sp>
      </p:grpSp>
      <p:sp>
        <p:nvSpPr>
          <p:cNvPr id="808" name="Google Shape;808;p19"/>
          <p:cNvSpPr/>
          <p:nvPr/>
        </p:nvSpPr>
        <p:spPr>
          <a:xfrm>
            <a:off x="812155" y="1931640"/>
            <a:ext cx="19050" cy="7876032"/>
          </a:xfrm>
          <a:custGeom>
            <a:avLst/>
            <a:gdLst/>
            <a:ahLst/>
            <a:cxnLst/>
            <a:rect l="l" t="t" r="r" b="b"/>
            <a:pathLst>
              <a:path w="25400" h="10501376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cubicBezTo>
                  <a:pt x="19685" y="0"/>
                  <a:pt x="25400" y="5715"/>
                  <a:pt x="25400" y="12700"/>
                </a:cubicBezTo>
                <a:lnTo>
                  <a:pt x="25400" y="10488676"/>
                </a:lnTo>
                <a:cubicBezTo>
                  <a:pt x="25400" y="10495661"/>
                  <a:pt x="19685" y="10501376"/>
                  <a:pt x="12700" y="10501376"/>
                </a:cubicBezTo>
                <a:cubicBezTo>
                  <a:pt x="5715" y="10501376"/>
                  <a:pt x="0" y="10495661"/>
                  <a:pt x="0" y="10488676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9"/>
          <p:cNvSpPr/>
          <p:nvPr/>
        </p:nvSpPr>
        <p:spPr>
          <a:xfrm>
            <a:off x="990675" y="2317105"/>
            <a:ext cx="526828" cy="19050"/>
          </a:xfrm>
          <a:custGeom>
            <a:avLst/>
            <a:gdLst/>
            <a:ahLst/>
            <a:cxnLst/>
            <a:rect l="l" t="t" r="r" b="b"/>
            <a:pathLst>
              <a:path w="702437" h="25400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689737" y="0"/>
                </a:lnTo>
                <a:cubicBezTo>
                  <a:pt x="696722" y="0"/>
                  <a:pt x="702437" y="5715"/>
                  <a:pt x="702437" y="12700"/>
                </a:cubicBezTo>
                <a:cubicBezTo>
                  <a:pt x="702437" y="19685"/>
                  <a:pt x="696722" y="25400"/>
                  <a:pt x="68973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0" name="Google Shape;810;p19"/>
          <p:cNvGrpSpPr/>
          <p:nvPr/>
        </p:nvGrpSpPr>
        <p:grpSpPr>
          <a:xfrm>
            <a:off x="609824" y="2124372"/>
            <a:ext cx="404622" cy="404622"/>
            <a:chOff x="0" y="0"/>
            <a:chExt cx="539496" cy="539496"/>
          </a:xfrm>
        </p:grpSpPr>
        <p:sp>
          <p:nvSpPr>
            <p:cNvPr id="811" name="Google Shape;811;p19"/>
            <p:cNvSpPr/>
            <p:nvPr/>
          </p:nvSpPr>
          <p:spPr>
            <a:xfrm>
              <a:off x="6350" y="6350"/>
              <a:ext cx="526796" cy="526796"/>
            </a:xfrm>
            <a:custGeom>
              <a:avLst/>
              <a:gdLst/>
              <a:ahLst/>
              <a:cxnLst/>
              <a:rect l="l" t="t" r="r" b="b"/>
              <a:pathLst>
                <a:path w="526796" h="526796" extrusionOk="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8498" y="0"/>
                  </a:lnTo>
                  <a:cubicBezTo>
                    <a:pt x="482854" y="0"/>
                    <a:pt x="526796" y="44069"/>
                    <a:pt x="526796" y="98298"/>
                  </a:cubicBezTo>
                  <a:lnTo>
                    <a:pt x="526796" y="428498"/>
                  </a:lnTo>
                  <a:cubicBezTo>
                    <a:pt x="526796" y="482854"/>
                    <a:pt x="482727" y="526796"/>
                    <a:pt x="428498" y="526796"/>
                  </a:cubicBezTo>
                  <a:lnTo>
                    <a:pt x="98298" y="526796"/>
                  </a:lnTo>
                  <a:cubicBezTo>
                    <a:pt x="44069" y="526796"/>
                    <a:pt x="0" y="482854"/>
                    <a:pt x="0" y="42849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9"/>
            <p:cNvSpPr/>
            <p:nvPr/>
          </p:nvSpPr>
          <p:spPr>
            <a:xfrm>
              <a:off x="0" y="0"/>
              <a:ext cx="539496" cy="539496"/>
            </a:xfrm>
            <a:custGeom>
              <a:avLst/>
              <a:gdLst/>
              <a:ahLst/>
              <a:cxnLst/>
              <a:rect l="l" t="t" r="r" b="b"/>
              <a:pathLst>
                <a:path w="539496" h="539496" extrusionOk="0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cubicBezTo>
                    <a:pt x="492633" y="0"/>
                    <a:pt x="539496" y="46863"/>
                    <a:pt x="539496" y="104648"/>
                  </a:cubicBezTo>
                  <a:lnTo>
                    <a:pt x="533146" y="104648"/>
                  </a:lnTo>
                  <a:lnTo>
                    <a:pt x="539496" y="104648"/>
                  </a:lnTo>
                  <a:lnTo>
                    <a:pt x="539496" y="434848"/>
                  </a:lnTo>
                  <a:lnTo>
                    <a:pt x="533146" y="434848"/>
                  </a:lnTo>
                  <a:lnTo>
                    <a:pt x="539496" y="434848"/>
                  </a:lnTo>
                  <a:cubicBezTo>
                    <a:pt x="539496" y="492633"/>
                    <a:pt x="492633" y="539496"/>
                    <a:pt x="434848" y="539496"/>
                  </a:cubicBezTo>
                  <a:lnTo>
                    <a:pt x="434848" y="533146"/>
                  </a:lnTo>
                  <a:lnTo>
                    <a:pt x="434848" y="539496"/>
                  </a:lnTo>
                  <a:lnTo>
                    <a:pt x="104648" y="539496"/>
                  </a:lnTo>
                  <a:lnTo>
                    <a:pt x="104648" y="533146"/>
                  </a:lnTo>
                  <a:lnTo>
                    <a:pt x="104648" y="539496"/>
                  </a:lnTo>
                  <a:cubicBezTo>
                    <a:pt x="46863" y="539496"/>
                    <a:pt x="0" y="492633"/>
                    <a:pt x="0" y="434848"/>
                  </a:cubicBezTo>
                  <a:lnTo>
                    <a:pt x="0" y="104648"/>
                  </a:lnTo>
                  <a:lnTo>
                    <a:pt x="6350" y="104648"/>
                  </a:lnTo>
                  <a:lnTo>
                    <a:pt x="0" y="104648"/>
                  </a:lnTo>
                  <a:moveTo>
                    <a:pt x="12700" y="104648"/>
                  </a:moveTo>
                  <a:lnTo>
                    <a:pt x="12700" y="434848"/>
                  </a:lnTo>
                  <a:lnTo>
                    <a:pt x="6350" y="434848"/>
                  </a:lnTo>
                  <a:lnTo>
                    <a:pt x="12700" y="434848"/>
                  </a:lnTo>
                  <a:cubicBezTo>
                    <a:pt x="12700" y="485648"/>
                    <a:pt x="53848" y="526796"/>
                    <a:pt x="104648" y="526796"/>
                  </a:cubicBezTo>
                  <a:lnTo>
                    <a:pt x="434848" y="526796"/>
                  </a:lnTo>
                  <a:cubicBezTo>
                    <a:pt x="485648" y="526796"/>
                    <a:pt x="526796" y="485648"/>
                    <a:pt x="526796" y="434848"/>
                  </a:cubicBezTo>
                  <a:lnTo>
                    <a:pt x="526796" y="104648"/>
                  </a:lnTo>
                  <a:cubicBezTo>
                    <a:pt x="526796" y="53848"/>
                    <a:pt x="485648" y="12700"/>
                    <a:pt x="434848" y="12700"/>
                  </a:cubicBezTo>
                  <a:lnTo>
                    <a:pt x="104648" y="12700"/>
                  </a:lnTo>
                  <a:lnTo>
                    <a:pt x="104648" y="6350"/>
                  </a:lnTo>
                  <a:lnTo>
                    <a:pt x="104648" y="12700"/>
                  </a:lnTo>
                  <a:cubicBezTo>
                    <a:pt x="53848" y="12700"/>
                    <a:pt x="12700" y="53848"/>
                    <a:pt x="12700" y="104648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3" name="Google Shape;813;p19"/>
          <p:cNvGrpSpPr/>
          <p:nvPr/>
        </p:nvGrpSpPr>
        <p:grpSpPr>
          <a:xfrm>
            <a:off x="680367" y="2162026"/>
            <a:ext cx="263426" cy="329208"/>
            <a:chOff x="0" y="0"/>
            <a:chExt cx="351235" cy="438943"/>
          </a:xfrm>
        </p:grpSpPr>
        <p:sp>
          <p:nvSpPr>
            <p:cNvPr id="814" name="Google Shape;814;p19"/>
            <p:cNvSpPr/>
            <p:nvPr/>
          </p:nvSpPr>
          <p:spPr>
            <a:xfrm>
              <a:off x="0" y="0"/>
              <a:ext cx="351235" cy="438943"/>
            </a:xfrm>
            <a:custGeom>
              <a:avLst/>
              <a:gdLst/>
              <a:ahLst/>
              <a:cxnLst/>
              <a:rect l="l" t="t" r="r" b="b"/>
              <a:pathLst>
                <a:path w="351235" h="438943" extrusionOk="0">
                  <a:moveTo>
                    <a:pt x="0" y="0"/>
                  </a:moveTo>
                  <a:lnTo>
                    <a:pt x="351235" y="0"/>
                  </a:lnTo>
                  <a:lnTo>
                    <a:pt x="351235" y="438943"/>
                  </a:lnTo>
                  <a:lnTo>
                    <a:pt x="0" y="438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9"/>
            <p:cNvSpPr txBox="1"/>
            <p:nvPr/>
          </p:nvSpPr>
          <p:spPr>
            <a:xfrm>
              <a:off x="0" y="38100"/>
              <a:ext cx="351235" cy="400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</a:t>
              </a:r>
              <a:endParaRPr/>
            </a:p>
          </p:txBody>
        </p:sp>
      </p:grpSp>
      <p:grpSp>
        <p:nvGrpSpPr>
          <p:cNvPr id="816" name="Google Shape;816;p19"/>
          <p:cNvGrpSpPr/>
          <p:nvPr/>
        </p:nvGrpSpPr>
        <p:grpSpPr>
          <a:xfrm>
            <a:off x="1690390" y="2092971"/>
            <a:ext cx="2195364" cy="434624"/>
            <a:chOff x="0" y="-19050"/>
            <a:chExt cx="2927152" cy="579500"/>
          </a:xfrm>
        </p:grpSpPr>
        <p:sp>
          <p:nvSpPr>
            <p:cNvPr id="817" name="Google Shape;817;p19"/>
            <p:cNvSpPr/>
            <p:nvPr/>
          </p:nvSpPr>
          <p:spPr>
            <a:xfrm>
              <a:off x="0" y="0"/>
              <a:ext cx="2927152" cy="560450"/>
            </a:xfrm>
            <a:custGeom>
              <a:avLst/>
              <a:gdLst/>
              <a:ahLst/>
              <a:cxnLst/>
              <a:rect l="l" t="t" r="r" b="b"/>
              <a:pathLst>
                <a:path w="2927152" h="560450" extrusionOk="0">
                  <a:moveTo>
                    <a:pt x="0" y="0"/>
                  </a:moveTo>
                  <a:lnTo>
                    <a:pt x="2927152" y="0"/>
                  </a:lnTo>
                  <a:lnTo>
                    <a:pt x="2927152" y="560450"/>
                  </a:lnTo>
                  <a:lnTo>
                    <a:pt x="0" y="560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9"/>
            <p:cNvSpPr txBox="1"/>
            <p:nvPr/>
          </p:nvSpPr>
          <p:spPr>
            <a:xfrm>
              <a:off x="0" y="-19050"/>
              <a:ext cx="2927152" cy="5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Install Nmap</a:t>
              </a:r>
              <a:endParaRPr/>
            </a:p>
          </p:txBody>
        </p:sp>
      </p:grpSp>
      <p:grpSp>
        <p:nvGrpSpPr>
          <p:cNvPr id="819" name="Google Shape;819;p19"/>
          <p:cNvGrpSpPr/>
          <p:nvPr/>
        </p:nvGrpSpPr>
        <p:grpSpPr>
          <a:xfrm>
            <a:off x="1690390" y="2429767"/>
            <a:ext cx="15982950" cy="489686"/>
            <a:chOff x="0" y="-76200"/>
            <a:chExt cx="21310600" cy="652914"/>
          </a:xfrm>
        </p:grpSpPr>
        <p:sp>
          <p:nvSpPr>
            <p:cNvPr id="820" name="Google Shape;820;p19"/>
            <p:cNvSpPr/>
            <p:nvPr/>
          </p:nvSpPr>
          <p:spPr>
            <a:xfrm>
              <a:off x="0" y="0"/>
              <a:ext cx="21310600" cy="576714"/>
            </a:xfrm>
            <a:custGeom>
              <a:avLst/>
              <a:gdLst/>
              <a:ahLst/>
              <a:cxnLst/>
              <a:rect l="l" t="t" r="r" b="b"/>
              <a:pathLst>
                <a:path w="21310600" h="576714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76714"/>
                  </a:lnTo>
                  <a:lnTo>
                    <a:pt x="0" y="576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19"/>
            <p:cNvSpPr txBox="1"/>
            <p:nvPr/>
          </p:nvSpPr>
          <p:spPr>
            <a:xfrm>
              <a:off x="0" y="-76200"/>
              <a:ext cx="21310600" cy="6529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16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brew install nmap / sudo apt install nmap</a:t>
              </a:r>
              <a:endParaRPr/>
            </a:p>
          </p:txBody>
        </p:sp>
      </p:grpSp>
      <p:sp>
        <p:nvSpPr>
          <p:cNvPr id="822" name="Google Shape;822;p19"/>
          <p:cNvSpPr/>
          <p:nvPr/>
        </p:nvSpPr>
        <p:spPr>
          <a:xfrm>
            <a:off x="990675" y="3504605"/>
            <a:ext cx="526828" cy="19050"/>
          </a:xfrm>
          <a:custGeom>
            <a:avLst/>
            <a:gdLst/>
            <a:ahLst/>
            <a:cxnLst/>
            <a:rect l="l" t="t" r="r" b="b"/>
            <a:pathLst>
              <a:path w="702437" h="25400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689737" y="0"/>
                </a:lnTo>
                <a:cubicBezTo>
                  <a:pt x="696722" y="0"/>
                  <a:pt x="702437" y="5715"/>
                  <a:pt x="702437" y="12700"/>
                </a:cubicBezTo>
                <a:cubicBezTo>
                  <a:pt x="702437" y="19685"/>
                  <a:pt x="696722" y="25400"/>
                  <a:pt x="68973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3" name="Google Shape;823;p19"/>
          <p:cNvGrpSpPr/>
          <p:nvPr/>
        </p:nvGrpSpPr>
        <p:grpSpPr>
          <a:xfrm>
            <a:off x="609824" y="3311872"/>
            <a:ext cx="404622" cy="404622"/>
            <a:chOff x="0" y="0"/>
            <a:chExt cx="539496" cy="539496"/>
          </a:xfrm>
        </p:grpSpPr>
        <p:sp>
          <p:nvSpPr>
            <p:cNvPr id="824" name="Google Shape;824;p19"/>
            <p:cNvSpPr/>
            <p:nvPr/>
          </p:nvSpPr>
          <p:spPr>
            <a:xfrm>
              <a:off x="6350" y="6350"/>
              <a:ext cx="526796" cy="526796"/>
            </a:xfrm>
            <a:custGeom>
              <a:avLst/>
              <a:gdLst/>
              <a:ahLst/>
              <a:cxnLst/>
              <a:rect l="l" t="t" r="r" b="b"/>
              <a:pathLst>
                <a:path w="526796" h="526796" extrusionOk="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8498" y="0"/>
                  </a:lnTo>
                  <a:cubicBezTo>
                    <a:pt x="482854" y="0"/>
                    <a:pt x="526796" y="44069"/>
                    <a:pt x="526796" y="98298"/>
                  </a:cubicBezTo>
                  <a:lnTo>
                    <a:pt x="526796" y="428498"/>
                  </a:lnTo>
                  <a:cubicBezTo>
                    <a:pt x="526796" y="482854"/>
                    <a:pt x="482727" y="526796"/>
                    <a:pt x="428498" y="526796"/>
                  </a:cubicBezTo>
                  <a:lnTo>
                    <a:pt x="98298" y="526796"/>
                  </a:lnTo>
                  <a:cubicBezTo>
                    <a:pt x="44069" y="526796"/>
                    <a:pt x="0" y="482854"/>
                    <a:pt x="0" y="42849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19"/>
            <p:cNvSpPr/>
            <p:nvPr/>
          </p:nvSpPr>
          <p:spPr>
            <a:xfrm>
              <a:off x="0" y="0"/>
              <a:ext cx="539496" cy="539496"/>
            </a:xfrm>
            <a:custGeom>
              <a:avLst/>
              <a:gdLst/>
              <a:ahLst/>
              <a:cxnLst/>
              <a:rect l="l" t="t" r="r" b="b"/>
              <a:pathLst>
                <a:path w="539496" h="539496" extrusionOk="0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cubicBezTo>
                    <a:pt x="492633" y="0"/>
                    <a:pt x="539496" y="46863"/>
                    <a:pt x="539496" y="104648"/>
                  </a:cubicBezTo>
                  <a:lnTo>
                    <a:pt x="533146" y="104648"/>
                  </a:lnTo>
                  <a:lnTo>
                    <a:pt x="539496" y="104648"/>
                  </a:lnTo>
                  <a:lnTo>
                    <a:pt x="539496" y="434848"/>
                  </a:lnTo>
                  <a:lnTo>
                    <a:pt x="533146" y="434848"/>
                  </a:lnTo>
                  <a:lnTo>
                    <a:pt x="539496" y="434848"/>
                  </a:lnTo>
                  <a:cubicBezTo>
                    <a:pt x="539496" y="492633"/>
                    <a:pt x="492633" y="539496"/>
                    <a:pt x="434848" y="539496"/>
                  </a:cubicBezTo>
                  <a:lnTo>
                    <a:pt x="434848" y="533146"/>
                  </a:lnTo>
                  <a:lnTo>
                    <a:pt x="434848" y="539496"/>
                  </a:lnTo>
                  <a:lnTo>
                    <a:pt x="104648" y="539496"/>
                  </a:lnTo>
                  <a:lnTo>
                    <a:pt x="104648" y="533146"/>
                  </a:lnTo>
                  <a:lnTo>
                    <a:pt x="104648" y="539496"/>
                  </a:lnTo>
                  <a:cubicBezTo>
                    <a:pt x="46863" y="539496"/>
                    <a:pt x="0" y="492633"/>
                    <a:pt x="0" y="434848"/>
                  </a:cubicBezTo>
                  <a:lnTo>
                    <a:pt x="0" y="104648"/>
                  </a:lnTo>
                  <a:lnTo>
                    <a:pt x="6350" y="104648"/>
                  </a:lnTo>
                  <a:lnTo>
                    <a:pt x="0" y="104648"/>
                  </a:lnTo>
                  <a:moveTo>
                    <a:pt x="12700" y="104648"/>
                  </a:moveTo>
                  <a:lnTo>
                    <a:pt x="12700" y="434848"/>
                  </a:lnTo>
                  <a:lnTo>
                    <a:pt x="6350" y="434848"/>
                  </a:lnTo>
                  <a:lnTo>
                    <a:pt x="12700" y="434848"/>
                  </a:lnTo>
                  <a:cubicBezTo>
                    <a:pt x="12700" y="485648"/>
                    <a:pt x="53848" y="526796"/>
                    <a:pt x="104648" y="526796"/>
                  </a:cubicBezTo>
                  <a:lnTo>
                    <a:pt x="434848" y="526796"/>
                  </a:lnTo>
                  <a:cubicBezTo>
                    <a:pt x="485648" y="526796"/>
                    <a:pt x="526796" y="485648"/>
                    <a:pt x="526796" y="434848"/>
                  </a:cubicBezTo>
                  <a:lnTo>
                    <a:pt x="526796" y="104648"/>
                  </a:lnTo>
                  <a:cubicBezTo>
                    <a:pt x="526796" y="53848"/>
                    <a:pt x="485648" y="12700"/>
                    <a:pt x="434848" y="12700"/>
                  </a:cubicBezTo>
                  <a:lnTo>
                    <a:pt x="104648" y="12700"/>
                  </a:lnTo>
                  <a:lnTo>
                    <a:pt x="104648" y="6350"/>
                  </a:lnTo>
                  <a:lnTo>
                    <a:pt x="104648" y="12700"/>
                  </a:lnTo>
                  <a:cubicBezTo>
                    <a:pt x="53848" y="12700"/>
                    <a:pt x="12700" y="53848"/>
                    <a:pt x="12700" y="104648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6" name="Google Shape;826;p19"/>
          <p:cNvGrpSpPr/>
          <p:nvPr/>
        </p:nvGrpSpPr>
        <p:grpSpPr>
          <a:xfrm>
            <a:off x="680367" y="3349526"/>
            <a:ext cx="263426" cy="329208"/>
            <a:chOff x="0" y="0"/>
            <a:chExt cx="351235" cy="438943"/>
          </a:xfrm>
        </p:grpSpPr>
        <p:sp>
          <p:nvSpPr>
            <p:cNvPr id="827" name="Google Shape;827;p19"/>
            <p:cNvSpPr/>
            <p:nvPr/>
          </p:nvSpPr>
          <p:spPr>
            <a:xfrm>
              <a:off x="0" y="0"/>
              <a:ext cx="351235" cy="438943"/>
            </a:xfrm>
            <a:custGeom>
              <a:avLst/>
              <a:gdLst/>
              <a:ahLst/>
              <a:cxnLst/>
              <a:rect l="l" t="t" r="r" b="b"/>
              <a:pathLst>
                <a:path w="351235" h="438943" extrusionOk="0">
                  <a:moveTo>
                    <a:pt x="0" y="0"/>
                  </a:moveTo>
                  <a:lnTo>
                    <a:pt x="351235" y="0"/>
                  </a:lnTo>
                  <a:lnTo>
                    <a:pt x="351235" y="438943"/>
                  </a:lnTo>
                  <a:lnTo>
                    <a:pt x="0" y="438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19"/>
            <p:cNvSpPr txBox="1"/>
            <p:nvPr/>
          </p:nvSpPr>
          <p:spPr>
            <a:xfrm>
              <a:off x="0" y="38100"/>
              <a:ext cx="351235" cy="400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</a:t>
              </a:r>
              <a:endParaRPr/>
            </a:p>
          </p:txBody>
        </p:sp>
      </p:grpSp>
      <p:grpSp>
        <p:nvGrpSpPr>
          <p:cNvPr id="829" name="Google Shape;829;p19"/>
          <p:cNvGrpSpPr/>
          <p:nvPr/>
        </p:nvGrpSpPr>
        <p:grpSpPr>
          <a:xfrm>
            <a:off x="1690390" y="3240859"/>
            <a:ext cx="3687440" cy="551305"/>
            <a:chOff x="0" y="-19050"/>
            <a:chExt cx="4916586" cy="735075"/>
          </a:xfrm>
        </p:grpSpPr>
        <p:sp>
          <p:nvSpPr>
            <p:cNvPr id="830" name="Google Shape;830;p19"/>
            <p:cNvSpPr/>
            <p:nvPr/>
          </p:nvSpPr>
          <p:spPr>
            <a:xfrm>
              <a:off x="0" y="0"/>
              <a:ext cx="4916586" cy="716025"/>
            </a:xfrm>
            <a:custGeom>
              <a:avLst/>
              <a:gdLst/>
              <a:ahLst/>
              <a:cxnLst/>
              <a:rect l="l" t="t" r="r" b="b"/>
              <a:pathLst>
                <a:path w="4916586" h="716025" extrusionOk="0">
                  <a:moveTo>
                    <a:pt x="0" y="0"/>
                  </a:moveTo>
                  <a:lnTo>
                    <a:pt x="4916586" y="0"/>
                  </a:lnTo>
                  <a:lnTo>
                    <a:pt x="4916586" y="716025"/>
                  </a:lnTo>
                  <a:lnTo>
                    <a:pt x="0" y="716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19"/>
            <p:cNvSpPr txBox="1"/>
            <p:nvPr/>
          </p:nvSpPr>
          <p:spPr>
            <a:xfrm>
              <a:off x="0" y="-19050"/>
              <a:ext cx="4916586" cy="735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Start a Local Web Server</a:t>
              </a:r>
              <a:endParaRPr/>
            </a:p>
          </p:txBody>
        </p:sp>
      </p:grpSp>
      <p:grpSp>
        <p:nvGrpSpPr>
          <p:cNvPr id="832" name="Google Shape;832;p19"/>
          <p:cNvGrpSpPr/>
          <p:nvPr/>
        </p:nvGrpSpPr>
        <p:grpSpPr>
          <a:xfrm>
            <a:off x="1690390" y="3617267"/>
            <a:ext cx="15982950" cy="460463"/>
            <a:chOff x="0" y="-76200"/>
            <a:chExt cx="21310600" cy="613951"/>
          </a:xfrm>
        </p:grpSpPr>
        <p:sp>
          <p:nvSpPr>
            <p:cNvPr id="833" name="Google Shape;833;p19"/>
            <p:cNvSpPr/>
            <p:nvPr/>
          </p:nvSpPr>
          <p:spPr>
            <a:xfrm>
              <a:off x="0" y="0"/>
              <a:ext cx="21310600" cy="537751"/>
            </a:xfrm>
            <a:custGeom>
              <a:avLst/>
              <a:gdLst/>
              <a:ahLst/>
              <a:cxnLst/>
              <a:rect l="l" t="t" r="r" b="b"/>
              <a:pathLst>
                <a:path w="21310600" h="537751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37751"/>
                  </a:lnTo>
                  <a:lnTo>
                    <a:pt x="0" y="537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9"/>
            <p:cNvSpPr txBox="1"/>
            <p:nvPr/>
          </p:nvSpPr>
          <p:spPr>
            <a:xfrm>
              <a:off x="0" y="-76200"/>
              <a:ext cx="21310600" cy="613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1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4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 a new terminal:</a:t>
              </a:r>
              <a:endParaRPr/>
            </a:p>
          </p:txBody>
        </p:sp>
      </p:grpSp>
      <p:grpSp>
        <p:nvGrpSpPr>
          <p:cNvPr id="835" name="Google Shape;835;p19"/>
          <p:cNvGrpSpPr/>
          <p:nvPr/>
        </p:nvGrpSpPr>
        <p:grpSpPr>
          <a:xfrm>
            <a:off x="1690390" y="4003625"/>
            <a:ext cx="15982950" cy="460463"/>
            <a:chOff x="0" y="-76200"/>
            <a:chExt cx="21310600" cy="613951"/>
          </a:xfrm>
        </p:grpSpPr>
        <p:sp>
          <p:nvSpPr>
            <p:cNvPr id="836" name="Google Shape;836;p19"/>
            <p:cNvSpPr/>
            <p:nvPr/>
          </p:nvSpPr>
          <p:spPr>
            <a:xfrm>
              <a:off x="0" y="0"/>
              <a:ext cx="21310600" cy="537751"/>
            </a:xfrm>
            <a:custGeom>
              <a:avLst/>
              <a:gdLst/>
              <a:ahLst/>
              <a:cxnLst/>
              <a:rect l="l" t="t" r="r" b="b"/>
              <a:pathLst>
                <a:path w="21310600" h="537751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37751"/>
                  </a:lnTo>
                  <a:lnTo>
                    <a:pt x="0" y="537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9"/>
            <p:cNvSpPr txBox="1"/>
            <p:nvPr/>
          </p:nvSpPr>
          <p:spPr>
            <a:xfrm>
              <a:off x="0" y="-76200"/>
              <a:ext cx="21310600" cy="613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1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4" b="1">
                  <a:solidFill>
                    <a:srgbClr val="1F7135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python3 -m http.server 8000</a:t>
              </a:r>
              <a:endParaRPr/>
            </a:p>
          </p:txBody>
        </p:sp>
      </p:grpSp>
      <p:grpSp>
        <p:nvGrpSpPr>
          <p:cNvPr id="838" name="Google Shape;838;p19"/>
          <p:cNvGrpSpPr/>
          <p:nvPr/>
        </p:nvGrpSpPr>
        <p:grpSpPr>
          <a:xfrm>
            <a:off x="1690390" y="4397128"/>
            <a:ext cx="15982950" cy="433622"/>
            <a:chOff x="0" y="-66675"/>
            <a:chExt cx="21310600" cy="578163"/>
          </a:xfrm>
        </p:grpSpPr>
        <p:sp>
          <p:nvSpPr>
            <p:cNvPr id="839" name="Google Shape;839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4" i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starts a basic HTTP server on port 8000.</a:t>
              </a:r>
              <a:endParaRPr/>
            </a:p>
          </p:txBody>
        </p:sp>
      </p:grpSp>
      <p:sp>
        <p:nvSpPr>
          <p:cNvPr id="841" name="Google Shape;841;p19"/>
          <p:cNvSpPr/>
          <p:nvPr/>
        </p:nvSpPr>
        <p:spPr>
          <a:xfrm>
            <a:off x="990675" y="5464820"/>
            <a:ext cx="526828" cy="19050"/>
          </a:xfrm>
          <a:custGeom>
            <a:avLst/>
            <a:gdLst/>
            <a:ahLst/>
            <a:cxnLst/>
            <a:rect l="l" t="t" r="r" b="b"/>
            <a:pathLst>
              <a:path w="702437" h="25400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689737" y="0"/>
                </a:lnTo>
                <a:cubicBezTo>
                  <a:pt x="696722" y="0"/>
                  <a:pt x="702437" y="5715"/>
                  <a:pt x="702437" y="12700"/>
                </a:cubicBezTo>
                <a:cubicBezTo>
                  <a:pt x="702437" y="19685"/>
                  <a:pt x="696722" y="25400"/>
                  <a:pt x="68973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2" name="Google Shape;842;p19"/>
          <p:cNvGrpSpPr/>
          <p:nvPr/>
        </p:nvGrpSpPr>
        <p:grpSpPr>
          <a:xfrm>
            <a:off x="609824" y="5272087"/>
            <a:ext cx="404622" cy="404622"/>
            <a:chOff x="0" y="0"/>
            <a:chExt cx="539496" cy="539496"/>
          </a:xfrm>
        </p:grpSpPr>
        <p:sp>
          <p:nvSpPr>
            <p:cNvPr id="843" name="Google Shape;843;p19"/>
            <p:cNvSpPr/>
            <p:nvPr/>
          </p:nvSpPr>
          <p:spPr>
            <a:xfrm>
              <a:off x="6350" y="6350"/>
              <a:ext cx="526796" cy="526796"/>
            </a:xfrm>
            <a:custGeom>
              <a:avLst/>
              <a:gdLst/>
              <a:ahLst/>
              <a:cxnLst/>
              <a:rect l="l" t="t" r="r" b="b"/>
              <a:pathLst>
                <a:path w="526796" h="526796" extrusionOk="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8498" y="0"/>
                  </a:lnTo>
                  <a:cubicBezTo>
                    <a:pt x="482854" y="0"/>
                    <a:pt x="526796" y="44069"/>
                    <a:pt x="526796" y="98298"/>
                  </a:cubicBezTo>
                  <a:lnTo>
                    <a:pt x="526796" y="428498"/>
                  </a:lnTo>
                  <a:cubicBezTo>
                    <a:pt x="526796" y="482854"/>
                    <a:pt x="482727" y="526796"/>
                    <a:pt x="428498" y="526796"/>
                  </a:cubicBezTo>
                  <a:lnTo>
                    <a:pt x="98298" y="526796"/>
                  </a:lnTo>
                  <a:cubicBezTo>
                    <a:pt x="44069" y="526796"/>
                    <a:pt x="0" y="482854"/>
                    <a:pt x="0" y="42849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0" y="0"/>
              <a:ext cx="539496" cy="539496"/>
            </a:xfrm>
            <a:custGeom>
              <a:avLst/>
              <a:gdLst/>
              <a:ahLst/>
              <a:cxnLst/>
              <a:rect l="l" t="t" r="r" b="b"/>
              <a:pathLst>
                <a:path w="539496" h="539496" extrusionOk="0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cubicBezTo>
                    <a:pt x="492633" y="0"/>
                    <a:pt x="539496" y="46863"/>
                    <a:pt x="539496" y="104648"/>
                  </a:cubicBezTo>
                  <a:lnTo>
                    <a:pt x="533146" y="104648"/>
                  </a:lnTo>
                  <a:lnTo>
                    <a:pt x="539496" y="104648"/>
                  </a:lnTo>
                  <a:lnTo>
                    <a:pt x="539496" y="434848"/>
                  </a:lnTo>
                  <a:lnTo>
                    <a:pt x="533146" y="434848"/>
                  </a:lnTo>
                  <a:lnTo>
                    <a:pt x="539496" y="434848"/>
                  </a:lnTo>
                  <a:cubicBezTo>
                    <a:pt x="539496" y="492633"/>
                    <a:pt x="492633" y="539496"/>
                    <a:pt x="434848" y="539496"/>
                  </a:cubicBezTo>
                  <a:lnTo>
                    <a:pt x="434848" y="533146"/>
                  </a:lnTo>
                  <a:lnTo>
                    <a:pt x="434848" y="539496"/>
                  </a:lnTo>
                  <a:lnTo>
                    <a:pt x="104648" y="539496"/>
                  </a:lnTo>
                  <a:lnTo>
                    <a:pt x="104648" y="533146"/>
                  </a:lnTo>
                  <a:lnTo>
                    <a:pt x="104648" y="539496"/>
                  </a:lnTo>
                  <a:cubicBezTo>
                    <a:pt x="46863" y="539496"/>
                    <a:pt x="0" y="492633"/>
                    <a:pt x="0" y="434848"/>
                  </a:cubicBezTo>
                  <a:lnTo>
                    <a:pt x="0" y="104648"/>
                  </a:lnTo>
                  <a:lnTo>
                    <a:pt x="6350" y="104648"/>
                  </a:lnTo>
                  <a:lnTo>
                    <a:pt x="0" y="104648"/>
                  </a:lnTo>
                  <a:moveTo>
                    <a:pt x="12700" y="104648"/>
                  </a:moveTo>
                  <a:lnTo>
                    <a:pt x="12700" y="434848"/>
                  </a:lnTo>
                  <a:lnTo>
                    <a:pt x="6350" y="434848"/>
                  </a:lnTo>
                  <a:lnTo>
                    <a:pt x="12700" y="434848"/>
                  </a:lnTo>
                  <a:cubicBezTo>
                    <a:pt x="12700" y="485648"/>
                    <a:pt x="53848" y="526796"/>
                    <a:pt x="104648" y="526796"/>
                  </a:cubicBezTo>
                  <a:lnTo>
                    <a:pt x="434848" y="526796"/>
                  </a:lnTo>
                  <a:cubicBezTo>
                    <a:pt x="485648" y="526796"/>
                    <a:pt x="526796" y="485648"/>
                    <a:pt x="526796" y="434848"/>
                  </a:cubicBezTo>
                  <a:lnTo>
                    <a:pt x="526796" y="104648"/>
                  </a:lnTo>
                  <a:cubicBezTo>
                    <a:pt x="526796" y="53848"/>
                    <a:pt x="485648" y="12700"/>
                    <a:pt x="434848" y="12700"/>
                  </a:cubicBezTo>
                  <a:lnTo>
                    <a:pt x="104648" y="12700"/>
                  </a:lnTo>
                  <a:lnTo>
                    <a:pt x="104648" y="6350"/>
                  </a:lnTo>
                  <a:lnTo>
                    <a:pt x="104648" y="12700"/>
                  </a:lnTo>
                  <a:cubicBezTo>
                    <a:pt x="53848" y="12700"/>
                    <a:pt x="12700" y="53848"/>
                    <a:pt x="12700" y="104648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5" name="Google Shape;845;p19"/>
          <p:cNvGrpSpPr/>
          <p:nvPr/>
        </p:nvGrpSpPr>
        <p:grpSpPr>
          <a:xfrm>
            <a:off x="680367" y="5309741"/>
            <a:ext cx="263426" cy="329208"/>
            <a:chOff x="0" y="0"/>
            <a:chExt cx="351235" cy="438943"/>
          </a:xfrm>
        </p:grpSpPr>
        <p:sp>
          <p:nvSpPr>
            <p:cNvPr id="846" name="Google Shape;846;p19"/>
            <p:cNvSpPr/>
            <p:nvPr/>
          </p:nvSpPr>
          <p:spPr>
            <a:xfrm>
              <a:off x="0" y="0"/>
              <a:ext cx="351235" cy="438943"/>
            </a:xfrm>
            <a:custGeom>
              <a:avLst/>
              <a:gdLst/>
              <a:ahLst/>
              <a:cxnLst/>
              <a:rect l="l" t="t" r="r" b="b"/>
              <a:pathLst>
                <a:path w="351235" h="438943" extrusionOk="0">
                  <a:moveTo>
                    <a:pt x="0" y="0"/>
                  </a:moveTo>
                  <a:lnTo>
                    <a:pt x="351235" y="0"/>
                  </a:lnTo>
                  <a:lnTo>
                    <a:pt x="351235" y="438943"/>
                  </a:lnTo>
                  <a:lnTo>
                    <a:pt x="0" y="438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9"/>
            <p:cNvSpPr txBox="1"/>
            <p:nvPr/>
          </p:nvSpPr>
          <p:spPr>
            <a:xfrm>
              <a:off x="0" y="38100"/>
              <a:ext cx="351235" cy="400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</a:t>
              </a:r>
              <a:endParaRPr/>
            </a:p>
          </p:txBody>
        </p:sp>
      </p:grpSp>
      <p:grpSp>
        <p:nvGrpSpPr>
          <p:cNvPr id="848" name="Google Shape;848;p19"/>
          <p:cNvGrpSpPr/>
          <p:nvPr/>
        </p:nvGrpSpPr>
        <p:grpSpPr>
          <a:xfrm>
            <a:off x="1690390" y="5197463"/>
            <a:ext cx="4971850" cy="434624"/>
            <a:chOff x="0" y="-19050"/>
            <a:chExt cx="6629133" cy="579500"/>
          </a:xfrm>
        </p:grpSpPr>
        <p:sp>
          <p:nvSpPr>
            <p:cNvPr id="849" name="Google Shape;849;p19"/>
            <p:cNvSpPr/>
            <p:nvPr/>
          </p:nvSpPr>
          <p:spPr>
            <a:xfrm>
              <a:off x="0" y="0"/>
              <a:ext cx="6629133" cy="560450"/>
            </a:xfrm>
            <a:custGeom>
              <a:avLst/>
              <a:gdLst/>
              <a:ahLst/>
              <a:cxnLst/>
              <a:rect l="l" t="t" r="r" b="b"/>
              <a:pathLst>
                <a:path w="6629133" h="560450" extrusionOk="0">
                  <a:moveTo>
                    <a:pt x="0" y="0"/>
                  </a:moveTo>
                  <a:lnTo>
                    <a:pt x="6629133" y="0"/>
                  </a:lnTo>
                  <a:lnTo>
                    <a:pt x="6629133" y="560450"/>
                  </a:lnTo>
                  <a:lnTo>
                    <a:pt x="0" y="560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9"/>
            <p:cNvSpPr txBox="1"/>
            <p:nvPr/>
          </p:nvSpPr>
          <p:spPr>
            <a:xfrm>
              <a:off x="0" y="-19050"/>
              <a:ext cx="6629133" cy="5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Scan Your </a:t>
              </a:r>
              <a:r>
                <a:rPr lang="en-US" sz="2187" b="1" u="sng">
                  <a:solidFill>
                    <a:srgbClr val="CC3000"/>
                  </a:solidFill>
                  <a:latin typeface="Merriweather"/>
                  <a:ea typeface="Merriweather"/>
                  <a:cs typeface="Merriweather"/>
                  <a:sym typeface="Merriweather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Localhost</a:t>
              </a:r>
              <a:r>
                <a:rPr lang="en-US" sz="2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With Nmap</a:t>
              </a:r>
              <a:endParaRPr/>
            </a:p>
          </p:txBody>
        </p:sp>
      </p:grpSp>
      <p:grpSp>
        <p:nvGrpSpPr>
          <p:cNvPr id="851" name="Google Shape;851;p19"/>
          <p:cNvGrpSpPr/>
          <p:nvPr/>
        </p:nvGrpSpPr>
        <p:grpSpPr>
          <a:xfrm>
            <a:off x="1690390" y="5577483"/>
            <a:ext cx="15982950" cy="460463"/>
            <a:chOff x="0" y="-76200"/>
            <a:chExt cx="21310600" cy="613951"/>
          </a:xfrm>
        </p:grpSpPr>
        <p:sp>
          <p:nvSpPr>
            <p:cNvPr id="852" name="Google Shape;852;p19"/>
            <p:cNvSpPr/>
            <p:nvPr/>
          </p:nvSpPr>
          <p:spPr>
            <a:xfrm>
              <a:off x="0" y="0"/>
              <a:ext cx="21310600" cy="537751"/>
            </a:xfrm>
            <a:custGeom>
              <a:avLst/>
              <a:gdLst/>
              <a:ahLst/>
              <a:cxnLst/>
              <a:rect l="l" t="t" r="r" b="b"/>
              <a:pathLst>
                <a:path w="21310600" h="537751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37751"/>
                  </a:lnTo>
                  <a:lnTo>
                    <a:pt x="0" y="537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9"/>
            <p:cNvSpPr txBox="1"/>
            <p:nvPr/>
          </p:nvSpPr>
          <p:spPr>
            <a:xfrm>
              <a:off x="0" y="-76200"/>
              <a:ext cx="21310600" cy="613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1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4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Run this in a separate terminal:</a:t>
              </a:r>
              <a:endParaRPr/>
            </a:p>
          </p:txBody>
        </p:sp>
      </p:grpSp>
      <p:grpSp>
        <p:nvGrpSpPr>
          <p:cNvPr id="854" name="Google Shape;854;p19"/>
          <p:cNvGrpSpPr/>
          <p:nvPr/>
        </p:nvGrpSpPr>
        <p:grpSpPr>
          <a:xfrm>
            <a:off x="1690390" y="5963841"/>
            <a:ext cx="15982950" cy="460463"/>
            <a:chOff x="0" y="-76200"/>
            <a:chExt cx="21310600" cy="613951"/>
          </a:xfrm>
        </p:grpSpPr>
        <p:sp>
          <p:nvSpPr>
            <p:cNvPr id="855" name="Google Shape;855;p19"/>
            <p:cNvSpPr/>
            <p:nvPr/>
          </p:nvSpPr>
          <p:spPr>
            <a:xfrm>
              <a:off x="0" y="0"/>
              <a:ext cx="21310600" cy="537751"/>
            </a:xfrm>
            <a:custGeom>
              <a:avLst/>
              <a:gdLst/>
              <a:ahLst/>
              <a:cxnLst/>
              <a:rect l="l" t="t" r="r" b="b"/>
              <a:pathLst>
                <a:path w="21310600" h="537751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37751"/>
                  </a:lnTo>
                  <a:lnTo>
                    <a:pt x="0" y="5377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9"/>
            <p:cNvSpPr txBox="1"/>
            <p:nvPr/>
          </p:nvSpPr>
          <p:spPr>
            <a:xfrm>
              <a:off x="0" y="-76200"/>
              <a:ext cx="21310600" cy="6139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91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4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nmap -sV -p 8000 </a:t>
              </a:r>
              <a:r>
                <a:rPr lang="en-US" sz="1974" u="sng">
                  <a:solidFill>
                    <a:srgbClr val="CC3000"/>
                  </a:solidFill>
                  <a:latin typeface="Open Sans"/>
                  <a:ea typeface="Open Sans"/>
                  <a:cs typeface="Open Sans"/>
                  <a:sym typeface="Open Sans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localhost</a:t>
              </a:r>
              <a:endParaRPr/>
            </a:p>
          </p:txBody>
        </p:sp>
      </p:grpSp>
      <p:grpSp>
        <p:nvGrpSpPr>
          <p:cNvPr id="857" name="Google Shape;857;p19"/>
          <p:cNvGrpSpPr/>
          <p:nvPr/>
        </p:nvGrpSpPr>
        <p:grpSpPr>
          <a:xfrm>
            <a:off x="1690390" y="6743700"/>
            <a:ext cx="15982950" cy="433622"/>
            <a:chOff x="0" y="-66675"/>
            <a:chExt cx="21310600" cy="578163"/>
          </a:xfrm>
        </p:grpSpPr>
        <p:sp>
          <p:nvSpPr>
            <p:cNvPr id="858" name="Google Shape;858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2772" marR="0" lvl="1" indent="-141386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Clr>
                  <a:srgbClr val="F44444"/>
                </a:buClr>
                <a:buSzPts val="1874"/>
                <a:buFont typeface="Arial"/>
                <a:buChar char="•"/>
              </a:pPr>
              <a:r>
                <a:rPr lang="en-US" sz="1874" b="0" i="0" u="none" strike="noStrike" cap="none">
                  <a:solidFill>
                    <a:srgbClr val="F44444"/>
                  </a:solidFill>
                  <a:latin typeface="Open Sans"/>
                  <a:ea typeface="Open Sans"/>
                  <a:cs typeface="Open Sans"/>
                  <a:sym typeface="Open Sans"/>
                </a:rPr>
                <a:t>-sV</a:t>
              </a:r>
              <a:r>
                <a:rPr lang="en-US" sz="1874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= Service version detection</a:t>
              </a:r>
              <a:endParaRPr/>
            </a:p>
          </p:txBody>
        </p:sp>
      </p:grpSp>
      <p:grpSp>
        <p:nvGrpSpPr>
          <p:cNvPr id="860" name="Google Shape;860;p19"/>
          <p:cNvGrpSpPr/>
          <p:nvPr/>
        </p:nvGrpSpPr>
        <p:grpSpPr>
          <a:xfrm>
            <a:off x="1690390" y="7086154"/>
            <a:ext cx="15982950" cy="433622"/>
            <a:chOff x="0" y="-66675"/>
            <a:chExt cx="21310600" cy="578163"/>
          </a:xfrm>
        </p:grpSpPr>
        <p:sp>
          <p:nvSpPr>
            <p:cNvPr id="861" name="Google Shape;861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2772" marR="0" lvl="1" indent="-141386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Clr>
                  <a:srgbClr val="F44444"/>
                </a:buClr>
                <a:buSzPts val="1874"/>
                <a:buFont typeface="Arial"/>
                <a:buChar char="•"/>
              </a:pPr>
              <a:r>
                <a:rPr lang="en-US" sz="1874" b="0" i="0" u="none" strike="noStrike" cap="none">
                  <a:solidFill>
                    <a:srgbClr val="F44444"/>
                  </a:solidFill>
                  <a:latin typeface="Open Sans"/>
                  <a:ea typeface="Open Sans"/>
                  <a:cs typeface="Open Sans"/>
                  <a:sym typeface="Open Sans"/>
                </a:rPr>
                <a:t>-p 8000</a:t>
              </a:r>
              <a:r>
                <a:rPr lang="en-US" sz="1874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= Scan port 8000 (where our local server runs)</a:t>
              </a:r>
              <a:endParaRPr/>
            </a:p>
          </p:txBody>
        </p:sp>
      </p:grpSp>
      <p:sp>
        <p:nvSpPr>
          <p:cNvPr id="863" name="Google Shape;863;p19"/>
          <p:cNvSpPr/>
          <p:nvPr/>
        </p:nvSpPr>
        <p:spPr>
          <a:xfrm>
            <a:off x="990675" y="8153846"/>
            <a:ext cx="526828" cy="19050"/>
          </a:xfrm>
          <a:custGeom>
            <a:avLst/>
            <a:gdLst/>
            <a:ahLst/>
            <a:cxnLst/>
            <a:rect l="l" t="t" r="r" b="b"/>
            <a:pathLst>
              <a:path w="702437" h="25400" extrusionOk="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689737" y="0"/>
                </a:lnTo>
                <a:cubicBezTo>
                  <a:pt x="696722" y="0"/>
                  <a:pt x="702437" y="5715"/>
                  <a:pt x="702437" y="12700"/>
                </a:cubicBezTo>
                <a:cubicBezTo>
                  <a:pt x="702437" y="19685"/>
                  <a:pt x="696722" y="25400"/>
                  <a:pt x="689737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E5BE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4" name="Google Shape;864;p19"/>
          <p:cNvGrpSpPr/>
          <p:nvPr/>
        </p:nvGrpSpPr>
        <p:grpSpPr>
          <a:xfrm>
            <a:off x="609824" y="7961114"/>
            <a:ext cx="404622" cy="404622"/>
            <a:chOff x="0" y="0"/>
            <a:chExt cx="539496" cy="539496"/>
          </a:xfrm>
        </p:grpSpPr>
        <p:sp>
          <p:nvSpPr>
            <p:cNvPr id="865" name="Google Shape;865;p19"/>
            <p:cNvSpPr/>
            <p:nvPr/>
          </p:nvSpPr>
          <p:spPr>
            <a:xfrm>
              <a:off x="6350" y="6350"/>
              <a:ext cx="526796" cy="526796"/>
            </a:xfrm>
            <a:custGeom>
              <a:avLst/>
              <a:gdLst/>
              <a:ahLst/>
              <a:cxnLst/>
              <a:rect l="l" t="t" r="r" b="b"/>
              <a:pathLst>
                <a:path w="526796" h="526796" extrusionOk="0">
                  <a:moveTo>
                    <a:pt x="0" y="98298"/>
                  </a:moveTo>
                  <a:cubicBezTo>
                    <a:pt x="0" y="44069"/>
                    <a:pt x="44069" y="0"/>
                    <a:pt x="98298" y="0"/>
                  </a:cubicBezTo>
                  <a:lnTo>
                    <a:pt x="428498" y="0"/>
                  </a:lnTo>
                  <a:cubicBezTo>
                    <a:pt x="482854" y="0"/>
                    <a:pt x="526796" y="44069"/>
                    <a:pt x="526796" y="98298"/>
                  </a:cubicBezTo>
                  <a:lnTo>
                    <a:pt x="526796" y="428498"/>
                  </a:lnTo>
                  <a:cubicBezTo>
                    <a:pt x="526796" y="482854"/>
                    <a:pt x="482727" y="526796"/>
                    <a:pt x="428498" y="526796"/>
                  </a:cubicBezTo>
                  <a:lnTo>
                    <a:pt x="98298" y="526796"/>
                  </a:lnTo>
                  <a:cubicBezTo>
                    <a:pt x="44069" y="526796"/>
                    <a:pt x="0" y="482854"/>
                    <a:pt x="0" y="42849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0" y="0"/>
              <a:ext cx="539496" cy="539496"/>
            </a:xfrm>
            <a:custGeom>
              <a:avLst/>
              <a:gdLst/>
              <a:ahLst/>
              <a:cxnLst/>
              <a:rect l="l" t="t" r="r" b="b"/>
              <a:pathLst>
                <a:path w="539496" h="539496" extrusionOk="0">
                  <a:moveTo>
                    <a:pt x="0" y="104648"/>
                  </a:moveTo>
                  <a:cubicBezTo>
                    <a:pt x="0" y="46863"/>
                    <a:pt x="46863" y="0"/>
                    <a:pt x="104648" y="0"/>
                  </a:cubicBez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lnTo>
                    <a:pt x="434848" y="6350"/>
                  </a:lnTo>
                  <a:lnTo>
                    <a:pt x="434848" y="0"/>
                  </a:lnTo>
                  <a:cubicBezTo>
                    <a:pt x="492633" y="0"/>
                    <a:pt x="539496" y="46863"/>
                    <a:pt x="539496" y="104648"/>
                  </a:cubicBezTo>
                  <a:lnTo>
                    <a:pt x="533146" y="104648"/>
                  </a:lnTo>
                  <a:lnTo>
                    <a:pt x="539496" y="104648"/>
                  </a:lnTo>
                  <a:lnTo>
                    <a:pt x="539496" y="434848"/>
                  </a:lnTo>
                  <a:lnTo>
                    <a:pt x="533146" y="434848"/>
                  </a:lnTo>
                  <a:lnTo>
                    <a:pt x="539496" y="434848"/>
                  </a:lnTo>
                  <a:cubicBezTo>
                    <a:pt x="539496" y="492633"/>
                    <a:pt x="492633" y="539496"/>
                    <a:pt x="434848" y="539496"/>
                  </a:cubicBezTo>
                  <a:lnTo>
                    <a:pt x="434848" y="533146"/>
                  </a:lnTo>
                  <a:lnTo>
                    <a:pt x="434848" y="539496"/>
                  </a:lnTo>
                  <a:lnTo>
                    <a:pt x="104648" y="539496"/>
                  </a:lnTo>
                  <a:lnTo>
                    <a:pt x="104648" y="533146"/>
                  </a:lnTo>
                  <a:lnTo>
                    <a:pt x="104648" y="539496"/>
                  </a:lnTo>
                  <a:cubicBezTo>
                    <a:pt x="46863" y="539496"/>
                    <a:pt x="0" y="492633"/>
                    <a:pt x="0" y="434848"/>
                  </a:cubicBezTo>
                  <a:lnTo>
                    <a:pt x="0" y="104648"/>
                  </a:lnTo>
                  <a:lnTo>
                    <a:pt x="6350" y="104648"/>
                  </a:lnTo>
                  <a:lnTo>
                    <a:pt x="0" y="104648"/>
                  </a:lnTo>
                  <a:moveTo>
                    <a:pt x="12700" y="104648"/>
                  </a:moveTo>
                  <a:lnTo>
                    <a:pt x="12700" y="434848"/>
                  </a:lnTo>
                  <a:lnTo>
                    <a:pt x="6350" y="434848"/>
                  </a:lnTo>
                  <a:lnTo>
                    <a:pt x="12700" y="434848"/>
                  </a:lnTo>
                  <a:cubicBezTo>
                    <a:pt x="12700" y="485648"/>
                    <a:pt x="53848" y="526796"/>
                    <a:pt x="104648" y="526796"/>
                  </a:cubicBezTo>
                  <a:lnTo>
                    <a:pt x="434848" y="526796"/>
                  </a:lnTo>
                  <a:cubicBezTo>
                    <a:pt x="485648" y="526796"/>
                    <a:pt x="526796" y="485648"/>
                    <a:pt x="526796" y="434848"/>
                  </a:cubicBezTo>
                  <a:lnTo>
                    <a:pt x="526796" y="104648"/>
                  </a:lnTo>
                  <a:cubicBezTo>
                    <a:pt x="526796" y="53848"/>
                    <a:pt x="485648" y="12700"/>
                    <a:pt x="434848" y="12700"/>
                  </a:cubicBezTo>
                  <a:lnTo>
                    <a:pt x="104648" y="12700"/>
                  </a:lnTo>
                  <a:lnTo>
                    <a:pt x="104648" y="6350"/>
                  </a:lnTo>
                  <a:lnTo>
                    <a:pt x="104648" y="12700"/>
                  </a:lnTo>
                  <a:cubicBezTo>
                    <a:pt x="53848" y="12700"/>
                    <a:pt x="12700" y="53848"/>
                    <a:pt x="12700" y="104648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7" name="Google Shape;867;p19"/>
          <p:cNvGrpSpPr/>
          <p:nvPr/>
        </p:nvGrpSpPr>
        <p:grpSpPr>
          <a:xfrm>
            <a:off x="680367" y="7998767"/>
            <a:ext cx="263426" cy="329208"/>
            <a:chOff x="0" y="0"/>
            <a:chExt cx="351235" cy="438943"/>
          </a:xfrm>
        </p:grpSpPr>
        <p:sp>
          <p:nvSpPr>
            <p:cNvPr id="868" name="Google Shape;868;p19"/>
            <p:cNvSpPr/>
            <p:nvPr/>
          </p:nvSpPr>
          <p:spPr>
            <a:xfrm>
              <a:off x="0" y="0"/>
              <a:ext cx="351235" cy="438943"/>
            </a:xfrm>
            <a:custGeom>
              <a:avLst/>
              <a:gdLst/>
              <a:ahLst/>
              <a:cxnLst/>
              <a:rect l="l" t="t" r="r" b="b"/>
              <a:pathLst>
                <a:path w="351235" h="438943" extrusionOk="0">
                  <a:moveTo>
                    <a:pt x="0" y="0"/>
                  </a:moveTo>
                  <a:lnTo>
                    <a:pt x="351235" y="0"/>
                  </a:lnTo>
                  <a:lnTo>
                    <a:pt x="351235" y="438943"/>
                  </a:lnTo>
                  <a:lnTo>
                    <a:pt x="0" y="438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9"/>
            <p:cNvSpPr txBox="1"/>
            <p:nvPr/>
          </p:nvSpPr>
          <p:spPr>
            <a:xfrm>
              <a:off x="0" y="38100"/>
              <a:ext cx="351235" cy="400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</a:t>
              </a:r>
              <a:endParaRPr/>
            </a:p>
          </p:txBody>
        </p:sp>
      </p:grpSp>
      <p:grpSp>
        <p:nvGrpSpPr>
          <p:cNvPr id="870" name="Google Shape;870;p19"/>
          <p:cNvGrpSpPr/>
          <p:nvPr/>
        </p:nvGrpSpPr>
        <p:grpSpPr>
          <a:xfrm>
            <a:off x="1690390" y="7929712"/>
            <a:ext cx="2195364" cy="434624"/>
            <a:chOff x="0" y="-19050"/>
            <a:chExt cx="2927152" cy="579500"/>
          </a:xfrm>
        </p:grpSpPr>
        <p:sp>
          <p:nvSpPr>
            <p:cNvPr id="871" name="Google Shape;871;p19"/>
            <p:cNvSpPr/>
            <p:nvPr/>
          </p:nvSpPr>
          <p:spPr>
            <a:xfrm>
              <a:off x="0" y="0"/>
              <a:ext cx="2927152" cy="560450"/>
            </a:xfrm>
            <a:custGeom>
              <a:avLst/>
              <a:gdLst/>
              <a:ahLst/>
              <a:cxnLst/>
              <a:rect l="l" t="t" r="r" b="b"/>
              <a:pathLst>
                <a:path w="2927152" h="560450" extrusionOk="0">
                  <a:moveTo>
                    <a:pt x="0" y="0"/>
                  </a:moveTo>
                  <a:lnTo>
                    <a:pt x="2927152" y="0"/>
                  </a:lnTo>
                  <a:lnTo>
                    <a:pt x="2927152" y="560450"/>
                  </a:lnTo>
                  <a:lnTo>
                    <a:pt x="0" y="560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9"/>
            <p:cNvSpPr txBox="1"/>
            <p:nvPr/>
          </p:nvSpPr>
          <p:spPr>
            <a:xfrm>
              <a:off x="0" y="-19050"/>
              <a:ext cx="2927152" cy="5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Output Sample</a:t>
              </a:r>
              <a:endParaRPr/>
            </a:p>
          </p:txBody>
        </p:sp>
      </p:grpSp>
      <p:grpSp>
        <p:nvGrpSpPr>
          <p:cNvPr id="873" name="Google Shape;873;p19"/>
          <p:cNvGrpSpPr/>
          <p:nvPr/>
        </p:nvGrpSpPr>
        <p:grpSpPr>
          <a:xfrm>
            <a:off x="1690390" y="8346643"/>
            <a:ext cx="15982950" cy="433622"/>
            <a:chOff x="0" y="-66675"/>
            <a:chExt cx="21310600" cy="578163"/>
          </a:xfrm>
        </p:grpSpPr>
        <p:sp>
          <p:nvSpPr>
            <p:cNvPr id="874" name="Google Shape;874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2772" marR="0" lvl="1" indent="-141386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1874"/>
                <a:buFont typeface="Arial"/>
                <a:buChar char="•"/>
              </a:pPr>
              <a:r>
                <a:rPr lang="en-US" sz="1874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Port:</a:t>
              </a:r>
              <a:r>
                <a:rPr lang="en-US" sz="1874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8000/tcp</a:t>
              </a:r>
              <a:endParaRPr/>
            </a:p>
          </p:txBody>
        </p:sp>
      </p:grpSp>
      <p:grpSp>
        <p:nvGrpSpPr>
          <p:cNvPr id="876" name="Google Shape;876;p19"/>
          <p:cNvGrpSpPr/>
          <p:nvPr/>
        </p:nvGrpSpPr>
        <p:grpSpPr>
          <a:xfrm>
            <a:off x="1690390" y="8689096"/>
            <a:ext cx="15982950" cy="433622"/>
            <a:chOff x="0" y="-66675"/>
            <a:chExt cx="21310600" cy="578163"/>
          </a:xfrm>
        </p:grpSpPr>
        <p:sp>
          <p:nvSpPr>
            <p:cNvPr id="877" name="Google Shape;877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2772" marR="0" lvl="1" indent="-141386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1874"/>
                <a:buFont typeface="Arial"/>
                <a:buChar char="•"/>
              </a:pPr>
              <a:r>
                <a:rPr lang="en-US" sz="1874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State:</a:t>
              </a:r>
              <a:r>
                <a:rPr lang="en-US" sz="1874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open</a:t>
              </a:r>
              <a:endParaRPr/>
            </a:p>
          </p:txBody>
        </p:sp>
      </p:grpSp>
      <p:grpSp>
        <p:nvGrpSpPr>
          <p:cNvPr id="879" name="Google Shape;879;p19"/>
          <p:cNvGrpSpPr/>
          <p:nvPr/>
        </p:nvGrpSpPr>
        <p:grpSpPr>
          <a:xfrm>
            <a:off x="1690390" y="9031549"/>
            <a:ext cx="15982950" cy="433622"/>
            <a:chOff x="0" y="-66675"/>
            <a:chExt cx="21310600" cy="578163"/>
          </a:xfrm>
        </p:grpSpPr>
        <p:sp>
          <p:nvSpPr>
            <p:cNvPr id="880" name="Google Shape;880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2772" marR="0" lvl="1" indent="-141386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1874"/>
                <a:buFont typeface="Arial"/>
                <a:buChar char="•"/>
              </a:pPr>
              <a:r>
                <a:rPr lang="en-US" sz="1874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Service:</a:t>
              </a:r>
              <a:r>
                <a:rPr lang="en-US" sz="1874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http</a:t>
              </a:r>
              <a:endParaRPr/>
            </a:p>
          </p:txBody>
        </p:sp>
      </p:grpSp>
      <p:grpSp>
        <p:nvGrpSpPr>
          <p:cNvPr id="882" name="Google Shape;882;p19"/>
          <p:cNvGrpSpPr/>
          <p:nvPr/>
        </p:nvGrpSpPr>
        <p:grpSpPr>
          <a:xfrm>
            <a:off x="1690390" y="9374003"/>
            <a:ext cx="15982950" cy="433622"/>
            <a:chOff x="0" y="-66675"/>
            <a:chExt cx="21310600" cy="578163"/>
          </a:xfrm>
        </p:grpSpPr>
        <p:sp>
          <p:nvSpPr>
            <p:cNvPr id="883" name="Google Shape;883;p19"/>
            <p:cNvSpPr/>
            <p:nvPr/>
          </p:nvSpPr>
          <p:spPr>
            <a:xfrm>
              <a:off x="0" y="0"/>
              <a:ext cx="21310600" cy="511488"/>
            </a:xfrm>
            <a:custGeom>
              <a:avLst/>
              <a:gdLst/>
              <a:ahLst/>
              <a:cxnLst/>
              <a:rect l="l" t="t" r="r" b="b"/>
              <a:pathLst>
                <a:path w="21310600" h="511488" extrusionOk="0">
                  <a:moveTo>
                    <a:pt x="0" y="0"/>
                  </a:moveTo>
                  <a:lnTo>
                    <a:pt x="21310600" y="0"/>
                  </a:lnTo>
                  <a:lnTo>
                    <a:pt x="21310600" y="511488"/>
                  </a:lnTo>
                  <a:lnTo>
                    <a:pt x="0" y="511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9"/>
            <p:cNvSpPr txBox="1"/>
            <p:nvPr/>
          </p:nvSpPr>
          <p:spPr>
            <a:xfrm>
              <a:off x="0" y="-66675"/>
              <a:ext cx="21310600" cy="578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2772" marR="0" lvl="1" indent="-141386" algn="l" rtl="0">
                <a:lnSpc>
                  <a:spcPct val="159124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1874"/>
                <a:buFont typeface="Arial"/>
                <a:buChar char="•"/>
              </a:pPr>
              <a:r>
                <a:rPr lang="en-US" sz="1874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Version:</a:t>
              </a:r>
              <a:r>
                <a:rPr lang="en-US" sz="1874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Python SimpleHTTPServer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0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5" name="Google Shape;895;p20"/>
          <p:cNvGrpSpPr/>
          <p:nvPr/>
        </p:nvGrpSpPr>
        <p:grpSpPr>
          <a:xfrm>
            <a:off x="992238" y="1051826"/>
            <a:ext cx="11057068" cy="879460"/>
            <a:chOff x="0" y="-19050"/>
            <a:chExt cx="14742757" cy="1172612"/>
          </a:xfrm>
        </p:grpSpPr>
        <p:sp>
          <p:nvSpPr>
            <p:cNvPr id="896" name="Google Shape;896;p20"/>
            <p:cNvSpPr/>
            <p:nvPr/>
          </p:nvSpPr>
          <p:spPr>
            <a:xfrm>
              <a:off x="0" y="0"/>
              <a:ext cx="14742757" cy="1153562"/>
            </a:xfrm>
            <a:custGeom>
              <a:avLst/>
              <a:gdLst/>
              <a:ahLst/>
              <a:cxnLst/>
              <a:rect l="l" t="t" r="r" b="b"/>
              <a:pathLst>
                <a:path w="14742757" h="1153562" extrusionOk="0">
                  <a:moveTo>
                    <a:pt x="0" y="0"/>
                  </a:moveTo>
                  <a:lnTo>
                    <a:pt x="14742757" y="0"/>
                  </a:lnTo>
                  <a:lnTo>
                    <a:pt x="14742757" y="1153562"/>
                  </a:lnTo>
                  <a:lnTo>
                    <a:pt x="0" y="1153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20"/>
            <p:cNvSpPr txBox="1"/>
            <p:nvPr/>
          </p:nvSpPr>
          <p:spPr>
            <a:xfrm>
              <a:off x="0" y="-19050"/>
              <a:ext cx="14742757" cy="1172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53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37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Legal &amp; Ethical Considerations</a:t>
              </a:r>
              <a:endParaRPr/>
            </a:p>
          </p:txBody>
        </p:sp>
      </p:grpSp>
      <p:grpSp>
        <p:nvGrpSpPr>
          <p:cNvPr id="898" name="Google Shape;898;p20"/>
          <p:cNvGrpSpPr/>
          <p:nvPr/>
        </p:nvGrpSpPr>
        <p:grpSpPr>
          <a:xfrm>
            <a:off x="987475" y="2415331"/>
            <a:ext cx="16313086" cy="1127189"/>
            <a:chOff x="0" y="0"/>
            <a:chExt cx="21750782" cy="1502918"/>
          </a:xfrm>
        </p:grpSpPr>
        <p:sp>
          <p:nvSpPr>
            <p:cNvPr id="899" name="Google Shape;899;p20"/>
            <p:cNvSpPr/>
            <p:nvPr/>
          </p:nvSpPr>
          <p:spPr>
            <a:xfrm>
              <a:off x="6350" y="6350"/>
              <a:ext cx="21738082" cy="1490218"/>
            </a:xfrm>
            <a:custGeom>
              <a:avLst/>
              <a:gdLst/>
              <a:ahLst/>
              <a:cxnLst/>
              <a:rect l="l" t="t" r="r" b="b"/>
              <a:pathLst>
                <a:path w="21738082" h="1490218" extrusionOk="0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21578063" y="0"/>
                  </a:lnTo>
                  <a:cubicBezTo>
                    <a:pt x="21666454" y="0"/>
                    <a:pt x="21738082" y="71120"/>
                    <a:pt x="21738082" y="158750"/>
                  </a:cubicBezTo>
                  <a:lnTo>
                    <a:pt x="21738082" y="1331468"/>
                  </a:lnTo>
                  <a:cubicBezTo>
                    <a:pt x="21738082" y="1419098"/>
                    <a:pt x="21666454" y="1490218"/>
                    <a:pt x="21578063" y="1490218"/>
                  </a:cubicBezTo>
                  <a:lnTo>
                    <a:pt x="160020" y="1490218"/>
                  </a:lnTo>
                  <a:cubicBezTo>
                    <a:pt x="71628" y="1490218"/>
                    <a:pt x="0" y="1419098"/>
                    <a:pt x="0" y="133146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0" y="0"/>
              <a:ext cx="21750782" cy="1502918"/>
            </a:xfrm>
            <a:custGeom>
              <a:avLst/>
              <a:gdLst/>
              <a:ahLst/>
              <a:cxnLst/>
              <a:rect l="l" t="t" r="r" b="b"/>
              <a:pathLst>
                <a:path w="21750782" h="1502918" extrusionOk="0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21584413" y="0"/>
                  </a:lnTo>
                  <a:lnTo>
                    <a:pt x="21584413" y="6350"/>
                  </a:lnTo>
                  <a:lnTo>
                    <a:pt x="21584413" y="0"/>
                  </a:lnTo>
                  <a:cubicBezTo>
                    <a:pt x="2167623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1337818"/>
                  </a:lnTo>
                  <a:lnTo>
                    <a:pt x="21744432" y="1337818"/>
                  </a:lnTo>
                  <a:lnTo>
                    <a:pt x="21750782" y="1337818"/>
                  </a:lnTo>
                  <a:cubicBezTo>
                    <a:pt x="21750782" y="1429004"/>
                    <a:pt x="21676233" y="1502918"/>
                    <a:pt x="21584413" y="1502918"/>
                  </a:cubicBezTo>
                  <a:lnTo>
                    <a:pt x="21584413" y="1496568"/>
                  </a:lnTo>
                  <a:lnTo>
                    <a:pt x="21584413" y="1502918"/>
                  </a:lnTo>
                  <a:lnTo>
                    <a:pt x="166370" y="1502918"/>
                  </a:lnTo>
                  <a:lnTo>
                    <a:pt x="166370" y="1496568"/>
                  </a:lnTo>
                  <a:lnTo>
                    <a:pt x="166370" y="1502918"/>
                  </a:lnTo>
                  <a:cubicBezTo>
                    <a:pt x="74549" y="1502918"/>
                    <a:pt x="0" y="1429004"/>
                    <a:pt x="0" y="13378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37818"/>
                  </a:lnTo>
                  <a:lnTo>
                    <a:pt x="6350" y="1337818"/>
                  </a:lnTo>
                  <a:lnTo>
                    <a:pt x="12700" y="1337818"/>
                  </a:lnTo>
                  <a:cubicBezTo>
                    <a:pt x="12700" y="1421892"/>
                    <a:pt x="81407" y="1490218"/>
                    <a:pt x="166370" y="1490218"/>
                  </a:cubicBezTo>
                  <a:lnTo>
                    <a:pt x="21584413" y="1490218"/>
                  </a:lnTo>
                  <a:cubicBezTo>
                    <a:pt x="21669375" y="1490218"/>
                    <a:pt x="21738082" y="1421892"/>
                    <a:pt x="21738082" y="1337818"/>
                  </a:cubicBezTo>
                  <a:lnTo>
                    <a:pt x="21738082" y="165100"/>
                  </a:lnTo>
                  <a:cubicBezTo>
                    <a:pt x="21738082" y="81026"/>
                    <a:pt x="21669375" y="12700"/>
                    <a:pt x="21584413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20"/>
          <p:cNvGrpSpPr/>
          <p:nvPr/>
        </p:nvGrpSpPr>
        <p:grpSpPr>
          <a:xfrm>
            <a:off x="5664958" y="2670460"/>
            <a:ext cx="6384347" cy="644636"/>
            <a:chOff x="0" y="-9525"/>
            <a:chExt cx="8512463" cy="859515"/>
          </a:xfrm>
        </p:grpSpPr>
        <p:sp>
          <p:nvSpPr>
            <p:cNvPr id="902" name="Google Shape;902;p20"/>
            <p:cNvSpPr/>
            <p:nvPr/>
          </p:nvSpPr>
          <p:spPr>
            <a:xfrm>
              <a:off x="0" y="0"/>
              <a:ext cx="8512463" cy="849990"/>
            </a:xfrm>
            <a:custGeom>
              <a:avLst/>
              <a:gdLst/>
              <a:ahLst/>
              <a:cxnLst/>
              <a:rect l="l" t="t" r="r" b="b"/>
              <a:pathLst>
                <a:path w="8512463" h="849990" extrusionOk="0">
                  <a:moveTo>
                    <a:pt x="0" y="0"/>
                  </a:moveTo>
                  <a:lnTo>
                    <a:pt x="8512463" y="0"/>
                  </a:lnTo>
                  <a:lnTo>
                    <a:pt x="8512463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20"/>
            <p:cNvSpPr txBox="1"/>
            <p:nvPr/>
          </p:nvSpPr>
          <p:spPr>
            <a:xfrm>
              <a:off x="0" y="-9525"/>
              <a:ext cx="8512463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Always Have Permission</a:t>
              </a:r>
              <a:endParaRPr/>
            </a:p>
          </p:txBody>
        </p:sp>
      </p:grpSp>
      <p:grpSp>
        <p:nvGrpSpPr>
          <p:cNvPr id="904" name="Google Shape;904;p20"/>
          <p:cNvGrpSpPr/>
          <p:nvPr/>
        </p:nvGrpSpPr>
        <p:grpSpPr>
          <a:xfrm>
            <a:off x="987475" y="3816549"/>
            <a:ext cx="16313086" cy="1127189"/>
            <a:chOff x="0" y="0"/>
            <a:chExt cx="21750782" cy="1502918"/>
          </a:xfrm>
        </p:grpSpPr>
        <p:sp>
          <p:nvSpPr>
            <p:cNvPr id="905" name="Google Shape;905;p20"/>
            <p:cNvSpPr/>
            <p:nvPr/>
          </p:nvSpPr>
          <p:spPr>
            <a:xfrm>
              <a:off x="6350" y="6350"/>
              <a:ext cx="21738082" cy="1490218"/>
            </a:xfrm>
            <a:custGeom>
              <a:avLst/>
              <a:gdLst/>
              <a:ahLst/>
              <a:cxnLst/>
              <a:rect l="l" t="t" r="r" b="b"/>
              <a:pathLst>
                <a:path w="21738082" h="1490218" extrusionOk="0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21578063" y="0"/>
                  </a:lnTo>
                  <a:cubicBezTo>
                    <a:pt x="21666454" y="0"/>
                    <a:pt x="21738082" y="71120"/>
                    <a:pt x="21738082" y="158750"/>
                  </a:cubicBezTo>
                  <a:lnTo>
                    <a:pt x="21738082" y="1331468"/>
                  </a:lnTo>
                  <a:cubicBezTo>
                    <a:pt x="21738082" y="1419098"/>
                    <a:pt x="21666454" y="1490218"/>
                    <a:pt x="21578063" y="1490218"/>
                  </a:cubicBezTo>
                  <a:lnTo>
                    <a:pt x="160020" y="1490218"/>
                  </a:lnTo>
                  <a:cubicBezTo>
                    <a:pt x="71628" y="1490218"/>
                    <a:pt x="0" y="1419098"/>
                    <a:pt x="0" y="133146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0" y="0"/>
              <a:ext cx="21750782" cy="1502918"/>
            </a:xfrm>
            <a:custGeom>
              <a:avLst/>
              <a:gdLst/>
              <a:ahLst/>
              <a:cxnLst/>
              <a:rect l="l" t="t" r="r" b="b"/>
              <a:pathLst>
                <a:path w="21750782" h="1502918" extrusionOk="0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21584413" y="0"/>
                  </a:lnTo>
                  <a:lnTo>
                    <a:pt x="21584413" y="6350"/>
                  </a:lnTo>
                  <a:lnTo>
                    <a:pt x="21584413" y="0"/>
                  </a:lnTo>
                  <a:cubicBezTo>
                    <a:pt x="2167623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1337818"/>
                  </a:lnTo>
                  <a:lnTo>
                    <a:pt x="21744432" y="1337818"/>
                  </a:lnTo>
                  <a:lnTo>
                    <a:pt x="21750782" y="1337818"/>
                  </a:lnTo>
                  <a:cubicBezTo>
                    <a:pt x="21750782" y="1429004"/>
                    <a:pt x="21676233" y="1502918"/>
                    <a:pt x="21584413" y="1502918"/>
                  </a:cubicBezTo>
                  <a:lnTo>
                    <a:pt x="21584413" y="1496568"/>
                  </a:lnTo>
                  <a:lnTo>
                    <a:pt x="21584413" y="1502918"/>
                  </a:lnTo>
                  <a:lnTo>
                    <a:pt x="166370" y="1502918"/>
                  </a:lnTo>
                  <a:lnTo>
                    <a:pt x="166370" y="1496568"/>
                  </a:lnTo>
                  <a:lnTo>
                    <a:pt x="166370" y="1502918"/>
                  </a:lnTo>
                  <a:cubicBezTo>
                    <a:pt x="74549" y="1502918"/>
                    <a:pt x="0" y="1429004"/>
                    <a:pt x="0" y="13378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37818"/>
                  </a:lnTo>
                  <a:lnTo>
                    <a:pt x="6350" y="1337818"/>
                  </a:lnTo>
                  <a:lnTo>
                    <a:pt x="12700" y="1337818"/>
                  </a:lnTo>
                  <a:cubicBezTo>
                    <a:pt x="12700" y="1421892"/>
                    <a:pt x="81407" y="1490218"/>
                    <a:pt x="166370" y="1490218"/>
                  </a:cubicBezTo>
                  <a:lnTo>
                    <a:pt x="21584413" y="1490218"/>
                  </a:lnTo>
                  <a:cubicBezTo>
                    <a:pt x="21669375" y="1490218"/>
                    <a:pt x="21738082" y="1421892"/>
                    <a:pt x="21738082" y="1337818"/>
                  </a:cubicBezTo>
                  <a:lnTo>
                    <a:pt x="21738082" y="165100"/>
                  </a:lnTo>
                  <a:cubicBezTo>
                    <a:pt x="21738082" y="81026"/>
                    <a:pt x="21669375" y="12700"/>
                    <a:pt x="21584413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20"/>
          <p:cNvGrpSpPr/>
          <p:nvPr/>
        </p:nvGrpSpPr>
        <p:grpSpPr>
          <a:xfrm>
            <a:off x="6331740" y="4054270"/>
            <a:ext cx="4938716" cy="644636"/>
            <a:chOff x="0" y="-9525"/>
            <a:chExt cx="6584955" cy="859515"/>
          </a:xfrm>
        </p:grpSpPr>
        <p:sp>
          <p:nvSpPr>
            <p:cNvPr id="908" name="Google Shape;908;p20"/>
            <p:cNvSpPr/>
            <p:nvPr/>
          </p:nvSpPr>
          <p:spPr>
            <a:xfrm>
              <a:off x="0" y="0"/>
              <a:ext cx="6584955" cy="849990"/>
            </a:xfrm>
            <a:custGeom>
              <a:avLst/>
              <a:gdLst/>
              <a:ahLst/>
              <a:cxnLst/>
              <a:rect l="l" t="t" r="r" b="b"/>
              <a:pathLst>
                <a:path w="6584955" h="849990" extrusionOk="0">
                  <a:moveTo>
                    <a:pt x="0" y="0"/>
                  </a:moveTo>
                  <a:lnTo>
                    <a:pt x="6584955" y="0"/>
                  </a:lnTo>
                  <a:lnTo>
                    <a:pt x="6584955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20"/>
            <p:cNvSpPr txBox="1"/>
            <p:nvPr/>
          </p:nvSpPr>
          <p:spPr>
            <a:xfrm>
              <a:off x="0" y="-9525"/>
              <a:ext cx="6584955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Stay Within Scope</a:t>
              </a:r>
              <a:endParaRPr/>
            </a:p>
          </p:txBody>
        </p:sp>
      </p:grpSp>
      <p:grpSp>
        <p:nvGrpSpPr>
          <p:cNvPr id="910" name="Google Shape;910;p20"/>
          <p:cNvGrpSpPr/>
          <p:nvPr/>
        </p:nvGrpSpPr>
        <p:grpSpPr>
          <a:xfrm>
            <a:off x="987475" y="5217765"/>
            <a:ext cx="16313086" cy="1127189"/>
            <a:chOff x="0" y="0"/>
            <a:chExt cx="21750782" cy="1502918"/>
          </a:xfrm>
        </p:grpSpPr>
        <p:sp>
          <p:nvSpPr>
            <p:cNvPr id="911" name="Google Shape;911;p20"/>
            <p:cNvSpPr/>
            <p:nvPr/>
          </p:nvSpPr>
          <p:spPr>
            <a:xfrm>
              <a:off x="6350" y="6350"/>
              <a:ext cx="21738082" cy="1490218"/>
            </a:xfrm>
            <a:custGeom>
              <a:avLst/>
              <a:gdLst/>
              <a:ahLst/>
              <a:cxnLst/>
              <a:rect l="l" t="t" r="r" b="b"/>
              <a:pathLst>
                <a:path w="21738082" h="1490218" extrusionOk="0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21578063" y="0"/>
                  </a:lnTo>
                  <a:cubicBezTo>
                    <a:pt x="21666454" y="0"/>
                    <a:pt x="21738082" y="71120"/>
                    <a:pt x="21738082" y="158750"/>
                  </a:cubicBezTo>
                  <a:lnTo>
                    <a:pt x="21738082" y="1331468"/>
                  </a:lnTo>
                  <a:cubicBezTo>
                    <a:pt x="21738082" y="1419098"/>
                    <a:pt x="21666454" y="1490218"/>
                    <a:pt x="21578063" y="1490218"/>
                  </a:cubicBezTo>
                  <a:lnTo>
                    <a:pt x="160020" y="1490218"/>
                  </a:lnTo>
                  <a:cubicBezTo>
                    <a:pt x="71628" y="1490218"/>
                    <a:pt x="0" y="1419098"/>
                    <a:pt x="0" y="133146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0" y="0"/>
              <a:ext cx="21750782" cy="1502918"/>
            </a:xfrm>
            <a:custGeom>
              <a:avLst/>
              <a:gdLst/>
              <a:ahLst/>
              <a:cxnLst/>
              <a:rect l="l" t="t" r="r" b="b"/>
              <a:pathLst>
                <a:path w="21750782" h="1502918" extrusionOk="0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21584413" y="0"/>
                  </a:lnTo>
                  <a:lnTo>
                    <a:pt x="21584413" y="6350"/>
                  </a:lnTo>
                  <a:lnTo>
                    <a:pt x="21584413" y="0"/>
                  </a:lnTo>
                  <a:cubicBezTo>
                    <a:pt x="2167623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1337818"/>
                  </a:lnTo>
                  <a:lnTo>
                    <a:pt x="21744432" y="1337818"/>
                  </a:lnTo>
                  <a:lnTo>
                    <a:pt x="21750782" y="1337818"/>
                  </a:lnTo>
                  <a:cubicBezTo>
                    <a:pt x="21750782" y="1429004"/>
                    <a:pt x="21676233" y="1502918"/>
                    <a:pt x="21584413" y="1502918"/>
                  </a:cubicBezTo>
                  <a:lnTo>
                    <a:pt x="21584413" y="1496568"/>
                  </a:lnTo>
                  <a:lnTo>
                    <a:pt x="21584413" y="1502918"/>
                  </a:lnTo>
                  <a:lnTo>
                    <a:pt x="166370" y="1502918"/>
                  </a:lnTo>
                  <a:lnTo>
                    <a:pt x="166370" y="1496568"/>
                  </a:lnTo>
                  <a:lnTo>
                    <a:pt x="166370" y="1502918"/>
                  </a:lnTo>
                  <a:cubicBezTo>
                    <a:pt x="74549" y="1502918"/>
                    <a:pt x="0" y="1429004"/>
                    <a:pt x="0" y="13378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37818"/>
                  </a:lnTo>
                  <a:lnTo>
                    <a:pt x="6350" y="1337818"/>
                  </a:lnTo>
                  <a:lnTo>
                    <a:pt x="12700" y="1337818"/>
                  </a:lnTo>
                  <a:cubicBezTo>
                    <a:pt x="12700" y="1421892"/>
                    <a:pt x="81407" y="1490218"/>
                    <a:pt x="166370" y="1490218"/>
                  </a:cubicBezTo>
                  <a:lnTo>
                    <a:pt x="21584413" y="1490218"/>
                  </a:lnTo>
                  <a:cubicBezTo>
                    <a:pt x="21669375" y="1490218"/>
                    <a:pt x="21738082" y="1421892"/>
                    <a:pt x="21738082" y="1337818"/>
                  </a:cubicBezTo>
                  <a:lnTo>
                    <a:pt x="21738082" y="165100"/>
                  </a:lnTo>
                  <a:cubicBezTo>
                    <a:pt x="21738082" y="81026"/>
                    <a:pt x="21669375" y="12700"/>
                    <a:pt x="21584413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20"/>
          <p:cNvGrpSpPr/>
          <p:nvPr/>
        </p:nvGrpSpPr>
        <p:grpSpPr>
          <a:xfrm>
            <a:off x="6743222" y="5455487"/>
            <a:ext cx="4527234" cy="644636"/>
            <a:chOff x="0" y="-9525"/>
            <a:chExt cx="6036312" cy="859515"/>
          </a:xfrm>
        </p:grpSpPr>
        <p:sp>
          <p:nvSpPr>
            <p:cNvPr id="914" name="Google Shape;914;p20"/>
            <p:cNvSpPr/>
            <p:nvPr/>
          </p:nvSpPr>
          <p:spPr>
            <a:xfrm>
              <a:off x="0" y="0"/>
              <a:ext cx="6036312" cy="849990"/>
            </a:xfrm>
            <a:custGeom>
              <a:avLst/>
              <a:gdLst/>
              <a:ahLst/>
              <a:cxnLst/>
              <a:rect l="l" t="t" r="r" b="b"/>
              <a:pathLst>
                <a:path w="6036312" h="849990" extrusionOk="0">
                  <a:moveTo>
                    <a:pt x="0" y="0"/>
                  </a:moveTo>
                  <a:lnTo>
                    <a:pt x="6036312" y="0"/>
                  </a:lnTo>
                  <a:lnTo>
                    <a:pt x="6036312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20"/>
            <p:cNvSpPr txBox="1"/>
            <p:nvPr/>
          </p:nvSpPr>
          <p:spPr>
            <a:xfrm>
              <a:off x="0" y="-9525"/>
              <a:ext cx="6036312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Avoid Data Breach</a:t>
              </a:r>
              <a:endParaRPr/>
            </a:p>
          </p:txBody>
        </p:sp>
      </p:grpSp>
      <p:grpSp>
        <p:nvGrpSpPr>
          <p:cNvPr id="916" name="Google Shape;916;p20"/>
          <p:cNvGrpSpPr/>
          <p:nvPr/>
        </p:nvGrpSpPr>
        <p:grpSpPr>
          <a:xfrm>
            <a:off x="987475" y="6618982"/>
            <a:ext cx="16313086" cy="1127189"/>
            <a:chOff x="0" y="0"/>
            <a:chExt cx="21750782" cy="1502918"/>
          </a:xfrm>
        </p:grpSpPr>
        <p:sp>
          <p:nvSpPr>
            <p:cNvPr id="917" name="Google Shape;917;p20"/>
            <p:cNvSpPr/>
            <p:nvPr/>
          </p:nvSpPr>
          <p:spPr>
            <a:xfrm>
              <a:off x="6350" y="6350"/>
              <a:ext cx="21738082" cy="1490218"/>
            </a:xfrm>
            <a:custGeom>
              <a:avLst/>
              <a:gdLst/>
              <a:ahLst/>
              <a:cxnLst/>
              <a:rect l="l" t="t" r="r" b="b"/>
              <a:pathLst>
                <a:path w="21738082" h="1490218" extrusionOk="0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21578063" y="0"/>
                  </a:lnTo>
                  <a:cubicBezTo>
                    <a:pt x="21666454" y="0"/>
                    <a:pt x="21738082" y="71120"/>
                    <a:pt x="21738082" y="158750"/>
                  </a:cubicBezTo>
                  <a:lnTo>
                    <a:pt x="21738082" y="1331468"/>
                  </a:lnTo>
                  <a:cubicBezTo>
                    <a:pt x="21738082" y="1419098"/>
                    <a:pt x="21666454" y="1490218"/>
                    <a:pt x="21578063" y="1490218"/>
                  </a:cubicBezTo>
                  <a:lnTo>
                    <a:pt x="160020" y="1490218"/>
                  </a:lnTo>
                  <a:cubicBezTo>
                    <a:pt x="71628" y="1490218"/>
                    <a:pt x="0" y="1419098"/>
                    <a:pt x="0" y="133146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20"/>
            <p:cNvSpPr/>
            <p:nvPr/>
          </p:nvSpPr>
          <p:spPr>
            <a:xfrm>
              <a:off x="0" y="0"/>
              <a:ext cx="21750782" cy="1502918"/>
            </a:xfrm>
            <a:custGeom>
              <a:avLst/>
              <a:gdLst/>
              <a:ahLst/>
              <a:cxnLst/>
              <a:rect l="l" t="t" r="r" b="b"/>
              <a:pathLst>
                <a:path w="21750782" h="1502918" extrusionOk="0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21584413" y="0"/>
                  </a:lnTo>
                  <a:lnTo>
                    <a:pt x="21584413" y="6350"/>
                  </a:lnTo>
                  <a:lnTo>
                    <a:pt x="21584413" y="0"/>
                  </a:lnTo>
                  <a:cubicBezTo>
                    <a:pt x="2167623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1337818"/>
                  </a:lnTo>
                  <a:lnTo>
                    <a:pt x="21744432" y="1337818"/>
                  </a:lnTo>
                  <a:lnTo>
                    <a:pt x="21750782" y="1337818"/>
                  </a:lnTo>
                  <a:cubicBezTo>
                    <a:pt x="21750782" y="1429004"/>
                    <a:pt x="21676233" y="1502918"/>
                    <a:pt x="21584413" y="1502918"/>
                  </a:cubicBezTo>
                  <a:lnTo>
                    <a:pt x="21584413" y="1496568"/>
                  </a:lnTo>
                  <a:lnTo>
                    <a:pt x="21584413" y="1502918"/>
                  </a:lnTo>
                  <a:lnTo>
                    <a:pt x="166370" y="1502918"/>
                  </a:lnTo>
                  <a:lnTo>
                    <a:pt x="166370" y="1496568"/>
                  </a:lnTo>
                  <a:lnTo>
                    <a:pt x="166370" y="1502918"/>
                  </a:lnTo>
                  <a:cubicBezTo>
                    <a:pt x="74549" y="1502918"/>
                    <a:pt x="0" y="1429004"/>
                    <a:pt x="0" y="13378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37818"/>
                  </a:lnTo>
                  <a:lnTo>
                    <a:pt x="6350" y="1337818"/>
                  </a:lnTo>
                  <a:lnTo>
                    <a:pt x="12700" y="1337818"/>
                  </a:lnTo>
                  <a:cubicBezTo>
                    <a:pt x="12700" y="1421892"/>
                    <a:pt x="81407" y="1490218"/>
                    <a:pt x="166370" y="1490218"/>
                  </a:cubicBezTo>
                  <a:lnTo>
                    <a:pt x="21584413" y="1490218"/>
                  </a:lnTo>
                  <a:cubicBezTo>
                    <a:pt x="21669375" y="1490218"/>
                    <a:pt x="21738082" y="1421892"/>
                    <a:pt x="21738082" y="1337818"/>
                  </a:cubicBezTo>
                  <a:lnTo>
                    <a:pt x="21738082" y="165100"/>
                  </a:lnTo>
                  <a:cubicBezTo>
                    <a:pt x="21738082" y="81026"/>
                    <a:pt x="21669375" y="12700"/>
                    <a:pt x="21584413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20"/>
          <p:cNvGrpSpPr/>
          <p:nvPr/>
        </p:nvGrpSpPr>
        <p:grpSpPr>
          <a:xfrm>
            <a:off x="6520771" y="6856704"/>
            <a:ext cx="4749685" cy="644636"/>
            <a:chOff x="0" y="-9525"/>
            <a:chExt cx="6332913" cy="859515"/>
          </a:xfrm>
        </p:grpSpPr>
        <p:sp>
          <p:nvSpPr>
            <p:cNvPr id="920" name="Google Shape;920;p20"/>
            <p:cNvSpPr/>
            <p:nvPr/>
          </p:nvSpPr>
          <p:spPr>
            <a:xfrm>
              <a:off x="0" y="0"/>
              <a:ext cx="6332913" cy="849990"/>
            </a:xfrm>
            <a:custGeom>
              <a:avLst/>
              <a:gdLst/>
              <a:ahLst/>
              <a:cxnLst/>
              <a:rect l="l" t="t" r="r" b="b"/>
              <a:pathLst>
                <a:path w="6332913" h="849990" extrusionOk="0">
                  <a:moveTo>
                    <a:pt x="0" y="0"/>
                  </a:moveTo>
                  <a:lnTo>
                    <a:pt x="6332913" y="0"/>
                  </a:lnTo>
                  <a:lnTo>
                    <a:pt x="6332913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20"/>
            <p:cNvSpPr txBox="1"/>
            <p:nvPr/>
          </p:nvSpPr>
          <p:spPr>
            <a:xfrm>
              <a:off x="0" y="-9525"/>
              <a:ext cx="6332913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Report Responsibly</a:t>
              </a:r>
              <a:endParaRPr/>
            </a:p>
          </p:txBody>
        </p:sp>
      </p:grpSp>
      <p:grpSp>
        <p:nvGrpSpPr>
          <p:cNvPr id="922" name="Google Shape;922;p20"/>
          <p:cNvGrpSpPr/>
          <p:nvPr/>
        </p:nvGrpSpPr>
        <p:grpSpPr>
          <a:xfrm>
            <a:off x="987475" y="8020199"/>
            <a:ext cx="16313086" cy="1127189"/>
            <a:chOff x="0" y="0"/>
            <a:chExt cx="21750782" cy="1502918"/>
          </a:xfrm>
        </p:grpSpPr>
        <p:sp>
          <p:nvSpPr>
            <p:cNvPr id="923" name="Google Shape;923;p20"/>
            <p:cNvSpPr/>
            <p:nvPr/>
          </p:nvSpPr>
          <p:spPr>
            <a:xfrm>
              <a:off x="6350" y="6350"/>
              <a:ext cx="21738082" cy="1490218"/>
            </a:xfrm>
            <a:custGeom>
              <a:avLst/>
              <a:gdLst/>
              <a:ahLst/>
              <a:cxnLst/>
              <a:rect l="l" t="t" r="r" b="b"/>
              <a:pathLst>
                <a:path w="21738082" h="1490218" extrusionOk="0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21578063" y="0"/>
                  </a:lnTo>
                  <a:cubicBezTo>
                    <a:pt x="21666454" y="0"/>
                    <a:pt x="21738082" y="71120"/>
                    <a:pt x="21738082" y="158750"/>
                  </a:cubicBezTo>
                  <a:lnTo>
                    <a:pt x="21738082" y="1331468"/>
                  </a:lnTo>
                  <a:cubicBezTo>
                    <a:pt x="21738082" y="1419098"/>
                    <a:pt x="21666454" y="1490218"/>
                    <a:pt x="21578063" y="1490218"/>
                  </a:cubicBezTo>
                  <a:lnTo>
                    <a:pt x="160020" y="1490218"/>
                  </a:lnTo>
                  <a:cubicBezTo>
                    <a:pt x="71628" y="1490218"/>
                    <a:pt x="0" y="1419098"/>
                    <a:pt x="0" y="1331468"/>
                  </a:cubicBezTo>
                  <a:close/>
                </a:path>
              </a:pathLst>
            </a:custGeom>
            <a:solidFill>
              <a:srgbClr val="FFD8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0" y="0"/>
              <a:ext cx="21750782" cy="1502918"/>
            </a:xfrm>
            <a:custGeom>
              <a:avLst/>
              <a:gdLst/>
              <a:ahLst/>
              <a:cxnLst/>
              <a:rect l="l" t="t" r="r" b="b"/>
              <a:pathLst>
                <a:path w="21750782" h="1502918" extrusionOk="0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21584413" y="0"/>
                  </a:lnTo>
                  <a:lnTo>
                    <a:pt x="21584413" y="6350"/>
                  </a:lnTo>
                  <a:lnTo>
                    <a:pt x="21584413" y="0"/>
                  </a:lnTo>
                  <a:cubicBezTo>
                    <a:pt x="2167623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1337818"/>
                  </a:lnTo>
                  <a:lnTo>
                    <a:pt x="21744432" y="1337818"/>
                  </a:lnTo>
                  <a:lnTo>
                    <a:pt x="21750782" y="1337818"/>
                  </a:lnTo>
                  <a:cubicBezTo>
                    <a:pt x="21750782" y="1429004"/>
                    <a:pt x="21676233" y="1502918"/>
                    <a:pt x="21584413" y="1502918"/>
                  </a:cubicBezTo>
                  <a:lnTo>
                    <a:pt x="21584413" y="1496568"/>
                  </a:lnTo>
                  <a:lnTo>
                    <a:pt x="21584413" y="1502918"/>
                  </a:lnTo>
                  <a:lnTo>
                    <a:pt x="166370" y="1502918"/>
                  </a:lnTo>
                  <a:lnTo>
                    <a:pt x="166370" y="1496568"/>
                  </a:lnTo>
                  <a:lnTo>
                    <a:pt x="166370" y="1502918"/>
                  </a:lnTo>
                  <a:cubicBezTo>
                    <a:pt x="74549" y="1502918"/>
                    <a:pt x="0" y="1429004"/>
                    <a:pt x="0" y="13378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37818"/>
                  </a:lnTo>
                  <a:lnTo>
                    <a:pt x="6350" y="1337818"/>
                  </a:lnTo>
                  <a:lnTo>
                    <a:pt x="12700" y="1337818"/>
                  </a:lnTo>
                  <a:cubicBezTo>
                    <a:pt x="12700" y="1421892"/>
                    <a:pt x="81407" y="1490218"/>
                    <a:pt x="166370" y="1490218"/>
                  </a:cubicBezTo>
                  <a:lnTo>
                    <a:pt x="21584413" y="1490218"/>
                  </a:lnTo>
                  <a:cubicBezTo>
                    <a:pt x="21669375" y="1490218"/>
                    <a:pt x="21738082" y="1421892"/>
                    <a:pt x="21738082" y="1337818"/>
                  </a:cubicBezTo>
                  <a:lnTo>
                    <a:pt x="21738082" y="165100"/>
                  </a:lnTo>
                  <a:cubicBezTo>
                    <a:pt x="21738082" y="81026"/>
                    <a:pt x="21669375" y="12700"/>
                    <a:pt x="21584413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5" name="Google Shape;925;p20"/>
          <p:cNvGrpSpPr/>
          <p:nvPr/>
        </p:nvGrpSpPr>
        <p:grpSpPr>
          <a:xfrm>
            <a:off x="6743222" y="8257920"/>
            <a:ext cx="4527234" cy="644636"/>
            <a:chOff x="0" y="-9525"/>
            <a:chExt cx="6036312" cy="859515"/>
          </a:xfrm>
        </p:grpSpPr>
        <p:sp>
          <p:nvSpPr>
            <p:cNvPr id="926" name="Google Shape;926;p20"/>
            <p:cNvSpPr/>
            <p:nvPr/>
          </p:nvSpPr>
          <p:spPr>
            <a:xfrm>
              <a:off x="0" y="0"/>
              <a:ext cx="6036312" cy="849990"/>
            </a:xfrm>
            <a:custGeom>
              <a:avLst/>
              <a:gdLst/>
              <a:ahLst/>
              <a:cxnLst/>
              <a:rect l="l" t="t" r="r" b="b"/>
              <a:pathLst>
                <a:path w="6036312" h="849990" extrusionOk="0">
                  <a:moveTo>
                    <a:pt x="0" y="0"/>
                  </a:moveTo>
                  <a:lnTo>
                    <a:pt x="6036312" y="0"/>
                  </a:lnTo>
                  <a:lnTo>
                    <a:pt x="6036312" y="849990"/>
                  </a:lnTo>
                  <a:lnTo>
                    <a:pt x="0" y="849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20"/>
            <p:cNvSpPr txBox="1"/>
            <p:nvPr/>
          </p:nvSpPr>
          <p:spPr>
            <a:xfrm>
              <a:off x="0" y="-9525"/>
              <a:ext cx="6036312" cy="85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45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Comply with Laws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1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8" name="Google Shape;938;p21"/>
          <p:cNvGrpSpPr/>
          <p:nvPr/>
        </p:nvGrpSpPr>
        <p:grpSpPr>
          <a:xfrm>
            <a:off x="992237" y="1217414"/>
            <a:ext cx="10840213" cy="1103169"/>
            <a:chOff x="0" y="-28575"/>
            <a:chExt cx="14453617" cy="1470893"/>
          </a:xfrm>
        </p:grpSpPr>
        <p:sp>
          <p:nvSpPr>
            <p:cNvPr id="939" name="Google Shape;939;p21"/>
            <p:cNvSpPr/>
            <p:nvPr/>
          </p:nvSpPr>
          <p:spPr>
            <a:xfrm>
              <a:off x="0" y="0"/>
              <a:ext cx="14453617" cy="1442318"/>
            </a:xfrm>
            <a:custGeom>
              <a:avLst/>
              <a:gdLst/>
              <a:ahLst/>
              <a:cxnLst/>
              <a:rect l="l" t="t" r="r" b="b"/>
              <a:pathLst>
                <a:path w="14453617" h="1442318" extrusionOk="0">
                  <a:moveTo>
                    <a:pt x="0" y="0"/>
                  </a:moveTo>
                  <a:lnTo>
                    <a:pt x="14453617" y="0"/>
                  </a:lnTo>
                  <a:lnTo>
                    <a:pt x="14453617" y="1442318"/>
                  </a:lnTo>
                  <a:lnTo>
                    <a:pt x="0" y="1442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21"/>
            <p:cNvSpPr txBox="1"/>
            <p:nvPr/>
          </p:nvSpPr>
          <p:spPr>
            <a:xfrm>
              <a:off x="0" y="-28575"/>
              <a:ext cx="14453617" cy="1470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Securing the CI/CD Pipeline</a:t>
              </a:r>
              <a:endParaRPr/>
            </a:p>
          </p:txBody>
        </p:sp>
      </p:grpSp>
      <p:grpSp>
        <p:nvGrpSpPr>
          <p:cNvPr id="941" name="Google Shape;941;p21"/>
          <p:cNvGrpSpPr/>
          <p:nvPr/>
        </p:nvGrpSpPr>
        <p:grpSpPr>
          <a:xfrm>
            <a:off x="992238" y="2613273"/>
            <a:ext cx="16303526" cy="1779240"/>
            <a:chOff x="0" y="-104775"/>
            <a:chExt cx="21738035" cy="2372320"/>
          </a:xfrm>
        </p:grpSpPr>
        <p:sp>
          <p:nvSpPr>
            <p:cNvPr id="942" name="Google Shape;942;p21"/>
            <p:cNvSpPr/>
            <p:nvPr/>
          </p:nvSpPr>
          <p:spPr>
            <a:xfrm>
              <a:off x="0" y="0"/>
              <a:ext cx="21738034" cy="2267545"/>
            </a:xfrm>
            <a:custGeom>
              <a:avLst/>
              <a:gdLst/>
              <a:ahLst/>
              <a:cxnLst/>
              <a:rect l="l" t="t" r="r" b="b"/>
              <a:pathLst>
                <a:path w="21738034" h="2267545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21"/>
            <p:cNvSpPr txBox="1"/>
            <p:nvPr/>
          </p:nvSpPr>
          <p:spPr>
            <a:xfrm>
              <a:off x="0" y="-104775"/>
              <a:ext cx="21738035" cy="2372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Why CI/CD Needs Security</a:t>
              </a:r>
              <a:endParaRPr/>
            </a:p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CI/CD pipelines should prevent insecure code from reaching production. Integrating security tools early in the pipeline (“shift left”) helps catch vulnerabilities during development.</a:t>
              </a:r>
              <a:endParaRPr/>
            </a:p>
          </p:txBody>
        </p:sp>
      </p:grpSp>
      <p:grpSp>
        <p:nvGrpSpPr>
          <p:cNvPr id="944" name="Google Shape;944;p21"/>
          <p:cNvGrpSpPr/>
          <p:nvPr/>
        </p:nvGrpSpPr>
        <p:grpSpPr>
          <a:xfrm>
            <a:off x="992238" y="5518697"/>
            <a:ext cx="16303526" cy="645467"/>
            <a:chOff x="0" y="-104775"/>
            <a:chExt cx="21738035" cy="860623"/>
          </a:xfrm>
        </p:grpSpPr>
        <p:sp>
          <p:nvSpPr>
            <p:cNvPr id="945" name="Google Shape;945;p21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2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613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50" b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Common Tools to Integrate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  <a:endParaRPr/>
            </a:p>
          </p:txBody>
        </p:sp>
      </p:grpSp>
      <p:grpSp>
        <p:nvGrpSpPr>
          <p:cNvPr id="947" name="Google Shape;947;p21"/>
          <p:cNvGrpSpPr/>
          <p:nvPr/>
        </p:nvGrpSpPr>
        <p:grpSpPr>
          <a:xfrm>
            <a:off x="992237" y="6404521"/>
            <a:ext cx="16303526" cy="645467"/>
            <a:chOff x="0" y="-104775"/>
            <a:chExt cx="21738035" cy="860623"/>
          </a:xfrm>
        </p:grpSpPr>
        <p:sp>
          <p:nvSpPr>
            <p:cNvPr id="948" name="Google Shape;948;p21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2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75145" marR="0" lvl="1" indent="-187573" algn="l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487"/>
                <a:buFont typeface="Arial"/>
                <a:buChar char="•"/>
              </a:pPr>
              <a:r>
                <a:rPr lang="en-US" sz="248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SonarQube</a:t>
              </a:r>
              <a:r>
                <a:rPr lang="en-US" sz="24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– Static code quality and security analysis (SAST)</a:t>
              </a:r>
              <a:endParaRPr/>
            </a:p>
          </p:txBody>
        </p:sp>
      </p:grpSp>
      <p:grpSp>
        <p:nvGrpSpPr>
          <p:cNvPr id="950" name="Google Shape;950;p21"/>
          <p:cNvGrpSpPr/>
          <p:nvPr/>
        </p:nvGrpSpPr>
        <p:grpSpPr>
          <a:xfrm>
            <a:off x="992237" y="7070527"/>
            <a:ext cx="16303526" cy="645467"/>
            <a:chOff x="0" y="-104775"/>
            <a:chExt cx="21738035" cy="860623"/>
          </a:xfrm>
        </p:grpSpPr>
        <p:sp>
          <p:nvSpPr>
            <p:cNvPr id="951" name="Google Shape;951;p21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2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75145" marR="0" lvl="1" indent="-187573" algn="l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487"/>
                <a:buFont typeface="Arial"/>
                <a:buChar char="•"/>
              </a:pPr>
              <a:r>
                <a:rPr lang="en-US" sz="248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ZAP CLI</a:t>
              </a:r>
              <a:r>
                <a:rPr lang="en-US" sz="24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– Dynamic application testing after deployment (DAST)</a:t>
              </a:r>
              <a:endParaRPr/>
            </a:p>
          </p:txBody>
        </p:sp>
      </p:grpSp>
      <p:grpSp>
        <p:nvGrpSpPr>
          <p:cNvPr id="953" name="Google Shape;953;p21"/>
          <p:cNvGrpSpPr/>
          <p:nvPr/>
        </p:nvGrpSpPr>
        <p:grpSpPr>
          <a:xfrm>
            <a:off x="992237" y="7736533"/>
            <a:ext cx="16303526" cy="645467"/>
            <a:chOff x="0" y="-104775"/>
            <a:chExt cx="21738035" cy="860623"/>
          </a:xfrm>
        </p:grpSpPr>
        <p:sp>
          <p:nvSpPr>
            <p:cNvPr id="954" name="Google Shape;954;p21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2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75145" marR="0" lvl="1" indent="-187573" algn="l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487"/>
                <a:buFont typeface="Arial"/>
                <a:buChar char="•"/>
              </a:pPr>
              <a:r>
                <a:rPr lang="en-US" sz="248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Secret Scanners</a:t>
              </a:r>
              <a:r>
                <a:rPr lang="en-US" sz="24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– Detect API keys and secrets in commits</a:t>
              </a:r>
              <a:endParaRPr/>
            </a:p>
          </p:txBody>
        </p:sp>
      </p:grpSp>
      <p:grpSp>
        <p:nvGrpSpPr>
          <p:cNvPr id="956" name="Google Shape;956;p21"/>
          <p:cNvGrpSpPr/>
          <p:nvPr/>
        </p:nvGrpSpPr>
        <p:grpSpPr>
          <a:xfrm>
            <a:off x="992237" y="8402539"/>
            <a:ext cx="16303526" cy="645467"/>
            <a:chOff x="0" y="-104775"/>
            <a:chExt cx="21738035" cy="860623"/>
          </a:xfrm>
        </p:grpSpPr>
        <p:sp>
          <p:nvSpPr>
            <p:cNvPr id="957" name="Google Shape;957;p21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2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75145" marR="0" lvl="1" indent="-187573" algn="l" rtl="0">
                <a:lnSpc>
                  <a:spcPct val="162887"/>
                </a:lnSpc>
                <a:spcBef>
                  <a:spcPts val="0"/>
                </a:spcBef>
                <a:spcAft>
                  <a:spcPts val="0"/>
                </a:spcAft>
                <a:buClr>
                  <a:srgbClr val="403C4E"/>
                </a:buClr>
                <a:buSzPts val="2487"/>
                <a:buFont typeface="Arial"/>
                <a:buChar char="•"/>
              </a:pPr>
              <a:r>
                <a:rPr lang="en-US" sz="2487" b="1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Bandit (Python)</a:t>
              </a:r>
              <a:r>
                <a:rPr lang="en-US" sz="2487" b="0" i="0" u="none" strike="noStrike" cap="none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– Security-focused linting for Python code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2" descr="preencoded.png">
            <a:hlinkClick r:id="rId4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 extrusionOk="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1" name="Google Shape;971;p22"/>
          <p:cNvGrpSpPr/>
          <p:nvPr/>
        </p:nvGrpSpPr>
        <p:grpSpPr>
          <a:xfrm>
            <a:off x="0" y="4679157"/>
            <a:ext cx="17836011" cy="1103169"/>
            <a:chOff x="0" y="-28575"/>
            <a:chExt cx="23781347" cy="1470893"/>
          </a:xfrm>
        </p:grpSpPr>
        <p:sp>
          <p:nvSpPr>
            <p:cNvPr id="972" name="Google Shape;972;p22"/>
            <p:cNvSpPr/>
            <p:nvPr/>
          </p:nvSpPr>
          <p:spPr>
            <a:xfrm>
              <a:off x="0" y="0"/>
              <a:ext cx="23781347" cy="1442318"/>
            </a:xfrm>
            <a:custGeom>
              <a:avLst/>
              <a:gdLst/>
              <a:ahLst/>
              <a:cxnLst/>
              <a:rect l="l" t="t" r="r" b="b"/>
              <a:pathLst>
                <a:path w="23781347" h="1442318" extrusionOk="0">
                  <a:moveTo>
                    <a:pt x="0" y="0"/>
                  </a:moveTo>
                  <a:lnTo>
                    <a:pt x="23781347" y="0"/>
                  </a:lnTo>
                  <a:lnTo>
                    <a:pt x="23781347" y="1442318"/>
                  </a:lnTo>
                  <a:lnTo>
                    <a:pt x="0" y="1442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2"/>
            <p:cNvSpPr txBox="1"/>
            <p:nvPr/>
          </p:nvSpPr>
          <p:spPr>
            <a:xfrm>
              <a:off x="0" y="-28575"/>
              <a:ext cx="23781346" cy="1470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62" b="1">
                  <a:solidFill>
                    <a:srgbClr val="403C4E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We have completed all the modules of testing.</a:t>
              </a:r>
              <a:endParaRPr/>
            </a:p>
          </p:txBody>
        </p:sp>
      </p:grpSp>
      <p:grpSp>
        <p:nvGrpSpPr>
          <p:cNvPr id="974" name="Google Shape;974;p22"/>
          <p:cNvGrpSpPr/>
          <p:nvPr/>
        </p:nvGrpSpPr>
        <p:grpSpPr>
          <a:xfrm>
            <a:off x="992237" y="5933183"/>
            <a:ext cx="16303526" cy="669834"/>
            <a:chOff x="0" y="-104775"/>
            <a:chExt cx="21738035" cy="893112"/>
          </a:xfrm>
        </p:grpSpPr>
        <p:sp>
          <p:nvSpPr>
            <p:cNvPr id="975" name="Google Shape;975;p22"/>
            <p:cNvSpPr/>
            <p:nvPr/>
          </p:nvSpPr>
          <p:spPr>
            <a:xfrm>
              <a:off x="0" y="0"/>
              <a:ext cx="21738034" cy="788337"/>
            </a:xfrm>
            <a:custGeom>
              <a:avLst/>
              <a:gdLst/>
              <a:ahLst/>
              <a:cxnLst/>
              <a:rect l="l" t="t" r="r" b="b"/>
              <a:pathLst>
                <a:path w="21738034" h="788337" extrusionOk="0">
                  <a:moveTo>
                    <a:pt x="0" y="0"/>
                  </a:moveTo>
                  <a:lnTo>
                    <a:pt x="21738034" y="0"/>
                  </a:lnTo>
                  <a:lnTo>
                    <a:pt x="21738034" y="788337"/>
                  </a:lnTo>
                  <a:lnTo>
                    <a:pt x="0" y="7883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2"/>
            <p:cNvSpPr txBox="1"/>
            <p:nvPr/>
          </p:nvSpPr>
          <p:spPr>
            <a:xfrm>
              <a:off x="0" y="-104775"/>
              <a:ext cx="21738035" cy="893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6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Next stop …. Continuous Deployment !!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1725</Words>
  <Application>Microsoft Office PowerPoint</Application>
  <PresentationFormat>Custom</PresentationFormat>
  <Paragraphs>277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Open Sans</vt:lpstr>
      <vt:lpstr>Arial</vt:lpstr>
      <vt:lpstr>Merriweather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 AneeS</cp:lastModifiedBy>
  <cp:revision>1</cp:revision>
  <dcterms:created xsi:type="dcterms:W3CDTF">2006-08-16T00:00:00Z</dcterms:created>
  <dcterms:modified xsi:type="dcterms:W3CDTF">2026-10-04T06:52:27Z</dcterms:modified>
</cp:coreProperties>
</file>