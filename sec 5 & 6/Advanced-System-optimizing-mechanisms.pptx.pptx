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8288000" cy="10287000"/>
  <p:notesSz cx="6858000" cy="9144000"/>
  <p:embeddedFontLst>
    <p:embeddedFont>
      <p:font typeface="Consolas" panose="020B0609020204030204" pitchFamily="49" charset="0"/>
      <p:regular r:id="rId22"/>
      <p:bold r:id="rId23"/>
      <p:italic r:id="rId24"/>
      <p:boldItalic r:id="rId25"/>
    </p:embeddedFont>
    <p:embeddedFont>
      <p:font typeface="Merriweather Bold" pitchFamily="2" charset="77"/>
      <p:regular r:id="rId26"/>
      <p:bold r:id="rId27"/>
    </p:embeddedFont>
    <p:embeddedFont>
      <p:font typeface="Open Sans" panose="020B0606030504020204" pitchFamily="34" charset="0"/>
      <p:regular r:id="rId28"/>
      <p:bold r:id="rId29"/>
      <p:italic r:id="rId30"/>
      <p:boldItalic r:id="rId31"/>
    </p:embeddedFont>
    <p:embeddedFont>
      <p:font typeface="Open Sans Bold" pitchFamily="2" charset="0"/>
      <p:regular r:id="rId32"/>
      <p:bold r:id="rId33"/>
    </p:embeddedFont>
    <p:embeddedFont>
      <p:font typeface="Open Sans Italics" pitchFamily="2" charset="0"/>
      <p:regular r:id="rId34"/>
      <p:italic r:id="rId3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 autoAdjust="0"/>
    <p:restoredTop sz="94688" autoAdjust="0"/>
  </p:normalViewPr>
  <p:slideViewPr>
    <p:cSldViewPr>
      <p:cViewPr varScale="1">
        <p:scale>
          <a:sx n="77" d="100"/>
          <a:sy n="77" d="100"/>
        </p:scale>
        <p:origin x="632" y="2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9" Type="http://schemas.openxmlformats.org/officeDocument/2006/relationships/tableStyles" Target="tableStyles.xml"/><Relationship Id="rId21" Type="http://schemas.openxmlformats.org/officeDocument/2006/relationships/notesMaster" Target="notesMasters/notesMaster1.xml"/><Relationship Id="rId34" Type="http://schemas.openxmlformats.org/officeDocument/2006/relationships/font" Target="fonts/font1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font" Target="fonts/font12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font" Target="fonts/font11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font" Target="fonts/font14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07.09.2025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9/7/25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9/7/25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hyperlink" Target="https://gamma.app/?utm_source=made-with-gamma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hyperlink" Target="http://localhost:3000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hyperlink" Target="https://docs.google.com/document/d/1Gh13BhXFDgnFfcT9sqjPUB5i_Xhx8ebSOq7WbP0lIPM/edit?usp=sharing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3.png"/><Relationship Id="rId4" Type="http://schemas.openxmlformats.org/officeDocument/2006/relationships/hyperlink" Target="https://gamma.app/?utm_source=made-with-gamma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3.png"/><Relationship Id="rId4" Type="http://schemas.openxmlformats.org/officeDocument/2006/relationships/hyperlink" Target="https://gamma.app/?utm_source=made-with-gamma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3.png"/><Relationship Id="rId4" Type="http://schemas.openxmlformats.org/officeDocument/2006/relationships/hyperlink" Target="https://gamma.app/?utm_source=made-with-gamma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3.png"/><Relationship Id="rId4" Type="http://schemas.openxmlformats.org/officeDocument/2006/relationships/hyperlink" Target="https://gamma.app/?utm_source=made-with-gamma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3.png"/><Relationship Id="rId4" Type="http://schemas.openxmlformats.org/officeDocument/2006/relationships/hyperlink" Target="https://gamma.app/?utm_source=made-with-gamma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3.png"/><Relationship Id="rId4" Type="http://schemas.openxmlformats.org/officeDocument/2006/relationships/hyperlink" Target="https://gamma.app/?utm_source=made-with-gamma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preencoded.png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Freeform 5" descr="preencoded.png"/>
          <p:cNvSpPr/>
          <p:nvPr/>
        </p:nvSpPr>
        <p:spPr>
          <a:xfrm>
            <a:off x="11430000" y="244929"/>
            <a:ext cx="6594230" cy="9699171"/>
          </a:xfrm>
          <a:custGeom>
            <a:avLst/>
            <a:gdLst/>
            <a:ahLst/>
            <a:cxnLst/>
            <a:rect l="l" t="t" r="r" b="b"/>
            <a:pathLst>
              <a:path w="6594230" h="9699171">
                <a:moveTo>
                  <a:pt x="0" y="0"/>
                </a:moveTo>
                <a:lnTo>
                  <a:pt x="6594230" y="0"/>
                </a:lnTo>
                <a:lnTo>
                  <a:pt x="6594230" y="9699171"/>
                </a:lnTo>
                <a:lnTo>
                  <a:pt x="0" y="96991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2525" r="-4000" b="-353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992238" y="3653432"/>
            <a:ext cx="9445526" cy="18005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1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Advanced: System optimizing mechanisms.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2238" y="5812483"/>
            <a:ext cx="9445526" cy="7923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750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Will dig deeper into optimization techniques that focus on CPU management, kernel parameters, and disk allocation strategies.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92238" y="8843161"/>
            <a:ext cx="1297223" cy="3389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875"/>
              </a:lnSpc>
              <a:spcBef>
                <a:spcPct val="0"/>
              </a:spcBef>
            </a:pPr>
            <a:r>
              <a:rPr lang="en-US" sz="1812" b="1" dirty="0">
                <a:solidFill>
                  <a:srgbClr val="403C4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Presenter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92238" y="9182100"/>
            <a:ext cx="3116280" cy="3633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33"/>
              </a:lnSpc>
              <a:spcBef>
                <a:spcPct val="0"/>
              </a:spcBef>
            </a:pPr>
            <a:r>
              <a:rPr lang="en-US" sz="1912" b="1">
                <a:solidFill>
                  <a:srgbClr val="FFAD9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Mohammad Anees Alam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preencoded.png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Freeform 5" descr="preencoded.png">
            <a:hlinkClick r:id="rId4" tooltip="https://gamma.app/?utm_source=made-with-gamma"/>
          </p:cNvPr>
          <p:cNvSpPr/>
          <p:nvPr/>
        </p:nvSpPr>
        <p:spPr>
          <a:xfrm>
            <a:off x="16049019" y="9686925"/>
            <a:ext cx="2153256" cy="514350"/>
          </a:xfrm>
          <a:custGeom>
            <a:avLst/>
            <a:gdLst/>
            <a:ahLst/>
            <a:cxnLst/>
            <a:rect l="l" t="t" r="r" b="b"/>
            <a:pathLst>
              <a:path w="2153256" h="514350">
                <a:moveTo>
                  <a:pt x="0" y="0"/>
                </a:moveTo>
                <a:lnTo>
                  <a:pt x="2153256" y="0"/>
                </a:lnTo>
                <a:lnTo>
                  <a:pt x="2153256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 descr="preencoded.png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854571" y="635050"/>
            <a:ext cx="6104781" cy="8011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4750" b="1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Today's Topics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849809" y="2072282"/>
            <a:ext cx="558850" cy="558850"/>
            <a:chOff x="0" y="0"/>
            <a:chExt cx="745133" cy="745133"/>
          </a:xfrm>
        </p:grpSpPr>
        <p:sp>
          <p:nvSpPr>
            <p:cNvPr id="9" name="Freeform 9"/>
            <p:cNvSpPr/>
            <p:nvPr/>
          </p:nvSpPr>
          <p:spPr>
            <a:xfrm>
              <a:off x="6350" y="6350"/>
              <a:ext cx="732409" cy="732409"/>
            </a:xfrm>
            <a:custGeom>
              <a:avLst/>
              <a:gdLst/>
              <a:ahLst/>
              <a:cxnLst/>
              <a:rect l="l" t="t" r="r" b="b"/>
              <a:pathLst>
                <a:path w="732409" h="732409">
                  <a:moveTo>
                    <a:pt x="0" y="136779"/>
                  </a:moveTo>
                  <a:cubicBezTo>
                    <a:pt x="0" y="61214"/>
                    <a:pt x="61214" y="0"/>
                    <a:pt x="136779" y="0"/>
                  </a:cubicBezTo>
                  <a:lnTo>
                    <a:pt x="595630" y="0"/>
                  </a:lnTo>
                  <a:cubicBezTo>
                    <a:pt x="671195" y="0"/>
                    <a:pt x="732409" y="61214"/>
                    <a:pt x="732409" y="136779"/>
                  </a:cubicBezTo>
                  <a:lnTo>
                    <a:pt x="732409" y="595630"/>
                  </a:lnTo>
                  <a:cubicBezTo>
                    <a:pt x="732409" y="671195"/>
                    <a:pt x="671195" y="732409"/>
                    <a:pt x="595630" y="732409"/>
                  </a:cubicBezTo>
                  <a:lnTo>
                    <a:pt x="136779" y="732409"/>
                  </a:lnTo>
                  <a:cubicBezTo>
                    <a:pt x="61214" y="732409"/>
                    <a:pt x="0" y="671195"/>
                    <a:pt x="0" y="595630"/>
                  </a:cubicBezTo>
                  <a:close/>
                </a:path>
              </a:pathLst>
            </a:custGeom>
            <a:solidFill>
              <a:srgbClr val="FFD8C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0" y="0"/>
              <a:ext cx="745109" cy="745109"/>
            </a:xfrm>
            <a:custGeom>
              <a:avLst/>
              <a:gdLst/>
              <a:ahLst/>
              <a:cxnLst/>
              <a:rect l="l" t="t" r="r" b="b"/>
              <a:pathLst>
                <a:path w="745109" h="745109">
                  <a:moveTo>
                    <a:pt x="0" y="143129"/>
                  </a:moveTo>
                  <a:cubicBezTo>
                    <a:pt x="0" y="64008"/>
                    <a:pt x="64008" y="0"/>
                    <a:pt x="143129" y="0"/>
                  </a:cubicBezTo>
                  <a:lnTo>
                    <a:pt x="601980" y="0"/>
                  </a:lnTo>
                  <a:lnTo>
                    <a:pt x="601980" y="6350"/>
                  </a:lnTo>
                  <a:lnTo>
                    <a:pt x="601980" y="0"/>
                  </a:lnTo>
                  <a:cubicBezTo>
                    <a:pt x="680974" y="0"/>
                    <a:pt x="745109" y="64008"/>
                    <a:pt x="745109" y="143129"/>
                  </a:cubicBezTo>
                  <a:lnTo>
                    <a:pt x="745109" y="601980"/>
                  </a:lnTo>
                  <a:lnTo>
                    <a:pt x="738759" y="601980"/>
                  </a:lnTo>
                  <a:lnTo>
                    <a:pt x="745109" y="601980"/>
                  </a:lnTo>
                  <a:cubicBezTo>
                    <a:pt x="745109" y="680974"/>
                    <a:pt x="681101" y="745109"/>
                    <a:pt x="601980" y="745109"/>
                  </a:cubicBezTo>
                  <a:lnTo>
                    <a:pt x="601980" y="738759"/>
                  </a:lnTo>
                  <a:lnTo>
                    <a:pt x="601980" y="745109"/>
                  </a:lnTo>
                  <a:lnTo>
                    <a:pt x="143129" y="745109"/>
                  </a:lnTo>
                  <a:lnTo>
                    <a:pt x="143129" y="738759"/>
                  </a:lnTo>
                  <a:lnTo>
                    <a:pt x="143129" y="745109"/>
                  </a:lnTo>
                  <a:cubicBezTo>
                    <a:pt x="64008" y="745109"/>
                    <a:pt x="0" y="681101"/>
                    <a:pt x="0" y="601980"/>
                  </a:cubicBezTo>
                  <a:lnTo>
                    <a:pt x="0" y="143129"/>
                  </a:lnTo>
                  <a:lnTo>
                    <a:pt x="6350" y="143129"/>
                  </a:lnTo>
                  <a:lnTo>
                    <a:pt x="0" y="143129"/>
                  </a:lnTo>
                  <a:moveTo>
                    <a:pt x="12700" y="143129"/>
                  </a:moveTo>
                  <a:lnTo>
                    <a:pt x="12700" y="601980"/>
                  </a:lnTo>
                  <a:lnTo>
                    <a:pt x="6350" y="601980"/>
                  </a:lnTo>
                  <a:lnTo>
                    <a:pt x="12700" y="601980"/>
                  </a:lnTo>
                  <a:cubicBezTo>
                    <a:pt x="12700" y="673989"/>
                    <a:pt x="71120" y="732409"/>
                    <a:pt x="143129" y="732409"/>
                  </a:cubicBezTo>
                  <a:lnTo>
                    <a:pt x="601980" y="732409"/>
                  </a:lnTo>
                  <a:cubicBezTo>
                    <a:pt x="673989" y="732409"/>
                    <a:pt x="732409" y="673989"/>
                    <a:pt x="732409" y="601980"/>
                  </a:cubicBezTo>
                  <a:lnTo>
                    <a:pt x="732409" y="143129"/>
                  </a:lnTo>
                  <a:lnTo>
                    <a:pt x="738759" y="143129"/>
                  </a:lnTo>
                  <a:lnTo>
                    <a:pt x="732409" y="143129"/>
                  </a:lnTo>
                  <a:cubicBezTo>
                    <a:pt x="732409" y="71120"/>
                    <a:pt x="674116" y="12700"/>
                    <a:pt x="601980" y="12700"/>
                  </a:cubicBezTo>
                  <a:lnTo>
                    <a:pt x="143129" y="12700"/>
                  </a:lnTo>
                  <a:lnTo>
                    <a:pt x="143129" y="6350"/>
                  </a:lnTo>
                  <a:lnTo>
                    <a:pt x="143129" y="12700"/>
                  </a:lnTo>
                  <a:cubicBezTo>
                    <a:pt x="71120" y="12700"/>
                    <a:pt x="12700" y="71120"/>
                    <a:pt x="12700" y="143129"/>
                  </a:cubicBezTo>
                  <a:close/>
                </a:path>
              </a:pathLst>
            </a:custGeom>
            <a:solidFill>
              <a:srgbClr val="E5BEB2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045369" y="2225725"/>
            <a:ext cx="167729" cy="3091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4"/>
              </a:lnSpc>
            </a:pPr>
            <a:r>
              <a:rPr lang="en-US" sz="2874" b="1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1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647974" y="2067520"/>
            <a:ext cx="6885235" cy="467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874" b="1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Intro &amp; setup: Prometheus &amp; Grafana.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849809" y="3414861"/>
            <a:ext cx="558850" cy="558850"/>
            <a:chOff x="0" y="0"/>
            <a:chExt cx="745133" cy="745133"/>
          </a:xfrm>
        </p:grpSpPr>
        <p:sp>
          <p:nvSpPr>
            <p:cNvPr id="14" name="Freeform 14"/>
            <p:cNvSpPr/>
            <p:nvPr/>
          </p:nvSpPr>
          <p:spPr>
            <a:xfrm>
              <a:off x="6350" y="6350"/>
              <a:ext cx="732409" cy="732409"/>
            </a:xfrm>
            <a:custGeom>
              <a:avLst/>
              <a:gdLst/>
              <a:ahLst/>
              <a:cxnLst/>
              <a:rect l="l" t="t" r="r" b="b"/>
              <a:pathLst>
                <a:path w="732409" h="732409">
                  <a:moveTo>
                    <a:pt x="0" y="136779"/>
                  </a:moveTo>
                  <a:cubicBezTo>
                    <a:pt x="0" y="61214"/>
                    <a:pt x="61214" y="0"/>
                    <a:pt x="136779" y="0"/>
                  </a:cubicBezTo>
                  <a:lnTo>
                    <a:pt x="595630" y="0"/>
                  </a:lnTo>
                  <a:cubicBezTo>
                    <a:pt x="671195" y="0"/>
                    <a:pt x="732409" y="61214"/>
                    <a:pt x="732409" y="136779"/>
                  </a:cubicBezTo>
                  <a:lnTo>
                    <a:pt x="732409" y="595630"/>
                  </a:lnTo>
                  <a:cubicBezTo>
                    <a:pt x="732409" y="671195"/>
                    <a:pt x="671195" y="732409"/>
                    <a:pt x="595630" y="732409"/>
                  </a:cubicBezTo>
                  <a:lnTo>
                    <a:pt x="136779" y="732409"/>
                  </a:lnTo>
                  <a:cubicBezTo>
                    <a:pt x="61214" y="732409"/>
                    <a:pt x="0" y="671195"/>
                    <a:pt x="0" y="595630"/>
                  </a:cubicBezTo>
                  <a:close/>
                </a:path>
              </a:pathLst>
            </a:custGeom>
            <a:solidFill>
              <a:srgbClr val="FFD8C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15"/>
            <p:cNvSpPr/>
            <p:nvPr/>
          </p:nvSpPr>
          <p:spPr>
            <a:xfrm>
              <a:off x="0" y="0"/>
              <a:ext cx="745109" cy="745109"/>
            </a:xfrm>
            <a:custGeom>
              <a:avLst/>
              <a:gdLst/>
              <a:ahLst/>
              <a:cxnLst/>
              <a:rect l="l" t="t" r="r" b="b"/>
              <a:pathLst>
                <a:path w="745109" h="745109">
                  <a:moveTo>
                    <a:pt x="0" y="143129"/>
                  </a:moveTo>
                  <a:cubicBezTo>
                    <a:pt x="0" y="64008"/>
                    <a:pt x="64008" y="0"/>
                    <a:pt x="143129" y="0"/>
                  </a:cubicBezTo>
                  <a:lnTo>
                    <a:pt x="601980" y="0"/>
                  </a:lnTo>
                  <a:lnTo>
                    <a:pt x="601980" y="6350"/>
                  </a:lnTo>
                  <a:lnTo>
                    <a:pt x="601980" y="0"/>
                  </a:lnTo>
                  <a:cubicBezTo>
                    <a:pt x="680974" y="0"/>
                    <a:pt x="745109" y="64008"/>
                    <a:pt x="745109" y="143129"/>
                  </a:cubicBezTo>
                  <a:lnTo>
                    <a:pt x="745109" y="601980"/>
                  </a:lnTo>
                  <a:lnTo>
                    <a:pt x="738759" y="601980"/>
                  </a:lnTo>
                  <a:lnTo>
                    <a:pt x="745109" y="601980"/>
                  </a:lnTo>
                  <a:cubicBezTo>
                    <a:pt x="745109" y="680974"/>
                    <a:pt x="681101" y="745109"/>
                    <a:pt x="601980" y="745109"/>
                  </a:cubicBezTo>
                  <a:lnTo>
                    <a:pt x="601980" y="738759"/>
                  </a:lnTo>
                  <a:lnTo>
                    <a:pt x="601980" y="745109"/>
                  </a:lnTo>
                  <a:lnTo>
                    <a:pt x="143129" y="745109"/>
                  </a:lnTo>
                  <a:lnTo>
                    <a:pt x="143129" y="738759"/>
                  </a:lnTo>
                  <a:lnTo>
                    <a:pt x="143129" y="745109"/>
                  </a:lnTo>
                  <a:cubicBezTo>
                    <a:pt x="64008" y="745109"/>
                    <a:pt x="0" y="681101"/>
                    <a:pt x="0" y="601980"/>
                  </a:cubicBezTo>
                  <a:lnTo>
                    <a:pt x="0" y="143129"/>
                  </a:lnTo>
                  <a:lnTo>
                    <a:pt x="6350" y="143129"/>
                  </a:lnTo>
                  <a:lnTo>
                    <a:pt x="0" y="143129"/>
                  </a:lnTo>
                  <a:moveTo>
                    <a:pt x="12700" y="143129"/>
                  </a:moveTo>
                  <a:lnTo>
                    <a:pt x="12700" y="601980"/>
                  </a:lnTo>
                  <a:lnTo>
                    <a:pt x="6350" y="601980"/>
                  </a:lnTo>
                  <a:lnTo>
                    <a:pt x="12700" y="601980"/>
                  </a:lnTo>
                  <a:cubicBezTo>
                    <a:pt x="12700" y="673989"/>
                    <a:pt x="71120" y="732409"/>
                    <a:pt x="143129" y="732409"/>
                  </a:cubicBezTo>
                  <a:lnTo>
                    <a:pt x="601980" y="732409"/>
                  </a:lnTo>
                  <a:cubicBezTo>
                    <a:pt x="673989" y="732409"/>
                    <a:pt x="732409" y="673989"/>
                    <a:pt x="732409" y="601980"/>
                  </a:cubicBezTo>
                  <a:lnTo>
                    <a:pt x="732409" y="143129"/>
                  </a:lnTo>
                  <a:lnTo>
                    <a:pt x="738759" y="143129"/>
                  </a:lnTo>
                  <a:lnTo>
                    <a:pt x="732409" y="143129"/>
                  </a:lnTo>
                  <a:cubicBezTo>
                    <a:pt x="732409" y="71120"/>
                    <a:pt x="674116" y="12700"/>
                    <a:pt x="601980" y="12700"/>
                  </a:cubicBezTo>
                  <a:lnTo>
                    <a:pt x="143129" y="12700"/>
                  </a:lnTo>
                  <a:lnTo>
                    <a:pt x="143129" y="6350"/>
                  </a:lnTo>
                  <a:lnTo>
                    <a:pt x="143129" y="12700"/>
                  </a:lnTo>
                  <a:cubicBezTo>
                    <a:pt x="71120" y="12700"/>
                    <a:pt x="12700" y="71120"/>
                    <a:pt x="12700" y="143129"/>
                  </a:cubicBezTo>
                  <a:close/>
                </a:path>
              </a:pathLst>
            </a:custGeom>
            <a:solidFill>
              <a:srgbClr val="E5BEB2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018431" y="3568304"/>
            <a:ext cx="221605" cy="3091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4"/>
              </a:lnSpc>
            </a:pPr>
            <a:r>
              <a:rPr lang="en-US" sz="2874" b="1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2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647974" y="3410099"/>
            <a:ext cx="7225010" cy="467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874" b="1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Understanding data visualization tools.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849809" y="4757440"/>
            <a:ext cx="558850" cy="558850"/>
            <a:chOff x="0" y="0"/>
            <a:chExt cx="745133" cy="745133"/>
          </a:xfrm>
        </p:grpSpPr>
        <p:sp>
          <p:nvSpPr>
            <p:cNvPr id="19" name="Freeform 19"/>
            <p:cNvSpPr/>
            <p:nvPr/>
          </p:nvSpPr>
          <p:spPr>
            <a:xfrm>
              <a:off x="6350" y="6350"/>
              <a:ext cx="732409" cy="732409"/>
            </a:xfrm>
            <a:custGeom>
              <a:avLst/>
              <a:gdLst/>
              <a:ahLst/>
              <a:cxnLst/>
              <a:rect l="l" t="t" r="r" b="b"/>
              <a:pathLst>
                <a:path w="732409" h="732409">
                  <a:moveTo>
                    <a:pt x="0" y="136779"/>
                  </a:moveTo>
                  <a:cubicBezTo>
                    <a:pt x="0" y="61214"/>
                    <a:pt x="61214" y="0"/>
                    <a:pt x="136779" y="0"/>
                  </a:cubicBezTo>
                  <a:lnTo>
                    <a:pt x="595630" y="0"/>
                  </a:lnTo>
                  <a:cubicBezTo>
                    <a:pt x="671195" y="0"/>
                    <a:pt x="732409" y="61214"/>
                    <a:pt x="732409" y="136779"/>
                  </a:cubicBezTo>
                  <a:lnTo>
                    <a:pt x="732409" y="595630"/>
                  </a:lnTo>
                  <a:cubicBezTo>
                    <a:pt x="732409" y="671195"/>
                    <a:pt x="671195" y="732409"/>
                    <a:pt x="595630" y="732409"/>
                  </a:cubicBezTo>
                  <a:lnTo>
                    <a:pt x="136779" y="732409"/>
                  </a:lnTo>
                  <a:cubicBezTo>
                    <a:pt x="61214" y="732409"/>
                    <a:pt x="0" y="671195"/>
                    <a:pt x="0" y="595630"/>
                  </a:cubicBezTo>
                  <a:close/>
                </a:path>
              </a:pathLst>
            </a:custGeom>
            <a:solidFill>
              <a:srgbClr val="FFD8C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20"/>
            <p:cNvSpPr/>
            <p:nvPr/>
          </p:nvSpPr>
          <p:spPr>
            <a:xfrm>
              <a:off x="0" y="0"/>
              <a:ext cx="745109" cy="745109"/>
            </a:xfrm>
            <a:custGeom>
              <a:avLst/>
              <a:gdLst/>
              <a:ahLst/>
              <a:cxnLst/>
              <a:rect l="l" t="t" r="r" b="b"/>
              <a:pathLst>
                <a:path w="745109" h="745109">
                  <a:moveTo>
                    <a:pt x="0" y="143129"/>
                  </a:moveTo>
                  <a:cubicBezTo>
                    <a:pt x="0" y="64008"/>
                    <a:pt x="64008" y="0"/>
                    <a:pt x="143129" y="0"/>
                  </a:cubicBezTo>
                  <a:lnTo>
                    <a:pt x="601980" y="0"/>
                  </a:lnTo>
                  <a:lnTo>
                    <a:pt x="601980" y="6350"/>
                  </a:lnTo>
                  <a:lnTo>
                    <a:pt x="601980" y="0"/>
                  </a:lnTo>
                  <a:cubicBezTo>
                    <a:pt x="680974" y="0"/>
                    <a:pt x="745109" y="64008"/>
                    <a:pt x="745109" y="143129"/>
                  </a:cubicBezTo>
                  <a:lnTo>
                    <a:pt x="745109" y="601980"/>
                  </a:lnTo>
                  <a:lnTo>
                    <a:pt x="738759" y="601980"/>
                  </a:lnTo>
                  <a:lnTo>
                    <a:pt x="745109" y="601980"/>
                  </a:lnTo>
                  <a:cubicBezTo>
                    <a:pt x="745109" y="680974"/>
                    <a:pt x="681101" y="745109"/>
                    <a:pt x="601980" y="745109"/>
                  </a:cubicBezTo>
                  <a:lnTo>
                    <a:pt x="601980" y="738759"/>
                  </a:lnTo>
                  <a:lnTo>
                    <a:pt x="601980" y="745109"/>
                  </a:lnTo>
                  <a:lnTo>
                    <a:pt x="143129" y="745109"/>
                  </a:lnTo>
                  <a:lnTo>
                    <a:pt x="143129" y="738759"/>
                  </a:lnTo>
                  <a:lnTo>
                    <a:pt x="143129" y="745109"/>
                  </a:lnTo>
                  <a:cubicBezTo>
                    <a:pt x="64008" y="745109"/>
                    <a:pt x="0" y="681101"/>
                    <a:pt x="0" y="601980"/>
                  </a:cubicBezTo>
                  <a:lnTo>
                    <a:pt x="0" y="143129"/>
                  </a:lnTo>
                  <a:lnTo>
                    <a:pt x="6350" y="143129"/>
                  </a:lnTo>
                  <a:lnTo>
                    <a:pt x="0" y="143129"/>
                  </a:lnTo>
                  <a:moveTo>
                    <a:pt x="12700" y="143129"/>
                  </a:moveTo>
                  <a:lnTo>
                    <a:pt x="12700" y="601980"/>
                  </a:lnTo>
                  <a:lnTo>
                    <a:pt x="6350" y="601980"/>
                  </a:lnTo>
                  <a:lnTo>
                    <a:pt x="12700" y="601980"/>
                  </a:lnTo>
                  <a:cubicBezTo>
                    <a:pt x="12700" y="673989"/>
                    <a:pt x="71120" y="732409"/>
                    <a:pt x="143129" y="732409"/>
                  </a:cubicBezTo>
                  <a:lnTo>
                    <a:pt x="601980" y="732409"/>
                  </a:lnTo>
                  <a:cubicBezTo>
                    <a:pt x="673989" y="732409"/>
                    <a:pt x="732409" y="673989"/>
                    <a:pt x="732409" y="601980"/>
                  </a:cubicBezTo>
                  <a:lnTo>
                    <a:pt x="732409" y="143129"/>
                  </a:lnTo>
                  <a:lnTo>
                    <a:pt x="738759" y="143129"/>
                  </a:lnTo>
                  <a:lnTo>
                    <a:pt x="732409" y="143129"/>
                  </a:lnTo>
                  <a:cubicBezTo>
                    <a:pt x="732409" y="71120"/>
                    <a:pt x="674116" y="12700"/>
                    <a:pt x="601980" y="12700"/>
                  </a:cubicBezTo>
                  <a:lnTo>
                    <a:pt x="143129" y="12700"/>
                  </a:lnTo>
                  <a:lnTo>
                    <a:pt x="143129" y="6350"/>
                  </a:lnTo>
                  <a:lnTo>
                    <a:pt x="143129" y="12700"/>
                  </a:lnTo>
                  <a:cubicBezTo>
                    <a:pt x="71120" y="12700"/>
                    <a:pt x="12700" y="71120"/>
                    <a:pt x="12700" y="143129"/>
                  </a:cubicBezTo>
                  <a:close/>
                </a:path>
              </a:pathLst>
            </a:custGeom>
            <a:solidFill>
              <a:srgbClr val="E5BEB2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025575" y="4910881"/>
            <a:ext cx="207318" cy="3091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4"/>
              </a:lnSpc>
            </a:pPr>
            <a:r>
              <a:rPr lang="en-US" sz="2874" b="1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3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647974" y="4752677"/>
            <a:ext cx="6837759" cy="467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874" b="1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Advanced Optimization Mechanisms.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849809" y="6100019"/>
            <a:ext cx="558850" cy="558850"/>
            <a:chOff x="0" y="0"/>
            <a:chExt cx="745133" cy="745133"/>
          </a:xfrm>
        </p:grpSpPr>
        <p:sp>
          <p:nvSpPr>
            <p:cNvPr id="24" name="Freeform 24"/>
            <p:cNvSpPr/>
            <p:nvPr/>
          </p:nvSpPr>
          <p:spPr>
            <a:xfrm>
              <a:off x="6350" y="6350"/>
              <a:ext cx="732409" cy="732409"/>
            </a:xfrm>
            <a:custGeom>
              <a:avLst/>
              <a:gdLst/>
              <a:ahLst/>
              <a:cxnLst/>
              <a:rect l="l" t="t" r="r" b="b"/>
              <a:pathLst>
                <a:path w="732409" h="732409">
                  <a:moveTo>
                    <a:pt x="0" y="136779"/>
                  </a:moveTo>
                  <a:cubicBezTo>
                    <a:pt x="0" y="61214"/>
                    <a:pt x="61214" y="0"/>
                    <a:pt x="136779" y="0"/>
                  </a:cubicBezTo>
                  <a:lnTo>
                    <a:pt x="595630" y="0"/>
                  </a:lnTo>
                  <a:cubicBezTo>
                    <a:pt x="671195" y="0"/>
                    <a:pt x="732409" y="61214"/>
                    <a:pt x="732409" y="136779"/>
                  </a:cubicBezTo>
                  <a:lnTo>
                    <a:pt x="732409" y="595630"/>
                  </a:lnTo>
                  <a:cubicBezTo>
                    <a:pt x="732409" y="671195"/>
                    <a:pt x="671195" y="732409"/>
                    <a:pt x="595630" y="732409"/>
                  </a:cubicBezTo>
                  <a:lnTo>
                    <a:pt x="136779" y="732409"/>
                  </a:lnTo>
                  <a:cubicBezTo>
                    <a:pt x="61214" y="732409"/>
                    <a:pt x="0" y="671195"/>
                    <a:pt x="0" y="595630"/>
                  </a:cubicBezTo>
                  <a:close/>
                </a:path>
              </a:pathLst>
            </a:custGeom>
            <a:solidFill>
              <a:srgbClr val="FFD8C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25"/>
            <p:cNvSpPr/>
            <p:nvPr/>
          </p:nvSpPr>
          <p:spPr>
            <a:xfrm>
              <a:off x="0" y="0"/>
              <a:ext cx="745109" cy="745109"/>
            </a:xfrm>
            <a:custGeom>
              <a:avLst/>
              <a:gdLst/>
              <a:ahLst/>
              <a:cxnLst/>
              <a:rect l="l" t="t" r="r" b="b"/>
              <a:pathLst>
                <a:path w="745109" h="745109">
                  <a:moveTo>
                    <a:pt x="0" y="143129"/>
                  </a:moveTo>
                  <a:cubicBezTo>
                    <a:pt x="0" y="64008"/>
                    <a:pt x="64008" y="0"/>
                    <a:pt x="143129" y="0"/>
                  </a:cubicBezTo>
                  <a:lnTo>
                    <a:pt x="601980" y="0"/>
                  </a:lnTo>
                  <a:lnTo>
                    <a:pt x="601980" y="6350"/>
                  </a:lnTo>
                  <a:lnTo>
                    <a:pt x="601980" y="0"/>
                  </a:lnTo>
                  <a:cubicBezTo>
                    <a:pt x="680974" y="0"/>
                    <a:pt x="745109" y="64008"/>
                    <a:pt x="745109" y="143129"/>
                  </a:cubicBezTo>
                  <a:lnTo>
                    <a:pt x="745109" y="601980"/>
                  </a:lnTo>
                  <a:lnTo>
                    <a:pt x="738759" y="601980"/>
                  </a:lnTo>
                  <a:lnTo>
                    <a:pt x="745109" y="601980"/>
                  </a:lnTo>
                  <a:cubicBezTo>
                    <a:pt x="745109" y="680974"/>
                    <a:pt x="681101" y="745109"/>
                    <a:pt x="601980" y="745109"/>
                  </a:cubicBezTo>
                  <a:lnTo>
                    <a:pt x="601980" y="738759"/>
                  </a:lnTo>
                  <a:lnTo>
                    <a:pt x="601980" y="745109"/>
                  </a:lnTo>
                  <a:lnTo>
                    <a:pt x="143129" y="745109"/>
                  </a:lnTo>
                  <a:lnTo>
                    <a:pt x="143129" y="738759"/>
                  </a:lnTo>
                  <a:lnTo>
                    <a:pt x="143129" y="745109"/>
                  </a:lnTo>
                  <a:cubicBezTo>
                    <a:pt x="64008" y="745109"/>
                    <a:pt x="0" y="681101"/>
                    <a:pt x="0" y="601980"/>
                  </a:cubicBezTo>
                  <a:lnTo>
                    <a:pt x="0" y="143129"/>
                  </a:lnTo>
                  <a:lnTo>
                    <a:pt x="6350" y="143129"/>
                  </a:lnTo>
                  <a:lnTo>
                    <a:pt x="0" y="143129"/>
                  </a:lnTo>
                  <a:moveTo>
                    <a:pt x="12700" y="143129"/>
                  </a:moveTo>
                  <a:lnTo>
                    <a:pt x="12700" y="601980"/>
                  </a:lnTo>
                  <a:lnTo>
                    <a:pt x="6350" y="601980"/>
                  </a:lnTo>
                  <a:lnTo>
                    <a:pt x="12700" y="601980"/>
                  </a:lnTo>
                  <a:cubicBezTo>
                    <a:pt x="12700" y="673989"/>
                    <a:pt x="71120" y="732409"/>
                    <a:pt x="143129" y="732409"/>
                  </a:cubicBezTo>
                  <a:lnTo>
                    <a:pt x="601980" y="732409"/>
                  </a:lnTo>
                  <a:cubicBezTo>
                    <a:pt x="673989" y="732409"/>
                    <a:pt x="732409" y="673989"/>
                    <a:pt x="732409" y="601980"/>
                  </a:cubicBezTo>
                  <a:lnTo>
                    <a:pt x="732409" y="143129"/>
                  </a:lnTo>
                  <a:lnTo>
                    <a:pt x="738759" y="143129"/>
                  </a:lnTo>
                  <a:lnTo>
                    <a:pt x="732409" y="143129"/>
                  </a:lnTo>
                  <a:cubicBezTo>
                    <a:pt x="732409" y="71120"/>
                    <a:pt x="674116" y="12700"/>
                    <a:pt x="601980" y="12700"/>
                  </a:cubicBezTo>
                  <a:lnTo>
                    <a:pt x="143129" y="12700"/>
                  </a:lnTo>
                  <a:lnTo>
                    <a:pt x="143129" y="6350"/>
                  </a:lnTo>
                  <a:lnTo>
                    <a:pt x="143129" y="12700"/>
                  </a:lnTo>
                  <a:cubicBezTo>
                    <a:pt x="71120" y="12700"/>
                    <a:pt x="12700" y="71120"/>
                    <a:pt x="12700" y="143129"/>
                  </a:cubicBezTo>
                  <a:close/>
                </a:path>
              </a:pathLst>
            </a:custGeom>
            <a:solidFill>
              <a:srgbClr val="E5BEB2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1008161" y="6253460"/>
            <a:ext cx="242144" cy="3091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4"/>
              </a:lnSpc>
            </a:pPr>
            <a:r>
              <a:rPr lang="en-US" sz="2874" b="1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4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647974" y="6095256"/>
            <a:ext cx="7427565" cy="467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874" b="1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Deep dive into Offloading &amp; CPU affinity.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849809" y="7442596"/>
            <a:ext cx="558850" cy="558850"/>
            <a:chOff x="0" y="0"/>
            <a:chExt cx="745133" cy="745133"/>
          </a:xfrm>
        </p:grpSpPr>
        <p:sp>
          <p:nvSpPr>
            <p:cNvPr id="29" name="Freeform 29"/>
            <p:cNvSpPr/>
            <p:nvPr/>
          </p:nvSpPr>
          <p:spPr>
            <a:xfrm>
              <a:off x="6350" y="6350"/>
              <a:ext cx="732409" cy="732409"/>
            </a:xfrm>
            <a:custGeom>
              <a:avLst/>
              <a:gdLst/>
              <a:ahLst/>
              <a:cxnLst/>
              <a:rect l="l" t="t" r="r" b="b"/>
              <a:pathLst>
                <a:path w="732409" h="732409">
                  <a:moveTo>
                    <a:pt x="0" y="136779"/>
                  </a:moveTo>
                  <a:cubicBezTo>
                    <a:pt x="0" y="61214"/>
                    <a:pt x="61214" y="0"/>
                    <a:pt x="136779" y="0"/>
                  </a:cubicBezTo>
                  <a:lnTo>
                    <a:pt x="595630" y="0"/>
                  </a:lnTo>
                  <a:cubicBezTo>
                    <a:pt x="671195" y="0"/>
                    <a:pt x="732409" y="61214"/>
                    <a:pt x="732409" y="136779"/>
                  </a:cubicBezTo>
                  <a:lnTo>
                    <a:pt x="732409" y="595630"/>
                  </a:lnTo>
                  <a:cubicBezTo>
                    <a:pt x="732409" y="671195"/>
                    <a:pt x="671195" y="732409"/>
                    <a:pt x="595630" y="732409"/>
                  </a:cubicBezTo>
                  <a:lnTo>
                    <a:pt x="136779" y="732409"/>
                  </a:lnTo>
                  <a:cubicBezTo>
                    <a:pt x="61214" y="732409"/>
                    <a:pt x="0" y="671195"/>
                    <a:pt x="0" y="595630"/>
                  </a:cubicBezTo>
                  <a:close/>
                </a:path>
              </a:pathLst>
            </a:custGeom>
            <a:solidFill>
              <a:srgbClr val="FFD8C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30"/>
            <p:cNvSpPr/>
            <p:nvPr/>
          </p:nvSpPr>
          <p:spPr>
            <a:xfrm>
              <a:off x="0" y="0"/>
              <a:ext cx="745109" cy="745109"/>
            </a:xfrm>
            <a:custGeom>
              <a:avLst/>
              <a:gdLst/>
              <a:ahLst/>
              <a:cxnLst/>
              <a:rect l="l" t="t" r="r" b="b"/>
              <a:pathLst>
                <a:path w="745109" h="745109">
                  <a:moveTo>
                    <a:pt x="0" y="143129"/>
                  </a:moveTo>
                  <a:cubicBezTo>
                    <a:pt x="0" y="64008"/>
                    <a:pt x="64008" y="0"/>
                    <a:pt x="143129" y="0"/>
                  </a:cubicBezTo>
                  <a:lnTo>
                    <a:pt x="601980" y="0"/>
                  </a:lnTo>
                  <a:lnTo>
                    <a:pt x="601980" y="6350"/>
                  </a:lnTo>
                  <a:lnTo>
                    <a:pt x="601980" y="0"/>
                  </a:lnTo>
                  <a:cubicBezTo>
                    <a:pt x="680974" y="0"/>
                    <a:pt x="745109" y="64008"/>
                    <a:pt x="745109" y="143129"/>
                  </a:cubicBezTo>
                  <a:lnTo>
                    <a:pt x="745109" y="601980"/>
                  </a:lnTo>
                  <a:lnTo>
                    <a:pt x="738759" y="601980"/>
                  </a:lnTo>
                  <a:lnTo>
                    <a:pt x="745109" y="601980"/>
                  </a:lnTo>
                  <a:cubicBezTo>
                    <a:pt x="745109" y="680974"/>
                    <a:pt x="681101" y="745109"/>
                    <a:pt x="601980" y="745109"/>
                  </a:cubicBezTo>
                  <a:lnTo>
                    <a:pt x="601980" y="738759"/>
                  </a:lnTo>
                  <a:lnTo>
                    <a:pt x="601980" y="745109"/>
                  </a:lnTo>
                  <a:lnTo>
                    <a:pt x="143129" y="745109"/>
                  </a:lnTo>
                  <a:lnTo>
                    <a:pt x="143129" y="738759"/>
                  </a:lnTo>
                  <a:lnTo>
                    <a:pt x="143129" y="745109"/>
                  </a:lnTo>
                  <a:cubicBezTo>
                    <a:pt x="64008" y="745109"/>
                    <a:pt x="0" y="681101"/>
                    <a:pt x="0" y="601980"/>
                  </a:cubicBezTo>
                  <a:lnTo>
                    <a:pt x="0" y="143129"/>
                  </a:lnTo>
                  <a:lnTo>
                    <a:pt x="6350" y="143129"/>
                  </a:lnTo>
                  <a:lnTo>
                    <a:pt x="0" y="143129"/>
                  </a:lnTo>
                  <a:moveTo>
                    <a:pt x="12700" y="143129"/>
                  </a:moveTo>
                  <a:lnTo>
                    <a:pt x="12700" y="601980"/>
                  </a:lnTo>
                  <a:lnTo>
                    <a:pt x="6350" y="601980"/>
                  </a:lnTo>
                  <a:lnTo>
                    <a:pt x="12700" y="601980"/>
                  </a:lnTo>
                  <a:cubicBezTo>
                    <a:pt x="12700" y="673989"/>
                    <a:pt x="71120" y="732409"/>
                    <a:pt x="143129" y="732409"/>
                  </a:cubicBezTo>
                  <a:lnTo>
                    <a:pt x="601980" y="732409"/>
                  </a:lnTo>
                  <a:cubicBezTo>
                    <a:pt x="673989" y="732409"/>
                    <a:pt x="732409" y="673989"/>
                    <a:pt x="732409" y="601980"/>
                  </a:cubicBezTo>
                  <a:lnTo>
                    <a:pt x="732409" y="143129"/>
                  </a:lnTo>
                  <a:lnTo>
                    <a:pt x="738759" y="143129"/>
                  </a:lnTo>
                  <a:lnTo>
                    <a:pt x="732409" y="143129"/>
                  </a:lnTo>
                  <a:cubicBezTo>
                    <a:pt x="732409" y="71120"/>
                    <a:pt x="674116" y="12700"/>
                    <a:pt x="601980" y="12700"/>
                  </a:cubicBezTo>
                  <a:lnTo>
                    <a:pt x="143129" y="12700"/>
                  </a:lnTo>
                  <a:lnTo>
                    <a:pt x="143129" y="6350"/>
                  </a:lnTo>
                  <a:lnTo>
                    <a:pt x="143129" y="12700"/>
                  </a:lnTo>
                  <a:cubicBezTo>
                    <a:pt x="71120" y="12700"/>
                    <a:pt x="12700" y="71120"/>
                    <a:pt x="12700" y="143129"/>
                  </a:cubicBezTo>
                  <a:close/>
                </a:path>
              </a:pathLst>
            </a:custGeom>
            <a:solidFill>
              <a:srgbClr val="E5BEB2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1017091" y="7596039"/>
            <a:ext cx="224135" cy="3091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4"/>
              </a:lnSpc>
            </a:pPr>
            <a:r>
              <a:rPr lang="en-US" sz="2874" b="1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5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647974" y="7437834"/>
            <a:ext cx="6428780" cy="467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874" b="1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Tuning Kernel Parameters (sysctl).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849809" y="8785175"/>
            <a:ext cx="558850" cy="558850"/>
            <a:chOff x="0" y="0"/>
            <a:chExt cx="745133" cy="745133"/>
          </a:xfrm>
        </p:grpSpPr>
        <p:sp>
          <p:nvSpPr>
            <p:cNvPr id="34" name="Freeform 34"/>
            <p:cNvSpPr/>
            <p:nvPr/>
          </p:nvSpPr>
          <p:spPr>
            <a:xfrm>
              <a:off x="6350" y="6350"/>
              <a:ext cx="732409" cy="732409"/>
            </a:xfrm>
            <a:custGeom>
              <a:avLst/>
              <a:gdLst/>
              <a:ahLst/>
              <a:cxnLst/>
              <a:rect l="l" t="t" r="r" b="b"/>
              <a:pathLst>
                <a:path w="732409" h="732409">
                  <a:moveTo>
                    <a:pt x="0" y="136779"/>
                  </a:moveTo>
                  <a:cubicBezTo>
                    <a:pt x="0" y="61214"/>
                    <a:pt x="61214" y="0"/>
                    <a:pt x="136779" y="0"/>
                  </a:cubicBezTo>
                  <a:lnTo>
                    <a:pt x="595630" y="0"/>
                  </a:lnTo>
                  <a:cubicBezTo>
                    <a:pt x="671195" y="0"/>
                    <a:pt x="732409" y="61214"/>
                    <a:pt x="732409" y="136779"/>
                  </a:cubicBezTo>
                  <a:lnTo>
                    <a:pt x="732409" y="595630"/>
                  </a:lnTo>
                  <a:cubicBezTo>
                    <a:pt x="732409" y="671195"/>
                    <a:pt x="671195" y="732409"/>
                    <a:pt x="595630" y="732409"/>
                  </a:cubicBezTo>
                  <a:lnTo>
                    <a:pt x="136779" y="732409"/>
                  </a:lnTo>
                  <a:cubicBezTo>
                    <a:pt x="61214" y="732409"/>
                    <a:pt x="0" y="671195"/>
                    <a:pt x="0" y="595630"/>
                  </a:cubicBezTo>
                  <a:close/>
                </a:path>
              </a:pathLst>
            </a:custGeom>
            <a:solidFill>
              <a:srgbClr val="FFD8C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35"/>
            <p:cNvSpPr/>
            <p:nvPr/>
          </p:nvSpPr>
          <p:spPr>
            <a:xfrm>
              <a:off x="0" y="0"/>
              <a:ext cx="745109" cy="745109"/>
            </a:xfrm>
            <a:custGeom>
              <a:avLst/>
              <a:gdLst/>
              <a:ahLst/>
              <a:cxnLst/>
              <a:rect l="l" t="t" r="r" b="b"/>
              <a:pathLst>
                <a:path w="745109" h="745109">
                  <a:moveTo>
                    <a:pt x="0" y="143129"/>
                  </a:moveTo>
                  <a:cubicBezTo>
                    <a:pt x="0" y="64008"/>
                    <a:pt x="64008" y="0"/>
                    <a:pt x="143129" y="0"/>
                  </a:cubicBezTo>
                  <a:lnTo>
                    <a:pt x="601980" y="0"/>
                  </a:lnTo>
                  <a:lnTo>
                    <a:pt x="601980" y="6350"/>
                  </a:lnTo>
                  <a:lnTo>
                    <a:pt x="601980" y="0"/>
                  </a:lnTo>
                  <a:cubicBezTo>
                    <a:pt x="680974" y="0"/>
                    <a:pt x="745109" y="64008"/>
                    <a:pt x="745109" y="143129"/>
                  </a:cubicBezTo>
                  <a:lnTo>
                    <a:pt x="745109" y="601980"/>
                  </a:lnTo>
                  <a:lnTo>
                    <a:pt x="738759" y="601980"/>
                  </a:lnTo>
                  <a:lnTo>
                    <a:pt x="745109" y="601980"/>
                  </a:lnTo>
                  <a:cubicBezTo>
                    <a:pt x="745109" y="680974"/>
                    <a:pt x="681101" y="745109"/>
                    <a:pt x="601980" y="745109"/>
                  </a:cubicBezTo>
                  <a:lnTo>
                    <a:pt x="601980" y="738759"/>
                  </a:lnTo>
                  <a:lnTo>
                    <a:pt x="601980" y="745109"/>
                  </a:lnTo>
                  <a:lnTo>
                    <a:pt x="143129" y="745109"/>
                  </a:lnTo>
                  <a:lnTo>
                    <a:pt x="143129" y="738759"/>
                  </a:lnTo>
                  <a:lnTo>
                    <a:pt x="143129" y="745109"/>
                  </a:lnTo>
                  <a:cubicBezTo>
                    <a:pt x="64008" y="745109"/>
                    <a:pt x="0" y="681101"/>
                    <a:pt x="0" y="601980"/>
                  </a:cubicBezTo>
                  <a:lnTo>
                    <a:pt x="0" y="143129"/>
                  </a:lnTo>
                  <a:lnTo>
                    <a:pt x="6350" y="143129"/>
                  </a:lnTo>
                  <a:lnTo>
                    <a:pt x="0" y="143129"/>
                  </a:lnTo>
                  <a:moveTo>
                    <a:pt x="12700" y="143129"/>
                  </a:moveTo>
                  <a:lnTo>
                    <a:pt x="12700" y="601980"/>
                  </a:lnTo>
                  <a:lnTo>
                    <a:pt x="6350" y="601980"/>
                  </a:lnTo>
                  <a:lnTo>
                    <a:pt x="12700" y="601980"/>
                  </a:lnTo>
                  <a:cubicBezTo>
                    <a:pt x="12700" y="673989"/>
                    <a:pt x="71120" y="732409"/>
                    <a:pt x="143129" y="732409"/>
                  </a:cubicBezTo>
                  <a:lnTo>
                    <a:pt x="601980" y="732409"/>
                  </a:lnTo>
                  <a:cubicBezTo>
                    <a:pt x="673989" y="732409"/>
                    <a:pt x="732409" y="673989"/>
                    <a:pt x="732409" y="601980"/>
                  </a:cubicBezTo>
                  <a:lnTo>
                    <a:pt x="732409" y="143129"/>
                  </a:lnTo>
                  <a:lnTo>
                    <a:pt x="738759" y="143129"/>
                  </a:lnTo>
                  <a:lnTo>
                    <a:pt x="732409" y="143129"/>
                  </a:lnTo>
                  <a:cubicBezTo>
                    <a:pt x="732409" y="71120"/>
                    <a:pt x="674116" y="12700"/>
                    <a:pt x="601980" y="12700"/>
                  </a:cubicBezTo>
                  <a:lnTo>
                    <a:pt x="143129" y="12700"/>
                  </a:lnTo>
                  <a:lnTo>
                    <a:pt x="143129" y="6350"/>
                  </a:lnTo>
                  <a:lnTo>
                    <a:pt x="143129" y="12700"/>
                  </a:lnTo>
                  <a:cubicBezTo>
                    <a:pt x="71120" y="12700"/>
                    <a:pt x="12700" y="71120"/>
                    <a:pt x="12700" y="143129"/>
                  </a:cubicBezTo>
                  <a:close/>
                </a:path>
              </a:pathLst>
            </a:custGeom>
            <a:solidFill>
              <a:srgbClr val="E5BEB2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1006376" y="8938618"/>
            <a:ext cx="245715" cy="3091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4"/>
              </a:lnSpc>
            </a:pPr>
            <a:r>
              <a:rPr lang="en-US" sz="2874" b="1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6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647974" y="8780412"/>
            <a:ext cx="4567386" cy="467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874" b="1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Disk partition strategies.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preencoded.png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777479" y="582216"/>
            <a:ext cx="9101309" cy="617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33"/>
              </a:lnSpc>
            </a:pPr>
            <a:r>
              <a:rPr lang="en-US" sz="3912" b="1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Intro: Prometheus &amp; Grafana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77479" y="1752451"/>
            <a:ext cx="12068770" cy="3997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22"/>
              </a:lnSpc>
            </a:pPr>
            <a:r>
              <a:rPr lang="en-US" sz="2100" b="1" u="sng">
                <a:solidFill>
                  <a:srgbClr val="403C4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SAR (System Activity Report)</a:t>
            </a:r>
            <a:r>
              <a:rPr lang="en-US" sz="2100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: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77479" y="2317254"/>
            <a:ext cx="12068770" cy="753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86543" lvl="1" indent="-143272" algn="l">
              <a:lnSpc>
                <a:spcPts val="3096"/>
              </a:lnSpc>
              <a:buFont typeface="Arial"/>
              <a:buChar char="•"/>
            </a:pPr>
            <a:r>
              <a:rPr lang="en-US" sz="1899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sar is a command-line tool that collects data from real-time or from historical logs like CPU, memory, disk I/O so that, it can help in monitoring the system and identify performance bottlenecks.  [Ex: </a:t>
            </a:r>
            <a:r>
              <a:rPr lang="en-US" sz="1899">
                <a:solidFill>
                  <a:srgbClr val="1F7135"/>
                </a:solidFill>
                <a:latin typeface="Open Sans"/>
                <a:ea typeface="Open Sans"/>
                <a:cs typeface="Open Sans"/>
                <a:sym typeface="Open Sans"/>
              </a:rPr>
              <a:t>sar -u 1 5</a:t>
            </a:r>
            <a:r>
              <a:rPr lang="en-US" sz="1899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]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77479" y="3773686"/>
            <a:ext cx="12068770" cy="3997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22"/>
              </a:lnSpc>
            </a:pPr>
            <a:r>
              <a:rPr lang="en-US" sz="2100" b="1" u="sng">
                <a:solidFill>
                  <a:srgbClr val="403C4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Prometheus</a:t>
            </a:r>
            <a:r>
              <a:rPr lang="en-US" sz="2100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: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77479" y="4338489"/>
            <a:ext cx="12068770" cy="753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86543" lvl="1" indent="-143272" algn="l">
              <a:lnSpc>
                <a:spcPts val="3096"/>
              </a:lnSpc>
              <a:buFont typeface="Arial"/>
              <a:buChar char="•"/>
            </a:pPr>
            <a:r>
              <a:rPr lang="en-US" sz="1899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Prometheus is a monitoring tool that </a:t>
            </a:r>
            <a:r>
              <a:rPr lang="en-US" sz="1899" b="1">
                <a:solidFill>
                  <a:srgbClr val="403C4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collects time-series data and allows you to monitor your system over weeks, months, or even years</a:t>
            </a:r>
            <a:r>
              <a:rPr lang="en-US" sz="1899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. It’s typically paired with Grafana for data visualization.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77479" y="5126980"/>
            <a:ext cx="12068770" cy="753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86543" lvl="1" indent="-143272" algn="l">
              <a:lnSpc>
                <a:spcPts val="3096"/>
              </a:lnSpc>
              <a:buFont typeface="Arial"/>
              <a:buChar char="•"/>
            </a:pPr>
            <a:r>
              <a:rPr lang="en-US" sz="1899" u="sng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Benefit</a:t>
            </a:r>
            <a:r>
              <a:rPr lang="en-US" sz="1899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: Prometheus can also trigger alerts when predefined conditions (like resource exhaustion) are met.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77479" y="6228010"/>
            <a:ext cx="12068770" cy="3997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22"/>
              </a:lnSpc>
            </a:pPr>
            <a:r>
              <a:rPr lang="en-US" sz="2100" b="1" u="sng">
                <a:solidFill>
                  <a:srgbClr val="403C4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Grafana</a:t>
            </a:r>
            <a:r>
              <a:rPr lang="en-US" sz="2100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: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77479" y="6792814"/>
            <a:ext cx="12068770" cy="753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86543" lvl="1" indent="-143272" algn="l">
              <a:lnSpc>
                <a:spcPts val="3096"/>
              </a:lnSpc>
              <a:buFont typeface="Arial"/>
              <a:buChar char="•"/>
            </a:pPr>
            <a:r>
              <a:rPr lang="en-US" sz="1899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Grafana is an open-source platform for monitoring and observability, primarily used for </a:t>
            </a:r>
            <a:r>
              <a:rPr lang="en-US" sz="1899" b="1">
                <a:solidFill>
                  <a:srgbClr val="403C4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visualizing</a:t>
            </a:r>
            <a:r>
              <a:rPr lang="en-US" sz="1899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 time-series data from different sources like Prometheus.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77479" y="7581305"/>
            <a:ext cx="12068770" cy="753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86543" lvl="1" indent="-143272" algn="l">
              <a:lnSpc>
                <a:spcPts val="3096"/>
              </a:lnSpc>
              <a:buFont typeface="Arial"/>
              <a:buChar char="•"/>
            </a:pPr>
            <a:r>
              <a:rPr lang="en-US" sz="1899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It provides </a:t>
            </a:r>
            <a:r>
              <a:rPr lang="en-US" sz="1899" b="1">
                <a:solidFill>
                  <a:srgbClr val="403C4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dashboards</a:t>
            </a:r>
            <a:r>
              <a:rPr lang="en-US" sz="1899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 that allow you to monitor system metrics, application performance, and infrastructure health through customizable graphs, charts, and alerts.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77479" y="9056786"/>
            <a:ext cx="12068770" cy="3399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3"/>
              </a:lnSpc>
            </a:pPr>
            <a:r>
              <a:rPr lang="en-US" sz="1800" u="sng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Common commands</a:t>
            </a:r>
            <a:r>
              <a:rPr lang="en-US" sz="1800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 : </a:t>
            </a:r>
            <a:r>
              <a:rPr lang="en-US" sz="1800" b="1">
                <a:solidFill>
                  <a:srgbClr val="1F713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sar</a:t>
            </a:r>
            <a:r>
              <a:rPr lang="en-US" sz="1800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1800" b="1">
                <a:solidFill>
                  <a:srgbClr val="1F713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glances</a:t>
            </a:r>
            <a:r>
              <a:rPr lang="en-US" sz="1800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</p:txBody>
      </p:sp>
      <p:sp>
        <p:nvSpPr>
          <p:cNvPr id="15" name="Freeform 15" descr="preencoded.png"/>
          <p:cNvSpPr/>
          <p:nvPr/>
        </p:nvSpPr>
        <p:spPr>
          <a:xfrm>
            <a:off x="14029581" y="3334592"/>
            <a:ext cx="3229719" cy="2423964"/>
          </a:xfrm>
          <a:custGeom>
            <a:avLst/>
            <a:gdLst/>
            <a:ahLst/>
            <a:cxnLst/>
            <a:rect l="l" t="t" r="r" b="b"/>
            <a:pathLst>
              <a:path w="3229719" h="2423964">
                <a:moveTo>
                  <a:pt x="0" y="0"/>
                </a:moveTo>
                <a:lnTo>
                  <a:pt x="3229719" y="0"/>
                </a:lnTo>
                <a:lnTo>
                  <a:pt x="3229719" y="2423964"/>
                </a:lnTo>
                <a:lnTo>
                  <a:pt x="0" y="24239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83" r="-8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Freeform 16" descr="preencoded.png"/>
          <p:cNvSpPr/>
          <p:nvPr/>
        </p:nvSpPr>
        <p:spPr>
          <a:xfrm>
            <a:off x="14282587" y="6023372"/>
            <a:ext cx="2552184" cy="2344936"/>
          </a:xfrm>
          <a:custGeom>
            <a:avLst/>
            <a:gdLst/>
            <a:ahLst/>
            <a:cxnLst/>
            <a:rect l="l" t="t" r="r" b="b"/>
            <a:pathLst>
              <a:path w="2552184" h="2344936">
                <a:moveTo>
                  <a:pt x="0" y="0"/>
                </a:moveTo>
                <a:lnTo>
                  <a:pt x="2552185" y="0"/>
                </a:lnTo>
                <a:lnTo>
                  <a:pt x="2552185" y="2344937"/>
                </a:lnTo>
                <a:lnTo>
                  <a:pt x="0" y="234493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4419" b="-4419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preencoded.png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806500" y="977056"/>
            <a:ext cx="4360739" cy="5196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28"/>
              </a:lnSpc>
            </a:pPr>
            <a:r>
              <a:rPr lang="en-US" sz="3287" b="1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SAR vs GLANCES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801738" y="1884015"/>
            <a:ext cx="16684526" cy="7411641"/>
            <a:chOff x="0" y="0"/>
            <a:chExt cx="22246035" cy="988218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2245955" cy="9882251"/>
            </a:xfrm>
            <a:custGeom>
              <a:avLst/>
              <a:gdLst/>
              <a:ahLst/>
              <a:cxnLst/>
              <a:rect l="l" t="t" r="r" b="b"/>
              <a:pathLst>
                <a:path w="22245955" h="9882251">
                  <a:moveTo>
                    <a:pt x="0" y="135382"/>
                  </a:moveTo>
                  <a:cubicBezTo>
                    <a:pt x="0" y="60579"/>
                    <a:pt x="60579" y="0"/>
                    <a:pt x="135382" y="0"/>
                  </a:cubicBezTo>
                  <a:lnTo>
                    <a:pt x="22110573" y="0"/>
                  </a:lnTo>
                  <a:lnTo>
                    <a:pt x="22110573" y="6350"/>
                  </a:lnTo>
                  <a:lnTo>
                    <a:pt x="22110573" y="0"/>
                  </a:lnTo>
                  <a:cubicBezTo>
                    <a:pt x="22185376" y="0"/>
                    <a:pt x="22245955" y="60579"/>
                    <a:pt x="22245955" y="135382"/>
                  </a:cubicBezTo>
                  <a:lnTo>
                    <a:pt x="22239605" y="135382"/>
                  </a:lnTo>
                  <a:lnTo>
                    <a:pt x="22245955" y="135382"/>
                  </a:lnTo>
                  <a:lnTo>
                    <a:pt x="22245955" y="9746869"/>
                  </a:lnTo>
                  <a:lnTo>
                    <a:pt x="22239605" y="9746869"/>
                  </a:lnTo>
                  <a:lnTo>
                    <a:pt x="22245955" y="9746869"/>
                  </a:lnTo>
                  <a:cubicBezTo>
                    <a:pt x="22245955" y="9821672"/>
                    <a:pt x="22185376" y="9882250"/>
                    <a:pt x="22110573" y="9882250"/>
                  </a:cubicBezTo>
                  <a:lnTo>
                    <a:pt x="22110573" y="9875900"/>
                  </a:lnTo>
                  <a:lnTo>
                    <a:pt x="22110573" y="9882250"/>
                  </a:lnTo>
                  <a:lnTo>
                    <a:pt x="135382" y="9882250"/>
                  </a:lnTo>
                  <a:lnTo>
                    <a:pt x="135382" y="9875900"/>
                  </a:lnTo>
                  <a:lnTo>
                    <a:pt x="135382" y="9882250"/>
                  </a:lnTo>
                  <a:cubicBezTo>
                    <a:pt x="60579" y="9882251"/>
                    <a:pt x="0" y="9821545"/>
                    <a:pt x="0" y="9746869"/>
                  </a:cubicBezTo>
                  <a:lnTo>
                    <a:pt x="0" y="135382"/>
                  </a:lnTo>
                  <a:lnTo>
                    <a:pt x="6350" y="135382"/>
                  </a:lnTo>
                  <a:lnTo>
                    <a:pt x="0" y="135382"/>
                  </a:lnTo>
                  <a:moveTo>
                    <a:pt x="12700" y="135382"/>
                  </a:moveTo>
                  <a:lnTo>
                    <a:pt x="12700" y="9746869"/>
                  </a:lnTo>
                  <a:lnTo>
                    <a:pt x="6350" y="9746869"/>
                  </a:lnTo>
                  <a:lnTo>
                    <a:pt x="12700" y="9746869"/>
                  </a:lnTo>
                  <a:cubicBezTo>
                    <a:pt x="12700" y="9814560"/>
                    <a:pt x="67691" y="9869550"/>
                    <a:pt x="135382" y="9869550"/>
                  </a:cubicBezTo>
                  <a:lnTo>
                    <a:pt x="22110573" y="9869550"/>
                  </a:lnTo>
                  <a:cubicBezTo>
                    <a:pt x="22178390" y="9869550"/>
                    <a:pt x="22233255" y="9814687"/>
                    <a:pt x="22233255" y="9746869"/>
                  </a:cubicBezTo>
                  <a:lnTo>
                    <a:pt x="22233255" y="135382"/>
                  </a:lnTo>
                  <a:cubicBezTo>
                    <a:pt x="22233255" y="67691"/>
                    <a:pt x="22178263" y="12700"/>
                    <a:pt x="22110573" y="12700"/>
                  </a:cubicBezTo>
                  <a:lnTo>
                    <a:pt x="135382" y="12700"/>
                  </a:lnTo>
                  <a:lnTo>
                    <a:pt x="135382" y="6350"/>
                  </a:lnTo>
                  <a:lnTo>
                    <a:pt x="135382" y="12700"/>
                  </a:lnTo>
                  <a:cubicBezTo>
                    <a:pt x="67691" y="12700"/>
                    <a:pt x="12700" y="67564"/>
                    <a:pt x="12700" y="135382"/>
                  </a:cubicBez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16025" y="1898302"/>
            <a:ext cx="16654165" cy="756047"/>
            <a:chOff x="0" y="0"/>
            <a:chExt cx="22205553" cy="100806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2205569" cy="1008126"/>
            </a:xfrm>
            <a:custGeom>
              <a:avLst/>
              <a:gdLst/>
              <a:ahLst/>
              <a:cxnLst/>
              <a:rect l="l" t="t" r="r" b="b"/>
              <a:pathLst>
                <a:path w="22205569" h="1008126">
                  <a:moveTo>
                    <a:pt x="0" y="0"/>
                  </a:moveTo>
                  <a:lnTo>
                    <a:pt x="22205569" y="0"/>
                  </a:lnTo>
                  <a:lnTo>
                    <a:pt x="22205569" y="1008126"/>
                  </a:lnTo>
                  <a:lnTo>
                    <a:pt x="0" y="1008126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048494" y="1941165"/>
            <a:ext cx="5085160" cy="4859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08"/>
              </a:lnSpc>
            </a:pPr>
            <a:r>
              <a:rPr lang="en-US" sz="2549" b="1">
                <a:solidFill>
                  <a:srgbClr val="403C4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Feature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603950" y="1941165"/>
            <a:ext cx="5080398" cy="4859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08"/>
              </a:lnSpc>
            </a:pPr>
            <a:r>
              <a:rPr lang="en-US" sz="2549" b="1">
                <a:solidFill>
                  <a:srgbClr val="403C4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Sar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154644" y="1941165"/>
            <a:ext cx="5085160" cy="4859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08"/>
              </a:lnSpc>
            </a:pPr>
            <a:r>
              <a:rPr lang="en-US" sz="2549" b="1">
                <a:solidFill>
                  <a:srgbClr val="403C4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Glances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816025" y="2654350"/>
            <a:ext cx="16654165" cy="663774"/>
            <a:chOff x="0" y="0"/>
            <a:chExt cx="22205553" cy="88503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2205569" cy="885063"/>
            </a:xfrm>
            <a:custGeom>
              <a:avLst/>
              <a:gdLst/>
              <a:ahLst/>
              <a:cxnLst/>
              <a:rect l="l" t="t" r="r" b="b"/>
              <a:pathLst>
                <a:path w="22205569" h="885063">
                  <a:moveTo>
                    <a:pt x="0" y="0"/>
                  </a:moveTo>
                  <a:lnTo>
                    <a:pt x="22205569" y="0"/>
                  </a:lnTo>
                  <a:lnTo>
                    <a:pt x="22205569" y="885063"/>
                  </a:lnTo>
                  <a:lnTo>
                    <a:pt x="0" y="88506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048494" y="2725787"/>
            <a:ext cx="5085160" cy="364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13"/>
              </a:lnSpc>
            </a:pPr>
            <a:r>
              <a:rPr lang="en-US" sz="1899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Purpose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603950" y="2744837"/>
            <a:ext cx="5080398" cy="4256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1812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Long-term system activity reporting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154644" y="2744837"/>
            <a:ext cx="5085160" cy="4256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1812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Real-time system monitoring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816025" y="3318122"/>
            <a:ext cx="16654165" cy="663774"/>
            <a:chOff x="0" y="0"/>
            <a:chExt cx="22205553" cy="885032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2205569" cy="885063"/>
            </a:xfrm>
            <a:custGeom>
              <a:avLst/>
              <a:gdLst/>
              <a:ahLst/>
              <a:cxnLst/>
              <a:rect l="l" t="t" r="r" b="b"/>
              <a:pathLst>
                <a:path w="22205569" h="885063">
                  <a:moveTo>
                    <a:pt x="0" y="0"/>
                  </a:moveTo>
                  <a:lnTo>
                    <a:pt x="22205569" y="0"/>
                  </a:lnTo>
                  <a:lnTo>
                    <a:pt x="22205569" y="885063"/>
                  </a:lnTo>
                  <a:lnTo>
                    <a:pt x="0" y="885063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048494" y="3389560"/>
            <a:ext cx="5085160" cy="364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13"/>
              </a:lnSpc>
            </a:pPr>
            <a:r>
              <a:rPr lang="en-US" sz="1899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Data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603950" y="3408610"/>
            <a:ext cx="5080398" cy="4256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1812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Historical (stored data from past hours/days)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154644" y="3408610"/>
            <a:ext cx="5085160" cy="4256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1812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Live, real-time stats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816025" y="3981896"/>
            <a:ext cx="16654165" cy="1032271"/>
            <a:chOff x="0" y="0"/>
            <a:chExt cx="22205553" cy="1376362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22205569" cy="1376299"/>
            </a:xfrm>
            <a:custGeom>
              <a:avLst/>
              <a:gdLst/>
              <a:ahLst/>
              <a:cxnLst/>
              <a:rect l="l" t="t" r="r" b="b"/>
              <a:pathLst>
                <a:path w="22205569" h="1376299">
                  <a:moveTo>
                    <a:pt x="0" y="0"/>
                  </a:moveTo>
                  <a:lnTo>
                    <a:pt x="22205569" y="0"/>
                  </a:lnTo>
                  <a:lnTo>
                    <a:pt x="22205569" y="1376299"/>
                  </a:lnTo>
                  <a:lnTo>
                    <a:pt x="0" y="137629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1048494" y="4053334"/>
            <a:ext cx="5085160" cy="364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13"/>
              </a:lnSpc>
            </a:pPr>
            <a:r>
              <a:rPr lang="en-US" sz="1899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Metrics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603950" y="4072384"/>
            <a:ext cx="5080398" cy="4256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1812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CPU, memory, disk, network, etc. </a:t>
            </a:r>
            <a:r>
              <a:rPr lang="en-US" sz="1812" dirty="0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(historical)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2154644" y="4072384"/>
            <a:ext cx="5085160" cy="7941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1812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CPU, memory, disk, network, load, processes, etc. (live)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816025" y="5014169"/>
            <a:ext cx="16654165" cy="1032271"/>
            <a:chOff x="0" y="0"/>
            <a:chExt cx="22205553" cy="1376362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22205569" cy="1376299"/>
            </a:xfrm>
            <a:custGeom>
              <a:avLst/>
              <a:gdLst/>
              <a:ahLst/>
              <a:cxnLst/>
              <a:rect l="l" t="t" r="r" b="b"/>
              <a:pathLst>
                <a:path w="22205569" h="1376299">
                  <a:moveTo>
                    <a:pt x="0" y="0"/>
                  </a:moveTo>
                  <a:lnTo>
                    <a:pt x="22205569" y="0"/>
                  </a:lnTo>
                  <a:lnTo>
                    <a:pt x="22205569" y="1376299"/>
                  </a:lnTo>
                  <a:lnTo>
                    <a:pt x="0" y="1376299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1048494" y="5085606"/>
            <a:ext cx="5085160" cy="364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13"/>
              </a:lnSpc>
            </a:pPr>
            <a:r>
              <a:rPr lang="en-US" sz="1899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Configuration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603950" y="5104656"/>
            <a:ext cx="5080398" cy="4256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1812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Requires setup for logging historical data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2154644" y="5104656"/>
            <a:ext cx="5085160" cy="7941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1812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No setup needed, real-time monitoring out-of-the-box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816025" y="6046440"/>
            <a:ext cx="16654165" cy="1032271"/>
            <a:chOff x="0" y="0"/>
            <a:chExt cx="22205553" cy="1376362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22205569" cy="1376299"/>
            </a:xfrm>
            <a:custGeom>
              <a:avLst/>
              <a:gdLst/>
              <a:ahLst/>
              <a:cxnLst/>
              <a:rect l="l" t="t" r="r" b="b"/>
              <a:pathLst>
                <a:path w="22205569" h="1376299">
                  <a:moveTo>
                    <a:pt x="0" y="0"/>
                  </a:moveTo>
                  <a:lnTo>
                    <a:pt x="22205569" y="0"/>
                  </a:lnTo>
                  <a:lnTo>
                    <a:pt x="22205569" y="1376299"/>
                  </a:lnTo>
                  <a:lnTo>
                    <a:pt x="0" y="137629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1048494" y="6117877"/>
            <a:ext cx="5085160" cy="364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13"/>
              </a:lnSpc>
            </a:pPr>
            <a:r>
              <a:rPr lang="en-US" sz="1899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Usage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603950" y="6136927"/>
            <a:ext cx="5080398" cy="7941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1812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Good for analyzing trends and performance over time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2154644" y="6136927"/>
            <a:ext cx="5085160" cy="7941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1812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Best for immediate monitoring and troubleshooting</a:t>
            </a:r>
          </a:p>
        </p:txBody>
      </p:sp>
      <p:grpSp>
        <p:nvGrpSpPr>
          <p:cNvPr id="38" name="Group 38"/>
          <p:cNvGrpSpPr/>
          <p:nvPr/>
        </p:nvGrpSpPr>
        <p:grpSpPr>
          <a:xfrm>
            <a:off x="816025" y="7078712"/>
            <a:ext cx="16654165" cy="663774"/>
            <a:chOff x="0" y="0"/>
            <a:chExt cx="22205553" cy="885032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22205569" cy="885063"/>
            </a:xfrm>
            <a:custGeom>
              <a:avLst/>
              <a:gdLst/>
              <a:ahLst/>
              <a:cxnLst/>
              <a:rect l="l" t="t" r="r" b="b"/>
              <a:pathLst>
                <a:path w="22205569" h="885063">
                  <a:moveTo>
                    <a:pt x="0" y="0"/>
                  </a:moveTo>
                  <a:lnTo>
                    <a:pt x="22205569" y="0"/>
                  </a:lnTo>
                  <a:lnTo>
                    <a:pt x="22205569" y="885063"/>
                  </a:lnTo>
                  <a:lnTo>
                    <a:pt x="0" y="885063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1048494" y="7150150"/>
            <a:ext cx="5085160" cy="364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13"/>
              </a:lnSpc>
            </a:pPr>
            <a:r>
              <a:rPr lang="en-US" sz="1899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User interface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6603950" y="7169200"/>
            <a:ext cx="5080398" cy="4256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1812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Text-based (command-line reports)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2154644" y="7169200"/>
            <a:ext cx="5085160" cy="4256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1812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Interactive (text-based, but more user-friendly)</a:t>
            </a:r>
          </a:p>
        </p:txBody>
      </p:sp>
      <p:grpSp>
        <p:nvGrpSpPr>
          <p:cNvPr id="43" name="Group 43"/>
          <p:cNvGrpSpPr/>
          <p:nvPr/>
        </p:nvGrpSpPr>
        <p:grpSpPr>
          <a:xfrm>
            <a:off x="816025" y="7742485"/>
            <a:ext cx="16654165" cy="1199750"/>
            <a:chOff x="0" y="0"/>
            <a:chExt cx="22205553" cy="1599666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22205569" cy="1599642"/>
            </a:xfrm>
            <a:custGeom>
              <a:avLst/>
              <a:gdLst/>
              <a:ahLst/>
              <a:cxnLst/>
              <a:rect l="l" t="t" r="r" b="b"/>
              <a:pathLst>
                <a:path w="22205569" h="1599642">
                  <a:moveTo>
                    <a:pt x="0" y="0"/>
                  </a:moveTo>
                  <a:lnTo>
                    <a:pt x="22205569" y="0"/>
                  </a:lnTo>
                  <a:lnTo>
                    <a:pt x="22205569" y="1599642"/>
                  </a:lnTo>
                  <a:lnTo>
                    <a:pt x="0" y="15996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5" name="TextBox 45"/>
          <p:cNvSpPr txBox="1"/>
          <p:nvPr/>
        </p:nvSpPr>
        <p:spPr>
          <a:xfrm>
            <a:off x="1048494" y="7813922"/>
            <a:ext cx="5085160" cy="364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13"/>
              </a:lnSpc>
            </a:pPr>
            <a:r>
              <a:rPr lang="en-US" sz="1899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Command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6603950" y="7832972"/>
            <a:ext cx="5080398" cy="7941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1812" i="1">
                <a:solidFill>
                  <a:srgbClr val="1F7135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sar &lt;bottleneck_type&gt; &lt;Interval&gt; &lt;No. of reports&gt; 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6603950" y="8352086"/>
            <a:ext cx="5080398" cy="4256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1812">
                <a:solidFill>
                  <a:srgbClr val="1F7135"/>
                </a:solidFill>
                <a:latin typeface="Open Sans"/>
                <a:ea typeface="Open Sans"/>
                <a:cs typeface="Open Sans"/>
                <a:sym typeface="Open Sans"/>
              </a:rPr>
              <a:t>sar -u 1 5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2154644" y="7832972"/>
            <a:ext cx="5085160" cy="7941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1812">
                <a:solidFill>
                  <a:srgbClr val="1F7135"/>
                </a:solidFill>
                <a:latin typeface="Open Sans"/>
                <a:ea typeface="Open Sans"/>
                <a:cs typeface="Open Sans"/>
                <a:sym typeface="Open Sans"/>
              </a:rPr>
              <a:t>glances </a:t>
            </a:r>
            <a:r>
              <a:rPr lang="en-US" sz="181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(</a:t>
            </a:r>
            <a:r>
              <a:rPr lang="en-US" sz="1812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doesn't follow the same interval &amp; number of reports format like sar.</a:t>
            </a:r>
            <a:r>
              <a:rPr lang="en-US" sz="181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preencoded.png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>
              <a:hlinkClick r:id="rId4"/>
            </p:cNvPr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 dirty="0"/>
            </a:p>
            <a:p>
              <a:endParaRPr lang="en-US" dirty="0"/>
            </a:p>
            <a:p>
              <a:endParaRPr lang="en-US" dirty="0"/>
            </a:p>
            <a:p>
              <a:endParaRPr lang="en-US" dirty="0"/>
            </a:p>
            <a:p>
              <a:endParaRPr lang="en-US" dirty="0"/>
            </a:p>
            <a:p>
              <a:endParaRPr lang="en-US" dirty="0"/>
            </a:p>
            <a:p>
              <a:endParaRPr lang="en-US" dirty="0"/>
            </a:p>
            <a:p>
              <a:endParaRPr lang="en-US" dirty="0"/>
            </a:p>
            <a:p>
              <a:endParaRPr lang="en-US" dirty="0"/>
            </a:p>
            <a:p>
              <a:endParaRPr lang="en-US" dirty="0"/>
            </a:p>
            <a:p>
              <a:endParaRPr lang="en-US" dirty="0"/>
            </a:p>
            <a:p>
              <a:endParaRPr lang="en-US" dirty="0"/>
            </a:p>
            <a:p>
              <a:endParaRPr lang="en-US" dirty="0"/>
            </a:p>
            <a:p>
              <a:endParaRPr lang="en-US" dirty="0"/>
            </a:p>
            <a:p>
              <a:endParaRPr lang="en-US" dirty="0"/>
            </a:p>
            <a:p>
              <a:endParaRPr lang="en-US" dirty="0"/>
            </a:p>
            <a:p>
              <a:endParaRPr lang="en-US" dirty="0"/>
            </a:p>
            <a:p>
              <a:endParaRPr lang="en-US" dirty="0"/>
            </a:p>
            <a:p>
              <a:endParaRPr lang="en-US" dirty="0"/>
            </a:p>
            <a:p>
              <a:endParaRPr lang="en-US" dirty="0"/>
            </a:p>
            <a:p>
              <a:endParaRPr lang="en-US" dirty="0"/>
            </a:p>
            <a:p>
              <a:endParaRPr lang="en-US" dirty="0"/>
            </a:p>
            <a:p>
              <a:endParaRPr lang="en-US" dirty="0"/>
            </a:p>
            <a:p>
              <a:endParaRPr lang="en-US" dirty="0"/>
            </a:p>
            <a:p>
              <a:endParaRPr lang="en-US" dirty="0"/>
            </a:p>
            <a:p>
              <a:endParaRPr lang="en-US" dirty="0"/>
            </a:p>
            <a:p>
              <a:endParaRPr lang="en-US" dirty="0"/>
            </a:p>
            <a:p>
              <a:endParaRPr lang="en-US" dirty="0"/>
            </a:p>
            <a:p>
              <a:endParaRPr lang="en-US" dirty="0"/>
            </a:p>
            <a:p>
              <a:endParaRPr lang="en-US" dirty="0"/>
            </a:p>
            <a:p>
              <a:endParaRPr lang="en-US" dirty="0"/>
            </a:p>
            <a:p>
              <a:pPr algn="ctr"/>
              <a:r>
                <a:rPr lang="en-US" sz="2400" dirty="0"/>
                <a:t>         Follow this drive link for setup : </a:t>
              </a:r>
              <a:r>
                <a:rPr lang="en-US" sz="2400" dirty="0">
                  <a:hlinkClick r:id="rId4"/>
                </a:rPr>
                <a:t>Prometheus &amp; Grafana setup doc</a:t>
              </a:r>
              <a:endParaRPr lang="en-US" sz="2400" dirty="0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690058" y="1914600"/>
            <a:ext cx="10907883" cy="7025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87"/>
              </a:lnSpc>
            </a:pPr>
            <a:r>
              <a:rPr lang="en-US" sz="4537" b="1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Setting up: Prometheus &amp; Grafana.</a:t>
            </a:r>
          </a:p>
        </p:txBody>
      </p:sp>
      <p:sp>
        <p:nvSpPr>
          <p:cNvPr id="6" name="Freeform 6" descr="preencoded.png"/>
          <p:cNvSpPr/>
          <p:nvPr/>
        </p:nvSpPr>
        <p:spPr>
          <a:xfrm>
            <a:off x="3422302" y="3836281"/>
            <a:ext cx="3409688" cy="2559160"/>
          </a:xfrm>
          <a:custGeom>
            <a:avLst/>
            <a:gdLst/>
            <a:ahLst/>
            <a:cxnLst/>
            <a:rect l="l" t="t" r="r" b="b"/>
            <a:pathLst>
              <a:path w="3409688" h="2559160">
                <a:moveTo>
                  <a:pt x="0" y="0"/>
                </a:moveTo>
                <a:lnTo>
                  <a:pt x="3409688" y="0"/>
                </a:lnTo>
                <a:lnTo>
                  <a:pt x="3409688" y="2559160"/>
                </a:lnTo>
                <a:lnTo>
                  <a:pt x="0" y="255916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16" b="-1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992238" y="6600081"/>
            <a:ext cx="7805886" cy="506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13"/>
              </a:lnSpc>
            </a:pPr>
            <a:r>
              <a:rPr lang="en-US" sz="2587" dirty="0">
                <a:solidFill>
                  <a:srgbClr val="CC3000"/>
                </a:solidFill>
                <a:latin typeface="Open Sans"/>
                <a:ea typeface="Open Sans"/>
                <a:cs typeface="Open Sans"/>
                <a:sym typeface="Open Sans"/>
              </a:rPr>
              <a:t>http://localhost:9090</a:t>
            </a:r>
          </a:p>
        </p:txBody>
      </p:sp>
      <p:sp>
        <p:nvSpPr>
          <p:cNvPr id="8" name="Freeform 8" descr="preencoded.png"/>
          <p:cNvSpPr/>
          <p:nvPr/>
        </p:nvSpPr>
        <p:spPr>
          <a:xfrm>
            <a:off x="12109816" y="3810385"/>
            <a:ext cx="2585056" cy="2585056"/>
          </a:xfrm>
          <a:custGeom>
            <a:avLst/>
            <a:gdLst/>
            <a:ahLst/>
            <a:cxnLst/>
            <a:rect l="l" t="t" r="r" b="b"/>
            <a:pathLst>
              <a:path w="2585056" h="2585056">
                <a:moveTo>
                  <a:pt x="0" y="0"/>
                </a:moveTo>
                <a:lnTo>
                  <a:pt x="2585057" y="0"/>
                </a:lnTo>
                <a:lnTo>
                  <a:pt x="2585057" y="2585056"/>
                </a:lnTo>
                <a:lnTo>
                  <a:pt x="0" y="258505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9499401" y="6625977"/>
            <a:ext cx="7805886" cy="506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13"/>
              </a:lnSpc>
            </a:pPr>
            <a:r>
              <a:rPr lang="en-US" sz="2587" u="sng">
                <a:solidFill>
                  <a:srgbClr val="CC3000"/>
                </a:solidFill>
                <a:latin typeface="Open Sans"/>
                <a:ea typeface="Open Sans"/>
                <a:cs typeface="Open Sans"/>
                <a:sym typeface="Open Sans"/>
                <a:hlinkClick r:id="rId7" tooltip="http://localhost:3000"/>
              </a:rPr>
              <a:t>http://localhost:3000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preencoded.png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Freeform 5" descr="preencoded.png">
            <a:hlinkClick r:id="rId4" tooltip="https://gamma.app/?utm_source=made-with-gamma"/>
          </p:cNvPr>
          <p:cNvSpPr/>
          <p:nvPr/>
        </p:nvSpPr>
        <p:spPr>
          <a:xfrm>
            <a:off x="16049019" y="9686925"/>
            <a:ext cx="2153256" cy="514350"/>
          </a:xfrm>
          <a:custGeom>
            <a:avLst/>
            <a:gdLst/>
            <a:ahLst/>
            <a:cxnLst/>
            <a:rect l="l" t="t" r="r" b="b"/>
            <a:pathLst>
              <a:path w="2153256" h="514350">
                <a:moveTo>
                  <a:pt x="0" y="0"/>
                </a:moveTo>
                <a:lnTo>
                  <a:pt x="2153256" y="0"/>
                </a:lnTo>
                <a:lnTo>
                  <a:pt x="2153256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 descr="preencoded.png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72157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992238" y="1903810"/>
            <a:ext cx="14117091" cy="914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1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Monitoring with Prometheus &amp; Grafana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123159" y="3787527"/>
            <a:ext cx="3544044" cy="452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37"/>
              </a:lnSpc>
            </a:pPr>
            <a:r>
              <a:rPr lang="en-US" sz="2750" b="1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Prometheus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92238" y="4659214"/>
            <a:ext cx="7805886" cy="992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Collects the specific time-series data for long-term monitoring.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92238" y="5665589"/>
            <a:ext cx="7805886" cy="539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Stores time-series data in its own database.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92238" y="6218336"/>
            <a:ext cx="7805886" cy="539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Built-in alerting with Prometheus Alert manager.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92238" y="6771085"/>
            <a:ext cx="7805886" cy="992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Displays metrics, logs, and application data in a readable format.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630322" y="3787527"/>
            <a:ext cx="3544044" cy="452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37"/>
              </a:lnSpc>
            </a:pPr>
            <a:r>
              <a:rPr lang="en-US" sz="2750" b="1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Grafana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499401" y="4659214"/>
            <a:ext cx="7805886" cy="992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Visualizes data from Prometheus and other sources, creating dashboards for insights.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499401" y="5665589"/>
            <a:ext cx="7805886" cy="539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Doesn't store data, only visualizes it from sources.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499401" y="6218336"/>
            <a:ext cx="7805886" cy="539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Can set up visual alerts on the dashboard.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499401" y="6771085"/>
            <a:ext cx="7805886" cy="992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Monitors servers, applications, or systems by scraping metrics from targets.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preencoded.png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Freeform 5" descr="preencoded.png">
            <a:hlinkClick r:id="rId4" tooltip="https://gamma.app/?utm_source=made-with-gamma"/>
          </p:cNvPr>
          <p:cNvSpPr/>
          <p:nvPr/>
        </p:nvSpPr>
        <p:spPr>
          <a:xfrm>
            <a:off x="16049019" y="9686925"/>
            <a:ext cx="2153256" cy="514350"/>
          </a:xfrm>
          <a:custGeom>
            <a:avLst/>
            <a:gdLst/>
            <a:ahLst/>
            <a:cxnLst/>
            <a:rect l="l" t="t" r="r" b="b"/>
            <a:pathLst>
              <a:path w="2153256" h="514350">
                <a:moveTo>
                  <a:pt x="0" y="0"/>
                </a:moveTo>
                <a:lnTo>
                  <a:pt x="2153256" y="0"/>
                </a:lnTo>
                <a:lnTo>
                  <a:pt x="2153256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 descr="preencoded.png"/>
          <p:cNvSpPr/>
          <p:nvPr/>
        </p:nvSpPr>
        <p:spPr>
          <a:xfrm>
            <a:off x="11430000" y="0"/>
            <a:ext cx="6858000" cy="10287000"/>
          </a:xfrm>
          <a:custGeom>
            <a:avLst/>
            <a:gdLst/>
            <a:ahLst/>
            <a:cxnLst/>
            <a:rect l="l" t="t" r="r" b="b"/>
            <a:pathLst>
              <a:path w="6858000" h="10287000">
                <a:moveTo>
                  <a:pt x="0" y="0"/>
                </a:moveTo>
                <a:lnTo>
                  <a:pt x="6858000" y="0"/>
                </a:lnTo>
                <a:lnTo>
                  <a:pt x="685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992238" y="1425179"/>
            <a:ext cx="7953375" cy="914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1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Optimizing CPU Usage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92238" y="2996953"/>
            <a:ext cx="9445526" cy="1446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Optimizing CPU usage is about ensuring that the system’s CPU is being used efficiently. When the CPU is overloaded, performance degrades.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92238" y="4357837"/>
            <a:ext cx="9445526" cy="992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We can utilize two advanced mechanisms for it : CPU Affinity &amp; Task Offloading.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987475" y="6083052"/>
            <a:ext cx="647402" cy="647403"/>
            <a:chOff x="0" y="0"/>
            <a:chExt cx="863203" cy="863203"/>
          </a:xfrm>
        </p:grpSpPr>
        <p:sp>
          <p:nvSpPr>
            <p:cNvPr id="11" name="Freeform 11"/>
            <p:cNvSpPr/>
            <p:nvPr/>
          </p:nvSpPr>
          <p:spPr>
            <a:xfrm>
              <a:off x="6350" y="6350"/>
              <a:ext cx="850519" cy="850519"/>
            </a:xfrm>
            <a:custGeom>
              <a:avLst/>
              <a:gdLst/>
              <a:ahLst/>
              <a:cxnLst/>
              <a:rect l="l" t="t" r="r" b="b"/>
              <a:pathLst>
                <a:path w="850519" h="850519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691769" y="0"/>
                  </a:lnTo>
                  <a:cubicBezTo>
                    <a:pt x="779399" y="0"/>
                    <a:pt x="850519" y="71120"/>
                    <a:pt x="850519" y="158750"/>
                  </a:cubicBezTo>
                  <a:lnTo>
                    <a:pt x="850519" y="691769"/>
                  </a:lnTo>
                  <a:cubicBezTo>
                    <a:pt x="850519" y="779399"/>
                    <a:pt x="779399" y="850519"/>
                    <a:pt x="691769" y="850519"/>
                  </a:cubicBezTo>
                  <a:lnTo>
                    <a:pt x="158750" y="850519"/>
                  </a:lnTo>
                  <a:cubicBezTo>
                    <a:pt x="71120" y="850519"/>
                    <a:pt x="0" y="779399"/>
                    <a:pt x="0" y="691769"/>
                  </a:cubicBezTo>
                  <a:close/>
                </a:path>
              </a:pathLst>
            </a:custGeom>
            <a:solidFill>
              <a:srgbClr val="FFD8C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2"/>
            <p:cNvSpPr/>
            <p:nvPr/>
          </p:nvSpPr>
          <p:spPr>
            <a:xfrm>
              <a:off x="0" y="0"/>
              <a:ext cx="863219" cy="863219"/>
            </a:xfrm>
            <a:custGeom>
              <a:avLst/>
              <a:gdLst/>
              <a:ahLst/>
              <a:cxnLst/>
              <a:rect l="l" t="t" r="r" b="b"/>
              <a:pathLst>
                <a:path w="863219" h="863219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cubicBezTo>
                    <a:pt x="789305" y="0"/>
                    <a:pt x="863219" y="73914"/>
                    <a:pt x="863219" y="165100"/>
                  </a:cubicBezTo>
                  <a:lnTo>
                    <a:pt x="856869" y="165100"/>
                  </a:lnTo>
                  <a:lnTo>
                    <a:pt x="863219" y="165100"/>
                  </a:lnTo>
                  <a:lnTo>
                    <a:pt x="863219" y="698119"/>
                  </a:lnTo>
                  <a:lnTo>
                    <a:pt x="856869" y="698119"/>
                  </a:lnTo>
                  <a:lnTo>
                    <a:pt x="863219" y="698119"/>
                  </a:lnTo>
                  <a:cubicBezTo>
                    <a:pt x="863219" y="789305"/>
                    <a:pt x="789305" y="863219"/>
                    <a:pt x="698119" y="863219"/>
                  </a:cubicBezTo>
                  <a:lnTo>
                    <a:pt x="698119" y="856869"/>
                  </a:lnTo>
                  <a:lnTo>
                    <a:pt x="698119" y="863219"/>
                  </a:lnTo>
                  <a:lnTo>
                    <a:pt x="165100" y="863219"/>
                  </a:lnTo>
                  <a:lnTo>
                    <a:pt x="165100" y="856869"/>
                  </a:lnTo>
                  <a:lnTo>
                    <a:pt x="165100" y="863219"/>
                  </a:lnTo>
                  <a:cubicBezTo>
                    <a:pt x="73914" y="863219"/>
                    <a:pt x="0" y="789305"/>
                    <a:pt x="0" y="698119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698119"/>
                  </a:lnTo>
                  <a:lnTo>
                    <a:pt x="6350" y="698119"/>
                  </a:lnTo>
                  <a:lnTo>
                    <a:pt x="12700" y="698119"/>
                  </a:lnTo>
                  <a:cubicBezTo>
                    <a:pt x="12700" y="782320"/>
                    <a:pt x="80899" y="850519"/>
                    <a:pt x="165100" y="850519"/>
                  </a:cubicBezTo>
                  <a:lnTo>
                    <a:pt x="698119" y="850519"/>
                  </a:lnTo>
                  <a:cubicBezTo>
                    <a:pt x="782320" y="850519"/>
                    <a:pt x="850519" y="782320"/>
                    <a:pt x="850519" y="698119"/>
                  </a:cubicBezTo>
                  <a:lnTo>
                    <a:pt x="850519" y="165100"/>
                  </a:lnTo>
                  <a:cubicBezTo>
                    <a:pt x="850519" y="80899"/>
                    <a:pt x="782320" y="12700"/>
                    <a:pt x="698119" y="12700"/>
                  </a:cubicBezTo>
                  <a:lnTo>
                    <a:pt x="165100" y="12700"/>
                  </a:lnTo>
                  <a:lnTo>
                    <a:pt x="165100" y="6350"/>
                  </a:lnTo>
                  <a:lnTo>
                    <a:pt x="165100" y="12700"/>
                  </a:lnTo>
                  <a:cubicBezTo>
                    <a:pt x="80899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E5BEB2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213694" y="6260752"/>
            <a:ext cx="194816" cy="3586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12"/>
              </a:lnSpc>
            </a:pPr>
            <a:r>
              <a:rPr lang="en-US" sz="3312" b="1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1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913632" y="6078290"/>
            <a:ext cx="3544044" cy="452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CPU Affinity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913632" y="6615113"/>
            <a:ext cx="3659684" cy="1900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Binding processes to specific cores for improved performance and resource management.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5852071" y="6083052"/>
            <a:ext cx="647403" cy="647403"/>
            <a:chOff x="0" y="0"/>
            <a:chExt cx="863203" cy="863203"/>
          </a:xfrm>
        </p:grpSpPr>
        <p:sp>
          <p:nvSpPr>
            <p:cNvPr id="17" name="Freeform 17"/>
            <p:cNvSpPr/>
            <p:nvPr/>
          </p:nvSpPr>
          <p:spPr>
            <a:xfrm>
              <a:off x="6350" y="6350"/>
              <a:ext cx="850519" cy="850519"/>
            </a:xfrm>
            <a:custGeom>
              <a:avLst/>
              <a:gdLst/>
              <a:ahLst/>
              <a:cxnLst/>
              <a:rect l="l" t="t" r="r" b="b"/>
              <a:pathLst>
                <a:path w="850519" h="850519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691769" y="0"/>
                  </a:lnTo>
                  <a:cubicBezTo>
                    <a:pt x="779399" y="0"/>
                    <a:pt x="850519" y="71120"/>
                    <a:pt x="850519" y="158750"/>
                  </a:cubicBezTo>
                  <a:lnTo>
                    <a:pt x="850519" y="691769"/>
                  </a:lnTo>
                  <a:cubicBezTo>
                    <a:pt x="850519" y="779399"/>
                    <a:pt x="779399" y="850519"/>
                    <a:pt x="691769" y="850519"/>
                  </a:cubicBezTo>
                  <a:lnTo>
                    <a:pt x="158750" y="850519"/>
                  </a:lnTo>
                  <a:cubicBezTo>
                    <a:pt x="71120" y="850519"/>
                    <a:pt x="0" y="779399"/>
                    <a:pt x="0" y="691769"/>
                  </a:cubicBezTo>
                  <a:close/>
                </a:path>
              </a:pathLst>
            </a:custGeom>
            <a:solidFill>
              <a:srgbClr val="FFD8C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8"/>
            <p:cNvSpPr/>
            <p:nvPr/>
          </p:nvSpPr>
          <p:spPr>
            <a:xfrm>
              <a:off x="0" y="0"/>
              <a:ext cx="863219" cy="863219"/>
            </a:xfrm>
            <a:custGeom>
              <a:avLst/>
              <a:gdLst/>
              <a:ahLst/>
              <a:cxnLst/>
              <a:rect l="l" t="t" r="r" b="b"/>
              <a:pathLst>
                <a:path w="863219" h="863219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cubicBezTo>
                    <a:pt x="789305" y="0"/>
                    <a:pt x="863219" y="73914"/>
                    <a:pt x="863219" y="165100"/>
                  </a:cubicBezTo>
                  <a:lnTo>
                    <a:pt x="856869" y="165100"/>
                  </a:lnTo>
                  <a:lnTo>
                    <a:pt x="863219" y="165100"/>
                  </a:lnTo>
                  <a:lnTo>
                    <a:pt x="863219" y="698119"/>
                  </a:lnTo>
                  <a:lnTo>
                    <a:pt x="856869" y="698119"/>
                  </a:lnTo>
                  <a:lnTo>
                    <a:pt x="863219" y="698119"/>
                  </a:lnTo>
                  <a:cubicBezTo>
                    <a:pt x="863219" y="789305"/>
                    <a:pt x="789305" y="863219"/>
                    <a:pt x="698119" y="863219"/>
                  </a:cubicBezTo>
                  <a:lnTo>
                    <a:pt x="698119" y="856869"/>
                  </a:lnTo>
                  <a:lnTo>
                    <a:pt x="698119" y="863219"/>
                  </a:lnTo>
                  <a:lnTo>
                    <a:pt x="165100" y="863219"/>
                  </a:lnTo>
                  <a:lnTo>
                    <a:pt x="165100" y="856869"/>
                  </a:lnTo>
                  <a:lnTo>
                    <a:pt x="165100" y="863219"/>
                  </a:lnTo>
                  <a:cubicBezTo>
                    <a:pt x="73914" y="863219"/>
                    <a:pt x="0" y="789305"/>
                    <a:pt x="0" y="698119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698119"/>
                  </a:lnTo>
                  <a:lnTo>
                    <a:pt x="6350" y="698119"/>
                  </a:lnTo>
                  <a:lnTo>
                    <a:pt x="12700" y="698119"/>
                  </a:lnTo>
                  <a:cubicBezTo>
                    <a:pt x="12700" y="782320"/>
                    <a:pt x="80899" y="850519"/>
                    <a:pt x="165100" y="850519"/>
                  </a:cubicBezTo>
                  <a:lnTo>
                    <a:pt x="698119" y="850519"/>
                  </a:lnTo>
                  <a:cubicBezTo>
                    <a:pt x="782320" y="850519"/>
                    <a:pt x="850519" y="782320"/>
                    <a:pt x="850519" y="698119"/>
                  </a:cubicBezTo>
                  <a:lnTo>
                    <a:pt x="850519" y="165100"/>
                  </a:lnTo>
                  <a:cubicBezTo>
                    <a:pt x="850519" y="80899"/>
                    <a:pt x="782320" y="12700"/>
                    <a:pt x="698119" y="12700"/>
                  </a:cubicBezTo>
                  <a:lnTo>
                    <a:pt x="165100" y="12700"/>
                  </a:lnTo>
                  <a:lnTo>
                    <a:pt x="165100" y="6350"/>
                  </a:lnTo>
                  <a:lnTo>
                    <a:pt x="165100" y="12700"/>
                  </a:lnTo>
                  <a:cubicBezTo>
                    <a:pt x="80899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E5BEB2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6047035" y="6260752"/>
            <a:ext cx="257324" cy="3586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12"/>
              </a:lnSpc>
            </a:pPr>
            <a:r>
              <a:rPr lang="en-US" sz="3312" b="1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2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778229" y="6078290"/>
            <a:ext cx="3544044" cy="452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Task Offloading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778229" y="6615113"/>
            <a:ext cx="3659684" cy="1900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Shifting workloads to specialized resources like GPUs or external servers to free up the CPU.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preencoded.png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28700" y="4484489"/>
            <a:ext cx="7805886" cy="12703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25"/>
              </a:lnSpc>
            </a:pPr>
            <a:r>
              <a:rPr lang="en-US" sz="7687" b="1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CPU Affinity</a:t>
            </a:r>
          </a:p>
        </p:txBody>
      </p:sp>
      <p:sp>
        <p:nvSpPr>
          <p:cNvPr id="6" name="Freeform 6" descr="preencoded.png"/>
          <p:cNvSpPr/>
          <p:nvPr/>
        </p:nvSpPr>
        <p:spPr>
          <a:xfrm>
            <a:off x="9250257" y="2576959"/>
            <a:ext cx="8224597" cy="5218996"/>
          </a:xfrm>
          <a:custGeom>
            <a:avLst/>
            <a:gdLst/>
            <a:ahLst/>
            <a:cxnLst/>
            <a:rect l="l" t="t" r="r" b="b"/>
            <a:pathLst>
              <a:path w="8224597" h="5218996">
                <a:moveTo>
                  <a:pt x="0" y="0"/>
                </a:moveTo>
                <a:lnTo>
                  <a:pt x="8224597" y="0"/>
                </a:lnTo>
                <a:lnTo>
                  <a:pt x="8224597" y="5218996"/>
                </a:lnTo>
                <a:lnTo>
                  <a:pt x="0" y="52189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9" t="-1042" b="-2563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preencoded.png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816323" y="612874"/>
            <a:ext cx="4665464" cy="609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14"/>
              </a:lnSpc>
            </a:pPr>
            <a:r>
              <a:rPr lang="en-US" sz="3825" b="1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CPU Affinity: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16323" y="1605260"/>
            <a:ext cx="16655355" cy="402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03"/>
              </a:lnSpc>
            </a:pPr>
            <a:r>
              <a:rPr lang="en-US" sz="2100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CPU affinity is also known as "</a:t>
            </a:r>
            <a:r>
              <a:rPr lang="en-US" sz="2100" b="1">
                <a:solidFill>
                  <a:srgbClr val="403C4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CPU Pinning</a:t>
            </a:r>
            <a:r>
              <a:rPr lang="en-US" sz="2100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".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16323" y="2240756"/>
            <a:ext cx="16655355" cy="402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03"/>
              </a:lnSpc>
            </a:pPr>
            <a:r>
              <a:rPr lang="en-US" sz="2100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This can optimize performance, as the core becomes more familiar with the process's data.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16322" y="3119419"/>
            <a:ext cx="16655355" cy="402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03"/>
              </a:lnSpc>
            </a:pPr>
            <a:r>
              <a:rPr lang="en-US" sz="2100" b="1">
                <a:solidFill>
                  <a:srgbClr val="FFAD9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Why to use CPU Affinity and what purpose does it serve?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16322" y="3821163"/>
            <a:ext cx="3913585" cy="3738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249" b="1" u="sng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Performance Optimization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16323" y="4342507"/>
            <a:ext cx="5171777" cy="830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16706" lvl="1" indent="-158353" algn="l">
              <a:lnSpc>
                <a:spcPts val="3403"/>
              </a:lnSpc>
              <a:buFont typeface="Arial"/>
              <a:buChar char="•"/>
            </a:pPr>
            <a:r>
              <a:rPr lang="en-US" sz="2100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Helps in improving the execution speed.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566744" y="3821163"/>
            <a:ext cx="2991445" cy="3738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249" b="1" u="sng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Preventing Overload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566744" y="4342507"/>
            <a:ext cx="5173415" cy="12594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16706" lvl="1" indent="-158353" algn="l">
              <a:lnSpc>
                <a:spcPts val="3403"/>
              </a:lnSpc>
              <a:buFont typeface="Arial"/>
              <a:buChar char="•"/>
            </a:pPr>
            <a:r>
              <a:rPr lang="en-US" sz="2100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Allows dedicated CPU cores to each process instead of consuming power from random cores.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318801" y="3721596"/>
            <a:ext cx="5171777" cy="552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24"/>
              </a:lnSpc>
            </a:pPr>
            <a:r>
              <a:rPr lang="en-US" sz="2249" b="1" u="sng">
                <a:solidFill>
                  <a:srgbClr val="403C4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Real-Time Systems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318801" y="4397871"/>
            <a:ext cx="5171777" cy="830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16706" lvl="1" indent="-158353" algn="l">
              <a:lnSpc>
                <a:spcPts val="3403"/>
              </a:lnSpc>
              <a:buFont typeface="Arial"/>
              <a:buChar char="•"/>
            </a:pPr>
            <a:r>
              <a:rPr lang="en-US" sz="2100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Makes it easy to predict any upcoming issues with any resource conflicts.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16323" y="5805785"/>
            <a:ext cx="16655355" cy="402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16706" lvl="1" indent="-158353" algn="l">
              <a:lnSpc>
                <a:spcPts val="3403"/>
              </a:lnSpc>
              <a:buFont typeface="Arial"/>
              <a:buChar char="•"/>
            </a:pPr>
            <a:r>
              <a:rPr lang="en-US" sz="2100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Command: </a:t>
            </a:r>
            <a:r>
              <a:rPr lang="en-US" sz="2100" i="1">
                <a:solidFill>
                  <a:srgbClr val="1F7135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taskset -cp 0,1 &lt;pid&gt;         </a:t>
            </a:r>
            <a:r>
              <a:rPr lang="en-US" sz="2100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[Ex: </a:t>
            </a:r>
            <a:r>
              <a:rPr lang="en-US" sz="2100" b="1">
                <a:solidFill>
                  <a:srgbClr val="1F713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taskset -cp 0,1 &lt;pid_of_python_process&gt;</a:t>
            </a:r>
            <a:r>
              <a:rPr lang="en-US" sz="2100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]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16323" y="6260455"/>
            <a:ext cx="16655355" cy="830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16706" lvl="1" indent="-158353" algn="l">
              <a:lnSpc>
                <a:spcPts val="3403"/>
              </a:lnSpc>
              <a:buFont typeface="Arial"/>
              <a:buChar char="•"/>
            </a:pPr>
            <a:r>
              <a:rPr lang="en-US" sz="2100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Observations: After running the command, use </a:t>
            </a:r>
            <a:r>
              <a:rPr lang="en-US" sz="2100">
                <a:solidFill>
                  <a:srgbClr val="1F7135"/>
                </a:solidFill>
                <a:latin typeface="Open Sans"/>
                <a:ea typeface="Open Sans"/>
                <a:cs typeface="Open Sans"/>
                <a:sym typeface="Open Sans"/>
              </a:rPr>
              <a:t>top/htop</a:t>
            </a:r>
            <a:r>
              <a:rPr lang="en-US" sz="2100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 to check the CPU utilization, the process should primarily run on CPU cores 0 and 1 (instead of being distributed across all cores).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16323" y="7269064"/>
            <a:ext cx="16655355" cy="402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03"/>
              </a:lnSpc>
            </a:pPr>
            <a:r>
              <a:rPr lang="en-US" sz="2100" b="1">
                <a:solidFill>
                  <a:srgbClr val="FFAD9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Note: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16323" y="7904560"/>
            <a:ext cx="16655355" cy="402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16706" lvl="1" indent="-158353" algn="l">
              <a:lnSpc>
                <a:spcPts val="3403"/>
              </a:lnSpc>
              <a:buFont typeface="Arial"/>
              <a:buChar char="•"/>
            </a:pPr>
            <a:r>
              <a:rPr lang="en-US" sz="2100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The CPU pinning is not limited to just 2 cores (0,1). It can be utilized as per the need (eg: 3,4,5).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16323" y="8359229"/>
            <a:ext cx="16655355" cy="402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16706" lvl="1" indent="-158353" algn="l">
              <a:lnSpc>
                <a:spcPts val="3403"/>
              </a:lnSpc>
              <a:buFont typeface="Arial"/>
              <a:buChar char="•"/>
            </a:pPr>
            <a:r>
              <a:rPr lang="en-US" sz="2100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“taskset” command </a:t>
            </a:r>
            <a:r>
              <a:rPr lang="en-US" sz="2100" u="sng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doesn’t run in mac</a:t>
            </a:r>
            <a:r>
              <a:rPr lang="en-US" sz="2100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, its only for linux distro’s. 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16323" y="8813899"/>
            <a:ext cx="16655355" cy="830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16706" lvl="1" indent="-158353" algn="l">
              <a:lnSpc>
                <a:spcPts val="3403"/>
              </a:lnSpc>
              <a:buFont typeface="Arial"/>
              <a:buChar char="•"/>
            </a:pPr>
            <a:r>
              <a:rPr lang="en-US" sz="2100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Can use "</a:t>
            </a:r>
            <a:r>
              <a:rPr lang="en-US" sz="2100" b="1">
                <a:solidFill>
                  <a:srgbClr val="1F713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cpuset</a:t>
            </a:r>
            <a:r>
              <a:rPr lang="en-US" sz="2100" b="1">
                <a:solidFill>
                  <a:srgbClr val="403C4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"</a:t>
            </a:r>
            <a:r>
              <a:rPr lang="en-US" sz="2100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 but it requires few dependencies prior executing.</a:t>
            </a:r>
          </a:p>
          <a:p>
            <a:pPr marL="316706" lvl="1" indent="-158353" algn="l">
              <a:lnSpc>
                <a:spcPts val="3403"/>
              </a:lnSpc>
            </a:pPr>
            <a:endParaRPr lang="en-US" sz="2100">
              <a:solidFill>
                <a:srgbClr val="403C4E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preencoded.png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659848" y="3927475"/>
            <a:ext cx="8371108" cy="1216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25"/>
              </a:lnSpc>
            </a:pPr>
            <a:r>
              <a:rPr lang="en-US" sz="7687" b="1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Task Offloading</a:t>
            </a:r>
          </a:p>
        </p:txBody>
      </p:sp>
      <p:sp>
        <p:nvSpPr>
          <p:cNvPr id="6" name="Freeform 6" descr="preencoded.png"/>
          <p:cNvSpPr/>
          <p:nvPr/>
        </p:nvSpPr>
        <p:spPr>
          <a:xfrm>
            <a:off x="9144000" y="2849960"/>
            <a:ext cx="8964586" cy="4061915"/>
          </a:xfrm>
          <a:custGeom>
            <a:avLst/>
            <a:gdLst/>
            <a:ahLst/>
            <a:cxnLst/>
            <a:rect l="l" t="t" r="r" b="b"/>
            <a:pathLst>
              <a:path w="8964586" h="4061915">
                <a:moveTo>
                  <a:pt x="0" y="0"/>
                </a:moveTo>
                <a:lnTo>
                  <a:pt x="8964586" y="0"/>
                </a:lnTo>
                <a:lnTo>
                  <a:pt x="8964586" y="4061915"/>
                </a:lnTo>
                <a:lnTo>
                  <a:pt x="0" y="406191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73" r="-73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preencoded.png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824507" y="628799"/>
            <a:ext cx="5889872" cy="7553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50"/>
              </a:lnSpc>
            </a:pPr>
            <a:r>
              <a:rPr lang="en-US" sz="4625" b="1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Task Offloading: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29270" y="1404623"/>
            <a:ext cx="16638985" cy="8635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5"/>
              </a:lnSpc>
            </a:pPr>
            <a:r>
              <a:rPr lang="en-US" sz="2199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The process of shifting work from one resource to another resource to improve performance or avoid overloading a specific resource.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819745" y="2374404"/>
            <a:ext cx="16648510" cy="1385887"/>
            <a:chOff x="0" y="0"/>
            <a:chExt cx="22198013" cy="1847850"/>
          </a:xfrm>
        </p:grpSpPr>
        <p:sp>
          <p:nvSpPr>
            <p:cNvPr id="8" name="Freeform 8"/>
            <p:cNvSpPr/>
            <p:nvPr/>
          </p:nvSpPr>
          <p:spPr>
            <a:xfrm>
              <a:off x="6350" y="6350"/>
              <a:ext cx="22185249" cy="1835150"/>
            </a:xfrm>
            <a:custGeom>
              <a:avLst/>
              <a:gdLst/>
              <a:ahLst/>
              <a:cxnLst/>
              <a:rect l="l" t="t" r="r" b="b"/>
              <a:pathLst>
                <a:path w="22185249" h="1835150">
                  <a:moveTo>
                    <a:pt x="0" y="131953"/>
                  </a:moveTo>
                  <a:cubicBezTo>
                    <a:pt x="0" y="59055"/>
                    <a:pt x="59436" y="0"/>
                    <a:pt x="132715" y="0"/>
                  </a:cubicBezTo>
                  <a:lnTo>
                    <a:pt x="22052535" y="0"/>
                  </a:lnTo>
                  <a:cubicBezTo>
                    <a:pt x="22125814" y="0"/>
                    <a:pt x="22185249" y="59055"/>
                    <a:pt x="22185249" y="131953"/>
                  </a:cubicBezTo>
                  <a:lnTo>
                    <a:pt x="22185249" y="1703197"/>
                  </a:lnTo>
                  <a:cubicBezTo>
                    <a:pt x="22185249" y="1776095"/>
                    <a:pt x="22125814" y="1835150"/>
                    <a:pt x="22052535" y="1835150"/>
                  </a:cubicBezTo>
                  <a:lnTo>
                    <a:pt x="132715" y="1835150"/>
                  </a:lnTo>
                  <a:cubicBezTo>
                    <a:pt x="59436" y="1835150"/>
                    <a:pt x="0" y="1776095"/>
                    <a:pt x="0" y="1703197"/>
                  </a:cubicBezTo>
                  <a:close/>
                </a:path>
              </a:pathLst>
            </a:custGeom>
            <a:solidFill>
              <a:srgbClr val="FFD8C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9"/>
            <p:cNvSpPr/>
            <p:nvPr/>
          </p:nvSpPr>
          <p:spPr>
            <a:xfrm>
              <a:off x="0" y="0"/>
              <a:ext cx="22197949" cy="1847850"/>
            </a:xfrm>
            <a:custGeom>
              <a:avLst/>
              <a:gdLst/>
              <a:ahLst/>
              <a:cxnLst/>
              <a:rect l="l" t="t" r="r" b="b"/>
              <a:pathLst>
                <a:path w="22197949" h="1847850">
                  <a:moveTo>
                    <a:pt x="0" y="138303"/>
                  </a:moveTo>
                  <a:cubicBezTo>
                    <a:pt x="0" y="61849"/>
                    <a:pt x="62357" y="0"/>
                    <a:pt x="139065" y="0"/>
                  </a:cubicBezTo>
                  <a:lnTo>
                    <a:pt x="22058885" y="0"/>
                  </a:lnTo>
                  <a:lnTo>
                    <a:pt x="22058885" y="6350"/>
                  </a:lnTo>
                  <a:lnTo>
                    <a:pt x="22058885" y="0"/>
                  </a:lnTo>
                  <a:cubicBezTo>
                    <a:pt x="22135720" y="0"/>
                    <a:pt x="22197949" y="61849"/>
                    <a:pt x="22197949" y="138303"/>
                  </a:cubicBezTo>
                  <a:lnTo>
                    <a:pt x="22191599" y="138303"/>
                  </a:lnTo>
                  <a:lnTo>
                    <a:pt x="22197949" y="138303"/>
                  </a:lnTo>
                  <a:lnTo>
                    <a:pt x="22197949" y="1709547"/>
                  </a:lnTo>
                  <a:lnTo>
                    <a:pt x="22191599" y="1709547"/>
                  </a:lnTo>
                  <a:lnTo>
                    <a:pt x="22197949" y="1709547"/>
                  </a:lnTo>
                  <a:cubicBezTo>
                    <a:pt x="22197949" y="1786001"/>
                    <a:pt x="22135593" y="1847850"/>
                    <a:pt x="22058885" y="1847850"/>
                  </a:cubicBezTo>
                  <a:lnTo>
                    <a:pt x="22058885" y="1841500"/>
                  </a:lnTo>
                  <a:lnTo>
                    <a:pt x="22058885" y="1847850"/>
                  </a:lnTo>
                  <a:lnTo>
                    <a:pt x="139065" y="1847850"/>
                  </a:lnTo>
                  <a:lnTo>
                    <a:pt x="139065" y="1841500"/>
                  </a:lnTo>
                  <a:lnTo>
                    <a:pt x="139065" y="1847850"/>
                  </a:lnTo>
                  <a:cubicBezTo>
                    <a:pt x="62357" y="1847850"/>
                    <a:pt x="0" y="1786001"/>
                    <a:pt x="0" y="1709547"/>
                  </a:cubicBezTo>
                  <a:lnTo>
                    <a:pt x="0" y="138303"/>
                  </a:lnTo>
                  <a:lnTo>
                    <a:pt x="6350" y="138303"/>
                  </a:lnTo>
                  <a:lnTo>
                    <a:pt x="0" y="138303"/>
                  </a:lnTo>
                  <a:moveTo>
                    <a:pt x="12700" y="138303"/>
                  </a:moveTo>
                  <a:lnTo>
                    <a:pt x="12700" y="1709547"/>
                  </a:lnTo>
                  <a:lnTo>
                    <a:pt x="6350" y="1709547"/>
                  </a:lnTo>
                  <a:lnTo>
                    <a:pt x="12700" y="1709547"/>
                  </a:lnTo>
                  <a:cubicBezTo>
                    <a:pt x="12700" y="1778889"/>
                    <a:pt x="69215" y="1835150"/>
                    <a:pt x="139065" y="1835150"/>
                  </a:cubicBezTo>
                  <a:lnTo>
                    <a:pt x="22058885" y="1835150"/>
                  </a:lnTo>
                  <a:cubicBezTo>
                    <a:pt x="22128735" y="1835150"/>
                    <a:pt x="22185249" y="1778889"/>
                    <a:pt x="22185249" y="1709547"/>
                  </a:cubicBezTo>
                  <a:lnTo>
                    <a:pt x="22185249" y="138303"/>
                  </a:lnTo>
                  <a:cubicBezTo>
                    <a:pt x="22185249" y="68961"/>
                    <a:pt x="22128735" y="12700"/>
                    <a:pt x="22058885" y="12700"/>
                  </a:cubicBezTo>
                  <a:lnTo>
                    <a:pt x="139065" y="12700"/>
                  </a:lnTo>
                  <a:lnTo>
                    <a:pt x="139065" y="6350"/>
                  </a:lnTo>
                  <a:lnTo>
                    <a:pt x="139065" y="12700"/>
                  </a:lnTo>
                  <a:cubicBezTo>
                    <a:pt x="69215" y="12700"/>
                    <a:pt x="12700" y="68961"/>
                    <a:pt x="12700" y="138303"/>
                  </a:cubicBezTo>
                  <a:close/>
                </a:path>
              </a:pathLst>
            </a:custGeom>
            <a:solidFill>
              <a:srgbClr val="E5BEB2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069628" y="2614761"/>
            <a:ext cx="2944862" cy="377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312" b="1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Freeing Resources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69627" y="3047851"/>
            <a:ext cx="16148745" cy="3884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1"/>
              </a:lnSpc>
            </a:pPr>
            <a:r>
              <a:rPr lang="en-US" sz="2000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Offloading tasks to other resources frees up the CPU for other tasks.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819745" y="3986361"/>
            <a:ext cx="16648510" cy="1385888"/>
            <a:chOff x="0" y="0"/>
            <a:chExt cx="22198013" cy="1847850"/>
          </a:xfrm>
        </p:grpSpPr>
        <p:sp>
          <p:nvSpPr>
            <p:cNvPr id="13" name="Freeform 13"/>
            <p:cNvSpPr/>
            <p:nvPr/>
          </p:nvSpPr>
          <p:spPr>
            <a:xfrm>
              <a:off x="6350" y="6350"/>
              <a:ext cx="22185249" cy="1835150"/>
            </a:xfrm>
            <a:custGeom>
              <a:avLst/>
              <a:gdLst/>
              <a:ahLst/>
              <a:cxnLst/>
              <a:rect l="l" t="t" r="r" b="b"/>
              <a:pathLst>
                <a:path w="22185249" h="1835150">
                  <a:moveTo>
                    <a:pt x="0" y="131953"/>
                  </a:moveTo>
                  <a:cubicBezTo>
                    <a:pt x="0" y="59055"/>
                    <a:pt x="59436" y="0"/>
                    <a:pt x="132715" y="0"/>
                  </a:cubicBezTo>
                  <a:lnTo>
                    <a:pt x="22052535" y="0"/>
                  </a:lnTo>
                  <a:cubicBezTo>
                    <a:pt x="22125814" y="0"/>
                    <a:pt x="22185249" y="59055"/>
                    <a:pt x="22185249" y="131953"/>
                  </a:cubicBezTo>
                  <a:lnTo>
                    <a:pt x="22185249" y="1703197"/>
                  </a:lnTo>
                  <a:cubicBezTo>
                    <a:pt x="22185249" y="1776095"/>
                    <a:pt x="22125814" y="1835150"/>
                    <a:pt x="22052535" y="1835150"/>
                  </a:cubicBezTo>
                  <a:lnTo>
                    <a:pt x="132715" y="1835150"/>
                  </a:lnTo>
                  <a:cubicBezTo>
                    <a:pt x="59436" y="1835150"/>
                    <a:pt x="0" y="1776095"/>
                    <a:pt x="0" y="1703197"/>
                  </a:cubicBezTo>
                  <a:close/>
                </a:path>
              </a:pathLst>
            </a:custGeom>
            <a:solidFill>
              <a:srgbClr val="FFD8C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0" y="0"/>
              <a:ext cx="22197949" cy="1847850"/>
            </a:xfrm>
            <a:custGeom>
              <a:avLst/>
              <a:gdLst/>
              <a:ahLst/>
              <a:cxnLst/>
              <a:rect l="l" t="t" r="r" b="b"/>
              <a:pathLst>
                <a:path w="22197949" h="1847850">
                  <a:moveTo>
                    <a:pt x="0" y="138303"/>
                  </a:moveTo>
                  <a:cubicBezTo>
                    <a:pt x="0" y="61849"/>
                    <a:pt x="62357" y="0"/>
                    <a:pt x="139065" y="0"/>
                  </a:cubicBezTo>
                  <a:lnTo>
                    <a:pt x="22058885" y="0"/>
                  </a:lnTo>
                  <a:lnTo>
                    <a:pt x="22058885" y="6350"/>
                  </a:lnTo>
                  <a:lnTo>
                    <a:pt x="22058885" y="0"/>
                  </a:lnTo>
                  <a:cubicBezTo>
                    <a:pt x="22135720" y="0"/>
                    <a:pt x="22197949" y="61849"/>
                    <a:pt x="22197949" y="138303"/>
                  </a:cubicBezTo>
                  <a:lnTo>
                    <a:pt x="22191599" y="138303"/>
                  </a:lnTo>
                  <a:lnTo>
                    <a:pt x="22197949" y="138303"/>
                  </a:lnTo>
                  <a:lnTo>
                    <a:pt x="22197949" y="1709547"/>
                  </a:lnTo>
                  <a:lnTo>
                    <a:pt x="22191599" y="1709547"/>
                  </a:lnTo>
                  <a:lnTo>
                    <a:pt x="22197949" y="1709547"/>
                  </a:lnTo>
                  <a:cubicBezTo>
                    <a:pt x="22197949" y="1786001"/>
                    <a:pt x="22135593" y="1847850"/>
                    <a:pt x="22058885" y="1847850"/>
                  </a:cubicBezTo>
                  <a:lnTo>
                    <a:pt x="22058885" y="1841500"/>
                  </a:lnTo>
                  <a:lnTo>
                    <a:pt x="22058885" y="1847850"/>
                  </a:lnTo>
                  <a:lnTo>
                    <a:pt x="139065" y="1847850"/>
                  </a:lnTo>
                  <a:lnTo>
                    <a:pt x="139065" y="1841500"/>
                  </a:lnTo>
                  <a:lnTo>
                    <a:pt x="139065" y="1847850"/>
                  </a:lnTo>
                  <a:cubicBezTo>
                    <a:pt x="62357" y="1847850"/>
                    <a:pt x="0" y="1786001"/>
                    <a:pt x="0" y="1709547"/>
                  </a:cubicBezTo>
                  <a:lnTo>
                    <a:pt x="0" y="138303"/>
                  </a:lnTo>
                  <a:lnTo>
                    <a:pt x="6350" y="138303"/>
                  </a:lnTo>
                  <a:lnTo>
                    <a:pt x="0" y="138303"/>
                  </a:lnTo>
                  <a:moveTo>
                    <a:pt x="12700" y="138303"/>
                  </a:moveTo>
                  <a:lnTo>
                    <a:pt x="12700" y="1709547"/>
                  </a:lnTo>
                  <a:lnTo>
                    <a:pt x="6350" y="1709547"/>
                  </a:lnTo>
                  <a:lnTo>
                    <a:pt x="12700" y="1709547"/>
                  </a:lnTo>
                  <a:cubicBezTo>
                    <a:pt x="12700" y="1778889"/>
                    <a:pt x="69215" y="1835150"/>
                    <a:pt x="139065" y="1835150"/>
                  </a:cubicBezTo>
                  <a:lnTo>
                    <a:pt x="22058885" y="1835150"/>
                  </a:lnTo>
                  <a:cubicBezTo>
                    <a:pt x="22128735" y="1835150"/>
                    <a:pt x="22185249" y="1778889"/>
                    <a:pt x="22185249" y="1709547"/>
                  </a:cubicBezTo>
                  <a:lnTo>
                    <a:pt x="22185249" y="138303"/>
                  </a:lnTo>
                  <a:cubicBezTo>
                    <a:pt x="22185249" y="68961"/>
                    <a:pt x="22128735" y="12700"/>
                    <a:pt x="22058885" y="12700"/>
                  </a:cubicBezTo>
                  <a:lnTo>
                    <a:pt x="139065" y="12700"/>
                  </a:lnTo>
                  <a:lnTo>
                    <a:pt x="139065" y="6350"/>
                  </a:lnTo>
                  <a:lnTo>
                    <a:pt x="139065" y="12700"/>
                  </a:lnTo>
                  <a:cubicBezTo>
                    <a:pt x="69215" y="12700"/>
                    <a:pt x="12700" y="68961"/>
                    <a:pt x="12700" y="138303"/>
                  </a:cubicBezTo>
                  <a:close/>
                </a:path>
              </a:pathLst>
            </a:custGeom>
            <a:solidFill>
              <a:srgbClr val="E5BEB2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069628" y="4226719"/>
            <a:ext cx="2944862" cy="377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312" b="1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Performance Boost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69627" y="4659809"/>
            <a:ext cx="16148745" cy="3884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1"/>
              </a:lnSpc>
            </a:pPr>
            <a:r>
              <a:rPr lang="en-US" sz="2000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Using dedicated resources like GPUs can significantly improve performance.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819745" y="5598319"/>
            <a:ext cx="16648510" cy="1385888"/>
            <a:chOff x="0" y="0"/>
            <a:chExt cx="22198013" cy="1847850"/>
          </a:xfrm>
        </p:grpSpPr>
        <p:sp>
          <p:nvSpPr>
            <p:cNvPr id="18" name="Freeform 18"/>
            <p:cNvSpPr/>
            <p:nvPr/>
          </p:nvSpPr>
          <p:spPr>
            <a:xfrm>
              <a:off x="6350" y="6350"/>
              <a:ext cx="22185249" cy="1835150"/>
            </a:xfrm>
            <a:custGeom>
              <a:avLst/>
              <a:gdLst/>
              <a:ahLst/>
              <a:cxnLst/>
              <a:rect l="l" t="t" r="r" b="b"/>
              <a:pathLst>
                <a:path w="22185249" h="1835150">
                  <a:moveTo>
                    <a:pt x="0" y="131953"/>
                  </a:moveTo>
                  <a:cubicBezTo>
                    <a:pt x="0" y="59055"/>
                    <a:pt x="59436" y="0"/>
                    <a:pt x="132715" y="0"/>
                  </a:cubicBezTo>
                  <a:lnTo>
                    <a:pt x="22052535" y="0"/>
                  </a:lnTo>
                  <a:cubicBezTo>
                    <a:pt x="22125814" y="0"/>
                    <a:pt x="22185249" y="59055"/>
                    <a:pt x="22185249" y="131953"/>
                  </a:cubicBezTo>
                  <a:lnTo>
                    <a:pt x="22185249" y="1703197"/>
                  </a:lnTo>
                  <a:cubicBezTo>
                    <a:pt x="22185249" y="1776095"/>
                    <a:pt x="22125814" y="1835150"/>
                    <a:pt x="22052535" y="1835150"/>
                  </a:cubicBezTo>
                  <a:lnTo>
                    <a:pt x="132715" y="1835150"/>
                  </a:lnTo>
                  <a:cubicBezTo>
                    <a:pt x="59436" y="1835150"/>
                    <a:pt x="0" y="1776095"/>
                    <a:pt x="0" y="1703197"/>
                  </a:cubicBezTo>
                  <a:close/>
                </a:path>
              </a:pathLst>
            </a:custGeom>
            <a:solidFill>
              <a:srgbClr val="FFD8C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0" y="0"/>
              <a:ext cx="22197949" cy="1847850"/>
            </a:xfrm>
            <a:custGeom>
              <a:avLst/>
              <a:gdLst/>
              <a:ahLst/>
              <a:cxnLst/>
              <a:rect l="l" t="t" r="r" b="b"/>
              <a:pathLst>
                <a:path w="22197949" h="1847850">
                  <a:moveTo>
                    <a:pt x="0" y="138303"/>
                  </a:moveTo>
                  <a:cubicBezTo>
                    <a:pt x="0" y="61849"/>
                    <a:pt x="62357" y="0"/>
                    <a:pt x="139065" y="0"/>
                  </a:cubicBezTo>
                  <a:lnTo>
                    <a:pt x="22058885" y="0"/>
                  </a:lnTo>
                  <a:lnTo>
                    <a:pt x="22058885" y="6350"/>
                  </a:lnTo>
                  <a:lnTo>
                    <a:pt x="22058885" y="0"/>
                  </a:lnTo>
                  <a:cubicBezTo>
                    <a:pt x="22135720" y="0"/>
                    <a:pt x="22197949" y="61849"/>
                    <a:pt x="22197949" y="138303"/>
                  </a:cubicBezTo>
                  <a:lnTo>
                    <a:pt x="22191599" y="138303"/>
                  </a:lnTo>
                  <a:lnTo>
                    <a:pt x="22197949" y="138303"/>
                  </a:lnTo>
                  <a:lnTo>
                    <a:pt x="22197949" y="1709547"/>
                  </a:lnTo>
                  <a:lnTo>
                    <a:pt x="22191599" y="1709547"/>
                  </a:lnTo>
                  <a:lnTo>
                    <a:pt x="22197949" y="1709547"/>
                  </a:lnTo>
                  <a:cubicBezTo>
                    <a:pt x="22197949" y="1786001"/>
                    <a:pt x="22135593" y="1847850"/>
                    <a:pt x="22058885" y="1847850"/>
                  </a:cubicBezTo>
                  <a:lnTo>
                    <a:pt x="22058885" y="1841500"/>
                  </a:lnTo>
                  <a:lnTo>
                    <a:pt x="22058885" y="1847850"/>
                  </a:lnTo>
                  <a:lnTo>
                    <a:pt x="139065" y="1847850"/>
                  </a:lnTo>
                  <a:lnTo>
                    <a:pt x="139065" y="1841500"/>
                  </a:lnTo>
                  <a:lnTo>
                    <a:pt x="139065" y="1847850"/>
                  </a:lnTo>
                  <a:cubicBezTo>
                    <a:pt x="62357" y="1847850"/>
                    <a:pt x="0" y="1786001"/>
                    <a:pt x="0" y="1709547"/>
                  </a:cubicBezTo>
                  <a:lnTo>
                    <a:pt x="0" y="138303"/>
                  </a:lnTo>
                  <a:lnTo>
                    <a:pt x="6350" y="138303"/>
                  </a:lnTo>
                  <a:lnTo>
                    <a:pt x="0" y="138303"/>
                  </a:lnTo>
                  <a:moveTo>
                    <a:pt x="12700" y="138303"/>
                  </a:moveTo>
                  <a:lnTo>
                    <a:pt x="12700" y="1709547"/>
                  </a:lnTo>
                  <a:lnTo>
                    <a:pt x="6350" y="1709547"/>
                  </a:lnTo>
                  <a:lnTo>
                    <a:pt x="12700" y="1709547"/>
                  </a:lnTo>
                  <a:cubicBezTo>
                    <a:pt x="12700" y="1778889"/>
                    <a:pt x="69215" y="1835150"/>
                    <a:pt x="139065" y="1835150"/>
                  </a:cubicBezTo>
                  <a:lnTo>
                    <a:pt x="22058885" y="1835150"/>
                  </a:lnTo>
                  <a:cubicBezTo>
                    <a:pt x="22128735" y="1835150"/>
                    <a:pt x="22185249" y="1778889"/>
                    <a:pt x="22185249" y="1709547"/>
                  </a:cubicBezTo>
                  <a:lnTo>
                    <a:pt x="22185249" y="138303"/>
                  </a:lnTo>
                  <a:cubicBezTo>
                    <a:pt x="22185249" y="68961"/>
                    <a:pt x="22128735" y="12700"/>
                    <a:pt x="22058885" y="12700"/>
                  </a:cubicBezTo>
                  <a:lnTo>
                    <a:pt x="139065" y="12700"/>
                  </a:lnTo>
                  <a:lnTo>
                    <a:pt x="139065" y="6350"/>
                  </a:lnTo>
                  <a:lnTo>
                    <a:pt x="139065" y="12700"/>
                  </a:lnTo>
                  <a:cubicBezTo>
                    <a:pt x="69215" y="12700"/>
                    <a:pt x="12700" y="68961"/>
                    <a:pt x="12700" y="138303"/>
                  </a:cubicBezTo>
                  <a:close/>
                </a:path>
              </a:pathLst>
            </a:custGeom>
            <a:solidFill>
              <a:srgbClr val="E5BEB2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069628" y="5838676"/>
            <a:ext cx="2944862" cy="377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312" b="1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Scalability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69627" y="6271766"/>
            <a:ext cx="16148745" cy="3884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1"/>
              </a:lnSpc>
            </a:pPr>
            <a:r>
              <a:rPr lang="en-US" sz="2000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Offloading to more powerful systems allows for scaling workloads without overloading a single system.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24507" y="7158633"/>
            <a:ext cx="16638985" cy="556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87"/>
              </a:lnSpc>
            </a:pPr>
            <a:r>
              <a:rPr lang="en-US" sz="2312" b="1">
                <a:solidFill>
                  <a:srgbClr val="403C4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Used-cases: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24508" y="7894736"/>
            <a:ext cx="16638985" cy="402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03"/>
              </a:lnSpc>
            </a:pPr>
            <a:r>
              <a:rPr lang="en-US" sz="2100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· Offload file transfer to remote server using </a:t>
            </a:r>
            <a:r>
              <a:rPr lang="en-US" sz="2100">
                <a:solidFill>
                  <a:srgbClr val="1F7135"/>
                </a:solidFill>
                <a:latin typeface="Open Sans"/>
                <a:ea typeface="Open Sans"/>
                <a:cs typeface="Open Sans"/>
                <a:sym typeface="Open Sans"/>
              </a:rPr>
              <a:t>scp</a:t>
            </a:r>
            <a:r>
              <a:rPr lang="en-US" sz="2100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.    [</a:t>
            </a:r>
            <a:r>
              <a:rPr lang="en-US" sz="2100" b="1">
                <a:solidFill>
                  <a:srgbClr val="1F713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scp &lt;Source&gt; &lt;Destination&gt;</a:t>
            </a:r>
            <a:r>
              <a:rPr lang="en-US" sz="2100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]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24508" y="8536484"/>
            <a:ext cx="16638985" cy="402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03"/>
              </a:lnSpc>
            </a:pPr>
            <a:r>
              <a:rPr lang="en-US" sz="2100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· Offload file storage to AWS S3.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24508" y="9178230"/>
            <a:ext cx="16638985" cy="402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03"/>
              </a:lnSpc>
            </a:pPr>
            <a:r>
              <a:rPr lang="en-US" sz="2100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· Offload HTTP requests to multiple backend servers via a load balancer.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preencoded.png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Freeform 5" descr="preencoded.png">
            <a:hlinkClick r:id="rId4" tooltip="https://gamma.app/?utm_source=made-with-gamma"/>
          </p:cNvPr>
          <p:cNvSpPr/>
          <p:nvPr/>
        </p:nvSpPr>
        <p:spPr>
          <a:xfrm>
            <a:off x="16049019" y="9686925"/>
            <a:ext cx="2153256" cy="514350"/>
          </a:xfrm>
          <a:custGeom>
            <a:avLst/>
            <a:gdLst/>
            <a:ahLst/>
            <a:cxnLst/>
            <a:rect l="l" t="t" r="r" b="b"/>
            <a:pathLst>
              <a:path w="2153256" h="514350">
                <a:moveTo>
                  <a:pt x="0" y="0"/>
                </a:moveTo>
                <a:lnTo>
                  <a:pt x="2153256" y="0"/>
                </a:lnTo>
                <a:lnTo>
                  <a:pt x="2153256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 descr="preencoded.png"/>
          <p:cNvSpPr/>
          <p:nvPr/>
        </p:nvSpPr>
        <p:spPr>
          <a:xfrm>
            <a:off x="0" y="0"/>
            <a:ext cx="18288000" cy="10289381"/>
          </a:xfrm>
          <a:custGeom>
            <a:avLst/>
            <a:gdLst/>
            <a:ahLst/>
            <a:cxnLst/>
            <a:rect l="l" t="t" r="r" b="b"/>
            <a:pathLst>
              <a:path w="18288000" h="10289381">
                <a:moveTo>
                  <a:pt x="0" y="0"/>
                </a:moveTo>
                <a:lnTo>
                  <a:pt x="18288000" y="0"/>
                </a:lnTo>
                <a:lnTo>
                  <a:pt x="18288000" y="10289381"/>
                </a:lnTo>
                <a:lnTo>
                  <a:pt x="0" y="1028938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1" r="-11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>
            <a:off x="0" y="0"/>
            <a:ext cx="18288000" cy="10289381"/>
            <a:chOff x="0" y="0"/>
            <a:chExt cx="24384000" cy="1371917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4384000" cy="13719175"/>
            </a:xfrm>
            <a:custGeom>
              <a:avLst/>
              <a:gdLst/>
              <a:ahLst/>
              <a:cxnLst/>
              <a:rect l="l" t="t" r="r" b="b"/>
              <a:pathLst>
                <a:path w="24384000" h="13719175">
                  <a:moveTo>
                    <a:pt x="0" y="0"/>
                  </a:moveTo>
                  <a:lnTo>
                    <a:pt x="24384000" y="0"/>
                  </a:lnTo>
                  <a:lnTo>
                    <a:pt x="24384000" y="13719175"/>
                  </a:lnTo>
                  <a:lnTo>
                    <a:pt x="0" y="13719175"/>
                  </a:lnTo>
                  <a:close/>
                </a:path>
              </a:pathLst>
            </a:custGeom>
            <a:solidFill>
              <a:srgbClr val="FFFFFF">
                <a:alpha val="72157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4539579" y="163381"/>
            <a:ext cx="16707445" cy="576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39"/>
              </a:lnSpc>
            </a:pPr>
            <a:r>
              <a:rPr lang="en-US" sz="3087" b="1">
                <a:solidFill>
                  <a:srgbClr val="403C4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Differences: CPU Affinity &amp; Task offloading</a:t>
            </a:r>
          </a:p>
        </p:txBody>
      </p:sp>
      <p:sp>
        <p:nvSpPr>
          <p:cNvPr id="10" name="Freeform 10" descr="preencoded.png"/>
          <p:cNvSpPr/>
          <p:nvPr/>
        </p:nvSpPr>
        <p:spPr>
          <a:xfrm>
            <a:off x="3465158" y="1028700"/>
            <a:ext cx="11700888" cy="9172575"/>
          </a:xfrm>
          <a:custGeom>
            <a:avLst/>
            <a:gdLst/>
            <a:ahLst/>
            <a:cxnLst/>
            <a:rect l="l" t="t" r="r" b="b"/>
            <a:pathLst>
              <a:path w="11700888" h="9172575">
                <a:moveTo>
                  <a:pt x="0" y="0"/>
                </a:moveTo>
                <a:lnTo>
                  <a:pt x="11700888" y="0"/>
                </a:lnTo>
                <a:lnTo>
                  <a:pt x="11700888" y="9172575"/>
                </a:lnTo>
                <a:lnTo>
                  <a:pt x="0" y="91725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7" t="-1781" b="-1781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preencoded.png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Freeform 5" descr="preencoded.png">
            <a:hlinkClick r:id="rId4" tooltip="https://gamma.app/?utm_source=made-with-gamma"/>
          </p:cNvPr>
          <p:cNvSpPr/>
          <p:nvPr/>
        </p:nvSpPr>
        <p:spPr>
          <a:xfrm>
            <a:off x="16049019" y="9686925"/>
            <a:ext cx="2153256" cy="514350"/>
          </a:xfrm>
          <a:custGeom>
            <a:avLst/>
            <a:gdLst/>
            <a:ahLst/>
            <a:cxnLst/>
            <a:rect l="l" t="t" r="r" b="b"/>
            <a:pathLst>
              <a:path w="2153256" h="514350">
                <a:moveTo>
                  <a:pt x="0" y="0"/>
                </a:moveTo>
                <a:lnTo>
                  <a:pt x="2153256" y="0"/>
                </a:lnTo>
                <a:lnTo>
                  <a:pt x="2153256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 descr="preencoded.png"/>
          <p:cNvSpPr/>
          <p:nvPr/>
        </p:nvSpPr>
        <p:spPr>
          <a:xfrm>
            <a:off x="11430000" y="0"/>
            <a:ext cx="6858000" cy="10287000"/>
          </a:xfrm>
          <a:custGeom>
            <a:avLst/>
            <a:gdLst/>
            <a:ahLst/>
            <a:cxnLst/>
            <a:rect l="l" t="t" r="r" b="b"/>
            <a:pathLst>
              <a:path w="6858000" h="10287000">
                <a:moveTo>
                  <a:pt x="0" y="0"/>
                </a:moveTo>
                <a:lnTo>
                  <a:pt x="6858000" y="0"/>
                </a:lnTo>
                <a:lnTo>
                  <a:pt x="685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 descr="preencoded.png"/>
          <p:cNvSpPr/>
          <p:nvPr/>
        </p:nvSpPr>
        <p:spPr>
          <a:xfrm>
            <a:off x="11784360" y="3413969"/>
            <a:ext cx="6149131" cy="3458915"/>
          </a:xfrm>
          <a:custGeom>
            <a:avLst/>
            <a:gdLst/>
            <a:ahLst/>
            <a:cxnLst/>
            <a:rect l="l" t="t" r="r" b="b"/>
            <a:pathLst>
              <a:path w="6149131" h="3458915">
                <a:moveTo>
                  <a:pt x="0" y="0"/>
                </a:moveTo>
                <a:lnTo>
                  <a:pt x="6149131" y="0"/>
                </a:lnTo>
                <a:lnTo>
                  <a:pt x="6149131" y="3458915"/>
                </a:lnTo>
                <a:lnTo>
                  <a:pt x="0" y="345891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992238" y="4005709"/>
            <a:ext cx="9404002" cy="914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1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Tuning Kernel Parameters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92238" y="5259735"/>
            <a:ext cx="9445526" cy="992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Kernel parameters control how the Linux manages resources and interacts with hardware.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preencoded.png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811262" y="618381"/>
            <a:ext cx="5795070" cy="7433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87"/>
              </a:lnSpc>
            </a:pPr>
            <a:r>
              <a:rPr lang="en-US" sz="4562" b="1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Kernel Parameters: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11262" y="1749178"/>
            <a:ext cx="16665476" cy="8113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31"/>
              </a:lnSpc>
            </a:pPr>
            <a:r>
              <a:rPr lang="en-US" sz="2100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Kernel parameters control how the </a:t>
            </a:r>
            <a:r>
              <a:rPr lang="en-US" sz="2100" b="1">
                <a:solidFill>
                  <a:srgbClr val="403C4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Linux kernel</a:t>
            </a:r>
            <a:r>
              <a:rPr lang="en-US" sz="2100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 behaves in areas like </a:t>
            </a:r>
            <a:r>
              <a:rPr lang="en-US" sz="2100" b="1">
                <a:solidFill>
                  <a:srgbClr val="403C4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networking</a:t>
            </a:r>
            <a:r>
              <a:rPr lang="en-US" sz="2100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2100" b="1">
                <a:solidFill>
                  <a:srgbClr val="403C4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memory management</a:t>
            </a:r>
            <a:r>
              <a:rPr lang="en-US" sz="2100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2100" b="1">
                <a:solidFill>
                  <a:srgbClr val="403C4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file systems</a:t>
            </a:r>
            <a:r>
              <a:rPr lang="en-US" sz="2100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, etc. These parameters are important because they determine how the system interacts with hardware and manages system resources.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11262" y="3017776"/>
            <a:ext cx="4730651" cy="3716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249" b="1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Why Change Kernel Parameters?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11262" y="3548360"/>
            <a:ext cx="16665476" cy="3781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72"/>
              </a:lnSpc>
            </a:pPr>
            <a:r>
              <a:rPr lang="en-US" sz="2000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Kernel parameters allow you to tune your system for better performance.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11262" y="4179986"/>
            <a:ext cx="16665476" cy="3781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01625" lvl="1" indent="-150813" algn="l">
              <a:lnSpc>
                <a:spcPts val="3172"/>
              </a:lnSpc>
              <a:buFont typeface="Arial"/>
              <a:buChar char="•"/>
            </a:pPr>
            <a:r>
              <a:rPr lang="en-US" sz="2000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You may need to adjust networking parameters if your system is handling many simultaneous connections.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11262" y="4631977"/>
            <a:ext cx="16665476" cy="3781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01625" lvl="1" indent="-150813" algn="l">
              <a:lnSpc>
                <a:spcPts val="3172"/>
              </a:lnSpc>
              <a:buFont typeface="Arial"/>
              <a:buChar char="•"/>
            </a:pPr>
            <a:r>
              <a:rPr lang="en-US" sz="2000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You may tweak memory settings if your system is running out of memory and using swap too often.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11262" y="5467331"/>
            <a:ext cx="4602361" cy="3716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249" b="1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Real-Time Changes with sysctl: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11262" y="6060281"/>
            <a:ext cx="16665476" cy="3781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1" lvl="1" indent="-215900" algn="l">
              <a:lnSpc>
                <a:spcPts val="3172"/>
              </a:lnSpc>
              <a:buFont typeface="Arial"/>
              <a:buChar char="•"/>
            </a:pPr>
            <a:r>
              <a:rPr lang="en-US" sz="2000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The sysctl</a:t>
            </a:r>
            <a:r>
              <a:rPr lang="en-US" sz="2000" b="1">
                <a:solidFill>
                  <a:srgbClr val="403C4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sz="2000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command lets you change kernel parameters </a:t>
            </a:r>
            <a:r>
              <a:rPr lang="en-US" sz="2000" b="1">
                <a:solidFill>
                  <a:srgbClr val="403C4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without rebooting</a:t>
            </a:r>
            <a:r>
              <a:rPr lang="en-US" sz="2000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.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11262" y="6895635"/>
            <a:ext cx="2897535" cy="3660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2349" b="1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Used cases: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11262" y="7488585"/>
            <a:ext cx="16665476" cy="7782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01625" lvl="1" indent="-150813" algn="l">
              <a:lnSpc>
                <a:spcPts val="3172"/>
              </a:lnSpc>
              <a:buFont typeface="Arial"/>
              <a:buChar char="•"/>
            </a:pPr>
            <a:r>
              <a:rPr lang="en-US" sz="2000" b="1">
                <a:solidFill>
                  <a:srgbClr val="403C4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Networking</a:t>
            </a:r>
            <a:r>
              <a:rPr lang="en-US" sz="2000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 parameters like net.ipv4.tcp_max_syn_backlog decide how many incoming network connections the system can handle at once.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11262" y="8342988"/>
            <a:ext cx="16665476" cy="3781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01625" lvl="1" indent="-150813" algn="l">
              <a:lnSpc>
                <a:spcPts val="3172"/>
              </a:lnSpc>
              <a:buFont typeface="Arial"/>
              <a:buChar char="•"/>
            </a:pPr>
            <a:r>
              <a:rPr lang="en-US" sz="2000" b="1">
                <a:solidFill>
                  <a:srgbClr val="403C4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Memory </a:t>
            </a:r>
            <a:r>
              <a:rPr lang="en-US" sz="2000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parameters like vm.swappiness control how the system uses swap space when RAM is full.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11262" y="9203829"/>
            <a:ext cx="16665476" cy="8113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16706" lvl="1" indent="-158353" algn="l">
              <a:lnSpc>
                <a:spcPts val="3331"/>
              </a:lnSpc>
              <a:buFont typeface="Arial"/>
              <a:buChar char="•"/>
            </a:pPr>
            <a:r>
              <a:rPr lang="en-US" sz="2100" b="1">
                <a:solidFill>
                  <a:srgbClr val="403C4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Note</a:t>
            </a:r>
            <a:r>
              <a:rPr lang="en-US" sz="2100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: These </a:t>
            </a:r>
            <a:r>
              <a:rPr lang="en-US" sz="2100" u="sng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parameter names might differ</a:t>
            </a:r>
            <a:r>
              <a:rPr lang="en-US" sz="2100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 as per the kernel versions, and these can also be disabled/renamed by configuration settings.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preencoded.png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Freeform 5" descr="preencoded.png"/>
          <p:cNvSpPr/>
          <p:nvPr/>
        </p:nvSpPr>
        <p:spPr>
          <a:xfrm>
            <a:off x="0" y="0"/>
            <a:ext cx="4572000" cy="10287000"/>
          </a:xfrm>
          <a:custGeom>
            <a:avLst/>
            <a:gdLst/>
            <a:ahLst/>
            <a:cxnLst/>
            <a:rect l="l" t="t" r="r" b="b"/>
            <a:pathLst>
              <a:path w="4572000" h="10287000">
                <a:moveTo>
                  <a:pt x="0" y="0"/>
                </a:moveTo>
                <a:lnTo>
                  <a:pt x="4572000" y="0"/>
                </a:lnTo>
                <a:lnTo>
                  <a:pt x="4572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5346204" y="785217"/>
            <a:ext cx="7305972" cy="7198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37"/>
              </a:lnSpc>
            </a:pPr>
            <a:r>
              <a:rPr lang="en-US" sz="4312" b="1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Making Changes to Kernel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5341441" y="2434679"/>
            <a:ext cx="12177117" cy="755154"/>
            <a:chOff x="0" y="0"/>
            <a:chExt cx="16236157" cy="100687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6236187" cy="1006983"/>
            </a:xfrm>
            <a:custGeom>
              <a:avLst/>
              <a:gdLst/>
              <a:ahLst/>
              <a:cxnLst/>
              <a:rect l="l" t="t" r="r" b="b"/>
              <a:pathLst>
                <a:path w="16236187" h="1006983">
                  <a:moveTo>
                    <a:pt x="0" y="130302"/>
                  </a:moveTo>
                  <a:cubicBezTo>
                    <a:pt x="0" y="58293"/>
                    <a:pt x="59055" y="0"/>
                    <a:pt x="131699" y="0"/>
                  </a:cubicBezTo>
                  <a:lnTo>
                    <a:pt x="16104488" y="0"/>
                  </a:lnTo>
                  <a:lnTo>
                    <a:pt x="16104488" y="6350"/>
                  </a:lnTo>
                  <a:lnTo>
                    <a:pt x="16104488" y="0"/>
                  </a:lnTo>
                  <a:cubicBezTo>
                    <a:pt x="16177132" y="0"/>
                    <a:pt x="16236187" y="58293"/>
                    <a:pt x="16236187" y="130302"/>
                  </a:cubicBezTo>
                  <a:lnTo>
                    <a:pt x="16229837" y="130302"/>
                  </a:lnTo>
                  <a:lnTo>
                    <a:pt x="16236187" y="130302"/>
                  </a:lnTo>
                  <a:lnTo>
                    <a:pt x="16236187" y="876681"/>
                  </a:lnTo>
                  <a:lnTo>
                    <a:pt x="16229837" y="876681"/>
                  </a:lnTo>
                  <a:lnTo>
                    <a:pt x="16236187" y="876681"/>
                  </a:lnTo>
                  <a:cubicBezTo>
                    <a:pt x="16236187" y="948690"/>
                    <a:pt x="16177132" y="1006983"/>
                    <a:pt x="16104488" y="1006983"/>
                  </a:cubicBezTo>
                  <a:lnTo>
                    <a:pt x="16104488" y="1000633"/>
                  </a:lnTo>
                  <a:lnTo>
                    <a:pt x="16104488" y="1006983"/>
                  </a:lnTo>
                  <a:lnTo>
                    <a:pt x="131699" y="1006983"/>
                  </a:lnTo>
                  <a:lnTo>
                    <a:pt x="131699" y="1000633"/>
                  </a:lnTo>
                  <a:lnTo>
                    <a:pt x="131699" y="1006983"/>
                  </a:lnTo>
                  <a:cubicBezTo>
                    <a:pt x="59055" y="1006856"/>
                    <a:pt x="0" y="948690"/>
                    <a:pt x="0" y="876681"/>
                  </a:cubicBezTo>
                  <a:lnTo>
                    <a:pt x="0" y="130302"/>
                  </a:lnTo>
                  <a:lnTo>
                    <a:pt x="6350" y="130302"/>
                  </a:lnTo>
                  <a:lnTo>
                    <a:pt x="0" y="130302"/>
                  </a:lnTo>
                  <a:moveTo>
                    <a:pt x="12700" y="130302"/>
                  </a:moveTo>
                  <a:lnTo>
                    <a:pt x="12700" y="876681"/>
                  </a:lnTo>
                  <a:lnTo>
                    <a:pt x="6350" y="876681"/>
                  </a:lnTo>
                  <a:lnTo>
                    <a:pt x="12700" y="876681"/>
                  </a:lnTo>
                  <a:cubicBezTo>
                    <a:pt x="12700" y="941578"/>
                    <a:pt x="65913" y="994283"/>
                    <a:pt x="131699" y="994283"/>
                  </a:cubicBezTo>
                  <a:lnTo>
                    <a:pt x="16104488" y="994283"/>
                  </a:lnTo>
                  <a:cubicBezTo>
                    <a:pt x="16170275" y="994283"/>
                    <a:pt x="16223487" y="941578"/>
                    <a:pt x="16223487" y="876681"/>
                  </a:cubicBezTo>
                  <a:lnTo>
                    <a:pt x="16223487" y="130302"/>
                  </a:lnTo>
                  <a:cubicBezTo>
                    <a:pt x="16223487" y="65405"/>
                    <a:pt x="16170275" y="12700"/>
                    <a:pt x="16104488" y="12700"/>
                  </a:cubicBezTo>
                  <a:lnTo>
                    <a:pt x="131699" y="12700"/>
                  </a:lnTo>
                  <a:lnTo>
                    <a:pt x="131699" y="6350"/>
                  </a:lnTo>
                  <a:lnTo>
                    <a:pt x="131699" y="12700"/>
                  </a:lnTo>
                  <a:cubicBezTo>
                    <a:pt x="65913" y="12700"/>
                    <a:pt x="12700" y="65405"/>
                    <a:pt x="12700" y="130302"/>
                  </a:cubicBez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355729" y="2448966"/>
            <a:ext cx="12147202" cy="726579"/>
            <a:chOff x="0" y="0"/>
            <a:chExt cx="16196270" cy="96877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6196311" cy="968756"/>
            </a:xfrm>
            <a:custGeom>
              <a:avLst/>
              <a:gdLst/>
              <a:ahLst/>
              <a:cxnLst/>
              <a:rect l="l" t="t" r="r" b="b"/>
              <a:pathLst>
                <a:path w="16196311" h="968756">
                  <a:moveTo>
                    <a:pt x="0" y="0"/>
                  </a:moveTo>
                  <a:lnTo>
                    <a:pt x="16196311" y="0"/>
                  </a:lnTo>
                  <a:lnTo>
                    <a:pt x="16196311" y="968756"/>
                  </a:lnTo>
                  <a:lnTo>
                    <a:pt x="0" y="968756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5982444" y="2505372"/>
            <a:ext cx="3601491" cy="444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82"/>
              </a:lnSpc>
            </a:pPr>
            <a:r>
              <a:rPr lang="en-US" sz="2400" b="1" u="sng">
                <a:solidFill>
                  <a:srgbClr val="403C4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Purpose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631710" y="2505372"/>
            <a:ext cx="3596729" cy="444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82"/>
              </a:lnSpc>
            </a:pPr>
            <a:r>
              <a:rPr lang="en-US" sz="2400" b="1" u="sng">
                <a:solidFill>
                  <a:srgbClr val="403C4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Command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680281" y="2505372"/>
            <a:ext cx="3601491" cy="444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82"/>
              </a:lnSpc>
            </a:pPr>
            <a:r>
              <a:rPr lang="en-US" sz="2400" b="1" u="sng">
                <a:solidFill>
                  <a:srgbClr val="403C4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Description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5341441" y="3429149"/>
            <a:ext cx="12177117" cy="6048821"/>
            <a:chOff x="0" y="0"/>
            <a:chExt cx="16236157" cy="806509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6236189" cy="8065135"/>
            </a:xfrm>
            <a:custGeom>
              <a:avLst/>
              <a:gdLst/>
              <a:ahLst/>
              <a:cxnLst/>
              <a:rect l="l" t="t" r="r" b="b"/>
              <a:pathLst>
                <a:path w="16236189" h="8065135">
                  <a:moveTo>
                    <a:pt x="0" y="130302"/>
                  </a:moveTo>
                  <a:cubicBezTo>
                    <a:pt x="0" y="58293"/>
                    <a:pt x="58420" y="0"/>
                    <a:pt x="130429" y="0"/>
                  </a:cubicBezTo>
                  <a:lnTo>
                    <a:pt x="16105760" y="0"/>
                  </a:lnTo>
                  <a:lnTo>
                    <a:pt x="16105760" y="6350"/>
                  </a:lnTo>
                  <a:lnTo>
                    <a:pt x="16105760" y="0"/>
                  </a:lnTo>
                  <a:cubicBezTo>
                    <a:pt x="16177769" y="0"/>
                    <a:pt x="16236189" y="58293"/>
                    <a:pt x="16236189" y="130302"/>
                  </a:cubicBezTo>
                  <a:lnTo>
                    <a:pt x="16229839" y="130302"/>
                  </a:lnTo>
                  <a:lnTo>
                    <a:pt x="16236189" y="130302"/>
                  </a:lnTo>
                  <a:lnTo>
                    <a:pt x="16236189" y="7934833"/>
                  </a:lnTo>
                  <a:lnTo>
                    <a:pt x="16229839" y="7934833"/>
                  </a:lnTo>
                  <a:lnTo>
                    <a:pt x="16236189" y="7934833"/>
                  </a:lnTo>
                  <a:cubicBezTo>
                    <a:pt x="16236189" y="8006842"/>
                    <a:pt x="16177769" y="8065135"/>
                    <a:pt x="16105760" y="8065135"/>
                  </a:cubicBezTo>
                  <a:lnTo>
                    <a:pt x="16105760" y="8058785"/>
                  </a:lnTo>
                  <a:lnTo>
                    <a:pt x="16105760" y="8065135"/>
                  </a:lnTo>
                  <a:lnTo>
                    <a:pt x="130429" y="8065135"/>
                  </a:lnTo>
                  <a:lnTo>
                    <a:pt x="130429" y="8058785"/>
                  </a:lnTo>
                  <a:lnTo>
                    <a:pt x="130429" y="8065135"/>
                  </a:lnTo>
                  <a:cubicBezTo>
                    <a:pt x="58420" y="8065135"/>
                    <a:pt x="0" y="8006715"/>
                    <a:pt x="0" y="7934833"/>
                  </a:cubicBezTo>
                  <a:lnTo>
                    <a:pt x="0" y="130302"/>
                  </a:lnTo>
                  <a:lnTo>
                    <a:pt x="6350" y="130302"/>
                  </a:lnTo>
                  <a:lnTo>
                    <a:pt x="0" y="130302"/>
                  </a:lnTo>
                  <a:moveTo>
                    <a:pt x="12700" y="130302"/>
                  </a:moveTo>
                  <a:lnTo>
                    <a:pt x="12700" y="7934833"/>
                  </a:lnTo>
                  <a:lnTo>
                    <a:pt x="6350" y="7934833"/>
                  </a:lnTo>
                  <a:lnTo>
                    <a:pt x="12700" y="7934833"/>
                  </a:lnTo>
                  <a:cubicBezTo>
                    <a:pt x="12700" y="7999730"/>
                    <a:pt x="65405" y="8052435"/>
                    <a:pt x="130429" y="8052435"/>
                  </a:cubicBezTo>
                  <a:lnTo>
                    <a:pt x="16105760" y="8052435"/>
                  </a:lnTo>
                  <a:cubicBezTo>
                    <a:pt x="16170783" y="8052435"/>
                    <a:pt x="16223489" y="7999730"/>
                    <a:pt x="16223489" y="7934833"/>
                  </a:cubicBezTo>
                  <a:lnTo>
                    <a:pt x="16223489" y="130302"/>
                  </a:lnTo>
                  <a:cubicBezTo>
                    <a:pt x="16223489" y="65405"/>
                    <a:pt x="16170783" y="12700"/>
                    <a:pt x="16105760" y="12700"/>
                  </a:cubicBezTo>
                  <a:lnTo>
                    <a:pt x="130429" y="12700"/>
                  </a:lnTo>
                  <a:lnTo>
                    <a:pt x="130429" y="6350"/>
                  </a:lnTo>
                  <a:lnTo>
                    <a:pt x="130429" y="12700"/>
                  </a:lnTo>
                  <a:cubicBezTo>
                    <a:pt x="65405" y="12700"/>
                    <a:pt x="12700" y="65405"/>
                    <a:pt x="12700" y="130302"/>
                  </a:cubicBez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5355729" y="3443436"/>
            <a:ext cx="12148542" cy="991791"/>
            <a:chOff x="0" y="0"/>
            <a:chExt cx="16198057" cy="132238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6198087" cy="1322451"/>
            </a:xfrm>
            <a:custGeom>
              <a:avLst/>
              <a:gdLst/>
              <a:ahLst/>
              <a:cxnLst/>
              <a:rect l="l" t="t" r="r" b="b"/>
              <a:pathLst>
                <a:path w="16198087" h="1322451">
                  <a:moveTo>
                    <a:pt x="0" y="0"/>
                  </a:moveTo>
                  <a:lnTo>
                    <a:pt x="16198087" y="0"/>
                  </a:lnTo>
                  <a:lnTo>
                    <a:pt x="16198087" y="1322451"/>
                  </a:lnTo>
                  <a:lnTo>
                    <a:pt x="0" y="1322451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5577036" y="3518892"/>
            <a:ext cx="4412308" cy="3399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3"/>
              </a:lnSpc>
            </a:pPr>
            <a:r>
              <a:rPr lang="en-US" sz="1800" b="1">
                <a:solidFill>
                  <a:srgbClr val="403C4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View Parameters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272736" y="3452217"/>
            <a:ext cx="4407545" cy="4473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22"/>
              </a:lnSpc>
            </a:pPr>
            <a:r>
              <a:rPr lang="en-US" sz="2100">
                <a:solidFill>
                  <a:srgbClr val="403C4E"/>
                </a:solidFill>
                <a:latin typeface="Consolas"/>
                <a:ea typeface="Consolas"/>
                <a:cs typeface="Consolas"/>
                <a:sym typeface="Consolas"/>
              </a:rPr>
              <a:t>sysctl -a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4584626" y="3518892"/>
            <a:ext cx="2698487" cy="7114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3"/>
              </a:lnSpc>
            </a:pPr>
            <a:r>
              <a:rPr lang="en-US" sz="1800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To see all current kernel parameters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5355729" y="4435227"/>
            <a:ext cx="12148542" cy="1025263"/>
            <a:chOff x="0" y="0"/>
            <a:chExt cx="16198057" cy="1367017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6198087" cy="1367073"/>
            </a:xfrm>
            <a:custGeom>
              <a:avLst/>
              <a:gdLst/>
              <a:ahLst/>
              <a:cxnLst/>
              <a:rect l="l" t="t" r="r" b="b"/>
              <a:pathLst>
                <a:path w="16198087" h="1367073">
                  <a:moveTo>
                    <a:pt x="0" y="0"/>
                  </a:moveTo>
                  <a:lnTo>
                    <a:pt x="16198087" y="0"/>
                  </a:lnTo>
                  <a:lnTo>
                    <a:pt x="16198087" y="1367073"/>
                  </a:lnTo>
                  <a:lnTo>
                    <a:pt x="0" y="136707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5577036" y="4510683"/>
            <a:ext cx="4412308" cy="3399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3"/>
              </a:lnSpc>
            </a:pPr>
            <a:r>
              <a:rPr lang="en-US" sz="1800" b="1">
                <a:solidFill>
                  <a:srgbClr val="403C4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Modify Parameters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272736" y="4549825"/>
            <a:ext cx="4407545" cy="4473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22"/>
              </a:lnSpc>
            </a:pPr>
            <a:r>
              <a:rPr lang="en-US" sz="2100">
                <a:solidFill>
                  <a:srgbClr val="403C4E"/>
                </a:solidFill>
                <a:latin typeface="Consolas"/>
                <a:ea typeface="Consolas"/>
                <a:cs typeface="Consolas"/>
                <a:sym typeface="Consolas"/>
              </a:rPr>
              <a:t>sysctl -w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4584626" y="4510683"/>
            <a:ext cx="2698487" cy="7114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3"/>
              </a:lnSpc>
            </a:pPr>
            <a:r>
              <a:rPr lang="en-US" sz="1800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To change specific parameters temporarily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5355729" y="5603365"/>
            <a:ext cx="12148542" cy="831205"/>
            <a:chOff x="0" y="0"/>
            <a:chExt cx="16198057" cy="1108273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6198087" cy="1108329"/>
            </a:xfrm>
            <a:custGeom>
              <a:avLst/>
              <a:gdLst/>
              <a:ahLst/>
              <a:cxnLst/>
              <a:rect l="l" t="t" r="r" b="b"/>
              <a:pathLst>
                <a:path w="16198087" h="1108329">
                  <a:moveTo>
                    <a:pt x="0" y="0"/>
                  </a:moveTo>
                  <a:lnTo>
                    <a:pt x="16198087" y="0"/>
                  </a:lnTo>
                  <a:lnTo>
                    <a:pt x="16198087" y="1108329"/>
                  </a:lnTo>
                  <a:lnTo>
                    <a:pt x="0" y="1108329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5577036" y="5856237"/>
            <a:ext cx="4412308" cy="3399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3"/>
              </a:lnSpc>
            </a:pPr>
            <a:r>
              <a:rPr lang="en-US" sz="1800" b="1">
                <a:solidFill>
                  <a:srgbClr val="403C4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Verify Changes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583936" y="5748781"/>
            <a:ext cx="4407545" cy="4473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22"/>
              </a:lnSpc>
            </a:pPr>
            <a:r>
              <a:rPr lang="en-US" sz="2100">
                <a:solidFill>
                  <a:srgbClr val="403C4E"/>
                </a:solidFill>
                <a:latin typeface="Consolas"/>
                <a:ea typeface="Consolas"/>
                <a:cs typeface="Consolas"/>
                <a:sym typeface="Consolas"/>
              </a:rPr>
              <a:t>sysctl &lt;parameter&gt;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4584626" y="5856237"/>
            <a:ext cx="2698487" cy="7114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3"/>
              </a:lnSpc>
            </a:pPr>
            <a:r>
              <a:rPr lang="en-US" sz="1800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To check if changes were applied.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5370016" y="6659512"/>
            <a:ext cx="12148542" cy="991791"/>
            <a:chOff x="0" y="0"/>
            <a:chExt cx="16198057" cy="1322388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6198087" cy="1322451"/>
            </a:xfrm>
            <a:custGeom>
              <a:avLst/>
              <a:gdLst/>
              <a:ahLst/>
              <a:cxnLst/>
              <a:rect l="l" t="t" r="r" b="b"/>
              <a:pathLst>
                <a:path w="16198087" h="1322451">
                  <a:moveTo>
                    <a:pt x="0" y="0"/>
                  </a:moveTo>
                  <a:lnTo>
                    <a:pt x="16198087" y="0"/>
                  </a:lnTo>
                  <a:lnTo>
                    <a:pt x="16198087" y="1322451"/>
                  </a:lnTo>
                  <a:lnTo>
                    <a:pt x="0" y="132245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5577036" y="6977495"/>
            <a:ext cx="4412308" cy="3399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3"/>
              </a:lnSpc>
            </a:pPr>
            <a:r>
              <a:rPr lang="en-US" sz="1800" b="1">
                <a:solidFill>
                  <a:srgbClr val="403C4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Make Persistent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781761" y="6910820"/>
            <a:ext cx="4407545" cy="4473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22"/>
              </a:lnSpc>
            </a:pPr>
            <a:r>
              <a:rPr lang="en-US" sz="2100">
                <a:solidFill>
                  <a:srgbClr val="403C4E"/>
                </a:solidFill>
                <a:latin typeface="Consolas"/>
                <a:ea typeface="Consolas"/>
                <a:cs typeface="Consolas"/>
                <a:sym typeface="Consolas"/>
              </a:rPr>
              <a:t>Edit /etc/sysctl.conf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4560813" y="6977495"/>
            <a:ext cx="2698487" cy="3399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3"/>
              </a:lnSpc>
            </a:pPr>
            <a:r>
              <a:rPr lang="en-US" sz="1800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For permanent changes.</a:t>
            </a:r>
          </a:p>
        </p:txBody>
      </p:sp>
      <p:grpSp>
        <p:nvGrpSpPr>
          <p:cNvPr id="36" name="Group 36"/>
          <p:cNvGrpSpPr/>
          <p:nvPr/>
        </p:nvGrpSpPr>
        <p:grpSpPr>
          <a:xfrm>
            <a:off x="5341441" y="7994304"/>
            <a:ext cx="12148542" cy="968741"/>
            <a:chOff x="0" y="0"/>
            <a:chExt cx="16198057" cy="1291654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6198087" cy="1291710"/>
            </a:xfrm>
            <a:custGeom>
              <a:avLst/>
              <a:gdLst/>
              <a:ahLst/>
              <a:cxnLst/>
              <a:rect l="l" t="t" r="r" b="b"/>
              <a:pathLst>
                <a:path w="16198087" h="1291710">
                  <a:moveTo>
                    <a:pt x="0" y="0"/>
                  </a:moveTo>
                  <a:lnTo>
                    <a:pt x="16198087" y="0"/>
                  </a:lnTo>
                  <a:lnTo>
                    <a:pt x="16198087" y="1291710"/>
                  </a:lnTo>
                  <a:lnTo>
                    <a:pt x="0" y="1291710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5577036" y="8051354"/>
            <a:ext cx="4412308" cy="3399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3"/>
              </a:lnSpc>
            </a:pPr>
            <a:r>
              <a:rPr lang="en-US" sz="1800" b="1">
                <a:solidFill>
                  <a:srgbClr val="403C4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Apply Permanently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9781761" y="7984679"/>
            <a:ext cx="4407545" cy="4473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22"/>
              </a:lnSpc>
            </a:pPr>
            <a:r>
              <a:rPr lang="en-US" sz="2100">
                <a:solidFill>
                  <a:srgbClr val="403C4E"/>
                </a:solidFill>
                <a:latin typeface="Consolas"/>
                <a:ea typeface="Consolas"/>
                <a:cs typeface="Consolas"/>
                <a:sym typeface="Consolas"/>
              </a:rPr>
              <a:t>Use sudo sysctl -p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4560813" y="8051354"/>
            <a:ext cx="2929171" cy="7114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3"/>
              </a:lnSpc>
            </a:pPr>
            <a:r>
              <a:rPr lang="en-US" sz="1800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To reload and apply persistent changes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preencoded.png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Freeform 5" descr="preencoded.png">
            <a:hlinkClick r:id="rId4" tooltip="https://gamma.app/?utm_source=made-with-gamma"/>
          </p:cNvPr>
          <p:cNvSpPr/>
          <p:nvPr/>
        </p:nvSpPr>
        <p:spPr>
          <a:xfrm>
            <a:off x="16049019" y="9686925"/>
            <a:ext cx="2153256" cy="514350"/>
          </a:xfrm>
          <a:custGeom>
            <a:avLst/>
            <a:gdLst/>
            <a:ahLst/>
            <a:cxnLst/>
            <a:rect l="l" t="t" r="r" b="b"/>
            <a:pathLst>
              <a:path w="2153256" h="514350">
                <a:moveTo>
                  <a:pt x="0" y="0"/>
                </a:moveTo>
                <a:lnTo>
                  <a:pt x="2153256" y="0"/>
                </a:lnTo>
                <a:lnTo>
                  <a:pt x="2153256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 descr="preencoded.png"/>
          <p:cNvSpPr/>
          <p:nvPr/>
        </p:nvSpPr>
        <p:spPr>
          <a:xfrm>
            <a:off x="11430000" y="0"/>
            <a:ext cx="6858000" cy="10287000"/>
          </a:xfrm>
          <a:custGeom>
            <a:avLst/>
            <a:gdLst/>
            <a:ahLst/>
            <a:cxnLst/>
            <a:rect l="l" t="t" r="r" b="b"/>
            <a:pathLst>
              <a:path w="6858000" h="10287000">
                <a:moveTo>
                  <a:pt x="0" y="0"/>
                </a:moveTo>
                <a:lnTo>
                  <a:pt x="6858000" y="0"/>
                </a:lnTo>
                <a:lnTo>
                  <a:pt x="685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860353" y="4693444"/>
            <a:ext cx="10067270" cy="8715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1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Disk Partitioning Strategies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preencoded.png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992238" y="2193429"/>
            <a:ext cx="7446211" cy="8715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1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Disk Partitioning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08659" y="4108102"/>
            <a:ext cx="4139804" cy="452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37"/>
              </a:lnSpc>
            </a:pPr>
            <a:r>
              <a:rPr lang="en-US" sz="2750" b="1" u="sng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Read-heavy Workloads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2238" y="4758333"/>
            <a:ext cx="4972645" cy="8613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31787" lvl="1" indent="-165894" algn="l">
              <a:lnSpc>
                <a:spcPts val="3582"/>
              </a:lnSpc>
              <a:buFont typeface="Arial"/>
              <a:buChar char="•"/>
            </a:pPr>
            <a:r>
              <a:rPr lang="en-US" sz="2199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Tasks that need to retrieve large amounts of data quickly.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92238" y="5764709"/>
            <a:ext cx="4972645" cy="13090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31787" lvl="1" indent="-165894" algn="l">
              <a:lnSpc>
                <a:spcPts val="3582"/>
              </a:lnSpc>
              <a:buFont typeface="Arial"/>
              <a:buChar char="•"/>
            </a:pPr>
            <a:r>
              <a:rPr lang="en-US" sz="2199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Example - </a:t>
            </a:r>
            <a:r>
              <a:rPr lang="en-US" sz="2199" b="1">
                <a:solidFill>
                  <a:srgbClr val="403C4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SSDs</a:t>
            </a:r>
            <a:r>
              <a:rPr lang="en-US" sz="2199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  are ideal because they offer </a:t>
            </a:r>
            <a:r>
              <a:rPr lang="en-US" sz="2199" b="1">
                <a:solidFill>
                  <a:srgbClr val="403C4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faster read speeds</a:t>
            </a:r>
            <a:r>
              <a:rPr lang="en-US" sz="2199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 than traditional HDDs.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024092" y="4108102"/>
            <a:ext cx="4256634" cy="452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37"/>
              </a:lnSpc>
            </a:pPr>
            <a:r>
              <a:rPr lang="en-US" sz="2750" b="1" u="sng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Write-heavy Workloads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666160" y="4758333"/>
            <a:ext cx="4972645" cy="17566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31787" lvl="1" indent="-165894" algn="l">
              <a:lnSpc>
                <a:spcPts val="3582"/>
              </a:lnSpc>
              <a:buFont typeface="Arial"/>
              <a:buChar char="•"/>
            </a:pPr>
            <a:r>
              <a:rPr lang="en-US" sz="2199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These tasks frequently modify or add data to handle heavy writing, often used for speed and </a:t>
            </a:r>
            <a:r>
              <a:rPr lang="en-US" sz="2199" b="1">
                <a:solidFill>
                  <a:srgbClr val="403C4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data safety</a:t>
            </a:r>
            <a:r>
              <a:rPr lang="en-US" sz="2199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666160" y="6671965"/>
            <a:ext cx="4972645" cy="8613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31787" lvl="1" indent="-165894" algn="l">
              <a:lnSpc>
                <a:spcPts val="3582"/>
              </a:lnSpc>
              <a:buFont typeface="Arial"/>
              <a:buChar char="•"/>
            </a:pPr>
            <a:r>
              <a:rPr lang="en-US" sz="2199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Example - Storing large amounts of data or backups in the cloud.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054310" y="4108102"/>
            <a:ext cx="3544044" cy="452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37"/>
              </a:lnSpc>
            </a:pPr>
            <a:r>
              <a:rPr lang="en-US" sz="2750" b="1" u="sng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Mounting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340084" y="4758333"/>
            <a:ext cx="4972645" cy="17566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31787" lvl="1" indent="-165894" algn="l">
              <a:lnSpc>
                <a:spcPts val="3582"/>
              </a:lnSpc>
              <a:buFont typeface="Arial"/>
              <a:buChar char="•"/>
            </a:pPr>
            <a:r>
              <a:rPr lang="en-US" sz="2199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The process of making a </a:t>
            </a:r>
            <a:r>
              <a:rPr lang="en-US" sz="2199" b="1">
                <a:solidFill>
                  <a:srgbClr val="403C4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disk or partition</a:t>
            </a:r>
            <a:r>
              <a:rPr lang="en-US" sz="2199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 accessible to the operating system (OS) at a specific location.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340084" y="6671965"/>
            <a:ext cx="4972645" cy="4136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31787" lvl="1" indent="-165894" algn="l">
              <a:lnSpc>
                <a:spcPts val="3582"/>
              </a:lnSpc>
              <a:buFont typeface="Arial"/>
              <a:buChar char="•"/>
            </a:pPr>
            <a:r>
              <a:rPr lang="en-US" sz="2199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Example - Local disk (C)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preencoded.png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Freeform 5" descr="preencoded.png"/>
          <p:cNvSpPr/>
          <p:nvPr/>
        </p:nvSpPr>
        <p:spPr>
          <a:xfrm>
            <a:off x="0" y="0"/>
            <a:ext cx="6744956" cy="10287000"/>
          </a:xfrm>
          <a:custGeom>
            <a:avLst/>
            <a:gdLst/>
            <a:ahLst/>
            <a:cxnLst/>
            <a:rect l="l" t="t" r="r" b="b"/>
            <a:pathLst>
              <a:path w="6744956" h="10287000">
                <a:moveTo>
                  <a:pt x="0" y="0"/>
                </a:moveTo>
                <a:lnTo>
                  <a:pt x="6744956" y="0"/>
                </a:lnTo>
                <a:lnTo>
                  <a:pt x="674495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167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7472911" y="932557"/>
            <a:ext cx="9075687" cy="8035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25"/>
              </a:lnSpc>
            </a:pPr>
            <a:r>
              <a:rPr lang="en-US" sz="4937" b="1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Disk Partitioning commands</a:t>
            </a:r>
          </a:p>
        </p:txBody>
      </p:sp>
      <p:sp>
        <p:nvSpPr>
          <p:cNvPr id="7" name="Freeform 7" descr="preencoded.png"/>
          <p:cNvSpPr/>
          <p:nvPr/>
        </p:nvSpPr>
        <p:spPr>
          <a:xfrm>
            <a:off x="7736681" y="2774305"/>
            <a:ext cx="627609" cy="627609"/>
          </a:xfrm>
          <a:custGeom>
            <a:avLst/>
            <a:gdLst/>
            <a:ahLst/>
            <a:cxnLst/>
            <a:rect l="l" t="t" r="r" b="b"/>
            <a:pathLst>
              <a:path w="627609" h="627609">
                <a:moveTo>
                  <a:pt x="0" y="0"/>
                </a:moveTo>
                <a:lnTo>
                  <a:pt x="627609" y="0"/>
                </a:lnTo>
                <a:lnTo>
                  <a:pt x="627609" y="627609"/>
                </a:lnTo>
                <a:lnTo>
                  <a:pt x="0" y="62760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7736681" y="3633787"/>
            <a:ext cx="3138190" cy="4113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437" b="1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View Partitions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736681" y="4110037"/>
            <a:ext cx="4648051" cy="889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92199" lvl="1" indent="-146100" algn="l">
              <a:lnSpc>
                <a:spcPts val="3125"/>
              </a:lnSpc>
              <a:buFont typeface="Arial"/>
              <a:buChar char="•"/>
            </a:pPr>
            <a:r>
              <a:rPr lang="en-US" sz="1937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Use </a:t>
            </a:r>
            <a:r>
              <a:rPr lang="en-US" sz="1937" b="1">
                <a:solidFill>
                  <a:srgbClr val="1F713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lsblk</a:t>
            </a:r>
            <a:r>
              <a:rPr lang="en-US" sz="1937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 to list all disks and partitions.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736681" y="5001220"/>
            <a:ext cx="4648051" cy="889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92199" lvl="1" indent="-146100" algn="l">
              <a:lnSpc>
                <a:spcPts val="3125"/>
              </a:lnSpc>
              <a:buFont typeface="Arial"/>
              <a:buChar char="•"/>
            </a:pPr>
            <a:r>
              <a:rPr lang="en-US" sz="1937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Might not be available by default so use "</a:t>
            </a:r>
            <a:r>
              <a:rPr lang="en-US" sz="1937" i="1">
                <a:solidFill>
                  <a:srgbClr val="1F7135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sudo apt/yum install util-linux</a:t>
            </a:r>
            <a:r>
              <a:rPr lang="en-US" sz="1937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"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736681" y="5892404"/>
            <a:ext cx="4648051" cy="4874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92199" lvl="1" indent="-146100" algn="l">
              <a:lnSpc>
                <a:spcPts val="3125"/>
              </a:lnSpc>
              <a:buFont typeface="Arial"/>
              <a:buChar char="•"/>
            </a:pPr>
            <a:r>
              <a:rPr lang="en-US" sz="1937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For Mac: </a:t>
            </a:r>
            <a:r>
              <a:rPr lang="en-US" sz="1937" b="1">
                <a:solidFill>
                  <a:srgbClr val="1F713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diskutil list</a:t>
            </a:r>
          </a:p>
        </p:txBody>
      </p:sp>
      <p:sp>
        <p:nvSpPr>
          <p:cNvPr id="12" name="Freeform 12" descr="preencoded.png"/>
          <p:cNvSpPr/>
          <p:nvPr/>
        </p:nvSpPr>
        <p:spPr>
          <a:xfrm>
            <a:off x="12761268" y="2774305"/>
            <a:ext cx="627609" cy="627609"/>
          </a:xfrm>
          <a:custGeom>
            <a:avLst/>
            <a:gdLst/>
            <a:ahLst/>
            <a:cxnLst/>
            <a:rect l="l" t="t" r="r" b="b"/>
            <a:pathLst>
              <a:path w="627609" h="627609">
                <a:moveTo>
                  <a:pt x="0" y="0"/>
                </a:moveTo>
                <a:lnTo>
                  <a:pt x="627608" y="0"/>
                </a:lnTo>
                <a:lnTo>
                  <a:pt x="627608" y="627609"/>
                </a:lnTo>
                <a:lnTo>
                  <a:pt x="0" y="62760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TextBox 13"/>
          <p:cNvSpPr txBox="1"/>
          <p:nvPr/>
        </p:nvSpPr>
        <p:spPr>
          <a:xfrm>
            <a:off x="12761268" y="3633787"/>
            <a:ext cx="3138190" cy="4113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437" b="1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Create Partition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761268" y="4110037"/>
            <a:ext cx="4648051" cy="889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Use </a:t>
            </a:r>
            <a:r>
              <a:rPr lang="en-US" sz="1937" b="1">
                <a:solidFill>
                  <a:srgbClr val="1F713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sudo</a:t>
            </a:r>
            <a:r>
              <a:rPr lang="en-US" sz="1937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937" b="1">
                <a:solidFill>
                  <a:srgbClr val="1F713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fdisk</a:t>
            </a:r>
            <a:r>
              <a:rPr lang="en-US" sz="1937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 to create new partitions.</a:t>
            </a:r>
          </a:p>
        </p:txBody>
      </p:sp>
      <p:sp>
        <p:nvSpPr>
          <p:cNvPr id="15" name="Freeform 15" descr="preencoded.png"/>
          <p:cNvSpPr/>
          <p:nvPr/>
        </p:nvSpPr>
        <p:spPr>
          <a:xfrm>
            <a:off x="7736681" y="7132885"/>
            <a:ext cx="627609" cy="627609"/>
          </a:xfrm>
          <a:custGeom>
            <a:avLst/>
            <a:gdLst/>
            <a:ahLst/>
            <a:cxnLst/>
            <a:rect l="l" t="t" r="r" b="b"/>
            <a:pathLst>
              <a:path w="627609" h="627609">
                <a:moveTo>
                  <a:pt x="0" y="0"/>
                </a:moveTo>
                <a:lnTo>
                  <a:pt x="627609" y="0"/>
                </a:lnTo>
                <a:lnTo>
                  <a:pt x="627609" y="627609"/>
                </a:lnTo>
                <a:lnTo>
                  <a:pt x="0" y="62760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TextBox 16"/>
          <p:cNvSpPr txBox="1"/>
          <p:nvPr/>
        </p:nvSpPr>
        <p:spPr>
          <a:xfrm>
            <a:off x="7736681" y="7992367"/>
            <a:ext cx="3138190" cy="4113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437" b="1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Mount Partition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736681" y="8468617"/>
            <a:ext cx="4648051" cy="889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Use </a:t>
            </a:r>
            <a:r>
              <a:rPr lang="en-US" sz="1937" b="1">
                <a:solidFill>
                  <a:srgbClr val="1F713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sudo mount</a:t>
            </a:r>
            <a:r>
              <a:rPr lang="en-US" sz="1937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 to make a partition accessible.</a:t>
            </a:r>
          </a:p>
        </p:txBody>
      </p:sp>
      <p:sp>
        <p:nvSpPr>
          <p:cNvPr id="18" name="Freeform 18" descr="preencoded.png"/>
          <p:cNvSpPr/>
          <p:nvPr/>
        </p:nvSpPr>
        <p:spPr>
          <a:xfrm>
            <a:off x="12761268" y="7132885"/>
            <a:ext cx="627609" cy="627609"/>
          </a:xfrm>
          <a:custGeom>
            <a:avLst/>
            <a:gdLst/>
            <a:ahLst/>
            <a:cxnLst/>
            <a:rect l="l" t="t" r="r" b="b"/>
            <a:pathLst>
              <a:path w="627609" h="627609">
                <a:moveTo>
                  <a:pt x="0" y="0"/>
                </a:moveTo>
                <a:lnTo>
                  <a:pt x="627608" y="0"/>
                </a:lnTo>
                <a:lnTo>
                  <a:pt x="627608" y="627609"/>
                </a:lnTo>
                <a:lnTo>
                  <a:pt x="0" y="62760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TextBox 19"/>
          <p:cNvSpPr txBox="1"/>
          <p:nvPr/>
        </p:nvSpPr>
        <p:spPr>
          <a:xfrm>
            <a:off x="12761268" y="7992367"/>
            <a:ext cx="3138190" cy="4113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437" b="1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Check Mounts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761268" y="8468617"/>
            <a:ext cx="4648051" cy="889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Use </a:t>
            </a:r>
            <a:r>
              <a:rPr lang="en-US" sz="1937" b="1">
                <a:solidFill>
                  <a:srgbClr val="1F713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df -h</a:t>
            </a:r>
            <a:r>
              <a:rPr lang="en-US" sz="1937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 to verify that a partition is mounted correctly.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preencoded.png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Freeform 5" descr="preencoded.png">
            <a:hlinkClick r:id="rId4" tooltip="https://gamma.app/?utm_source=made-with-gamma"/>
          </p:cNvPr>
          <p:cNvSpPr/>
          <p:nvPr/>
        </p:nvSpPr>
        <p:spPr>
          <a:xfrm>
            <a:off x="16049019" y="9686925"/>
            <a:ext cx="2153256" cy="514350"/>
          </a:xfrm>
          <a:custGeom>
            <a:avLst/>
            <a:gdLst/>
            <a:ahLst/>
            <a:cxnLst/>
            <a:rect l="l" t="t" r="r" b="b"/>
            <a:pathLst>
              <a:path w="2153256" h="514350">
                <a:moveTo>
                  <a:pt x="0" y="0"/>
                </a:moveTo>
                <a:lnTo>
                  <a:pt x="2153256" y="0"/>
                </a:lnTo>
                <a:lnTo>
                  <a:pt x="2153256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 descr="preencoded.png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992237" y="1336096"/>
            <a:ext cx="7088237" cy="7977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38"/>
              </a:lnSpc>
            </a:pPr>
            <a:r>
              <a:rPr lang="en-US" sz="5162" b="1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Conclusion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2976250"/>
            <a:ext cx="16303526" cy="8613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31787" lvl="1" indent="-165894" algn="l">
              <a:lnSpc>
                <a:spcPts val="3582"/>
              </a:lnSpc>
              <a:buFont typeface="Arial"/>
              <a:buChar char="•"/>
            </a:pPr>
            <a:r>
              <a:rPr lang="en-US" sz="2199" b="1">
                <a:solidFill>
                  <a:srgbClr val="403C4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Prometheus</a:t>
            </a:r>
            <a:r>
              <a:rPr lang="en-US" sz="2199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 collects and stores the metrics, </a:t>
            </a:r>
            <a:r>
              <a:rPr lang="en-US" sz="2199" b="1">
                <a:solidFill>
                  <a:srgbClr val="403C4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Grafana</a:t>
            </a:r>
            <a:r>
              <a:rPr lang="en-US" sz="2199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 visualizes those metrics in an easy-to-read dashboard for better operational insights.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92237" y="4302919"/>
            <a:ext cx="16303526" cy="13090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31787" lvl="1" indent="-165894" algn="l">
              <a:lnSpc>
                <a:spcPts val="3582"/>
              </a:lnSpc>
              <a:buFont typeface="Arial"/>
              <a:buChar char="•"/>
            </a:pPr>
            <a:r>
              <a:rPr lang="en-US" sz="2199" b="1">
                <a:solidFill>
                  <a:srgbClr val="403C4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CPU Affinity</a:t>
            </a:r>
            <a:r>
              <a:rPr lang="en-US" sz="2199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: Best when you want to optimize </a:t>
            </a:r>
            <a:r>
              <a:rPr lang="en-US" sz="2199" b="1">
                <a:solidFill>
                  <a:srgbClr val="403C4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local resources</a:t>
            </a:r>
            <a:r>
              <a:rPr lang="en-US" sz="2199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 (CPU cores) on a single machine without external dependencies. </a:t>
            </a:r>
            <a:r>
              <a:rPr lang="en-US" sz="2199" b="1">
                <a:solidFill>
                  <a:srgbClr val="403C4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Task Offloading</a:t>
            </a:r>
            <a:r>
              <a:rPr lang="en-US" sz="2199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: Best when the task demands </a:t>
            </a:r>
            <a:r>
              <a:rPr lang="en-US" sz="2199" b="1">
                <a:solidFill>
                  <a:srgbClr val="403C4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specialized resources</a:t>
            </a:r>
            <a:r>
              <a:rPr lang="en-US" sz="2199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 (e.g., GPU, cloud) or when you want to offload workloads to </a:t>
            </a:r>
            <a:r>
              <a:rPr lang="en-US" sz="2199" b="1">
                <a:solidFill>
                  <a:srgbClr val="403C4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distributed systems</a:t>
            </a:r>
            <a:r>
              <a:rPr lang="en-US" sz="2199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 to scale.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92237" y="6078651"/>
            <a:ext cx="16303526" cy="13090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31787" lvl="1" indent="-165894" algn="l">
              <a:lnSpc>
                <a:spcPts val="3582"/>
              </a:lnSpc>
              <a:buFont typeface="Arial"/>
              <a:buChar char="•"/>
            </a:pPr>
            <a:r>
              <a:rPr lang="en-US" sz="2199" b="1">
                <a:solidFill>
                  <a:srgbClr val="403C4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Kernel parameters</a:t>
            </a:r>
            <a:r>
              <a:rPr lang="en-US" sz="2199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 control the system behavior for networking, memory management, and other resource allocation tasks. The sysctl command allows you to modify these parameters in real-time without needing to reboot. Changes can be applied temporarily or made persistent by modifying system configuration files.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7905899"/>
            <a:ext cx="16303526" cy="8613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31787" lvl="1" indent="-165894" algn="l">
              <a:lnSpc>
                <a:spcPts val="3582"/>
              </a:lnSpc>
              <a:buFont typeface="Arial"/>
              <a:buChar char="•"/>
            </a:pPr>
            <a:r>
              <a:rPr lang="en-US" sz="2199" b="1">
                <a:solidFill>
                  <a:srgbClr val="403C4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Partitioning</a:t>
            </a:r>
            <a:r>
              <a:rPr lang="en-US" sz="2199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 is useful for </a:t>
            </a:r>
            <a:r>
              <a:rPr lang="en-US" sz="2199" b="1">
                <a:solidFill>
                  <a:srgbClr val="403C4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optimizing</a:t>
            </a:r>
            <a:r>
              <a:rPr lang="en-US" sz="2199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 disk performance for </a:t>
            </a:r>
            <a:r>
              <a:rPr lang="en-US" sz="2199" b="1">
                <a:solidFill>
                  <a:srgbClr val="403C4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read-heavy</a:t>
            </a:r>
            <a:r>
              <a:rPr lang="en-US" sz="2199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 or </a:t>
            </a:r>
            <a:r>
              <a:rPr lang="en-US" sz="2199" b="1">
                <a:solidFill>
                  <a:srgbClr val="403C4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write-heavy</a:t>
            </a:r>
            <a:r>
              <a:rPr lang="en-US" sz="2199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 tasks. The fdisk and mount commands help in creating partitions and making them accessible.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1538</Words>
  <Application>Microsoft Macintosh PowerPoint</Application>
  <PresentationFormat>Custom</PresentationFormat>
  <Paragraphs>256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Calibri</vt:lpstr>
      <vt:lpstr>Open Sans</vt:lpstr>
      <vt:lpstr>Merriweather Bold</vt:lpstr>
      <vt:lpstr>Consolas</vt:lpstr>
      <vt:lpstr>Arial</vt:lpstr>
      <vt:lpstr>Open Sans Bold</vt:lpstr>
      <vt:lpstr>Open Sans Italics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Advanced-System-optimizing-mechanisms.pptx</dc:title>
  <cp:lastModifiedBy>Alam, Anees</cp:lastModifiedBy>
  <cp:revision>3</cp:revision>
  <dcterms:created xsi:type="dcterms:W3CDTF">2006-08-16T00:00:00Z</dcterms:created>
  <dcterms:modified xsi:type="dcterms:W3CDTF">2025-09-07T05:08:27Z</dcterms:modified>
  <dc:identifier>DAGd7FqhySk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9e68092-05df-4271-8e3e-b2a4c82ba797_Enabled">
    <vt:lpwstr>true</vt:lpwstr>
  </property>
  <property fmtid="{D5CDD505-2E9C-101B-9397-08002B2CF9AE}" pid="3" name="MSIP_Label_19e68092-05df-4271-8e3e-b2a4c82ba797_SetDate">
    <vt:lpwstr>2025-09-07T05:08:24Z</vt:lpwstr>
  </property>
  <property fmtid="{D5CDD505-2E9C-101B-9397-08002B2CF9AE}" pid="4" name="MSIP_Label_19e68092-05df-4271-8e3e-b2a4c82ba797_Method">
    <vt:lpwstr>Standard</vt:lpwstr>
  </property>
  <property fmtid="{D5CDD505-2E9C-101B-9397-08002B2CF9AE}" pid="5" name="MSIP_Label_19e68092-05df-4271-8e3e-b2a4c82ba797_Name">
    <vt:lpwstr>Amazon Confidential</vt:lpwstr>
  </property>
  <property fmtid="{D5CDD505-2E9C-101B-9397-08002B2CF9AE}" pid="6" name="MSIP_Label_19e68092-05df-4271-8e3e-b2a4c82ba797_SiteId">
    <vt:lpwstr>5280104a-472d-4538-9ccf-1e1d0efe8b1b</vt:lpwstr>
  </property>
  <property fmtid="{D5CDD505-2E9C-101B-9397-08002B2CF9AE}" pid="7" name="MSIP_Label_19e68092-05df-4271-8e3e-b2a4c82ba797_ActionId">
    <vt:lpwstr>53c47243-ccef-44a5-a791-89aa950945e5</vt:lpwstr>
  </property>
  <property fmtid="{D5CDD505-2E9C-101B-9397-08002B2CF9AE}" pid="8" name="MSIP_Label_19e68092-05df-4271-8e3e-b2a4c82ba797_ContentBits">
    <vt:lpwstr>0</vt:lpwstr>
  </property>
  <property fmtid="{D5CDD505-2E9C-101B-9397-08002B2CF9AE}" pid="9" name="MSIP_Label_19e68092-05df-4271-8e3e-b2a4c82ba797_Tag">
    <vt:lpwstr>50, 3, 0, 1</vt:lpwstr>
  </property>
</Properties>
</file>