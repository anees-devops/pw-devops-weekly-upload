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Libre Baskerville" panose="02000000000000000000" pitchFamily="2" charset="0"/>
      <p:regular r:id="rId18"/>
      <p:bold r:id="rId19"/>
      <p:italic r:id="rId20"/>
    </p:embeddedFont>
    <p:embeddedFont>
      <p:font typeface="Libre Baskerville Bold" panose="020B0604020202020204" charset="0"/>
      <p:regular r:id="rId21"/>
      <p:bold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Open Sans Bold" panose="020B0806030504020204" charset="0"/>
      <p:regular r:id="rId27"/>
      <p:bold r:id="rId28"/>
    </p:embeddedFont>
    <p:embeddedFont>
      <p:font typeface="Open Sans Italics" panose="020B0604020202020204" charset="0"/>
      <p:regular r:id="rId29"/>
      <p: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76" autoAdjust="0"/>
    <p:restoredTop sz="94595" autoAdjust="0"/>
  </p:normalViewPr>
  <p:slideViewPr>
    <p:cSldViewPr>
      <p:cViewPr varScale="1">
        <p:scale>
          <a:sx n="58" d="100"/>
          <a:sy n="58" d="100"/>
        </p:scale>
        <p:origin x="389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10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1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238" y="3312765"/>
            <a:ext cx="9445526" cy="1258491"/>
            <a:chOff x="0" y="0"/>
            <a:chExt cx="12594035" cy="16779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94034" cy="1677988"/>
            </a:xfrm>
            <a:custGeom>
              <a:avLst/>
              <a:gdLst/>
              <a:ahLst/>
              <a:cxnLst/>
              <a:rect l="l" t="t" r="r" b="b"/>
              <a:pathLst>
                <a:path w="12594034" h="1677988">
                  <a:moveTo>
                    <a:pt x="0" y="0"/>
                  </a:moveTo>
                  <a:lnTo>
                    <a:pt x="12594034" y="0"/>
                  </a:lnTo>
                  <a:lnTo>
                    <a:pt x="12594034" y="1677988"/>
                  </a:lnTo>
                  <a:lnTo>
                    <a:pt x="0" y="1677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594035" cy="17256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25"/>
                </a:lnSpc>
              </a:pPr>
              <a:r>
                <a:rPr lang="en-US" sz="7687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Mastering Bash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92238" y="4963120"/>
            <a:ext cx="9445526" cy="523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Loops, Conditionals &amp; Functions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945246"/>
            <a:ext cx="1790700" cy="29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574" b="1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Presenter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9372600"/>
            <a:ext cx="4686301" cy="32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 b="1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64989" y="658118"/>
            <a:ext cx="6178600" cy="793848"/>
            <a:chOff x="0" y="0"/>
            <a:chExt cx="8238133" cy="10584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38134" cy="1058464"/>
            </a:xfrm>
            <a:custGeom>
              <a:avLst/>
              <a:gdLst/>
              <a:ahLst/>
              <a:cxnLst/>
              <a:rect l="l" t="t" r="r" b="b"/>
              <a:pathLst>
                <a:path w="8238134" h="1058464">
                  <a:moveTo>
                    <a:pt x="0" y="0"/>
                  </a:moveTo>
                  <a:lnTo>
                    <a:pt x="8238134" y="0"/>
                  </a:lnTo>
                  <a:lnTo>
                    <a:pt x="8238134" y="1058464"/>
                  </a:lnTo>
                  <a:lnTo>
                    <a:pt x="0" y="10584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238133" cy="10870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62"/>
                </a:lnSpc>
              </a:pPr>
              <a:r>
                <a:rPr lang="en-US" sz="4812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Topics for today!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29712" y="1451966"/>
            <a:ext cx="28575" cy="7661529"/>
            <a:chOff x="0" y="0"/>
            <a:chExt cx="38100" cy="102153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100" cy="10215372"/>
            </a:xfrm>
            <a:custGeom>
              <a:avLst/>
              <a:gdLst/>
              <a:ahLst/>
              <a:cxnLst/>
              <a:rect l="l" t="t" r="r" b="b"/>
              <a:pathLst>
                <a:path w="38100" h="1021537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196322"/>
                  </a:lnTo>
                  <a:cubicBezTo>
                    <a:pt x="38100" y="10206863"/>
                    <a:pt x="29591" y="10215372"/>
                    <a:pt x="19050" y="10215372"/>
                  </a:cubicBezTo>
                  <a:cubicBezTo>
                    <a:pt x="8509" y="10215372"/>
                    <a:pt x="0" y="10206863"/>
                    <a:pt x="0" y="10196322"/>
                  </a:cubicBezTo>
                  <a:close/>
                </a:path>
              </a:pathLst>
            </a:custGeom>
            <a:solidFill>
              <a:srgbClr val="D0CE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29575" y="2487960"/>
            <a:ext cx="864966" cy="28575"/>
            <a:chOff x="0" y="0"/>
            <a:chExt cx="1153288" cy="38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3287" cy="38100"/>
            </a:xfrm>
            <a:custGeom>
              <a:avLst/>
              <a:gdLst/>
              <a:ahLst/>
              <a:cxnLst/>
              <a:rect l="l" t="t" r="r" b="b"/>
              <a:pathLst>
                <a:path w="1153287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34237" y="0"/>
                  </a:lnTo>
                  <a:cubicBezTo>
                    <a:pt x="1144778" y="0"/>
                    <a:pt x="1153287" y="8509"/>
                    <a:pt x="1153287" y="19050"/>
                  </a:cubicBezTo>
                  <a:cubicBezTo>
                    <a:pt x="1153287" y="29591"/>
                    <a:pt x="1144778" y="38100"/>
                    <a:pt x="113423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865989" y="2224236"/>
            <a:ext cx="555974" cy="556070"/>
            <a:chOff x="0" y="0"/>
            <a:chExt cx="741299" cy="741427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741299" cy="741427"/>
              <a:chOff x="0" y="0"/>
              <a:chExt cx="741299" cy="74142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41299" cy="741426"/>
              </a:xfrm>
              <a:custGeom>
                <a:avLst/>
                <a:gdLst/>
                <a:ahLst/>
                <a:cxnLst/>
                <a:rect l="l" t="t" r="r" b="b"/>
                <a:pathLst>
                  <a:path w="741299" h="741426">
                    <a:moveTo>
                      <a:pt x="0" y="49403"/>
                    </a:moveTo>
                    <a:cubicBezTo>
                      <a:pt x="0" y="22098"/>
                      <a:pt x="22098" y="0"/>
                      <a:pt x="49403" y="0"/>
                    </a:cubicBezTo>
                    <a:lnTo>
                      <a:pt x="691896" y="0"/>
                    </a:lnTo>
                    <a:cubicBezTo>
                      <a:pt x="719201" y="0"/>
                      <a:pt x="741299" y="22098"/>
                      <a:pt x="741299" y="49403"/>
                    </a:cubicBezTo>
                    <a:lnTo>
                      <a:pt x="741299" y="691896"/>
                    </a:lnTo>
                    <a:cubicBezTo>
                      <a:pt x="741299" y="719201"/>
                      <a:pt x="719201" y="741299"/>
                      <a:pt x="691896" y="741299"/>
                    </a:cubicBezTo>
                    <a:lnTo>
                      <a:pt x="49403" y="741299"/>
                    </a:lnTo>
                    <a:cubicBezTo>
                      <a:pt x="22098" y="741426"/>
                      <a:pt x="0" y="719201"/>
                      <a:pt x="0" y="691896"/>
                    </a:cubicBezTo>
                    <a:close/>
                  </a:path>
                </a:pathLst>
              </a:custGeom>
              <a:solidFill>
                <a:srgbClr val="EAE8F3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60349" y="171053"/>
              <a:ext cx="220463" cy="446683"/>
              <a:chOff x="0" y="0"/>
              <a:chExt cx="220463" cy="44668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20463" cy="446683"/>
              </a:xfrm>
              <a:custGeom>
                <a:avLst/>
                <a:gdLst/>
                <a:ahLst/>
                <a:cxnLst/>
                <a:rect l="l" t="t" r="r" b="b"/>
                <a:pathLst>
                  <a:path w="220463" h="446683">
                    <a:moveTo>
                      <a:pt x="0" y="0"/>
                    </a:moveTo>
                    <a:lnTo>
                      <a:pt x="220463" y="0"/>
                    </a:lnTo>
                    <a:lnTo>
                      <a:pt x="220463" y="446683"/>
                    </a:lnTo>
                    <a:lnTo>
                      <a:pt x="0" y="44668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47625"/>
                <a:ext cx="220463" cy="3990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4"/>
                  </a:lnSpc>
                </a:pPr>
                <a:r>
                  <a:rPr lang="en-US" sz="2874">
                    <a:solidFill>
                      <a:srgbClr val="49495A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9398285" y="3812424"/>
            <a:ext cx="864966" cy="28575"/>
            <a:chOff x="0" y="0"/>
            <a:chExt cx="1153288" cy="38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53287" cy="38100"/>
            </a:xfrm>
            <a:custGeom>
              <a:avLst/>
              <a:gdLst/>
              <a:ahLst/>
              <a:cxnLst/>
              <a:rect l="l" t="t" r="r" b="b"/>
              <a:pathLst>
                <a:path w="1153287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34237" y="0"/>
                  </a:lnTo>
                  <a:cubicBezTo>
                    <a:pt x="1144778" y="0"/>
                    <a:pt x="1153287" y="8509"/>
                    <a:pt x="1153287" y="19050"/>
                  </a:cubicBezTo>
                  <a:cubicBezTo>
                    <a:pt x="1153287" y="29591"/>
                    <a:pt x="1144778" y="38100"/>
                    <a:pt x="113423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880300" y="3529906"/>
            <a:ext cx="555974" cy="556069"/>
            <a:chOff x="0" y="0"/>
            <a:chExt cx="741299" cy="741426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41299" cy="741426"/>
              <a:chOff x="0" y="0"/>
              <a:chExt cx="741299" cy="7414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41299" cy="741426"/>
              </a:xfrm>
              <a:custGeom>
                <a:avLst/>
                <a:gdLst/>
                <a:ahLst/>
                <a:cxnLst/>
                <a:rect l="l" t="t" r="r" b="b"/>
                <a:pathLst>
                  <a:path w="741299" h="741426">
                    <a:moveTo>
                      <a:pt x="0" y="49403"/>
                    </a:moveTo>
                    <a:cubicBezTo>
                      <a:pt x="0" y="22098"/>
                      <a:pt x="22098" y="0"/>
                      <a:pt x="49403" y="0"/>
                    </a:cubicBezTo>
                    <a:lnTo>
                      <a:pt x="691896" y="0"/>
                    </a:lnTo>
                    <a:cubicBezTo>
                      <a:pt x="719201" y="0"/>
                      <a:pt x="741299" y="22098"/>
                      <a:pt x="741299" y="49403"/>
                    </a:cubicBezTo>
                    <a:lnTo>
                      <a:pt x="741299" y="691896"/>
                    </a:lnTo>
                    <a:cubicBezTo>
                      <a:pt x="741299" y="719201"/>
                      <a:pt x="719201" y="741299"/>
                      <a:pt x="691896" y="741299"/>
                    </a:cubicBezTo>
                    <a:lnTo>
                      <a:pt x="49403" y="741299"/>
                    </a:lnTo>
                    <a:cubicBezTo>
                      <a:pt x="22098" y="741426"/>
                      <a:pt x="0" y="719201"/>
                      <a:pt x="0" y="691896"/>
                    </a:cubicBezTo>
                    <a:close/>
                  </a:path>
                </a:pathLst>
              </a:custGeom>
              <a:solidFill>
                <a:srgbClr val="EAE8F3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18480" y="171054"/>
              <a:ext cx="304404" cy="446683"/>
              <a:chOff x="0" y="0"/>
              <a:chExt cx="304404" cy="44668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04404" cy="446683"/>
              </a:xfrm>
              <a:custGeom>
                <a:avLst/>
                <a:gdLst/>
                <a:ahLst/>
                <a:cxnLst/>
                <a:rect l="l" t="t" r="r" b="b"/>
                <a:pathLst>
                  <a:path w="304404" h="446683">
                    <a:moveTo>
                      <a:pt x="0" y="0"/>
                    </a:moveTo>
                    <a:lnTo>
                      <a:pt x="304404" y="0"/>
                    </a:lnTo>
                    <a:lnTo>
                      <a:pt x="304404" y="446683"/>
                    </a:lnTo>
                    <a:lnTo>
                      <a:pt x="0" y="44668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47625"/>
                <a:ext cx="304404" cy="3990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4"/>
                  </a:lnSpc>
                </a:pPr>
                <a:r>
                  <a:rPr lang="en-US" sz="2874">
                    <a:solidFill>
                      <a:srgbClr val="49495A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2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1431428" y="2274168"/>
            <a:ext cx="6353324" cy="484734"/>
            <a:chOff x="0" y="0"/>
            <a:chExt cx="8471099" cy="6463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471098" cy="646312"/>
            </a:xfrm>
            <a:custGeom>
              <a:avLst/>
              <a:gdLst/>
              <a:ahLst/>
              <a:cxnLst/>
              <a:rect l="l" t="t" r="r" b="b"/>
              <a:pathLst>
                <a:path w="8471098" h="646312">
                  <a:moveTo>
                    <a:pt x="0" y="0"/>
                  </a:moveTo>
                  <a:lnTo>
                    <a:pt x="8471098" y="0"/>
                  </a:lnTo>
                  <a:lnTo>
                    <a:pt x="8471098" y="646312"/>
                  </a:lnTo>
                  <a:lnTo>
                    <a:pt x="0" y="646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8471099" cy="6748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874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Command &amp; Process substitution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986760" y="5178512"/>
            <a:ext cx="864966" cy="28575"/>
            <a:chOff x="0" y="0"/>
            <a:chExt cx="1153288" cy="381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53287" cy="38100"/>
            </a:xfrm>
            <a:custGeom>
              <a:avLst/>
              <a:gdLst/>
              <a:ahLst/>
              <a:cxnLst/>
              <a:rect l="l" t="t" r="r" b="b"/>
              <a:pathLst>
                <a:path w="1153287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34237" y="0"/>
                  </a:lnTo>
                  <a:cubicBezTo>
                    <a:pt x="1144778" y="0"/>
                    <a:pt x="1153287" y="8509"/>
                    <a:pt x="1153287" y="19050"/>
                  </a:cubicBezTo>
                  <a:cubicBezTo>
                    <a:pt x="1153287" y="29591"/>
                    <a:pt x="1144778" y="38100"/>
                    <a:pt x="113423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865989" y="4873116"/>
            <a:ext cx="555974" cy="556070"/>
            <a:chOff x="0" y="0"/>
            <a:chExt cx="741299" cy="741427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741299" cy="741427"/>
              <a:chOff x="0" y="0"/>
              <a:chExt cx="741299" cy="74142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741299" cy="741426"/>
              </a:xfrm>
              <a:custGeom>
                <a:avLst/>
                <a:gdLst/>
                <a:ahLst/>
                <a:cxnLst/>
                <a:rect l="l" t="t" r="r" b="b"/>
                <a:pathLst>
                  <a:path w="741299" h="741426">
                    <a:moveTo>
                      <a:pt x="0" y="49403"/>
                    </a:moveTo>
                    <a:cubicBezTo>
                      <a:pt x="0" y="22098"/>
                      <a:pt x="22098" y="0"/>
                      <a:pt x="49403" y="0"/>
                    </a:cubicBezTo>
                    <a:lnTo>
                      <a:pt x="691896" y="0"/>
                    </a:lnTo>
                    <a:cubicBezTo>
                      <a:pt x="719201" y="0"/>
                      <a:pt x="741299" y="22098"/>
                      <a:pt x="741299" y="49403"/>
                    </a:cubicBezTo>
                    <a:lnTo>
                      <a:pt x="741299" y="691896"/>
                    </a:lnTo>
                    <a:cubicBezTo>
                      <a:pt x="741299" y="719201"/>
                      <a:pt x="719201" y="741299"/>
                      <a:pt x="691896" y="741299"/>
                    </a:cubicBezTo>
                    <a:lnTo>
                      <a:pt x="49403" y="741299"/>
                    </a:lnTo>
                    <a:cubicBezTo>
                      <a:pt x="22098" y="741426"/>
                      <a:pt x="0" y="719201"/>
                      <a:pt x="0" y="691896"/>
                    </a:cubicBezTo>
                    <a:close/>
                  </a:path>
                </a:pathLst>
              </a:custGeom>
              <a:solidFill>
                <a:srgbClr val="EAE8F3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18480" y="171054"/>
              <a:ext cx="304404" cy="446683"/>
              <a:chOff x="0" y="0"/>
              <a:chExt cx="304404" cy="44668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04404" cy="446683"/>
              </a:xfrm>
              <a:custGeom>
                <a:avLst/>
                <a:gdLst/>
                <a:ahLst/>
                <a:cxnLst/>
                <a:rect l="l" t="t" r="r" b="b"/>
                <a:pathLst>
                  <a:path w="304404" h="446683">
                    <a:moveTo>
                      <a:pt x="0" y="0"/>
                    </a:moveTo>
                    <a:lnTo>
                      <a:pt x="304404" y="0"/>
                    </a:lnTo>
                    <a:lnTo>
                      <a:pt x="304404" y="446683"/>
                    </a:lnTo>
                    <a:lnTo>
                      <a:pt x="0" y="44668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47625"/>
                <a:ext cx="304404" cy="3990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4"/>
                  </a:lnSpc>
                </a:pPr>
                <a:r>
                  <a:rPr lang="en-US" sz="2874">
                    <a:solidFill>
                      <a:srgbClr val="49495A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3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0503248" y="3601241"/>
            <a:ext cx="4141737" cy="484734"/>
            <a:chOff x="0" y="0"/>
            <a:chExt cx="5522316" cy="64631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522316" cy="646312"/>
            </a:xfrm>
            <a:custGeom>
              <a:avLst/>
              <a:gdLst/>
              <a:ahLst/>
              <a:cxnLst/>
              <a:rect l="l" t="t" r="r" b="b"/>
              <a:pathLst>
                <a:path w="5522316" h="646312">
                  <a:moveTo>
                    <a:pt x="0" y="0"/>
                  </a:moveTo>
                  <a:lnTo>
                    <a:pt x="5522316" y="0"/>
                  </a:lnTo>
                  <a:lnTo>
                    <a:pt x="5522316" y="646312"/>
                  </a:lnTo>
                  <a:lnTo>
                    <a:pt x="0" y="646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5522316" cy="6748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625"/>
                </a:lnSpc>
              </a:pPr>
              <a:r>
                <a:rPr lang="en-US" sz="2874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Loops &amp; Conditionals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436275" y="6535886"/>
            <a:ext cx="864966" cy="28575"/>
            <a:chOff x="0" y="0"/>
            <a:chExt cx="1153288" cy="381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53287" cy="38100"/>
            </a:xfrm>
            <a:custGeom>
              <a:avLst/>
              <a:gdLst/>
              <a:ahLst/>
              <a:cxnLst/>
              <a:rect l="l" t="t" r="r" b="b"/>
              <a:pathLst>
                <a:path w="1153287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34237" y="0"/>
                  </a:lnTo>
                  <a:cubicBezTo>
                    <a:pt x="1144778" y="0"/>
                    <a:pt x="1153287" y="8509"/>
                    <a:pt x="1153287" y="19050"/>
                  </a:cubicBezTo>
                  <a:cubicBezTo>
                    <a:pt x="1153287" y="29591"/>
                    <a:pt x="1144778" y="38100"/>
                    <a:pt x="113423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851725" y="6286426"/>
            <a:ext cx="555974" cy="556069"/>
            <a:chOff x="0" y="0"/>
            <a:chExt cx="741299" cy="741426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741299" cy="741426"/>
              <a:chOff x="0" y="0"/>
              <a:chExt cx="741299" cy="7414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741299" cy="741426"/>
              </a:xfrm>
              <a:custGeom>
                <a:avLst/>
                <a:gdLst/>
                <a:ahLst/>
                <a:cxnLst/>
                <a:rect l="l" t="t" r="r" b="b"/>
                <a:pathLst>
                  <a:path w="741299" h="741426">
                    <a:moveTo>
                      <a:pt x="0" y="49403"/>
                    </a:moveTo>
                    <a:cubicBezTo>
                      <a:pt x="0" y="22098"/>
                      <a:pt x="22098" y="0"/>
                      <a:pt x="49403" y="0"/>
                    </a:cubicBezTo>
                    <a:lnTo>
                      <a:pt x="691896" y="0"/>
                    </a:lnTo>
                    <a:cubicBezTo>
                      <a:pt x="719201" y="0"/>
                      <a:pt x="741299" y="22098"/>
                      <a:pt x="741299" y="49403"/>
                    </a:cubicBezTo>
                    <a:lnTo>
                      <a:pt x="741299" y="691896"/>
                    </a:lnTo>
                    <a:cubicBezTo>
                      <a:pt x="741299" y="719201"/>
                      <a:pt x="719201" y="741299"/>
                      <a:pt x="691896" y="741299"/>
                    </a:cubicBezTo>
                    <a:lnTo>
                      <a:pt x="49403" y="741299"/>
                    </a:lnTo>
                    <a:cubicBezTo>
                      <a:pt x="22098" y="741426"/>
                      <a:pt x="0" y="719201"/>
                      <a:pt x="0" y="691896"/>
                    </a:cubicBezTo>
                    <a:close/>
                  </a:path>
                </a:pathLst>
              </a:custGeom>
              <a:solidFill>
                <a:srgbClr val="EAE8F3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226020" y="171053"/>
              <a:ext cx="289124" cy="446683"/>
              <a:chOff x="0" y="0"/>
              <a:chExt cx="289124" cy="44668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289124" cy="446683"/>
              </a:xfrm>
              <a:custGeom>
                <a:avLst/>
                <a:gdLst/>
                <a:ahLst/>
                <a:cxnLst/>
                <a:rect l="l" t="t" r="r" b="b"/>
                <a:pathLst>
                  <a:path w="289124" h="446683">
                    <a:moveTo>
                      <a:pt x="0" y="0"/>
                    </a:moveTo>
                    <a:lnTo>
                      <a:pt x="289124" y="0"/>
                    </a:lnTo>
                    <a:lnTo>
                      <a:pt x="289124" y="446683"/>
                    </a:lnTo>
                    <a:lnTo>
                      <a:pt x="0" y="44668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47625"/>
                <a:ext cx="289124" cy="3990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4"/>
                  </a:lnSpc>
                </a:pPr>
                <a:r>
                  <a:rPr lang="en-US" sz="2874">
                    <a:solidFill>
                      <a:srgbClr val="49495A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4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4077592" y="4873116"/>
            <a:ext cx="3707160" cy="484734"/>
            <a:chOff x="0" y="0"/>
            <a:chExt cx="4942880" cy="64631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942880" cy="646312"/>
            </a:xfrm>
            <a:custGeom>
              <a:avLst/>
              <a:gdLst/>
              <a:ahLst/>
              <a:cxnLst/>
              <a:rect l="l" t="t" r="r" b="b"/>
              <a:pathLst>
                <a:path w="4942880" h="646312">
                  <a:moveTo>
                    <a:pt x="0" y="0"/>
                  </a:moveTo>
                  <a:lnTo>
                    <a:pt x="4942880" y="0"/>
                  </a:lnTo>
                  <a:lnTo>
                    <a:pt x="4942880" y="646312"/>
                  </a:lnTo>
                  <a:lnTo>
                    <a:pt x="0" y="646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4942880" cy="6748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874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Hands-on Activity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029575" y="7937870"/>
            <a:ext cx="864966" cy="28575"/>
            <a:chOff x="0" y="0"/>
            <a:chExt cx="1153288" cy="381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53287" cy="38100"/>
            </a:xfrm>
            <a:custGeom>
              <a:avLst/>
              <a:gdLst/>
              <a:ahLst/>
              <a:cxnLst/>
              <a:rect l="l" t="t" r="r" b="b"/>
              <a:pathLst>
                <a:path w="1153287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34237" y="0"/>
                  </a:lnTo>
                  <a:cubicBezTo>
                    <a:pt x="1144778" y="0"/>
                    <a:pt x="1153287" y="8509"/>
                    <a:pt x="1153287" y="19050"/>
                  </a:cubicBezTo>
                  <a:cubicBezTo>
                    <a:pt x="1153287" y="29591"/>
                    <a:pt x="1144778" y="38100"/>
                    <a:pt x="113423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880300" y="7640985"/>
            <a:ext cx="555974" cy="556069"/>
            <a:chOff x="0" y="0"/>
            <a:chExt cx="741299" cy="741426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741299" cy="741426"/>
              <a:chOff x="0" y="0"/>
              <a:chExt cx="741299" cy="7414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741299" cy="741426"/>
              </a:xfrm>
              <a:custGeom>
                <a:avLst/>
                <a:gdLst/>
                <a:ahLst/>
                <a:cxnLst/>
                <a:rect l="l" t="t" r="r" b="b"/>
                <a:pathLst>
                  <a:path w="741299" h="741426">
                    <a:moveTo>
                      <a:pt x="0" y="49403"/>
                    </a:moveTo>
                    <a:cubicBezTo>
                      <a:pt x="0" y="22098"/>
                      <a:pt x="22098" y="0"/>
                      <a:pt x="49403" y="0"/>
                    </a:cubicBezTo>
                    <a:lnTo>
                      <a:pt x="691896" y="0"/>
                    </a:lnTo>
                    <a:cubicBezTo>
                      <a:pt x="719201" y="0"/>
                      <a:pt x="741299" y="22098"/>
                      <a:pt x="741299" y="49403"/>
                    </a:cubicBezTo>
                    <a:lnTo>
                      <a:pt x="741299" y="691896"/>
                    </a:lnTo>
                    <a:cubicBezTo>
                      <a:pt x="741299" y="719201"/>
                      <a:pt x="719201" y="741299"/>
                      <a:pt x="691896" y="741299"/>
                    </a:cubicBezTo>
                    <a:lnTo>
                      <a:pt x="49403" y="741299"/>
                    </a:lnTo>
                    <a:cubicBezTo>
                      <a:pt x="22098" y="741426"/>
                      <a:pt x="0" y="719201"/>
                      <a:pt x="0" y="691896"/>
                    </a:cubicBezTo>
                    <a:close/>
                  </a:path>
                </a:pathLst>
              </a:custGeom>
              <a:solidFill>
                <a:srgbClr val="EAE8F3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230188" y="171054"/>
              <a:ext cx="280788" cy="446683"/>
              <a:chOff x="0" y="0"/>
              <a:chExt cx="280788" cy="44668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280788" cy="446683"/>
              </a:xfrm>
              <a:custGeom>
                <a:avLst/>
                <a:gdLst/>
                <a:ahLst/>
                <a:cxnLst/>
                <a:rect l="l" t="t" r="r" b="b"/>
                <a:pathLst>
                  <a:path w="280788" h="446683">
                    <a:moveTo>
                      <a:pt x="0" y="0"/>
                    </a:moveTo>
                    <a:lnTo>
                      <a:pt x="280788" y="0"/>
                    </a:lnTo>
                    <a:lnTo>
                      <a:pt x="280788" y="446683"/>
                    </a:lnTo>
                    <a:lnTo>
                      <a:pt x="0" y="44668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47625"/>
                <a:ext cx="280788" cy="3990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4"/>
                  </a:lnSpc>
                </a:pPr>
                <a:r>
                  <a:rPr lang="en-US" sz="2874">
                    <a:solidFill>
                      <a:srgbClr val="49495A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5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10503248" y="6357761"/>
            <a:ext cx="4882158" cy="484734"/>
            <a:chOff x="0" y="0"/>
            <a:chExt cx="6509544" cy="64631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509544" cy="646312"/>
            </a:xfrm>
            <a:custGeom>
              <a:avLst/>
              <a:gdLst/>
              <a:ahLst/>
              <a:cxnLst/>
              <a:rect l="l" t="t" r="r" b="b"/>
              <a:pathLst>
                <a:path w="6509544" h="646312">
                  <a:moveTo>
                    <a:pt x="0" y="0"/>
                  </a:moveTo>
                  <a:lnTo>
                    <a:pt x="6509544" y="0"/>
                  </a:lnTo>
                  <a:lnTo>
                    <a:pt x="6509544" y="646312"/>
                  </a:lnTo>
                  <a:lnTo>
                    <a:pt x="0" y="646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28575"/>
              <a:ext cx="6509544" cy="6748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625"/>
                </a:lnSpc>
              </a:pPr>
              <a:r>
                <a:rPr lang="en-US" sz="2874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Analyzing DevOps scripts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084290" y="7724078"/>
            <a:ext cx="3707160" cy="484734"/>
            <a:chOff x="0" y="0"/>
            <a:chExt cx="4942880" cy="64631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942880" cy="646312"/>
            </a:xfrm>
            <a:custGeom>
              <a:avLst/>
              <a:gdLst/>
              <a:ahLst/>
              <a:cxnLst/>
              <a:rect l="l" t="t" r="r" b="b"/>
              <a:pathLst>
                <a:path w="4942880" h="646312">
                  <a:moveTo>
                    <a:pt x="0" y="0"/>
                  </a:moveTo>
                  <a:lnTo>
                    <a:pt x="4942880" y="0"/>
                  </a:lnTo>
                  <a:lnTo>
                    <a:pt x="4942880" y="646312"/>
                  </a:lnTo>
                  <a:lnTo>
                    <a:pt x="0" y="646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28575"/>
              <a:ext cx="4942880" cy="6748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874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Functions &amp; types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14834" y="623590"/>
            <a:ext cx="10090249" cy="744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Command &amp; Process Substitution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14834" y="1716881"/>
            <a:ext cx="8212740" cy="7932801"/>
            <a:chOff x="0" y="0"/>
            <a:chExt cx="10950320" cy="105770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50321" cy="10577068"/>
            </a:xfrm>
            <a:custGeom>
              <a:avLst/>
              <a:gdLst/>
              <a:ahLst/>
              <a:cxnLst/>
              <a:rect l="l" t="t" r="r" b="b"/>
              <a:pathLst>
                <a:path w="10950321" h="10577068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0903839" y="0"/>
                  </a:lnTo>
                  <a:cubicBezTo>
                    <a:pt x="10929493" y="0"/>
                    <a:pt x="10950321" y="20828"/>
                    <a:pt x="10950321" y="46482"/>
                  </a:cubicBezTo>
                  <a:lnTo>
                    <a:pt x="10950321" y="10530586"/>
                  </a:lnTo>
                  <a:cubicBezTo>
                    <a:pt x="10950321" y="10556240"/>
                    <a:pt x="10929493" y="10577068"/>
                    <a:pt x="10903839" y="10577068"/>
                  </a:cubicBezTo>
                  <a:lnTo>
                    <a:pt x="46482" y="10577068"/>
                  </a:lnTo>
                  <a:cubicBezTo>
                    <a:pt x="20828" y="10577068"/>
                    <a:pt x="0" y="10556240"/>
                    <a:pt x="0" y="10530586"/>
                  </a:cubicBezTo>
                  <a:close/>
                </a:path>
              </a:pathLst>
            </a:custGeom>
            <a:solidFill>
              <a:srgbClr val="EAE8F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7601" y="1916312"/>
            <a:ext cx="4667399" cy="469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 u="sng">
                <a:solidFill>
                  <a:srgbClr val="49495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Command Substitution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601" y="2904679"/>
            <a:ext cx="7747247" cy="106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4109" lvl="2" indent="-138036" algn="l">
              <a:lnSpc>
                <a:spcPts val="3350"/>
              </a:lnSpc>
              <a:buFont typeface="Arial"/>
              <a:buChar char="⚬"/>
            </a:pPr>
            <a:r>
              <a:rPr lang="en-US" sz="211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When the output of sub-command acts as an input to main command.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601" y="4530924"/>
            <a:ext cx="7747247" cy="70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549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Syntax: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7601" y="5136208"/>
            <a:ext cx="7747247" cy="70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549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$(command)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7601" y="6346775"/>
            <a:ext cx="7747247" cy="70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549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Example: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7601" y="6952060"/>
            <a:ext cx="7747247" cy="70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549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mkdir $(date +%Y-%m-%d)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7601" y="8162628"/>
            <a:ext cx="7747247" cy="70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549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Output: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7601" y="8767912"/>
            <a:ext cx="7747247" cy="70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54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 directory named as current date is created.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60384" y="1716881"/>
            <a:ext cx="8212740" cy="7932801"/>
            <a:chOff x="0" y="0"/>
            <a:chExt cx="10950320" cy="1057706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50321" cy="10577068"/>
            </a:xfrm>
            <a:custGeom>
              <a:avLst/>
              <a:gdLst/>
              <a:ahLst/>
              <a:cxnLst/>
              <a:rect l="l" t="t" r="r" b="b"/>
              <a:pathLst>
                <a:path w="10950321" h="10577068">
                  <a:moveTo>
                    <a:pt x="0" y="46482"/>
                  </a:moveTo>
                  <a:cubicBezTo>
                    <a:pt x="0" y="20828"/>
                    <a:pt x="20828" y="0"/>
                    <a:pt x="46482" y="0"/>
                  </a:cubicBezTo>
                  <a:lnTo>
                    <a:pt x="10903839" y="0"/>
                  </a:lnTo>
                  <a:cubicBezTo>
                    <a:pt x="10929493" y="0"/>
                    <a:pt x="10950321" y="20828"/>
                    <a:pt x="10950321" y="46482"/>
                  </a:cubicBezTo>
                  <a:lnTo>
                    <a:pt x="10950321" y="10530586"/>
                  </a:lnTo>
                  <a:cubicBezTo>
                    <a:pt x="10950321" y="10556240"/>
                    <a:pt x="10929493" y="10577068"/>
                    <a:pt x="10903839" y="10577068"/>
                  </a:cubicBezTo>
                  <a:lnTo>
                    <a:pt x="46482" y="10577068"/>
                  </a:lnTo>
                  <a:cubicBezTo>
                    <a:pt x="20828" y="10577068"/>
                    <a:pt x="0" y="10556240"/>
                    <a:pt x="0" y="10530586"/>
                  </a:cubicBezTo>
                  <a:close/>
                </a:path>
              </a:pathLst>
            </a:custGeom>
            <a:solidFill>
              <a:srgbClr val="EAE8F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493150" y="1916312"/>
            <a:ext cx="3964483" cy="469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 u="sng">
                <a:solidFill>
                  <a:srgbClr val="49495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Process Substitution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3151" y="2904679"/>
            <a:ext cx="7747247" cy="106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4109" lvl="2" indent="-138036" algn="l">
              <a:lnSpc>
                <a:spcPts val="3350"/>
              </a:lnSpc>
              <a:buFont typeface="Arial"/>
              <a:buChar char="⚬"/>
            </a:pPr>
            <a:r>
              <a:rPr lang="en-US" sz="211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When you want to treat the output of a command as an input file.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93151" y="4530924"/>
            <a:ext cx="7747247" cy="70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549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Syntax: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93151" y="5136208"/>
            <a:ext cx="7747247" cy="70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549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command &lt;(other_command)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93151" y="6346775"/>
            <a:ext cx="7747247" cy="70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549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Example: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93151" y="6952060"/>
            <a:ext cx="7747247" cy="70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549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cat &lt;(ls) &lt;(date)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93151" y="8162628"/>
            <a:ext cx="7747247" cy="70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549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Output: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93151" y="8767912"/>
            <a:ext cx="7747247" cy="70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54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result of ls &amp; date are displayed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948035"/>
            <a:ext cx="7088237" cy="907405"/>
            <a:chOff x="0" y="0"/>
            <a:chExt cx="9450983" cy="12098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50983" cy="1209874"/>
            </a:xfrm>
            <a:custGeom>
              <a:avLst/>
              <a:gdLst/>
              <a:ahLst/>
              <a:cxnLst/>
              <a:rect l="l" t="t" r="r" b="b"/>
              <a:pathLst>
                <a:path w="9450983" h="1209874">
                  <a:moveTo>
                    <a:pt x="0" y="0"/>
                  </a:moveTo>
                  <a:lnTo>
                    <a:pt x="9450983" y="0"/>
                  </a:lnTo>
                  <a:lnTo>
                    <a:pt x="9450983" y="1209874"/>
                  </a:lnTo>
                  <a:lnTo>
                    <a:pt x="0" y="12098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450983" cy="12384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6"/>
                </a:lnSpc>
              </a:pPr>
              <a:r>
                <a:rPr lang="en-US" sz="5562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Loops in Bash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248644"/>
            <a:ext cx="16303526" cy="645467"/>
            <a:chOff x="0" y="0"/>
            <a:chExt cx="21738035" cy="86062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860623"/>
            </a:xfrm>
            <a:custGeom>
              <a:avLst/>
              <a:gdLst/>
              <a:ahLst/>
              <a:cxnLst/>
              <a:rect l="l" t="t" r="r" b="b"/>
              <a:pathLst>
                <a:path w="21738034" h="860623">
                  <a:moveTo>
                    <a:pt x="0" y="0"/>
                  </a:moveTo>
                  <a:lnTo>
                    <a:pt x="21738034" y="0"/>
                  </a:lnTo>
                  <a:lnTo>
                    <a:pt x="21738034" y="860623"/>
                  </a:lnTo>
                  <a:lnTo>
                    <a:pt x="0" y="8606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1738035" cy="9653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Loops in Bash allow you to execute a set of commands repeatedly.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2910780"/>
            <a:ext cx="16303526" cy="645467"/>
            <a:chOff x="0" y="0"/>
            <a:chExt cx="21738035" cy="8606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8034" cy="860623"/>
            </a:xfrm>
            <a:custGeom>
              <a:avLst/>
              <a:gdLst/>
              <a:ahLst/>
              <a:cxnLst/>
              <a:rect l="l" t="t" r="r" b="b"/>
              <a:pathLst>
                <a:path w="21738034" h="860623">
                  <a:moveTo>
                    <a:pt x="0" y="0"/>
                  </a:moveTo>
                  <a:lnTo>
                    <a:pt x="21738034" y="0"/>
                  </a:lnTo>
                  <a:lnTo>
                    <a:pt x="21738034" y="860623"/>
                  </a:lnTo>
                  <a:lnTo>
                    <a:pt x="0" y="8606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21738035" cy="9653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Bash supports three types of loops: </a:t>
              </a:r>
              <a:r>
                <a:rPr lang="en-US" sz="2750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for</a:t>
              </a:r>
              <a:r>
                <a:rPr lang="en-US" sz="275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, </a:t>
              </a:r>
              <a:r>
                <a:rPr lang="en-US" sz="2750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while</a:t>
              </a:r>
              <a:r>
                <a:rPr lang="en-US" sz="275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, &amp; </a:t>
              </a:r>
              <a:r>
                <a:rPr lang="en-US" sz="2750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until</a:t>
              </a:r>
              <a:r>
                <a:rPr lang="en-US" sz="275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8" y="4513064"/>
            <a:ext cx="637795" cy="637890"/>
            <a:chOff x="0" y="0"/>
            <a:chExt cx="850393" cy="850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16224" y="4719340"/>
            <a:ext cx="189756" cy="32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1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913632" y="4434483"/>
            <a:ext cx="4324052" cy="645467"/>
            <a:chOff x="0" y="0"/>
            <a:chExt cx="5765403" cy="8606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765403" cy="860623"/>
            </a:xfrm>
            <a:custGeom>
              <a:avLst/>
              <a:gdLst/>
              <a:ahLst/>
              <a:cxnLst/>
              <a:rect l="l" t="t" r="r" b="b"/>
              <a:pathLst>
                <a:path w="5765403" h="860623">
                  <a:moveTo>
                    <a:pt x="0" y="0"/>
                  </a:moveTo>
                  <a:lnTo>
                    <a:pt x="5765403" y="0"/>
                  </a:lnTo>
                  <a:lnTo>
                    <a:pt x="5765403" y="860623"/>
                  </a:lnTo>
                  <a:lnTo>
                    <a:pt x="0" y="8606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5765403" cy="9653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For</a:t>
              </a:r>
              <a:r>
                <a:rPr lang="en-US" sz="275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913632" y="4902324"/>
            <a:ext cx="4324052" cy="2331839"/>
            <a:chOff x="0" y="0"/>
            <a:chExt cx="5765403" cy="31091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765403" cy="3109118"/>
            </a:xfrm>
            <a:custGeom>
              <a:avLst/>
              <a:gdLst/>
              <a:ahLst/>
              <a:cxnLst/>
              <a:rect l="l" t="t" r="r" b="b"/>
              <a:pathLst>
                <a:path w="5765403" h="3109118">
                  <a:moveTo>
                    <a:pt x="0" y="0"/>
                  </a:moveTo>
                  <a:lnTo>
                    <a:pt x="5765403" y="0"/>
                  </a:lnTo>
                  <a:lnTo>
                    <a:pt x="5765403" y="3109118"/>
                  </a:lnTo>
                  <a:lnTo>
                    <a:pt x="0" y="3109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5765403" cy="31948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28813" lvl="2" indent="-142938" algn="l">
                <a:lnSpc>
                  <a:spcPts val="3561"/>
                </a:lnSpc>
                <a:buFont typeface="Arial"/>
                <a:buChar char="⚬"/>
              </a:pPr>
              <a:r>
                <a:rPr lang="en-US" sz="2187" dirty="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Repeats a block of code for </a:t>
              </a:r>
              <a:r>
                <a:rPr lang="en-US" sz="2187" b="1" dirty="0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specific times</a:t>
              </a:r>
              <a:r>
                <a:rPr lang="en-US" sz="2187" dirty="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187" b="1" dirty="0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for each item</a:t>
              </a:r>
              <a:r>
                <a:rPr lang="en-US" sz="2187" dirty="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 in a list or range. 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18395" y="6985546"/>
            <a:ext cx="4324052" cy="1764953"/>
            <a:chOff x="0" y="0"/>
            <a:chExt cx="5765403" cy="235327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765403" cy="2353270"/>
            </a:xfrm>
            <a:custGeom>
              <a:avLst/>
              <a:gdLst/>
              <a:ahLst/>
              <a:cxnLst/>
              <a:rect l="l" t="t" r="r" b="b"/>
              <a:pathLst>
                <a:path w="5765403" h="2353270">
                  <a:moveTo>
                    <a:pt x="0" y="0"/>
                  </a:moveTo>
                  <a:lnTo>
                    <a:pt x="5765403" y="0"/>
                  </a:lnTo>
                  <a:lnTo>
                    <a:pt x="5765403" y="2353270"/>
                  </a:lnTo>
                  <a:lnTo>
                    <a:pt x="0" y="2353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5765403" cy="2438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28813" lvl="2" indent="-142938" algn="l">
                <a:lnSpc>
                  <a:spcPts val="3561"/>
                </a:lnSpc>
                <a:buFont typeface="Arial"/>
                <a:buChar char="⚬"/>
              </a:pPr>
              <a:r>
                <a:rPr lang="en-US" sz="218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Used when the number of iterations is known beforehand.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21202" y="4513064"/>
            <a:ext cx="637795" cy="637890"/>
            <a:chOff x="0" y="0"/>
            <a:chExt cx="850393" cy="850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09171" y="4662190"/>
            <a:ext cx="261938" cy="382489"/>
            <a:chOff x="0" y="0"/>
            <a:chExt cx="349251" cy="50998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49251" cy="509985"/>
            </a:xfrm>
            <a:custGeom>
              <a:avLst/>
              <a:gdLst/>
              <a:ahLst/>
              <a:cxnLst/>
              <a:rect l="l" t="t" r="r" b="b"/>
              <a:pathLst>
                <a:path w="349251" h="509985">
                  <a:moveTo>
                    <a:pt x="0" y="0"/>
                  </a:moveTo>
                  <a:lnTo>
                    <a:pt x="349251" y="0"/>
                  </a:lnTo>
                  <a:lnTo>
                    <a:pt x="349251" y="509985"/>
                  </a:lnTo>
                  <a:lnTo>
                    <a:pt x="0" y="509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57150"/>
              <a:ext cx="349251" cy="452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442598" y="4434483"/>
            <a:ext cx="4324052" cy="645467"/>
            <a:chOff x="0" y="0"/>
            <a:chExt cx="5765403" cy="86062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765403" cy="860623"/>
            </a:xfrm>
            <a:custGeom>
              <a:avLst/>
              <a:gdLst/>
              <a:ahLst/>
              <a:cxnLst/>
              <a:rect l="l" t="t" r="r" b="b"/>
              <a:pathLst>
                <a:path w="5765403" h="860623">
                  <a:moveTo>
                    <a:pt x="0" y="0"/>
                  </a:moveTo>
                  <a:lnTo>
                    <a:pt x="5765403" y="0"/>
                  </a:lnTo>
                  <a:lnTo>
                    <a:pt x="5765403" y="860623"/>
                  </a:lnTo>
                  <a:lnTo>
                    <a:pt x="0" y="8606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04775"/>
              <a:ext cx="5765403" cy="9653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While</a:t>
              </a:r>
              <a:r>
                <a:rPr lang="en-US" sz="275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442598" y="5185767"/>
            <a:ext cx="4324052" cy="1764953"/>
            <a:chOff x="0" y="0"/>
            <a:chExt cx="5765403" cy="235327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765403" cy="2353270"/>
            </a:xfrm>
            <a:custGeom>
              <a:avLst/>
              <a:gdLst/>
              <a:ahLst/>
              <a:cxnLst/>
              <a:rect l="l" t="t" r="r" b="b"/>
              <a:pathLst>
                <a:path w="5765403" h="2353270">
                  <a:moveTo>
                    <a:pt x="0" y="0"/>
                  </a:moveTo>
                  <a:lnTo>
                    <a:pt x="5765403" y="0"/>
                  </a:lnTo>
                  <a:lnTo>
                    <a:pt x="5765403" y="2353270"/>
                  </a:lnTo>
                  <a:lnTo>
                    <a:pt x="0" y="2353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85725"/>
              <a:ext cx="5765403" cy="2438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28813" lvl="2" indent="-142938" algn="l">
                <a:lnSpc>
                  <a:spcPts val="3561"/>
                </a:lnSpc>
                <a:buFont typeface="Arial"/>
                <a:buChar char="⚬"/>
              </a:pPr>
              <a:r>
                <a:rPr lang="en-US" sz="218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Repeats the block of code as long as a given condition is true. 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42598" y="6985546"/>
            <a:ext cx="4324052" cy="1198066"/>
            <a:chOff x="0" y="0"/>
            <a:chExt cx="5765403" cy="159742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765403" cy="1597421"/>
            </a:xfrm>
            <a:custGeom>
              <a:avLst/>
              <a:gdLst/>
              <a:ahLst/>
              <a:cxnLst/>
              <a:rect l="l" t="t" r="r" b="b"/>
              <a:pathLst>
                <a:path w="5765403" h="1597421">
                  <a:moveTo>
                    <a:pt x="0" y="0"/>
                  </a:moveTo>
                  <a:lnTo>
                    <a:pt x="5765403" y="0"/>
                  </a:lnTo>
                  <a:lnTo>
                    <a:pt x="5765403" y="1597421"/>
                  </a:lnTo>
                  <a:lnTo>
                    <a:pt x="0" y="1597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5765403" cy="1683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28813" lvl="2" indent="-142938" algn="l">
                <a:lnSpc>
                  <a:spcPts val="3561"/>
                </a:lnSpc>
                <a:buFont typeface="Arial"/>
                <a:buChar char="⚬"/>
              </a:pPr>
              <a:r>
                <a:rPr lang="en-US" sz="2187" b="1" dirty="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Exits the loop if, the condition is false.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050166" y="4513064"/>
            <a:ext cx="637794" cy="637890"/>
            <a:chOff x="0" y="0"/>
            <a:chExt cx="850392" cy="850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238136" y="4662190"/>
            <a:ext cx="261938" cy="382489"/>
            <a:chOff x="0" y="0"/>
            <a:chExt cx="349251" cy="50998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49251" cy="509985"/>
            </a:xfrm>
            <a:custGeom>
              <a:avLst/>
              <a:gdLst/>
              <a:ahLst/>
              <a:cxnLst/>
              <a:rect l="l" t="t" r="r" b="b"/>
              <a:pathLst>
                <a:path w="349251" h="509985">
                  <a:moveTo>
                    <a:pt x="0" y="0"/>
                  </a:moveTo>
                  <a:lnTo>
                    <a:pt x="349251" y="0"/>
                  </a:lnTo>
                  <a:lnTo>
                    <a:pt x="349251" y="509985"/>
                  </a:lnTo>
                  <a:lnTo>
                    <a:pt x="0" y="509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57150"/>
              <a:ext cx="349251" cy="452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1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971561" y="4434483"/>
            <a:ext cx="4324052" cy="645467"/>
            <a:chOff x="0" y="0"/>
            <a:chExt cx="5765403" cy="86062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765403" cy="860623"/>
            </a:xfrm>
            <a:custGeom>
              <a:avLst/>
              <a:gdLst/>
              <a:ahLst/>
              <a:cxnLst/>
              <a:rect l="l" t="t" r="r" b="b"/>
              <a:pathLst>
                <a:path w="5765403" h="860623">
                  <a:moveTo>
                    <a:pt x="0" y="0"/>
                  </a:moveTo>
                  <a:lnTo>
                    <a:pt x="5765403" y="0"/>
                  </a:lnTo>
                  <a:lnTo>
                    <a:pt x="5765403" y="860623"/>
                  </a:lnTo>
                  <a:lnTo>
                    <a:pt x="0" y="8606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04775"/>
              <a:ext cx="5765403" cy="9653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Until</a:t>
              </a:r>
              <a:r>
                <a:rPr lang="en-US" sz="275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971561" y="5086647"/>
            <a:ext cx="4324052" cy="1764953"/>
            <a:chOff x="0" y="0"/>
            <a:chExt cx="5765403" cy="235327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765403" cy="2353270"/>
            </a:xfrm>
            <a:custGeom>
              <a:avLst/>
              <a:gdLst/>
              <a:ahLst/>
              <a:cxnLst/>
              <a:rect l="l" t="t" r="r" b="b"/>
              <a:pathLst>
                <a:path w="5765403" h="2353270">
                  <a:moveTo>
                    <a:pt x="0" y="0"/>
                  </a:moveTo>
                  <a:lnTo>
                    <a:pt x="5765403" y="0"/>
                  </a:lnTo>
                  <a:lnTo>
                    <a:pt x="5765403" y="2353270"/>
                  </a:lnTo>
                  <a:lnTo>
                    <a:pt x="0" y="2353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85725"/>
              <a:ext cx="5765403" cy="2438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28813" lvl="2" indent="-142938" algn="l">
                <a:lnSpc>
                  <a:spcPts val="3561"/>
                </a:lnSpc>
                <a:buFont typeface="Arial"/>
                <a:buChar char="⚬"/>
              </a:pPr>
              <a:r>
                <a:rPr lang="en-US" sz="218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Repeats commands until a condition is true. 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966800" y="6702103"/>
            <a:ext cx="4324052" cy="2331839"/>
            <a:chOff x="0" y="0"/>
            <a:chExt cx="5765403" cy="310911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765403" cy="3109118"/>
            </a:xfrm>
            <a:custGeom>
              <a:avLst/>
              <a:gdLst/>
              <a:ahLst/>
              <a:cxnLst/>
              <a:rect l="l" t="t" r="r" b="b"/>
              <a:pathLst>
                <a:path w="5765403" h="3109118">
                  <a:moveTo>
                    <a:pt x="0" y="0"/>
                  </a:moveTo>
                  <a:lnTo>
                    <a:pt x="5765403" y="0"/>
                  </a:lnTo>
                  <a:lnTo>
                    <a:pt x="5765403" y="3109118"/>
                  </a:lnTo>
                  <a:lnTo>
                    <a:pt x="0" y="3109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85725"/>
              <a:ext cx="5765403" cy="31948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28813" lvl="2" indent="-142938" algn="l">
                <a:lnSpc>
                  <a:spcPts val="3561"/>
                </a:lnSpc>
                <a:buFont typeface="Arial"/>
                <a:buChar char="⚬"/>
              </a:pPr>
              <a:r>
                <a:rPr lang="en-US" sz="2187" dirty="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Continues the loop even if the condition is false but, </a:t>
              </a:r>
              <a:r>
                <a:rPr lang="en-US" sz="2187" b="1" dirty="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will exit when condition is true</a:t>
              </a:r>
              <a:r>
                <a:rPr lang="en-US" sz="2187" dirty="0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78371" y="860227"/>
            <a:ext cx="10297576" cy="82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1">
                <a:solidFill>
                  <a:srgbClr val="403CC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Summary of All Three Loops</a:t>
            </a:r>
            <a:r>
              <a:rPr lang="en-US" sz="4375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73609" y="2028527"/>
            <a:ext cx="16740760" cy="7369683"/>
            <a:chOff x="0" y="0"/>
            <a:chExt cx="22321013" cy="98262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321013" cy="9826244"/>
            </a:xfrm>
            <a:custGeom>
              <a:avLst/>
              <a:gdLst/>
              <a:ahLst/>
              <a:cxnLst/>
              <a:rect l="l" t="t" r="r" b="b"/>
              <a:pathLst>
                <a:path w="22321013" h="9826244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22270213" y="0"/>
                  </a:lnTo>
                  <a:lnTo>
                    <a:pt x="22270213" y="6350"/>
                  </a:lnTo>
                  <a:lnTo>
                    <a:pt x="22270213" y="0"/>
                  </a:lnTo>
                  <a:cubicBezTo>
                    <a:pt x="22298279" y="0"/>
                    <a:pt x="22321013" y="22733"/>
                    <a:pt x="22321013" y="50800"/>
                  </a:cubicBezTo>
                  <a:lnTo>
                    <a:pt x="22314663" y="50800"/>
                  </a:lnTo>
                  <a:lnTo>
                    <a:pt x="22321013" y="50800"/>
                  </a:lnTo>
                  <a:lnTo>
                    <a:pt x="22321013" y="9775444"/>
                  </a:lnTo>
                  <a:lnTo>
                    <a:pt x="22314663" y="9775444"/>
                  </a:lnTo>
                  <a:lnTo>
                    <a:pt x="22321013" y="9775444"/>
                  </a:lnTo>
                  <a:cubicBezTo>
                    <a:pt x="22321013" y="9803511"/>
                    <a:pt x="22298279" y="9826244"/>
                    <a:pt x="22270213" y="9826244"/>
                  </a:cubicBezTo>
                  <a:lnTo>
                    <a:pt x="22270213" y="9819894"/>
                  </a:lnTo>
                  <a:lnTo>
                    <a:pt x="22270213" y="9826244"/>
                  </a:lnTo>
                  <a:lnTo>
                    <a:pt x="50800" y="9826244"/>
                  </a:lnTo>
                  <a:lnTo>
                    <a:pt x="50800" y="9819894"/>
                  </a:lnTo>
                  <a:lnTo>
                    <a:pt x="50800" y="9826244"/>
                  </a:lnTo>
                  <a:cubicBezTo>
                    <a:pt x="22733" y="9826244"/>
                    <a:pt x="0" y="9803511"/>
                    <a:pt x="0" y="9775444"/>
                  </a:cubicBezTo>
                  <a:lnTo>
                    <a:pt x="0" y="50800"/>
                  </a:lnTo>
                  <a:lnTo>
                    <a:pt x="6350" y="50800"/>
                  </a:lnTo>
                  <a:lnTo>
                    <a:pt x="0" y="50800"/>
                  </a:lnTo>
                  <a:moveTo>
                    <a:pt x="12700" y="50800"/>
                  </a:moveTo>
                  <a:lnTo>
                    <a:pt x="12700" y="9775444"/>
                  </a:lnTo>
                  <a:lnTo>
                    <a:pt x="6350" y="9775444"/>
                  </a:lnTo>
                  <a:lnTo>
                    <a:pt x="12700" y="9775444"/>
                  </a:lnTo>
                  <a:cubicBezTo>
                    <a:pt x="12700" y="9796525"/>
                    <a:pt x="29718" y="9813544"/>
                    <a:pt x="50800" y="9813544"/>
                  </a:cubicBezTo>
                  <a:lnTo>
                    <a:pt x="22270213" y="9813544"/>
                  </a:lnTo>
                  <a:cubicBezTo>
                    <a:pt x="22291295" y="9813544"/>
                    <a:pt x="22308313" y="9796525"/>
                    <a:pt x="22308313" y="9775444"/>
                  </a:cubicBezTo>
                  <a:lnTo>
                    <a:pt x="22308313" y="50800"/>
                  </a:lnTo>
                  <a:cubicBezTo>
                    <a:pt x="22308313" y="29718"/>
                    <a:pt x="22291295" y="12700"/>
                    <a:pt x="22270213" y="12700"/>
                  </a:cubicBezTo>
                  <a:lnTo>
                    <a:pt x="50800" y="12700"/>
                  </a:lnTo>
                  <a:lnTo>
                    <a:pt x="50800" y="6350"/>
                  </a:lnTo>
                  <a:lnTo>
                    <a:pt x="50800" y="12700"/>
                  </a:lnTo>
                  <a:cubicBezTo>
                    <a:pt x="29718" y="12700"/>
                    <a:pt x="12700" y="29718"/>
                    <a:pt x="12700" y="5080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46001" y="2169021"/>
            <a:ext cx="3336280" cy="43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Loop Type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05487" y="2169021"/>
            <a:ext cx="3336280" cy="43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Condition Check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61848" y="2169021"/>
            <a:ext cx="3336280" cy="43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Runs Until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84834" y="2169021"/>
            <a:ext cx="2892921" cy="43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0394" y="2738437"/>
            <a:ext cx="4007644" cy="59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87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72261" y="2738437"/>
            <a:ext cx="4002881" cy="59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Iterates over a range or list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9366" y="2738437"/>
            <a:ext cx="4001244" cy="59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Set number of iterations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84834" y="2738437"/>
            <a:ext cx="2892921" cy="2373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When you know the </a:t>
            </a:r>
            <a:r>
              <a:rPr lang="en-US" sz="2187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exact number of iterations</a:t>
            </a: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or need to iterate over a </a:t>
            </a:r>
            <a:r>
              <a:rPr lang="en-US" sz="2187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list or range</a:t>
            </a: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0394" y="5247680"/>
            <a:ext cx="4007644" cy="59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87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While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72261" y="5247680"/>
            <a:ext cx="4002881" cy="59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Condition is true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9366" y="5247680"/>
            <a:ext cx="4001244" cy="59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Condition becomes false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384834" y="5247680"/>
            <a:ext cx="2892921" cy="1928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When you want the loop to continue </a:t>
            </a:r>
            <a:r>
              <a:rPr lang="en-US" sz="2187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 long as the condition is true</a:t>
            </a: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0394" y="7312224"/>
            <a:ext cx="4007644" cy="59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87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Until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72261" y="7312223"/>
            <a:ext cx="4002881" cy="59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Condition is false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29366" y="7312223"/>
            <a:ext cx="4001244" cy="59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Condition becomes true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84834" y="7312223"/>
            <a:ext cx="2892921" cy="1928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When you want the loop to continue </a:t>
            </a:r>
            <a:r>
              <a:rPr lang="en-US" sz="2187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until the condition becomes true</a:t>
            </a: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32830" y="525810"/>
            <a:ext cx="5235328" cy="70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061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For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2830" y="1498997"/>
            <a:ext cx="16822341" cy="585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6498" lvl="2" indent="-138833" algn="l">
              <a:lnSpc>
                <a:spcPts val="3432"/>
              </a:lnSpc>
              <a:buFont typeface="Arial"/>
              <a:buChar char="⚬"/>
            </a:pPr>
            <a:r>
              <a:rPr lang="en-US" sz="2124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item</a:t>
            </a:r>
            <a:r>
              <a:rPr lang="en-US" sz="21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: A variable that will take each value in the list, one by one.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2830" y="1991022"/>
            <a:ext cx="16822341" cy="568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6893" lvl="2" indent="-132298" algn="l">
              <a:lnSpc>
                <a:spcPts val="3271"/>
              </a:lnSpc>
              <a:buFont typeface="Arial"/>
              <a:buChar char="⚬"/>
            </a:pPr>
            <a:r>
              <a:rPr lang="en-US" sz="2024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list</a:t>
            </a:r>
            <a:r>
              <a:rPr lang="en-US" sz="20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: A list of items that will be iterated over (it can be numbers, strings, or even files).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944366" y="2903567"/>
            <a:ext cx="5732710" cy="2905571"/>
            <a:chOff x="0" y="0"/>
            <a:chExt cx="7643613" cy="3874095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7643622" cy="3874135"/>
            </a:xfrm>
            <a:custGeom>
              <a:avLst/>
              <a:gdLst/>
              <a:ahLst/>
              <a:cxnLst/>
              <a:rect l="l" t="t" r="r" b="b"/>
              <a:pathLst>
                <a:path w="7643622" h="3874135">
                  <a:moveTo>
                    <a:pt x="0" y="0"/>
                  </a:moveTo>
                  <a:lnTo>
                    <a:pt x="7643622" y="0"/>
                  </a:lnTo>
                  <a:lnTo>
                    <a:pt x="7643622" y="3874135"/>
                  </a:lnTo>
                  <a:lnTo>
                    <a:pt x="0" y="3874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" r="-19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240137" y="6155085"/>
            <a:ext cx="3141166" cy="409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6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SYNTAX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82568" y="2840236"/>
            <a:ext cx="6667752" cy="3032233"/>
            <a:chOff x="0" y="0"/>
            <a:chExt cx="8890336" cy="4042977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8890381" cy="4042918"/>
            </a:xfrm>
            <a:custGeom>
              <a:avLst/>
              <a:gdLst/>
              <a:ahLst/>
              <a:cxnLst/>
              <a:rect l="l" t="t" r="r" b="b"/>
              <a:pathLst>
                <a:path w="8890381" h="4042918">
                  <a:moveTo>
                    <a:pt x="0" y="0"/>
                  </a:moveTo>
                  <a:lnTo>
                    <a:pt x="8890381" y="0"/>
                  </a:lnTo>
                  <a:lnTo>
                    <a:pt x="8890381" y="4042918"/>
                  </a:lnTo>
                  <a:lnTo>
                    <a:pt x="0" y="4042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2" b="-10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408914" y="5988843"/>
            <a:ext cx="3141166" cy="409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6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Expected Output: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8914" y="6490841"/>
            <a:ext cx="8155781" cy="45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08914" y="7014270"/>
            <a:ext cx="8155781" cy="45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08914" y="7537698"/>
            <a:ext cx="8155781" cy="45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08914" y="8061126"/>
            <a:ext cx="8155781" cy="45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8914" y="8584555"/>
            <a:ext cx="8155781" cy="45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57535" y="756940"/>
            <a:ext cx="5411540" cy="7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While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7535" y="1749475"/>
            <a:ext cx="16772930" cy="107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8417" lvl="2" indent="-149472" algn="l">
              <a:lnSpc>
                <a:spcPts val="3643"/>
              </a:lnSpc>
              <a:buFont typeface="Arial"/>
              <a:buChar char="⚬"/>
            </a:pPr>
            <a:r>
              <a:rPr lang="en-US" sz="2286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condition</a:t>
            </a:r>
            <a:r>
              <a:rPr lang="en-US" sz="2286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: A condition that will be checked before each iteration. If the condition is true, the loop continues; otherwise, it exits.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18296" y="2760911"/>
            <a:ext cx="6200924" cy="3329136"/>
            <a:chOff x="0" y="0"/>
            <a:chExt cx="8267899" cy="4438848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267954" cy="4438904"/>
            </a:xfrm>
            <a:custGeom>
              <a:avLst/>
              <a:gdLst/>
              <a:ahLst/>
              <a:cxnLst/>
              <a:rect l="l" t="t" r="r" b="b"/>
              <a:pathLst>
                <a:path w="8267954" h="4438904">
                  <a:moveTo>
                    <a:pt x="0" y="0"/>
                  </a:moveTo>
                  <a:lnTo>
                    <a:pt x="8267954" y="0"/>
                  </a:lnTo>
                  <a:lnTo>
                    <a:pt x="8267954" y="4438904"/>
                  </a:lnTo>
                  <a:lnTo>
                    <a:pt x="0" y="4438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0" b="-6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195340" y="6368057"/>
            <a:ext cx="3246835" cy="429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2499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SYNTAX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144000" y="2586336"/>
            <a:ext cx="7109599" cy="3562052"/>
            <a:chOff x="0" y="0"/>
            <a:chExt cx="9479465" cy="4749403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9479407" cy="4749419"/>
            </a:xfrm>
            <a:custGeom>
              <a:avLst/>
              <a:gdLst/>
              <a:ahLst/>
              <a:cxnLst/>
              <a:rect l="l" t="t" r="r" b="b"/>
              <a:pathLst>
                <a:path w="9479407" h="4749419">
                  <a:moveTo>
                    <a:pt x="0" y="0"/>
                  </a:moveTo>
                  <a:lnTo>
                    <a:pt x="9479407" y="0"/>
                  </a:lnTo>
                  <a:lnTo>
                    <a:pt x="9479407" y="4749419"/>
                  </a:lnTo>
                  <a:lnTo>
                    <a:pt x="0" y="4749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" r="-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417546" y="6145708"/>
            <a:ext cx="3246835" cy="429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499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Expected Output: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17546" y="6691758"/>
            <a:ext cx="8122444" cy="44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6"/>
              </a:lnSpc>
            </a:pPr>
            <a:r>
              <a:rPr lang="en-US" sz="1686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17546" y="7232748"/>
            <a:ext cx="8122444" cy="44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6"/>
              </a:lnSpc>
            </a:pPr>
            <a:r>
              <a:rPr lang="en-US" sz="1686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17546" y="7773739"/>
            <a:ext cx="8122444" cy="44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6"/>
              </a:lnSpc>
            </a:pPr>
            <a:r>
              <a:rPr lang="en-US" sz="1686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17546" y="8314729"/>
            <a:ext cx="8122444" cy="44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6"/>
              </a:lnSpc>
            </a:pPr>
            <a:r>
              <a:rPr lang="en-US" sz="1686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7546" y="8855719"/>
            <a:ext cx="8122444" cy="44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6"/>
              </a:lnSpc>
            </a:pPr>
            <a:r>
              <a:rPr lang="en-US" sz="1686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35360" y="551557"/>
            <a:ext cx="5252591" cy="68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123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Until 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5360" y="1521024"/>
            <a:ext cx="16817280" cy="1047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2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until loop in Bash is the opposite of the while loop. It repeats the set of commands </a:t>
            </a:r>
            <a:r>
              <a:rPr lang="en-US" sz="2262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until</a:t>
            </a:r>
            <a:r>
              <a:rPr lang="en-US" sz="22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a condition is </a:t>
            </a:r>
            <a:r>
              <a:rPr lang="en-US" sz="2262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true</a:t>
            </a:r>
            <a:r>
              <a:rPr lang="en-US" sz="22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(i.e., the loop continues as long as the condition is </a:t>
            </a:r>
            <a:r>
              <a:rPr lang="en-US" sz="2262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false</a:t>
            </a:r>
            <a:r>
              <a:rPr lang="en-US" sz="22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935659" y="2886350"/>
            <a:ext cx="5751611" cy="2915096"/>
            <a:chOff x="0" y="0"/>
            <a:chExt cx="7668815" cy="3886795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668768" cy="3886835"/>
            </a:xfrm>
            <a:custGeom>
              <a:avLst/>
              <a:gdLst/>
              <a:ahLst/>
              <a:cxnLst/>
              <a:rect l="l" t="t" r="r" b="b"/>
              <a:pathLst>
                <a:path w="7668768" h="3886835">
                  <a:moveTo>
                    <a:pt x="0" y="0"/>
                  </a:moveTo>
                  <a:lnTo>
                    <a:pt x="7668768" y="0"/>
                  </a:lnTo>
                  <a:lnTo>
                    <a:pt x="7668768" y="3886835"/>
                  </a:lnTo>
                  <a:lnTo>
                    <a:pt x="0" y="3886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r="-21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235672" y="6102400"/>
            <a:ext cx="3151585" cy="410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6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SYNTAX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014153" y="2886349"/>
            <a:ext cx="6399505" cy="3525238"/>
            <a:chOff x="0" y="0"/>
            <a:chExt cx="8532673" cy="4700317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8532622" cy="4700270"/>
            </a:xfrm>
            <a:custGeom>
              <a:avLst/>
              <a:gdLst/>
              <a:ahLst/>
              <a:cxnLst/>
              <a:rect l="l" t="t" r="r" b="b"/>
              <a:pathLst>
                <a:path w="8532622" h="4700270">
                  <a:moveTo>
                    <a:pt x="0" y="0"/>
                  </a:moveTo>
                  <a:lnTo>
                    <a:pt x="8532622" y="0"/>
                  </a:lnTo>
                  <a:lnTo>
                    <a:pt x="8532622" y="4700270"/>
                  </a:lnTo>
                  <a:lnTo>
                    <a:pt x="0" y="4700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" r="-35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409807" y="6515100"/>
            <a:ext cx="3151585" cy="410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6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Expected Output: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09807" y="7019033"/>
            <a:ext cx="8152359" cy="452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9807" y="7544246"/>
            <a:ext cx="8152359" cy="452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09807" y="8069461"/>
            <a:ext cx="8152359" cy="452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09807" y="8594675"/>
            <a:ext cx="8152359" cy="452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09807" y="9119890"/>
            <a:ext cx="8152359" cy="452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Number: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905173"/>
            <a:ext cx="7528769" cy="93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Conditionals in Bash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082999"/>
            <a:ext cx="16303526" cy="131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Conditionals in Bash allow you to execute a set of commands based on whether a condition is </a:t>
            </a:r>
            <a:r>
              <a:rPr lang="en-US" sz="2750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true</a:t>
            </a:r>
            <a:r>
              <a:rPr lang="en-US" sz="27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lang="en-US" sz="2750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false</a:t>
            </a:r>
            <a:r>
              <a:rPr lang="en-US" sz="27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719066"/>
            <a:ext cx="1417588" cy="1870919"/>
            <a:chOff x="0" y="0"/>
            <a:chExt cx="1890117" cy="249455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890141" cy="2494534"/>
            </a:xfrm>
            <a:custGeom>
              <a:avLst/>
              <a:gdLst/>
              <a:ahLst/>
              <a:cxnLst/>
              <a:rect l="l" t="t" r="r" b="b"/>
              <a:pathLst>
                <a:path w="1890141" h="2494534">
                  <a:moveTo>
                    <a:pt x="0" y="0"/>
                  </a:moveTo>
                  <a:lnTo>
                    <a:pt x="1890141" y="0"/>
                  </a:lnTo>
                  <a:lnTo>
                    <a:pt x="1890141" y="2494534"/>
                  </a:lnTo>
                  <a:lnTo>
                    <a:pt x="0" y="2494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5" r="-16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35027" y="3819228"/>
            <a:ext cx="14460736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if</a:t>
            </a:r>
            <a:r>
              <a:rPr lang="en-US" sz="27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35027" y="4556224"/>
            <a:ext cx="14460736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Executes commands if the condition is true.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92238" y="5589985"/>
            <a:ext cx="1417588" cy="1870919"/>
            <a:chOff x="0" y="0"/>
            <a:chExt cx="1890117" cy="2494559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890141" cy="2494534"/>
            </a:xfrm>
            <a:custGeom>
              <a:avLst/>
              <a:gdLst/>
              <a:ahLst/>
              <a:cxnLst/>
              <a:rect l="l" t="t" r="r" b="b"/>
              <a:pathLst>
                <a:path w="1890141" h="2494534">
                  <a:moveTo>
                    <a:pt x="0" y="0"/>
                  </a:moveTo>
                  <a:lnTo>
                    <a:pt x="1890141" y="0"/>
                  </a:lnTo>
                  <a:lnTo>
                    <a:pt x="1890141" y="2494534"/>
                  </a:lnTo>
                  <a:lnTo>
                    <a:pt x="0" y="2494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5" r="-16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835027" y="5690146"/>
            <a:ext cx="14460736" cy="51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1" dirty="0" err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elif</a:t>
            </a:r>
            <a:r>
              <a:rPr lang="en-US" sz="2750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35027" y="6427143"/>
            <a:ext cx="14460736" cy="51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37"/>
              </a:lnSpc>
            </a:pPr>
            <a:r>
              <a:rPr lang="en-US" sz="2750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Allows you to check multiple conditions (else if).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92238" y="7460902"/>
            <a:ext cx="1417588" cy="1870919"/>
            <a:chOff x="0" y="0"/>
            <a:chExt cx="1890117" cy="2494559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890141" cy="2494534"/>
            </a:xfrm>
            <a:custGeom>
              <a:avLst/>
              <a:gdLst/>
              <a:ahLst/>
              <a:cxnLst/>
              <a:rect l="l" t="t" r="r" b="b"/>
              <a:pathLst>
                <a:path w="1890141" h="2494534">
                  <a:moveTo>
                    <a:pt x="0" y="0"/>
                  </a:moveTo>
                  <a:lnTo>
                    <a:pt x="1890141" y="0"/>
                  </a:lnTo>
                  <a:lnTo>
                    <a:pt x="1890141" y="2494534"/>
                  </a:lnTo>
                  <a:lnTo>
                    <a:pt x="0" y="2494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5" r="-16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835027" y="7561064"/>
            <a:ext cx="14460736" cy="51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1" dirty="0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else</a:t>
            </a:r>
            <a:r>
              <a:rPr lang="en-US" sz="2750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Statement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35027" y="8298061"/>
            <a:ext cx="14460736" cy="51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Executes the command if the </a:t>
            </a:r>
            <a:r>
              <a:rPr lang="en-US" sz="275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r>
              <a:rPr lang="en-US" sz="2750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conditions are false.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0530" y="834479"/>
            <a:ext cx="6504086" cy="86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3"/>
              </a:lnSpc>
            </a:pPr>
            <a:r>
              <a:rPr lang="en-US" sz="50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Conditionals script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0530" y="2084289"/>
            <a:ext cx="7725276" cy="3412009"/>
            <a:chOff x="0" y="0"/>
            <a:chExt cx="10300368" cy="4549345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300335" cy="4549394"/>
            </a:xfrm>
            <a:custGeom>
              <a:avLst/>
              <a:gdLst/>
              <a:ahLst/>
              <a:cxnLst/>
              <a:rect l="l" t="t" r="r" b="b"/>
              <a:pathLst>
                <a:path w="10300335" h="4549394">
                  <a:moveTo>
                    <a:pt x="0" y="0"/>
                  </a:moveTo>
                  <a:lnTo>
                    <a:pt x="10300335" y="0"/>
                  </a:lnTo>
                  <a:lnTo>
                    <a:pt x="10300335" y="4549394"/>
                  </a:lnTo>
                  <a:lnTo>
                    <a:pt x="0" y="4549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99" r="-599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917329" y="5812184"/>
            <a:ext cx="3902422" cy="52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2"/>
              </a:lnSpc>
            </a:pPr>
            <a:r>
              <a:rPr lang="en-US" sz="30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Syntax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74271" y="2123034"/>
            <a:ext cx="8012723" cy="5881240"/>
            <a:chOff x="0" y="0"/>
            <a:chExt cx="10683631" cy="7841653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0683621" cy="7841615"/>
            </a:xfrm>
            <a:custGeom>
              <a:avLst/>
              <a:gdLst/>
              <a:ahLst/>
              <a:cxnLst/>
              <a:rect l="l" t="t" r="r" b="b"/>
              <a:pathLst>
                <a:path w="10683621" h="7841615">
                  <a:moveTo>
                    <a:pt x="0" y="0"/>
                  </a:moveTo>
                  <a:lnTo>
                    <a:pt x="10683621" y="0"/>
                  </a:lnTo>
                  <a:lnTo>
                    <a:pt x="10683621" y="7841615"/>
                  </a:lnTo>
                  <a:lnTo>
                    <a:pt x="0" y="7841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470826" y="7970936"/>
            <a:ext cx="3902423" cy="52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Expected Output: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0826" y="8602116"/>
            <a:ext cx="7916167" cy="566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Run the script and input different numbers to check the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7" y="2751860"/>
            <a:ext cx="12605570" cy="81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Few DevOps automation scripts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817065"/>
            <a:ext cx="16303526" cy="52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i="1">
                <a:solidFill>
                  <a:srgbClr val="49495A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Let's analyze some real automation scripts to have some real perspective: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029200"/>
            <a:ext cx="7363608" cy="1677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2786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 script that creates 3 directories and 2 files inside each directory using loops &amp; conditionals.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27269" y="5029200"/>
            <a:ext cx="7446859" cy="110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2786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 script that validates and install the desired tools in our system using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956073"/>
            <a:ext cx="7088237" cy="93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Functions in Bash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722935" y="2459088"/>
            <a:ext cx="2690069" cy="1633686"/>
            <a:chOff x="0" y="0"/>
            <a:chExt cx="3586759" cy="217824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3586734" cy="2178304"/>
            </a:xfrm>
            <a:custGeom>
              <a:avLst/>
              <a:gdLst/>
              <a:ahLst/>
              <a:cxnLst/>
              <a:rect l="l" t="t" r="r" b="b"/>
              <a:pathLst>
                <a:path w="3586734" h="2178304">
                  <a:moveTo>
                    <a:pt x="0" y="0"/>
                  </a:moveTo>
                  <a:lnTo>
                    <a:pt x="3586734" y="0"/>
                  </a:lnTo>
                  <a:lnTo>
                    <a:pt x="3586734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6" b="-2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88868" y="2994869"/>
            <a:ext cx="158055" cy="76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96521" y="2709268"/>
            <a:ext cx="3544044" cy="47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Code Reusability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96521" y="3205608"/>
            <a:ext cx="4152603" cy="60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Define once, use multiple times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483846" y="4109145"/>
            <a:ext cx="10741058" cy="19050"/>
            <a:chOff x="0" y="0"/>
            <a:chExt cx="14321410" cy="25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321410" cy="25400"/>
            </a:xfrm>
            <a:custGeom>
              <a:avLst/>
              <a:gdLst/>
              <a:ahLst/>
              <a:cxnLst/>
              <a:rect l="l" t="t" r="r" b="b"/>
              <a:pathLst>
                <a:path w="14321410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308710" y="0"/>
                  </a:lnTo>
                  <a:cubicBezTo>
                    <a:pt x="14315695" y="0"/>
                    <a:pt x="14321410" y="5715"/>
                    <a:pt x="14321410" y="12700"/>
                  </a:cubicBezTo>
                  <a:cubicBezTo>
                    <a:pt x="14321410" y="19685"/>
                    <a:pt x="14315695" y="25400"/>
                    <a:pt x="1430871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0CE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377976" y="4163616"/>
            <a:ext cx="5380136" cy="1633686"/>
            <a:chOff x="0" y="0"/>
            <a:chExt cx="7173515" cy="2178248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7173468" cy="2178304"/>
            </a:xfrm>
            <a:custGeom>
              <a:avLst/>
              <a:gdLst/>
              <a:ahLst/>
              <a:cxnLst/>
              <a:rect l="l" t="t" r="r" b="b"/>
              <a:pathLst>
                <a:path w="7173468" h="2178304">
                  <a:moveTo>
                    <a:pt x="0" y="0"/>
                  </a:moveTo>
                  <a:lnTo>
                    <a:pt x="7173468" y="0"/>
                  </a:lnTo>
                  <a:lnTo>
                    <a:pt x="7173468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2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958804" y="4496991"/>
            <a:ext cx="218331" cy="76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41630" y="4413797"/>
            <a:ext cx="3460700" cy="47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Code Organization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41630" y="4910137"/>
            <a:ext cx="3460700" cy="60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Group related commands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828955" y="5813672"/>
            <a:ext cx="9395936" cy="19050"/>
            <a:chOff x="0" y="0"/>
            <a:chExt cx="12527915" cy="25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527915" cy="25400"/>
            </a:xfrm>
            <a:custGeom>
              <a:avLst/>
              <a:gdLst/>
              <a:ahLst/>
              <a:cxnLst/>
              <a:rect l="l" t="t" r="r" b="b"/>
              <a:pathLst>
                <a:path w="12527915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515215" y="0"/>
                  </a:lnTo>
                  <a:cubicBezTo>
                    <a:pt x="12522200" y="0"/>
                    <a:pt x="12527915" y="5715"/>
                    <a:pt x="12527915" y="12700"/>
                  </a:cubicBezTo>
                  <a:cubicBezTo>
                    <a:pt x="12527915" y="19685"/>
                    <a:pt x="12522200" y="25400"/>
                    <a:pt x="1251521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0CE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32868" y="5868144"/>
            <a:ext cx="8070205" cy="1633686"/>
            <a:chOff x="0" y="0"/>
            <a:chExt cx="10760273" cy="2178248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0760329" cy="2178304"/>
            </a:xfrm>
            <a:custGeom>
              <a:avLst/>
              <a:gdLst/>
              <a:ahLst/>
              <a:cxnLst/>
              <a:rect l="l" t="t" r="r" b="b"/>
              <a:pathLst>
                <a:path w="10760329" h="2178304">
                  <a:moveTo>
                    <a:pt x="0" y="0"/>
                  </a:moveTo>
                  <a:lnTo>
                    <a:pt x="10760329" y="0"/>
                  </a:lnTo>
                  <a:lnTo>
                    <a:pt x="10760329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56" b="-15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958655" y="6201519"/>
            <a:ext cx="218331" cy="76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86590" y="6118324"/>
            <a:ext cx="3544044" cy="47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Simplifies Scripts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86590" y="6614666"/>
            <a:ext cx="3641675" cy="60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Easier to read and maintain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238" y="7901880"/>
            <a:ext cx="16303526" cy="60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Functions in Bash allow you to group a series of commands together that can be executed with a single call.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2238" y="8674448"/>
            <a:ext cx="1630352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This helps in reusing code, organizing your script better, and making your code more modular and easier to read and maintain.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7" y="869603"/>
            <a:ext cx="13258334" cy="1062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Different ways to use functions - 1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372618"/>
            <a:ext cx="8010049" cy="6994589"/>
            <a:chOff x="0" y="0"/>
            <a:chExt cx="10680065" cy="93261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80065" cy="9326118"/>
            </a:xfrm>
            <a:custGeom>
              <a:avLst/>
              <a:gdLst/>
              <a:ahLst/>
              <a:cxnLst/>
              <a:rect l="l" t="t" r="r" b="b"/>
              <a:pathLst>
                <a:path w="10680065" h="9326118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9269476"/>
                  </a:lnTo>
                  <a:cubicBezTo>
                    <a:pt x="10680065" y="9300845"/>
                    <a:pt x="10654665" y="9326118"/>
                    <a:pt x="10623423" y="9326118"/>
                  </a:cubicBezTo>
                  <a:lnTo>
                    <a:pt x="56642" y="9326118"/>
                  </a:lnTo>
                  <a:cubicBezTo>
                    <a:pt x="25273" y="9326118"/>
                    <a:pt x="0" y="9300718"/>
                    <a:pt x="0" y="9269476"/>
                  </a:cubicBezTo>
                  <a:close/>
                </a:path>
              </a:pathLst>
            </a:custGeom>
            <a:solidFill>
              <a:srgbClr val="EAE8F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75755" y="2622797"/>
            <a:ext cx="4252912" cy="56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 u="sng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Call a function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755" y="3174504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#Create a function()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5755" y="3911501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greet_user()</a:t>
            </a:r>
            <a:r>
              <a:rPr lang="en-US" sz="27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5755" y="4648498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5755" y="5385495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#Add commands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5755" y="6122491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 echo "Hello, welcome to Bash scripting!"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5755" y="6859489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 }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5755" y="7596485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#Calling the function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5755" y="8333483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greet_user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285834" y="2372618"/>
            <a:ext cx="8010049" cy="6994589"/>
            <a:chOff x="0" y="0"/>
            <a:chExt cx="10680065" cy="93261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80065" cy="9326118"/>
            </a:xfrm>
            <a:custGeom>
              <a:avLst/>
              <a:gdLst/>
              <a:ahLst/>
              <a:cxnLst/>
              <a:rect l="l" t="t" r="r" b="b"/>
              <a:pathLst>
                <a:path w="10680065" h="9326118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9269476"/>
                  </a:lnTo>
                  <a:cubicBezTo>
                    <a:pt x="10680065" y="9300845"/>
                    <a:pt x="10654665" y="9326118"/>
                    <a:pt x="10623423" y="9326118"/>
                  </a:cubicBezTo>
                  <a:lnTo>
                    <a:pt x="56642" y="9326118"/>
                  </a:lnTo>
                  <a:cubicBezTo>
                    <a:pt x="25273" y="9326118"/>
                    <a:pt x="0" y="9300718"/>
                    <a:pt x="0" y="9269476"/>
                  </a:cubicBezTo>
                  <a:close/>
                </a:path>
              </a:pathLst>
            </a:custGeom>
            <a:solidFill>
              <a:srgbClr val="EAE8F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569351" y="2622797"/>
            <a:ext cx="5560367" cy="56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1" u="sng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Function with Arguments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69351" y="3174504"/>
            <a:ext cx="7443044" cy="131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#Define a function that accepts two arguments (name and age)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69351" y="4478388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greet_with_age()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69351" y="5215384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69351" y="5952381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echo "Hello, </a:t>
            </a:r>
            <a:r>
              <a:rPr lang="en-US" sz="2750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</a:t>
            </a:r>
            <a:r>
              <a:rPr lang="en-US" sz="27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! You are </a:t>
            </a:r>
            <a:r>
              <a:rPr lang="en-US" sz="2750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$2</a:t>
            </a:r>
            <a:r>
              <a:rPr lang="en-US" sz="27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years old."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69351" y="6689378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69351" y="7426375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#Call the function with arguments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69351" y="8163371"/>
            <a:ext cx="7443044" cy="75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greet_with_age </a:t>
            </a:r>
            <a:r>
              <a:rPr lang="en-US" sz="2750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"John"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35819" y="623293"/>
            <a:ext cx="11652349" cy="887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6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Different ways to use functions - 2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35819" y="1880592"/>
            <a:ext cx="8188833" cy="7753446"/>
            <a:chOff x="0" y="0"/>
            <a:chExt cx="10918444" cy="103379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18444" cy="10337927"/>
            </a:xfrm>
            <a:custGeom>
              <a:avLst/>
              <a:gdLst/>
              <a:ahLst/>
              <a:cxnLst/>
              <a:rect l="l" t="t" r="r" b="b"/>
              <a:pathLst>
                <a:path w="10918444" h="10337927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870692" y="0"/>
                  </a:lnTo>
                  <a:cubicBezTo>
                    <a:pt x="10897108" y="0"/>
                    <a:pt x="10918444" y="21336"/>
                    <a:pt x="10918444" y="47752"/>
                  </a:cubicBezTo>
                  <a:lnTo>
                    <a:pt x="10918444" y="10290175"/>
                  </a:lnTo>
                  <a:cubicBezTo>
                    <a:pt x="10918444" y="10316591"/>
                    <a:pt x="10897108" y="10337927"/>
                    <a:pt x="10870692" y="10337927"/>
                  </a:cubicBezTo>
                  <a:lnTo>
                    <a:pt x="47752" y="10337927"/>
                  </a:lnTo>
                  <a:cubicBezTo>
                    <a:pt x="21336" y="10337927"/>
                    <a:pt x="0" y="10316591"/>
                    <a:pt x="0" y="10290175"/>
                  </a:cubicBezTo>
                  <a:close/>
                </a:path>
              </a:pathLst>
            </a:custGeom>
            <a:solidFill>
              <a:srgbClr val="EAE8F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4539" y="2102643"/>
            <a:ext cx="5402461" cy="464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811" u="sng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Function with Return Value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4539" y="2543473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#Define a function that adds two numbers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4539" y="3164235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add_numbers</a:t>
            </a:r>
            <a:r>
              <a:rPr lang="en-US" sz="231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() {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4539" y="3784998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#Adding the first and second arguments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4539" y="4405759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result=$(( $1 + $2 ))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4539" y="5026522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#Output the result to be captured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4539" y="5647284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echo $result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4539" y="6268045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4539" y="6888808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#Capture the returned value in a variable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4539" y="7509571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sum=$(</a:t>
            </a:r>
            <a:r>
              <a:rPr lang="en-US" sz="2312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add_numbers</a:t>
            </a:r>
            <a:r>
              <a:rPr lang="en-US" sz="231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10 15)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4539" y="8130332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#Print the result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4539" y="8751094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echo "The sum is: $sum"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63360" y="1880592"/>
            <a:ext cx="8188833" cy="7753446"/>
            <a:chOff x="0" y="0"/>
            <a:chExt cx="10918444" cy="103379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18444" cy="10337927"/>
            </a:xfrm>
            <a:custGeom>
              <a:avLst/>
              <a:gdLst/>
              <a:ahLst/>
              <a:cxnLst/>
              <a:rect l="l" t="t" r="r" b="b"/>
              <a:pathLst>
                <a:path w="10918444" h="10337927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870692" y="0"/>
                  </a:lnTo>
                  <a:cubicBezTo>
                    <a:pt x="10897108" y="0"/>
                    <a:pt x="10918444" y="21336"/>
                    <a:pt x="10918444" y="47752"/>
                  </a:cubicBezTo>
                  <a:lnTo>
                    <a:pt x="10918444" y="10290175"/>
                  </a:lnTo>
                  <a:cubicBezTo>
                    <a:pt x="10918444" y="10316591"/>
                    <a:pt x="10897108" y="10337927"/>
                    <a:pt x="10870692" y="10337927"/>
                  </a:cubicBezTo>
                  <a:lnTo>
                    <a:pt x="47752" y="10337927"/>
                  </a:lnTo>
                  <a:cubicBezTo>
                    <a:pt x="21336" y="10337927"/>
                    <a:pt x="0" y="10316591"/>
                    <a:pt x="0" y="10290175"/>
                  </a:cubicBezTo>
                  <a:close/>
                </a:path>
              </a:pathLst>
            </a:custGeom>
            <a:solidFill>
              <a:srgbClr val="EAE8F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502080" y="2102643"/>
            <a:ext cx="6347520" cy="464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811" u="sng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Function with Conditional Logic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02080" y="2543473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#Define a function to check if a number is even or odd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02080" y="3164235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check_even_odd</a:t>
            </a:r>
            <a:r>
              <a:rPr lang="en-US" sz="231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() {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02080" y="3784998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if</a:t>
            </a:r>
            <a:r>
              <a:rPr lang="en-US" sz="231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[ $(($1 % 2)) -eq 0 ]; then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02080" y="4405759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    echo "The number $1 is even."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02080" y="5026522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else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02080" y="5647284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    echo "The number $1 is odd."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502080" y="6268045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fi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02080" y="6888808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02080" y="7509571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#Call the function with a number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02080" y="8130332"/>
            <a:ext cx="7711380" cy="64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check_even_odd</a:t>
            </a:r>
            <a:r>
              <a:rPr lang="en-US" sz="231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1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35372" y="843854"/>
            <a:ext cx="5966966" cy="760066"/>
            <a:chOff x="0" y="0"/>
            <a:chExt cx="7955955" cy="10134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955955" cy="1013421"/>
            </a:xfrm>
            <a:custGeom>
              <a:avLst/>
              <a:gdLst/>
              <a:ahLst/>
              <a:cxnLst/>
              <a:rect l="l" t="t" r="r" b="b"/>
              <a:pathLst>
                <a:path w="7955955" h="1013421">
                  <a:moveTo>
                    <a:pt x="0" y="0"/>
                  </a:moveTo>
                  <a:lnTo>
                    <a:pt x="7955955" y="0"/>
                  </a:lnTo>
                  <a:lnTo>
                    <a:pt x="7955955" y="1013421"/>
                  </a:lnTo>
                  <a:lnTo>
                    <a:pt x="0" y="1013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7955955" cy="10324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12"/>
                </a:lnSpc>
              </a:pPr>
              <a:r>
                <a:rPr lang="en-US" sz="4686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Key Takeaways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5980" y="2155714"/>
            <a:ext cx="3403611" cy="508372"/>
            <a:chOff x="0" y="0"/>
            <a:chExt cx="4538148" cy="6778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538148" cy="677830"/>
            </a:xfrm>
            <a:custGeom>
              <a:avLst/>
              <a:gdLst/>
              <a:ahLst/>
              <a:cxnLst/>
              <a:rect l="l" t="t" r="r" b="b"/>
              <a:pathLst>
                <a:path w="4538148" h="677830">
                  <a:moveTo>
                    <a:pt x="0" y="0"/>
                  </a:moveTo>
                  <a:lnTo>
                    <a:pt x="4538148" y="0"/>
                  </a:lnTo>
                  <a:lnTo>
                    <a:pt x="4538148" y="677830"/>
                  </a:lnTo>
                  <a:lnTo>
                    <a:pt x="0" y="677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4538148" cy="687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6"/>
                </a:lnSpc>
              </a:pPr>
              <a:r>
                <a:rPr lang="en-US" sz="2811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Substitution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5980" y="2664086"/>
            <a:ext cx="9364089" cy="965039"/>
            <a:chOff x="0" y="0"/>
            <a:chExt cx="12485452" cy="12867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485453" cy="1286719"/>
            </a:xfrm>
            <a:custGeom>
              <a:avLst/>
              <a:gdLst/>
              <a:ahLst/>
              <a:cxnLst/>
              <a:rect l="l" t="t" r="r" b="b"/>
              <a:pathLst>
                <a:path w="12485453" h="1286719">
                  <a:moveTo>
                    <a:pt x="0" y="0"/>
                  </a:moveTo>
                  <a:lnTo>
                    <a:pt x="12485453" y="0"/>
                  </a:lnTo>
                  <a:lnTo>
                    <a:pt x="12485453" y="1286719"/>
                  </a:lnTo>
                  <a:lnTo>
                    <a:pt x="0" y="1286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12485452" cy="1372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99"/>
                </a:lnSpc>
              </a:pPr>
              <a:r>
                <a:rPr lang="en-US" sz="2373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Utilizing the output of a command in another part of the command.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5980" y="4152395"/>
            <a:ext cx="4682045" cy="508372"/>
            <a:chOff x="0" y="0"/>
            <a:chExt cx="6242726" cy="6778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42726" cy="677830"/>
            </a:xfrm>
            <a:custGeom>
              <a:avLst/>
              <a:gdLst/>
              <a:ahLst/>
              <a:cxnLst/>
              <a:rect l="l" t="t" r="r" b="b"/>
              <a:pathLst>
                <a:path w="6242726" h="677830">
                  <a:moveTo>
                    <a:pt x="0" y="0"/>
                  </a:moveTo>
                  <a:lnTo>
                    <a:pt x="6242726" y="0"/>
                  </a:lnTo>
                  <a:lnTo>
                    <a:pt x="6242726" y="677830"/>
                  </a:lnTo>
                  <a:lnTo>
                    <a:pt x="0" y="677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6242726" cy="687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6"/>
                </a:lnSpc>
              </a:pPr>
              <a:r>
                <a:rPr lang="en-US" sz="2811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Loops and Conditionals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5980" y="4699060"/>
            <a:ext cx="9364089" cy="1441289"/>
            <a:chOff x="0" y="0"/>
            <a:chExt cx="12485452" cy="19217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485453" cy="1921719"/>
            </a:xfrm>
            <a:custGeom>
              <a:avLst/>
              <a:gdLst/>
              <a:ahLst/>
              <a:cxnLst/>
              <a:rect l="l" t="t" r="r" b="b"/>
              <a:pathLst>
                <a:path w="12485453" h="1921719">
                  <a:moveTo>
                    <a:pt x="0" y="0"/>
                  </a:moveTo>
                  <a:lnTo>
                    <a:pt x="12485453" y="0"/>
                  </a:lnTo>
                  <a:lnTo>
                    <a:pt x="12485453" y="1921719"/>
                  </a:lnTo>
                  <a:lnTo>
                    <a:pt x="0" y="1921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12485452" cy="2007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99"/>
                </a:lnSpc>
              </a:pPr>
              <a:r>
                <a:rPr lang="en-US" sz="2373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Loops (for, while, until) allow repetitive execution of a block of code and conditionals (if, elif, else) allow controlling the flow of execution based on specific conditions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35980" y="6664224"/>
            <a:ext cx="3403611" cy="508372"/>
            <a:chOff x="0" y="0"/>
            <a:chExt cx="4538148" cy="67783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538148" cy="677830"/>
            </a:xfrm>
            <a:custGeom>
              <a:avLst/>
              <a:gdLst/>
              <a:ahLst/>
              <a:cxnLst/>
              <a:rect l="l" t="t" r="r" b="b"/>
              <a:pathLst>
                <a:path w="4538148" h="677830">
                  <a:moveTo>
                    <a:pt x="0" y="0"/>
                  </a:moveTo>
                  <a:lnTo>
                    <a:pt x="4538148" y="0"/>
                  </a:lnTo>
                  <a:lnTo>
                    <a:pt x="4538148" y="677830"/>
                  </a:lnTo>
                  <a:lnTo>
                    <a:pt x="0" y="6778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4538148" cy="687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6"/>
                </a:lnSpc>
              </a:pPr>
              <a:r>
                <a:rPr lang="en-US" sz="2811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Functions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5980" y="7209243"/>
            <a:ext cx="9364089" cy="1441289"/>
            <a:chOff x="0" y="0"/>
            <a:chExt cx="12485452" cy="19217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485453" cy="1921719"/>
            </a:xfrm>
            <a:custGeom>
              <a:avLst/>
              <a:gdLst/>
              <a:ahLst/>
              <a:cxnLst/>
              <a:rect l="l" t="t" r="r" b="b"/>
              <a:pathLst>
                <a:path w="12485453" h="1921719">
                  <a:moveTo>
                    <a:pt x="0" y="0"/>
                  </a:moveTo>
                  <a:lnTo>
                    <a:pt x="12485453" y="0"/>
                  </a:lnTo>
                  <a:lnTo>
                    <a:pt x="12485453" y="1921719"/>
                  </a:lnTo>
                  <a:lnTo>
                    <a:pt x="0" y="1921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12485452" cy="2007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99"/>
                </a:lnSpc>
              </a:pPr>
              <a:r>
                <a:rPr lang="en-US" sz="2373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Utilize functions for code reusability &amp; simplify complex scripts through various calling methods like arguments / return values / conditions.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1088</Words>
  <Application>Microsoft Office PowerPoint</Application>
  <PresentationFormat>Custom</PresentationFormat>
  <Paragraphs>274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Open Sans</vt:lpstr>
      <vt:lpstr>Open Sans Bold</vt:lpstr>
      <vt:lpstr>Calibri</vt:lpstr>
      <vt:lpstr>Open Sans Italics</vt:lpstr>
      <vt:lpstr>Libre Baskerville Bold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Mastering-Bash.pptx.pptx</dc:title>
  <cp:lastModifiedBy>MohammaD AneeS</cp:lastModifiedBy>
  <cp:revision>3</cp:revision>
  <dcterms:created xsi:type="dcterms:W3CDTF">2006-08-16T00:00:00Z</dcterms:created>
  <dcterms:modified xsi:type="dcterms:W3CDTF">2026-08-02T06:41:26Z</dcterms:modified>
  <dc:identifier>DAGzh-OFNig</dc:identifier>
</cp:coreProperties>
</file>