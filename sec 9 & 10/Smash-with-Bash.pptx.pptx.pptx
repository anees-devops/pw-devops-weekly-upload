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Barlow Bold" panose="020B0604020202020204" charset="0"/>
      <p:regular r:id="rId22"/>
      <p:bold r:id="rId23"/>
    </p:embeddedFont>
    <p:embeddedFont>
      <p:font typeface="Canva Sans Bold" panose="020B0604020202020204" charset="0"/>
      <p:regular r:id="rId24"/>
      <p:bold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Bold" panose="00000800000000000000" charset="0"/>
      <p:regular r:id="rId30"/>
      <p:bold r:id="rId31"/>
    </p:embeddedFont>
    <p:embeddedFont>
      <p:font typeface="Montserrat Bold Italics" panose="020B0604020202020204" charset="0"/>
      <p:regular r:id="rId32"/>
      <p:bold r:id="rId33"/>
      <p:italic r:id="rId34"/>
      <p:boldItalic r:id="rId35"/>
    </p:embeddedFont>
    <p:embeddedFont>
      <p:font typeface="Montserrat Italics" panose="020B0604020202020204" charset="0"/>
      <p:regular r:id="rId36"/>
      <p: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603" autoAdjust="0"/>
  </p:normalViewPr>
  <p:slideViewPr>
    <p:cSldViewPr>
      <p:cViewPr varScale="1">
        <p:scale>
          <a:sx n="58" d="100"/>
          <a:sy n="58" d="100"/>
        </p:scale>
        <p:origin x="47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2207-68F7-7D34-A295-6FAEE564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BCB401-7D5D-644D-57FE-2603E7AAF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9ED8-005B-321C-ED03-2716F3BF25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A96B78-18A8-2A4E-9BC2-5FBD97247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96F041-CC5C-4BB2-B04D-9B1C3EC8A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16804-D40C-2529-8601-3EA8DFC75C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07B41-D8BA-EF3A-0BB8-AA376C811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03688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hyperlink" Target="http://XXX.XXX.XXX.XXX/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51459" y="3731716"/>
            <a:ext cx="7635632" cy="138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6"/>
              </a:lnSpc>
            </a:pPr>
            <a:r>
              <a:rPr lang="en-US" sz="706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Smash with Bash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33230" y="5045423"/>
            <a:ext cx="356339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1" dirty="0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[Scripting language]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834179"/>
            <a:ext cx="1790700" cy="39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550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Presenter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201150"/>
            <a:ext cx="3962358" cy="42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450" b="1" dirty="0">
                <a:solidFill>
                  <a:srgbClr val="FF914D"/>
                </a:solidFill>
                <a:latin typeface="Barlow Bold"/>
                <a:ea typeface="Barlow Bold"/>
                <a:cs typeface="Barlow Bold"/>
                <a:sym typeface="Barlow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726555"/>
            <a:ext cx="7126932" cy="1086319"/>
            <a:chOff x="0" y="0"/>
            <a:chExt cx="9502576" cy="1448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2576" cy="1448425"/>
            </a:xfrm>
            <a:custGeom>
              <a:avLst/>
              <a:gdLst/>
              <a:ahLst/>
              <a:cxnLst/>
              <a:rect l="l" t="t" r="r" b="b"/>
              <a:pathLst>
                <a:path w="9502576" h="1448425">
                  <a:moveTo>
                    <a:pt x="0" y="0"/>
                  </a:moveTo>
                  <a:lnTo>
                    <a:pt x="9502576" y="0"/>
                  </a:lnTo>
                  <a:lnTo>
                    <a:pt x="9502576" y="1448425"/>
                  </a:lnTo>
                  <a:lnTo>
                    <a:pt x="0" y="1448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02576" cy="1486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4"/>
                </a:lnSpc>
              </a:pPr>
              <a:r>
                <a:rPr lang="en-US" sz="56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3741390"/>
            <a:ext cx="609314" cy="609314"/>
            <a:chOff x="0" y="0"/>
            <a:chExt cx="812419" cy="8124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6784" y="3875038"/>
            <a:ext cx="151359" cy="384721"/>
            <a:chOff x="0" y="0"/>
            <a:chExt cx="201812" cy="5129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812" cy="512962"/>
            </a:xfrm>
            <a:custGeom>
              <a:avLst/>
              <a:gdLst/>
              <a:ahLst/>
              <a:cxnLst/>
              <a:rect l="l" t="t" r="r" b="b"/>
              <a:pathLst>
                <a:path w="201812" h="512962">
                  <a:moveTo>
                    <a:pt x="0" y="0"/>
                  </a:moveTo>
                  <a:lnTo>
                    <a:pt x="201812" y="0"/>
                  </a:lnTo>
                  <a:lnTo>
                    <a:pt x="201812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201812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27907" y="3727102"/>
            <a:ext cx="4931420" cy="548729"/>
            <a:chOff x="0" y="0"/>
            <a:chExt cx="6575227" cy="7316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75227" cy="731638"/>
            </a:xfrm>
            <a:custGeom>
              <a:avLst/>
              <a:gdLst/>
              <a:ahLst/>
              <a:cxnLst/>
              <a:rect l="l" t="t" r="r" b="b"/>
              <a:pathLst>
                <a:path w="6575227" h="731638">
                  <a:moveTo>
                    <a:pt x="0" y="0"/>
                  </a:moveTo>
                  <a:lnTo>
                    <a:pt x="6575227" y="0"/>
                  </a:lnTo>
                  <a:lnTo>
                    <a:pt x="6575227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575227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Intro of Bash: What &amp; Why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79434" y="3741390"/>
            <a:ext cx="609314" cy="609314"/>
            <a:chOff x="0" y="0"/>
            <a:chExt cx="812419" cy="8124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64279" y="3875038"/>
            <a:ext cx="239465" cy="384721"/>
            <a:chOff x="0" y="0"/>
            <a:chExt cx="319287" cy="5129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9287" cy="512962"/>
            </a:xfrm>
            <a:custGeom>
              <a:avLst/>
              <a:gdLst/>
              <a:ahLst/>
              <a:cxnLst/>
              <a:rect l="l" t="t" r="r" b="b"/>
              <a:pathLst>
                <a:path w="319287" h="512962">
                  <a:moveTo>
                    <a:pt x="0" y="0"/>
                  </a:moveTo>
                  <a:lnTo>
                    <a:pt x="319287" y="0"/>
                  </a:lnTo>
                  <a:lnTo>
                    <a:pt x="319287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7150"/>
              <a:ext cx="319287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59454" y="3727102"/>
            <a:ext cx="4276130" cy="548729"/>
            <a:chOff x="0" y="0"/>
            <a:chExt cx="5701507" cy="7316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01507" cy="731638"/>
            </a:xfrm>
            <a:custGeom>
              <a:avLst/>
              <a:gdLst/>
              <a:ahLst/>
              <a:cxnLst/>
              <a:rect l="l" t="t" r="r" b="b"/>
              <a:pathLst>
                <a:path w="5701507" h="731638">
                  <a:moveTo>
                    <a:pt x="0" y="0"/>
                  </a:moveTo>
                  <a:lnTo>
                    <a:pt x="5701507" y="0"/>
                  </a:lnTo>
                  <a:lnTo>
                    <a:pt x="5701507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701507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Structure of Bash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7886" y="5446960"/>
            <a:ext cx="609314" cy="609314"/>
            <a:chOff x="0" y="0"/>
            <a:chExt cx="812419" cy="8124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7047" y="5580608"/>
            <a:ext cx="230832" cy="384721"/>
            <a:chOff x="0" y="0"/>
            <a:chExt cx="307776" cy="51296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7776" cy="512962"/>
            </a:xfrm>
            <a:custGeom>
              <a:avLst/>
              <a:gdLst/>
              <a:ahLst/>
              <a:cxnLst/>
              <a:rect l="l" t="t" r="r" b="b"/>
              <a:pathLst>
                <a:path w="307776" h="512962">
                  <a:moveTo>
                    <a:pt x="0" y="0"/>
                  </a:moveTo>
                  <a:lnTo>
                    <a:pt x="307776" y="0"/>
                  </a:lnTo>
                  <a:lnTo>
                    <a:pt x="307776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57150"/>
              <a:ext cx="307776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27907" y="5432672"/>
            <a:ext cx="4276130" cy="548729"/>
            <a:chOff x="0" y="0"/>
            <a:chExt cx="5701507" cy="7316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701507" cy="731638"/>
            </a:xfrm>
            <a:custGeom>
              <a:avLst/>
              <a:gdLst/>
              <a:ahLst/>
              <a:cxnLst/>
              <a:rect l="l" t="t" r="r" b="b"/>
              <a:pathLst>
                <a:path w="5701507" h="731638">
                  <a:moveTo>
                    <a:pt x="0" y="0"/>
                  </a:moveTo>
                  <a:lnTo>
                    <a:pt x="5701507" y="0"/>
                  </a:lnTo>
                  <a:lnTo>
                    <a:pt x="5701507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701507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File Handling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79434" y="5446960"/>
            <a:ext cx="609314" cy="609314"/>
            <a:chOff x="0" y="0"/>
            <a:chExt cx="812419" cy="8124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54754" y="5580608"/>
            <a:ext cx="258664" cy="384721"/>
            <a:chOff x="0" y="0"/>
            <a:chExt cx="344885" cy="5129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44885" cy="512962"/>
            </a:xfrm>
            <a:custGeom>
              <a:avLst/>
              <a:gdLst/>
              <a:ahLst/>
              <a:cxnLst/>
              <a:rect l="l" t="t" r="r" b="b"/>
              <a:pathLst>
                <a:path w="344885" h="512962">
                  <a:moveTo>
                    <a:pt x="0" y="0"/>
                  </a:moveTo>
                  <a:lnTo>
                    <a:pt x="344885" y="0"/>
                  </a:lnTo>
                  <a:lnTo>
                    <a:pt x="344885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57150"/>
              <a:ext cx="344885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4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159454" y="5432672"/>
            <a:ext cx="4276130" cy="548729"/>
            <a:chOff x="0" y="0"/>
            <a:chExt cx="5701507" cy="7316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01507" cy="731638"/>
            </a:xfrm>
            <a:custGeom>
              <a:avLst/>
              <a:gdLst/>
              <a:ahLst/>
              <a:cxnLst/>
              <a:rect l="l" t="t" r="r" b="b"/>
              <a:pathLst>
                <a:path w="5701507" h="731638">
                  <a:moveTo>
                    <a:pt x="0" y="0"/>
                  </a:moveTo>
                  <a:lnTo>
                    <a:pt x="5701507" y="0"/>
                  </a:lnTo>
                  <a:lnTo>
                    <a:pt x="5701507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5701507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String manipulation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7886" y="7152531"/>
            <a:ext cx="609314" cy="609314"/>
            <a:chOff x="0" y="0"/>
            <a:chExt cx="812419" cy="8124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37196" y="7286178"/>
            <a:ext cx="230535" cy="384721"/>
            <a:chOff x="0" y="0"/>
            <a:chExt cx="307380" cy="51296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7380" cy="512962"/>
            </a:xfrm>
            <a:custGeom>
              <a:avLst/>
              <a:gdLst/>
              <a:ahLst/>
              <a:cxnLst/>
              <a:rect l="l" t="t" r="r" b="b"/>
              <a:pathLst>
                <a:path w="307380" h="512962">
                  <a:moveTo>
                    <a:pt x="0" y="0"/>
                  </a:moveTo>
                  <a:lnTo>
                    <a:pt x="307380" y="0"/>
                  </a:lnTo>
                  <a:lnTo>
                    <a:pt x="307380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57150"/>
              <a:ext cx="307380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5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827907" y="7138244"/>
            <a:ext cx="4284166" cy="548729"/>
            <a:chOff x="0" y="0"/>
            <a:chExt cx="5712221" cy="7316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712221" cy="731638"/>
            </a:xfrm>
            <a:custGeom>
              <a:avLst/>
              <a:gdLst/>
              <a:ahLst/>
              <a:cxnLst/>
              <a:rect l="l" t="t" r="r" b="b"/>
              <a:pathLst>
                <a:path w="5712221" h="731638">
                  <a:moveTo>
                    <a:pt x="0" y="0"/>
                  </a:moveTo>
                  <a:lnTo>
                    <a:pt x="5712221" y="0"/>
                  </a:lnTo>
                  <a:lnTo>
                    <a:pt x="5712221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5712221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DevOps role with Bash 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279434" y="7152531"/>
            <a:ext cx="609314" cy="609314"/>
            <a:chOff x="0" y="0"/>
            <a:chExt cx="812419" cy="81241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69190" y="7286178"/>
            <a:ext cx="229641" cy="384721"/>
            <a:chOff x="0" y="0"/>
            <a:chExt cx="306188" cy="51296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6188" cy="512962"/>
            </a:xfrm>
            <a:custGeom>
              <a:avLst/>
              <a:gdLst/>
              <a:ahLst/>
              <a:cxnLst/>
              <a:rect l="l" t="t" r="r" b="b"/>
              <a:pathLst>
                <a:path w="306188" h="512962">
                  <a:moveTo>
                    <a:pt x="0" y="0"/>
                  </a:moveTo>
                  <a:lnTo>
                    <a:pt x="306188" y="0"/>
                  </a:lnTo>
                  <a:lnTo>
                    <a:pt x="306188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57150"/>
              <a:ext cx="306188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6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159454" y="7138244"/>
            <a:ext cx="4276130" cy="548729"/>
            <a:chOff x="0" y="0"/>
            <a:chExt cx="5701507" cy="73163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701507" cy="731638"/>
            </a:xfrm>
            <a:custGeom>
              <a:avLst/>
              <a:gdLst/>
              <a:ahLst/>
              <a:cxnLst/>
              <a:rect l="l" t="t" r="r" b="b"/>
              <a:pathLst>
                <a:path w="5701507" h="731638">
                  <a:moveTo>
                    <a:pt x="0" y="0"/>
                  </a:moveTo>
                  <a:lnTo>
                    <a:pt x="5701507" y="0"/>
                  </a:lnTo>
                  <a:lnTo>
                    <a:pt x="5701507" y="731638"/>
                  </a:lnTo>
                  <a:lnTo>
                    <a:pt x="0" y="731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5701507" cy="750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Practical Activity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05886" y="1960364"/>
            <a:ext cx="7126933" cy="919460"/>
            <a:chOff x="0" y="0"/>
            <a:chExt cx="9502577" cy="12259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02577" cy="1225947"/>
            </a:xfrm>
            <a:custGeom>
              <a:avLst/>
              <a:gdLst/>
              <a:ahLst/>
              <a:cxnLst/>
              <a:rect l="l" t="t" r="r" b="b"/>
              <a:pathLst>
                <a:path w="9502577" h="1225947">
                  <a:moveTo>
                    <a:pt x="0" y="0"/>
                  </a:moveTo>
                  <a:lnTo>
                    <a:pt x="9502577" y="0"/>
                  </a:lnTo>
                  <a:lnTo>
                    <a:pt x="9502577" y="1225947"/>
                  </a:lnTo>
                  <a:lnTo>
                    <a:pt x="0" y="1225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502577" cy="1264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00"/>
                </a:lnSpc>
              </a:pPr>
              <a:r>
                <a:rPr lang="en-US" sz="55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What is Bash?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05886" y="3590628"/>
            <a:ext cx="609314" cy="609314"/>
            <a:chOff x="0" y="0"/>
            <a:chExt cx="812419" cy="8124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34784" y="3724274"/>
            <a:ext cx="151359" cy="384721"/>
            <a:chOff x="0" y="0"/>
            <a:chExt cx="201812" cy="5129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1812" cy="512962"/>
            </a:xfrm>
            <a:custGeom>
              <a:avLst/>
              <a:gdLst/>
              <a:ahLst/>
              <a:cxnLst/>
              <a:rect l="l" t="t" r="r" b="b"/>
              <a:pathLst>
                <a:path w="201812" h="512962">
                  <a:moveTo>
                    <a:pt x="0" y="0"/>
                  </a:moveTo>
                  <a:lnTo>
                    <a:pt x="201812" y="0"/>
                  </a:lnTo>
                  <a:lnTo>
                    <a:pt x="201812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201812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85908" y="3569197"/>
            <a:ext cx="3563391" cy="466725"/>
            <a:chOff x="0" y="0"/>
            <a:chExt cx="4751188" cy="622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Unix Shell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85908" y="4141142"/>
            <a:ext cx="8654206" cy="923925"/>
            <a:chOff x="0" y="0"/>
            <a:chExt cx="11538941" cy="12319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538941" cy="1231900"/>
            </a:xfrm>
            <a:custGeom>
              <a:avLst/>
              <a:gdLst/>
              <a:ahLst/>
              <a:cxnLst/>
              <a:rect l="l" t="t" r="r" b="b"/>
              <a:pathLst>
                <a:path w="11538941" h="1231900">
                  <a:moveTo>
                    <a:pt x="0" y="0"/>
                  </a:moveTo>
                  <a:lnTo>
                    <a:pt x="11538941" y="0"/>
                  </a:lnTo>
                  <a:lnTo>
                    <a:pt x="11538941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1538941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Bash is a Unix shell (CLI) and command language which interprets &amp; executes the commands provided by users.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05886" y="5640438"/>
            <a:ext cx="609314" cy="609314"/>
            <a:chOff x="0" y="0"/>
            <a:chExt cx="812419" cy="8124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90731" y="5774085"/>
            <a:ext cx="239465" cy="384721"/>
            <a:chOff x="0" y="0"/>
            <a:chExt cx="319287" cy="51296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9287" cy="512962"/>
            </a:xfrm>
            <a:custGeom>
              <a:avLst/>
              <a:gdLst/>
              <a:ahLst/>
              <a:cxnLst/>
              <a:rect l="l" t="t" r="r" b="b"/>
              <a:pathLst>
                <a:path w="319287" h="512962">
                  <a:moveTo>
                    <a:pt x="0" y="0"/>
                  </a:moveTo>
                  <a:lnTo>
                    <a:pt x="319287" y="0"/>
                  </a:lnTo>
                  <a:lnTo>
                    <a:pt x="319287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7150"/>
              <a:ext cx="319287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85908" y="5619007"/>
            <a:ext cx="3563391" cy="466725"/>
            <a:chOff x="0" y="0"/>
            <a:chExt cx="4751188" cy="622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Automation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85908" y="6190952"/>
            <a:ext cx="8654206" cy="490538"/>
            <a:chOff x="0" y="0"/>
            <a:chExt cx="11538941" cy="6540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38941" cy="654051"/>
            </a:xfrm>
            <a:custGeom>
              <a:avLst/>
              <a:gdLst/>
              <a:ahLst/>
              <a:cxnLst/>
              <a:rect l="l" t="t" r="r" b="b"/>
              <a:pathLst>
                <a:path w="11538941" h="654051">
                  <a:moveTo>
                    <a:pt x="0" y="0"/>
                  </a:moveTo>
                  <a:lnTo>
                    <a:pt x="11538941" y="0"/>
                  </a:lnTo>
                  <a:lnTo>
                    <a:pt x="11538941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1538941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Commonly used for automation and scripting.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05886" y="7256860"/>
            <a:ext cx="609314" cy="609314"/>
            <a:chOff x="0" y="0"/>
            <a:chExt cx="812419" cy="8124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995046" y="7390508"/>
            <a:ext cx="230832" cy="384721"/>
            <a:chOff x="0" y="0"/>
            <a:chExt cx="307776" cy="5129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7776" cy="512962"/>
            </a:xfrm>
            <a:custGeom>
              <a:avLst/>
              <a:gdLst/>
              <a:ahLst/>
              <a:cxnLst/>
              <a:rect l="l" t="t" r="r" b="b"/>
              <a:pathLst>
                <a:path w="307776" h="512962">
                  <a:moveTo>
                    <a:pt x="0" y="0"/>
                  </a:moveTo>
                  <a:lnTo>
                    <a:pt x="307776" y="0"/>
                  </a:lnTo>
                  <a:lnTo>
                    <a:pt x="307776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57150"/>
              <a:ext cx="307776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85908" y="7235429"/>
            <a:ext cx="3563391" cy="466725"/>
            <a:chOff x="0" y="0"/>
            <a:chExt cx="4751188" cy="6223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Command-Line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685908" y="7807375"/>
            <a:ext cx="8654206" cy="490538"/>
            <a:chOff x="0" y="0"/>
            <a:chExt cx="11538941" cy="6540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538941" cy="654051"/>
            </a:xfrm>
            <a:custGeom>
              <a:avLst/>
              <a:gdLst/>
              <a:ahLst/>
              <a:cxnLst/>
              <a:rect l="l" t="t" r="r" b="b"/>
              <a:pathLst>
                <a:path w="11538941" h="654051">
                  <a:moveTo>
                    <a:pt x="0" y="0"/>
                  </a:moveTo>
                  <a:lnTo>
                    <a:pt x="11538941" y="0"/>
                  </a:lnTo>
                  <a:lnTo>
                    <a:pt x="11538941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11538941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Allows interaction with the operating system.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886" y="2242989"/>
            <a:ext cx="7126932" cy="919460"/>
            <a:chOff x="0" y="0"/>
            <a:chExt cx="9502576" cy="1225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2576" cy="1225947"/>
            </a:xfrm>
            <a:custGeom>
              <a:avLst/>
              <a:gdLst/>
              <a:ahLst/>
              <a:cxnLst/>
              <a:rect l="l" t="t" r="r" b="b"/>
              <a:pathLst>
                <a:path w="9502576" h="1225947">
                  <a:moveTo>
                    <a:pt x="0" y="0"/>
                  </a:moveTo>
                  <a:lnTo>
                    <a:pt x="9502576" y="0"/>
                  </a:lnTo>
                  <a:lnTo>
                    <a:pt x="9502576" y="1225947"/>
                  </a:lnTo>
                  <a:lnTo>
                    <a:pt x="0" y="1225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02576" cy="1264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00"/>
                </a:lnSpc>
              </a:pPr>
              <a:r>
                <a:rPr lang="en-US" sz="55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Bash Scripting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3639741"/>
            <a:ext cx="16392228" cy="528292"/>
            <a:chOff x="0" y="0"/>
            <a:chExt cx="21856304" cy="7043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56305" cy="704389"/>
            </a:xfrm>
            <a:custGeom>
              <a:avLst/>
              <a:gdLst/>
              <a:ahLst/>
              <a:cxnLst/>
              <a:rect l="l" t="t" r="r" b="b"/>
              <a:pathLst>
                <a:path w="21856305" h="704389">
                  <a:moveTo>
                    <a:pt x="0" y="0"/>
                  </a:moveTo>
                  <a:lnTo>
                    <a:pt x="21856305" y="0"/>
                  </a:lnTo>
                  <a:lnTo>
                    <a:pt x="21856305" y="704389"/>
                  </a:lnTo>
                  <a:lnTo>
                    <a:pt x="0" y="704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856304" cy="790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1"/>
                </a:lnSpc>
              </a:pPr>
              <a:r>
                <a:rPr lang="en-US" sz="23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sequence of Linux commands in a file to automate tasks, simply referred to as script!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886" y="4377778"/>
            <a:ext cx="16392228" cy="528292"/>
            <a:chOff x="0" y="0"/>
            <a:chExt cx="21856304" cy="704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6305" cy="704389"/>
            </a:xfrm>
            <a:custGeom>
              <a:avLst/>
              <a:gdLst/>
              <a:ahLst/>
              <a:cxnLst/>
              <a:rect l="l" t="t" r="r" b="b"/>
              <a:pathLst>
                <a:path w="21856305" h="704389">
                  <a:moveTo>
                    <a:pt x="0" y="0"/>
                  </a:moveTo>
                  <a:lnTo>
                    <a:pt x="21856305" y="0"/>
                  </a:lnTo>
                  <a:lnTo>
                    <a:pt x="21856305" y="704389"/>
                  </a:lnTo>
                  <a:lnTo>
                    <a:pt x="0" y="704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1856304" cy="790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1"/>
                </a:lnSpc>
              </a:pPr>
              <a:r>
                <a:rPr lang="en-US" sz="23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Prevents manual intervention and saves human efforts.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7886" y="5115817"/>
            <a:ext cx="16392228" cy="528292"/>
            <a:chOff x="0" y="0"/>
            <a:chExt cx="21856304" cy="7043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56305" cy="704389"/>
            </a:xfrm>
            <a:custGeom>
              <a:avLst/>
              <a:gdLst/>
              <a:ahLst/>
              <a:cxnLst/>
              <a:rect l="l" t="t" r="r" b="b"/>
              <a:pathLst>
                <a:path w="21856305" h="704389">
                  <a:moveTo>
                    <a:pt x="0" y="0"/>
                  </a:moveTo>
                  <a:lnTo>
                    <a:pt x="21856305" y="0"/>
                  </a:lnTo>
                  <a:lnTo>
                    <a:pt x="21856305" y="704389"/>
                  </a:lnTo>
                  <a:lnTo>
                    <a:pt x="0" y="704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1856304" cy="790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1"/>
                </a:lnSpc>
              </a:pPr>
              <a:r>
                <a:rPr lang="en-US" sz="23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 be used with advanced programming logics for decision-oriented tasks.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7886" y="6167438"/>
            <a:ext cx="3563391" cy="466725"/>
            <a:chOff x="0" y="0"/>
            <a:chExt cx="4751188" cy="622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Loops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7886" y="6847731"/>
            <a:ext cx="3602385" cy="490538"/>
            <a:chOff x="0" y="0"/>
            <a:chExt cx="4803180" cy="6540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03180" cy="654051"/>
            </a:xfrm>
            <a:custGeom>
              <a:avLst/>
              <a:gdLst/>
              <a:ahLst/>
              <a:cxnLst/>
              <a:rect l="l" t="t" r="r" b="b"/>
              <a:pathLst>
                <a:path w="4803180" h="654051">
                  <a:moveTo>
                    <a:pt x="0" y="0"/>
                  </a:moveTo>
                  <a:lnTo>
                    <a:pt x="4803180" y="0"/>
                  </a:lnTo>
                  <a:lnTo>
                    <a:pt x="4803180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4803180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for, while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20592" y="6167438"/>
            <a:ext cx="3563391" cy="466725"/>
            <a:chOff x="0" y="0"/>
            <a:chExt cx="4751188" cy="6223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Conditionals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20592" y="6847731"/>
            <a:ext cx="3602385" cy="490538"/>
            <a:chOff x="0" y="0"/>
            <a:chExt cx="4803180" cy="65405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03180" cy="654051"/>
            </a:xfrm>
            <a:custGeom>
              <a:avLst/>
              <a:gdLst/>
              <a:ahLst/>
              <a:cxnLst/>
              <a:rect l="l" t="t" r="r" b="b"/>
              <a:pathLst>
                <a:path w="4803180" h="654051">
                  <a:moveTo>
                    <a:pt x="0" y="0"/>
                  </a:moveTo>
                  <a:lnTo>
                    <a:pt x="4803180" y="0"/>
                  </a:lnTo>
                  <a:lnTo>
                    <a:pt x="4803180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4803180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if, else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93300" y="6167438"/>
            <a:ext cx="3563391" cy="466725"/>
            <a:chOff x="0" y="0"/>
            <a:chExt cx="4751188" cy="6223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Functions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93300" y="6847731"/>
            <a:ext cx="3602385" cy="923925"/>
            <a:chOff x="0" y="0"/>
            <a:chExt cx="4803180" cy="12319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03180" cy="1231900"/>
            </a:xfrm>
            <a:custGeom>
              <a:avLst/>
              <a:gdLst/>
              <a:ahLst/>
              <a:cxnLst/>
              <a:rect l="l" t="t" r="r" b="b"/>
              <a:pathLst>
                <a:path w="4803180" h="1231900">
                  <a:moveTo>
                    <a:pt x="0" y="0"/>
                  </a:moveTo>
                  <a:lnTo>
                    <a:pt x="4803180" y="0"/>
                  </a:lnTo>
                  <a:lnTo>
                    <a:pt x="480318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4803180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 functions to encapsulate commands.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766006" y="6167438"/>
            <a:ext cx="3563391" cy="466725"/>
            <a:chOff x="0" y="0"/>
            <a:chExt cx="4751188" cy="622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Variables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766006" y="6847731"/>
            <a:ext cx="3602385" cy="923925"/>
            <a:chOff x="0" y="0"/>
            <a:chExt cx="4803180" cy="12319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03180" cy="1231900"/>
            </a:xfrm>
            <a:custGeom>
              <a:avLst/>
              <a:gdLst/>
              <a:ahLst/>
              <a:cxnLst/>
              <a:rect l="l" t="t" r="r" b="b"/>
              <a:pathLst>
                <a:path w="4803180" h="1231900">
                  <a:moveTo>
                    <a:pt x="0" y="0"/>
                  </a:moveTo>
                  <a:lnTo>
                    <a:pt x="4803180" y="0"/>
                  </a:lnTo>
                  <a:lnTo>
                    <a:pt x="480318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4803180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Storing and manipulating data.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1395" y="624326"/>
            <a:ext cx="12477922" cy="1036455"/>
            <a:chOff x="0" y="0"/>
            <a:chExt cx="16637229" cy="13819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37229" cy="1381940"/>
            </a:xfrm>
            <a:custGeom>
              <a:avLst/>
              <a:gdLst/>
              <a:ahLst/>
              <a:cxnLst/>
              <a:rect l="l" t="t" r="r" b="b"/>
              <a:pathLst>
                <a:path w="16637229" h="1381940">
                  <a:moveTo>
                    <a:pt x="0" y="0"/>
                  </a:moveTo>
                  <a:lnTo>
                    <a:pt x="16637229" y="0"/>
                  </a:lnTo>
                  <a:lnTo>
                    <a:pt x="16637229" y="1381940"/>
                  </a:lnTo>
                  <a:lnTo>
                    <a:pt x="0" y="1381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637229" cy="1420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11"/>
                </a:lnSpc>
              </a:pPr>
              <a:r>
                <a:rPr lang="en-US" sz="5437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Why use bash scripts over Linux??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395" y="1970334"/>
            <a:ext cx="3463975" cy="447378"/>
            <a:chOff x="0" y="0"/>
            <a:chExt cx="4618633" cy="5965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18633" cy="596503"/>
            </a:xfrm>
            <a:custGeom>
              <a:avLst/>
              <a:gdLst/>
              <a:ahLst/>
              <a:cxnLst/>
              <a:rect l="l" t="t" r="r" b="b"/>
              <a:pathLst>
                <a:path w="4618633" h="596503">
                  <a:moveTo>
                    <a:pt x="0" y="0"/>
                  </a:moveTo>
                  <a:lnTo>
                    <a:pt x="4618633" y="0"/>
                  </a:lnTo>
                  <a:lnTo>
                    <a:pt x="4618633" y="596503"/>
                  </a:lnTo>
                  <a:lnTo>
                    <a:pt x="0" y="5965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618633" cy="6155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Key Differences: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1395" y="3108722"/>
            <a:ext cx="592359" cy="592359"/>
            <a:chOff x="0" y="0"/>
            <a:chExt cx="789812" cy="7898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9813" cy="789813"/>
            </a:xfrm>
            <a:custGeom>
              <a:avLst/>
              <a:gdLst/>
              <a:ahLst/>
              <a:cxnLst/>
              <a:rect l="l" t="t" r="r" b="b"/>
              <a:pathLst>
                <a:path w="789813" h="789813">
                  <a:moveTo>
                    <a:pt x="0" y="315976"/>
                  </a:moveTo>
                  <a:cubicBezTo>
                    <a:pt x="0" y="141478"/>
                    <a:pt x="141478" y="0"/>
                    <a:pt x="315976" y="0"/>
                  </a:cubicBezTo>
                  <a:lnTo>
                    <a:pt x="473837" y="0"/>
                  </a:lnTo>
                  <a:cubicBezTo>
                    <a:pt x="648335" y="0"/>
                    <a:pt x="789813" y="141478"/>
                    <a:pt x="789813" y="315976"/>
                  </a:cubicBezTo>
                  <a:lnTo>
                    <a:pt x="789813" y="473837"/>
                  </a:lnTo>
                  <a:cubicBezTo>
                    <a:pt x="789813" y="648335"/>
                    <a:pt x="648335" y="789813"/>
                    <a:pt x="473837" y="789813"/>
                  </a:cubicBezTo>
                  <a:lnTo>
                    <a:pt x="315976" y="789813"/>
                  </a:lnTo>
                  <a:cubicBezTo>
                    <a:pt x="141478" y="789813"/>
                    <a:pt x="0" y="648335"/>
                    <a:pt x="0" y="47383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892" y="3239840"/>
            <a:ext cx="147191" cy="372815"/>
            <a:chOff x="0" y="0"/>
            <a:chExt cx="196255" cy="4970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255" cy="497087"/>
            </a:xfrm>
            <a:custGeom>
              <a:avLst/>
              <a:gdLst/>
              <a:ahLst/>
              <a:cxnLst/>
              <a:rect l="l" t="t" r="r" b="b"/>
              <a:pathLst>
                <a:path w="196255" h="497087">
                  <a:moveTo>
                    <a:pt x="0" y="0"/>
                  </a:moveTo>
                  <a:lnTo>
                    <a:pt x="196255" y="0"/>
                  </a:lnTo>
                  <a:lnTo>
                    <a:pt x="196255" y="497087"/>
                  </a:lnTo>
                  <a:lnTo>
                    <a:pt x="0" y="497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96255" cy="439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76859" y="3044428"/>
            <a:ext cx="15589746" cy="485478"/>
            <a:chOff x="0" y="0"/>
            <a:chExt cx="20786328" cy="6473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 b="1">
                  <a:solidFill>
                    <a:srgbClr val="272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Linux Commands</a:t>
              </a: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76859" y="3623518"/>
            <a:ext cx="15589746" cy="485478"/>
            <a:chOff x="0" y="0"/>
            <a:chExt cx="20786328" cy="6473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Individual commands that you execute "one at a time" in the terminal.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76859" y="4202608"/>
            <a:ext cx="15589746" cy="485478"/>
            <a:chOff x="0" y="0"/>
            <a:chExt cx="20786328" cy="64730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Consumes a lot of time to complete one whole task.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76859" y="4781698"/>
            <a:ext cx="15589746" cy="485478"/>
            <a:chOff x="0" y="0"/>
            <a:chExt cx="20786328" cy="6473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 suitable for complex tasks.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76859" y="5360788"/>
            <a:ext cx="15589746" cy="485478"/>
            <a:chOff x="0" y="0"/>
            <a:chExt cx="20786328" cy="6473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 u="sng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Example</a:t>
              </a: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ls, cat, vim, touch, mkdir etc;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1395" y="6405562"/>
            <a:ext cx="592359" cy="592359"/>
            <a:chOff x="0" y="0"/>
            <a:chExt cx="789812" cy="7898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89813" cy="789813"/>
            </a:xfrm>
            <a:custGeom>
              <a:avLst/>
              <a:gdLst/>
              <a:ahLst/>
              <a:cxnLst/>
              <a:rect l="l" t="t" r="r" b="b"/>
              <a:pathLst>
                <a:path w="789813" h="789813">
                  <a:moveTo>
                    <a:pt x="0" y="315976"/>
                  </a:moveTo>
                  <a:cubicBezTo>
                    <a:pt x="0" y="141478"/>
                    <a:pt x="141478" y="0"/>
                    <a:pt x="315976" y="0"/>
                  </a:cubicBezTo>
                  <a:lnTo>
                    <a:pt x="473837" y="0"/>
                  </a:lnTo>
                  <a:cubicBezTo>
                    <a:pt x="648335" y="0"/>
                    <a:pt x="789813" y="141478"/>
                    <a:pt x="789813" y="315976"/>
                  </a:cubicBezTo>
                  <a:lnTo>
                    <a:pt x="789813" y="473837"/>
                  </a:lnTo>
                  <a:cubicBezTo>
                    <a:pt x="789813" y="648335"/>
                    <a:pt x="648335" y="789813"/>
                    <a:pt x="473837" y="789813"/>
                  </a:cubicBezTo>
                  <a:lnTo>
                    <a:pt x="315976" y="789813"/>
                  </a:lnTo>
                  <a:cubicBezTo>
                    <a:pt x="141478" y="789813"/>
                    <a:pt x="0" y="648335"/>
                    <a:pt x="0" y="47383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179" y="6536680"/>
            <a:ext cx="232767" cy="372815"/>
            <a:chOff x="0" y="0"/>
            <a:chExt cx="310356" cy="49708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0356" cy="497087"/>
            </a:xfrm>
            <a:custGeom>
              <a:avLst/>
              <a:gdLst/>
              <a:ahLst/>
              <a:cxnLst/>
              <a:rect l="l" t="t" r="r" b="b"/>
              <a:pathLst>
                <a:path w="310356" h="497087">
                  <a:moveTo>
                    <a:pt x="0" y="0"/>
                  </a:moveTo>
                  <a:lnTo>
                    <a:pt x="310356" y="0"/>
                  </a:lnTo>
                  <a:lnTo>
                    <a:pt x="310356" y="497087"/>
                  </a:lnTo>
                  <a:lnTo>
                    <a:pt x="0" y="497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57150"/>
              <a:ext cx="310356" cy="439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776859" y="6341268"/>
            <a:ext cx="15589746" cy="485478"/>
            <a:chOff x="0" y="0"/>
            <a:chExt cx="20786328" cy="6473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 b="1">
                  <a:solidFill>
                    <a:srgbClr val="272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Bash Scripts</a:t>
              </a: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76859" y="6920358"/>
            <a:ext cx="15589746" cy="906661"/>
            <a:chOff x="0" y="0"/>
            <a:chExt cx="20786328" cy="120888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786328" cy="1208881"/>
            </a:xfrm>
            <a:custGeom>
              <a:avLst/>
              <a:gdLst/>
              <a:ahLst/>
              <a:cxnLst/>
              <a:rect l="l" t="t" r="r" b="b"/>
              <a:pathLst>
                <a:path w="20786328" h="1208881">
                  <a:moveTo>
                    <a:pt x="0" y="0"/>
                  </a:moveTo>
                  <a:lnTo>
                    <a:pt x="20786328" y="0"/>
                  </a:lnTo>
                  <a:lnTo>
                    <a:pt x="20786328" y="1208881"/>
                  </a:lnTo>
                  <a:lnTo>
                    <a:pt x="0" y="12088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20786328" cy="1294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sequence of Linux commands and Bash scripting elements (loops, conditionals, functions, etc.) written in a script file to automate tasks.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76859" y="7920632"/>
            <a:ext cx="15589746" cy="485478"/>
            <a:chOff x="0" y="0"/>
            <a:chExt cx="20786328" cy="64730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Consumes less time frame to complete a group of tasks at once.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76859" y="8499722"/>
            <a:ext cx="15589746" cy="485478"/>
            <a:chOff x="0" y="0"/>
            <a:chExt cx="20786328" cy="64730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Highly recommended for complex tasks.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76859" y="9078814"/>
            <a:ext cx="15589746" cy="485478"/>
            <a:chOff x="0" y="0"/>
            <a:chExt cx="20786328" cy="64730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786328" cy="647304"/>
            </a:xfrm>
            <a:custGeom>
              <a:avLst/>
              <a:gdLst/>
              <a:ahLst/>
              <a:cxnLst/>
              <a:rect l="l" t="t" r="r" b="b"/>
              <a:pathLst>
                <a:path w="20786328" h="647304">
                  <a:moveTo>
                    <a:pt x="0" y="0"/>
                  </a:moveTo>
                  <a:lnTo>
                    <a:pt x="20786328" y="0"/>
                  </a:lnTo>
                  <a:lnTo>
                    <a:pt x="20786328" y="647304"/>
                  </a:lnTo>
                  <a:lnTo>
                    <a:pt x="0" y="647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20786328" cy="73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061" u="sng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Example</a:t>
              </a:r>
              <a:r>
                <a:rPr lang="en-US" sz="206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Git setup in local environment.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039070"/>
            <a:chOff x="0" y="0"/>
            <a:chExt cx="24384000" cy="405209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052062"/>
            </a:xfrm>
            <a:custGeom>
              <a:avLst/>
              <a:gdLst/>
              <a:ahLst/>
              <a:cxnLst/>
              <a:rect l="l" t="t" r="r" b="b"/>
              <a:pathLst>
                <a:path w="24384000" h="4052062">
                  <a:moveTo>
                    <a:pt x="0" y="0"/>
                  </a:moveTo>
                  <a:lnTo>
                    <a:pt x="24384000" y="0"/>
                  </a:lnTo>
                  <a:lnTo>
                    <a:pt x="24384000" y="4052062"/>
                  </a:lnTo>
                  <a:lnTo>
                    <a:pt x="0" y="405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r="-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0850" y="3641526"/>
            <a:ext cx="6398270" cy="86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Bash vs Cron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0850" y="4872484"/>
            <a:ext cx="5366671" cy="1809941"/>
            <a:chOff x="0" y="0"/>
            <a:chExt cx="7155561" cy="24132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55561" cy="2413254"/>
            </a:xfrm>
            <a:custGeom>
              <a:avLst/>
              <a:gdLst/>
              <a:ahLst/>
              <a:cxnLst/>
              <a:rect l="l" t="t" r="r" b="b"/>
              <a:pathLst>
                <a:path w="7155561" h="2413254">
                  <a:moveTo>
                    <a:pt x="0" y="291719"/>
                  </a:moveTo>
                  <a:cubicBezTo>
                    <a:pt x="0" y="130683"/>
                    <a:pt x="130683" y="0"/>
                    <a:pt x="291719" y="0"/>
                  </a:cubicBezTo>
                  <a:lnTo>
                    <a:pt x="6863842" y="0"/>
                  </a:lnTo>
                  <a:cubicBezTo>
                    <a:pt x="7025005" y="0"/>
                    <a:pt x="7155561" y="130683"/>
                    <a:pt x="7155561" y="291719"/>
                  </a:cubicBezTo>
                  <a:lnTo>
                    <a:pt x="7155561" y="2121408"/>
                  </a:lnTo>
                  <a:cubicBezTo>
                    <a:pt x="7155561" y="2282571"/>
                    <a:pt x="7024878" y="2413127"/>
                    <a:pt x="6863842" y="2413127"/>
                  </a:cubicBezTo>
                  <a:lnTo>
                    <a:pt x="291719" y="2413127"/>
                  </a:lnTo>
                  <a:cubicBezTo>
                    <a:pt x="130683" y="2413254"/>
                    <a:pt x="0" y="2282571"/>
                    <a:pt x="0" y="2121408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3886" y="5079801"/>
            <a:ext cx="3199060" cy="43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Cron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3886" y="5527922"/>
            <a:ext cx="4633318" cy="91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Task scheduler for running scripts </a:t>
            </a:r>
            <a:r>
              <a:rPr lang="en-US" sz="1874" u="sng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at intervals</a:t>
            </a: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60629" y="4872484"/>
            <a:ext cx="5366670" cy="1809941"/>
            <a:chOff x="0" y="0"/>
            <a:chExt cx="7155560" cy="24132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55561" cy="2413254"/>
            </a:xfrm>
            <a:custGeom>
              <a:avLst/>
              <a:gdLst/>
              <a:ahLst/>
              <a:cxnLst/>
              <a:rect l="l" t="t" r="r" b="b"/>
              <a:pathLst>
                <a:path w="7155561" h="2413254">
                  <a:moveTo>
                    <a:pt x="0" y="291719"/>
                  </a:moveTo>
                  <a:cubicBezTo>
                    <a:pt x="0" y="130683"/>
                    <a:pt x="130683" y="0"/>
                    <a:pt x="291719" y="0"/>
                  </a:cubicBezTo>
                  <a:lnTo>
                    <a:pt x="6863842" y="0"/>
                  </a:lnTo>
                  <a:cubicBezTo>
                    <a:pt x="7025005" y="0"/>
                    <a:pt x="7155561" y="130683"/>
                    <a:pt x="7155561" y="291719"/>
                  </a:cubicBezTo>
                  <a:lnTo>
                    <a:pt x="7155561" y="2121408"/>
                  </a:lnTo>
                  <a:cubicBezTo>
                    <a:pt x="7155561" y="2282571"/>
                    <a:pt x="7024878" y="2413127"/>
                    <a:pt x="6863842" y="2413127"/>
                  </a:cubicBezTo>
                  <a:lnTo>
                    <a:pt x="291719" y="2413127"/>
                  </a:lnTo>
                  <a:cubicBezTo>
                    <a:pt x="130683" y="2413254"/>
                    <a:pt x="0" y="2282571"/>
                    <a:pt x="0" y="2121408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703665" y="5079801"/>
            <a:ext cx="3199060" cy="43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Bash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3665" y="5527922"/>
            <a:ext cx="4880670" cy="91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Writes scripts to execute multiple Linux commands.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70408" y="4872484"/>
            <a:ext cx="5366670" cy="1809941"/>
            <a:chOff x="0" y="0"/>
            <a:chExt cx="7155560" cy="24132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55561" cy="2413254"/>
            </a:xfrm>
            <a:custGeom>
              <a:avLst/>
              <a:gdLst/>
              <a:ahLst/>
              <a:cxnLst/>
              <a:rect l="l" t="t" r="r" b="b"/>
              <a:pathLst>
                <a:path w="7155561" h="2413254">
                  <a:moveTo>
                    <a:pt x="0" y="291719"/>
                  </a:moveTo>
                  <a:cubicBezTo>
                    <a:pt x="0" y="130683"/>
                    <a:pt x="130683" y="0"/>
                    <a:pt x="291719" y="0"/>
                  </a:cubicBezTo>
                  <a:lnTo>
                    <a:pt x="6863842" y="0"/>
                  </a:lnTo>
                  <a:cubicBezTo>
                    <a:pt x="7025005" y="0"/>
                    <a:pt x="7155561" y="130683"/>
                    <a:pt x="7155561" y="291719"/>
                  </a:cubicBezTo>
                  <a:lnTo>
                    <a:pt x="7155561" y="2121408"/>
                  </a:lnTo>
                  <a:cubicBezTo>
                    <a:pt x="7155561" y="2282571"/>
                    <a:pt x="7024878" y="2413127"/>
                    <a:pt x="6863842" y="2413127"/>
                  </a:cubicBezTo>
                  <a:lnTo>
                    <a:pt x="291719" y="2413127"/>
                  </a:lnTo>
                  <a:cubicBezTo>
                    <a:pt x="130683" y="2413254"/>
                    <a:pt x="0" y="2282571"/>
                    <a:pt x="0" y="2121408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313444" y="5079801"/>
            <a:ext cx="3199060" cy="43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Automation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13444" y="5527922"/>
            <a:ext cx="4880670" cy="91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Automates repetitive tasks and handles errors.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0850" y="6822430"/>
            <a:ext cx="16586299" cy="52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504" lvl="2" indent="-142835" algn="l">
              <a:lnSpc>
                <a:spcPts val="3062"/>
              </a:lnSpc>
              <a:buFont typeface="Arial"/>
              <a:buChar char="⚬"/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We can utilize bash to the full extent if we bring in cron jobs on board, together these can form an automation task.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850" y="7484864"/>
            <a:ext cx="16586299" cy="52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u="sng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850" y="8147297"/>
            <a:ext cx="16586299" cy="52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484" lvl="2" indent="-122495" algn="l">
              <a:lnSpc>
                <a:spcPts val="3062"/>
              </a:lnSpc>
              <a:buFont typeface="Arial"/>
              <a:buChar char="⚬"/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Bash script: To write a script that can back up our system automatically.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0850" y="8621316"/>
            <a:ext cx="16586299" cy="52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484" lvl="2" indent="-122495" algn="l">
              <a:lnSpc>
                <a:spcPts val="3062"/>
              </a:lnSpc>
              <a:buFont typeface="Arial"/>
              <a:buChar char="⚬"/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Cron: Set a time interval for that back up script to avoid over storage usage.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850" y="9095334"/>
            <a:ext cx="16586299" cy="52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484" lvl="2" indent="-122495" algn="l">
              <a:lnSpc>
                <a:spcPts val="3062"/>
              </a:lnSpc>
              <a:buFont typeface="Arial"/>
              <a:buChar char="⚬"/>
            </a:pPr>
            <a:r>
              <a:rPr lang="en-US" sz="187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Automation Task: Building a script to automatically initiate a back-up for your data every night at 11 PM.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05886" y="1795681"/>
            <a:ext cx="7126933" cy="95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Use-cases of Bash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05886" y="3770114"/>
            <a:ext cx="677019" cy="677019"/>
            <a:chOff x="0" y="0"/>
            <a:chExt cx="902692" cy="90269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02716" cy="902716"/>
            </a:xfrm>
            <a:custGeom>
              <a:avLst/>
              <a:gdLst/>
              <a:ahLst/>
              <a:cxnLst/>
              <a:rect l="l" t="t" r="r" b="b"/>
              <a:pathLst>
                <a:path w="902716" h="902716">
                  <a:moveTo>
                    <a:pt x="0" y="0"/>
                  </a:moveTo>
                  <a:lnTo>
                    <a:pt x="902716" y="0"/>
                  </a:lnTo>
                  <a:lnTo>
                    <a:pt x="902716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05886" y="4667845"/>
            <a:ext cx="29072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File Management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025461" y="3770114"/>
            <a:ext cx="677019" cy="677019"/>
            <a:chOff x="0" y="0"/>
            <a:chExt cx="902692" cy="90269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02716" cy="902716"/>
            </a:xfrm>
            <a:custGeom>
              <a:avLst/>
              <a:gdLst/>
              <a:ahLst/>
              <a:cxnLst/>
              <a:rect l="l" t="t" r="r" b="b"/>
              <a:pathLst>
                <a:path w="902716" h="902716">
                  <a:moveTo>
                    <a:pt x="0" y="0"/>
                  </a:moveTo>
                  <a:lnTo>
                    <a:pt x="902716" y="0"/>
                  </a:lnTo>
                  <a:lnTo>
                    <a:pt x="902716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025461" y="4667845"/>
            <a:ext cx="290735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Automating Tasks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25461" y="5975598"/>
            <a:ext cx="677019" cy="677019"/>
            <a:chOff x="0" y="0"/>
            <a:chExt cx="902692" cy="90269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02716" cy="902716"/>
            </a:xfrm>
            <a:custGeom>
              <a:avLst/>
              <a:gdLst/>
              <a:ahLst/>
              <a:cxnLst/>
              <a:rect l="l" t="t" r="r" b="b"/>
              <a:pathLst>
                <a:path w="902716" h="902716">
                  <a:moveTo>
                    <a:pt x="0" y="0"/>
                  </a:moveTo>
                  <a:lnTo>
                    <a:pt x="902716" y="0"/>
                  </a:lnTo>
                  <a:lnTo>
                    <a:pt x="902716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025461" y="6869310"/>
            <a:ext cx="290720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Server Admin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05886" y="5975597"/>
            <a:ext cx="677019" cy="677019"/>
            <a:chOff x="0" y="0"/>
            <a:chExt cx="902692" cy="902692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02716" cy="902716"/>
            </a:xfrm>
            <a:custGeom>
              <a:avLst/>
              <a:gdLst/>
              <a:ahLst/>
              <a:cxnLst/>
              <a:rect l="l" t="t" r="r" b="b"/>
              <a:pathLst>
                <a:path w="902716" h="902716">
                  <a:moveTo>
                    <a:pt x="0" y="0"/>
                  </a:moveTo>
                  <a:lnTo>
                    <a:pt x="902716" y="0"/>
                  </a:lnTo>
                  <a:lnTo>
                    <a:pt x="902716" y="902716"/>
                  </a:lnTo>
                  <a:lnTo>
                    <a:pt x="0" y="90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805886" y="6873329"/>
            <a:ext cx="3095616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Remote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05886" y="1178421"/>
            <a:ext cx="7641134" cy="95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Structure of Bash Script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05886" y="2542134"/>
            <a:ext cx="1354039" cy="1624905"/>
            <a:chOff x="0" y="0"/>
            <a:chExt cx="1805385" cy="216654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805432" cy="2166493"/>
            </a:xfrm>
            <a:custGeom>
              <a:avLst/>
              <a:gdLst/>
              <a:ahLst/>
              <a:cxnLst/>
              <a:rect l="l" t="t" r="r" b="b"/>
              <a:pathLst>
                <a:path w="1805432" h="2166493">
                  <a:moveTo>
                    <a:pt x="0" y="0"/>
                  </a:moveTo>
                  <a:lnTo>
                    <a:pt x="1805432" y="0"/>
                  </a:lnTo>
                  <a:lnTo>
                    <a:pt x="1805432" y="2166493"/>
                  </a:lnTo>
                  <a:lnTo>
                    <a:pt x="0" y="21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74" r="2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66076" y="2762845"/>
            <a:ext cx="356339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Shebang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6076" y="3270497"/>
            <a:ext cx="7774038" cy="61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#!/bin/bash tells the system to use Bash.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05886" y="4167039"/>
            <a:ext cx="1354039" cy="1624905"/>
            <a:chOff x="0" y="0"/>
            <a:chExt cx="1805385" cy="216654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805432" cy="2166493"/>
            </a:xfrm>
            <a:custGeom>
              <a:avLst/>
              <a:gdLst/>
              <a:ahLst/>
              <a:cxnLst/>
              <a:rect l="l" t="t" r="r" b="b"/>
              <a:pathLst>
                <a:path w="1805432" h="2166493">
                  <a:moveTo>
                    <a:pt x="0" y="0"/>
                  </a:moveTo>
                  <a:lnTo>
                    <a:pt x="1805432" y="0"/>
                  </a:lnTo>
                  <a:lnTo>
                    <a:pt x="1805432" y="2166493"/>
                  </a:lnTo>
                  <a:lnTo>
                    <a:pt x="0" y="21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74" r="2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566076" y="4387752"/>
            <a:ext cx="356339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Variables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66076" y="4895404"/>
            <a:ext cx="7774038" cy="61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Assign variables using = sign "without spaces".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05886" y="5791944"/>
            <a:ext cx="1354039" cy="1624905"/>
            <a:chOff x="0" y="0"/>
            <a:chExt cx="1805385" cy="216654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805432" cy="2166493"/>
            </a:xfrm>
            <a:custGeom>
              <a:avLst/>
              <a:gdLst/>
              <a:ahLst/>
              <a:cxnLst/>
              <a:rect l="l" t="t" r="r" b="b"/>
              <a:pathLst>
                <a:path w="1805432" h="2166493">
                  <a:moveTo>
                    <a:pt x="0" y="0"/>
                  </a:moveTo>
                  <a:lnTo>
                    <a:pt x="1805432" y="0"/>
                  </a:lnTo>
                  <a:lnTo>
                    <a:pt x="1805432" y="2166493"/>
                  </a:lnTo>
                  <a:lnTo>
                    <a:pt x="0" y="21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4" r="2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66076" y="6012656"/>
            <a:ext cx="356339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Commands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66076" y="6520308"/>
            <a:ext cx="7774038" cy="61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Instructions that Bash will execute.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805886" y="7416850"/>
            <a:ext cx="1354039" cy="1624905"/>
            <a:chOff x="0" y="0"/>
            <a:chExt cx="1805385" cy="216654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805432" cy="2166493"/>
            </a:xfrm>
            <a:custGeom>
              <a:avLst/>
              <a:gdLst/>
              <a:ahLst/>
              <a:cxnLst/>
              <a:rect l="l" t="t" r="r" b="b"/>
              <a:pathLst>
                <a:path w="1805432" h="2166493">
                  <a:moveTo>
                    <a:pt x="0" y="0"/>
                  </a:moveTo>
                  <a:lnTo>
                    <a:pt x="1805432" y="0"/>
                  </a:lnTo>
                  <a:lnTo>
                    <a:pt x="1805432" y="2166493"/>
                  </a:lnTo>
                  <a:lnTo>
                    <a:pt x="0" y="21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74" r="2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66076" y="7637561"/>
            <a:ext cx="356339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Comments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6076" y="8145215"/>
            <a:ext cx="7774038" cy="61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1"/>
              </a:lnSpc>
            </a:pPr>
            <a:r>
              <a:rPr lang="en-US" sz="2325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Lines that start with # are ignored.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7494" y="452867"/>
            <a:ext cx="7475521" cy="749085"/>
            <a:chOff x="0" y="0"/>
            <a:chExt cx="9967361" cy="9987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67361" cy="998780"/>
            </a:xfrm>
            <a:custGeom>
              <a:avLst/>
              <a:gdLst/>
              <a:ahLst/>
              <a:cxnLst/>
              <a:rect l="l" t="t" r="r" b="b"/>
              <a:pathLst>
                <a:path w="9967361" h="998780">
                  <a:moveTo>
                    <a:pt x="0" y="0"/>
                  </a:moveTo>
                  <a:lnTo>
                    <a:pt x="9967361" y="0"/>
                  </a:lnTo>
                  <a:lnTo>
                    <a:pt x="9967361" y="998780"/>
                  </a:lnTo>
                  <a:lnTo>
                    <a:pt x="0" y="998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967361" cy="102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36"/>
                </a:lnSpc>
              </a:pPr>
              <a:r>
                <a:rPr lang="en-US" sz="3936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Let's try to run a simple script!!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7494" y="1652290"/>
            <a:ext cx="6020524" cy="4177308"/>
            <a:chOff x="0" y="0"/>
            <a:chExt cx="8027365" cy="556974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8027416" cy="5569712"/>
            </a:xfrm>
            <a:custGeom>
              <a:avLst/>
              <a:gdLst/>
              <a:ahLst/>
              <a:cxnLst/>
              <a:rect l="l" t="t" r="r" b="b"/>
              <a:pathLst>
                <a:path w="8027416" h="5569712">
                  <a:moveTo>
                    <a:pt x="0" y="0"/>
                  </a:moveTo>
                  <a:lnTo>
                    <a:pt x="8027416" y="0"/>
                  </a:lnTo>
                  <a:lnTo>
                    <a:pt x="8027416" y="5569712"/>
                  </a:lnTo>
                  <a:lnTo>
                    <a:pt x="0" y="5569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0" r="-8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494" y="5796259"/>
            <a:ext cx="301138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INPUT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7494" y="6296472"/>
            <a:ext cx="8243887" cy="40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Create a file with extension "</a:t>
            </a:r>
            <a:r>
              <a:rPr lang="en-US" sz="1500" b="1">
                <a:solidFill>
                  <a:srgbClr val="2725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.sh</a:t>
            </a: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7494" y="6668393"/>
            <a:ext cx="8243887" cy="71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-US" sz="1500" b="1">
                <a:solidFill>
                  <a:srgbClr val="1F7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vim</a:t>
            </a: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 to enter editor mode, begin with shebang line, so shell knows it's a bash script.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7494" y="7345562"/>
            <a:ext cx="8243887" cy="40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500" b="1">
                <a:solidFill>
                  <a:srgbClr val="1F7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bash</a:t>
            </a: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 —&gt; To verify where bash is located.)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7494" y="7717483"/>
            <a:ext cx="8243887" cy="71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After saving the &lt;fileName&gt;.sh, u need to give permissions to execute that file using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7494" y="8394650"/>
            <a:ext cx="8243887" cy="40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r>
              <a:rPr lang="en-US" sz="1500" b="1" i="1">
                <a:solidFill>
                  <a:srgbClr val="1F7135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chmod +x</a:t>
            </a:r>
            <a:r>
              <a:rPr lang="en-US" sz="1500" i="1">
                <a:solidFill>
                  <a:srgbClr val="27252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&lt;fileName&gt;.sh</a:t>
            </a: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7494" y="8766573"/>
            <a:ext cx="8243887" cy="40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5" lvl="2" indent="-98028" algn="l">
              <a:lnSpc>
                <a:spcPts val="2375"/>
              </a:lnSpc>
              <a:buAutoNum type="arabicPeriod"/>
            </a:pP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To run your script: </a:t>
            </a:r>
            <a:r>
              <a:rPr lang="en-US" sz="1500" b="1">
                <a:solidFill>
                  <a:srgbClr val="1F7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./</a:t>
            </a:r>
            <a:r>
              <a:rPr lang="en-US" sz="15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&lt;fileName&gt;.sh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86144" y="1652290"/>
            <a:ext cx="7873156" cy="814381"/>
            <a:chOff x="0" y="0"/>
            <a:chExt cx="10497541" cy="108584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0497566" cy="1085850"/>
            </a:xfrm>
            <a:custGeom>
              <a:avLst/>
              <a:gdLst/>
              <a:ahLst/>
              <a:cxnLst/>
              <a:rect l="l" t="t" r="r" b="b"/>
              <a:pathLst>
                <a:path w="10497566" h="1085850">
                  <a:moveTo>
                    <a:pt x="0" y="0"/>
                  </a:moveTo>
                  <a:lnTo>
                    <a:pt x="10497566" y="0"/>
                  </a:lnTo>
                  <a:lnTo>
                    <a:pt x="10497566" y="1085850"/>
                  </a:lnTo>
                  <a:lnTo>
                    <a:pt x="0" y="108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" r="-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86144" y="2565819"/>
            <a:ext cx="301138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9381"/>
            <a:chOff x="0" y="0"/>
            <a:chExt cx="9144000" cy="1371917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9175"/>
            </a:xfrm>
            <a:custGeom>
              <a:avLst/>
              <a:gdLst/>
              <a:ahLst/>
              <a:cxnLst/>
              <a:rect l="l" t="t" r="r" b="b"/>
              <a:pathLst>
                <a:path w="9144000" h="13719175">
                  <a:moveTo>
                    <a:pt x="0" y="0"/>
                  </a:moveTo>
                  <a:lnTo>
                    <a:pt x="9144000" y="0"/>
                  </a:lnTo>
                  <a:lnTo>
                    <a:pt x="9144000" y="13719175"/>
                  </a:lnTo>
                  <a:lnTo>
                    <a:pt x="0" y="13719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r="-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7782" y="583704"/>
            <a:ext cx="6749654" cy="8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File Handling Commands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8152" y="1782961"/>
            <a:ext cx="28575" cy="7856029"/>
            <a:chOff x="0" y="0"/>
            <a:chExt cx="38100" cy="104747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10474706"/>
            </a:xfrm>
            <a:custGeom>
              <a:avLst/>
              <a:gdLst/>
              <a:ahLst/>
              <a:cxnLst/>
              <a:rect l="l" t="t" r="r" b="b"/>
              <a:pathLst>
                <a:path w="38100" h="1047470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55656"/>
                  </a:lnTo>
                  <a:cubicBezTo>
                    <a:pt x="38100" y="10466198"/>
                    <a:pt x="29591" y="10474706"/>
                    <a:pt x="19050" y="10474706"/>
                  </a:cubicBezTo>
                  <a:cubicBezTo>
                    <a:pt x="8509" y="10474706"/>
                    <a:pt x="0" y="10466198"/>
                    <a:pt x="0" y="10455656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19895" y="2300585"/>
            <a:ext cx="827817" cy="28575"/>
            <a:chOff x="0" y="0"/>
            <a:chExt cx="1103756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3757" cy="38100"/>
            </a:xfrm>
            <a:custGeom>
              <a:avLst/>
              <a:gdLst/>
              <a:ahLst/>
              <a:cxnLst/>
              <a:rect l="l" t="t" r="r" b="b"/>
              <a:pathLst>
                <a:path w="110375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707" y="0"/>
                  </a:lnTo>
                  <a:cubicBezTo>
                    <a:pt x="1095248" y="0"/>
                    <a:pt x="1103757" y="8509"/>
                    <a:pt x="1103757" y="19050"/>
                  </a:cubicBezTo>
                  <a:cubicBezTo>
                    <a:pt x="1103757" y="29591"/>
                    <a:pt x="1095121" y="38100"/>
                    <a:pt x="108470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6409" y="2048916"/>
            <a:ext cx="532067" cy="532067"/>
            <a:chOff x="0" y="0"/>
            <a:chExt cx="709422" cy="7094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9422" cy="709422"/>
            </a:xfrm>
            <a:custGeom>
              <a:avLst/>
              <a:gdLst/>
              <a:ahLst/>
              <a:cxnLst/>
              <a:rect l="l" t="t" r="r" b="b"/>
              <a:pathLst>
                <a:path w="709422" h="709422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425577" y="0"/>
                  </a:lnTo>
                  <a:cubicBezTo>
                    <a:pt x="582295" y="0"/>
                    <a:pt x="709422" y="127127"/>
                    <a:pt x="709422" y="283845"/>
                  </a:cubicBezTo>
                  <a:lnTo>
                    <a:pt x="709422" y="425577"/>
                  </a:lnTo>
                  <a:cubicBezTo>
                    <a:pt x="709422" y="582295"/>
                    <a:pt x="582295" y="709422"/>
                    <a:pt x="425577" y="709422"/>
                  </a:cubicBezTo>
                  <a:lnTo>
                    <a:pt x="283845" y="709422"/>
                  </a:lnTo>
                  <a:cubicBezTo>
                    <a:pt x="127127" y="709422"/>
                    <a:pt x="0" y="582295"/>
                    <a:pt x="0" y="42557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6285" y="2163961"/>
            <a:ext cx="132160" cy="337691"/>
            <a:chOff x="0" y="0"/>
            <a:chExt cx="176213" cy="4502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6213" cy="450255"/>
            </a:xfrm>
            <a:custGeom>
              <a:avLst/>
              <a:gdLst/>
              <a:ahLst/>
              <a:cxnLst/>
              <a:rect l="l" t="t" r="r" b="b"/>
              <a:pathLst>
                <a:path w="176213" h="450255">
                  <a:moveTo>
                    <a:pt x="0" y="0"/>
                  </a:moveTo>
                  <a:lnTo>
                    <a:pt x="176213" y="0"/>
                  </a:lnTo>
                  <a:lnTo>
                    <a:pt x="176213" y="450255"/>
                  </a:lnTo>
                  <a:lnTo>
                    <a:pt x="0" y="450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176213" cy="402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6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83197" y="2005161"/>
            <a:ext cx="3112145" cy="539293"/>
            <a:chOff x="0" y="0"/>
            <a:chExt cx="4149527" cy="7190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49527" cy="719057"/>
            </a:xfrm>
            <a:custGeom>
              <a:avLst/>
              <a:gdLst/>
              <a:ahLst/>
              <a:cxnLst/>
              <a:rect l="l" t="t" r="r" b="b"/>
              <a:pathLst>
                <a:path w="4149527" h="719057">
                  <a:moveTo>
                    <a:pt x="0" y="0"/>
                  </a:moveTo>
                  <a:lnTo>
                    <a:pt x="4149527" y="0"/>
                  </a:lnTo>
                  <a:lnTo>
                    <a:pt x="4149527" y="719057"/>
                  </a:lnTo>
                  <a:lnTo>
                    <a:pt x="0" y="719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149527" cy="738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5"/>
                </a:lnSpc>
              </a:pPr>
              <a:r>
                <a:rPr lang="en-US" sz="2837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483198" y="2485876"/>
            <a:ext cx="8119021" cy="500255"/>
            <a:chOff x="0" y="0"/>
            <a:chExt cx="10825361" cy="6670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25362" cy="667006"/>
            </a:xfrm>
            <a:custGeom>
              <a:avLst/>
              <a:gdLst/>
              <a:ahLst/>
              <a:cxnLst/>
              <a:rect l="l" t="t" r="r" b="b"/>
              <a:pathLst>
                <a:path w="10825362" h="667006">
                  <a:moveTo>
                    <a:pt x="0" y="0"/>
                  </a:moveTo>
                  <a:lnTo>
                    <a:pt x="10825362" y="0"/>
                  </a:lnTo>
                  <a:lnTo>
                    <a:pt x="10825362" y="667006"/>
                  </a:lnTo>
                  <a:lnTo>
                    <a:pt x="0" y="66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0825361" cy="752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4"/>
                </a:lnSpc>
              </a:pPr>
              <a:r>
                <a:rPr lang="en-US" sz="221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Copies files or directories.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9895" y="3919091"/>
            <a:ext cx="827817" cy="28575"/>
            <a:chOff x="0" y="0"/>
            <a:chExt cx="1103756" cy="38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3757" cy="38100"/>
            </a:xfrm>
            <a:custGeom>
              <a:avLst/>
              <a:gdLst/>
              <a:ahLst/>
              <a:cxnLst/>
              <a:rect l="l" t="t" r="r" b="b"/>
              <a:pathLst>
                <a:path w="110375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707" y="0"/>
                  </a:lnTo>
                  <a:cubicBezTo>
                    <a:pt x="1095248" y="0"/>
                    <a:pt x="1103757" y="8509"/>
                    <a:pt x="1103757" y="19050"/>
                  </a:cubicBezTo>
                  <a:cubicBezTo>
                    <a:pt x="1103757" y="29591"/>
                    <a:pt x="1095121" y="38100"/>
                    <a:pt x="108470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6409" y="3667422"/>
            <a:ext cx="532067" cy="532067"/>
            <a:chOff x="0" y="0"/>
            <a:chExt cx="709422" cy="7094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9422" cy="709422"/>
            </a:xfrm>
            <a:custGeom>
              <a:avLst/>
              <a:gdLst/>
              <a:ahLst/>
              <a:cxnLst/>
              <a:rect l="l" t="t" r="r" b="b"/>
              <a:pathLst>
                <a:path w="709422" h="709422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425577" y="0"/>
                  </a:lnTo>
                  <a:cubicBezTo>
                    <a:pt x="582295" y="0"/>
                    <a:pt x="709422" y="127127"/>
                    <a:pt x="709422" y="283845"/>
                  </a:cubicBezTo>
                  <a:lnTo>
                    <a:pt x="709422" y="425577"/>
                  </a:lnTo>
                  <a:cubicBezTo>
                    <a:pt x="709422" y="582295"/>
                    <a:pt x="582295" y="709422"/>
                    <a:pt x="425577" y="709422"/>
                  </a:cubicBezTo>
                  <a:lnTo>
                    <a:pt x="283845" y="709422"/>
                  </a:lnTo>
                  <a:cubicBezTo>
                    <a:pt x="127127" y="709422"/>
                    <a:pt x="0" y="582295"/>
                    <a:pt x="0" y="42557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77888" y="3782467"/>
            <a:ext cx="209104" cy="337691"/>
            <a:chOff x="0" y="0"/>
            <a:chExt cx="278805" cy="45025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8805" cy="450255"/>
            </a:xfrm>
            <a:custGeom>
              <a:avLst/>
              <a:gdLst/>
              <a:ahLst/>
              <a:cxnLst/>
              <a:rect l="l" t="t" r="r" b="b"/>
              <a:pathLst>
                <a:path w="278805" h="450255">
                  <a:moveTo>
                    <a:pt x="0" y="0"/>
                  </a:moveTo>
                  <a:lnTo>
                    <a:pt x="278805" y="0"/>
                  </a:lnTo>
                  <a:lnTo>
                    <a:pt x="278805" y="450255"/>
                  </a:lnTo>
                  <a:lnTo>
                    <a:pt x="0" y="450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47625"/>
              <a:ext cx="278805" cy="402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6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83197" y="3623667"/>
            <a:ext cx="3112145" cy="539293"/>
            <a:chOff x="0" y="0"/>
            <a:chExt cx="4149527" cy="7190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9527" cy="719057"/>
            </a:xfrm>
            <a:custGeom>
              <a:avLst/>
              <a:gdLst/>
              <a:ahLst/>
              <a:cxnLst/>
              <a:rect l="l" t="t" r="r" b="b"/>
              <a:pathLst>
                <a:path w="4149527" h="719057">
                  <a:moveTo>
                    <a:pt x="0" y="0"/>
                  </a:moveTo>
                  <a:lnTo>
                    <a:pt x="4149527" y="0"/>
                  </a:lnTo>
                  <a:lnTo>
                    <a:pt x="4149527" y="719057"/>
                  </a:lnTo>
                  <a:lnTo>
                    <a:pt x="0" y="719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149527" cy="738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5"/>
                </a:lnSpc>
              </a:pPr>
              <a:r>
                <a:rPr lang="en-US" sz="2837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rm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483198" y="4104382"/>
            <a:ext cx="8119021" cy="500255"/>
            <a:chOff x="0" y="0"/>
            <a:chExt cx="10825361" cy="6670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825362" cy="667006"/>
            </a:xfrm>
            <a:custGeom>
              <a:avLst/>
              <a:gdLst/>
              <a:ahLst/>
              <a:cxnLst/>
              <a:rect l="l" t="t" r="r" b="b"/>
              <a:pathLst>
                <a:path w="10825362" h="667006">
                  <a:moveTo>
                    <a:pt x="0" y="0"/>
                  </a:moveTo>
                  <a:lnTo>
                    <a:pt x="10825362" y="0"/>
                  </a:lnTo>
                  <a:lnTo>
                    <a:pt x="10825362" y="667006"/>
                  </a:lnTo>
                  <a:lnTo>
                    <a:pt x="0" y="66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10825361" cy="752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4"/>
                </a:lnSpc>
              </a:pPr>
              <a:r>
                <a:rPr lang="en-US" sz="221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Deletes files.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19895" y="5537598"/>
            <a:ext cx="827817" cy="28575"/>
            <a:chOff x="0" y="0"/>
            <a:chExt cx="1103756" cy="38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3757" cy="38100"/>
            </a:xfrm>
            <a:custGeom>
              <a:avLst/>
              <a:gdLst/>
              <a:ahLst/>
              <a:cxnLst/>
              <a:rect l="l" t="t" r="r" b="b"/>
              <a:pathLst>
                <a:path w="110375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707" y="0"/>
                  </a:lnTo>
                  <a:cubicBezTo>
                    <a:pt x="1095248" y="0"/>
                    <a:pt x="1103757" y="8509"/>
                    <a:pt x="1103757" y="19050"/>
                  </a:cubicBezTo>
                  <a:cubicBezTo>
                    <a:pt x="1103757" y="29591"/>
                    <a:pt x="1095121" y="38100"/>
                    <a:pt x="108470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6409" y="5285929"/>
            <a:ext cx="532067" cy="532067"/>
            <a:chOff x="0" y="0"/>
            <a:chExt cx="709422" cy="70942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09422" cy="709422"/>
            </a:xfrm>
            <a:custGeom>
              <a:avLst/>
              <a:gdLst/>
              <a:ahLst/>
              <a:cxnLst/>
              <a:rect l="l" t="t" r="r" b="b"/>
              <a:pathLst>
                <a:path w="709422" h="709422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425577" y="0"/>
                  </a:lnTo>
                  <a:cubicBezTo>
                    <a:pt x="582295" y="0"/>
                    <a:pt x="709422" y="127127"/>
                    <a:pt x="709422" y="283845"/>
                  </a:cubicBezTo>
                  <a:lnTo>
                    <a:pt x="709422" y="425577"/>
                  </a:lnTo>
                  <a:cubicBezTo>
                    <a:pt x="709422" y="582295"/>
                    <a:pt x="582295" y="709422"/>
                    <a:pt x="425577" y="709422"/>
                  </a:cubicBezTo>
                  <a:lnTo>
                    <a:pt x="283845" y="709422"/>
                  </a:lnTo>
                  <a:cubicBezTo>
                    <a:pt x="127127" y="709422"/>
                    <a:pt x="0" y="582295"/>
                    <a:pt x="0" y="42557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81609" y="5400973"/>
            <a:ext cx="201663" cy="337691"/>
            <a:chOff x="0" y="0"/>
            <a:chExt cx="268884" cy="45025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68884" cy="450255"/>
            </a:xfrm>
            <a:custGeom>
              <a:avLst/>
              <a:gdLst/>
              <a:ahLst/>
              <a:cxnLst/>
              <a:rect l="l" t="t" r="r" b="b"/>
              <a:pathLst>
                <a:path w="268884" h="450255">
                  <a:moveTo>
                    <a:pt x="0" y="0"/>
                  </a:moveTo>
                  <a:lnTo>
                    <a:pt x="268884" y="0"/>
                  </a:lnTo>
                  <a:lnTo>
                    <a:pt x="268884" y="450255"/>
                  </a:lnTo>
                  <a:lnTo>
                    <a:pt x="0" y="450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47625"/>
              <a:ext cx="268884" cy="402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6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483197" y="5242172"/>
            <a:ext cx="3112145" cy="539293"/>
            <a:chOff x="0" y="0"/>
            <a:chExt cx="4149527" cy="71905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49527" cy="719057"/>
            </a:xfrm>
            <a:custGeom>
              <a:avLst/>
              <a:gdLst/>
              <a:ahLst/>
              <a:cxnLst/>
              <a:rect l="l" t="t" r="r" b="b"/>
              <a:pathLst>
                <a:path w="4149527" h="719057">
                  <a:moveTo>
                    <a:pt x="0" y="0"/>
                  </a:moveTo>
                  <a:lnTo>
                    <a:pt x="4149527" y="0"/>
                  </a:lnTo>
                  <a:lnTo>
                    <a:pt x="4149527" y="719057"/>
                  </a:lnTo>
                  <a:lnTo>
                    <a:pt x="0" y="719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4149527" cy="738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5"/>
                </a:lnSpc>
              </a:pPr>
              <a:r>
                <a:rPr lang="en-US" sz="2837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touch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483198" y="5722887"/>
            <a:ext cx="8119021" cy="500255"/>
            <a:chOff x="0" y="0"/>
            <a:chExt cx="10825361" cy="66700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825362" cy="667006"/>
            </a:xfrm>
            <a:custGeom>
              <a:avLst/>
              <a:gdLst/>
              <a:ahLst/>
              <a:cxnLst/>
              <a:rect l="l" t="t" r="r" b="b"/>
              <a:pathLst>
                <a:path w="10825362" h="667006">
                  <a:moveTo>
                    <a:pt x="0" y="0"/>
                  </a:moveTo>
                  <a:lnTo>
                    <a:pt x="10825362" y="0"/>
                  </a:lnTo>
                  <a:lnTo>
                    <a:pt x="10825362" y="667006"/>
                  </a:lnTo>
                  <a:lnTo>
                    <a:pt x="0" y="66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10825361" cy="752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4"/>
                </a:lnSpc>
              </a:pPr>
              <a:r>
                <a:rPr lang="en-US" sz="221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Creates empty file.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19895" y="7156102"/>
            <a:ext cx="827817" cy="28575"/>
            <a:chOff x="0" y="0"/>
            <a:chExt cx="1103756" cy="381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03757" cy="38100"/>
            </a:xfrm>
            <a:custGeom>
              <a:avLst/>
              <a:gdLst/>
              <a:ahLst/>
              <a:cxnLst/>
              <a:rect l="l" t="t" r="r" b="b"/>
              <a:pathLst>
                <a:path w="110375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707" y="0"/>
                  </a:lnTo>
                  <a:cubicBezTo>
                    <a:pt x="1095248" y="0"/>
                    <a:pt x="1103757" y="8509"/>
                    <a:pt x="1103757" y="19050"/>
                  </a:cubicBezTo>
                  <a:cubicBezTo>
                    <a:pt x="1103757" y="29591"/>
                    <a:pt x="1095121" y="38100"/>
                    <a:pt x="108470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16409" y="6904435"/>
            <a:ext cx="532067" cy="532067"/>
            <a:chOff x="0" y="0"/>
            <a:chExt cx="709422" cy="70942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9422" cy="709422"/>
            </a:xfrm>
            <a:custGeom>
              <a:avLst/>
              <a:gdLst/>
              <a:ahLst/>
              <a:cxnLst/>
              <a:rect l="l" t="t" r="r" b="b"/>
              <a:pathLst>
                <a:path w="709422" h="709422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425577" y="0"/>
                  </a:lnTo>
                  <a:cubicBezTo>
                    <a:pt x="582295" y="0"/>
                    <a:pt x="709422" y="127127"/>
                    <a:pt x="709422" y="283845"/>
                  </a:cubicBezTo>
                  <a:lnTo>
                    <a:pt x="709422" y="425577"/>
                  </a:lnTo>
                  <a:cubicBezTo>
                    <a:pt x="709422" y="582295"/>
                    <a:pt x="582295" y="709422"/>
                    <a:pt x="425577" y="709422"/>
                  </a:cubicBezTo>
                  <a:lnTo>
                    <a:pt x="283845" y="709422"/>
                  </a:lnTo>
                  <a:cubicBezTo>
                    <a:pt x="127127" y="709422"/>
                    <a:pt x="0" y="582295"/>
                    <a:pt x="0" y="42557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69405" y="7019479"/>
            <a:ext cx="225921" cy="337691"/>
            <a:chOff x="0" y="0"/>
            <a:chExt cx="301228" cy="45025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01228" cy="450255"/>
            </a:xfrm>
            <a:custGeom>
              <a:avLst/>
              <a:gdLst/>
              <a:ahLst/>
              <a:cxnLst/>
              <a:rect l="l" t="t" r="r" b="b"/>
              <a:pathLst>
                <a:path w="301228" h="450255">
                  <a:moveTo>
                    <a:pt x="0" y="0"/>
                  </a:moveTo>
                  <a:lnTo>
                    <a:pt x="301228" y="0"/>
                  </a:lnTo>
                  <a:lnTo>
                    <a:pt x="301228" y="450255"/>
                  </a:lnTo>
                  <a:lnTo>
                    <a:pt x="0" y="450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47625"/>
              <a:ext cx="301228" cy="402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6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483197" y="6860678"/>
            <a:ext cx="3112145" cy="539293"/>
            <a:chOff x="0" y="0"/>
            <a:chExt cx="4149527" cy="71905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149527" cy="719057"/>
            </a:xfrm>
            <a:custGeom>
              <a:avLst/>
              <a:gdLst/>
              <a:ahLst/>
              <a:cxnLst/>
              <a:rect l="l" t="t" r="r" b="b"/>
              <a:pathLst>
                <a:path w="4149527" h="719057">
                  <a:moveTo>
                    <a:pt x="0" y="0"/>
                  </a:moveTo>
                  <a:lnTo>
                    <a:pt x="4149527" y="0"/>
                  </a:lnTo>
                  <a:lnTo>
                    <a:pt x="4149527" y="719057"/>
                  </a:lnTo>
                  <a:lnTo>
                    <a:pt x="0" y="719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149527" cy="738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5"/>
                </a:lnSpc>
              </a:pPr>
              <a:r>
                <a:rPr lang="en-US" sz="2837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echo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483198" y="7341393"/>
            <a:ext cx="8119021" cy="500255"/>
            <a:chOff x="0" y="0"/>
            <a:chExt cx="10825361" cy="66700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825362" cy="667006"/>
            </a:xfrm>
            <a:custGeom>
              <a:avLst/>
              <a:gdLst/>
              <a:ahLst/>
              <a:cxnLst/>
              <a:rect l="l" t="t" r="r" b="b"/>
              <a:pathLst>
                <a:path w="10825362" h="667006">
                  <a:moveTo>
                    <a:pt x="0" y="0"/>
                  </a:moveTo>
                  <a:lnTo>
                    <a:pt x="10825362" y="0"/>
                  </a:lnTo>
                  <a:lnTo>
                    <a:pt x="10825362" y="667006"/>
                  </a:lnTo>
                  <a:lnTo>
                    <a:pt x="0" y="66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10825361" cy="752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4"/>
                </a:lnSpc>
              </a:pPr>
              <a:r>
                <a:rPr lang="en-US" sz="221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Prints output.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19895" y="8774609"/>
            <a:ext cx="827817" cy="28575"/>
            <a:chOff x="0" y="0"/>
            <a:chExt cx="1103756" cy="381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03757" cy="38100"/>
            </a:xfrm>
            <a:custGeom>
              <a:avLst/>
              <a:gdLst/>
              <a:ahLst/>
              <a:cxnLst/>
              <a:rect l="l" t="t" r="r" b="b"/>
              <a:pathLst>
                <a:path w="110375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707" y="0"/>
                  </a:lnTo>
                  <a:cubicBezTo>
                    <a:pt x="1095248" y="0"/>
                    <a:pt x="1103757" y="8509"/>
                    <a:pt x="1103757" y="19050"/>
                  </a:cubicBezTo>
                  <a:cubicBezTo>
                    <a:pt x="1103757" y="29591"/>
                    <a:pt x="1095121" y="38100"/>
                    <a:pt x="108470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1C3D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16409" y="8522940"/>
            <a:ext cx="532067" cy="532067"/>
            <a:chOff x="0" y="0"/>
            <a:chExt cx="709422" cy="70942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09422" cy="709422"/>
            </a:xfrm>
            <a:custGeom>
              <a:avLst/>
              <a:gdLst/>
              <a:ahLst/>
              <a:cxnLst/>
              <a:rect l="l" t="t" r="r" b="b"/>
              <a:pathLst>
                <a:path w="709422" h="709422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425577" y="0"/>
                  </a:lnTo>
                  <a:cubicBezTo>
                    <a:pt x="582295" y="0"/>
                    <a:pt x="709422" y="127127"/>
                    <a:pt x="709422" y="283845"/>
                  </a:cubicBezTo>
                  <a:lnTo>
                    <a:pt x="709422" y="425577"/>
                  </a:lnTo>
                  <a:cubicBezTo>
                    <a:pt x="709422" y="582295"/>
                    <a:pt x="582295" y="709422"/>
                    <a:pt x="425577" y="709422"/>
                  </a:cubicBezTo>
                  <a:lnTo>
                    <a:pt x="283845" y="709422"/>
                  </a:lnTo>
                  <a:cubicBezTo>
                    <a:pt x="127127" y="709422"/>
                    <a:pt x="0" y="582295"/>
                    <a:pt x="0" y="425577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81758" y="8637985"/>
            <a:ext cx="201216" cy="337691"/>
            <a:chOff x="0" y="0"/>
            <a:chExt cx="268288" cy="45025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68288" cy="450255"/>
            </a:xfrm>
            <a:custGeom>
              <a:avLst/>
              <a:gdLst/>
              <a:ahLst/>
              <a:cxnLst/>
              <a:rect l="l" t="t" r="r" b="b"/>
              <a:pathLst>
                <a:path w="268288" h="450255">
                  <a:moveTo>
                    <a:pt x="0" y="0"/>
                  </a:moveTo>
                  <a:lnTo>
                    <a:pt x="268288" y="0"/>
                  </a:lnTo>
                  <a:lnTo>
                    <a:pt x="268288" y="450255"/>
                  </a:lnTo>
                  <a:lnTo>
                    <a:pt x="0" y="450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47625"/>
              <a:ext cx="268288" cy="402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6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5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483197" y="8479184"/>
            <a:ext cx="3112145" cy="539293"/>
            <a:chOff x="0" y="0"/>
            <a:chExt cx="4149527" cy="719057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149527" cy="719057"/>
            </a:xfrm>
            <a:custGeom>
              <a:avLst/>
              <a:gdLst/>
              <a:ahLst/>
              <a:cxnLst/>
              <a:rect l="l" t="t" r="r" b="b"/>
              <a:pathLst>
                <a:path w="4149527" h="719057">
                  <a:moveTo>
                    <a:pt x="0" y="0"/>
                  </a:moveTo>
                  <a:lnTo>
                    <a:pt x="4149527" y="0"/>
                  </a:lnTo>
                  <a:lnTo>
                    <a:pt x="4149527" y="719057"/>
                  </a:lnTo>
                  <a:lnTo>
                    <a:pt x="0" y="719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4149527" cy="7381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5"/>
                </a:lnSpc>
              </a:pPr>
              <a:r>
                <a:rPr lang="en-US" sz="2837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variable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483198" y="8959900"/>
            <a:ext cx="8119021" cy="500255"/>
            <a:chOff x="0" y="0"/>
            <a:chExt cx="10825361" cy="66700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825362" cy="667006"/>
            </a:xfrm>
            <a:custGeom>
              <a:avLst/>
              <a:gdLst/>
              <a:ahLst/>
              <a:cxnLst/>
              <a:rect l="l" t="t" r="r" b="b"/>
              <a:pathLst>
                <a:path w="10825362" h="667006">
                  <a:moveTo>
                    <a:pt x="0" y="0"/>
                  </a:moveTo>
                  <a:lnTo>
                    <a:pt x="10825362" y="0"/>
                  </a:lnTo>
                  <a:lnTo>
                    <a:pt x="10825362" y="667006"/>
                  </a:lnTo>
                  <a:lnTo>
                    <a:pt x="0" y="66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10825361" cy="752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4"/>
                </a:lnSpc>
              </a:pPr>
              <a:r>
                <a:rPr lang="en-US" sz="2211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Assign a value - Set once, use multiple times.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61147" y="923925"/>
            <a:ext cx="5925453" cy="880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1" dirty="0">
                <a:solidFill>
                  <a:srgbClr val="7068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Compression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9D53A-2FAD-EB16-1F9A-7A293D09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52700"/>
            <a:ext cx="1577314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1492002"/>
            <a:ext cx="8047285" cy="95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7068F4"/>
                </a:solidFill>
                <a:latin typeface="Barlow Bold"/>
                <a:ea typeface="Barlow Bold"/>
                <a:cs typeface="Barlow Bold"/>
                <a:sym typeface="Barlow Bold"/>
              </a:rPr>
              <a:t>File Compression with tar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1662" y="5797902"/>
            <a:ext cx="3563391" cy="6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36"/>
              </a:lnSpc>
            </a:pPr>
            <a:r>
              <a:rPr lang="en-US" sz="324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-c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187" y="6274892"/>
            <a:ext cx="4785866" cy="68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9"/>
              </a:lnSpc>
            </a:pPr>
            <a:r>
              <a:rPr lang="en-US" sz="2624" dirty="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Creates a new archive.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55274" y="3915668"/>
            <a:ext cx="3563391" cy="6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324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-f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55274" y="4278884"/>
            <a:ext cx="5675077" cy="68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62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Specifies the name of the archive.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36969" y="7552553"/>
            <a:ext cx="3563391" cy="65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3249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-z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36969" y="7881166"/>
            <a:ext cx="5901166" cy="68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624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Compresses the archive using gzip.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5897" y="513864"/>
            <a:ext cx="8388103" cy="848844"/>
            <a:chOff x="0" y="0"/>
            <a:chExt cx="11184137" cy="113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84137" cy="1131792"/>
            </a:xfrm>
            <a:custGeom>
              <a:avLst/>
              <a:gdLst/>
              <a:ahLst/>
              <a:cxnLst/>
              <a:rect l="l" t="t" r="r" b="b"/>
              <a:pathLst>
                <a:path w="11184137" h="1131792">
                  <a:moveTo>
                    <a:pt x="0" y="0"/>
                  </a:moveTo>
                  <a:lnTo>
                    <a:pt x="11184137" y="0"/>
                  </a:lnTo>
                  <a:lnTo>
                    <a:pt x="11184137" y="1131792"/>
                  </a:lnTo>
                  <a:lnTo>
                    <a:pt x="0" y="11317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184137" cy="116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Hands-on Activity: File Handling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897" y="1678930"/>
            <a:ext cx="16776204" cy="434892"/>
            <a:chOff x="0" y="0"/>
            <a:chExt cx="22368272" cy="579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68272" cy="579856"/>
            </a:xfrm>
            <a:custGeom>
              <a:avLst/>
              <a:gdLst/>
              <a:ahLst/>
              <a:cxnLst/>
              <a:rect l="l" t="t" r="r" b="b"/>
              <a:pathLst>
                <a:path w="22368272" h="579856">
                  <a:moveTo>
                    <a:pt x="0" y="0"/>
                  </a:moveTo>
                  <a:lnTo>
                    <a:pt x="22368272" y="0"/>
                  </a:lnTo>
                  <a:lnTo>
                    <a:pt x="22368272" y="579856"/>
                  </a:lnTo>
                  <a:lnTo>
                    <a:pt x="0" y="579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368272" cy="656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Let's create a script wherein a folder is created with a designated name.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897" y="2267247"/>
            <a:ext cx="16776204" cy="434892"/>
            <a:chOff x="0" y="0"/>
            <a:chExt cx="22368272" cy="5798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68272" cy="579856"/>
            </a:xfrm>
            <a:custGeom>
              <a:avLst/>
              <a:gdLst/>
              <a:ahLst/>
              <a:cxnLst/>
              <a:rect l="l" t="t" r="r" b="b"/>
              <a:pathLst>
                <a:path w="22368272" h="579856">
                  <a:moveTo>
                    <a:pt x="0" y="0"/>
                  </a:moveTo>
                  <a:lnTo>
                    <a:pt x="22368272" y="0"/>
                  </a:lnTo>
                  <a:lnTo>
                    <a:pt x="22368272" y="579856"/>
                  </a:lnTo>
                  <a:lnTo>
                    <a:pt x="0" y="579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2368272" cy="656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Inside the folder, a file (file1) is generated with content and copy that to new file2.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897" y="2855565"/>
            <a:ext cx="16776204" cy="434892"/>
            <a:chOff x="0" y="0"/>
            <a:chExt cx="22368272" cy="579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368272" cy="579856"/>
            </a:xfrm>
            <a:custGeom>
              <a:avLst/>
              <a:gdLst/>
              <a:ahLst/>
              <a:cxnLst/>
              <a:rect l="l" t="t" r="r" b="b"/>
              <a:pathLst>
                <a:path w="22368272" h="579856">
                  <a:moveTo>
                    <a:pt x="0" y="0"/>
                  </a:moveTo>
                  <a:lnTo>
                    <a:pt x="22368272" y="0"/>
                  </a:lnTo>
                  <a:lnTo>
                    <a:pt x="22368272" y="579856"/>
                  </a:lnTo>
                  <a:lnTo>
                    <a:pt x="0" y="579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368272" cy="656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Once both files are created with content, compress the folder and print the successful message at the end.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5898" y="3743920"/>
            <a:ext cx="7208541" cy="5088285"/>
            <a:chOff x="0" y="0"/>
            <a:chExt cx="9611388" cy="678438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611360" cy="6784340"/>
            </a:xfrm>
            <a:custGeom>
              <a:avLst/>
              <a:gdLst/>
              <a:ahLst/>
              <a:cxnLst/>
              <a:rect l="l" t="t" r="r" b="b"/>
              <a:pathLst>
                <a:path w="9611360" h="6784340">
                  <a:moveTo>
                    <a:pt x="0" y="0"/>
                  </a:moveTo>
                  <a:lnTo>
                    <a:pt x="9611360" y="0"/>
                  </a:lnTo>
                  <a:lnTo>
                    <a:pt x="9611360" y="6784340"/>
                  </a:lnTo>
                  <a:lnTo>
                    <a:pt x="0" y="6784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23328" y="8817918"/>
            <a:ext cx="3410099" cy="440382"/>
            <a:chOff x="0" y="0"/>
            <a:chExt cx="4546799" cy="5871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46799" cy="587177"/>
            </a:xfrm>
            <a:custGeom>
              <a:avLst/>
              <a:gdLst/>
              <a:ahLst/>
              <a:cxnLst/>
              <a:rect l="l" t="t" r="r" b="b"/>
              <a:pathLst>
                <a:path w="4546799" h="587177">
                  <a:moveTo>
                    <a:pt x="0" y="0"/>
                  </a:moveTo>
                  <a:lnTo>
                    <a:pt x="4546799" y="0"/>
                  </a:lnTo>
                  <a:lnTo>
                    <a:pt x="4546799" y="587177"/>
                  </a:lnTo>
                  <a:lnTo>
                    <a:pt x="0" y="5871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546799" cy="606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25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Input script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13899" y="3743920"/>
            <a:ext cx="8445401" cy="480904"/>
            <a:chOff x="0" y="0"/>
            <a:chExt cx="11260535" cy="64120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1260582" cy="641223"/>
            </a:xfrm>
            <a:custGeom>
              <a:avLst/>
              <a:gdLst/>
              <a:ahLst/>
              <a:cxnLst/>
              <a:rect l="l" t="t" r="r" b="b"/>
              <a:pathLst>
                <a:path w="11260582" h="641223">
                  <a:moveTo>
                    <a:pt x="0" y="0"/>
                  </a:moveTo>
                  <a:lnTo>
                    <a:pt x="11260582" y="0"/>
                  </a:lnTo>
                  <a:lnTo>
                    <a:pt x="11260582" y="641223"/>
                  </a:lnTo>
                  <a:lnTo>
                    <a:pt x="0" y="641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0" b="-3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585833" y="4458187"/>
            <a:ext cx="3410099" cy="440382"/>
            <a:chOff x="0" y="0"/>
            <a:chExt cx="4546799" cy="58717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46799" cy="587177"/>
            </a:xfrm>
            <a:custGeom>
              <a:avLst/>
              <a:gdLst/>
              <a:ahLst/>
              <a:cxnLst/>
              <a:rect l="l" t="t" r="r" b="b"/>
              <a:pathLst>
                <a:path w="4546799" h="587177">
                  <a:moveTo>
                    <a:pt x="0" y="0"/>
                  </a:moveTo>
                  <a:lnTo>
                    <a:pt x="4546799" y="0"/>
                  </a:lnTo>
                  <a:lnTo>
                    <a:pt x="4546799" y="587177"/>
                  </a:lnTo>
                  <a:lnTo>
                    <a:pt x="0" y="5871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546799" cy="606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25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Output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886" y="1996082"/>
            <a:ext cx="7126932" cy="919460"/>
            <a:chOff x="0" y="0"/>
            <a:chExt cx="9502576" cy="1225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2576" cy="1225947"/>
            </a:xfrm>
            <a:custGeom>
              <a:avLst/>
              <a:gdLst/>
              <a:ahLst/>
              <a:cxnLst/>
              <a:rect l="l" t="t" r="r" b="b"/>
              <a:pathLst>
                <a:path w="9502576" h="1225947">
                  <a:moveTo>
                    <a:pt x="0" y="0"/>
                  </a:moveTo>
                  <a:lnTo>
                    <a:pt x="9502576" y="0"/>
                  </a:lnTo>
                  <a:lnTo>
                    <a:pt x="9502576" y="1225947"/>
                  </a:lnTo>
                  <a:lnTo>
                    <a:pt x="0" y="1225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02576" cy="1264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00"/>
                </a:lnSpc>
              </a:pPr>
              <a:r>
                <a:rPr lang="en-US" sz="55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String Manipulation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3592414"/>
            <a:ext cx="4651819" cy="338518"/>
            <a:chOff x="0" y="0"/>
            <a:chExt cx="6202426" cy="451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02426" cy="451358"/>
            </a:xfrm>
            <a:custGeom>
              <a:avLst/>
              <a:gdLst/>
              <a:ahLst/>
              <a:cxnLst/>
              <a:rect l="l" t="t" r="r" b="b"/>
              <a:pathLst>
                <a:path w="6202426" h="451358">
                  <a:moveTo>
                    <a:pt x="0" y="225679"/>
                  </a:moveTo>
                  <a:cubicBezTo>
                    <a:pt x="0" y="100965"/>
                    <a:pt x="100965" y="0"/>
                    <a:pt x="225679" y="0"/>
                  </a:cubicBezTo>
                  <a:lnTo>
                    <a:pt x="5976747" y="0"/>
                  </a:lnTo>
                  <a:cubicBezTo>
                    <a:pt x="6101334" y="0"/>
                    <a:pt x="6202426" y="100965"/>
                    <a:pt x="6202426" y="225679"/>
                  </a:cubicBezTo>
                  <a:cubicBezTo>
                    <a:pt x="6202426" y="350393"/>
                    <a:pt x="6101461" y="451358"/>
                    <a:pt x="5976747" y="451358"/>
                  </a:cubicBezTo>
                  <a:lnTo>
                    <a:pt x="225679" y="451358"/>
                  </a:lnTo>
                  <a:cubicBezTo>
                    <a:pt x="100965" y="451231"/>
                    <a:pt x="0" y="350266"/>
                    <a:pt x="0" y="225679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7886" y="4247704"/>
            <a:ext cx="3563391" cy="466725"/>
            <a:chOff x="0" y="0"/>
            <a:chExt cx="4751188" cy="622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awk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7886" y="4819650"/>
            <a:ext cx="5193209" cy="490538"/>
            <a:chOff x="0" y="0"/>
            <a:chExt cx="6924279" cy="6540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24279" cy="654051"/>
            </a:xfrm>
            <a:custGeom>
              <a:avLst/>
              <a:gdLst/>
              <a:ahLst/>
              <a:cxnLst/>
              <a:rect l="l" t="t" r="r" b="b"/>
              <a:pathLst>
                <a:path w="6924279" h="654051">
                  <a:moveTo>
                    <a:pt x="0" y="0"/>
                  </a:moveTo>
                  <a:lnTo>
                    <a:pt x="6924279" y="0"/>
                  </a:lnTo>
                  <a:lnTo>
                    <a:pt x="6924279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924279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Deals with structured data.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7886" y="5347692"/>
            <a:ext cx="5193209" cy="923925"/>
            <a:chOff x="0" y="0"/>
            <a:chExt cx="6924279" cy="12319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24279" cy="1231900"/>
            </a:xfrm>
            <a:custGeom>
              <a:avLst/>
              <a:gdLst/>
              <a:ahLst/>
              <a:cxnLst/>
              <a:rect l="l" t="t" r="r" b="b"/>
              <a:pathLst>
                <a:path w="6924279" h="1231900">
                  <a:moveTo>
                    <a:pt x="0" y="0"/>
                  </a:moveTo>
                  <a:lnTo>
                    <a:pt x="6924279" y="0"/>
                  </a:lnTo>
                  <a:lnTo>
                    <a:pt x="6924279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6924279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Displays data as per our ask from a  CSV/Excel files.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7886" y="6309122"/>
            <a:ext cx="5193209" cy="490538"/>
            <a:chOff x="0" y="0"/>
            <a:chExt cx="6924279" cy="6540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24279" cy="654051"/>
            </a:xfrm>
            <a:custGeom>
              <a:avLst/>
              <a:gdLst/>
              <a:ahLst/>
              <a:cxnLst/>
              <a:rect l="l" t="t" r="r" b="b"/>
              <a:pathLst>
                <a:path w="6924279" h="654051">
                  <a:moveTo>
                    <a:pt x="0" y="0"/>
                  </a:moveTo>
                  <a:lnTo>
                    <a:pt x="6924279" y="0"/>
                  </a:lnTo>
                  <a:lnTo>
                    <a:pt x="6924279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6924279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Example: </a:t>
              </a:r>
              <a:r>
                <a:rPr lang="en-US" sz="2125" b="1">
                  <a:solidFill>
                    <a:srgbClr val="1F71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awk '{ print $1 }' file.txt</a:t>
              </a: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7886" y="6904881"/>
            <a:ext cx="5193209" cy="490538"/>
            <a:chOff x="0" y="0"/>
            <a:chExt cx="6924279" cy="6540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24279" cy="654051"/>
            </a:xfrm>
            <a:custGeom>
              <a:avLst/>
              <a:gdLst/>
              <a:ahLst/>
              <a:cxnLst/>
              <a:rect l="l" t="t" r="r" b="b"/>
              <a:pathLst>
                <a:path w="6924279" h="654051">
                  <a:moveTo>
                    <a:pt x="0" y="0"/>
                  </a:moveTo>
                  <a:lnTo>
                    <a:pt x="6924279" y="0"/>
                  </a:lnTo>
                  <a:lnTo>
                    <a:pt x="6924279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6924279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 Prints the first column of the file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47248" y="3592414"/>
            <a:ext cx="4652009" cy="338518"/>
            <a:chOff x="0" y="0"/>
            <a:chExt cx="6202679" cy="45135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02680" cy="451358"/>
            </a:xfrm>
            <a:custGeom>
              <a:avLst/>
              <a:gdLst/>
              <a:ahLst/>
              <a:cxnLst/>
              <a:rect l="l" t="t" r="r" b="b"/>
              <a:pathLst>
                <a:path w="6202680" h="451358">
                  <a:moveTo>
                    <a:pt x="0" y="225679"/>
                  </a:moveTo>
                  <a:cubicBezTo>
                    <a:pt x="0" y="100965"/>
                    <a:pt x="100965" y="0"/>
                    <a:pt x="225679" y="0"/>
                  </a:cubicBezTo>
                  <a:lnTo>
                    <a:pt x="5977001" y="0"/>
                  </a:lnTo>
                  <a:cubicBezTo>
                    <a:pt x="6101588" y="0"/>
                    <a:pt x="6202680" y="100965"/>
                    <a:pt x="6202680" y="225679"/>
                  </a:cubicBezTo>
                  <a:cubicBezTo>
                    <a:pt x="6202680" y="350393"/>
                    <a:pt x="6101715" y="451358"/>
                    <a:pt x="5977001" y="451358"/>
                  </a:cubicBezTo>
                  <a:lnTo>
                    <a:pt x="225679" y="451358"/>
                  </a:lnTo>
                  <a:cubicBezTo>
                    <a:pt x="100965" y="451231"/>
                    <a:pt x="0" y="350266"/>
                    <a:pt x="0" y="225679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47248" y="4247704"/>
            <a:ext cx="3563391" cy="466725"/>
            <a:chOff x="0" y="0"/>
            <a:chExt cx="4751188" cy="622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grep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47248" y="4819650"/>
            <a:ext cx="5193358" cy="490538"/>
            <a:chOff x="0" y="0"/>
            <a:chExt cx="6924477" cy="6540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24477" cy="654051"/>
            </a:xfrm>
            <a:custGeom>
              <a:avLst/>
              <a:gdLst/>
              <a:ahLst/>
              <a:cxnLst/>
              <a:rect l="l" t="t" r="r" b="b"/>
              <a:pathLst>
                <a:path w="6924477" h="654051">
                  <a:moveTo>
                    <a:pt x="0" y="0"/>
                  </a:moveTo>
                  <a:lnTo>
                    <a:pt x="6924477" y="0"/>
                  </a:lnTo>
                  <a:lnTo>
                    <a:pt x="6924477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6924477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 for patterns.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47248" y="5415409"/>
            <a:ext cx="5193358" cy="923925"/>
            <a:chOff x="0" y="0"/>
            <a:chExt cx="6924477" cy="12319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24477" cy="1231900"/>
            </a:xfrm>
            <a:custGeom>
              <a:avLst/>
              <a:gdLst/>
              <a:ahLst/>
              <a:cxnLst/>
              <a:rect l="l" t="t" r="r" b="b"/>
              <a:pathLst>
                <a:path w="6924477" h="1231900">
                  <a:moveTo>
                    <a:pt x="0" y="0"/>
                  </a:moveTo>
                  <a:lnTo>
                    <a:pt x="6924477" y="0"/>
                  </a:lnTo>
                  <a:lnTo>
                    <a:pt x="6924477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6924477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Displays data as per our ask from a text file.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547248" y="6444555"/>
            <a:ext cx="5193358" cy="490538"/>
            <a:chOff x="0" y="0"/>
            <a:chExt cx="6924477" cy="6540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24477" cy="654051"/>
            </a:xfrm>
            <a:custGeom>
              <a:avLst/>
              <a:gdLst/>
              <a:ahLst/>
              <a:cxnLst/>
              <a:rect l="l" t="t" r="r" b="b"/>
              <a:pathLst>
                <a:path w="6924477" h="654051">
                  <a:moveTo>
                    <a:pt x="0" y="0"/>
                  </a:moveTo>
                  <a:lnTo>
                    <a:pt x="6924477" y="0"/>
                  </a:lnTo>
                  <a:lnTo>
                    <a:pt x="6924477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6924477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Example: </a:t>
              </a:r>
              <a:r>
                <a:rPr lang="en-US" sz="2125" b="1">
                  <a:solidFill>
                    <a:srgbClr val="1F71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grep "blue" Variations.txt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47248" y="7040315"/>
            <a:ext cx="5193358" cy="490538"/>
            <a:chOff x="0" y="0"/>
            <a:chExt cx="6924477" cy="65405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24477" cy="654051"/>
            </a:xfrm>
            <a:custGeom>
              <a:avLst/>
              <a:gdLst/>
              <a:ahLst/>
              <a:cxnLst/>
              <a:rect l="l" t="t" r="r" b="b"/>
              <a:pathLst>
                <a:path w="6924477" h="654051">
                  <a:moveTo>
                    <a:pt x="0" y="0"/>
                  </a:moveTo>
                  <a:lnTo>
                    <a:pt x="6924477" y="0"/>
                  </a:lnTo>
                  <a:lnTo>
                    <a:pt x="6924477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6924477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 Searches for 'pattern' in the file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46756" y="3592414"/>
            <a:ext cx="4651819" cy="338518"/>
            <a:chOff x="0" y="0"/>
            <a:chExt cx="6202426" cy="45135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02426" cy="451358"/>
            </a:xfrm>
            <a:custGeom>
              <a:avLst/>
              <a:gdLst/>
              <a:ahLst/>
              <a:cxnLst/>
              <a:rect l="l" t="t" r="r" b="b"/>
              <a:pathLst>
                <a:path w="6202426" h="451358">
                  <a:moveTo>
                    <a:pt x="0" y="225679"/>
                  </a:moveTo>
                  <a:cubicBezTo>
                    <a:pt x="0" y="100965"/>
                    <a:pt x="100965" y="0"/>
                    <a:pt x="225679" y="0"/>
                  </a:cubicBezTo>
                  <a:lnTo>
                    <a:pt x="5976747" y="0"/>
                  </a:lnTo>
                  <a:cubicBezTo>
                    <a:pt x="6101334" y="0"/>
                    <a:pt x="6202426" y="100965"/>
                    <a:pt x="6202426" y="225679"/>
                  </a:cubicBezTo>
                  <a:cubicBezTo>
                    <a:pt x="6202426" y="350393"/>
                    <a:pt x="6101461" y="451358"/>
                    <a:pt x="5976747" y="451358"/>
                  </a:cubicBezTo>
                  <a:lnTo>
                    <a:pt x="225679" y="451358"/>
                  </a:lnTo>
                  <a:cubicBezTo>
                    <a:pt x="100965" y="451231"/>
                    <a:pt x="0" y="350266"/>
                    <a:pt x="0" y="225679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146756" y="4247704"/>
            <a:ext cx="3563391" cy="466725"/>
            <a:chOff x="0" y="0"/>
            <a:chExt cx="4751188" cy="6223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6756" y="4819650"/>
            <a:ext cx="5193209" cy="490538"/>
            <a:chOff x="0" y="0"/>
            <a:chExt cx="6924279" cy="65405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24279" cy="654051"/>
            </a:xfrm>
            <a:custGeom>
              <a:avLst/>
              <a:gdLst/>
              <a:ahLst/>
              <a:cxnLst/>
              <a:rect l="l" t="t" r="r" b="b"/>
              <a:pathLst>
                <a:path w="6924279" h="654051">
                  <a:moveTo>
                    <a:pt x="0" y="0"/>
                  </a:moveTo>
                  <a:lnTo>
                    <a:pt x="6924279" y="0"/>
                  </a:lnTo>
                  <a:lnTo>
                    <a:pt x="6924279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6924279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 editor.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146756" y="5347692"/>
            <a:ext cx="5193209" cy="1357312"/>
            <a:chOff x="0" y="0"/>
            <a:chExt cx="6924279" cy="180974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924279" cy="1809749"/>
            </a:xfrm>
            <a:custGeom>
              <a:avLst/>
              <a:gdLst/>
              <a:ahLst/>
              <a:cxnLst/>
              <a:rect l="l" t="t" r="r" b="b"/>
              <a:pathLst>
                <a:path w="6924279" h="1809749">
                  <a:moveTo>
                    <a:pt x="0" y="0"/>
                  </a:moveTo>
                  <a:lnTo>
                    <a:pt x="6924279" y="0"/>
                  </a:lnTo>
                  <a:lnTo>
                    <a:pt x="6924279" y="1809749"/>
                  </a:lnTo>
                  <a:lnTo>
                    <a:pt x="0" y="18097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76200"/>
              <a:ext cx="6924279" cy="18859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Deals with content within the files to search &amp; replace, insert or delete.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146756" y="6742510"/>
            <a:ext cx="5193209" cy="923925"/>
            <a:chOff x="0" y="0"/>
            <a:chExt cx="6924279" cy="12319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924279" cy="1231900"/>
            </a:xfrm>
            <a:custGeom>
              <a:avLst/>
              <a:gdLst/>
              <a:ahLst/>
              <a:cxnLst/>
              <a:rect l="l" t="t" r="r" b="b"/>
              <a:pathLst>
                <a:path w="6924279" h="1231900">
                  <a:moveTo>
                    <a:pt x="0" y="0"/>
                  </a:moveTo>
                  <a:lnTo>
                    <a:pt x="6924279" y="0"/>
                  </a:lnTo>
                  <a:lnTo>
                    <a:pt x="6924279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6924279" cy="130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16620" lvl="2" indent="-138873" algn="l">
                <a:lnSpc>
                  <a:spcPts val="3374"/>
                </a:lnSpc>
                <a:buFont typeface="Arial"/>
                <a:buChar char="⚬"/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Example: </a:t>
              </a:r>
              <a:r>
                <a:rPr lang="en-US" sz="2125" b="1">
                  <a:solidFill>
                    <a:srgbClr val="1F71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sed 's/old-text/new-text/' filename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146756" y="7771656"/>
            <a:ext cx="5193209" cy="490538"/>
            <a:chOff x="0" y="0"/>
            <a:chExt cx="6924279" cy="65405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924279" cy="654051"/>
            </a:xfrm>
            <a:custGeom>
              <a:avLst/>
              <a:gdLst/>
              <a:ahLst/>
              <a:cxnLst/>
              <a:rect l="l" t="t" r="r" b="b"/>
              <a:pathLst>
                <a:path w="6924279" h="654051">
                  <a:moveTo>
                    <a:pt x="0" y="0"/>
                  </a:moveTo>
                  <a:lnTo>
                    <a:pt x="6924279" y="0"/>
                  </a:lnTo>
                  <a:lnTo>
                    <a:pt x="6924279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76200"/>
              <a:ext cx="6924279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 Replaces 'old-text' with 'new-text'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7627" y="867966"/>
            <a:ext cx="5847458" cy="752326"/>
            <a:chOff x="0" y="0"/>
            <a:chExt cx="7796611" cy="10031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96611" cy="1003102"/>
            </a:xfrm>
            <a:custGeom>
              <a:avLst/>
              <a:gdLst/>
              <a:ahLst/>
              <a:cxnLst/>
              <a:rect l="l" t="t" r="r" b="b"/>
              <a:pathLst>
                <a:path w="7796611" h="1003102">
                  <a:moveTo>
                    <a:pt x="0" y="0"/>
                  </a:moveTo>
                  <a:lnTo>
                    <a:pt x="7796611" y="0"/>
                  </a:lnTo>
                  <a:lnTo>
                    <a:pt x="7796611" y="1003102"/>
                  </a:lnTo>
                  <a:lnTo>
                    <a:pt x="0" y="1003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796611" cy="1031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0"/>
                </a:lnSpc>
              </a:pPr>
              <a:r>
                <a:rPr lang="en-US" sz="45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Use cases in DevOps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7627" y="2014686"/>
            <a:ext cx="16732746" cy="405407"/>
            <a:chOff x="0" y="0"/>
            <a:chExt cx="22310328" cy="540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0328" cy="540543"/>
            </a:xfrm>
            <a:custGeom>
              <a:avLst/>
              <a:gdLst/>
              <a:ahLst/>
              <a:cxnLst/>
              <a:rect l="l" t="t" r="r" b="b"/>
              <a:pathLst>
                <a:path w="22310328" h="540543">
                  <a:moveTo>
                    <a:pt x="0" y="0"/>
                  </a:moveTo>
                  <a:lnTo>
                    <a:pt x="22310328" y="0"/>
                  </a:lnTo>
                  <a:lnTo>
                    <a:pt x="22310328" y="540543"/>
                  </a:lnTo>
                  <a:lnTo>
                    <a:pt x="0" y="540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2310328" cy="607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8"/>
                </a:lnSpc>
              </a:pPr>
              <a:r>
                <a:rPr lang="en-US" sz="1686" b="1">
                  <a:solidFill>
                    <a:srgbClr val="272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Example</a:t>
              </a: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Log File Analysis for Monitoring System Health.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7627" y="2877891"/>
            <a:ext cx="6260604" cy="379809"/>
            <a:chOff x="0" y="0"/>
            <a:chExt cx="8347472" cy="5064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47472" cy="506413"/>
            </a:xfrm>
            <a:custGeom>
              <a:avLst/>
              <a:gdLst/>
              <a:ahLst/>
              <a:cxnLst/>
              <a:rect l="l" t="t" r="r" b="b"/>
              <a:pathLst>
                <a:path w="8347472" h="506413">
                  <a:moveTo>
                    <a:pt x="0" y="0"/>
                  </a:moveTo>
                  <a:lnTo>
                    <a:pt x="8347472" y="0"/>
                  </a:lnTo>
                  <a:lnTo>
                    <a:pt x="8347472" y="506413"/>
                  </a:lnTo>
                  <a:lnTo>
                    <a:pt x="0" y="506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347472" cy="5254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4"/>
                </a:lnSpc>
              </a:pP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Using </a:t>
              </a:r>
              <a:r>
                <a:rPr lang="en-US" sz="2249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grep</a:t>
              </a: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to find error logs from specific path: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7627" y="3429893"/>
            <a:ext cx="8095358" cy="760810"/>
            <a:chOff x="0" y="0"/>
            <a:chExt cx="10793811" cy="10144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93811" cy="1014414"/>
            </a:xfrm>
            <a:custGeom>
              <a:avLst/>
              <a:gdLst/>
              <a:ahLst/>
              <a:cxnLst/>
              <a:rect l="l" t="t" r="r" b="b"/>
              <a:pathLst>
                <a:path w="10793811" h="1014414">
                  <a:moveTo>
                    <a:pt x="0" y="0"/>
                  </a:moveTo>
                  <a:lnTo>
                    <a:pt x="10793811" y="0"/>
                  </a:lnTo>
                  <a:lnTo>
                    <a:pt x="10793811" y="1014414"/>
                  </a:lnTo>
                  <a:lnTo>
                    <a:pt x="0" y="1014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0793811" cy="10810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find all lines containing the word ERROR in a log file and extract the relevant information.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7627" y="4218385"/>
            <a:ext cx="8095358" cy="405407"/>
            <a:chOff x="0" y="0"/>
            <a:chExt cx="10793811" cy="5405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93811" cy="540543"/>
            </a:xfrm>
            <a:custGeom>
              <a:avLst/>
              <a:gdLst/>
              <a:ahLst/>
              <a:cxnLst/>
              <a:rect l="l" t="t" r="r" b="b"/>
              <a:pathLst>
                <a:path w="10793811" h="540543">
                  <a:moveTo>
                    <a:pt x="0" y="0"/>
                  </a:moveTo>
                  <a:lnTo>
                    <a:pt x="10793811" y="0"/>
                  </a:lnTo>
                  <a:lnTo>
                    <a:pt x="10793811" y="540543"/>
                  </a:lnTo>
                  <a:lnTo>
                    <a:pt x="0" y="540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0793811" cy="607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grep "ERROR" /var/log/syslog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7627" y="4831704"/>
            <a:ext cx="6513910" cy="379811"/>
            <a:chOff x="0" y="0"/>
            <a:chExt cx="8685213" cy="5064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85213" cy="506414"/>
            </a:xfrm>
            <a:custGeom>
              <a:avLst/>
              <a:gdLst/>
              <a:ahLst/>
              <a:cxnLst/>
              <a:rect l="l" t="t" r="r" b="b"/>
              <a:pathLst>
                <a:path w="8685213" h="506414">
                  <a:moveTo>
                    <a:pt x="0" y="0"/>
                  </a:moveTo>
                  <a:lnTo>
                    <a:pt x="8685213" y="0"/>
                  </a:lnTo>
                  <a:lnTo>
                    <a:pt x="8685213" y="506414"/>
                  </a:lnTo>
                  <a:lnTo>
                    <a:pt x="0" y="506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685213" cy="525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4"/>
                </a:lnSpc>
              </a:pP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Using </a:t>
              </a:r>
              <a:r>
                <a:rPr lang="en-US" sz="2249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awk</a:t>
              </a: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to extract specific fields from the logs: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7627" y="5383709"/>
            <a:ext cx="8095358" cy="760810"/>
            <a:chOff x="0" y="0"/>
            <a:chExt cx="10793811" cy="10144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93811" cy="1014414"/>
            </a:xfrm>
            <a:custGeom>
              <a:avLst/>
              <a:gdLst/>
              <a:ahLst/>
              <a:cxnLst/>
              <a:rect l="l" t="t" r="r" b="b"/>
              <a:pathLst>
                <a:path w="10793811" h="1014414">
                  <a:moveTo>
                    <a:pt x="0" y="0"/>
                  </a:moveTo>
                  <a:lnTo>
                    <a:pt x="10793811" y="0"/>
                  </a:lnTo>
                  <a:lnTo>
                    <a:pt x="10793811" y="1014414"/>
                  </a:lnTo>
                  <a:lnTo>
                    <a:pt x="0" y="1014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0793811" cy="10810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When you want to extract useful information from grep result (timestamp, error type, etc.).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7627" y="6172200"/>
            <a:ext cx="8095358" cy="405407"/>
            <a:chOff x="0" y="0"/>
            <a:chExt cx="10793811" cy="540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93811" cy="540543"/>
            </a:xfrm>
            <a:custGeom>
              <a:avLst/>
              <a:gdLst/>
              <a:ahLst/>
              <a:cxnLst/>
              <a:rect l="l" t="t" r="r" b="b"/>
              <a:pathLst>
                <a:path w="10793811" h="540543">
                  <a:moveTo>
                    <a:pt x="0" y="0"/>
                  </a:moveTo>
                  <a:lnTo>
                    <a:pt x="10793811" y="0"/>
                  </a:lnTo>
                  <a:lnTo>
                    <a:pt x="10793811" y="540543"/>
                  </a:lnTo>
                  <a:lnTo>
                    <a:pt x="0" y="540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0793811" cy="607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grep "ERROR" /var/log/syslog | awk '{print $1, $2, $3, $5, $6}'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7627" y="6785522"/>
            <a:ext cx="7774781" cy="379809"/>
            <a:chOff x="0" y="0"/>
            <a:chExt cx="10366375" cy="5064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366375" cy="506413"/>
            </a:xfrm>
            <a:custGeom>
              <a:avLst/>
              <a:gdLst/>
              <a:ahLst/>
              <a:cxnLst/>
              <a:rect l="l" t="t" r="r" b="b"/>
              <a:pathLst>
                <a:path w="10366375" h="506413">
                  <a:moveTo>
                    <a:pt x="0" y="0"/>
                  </a:moveTo>
                  <a:lnTo>
                    <a:pt x="10366375" y="0"/>
                  </a:lnTo>
                  <a:lnTo>
                    <a:pt x="10366375" y="506413"/>
                  </a:lnTo>
                  <a:lnTo>
                    <a:pt x="0" y="506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0366375" cy="5254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4"/>
                </a:lnSpc>
              </a:pP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Using </a:t>
              </a:r>
              <a:r>
                <a:rPr lang="en-US" sz="2249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sed</a:t>
              </a:r>
              <a:r>
                <a:rPr lang="en-US" sz="2249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to remove sensitive info from logs before sharing: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7627" y="7337524"/>
            <a:ext cx="8095358" cy="760810"/>
            <a:chOff x="0" y="0"/>
            <a:chExt cx="10793811" cy="101441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93811" cy="1014414"/>
            </a:xfrm>
            <a:custGeom>
              <a:avLst/>
              <a:gdLst/>
              <a:ahLst/>
              <a:cxnLst/>
              <a:rect l="l" t="t" r="r" b="b"/>
              <a:pathLst>
                <a:path w="10793811" h="1014414">
                  <a:moveTo>
                    <a:pt x="0" y="0"/>
                  </a:moveTo>
                  <a:lnTo>
                    <a:pt x="10793811" y="0"/>
                  </a:lnTo>
                  <a:lnTo>
                    <a:pt x="10793811" y="1014414"/>
                  </a:lnTo>
                  <a:lnTo>
                    <a:pt x="0" y="1014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10793811" cy="10810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share log files with other team members while masking sensitive data, you can use sed to replace that (e.g., IP addresses, usernames).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77627" y="8126016"/>
            <a:ext cx="8095358" cy="760810"/>
            <a:chOff x="0" y="0"/>
            <a:chExt cx="10793811" cy="101441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793811" cy="1014414"/>
            </a:xfrm>
            <a:custGeom>
              <a:avLst/>
              <a:gdLst/>
              <a:ahLst/>
              <a:cxnLst/>
              <a:rect l="l" t="t" r="r" b="b"/>
              <a:pathLst>
                <a:path w="10793811" h="1014414">
                  <a:moveTo>
                    <a:pt x="0" y="0"/>
                  </a:moveTo>
                  <a:lnTo>
                    <a:pt x="10793811" y="0"/>
                  </a:lnTo>
                  <a:lnTo>
                    <a:pt x="10793811" y="1014414"/>
                  </a:lnTo>
                  <a:lnTo>
                    <a:pt x="0" y="1014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10793811" cy="10810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sed 's/[0-9]\{1,3\}\([.][0-9]\{1,3\}\)\{3\}/</a:t>
              </a:r>
              <a:r>
                <a:rPr lang="en-US" sz="1686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://XXX.XXX.XXX.XXX/g"/>
                </a:rPr>
                <a:t>XXX.XXX.XXX.XXX/g</a:t>
              </a: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' /var/log/syslog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77627" y="8914508"/>
            <a:ext cx="8095358" cy="405407"/>
            <a:chOff x="0" y="0"/>
            <a:chExt cx="10793811" cy="54054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93811" cy="540543"/>
            </a:xfrm>
            <a:custGeom>
              <a:avLst/>
              <a:gdLst/>
              <a:ahLst/>
              <a:cxnLst/>
              <a:rect l="l" t="t" r="r" b="b"/>
              <a:pathLst>
                <a:path w="10793811" h="540543">
                  <a:moveTo>
                    <a:pt x="0" y="0"/>
                  </a:moveTo>
                  <a:lnTo>
                    <a:pt x="10793811" y="0"/>
                  </a:lnTo>
                  <a:lnTo>
                    <a:pt x="10793811" y="540543"/>
                  </a:lnTo>
                  <a:lnTo>
                    <a:pt x="0" y="540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10793811" cy="607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0785" lvl="2" indent="-110262" algn="l">
                <a:lnSpc>
                  <a:spcPts val="2748"/>
                </a:lnSpc>
                <a:buFont typeface="Arial"/>
                <a:buChar char="⚬"/>
              </a:pP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Replaces </a:t>
              </a:r>
              <a:r>
                <a:rPr lang="en-US" sz="1686" b="1">
                  <a:solidFill>
                    <a:srgbClr val="272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all occurrences</a:t>
              </a:r>
              <a:r>
                <a:rPr lang="en-US" sz="1686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of IP addresses throughout the file.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771446" y="2919859"/>
            <a:ext cx="9115285" cy="6044655"/>
            <a:chOff x="0" y="0"/>
            <a:chExt cx="12153713" cy="8059540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12153773" cy="8059547"/>
            </a:xfrm>
            <a:custGeom>
              <a:avLst/>
              <a:gdLst/>
              <a:ahLst/>
              <a:cxnLst/>
              <a:rect l="l" t="t" r="r" b="b"/>
              <a:pathLst>
                <a:path w="12153773" h="8059547">
                  <a:moveTo>
                    <a:pt x="0" y="0"/>
                  </a:moveTo>
                  <a:lnTo>
                    <a:pt x="12153773" y="0"/>
                  </a:lnTo>
                  <a:lnTo>
                    <a:pt x="12153773" y="8059547"/>
                  </a:lnTo>
                  <a:lnTo>
                    <a:pt x="0" y="8059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" r="-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5CA1-3396-1D56-4EB3-5A1077FF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1E8116-9302-716F-C517-C46866AD9D0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F5A1FC2C-93E5-10B3-921A-99D61536ACE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F127C40-CD0C-CE53-40EF-F4A62905BE6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C0ABC4-E65D-1C6A-31AE-2591A35330D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F022BC9-F74B-12E9-11C1-027B84F32D9E}"/>
              </a:ext>
            </a:extLst>
          </p:cNvPr>
          <p:cNvGrpSpPr/>
          <p:nvPr/>
        </p:nvGrpSpPr>
        <p:grpSpPr>
          <a:xfrm>
            <a:off x="777627" y="867966"/>
            <a:ext cx="5847458" cy="752326"/>
            <a:chOff x="0" y="0"/>
            <a:chExt cx="7796611" cy="10031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8CEAED-A319-2361-F830-F896892C3628}"/>
                </a:ext>
              </a:extLst>
            </p:cNvPr>
            <p:cNvSpPr/>
            <p:nvPr/>
          </p:nvSpPr>
          <p:spPr>
            <a:xfrm>
              <a:off x="0" y="0"/>
              <a:ext cx="7796611" cy="1003102"/>
            </a:xfrm>
            <a:custGeom>
              <a:avLst/>
              <a:gdLst/>
              <a:ahLst/>
              <a:cxnLst/>
              <a:rect l="l" t="t" r="r" b="b"/>
              <a:pathLst>
                <a:path w="7796611" h="1003102">
                  <a:moveTo>
                    <a:pt x="0" y="0"/>
                  </a:moveTo>
                  <a:lnTo>
                    <a:pt x="7796611" y="0"/>
                  </a:lnTo>
                  <a:lnTo>
                    <a:pt x="7796611" y="1003102"/>
                  </a:lnTo>
                  <a:lnTo>
                    <a:pt x="0" y="1003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36411D-E21A-838C-7C57-FBA298F1094A}"/>
                </a:ext>
              </a:extLst>
            </p:cNvPr>
            <p:cNvSpPr txBox="1"/>
            <p:nvPr/>
          </p:nvSpPr>
          <p:spPr>
            <a:xfrm>
              <a:off x="0" y="-28575"/>
              <a:ext cx="7796611" cy="1031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0"/>
                </a:lnSpc>
              </a:pPr>
              <a:r>
                <a:rPr lang="en-US" sz="4562" b="1" dirty="0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Use cases in SED</a:t>
              </a:r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5C60986C-99E2-6151-8031-5436DC2ACB1E}"/>
              </a:ext>
            </a:extLst>
          </p:cNvPr>
          <p:cNvSpPr/>
          <p:nvPr/>
        </p:nvSpPr>
        <p:spPr>
          <a:xfrm>
            <a:off x="777627" y="2014686"/>
            <a:ext cx="16732746" cy="405407"/>
          </a:xfrm>
          <a:custGeom>
            <a:avLst/>
            <a:gdLst/>
            <a:ahLst/>
            <a:cxnLst/>
            <a:rect l="l" t="t" r="r" b="b"/>
            <a:pathLst>
              <a:path w="22310328" h="540543">
                <a:moveTo>
                  <a:pt x="0" y="0"/>
                </a:moveTo>
                <a:lnTo>
                  <a:pt x="22310328" y="0"/>
                </a:lnTo>
                <a:lnTo>
                  <a:pt x="22310328" y="540543"/>
                </a:lnTo>
                <a:lnTo>
                  <a:pt x="0" y="54054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ABDA1FD-D2D5-45BC-9BE2-DD80EDF61DF0}"/>
              </a:ext>
            </a:extLst>
          </p:cNvPr>
          <p:cNvSpPr/>
          <p:nvPr/>
        </p:nvSpPr>
        <p:spPr>
          <a:xfrm>
            <a:off x="777627" y="4218385"/>
            <a:ext cx="8095358" cy="405407"/>
          </a:xfrm>
          <a:custGeom>
            <a:avLst/>
            <a:gdLst/>
            <a:ahLst/>
            <a:cxnLst/>
            <a:rect l="l" t="t" r="r" b="b"/>
            <a:pathLst>
              <a:path w="10793811" h="540543">
                <a:moveTo>
                  <a:pt x="0" y="0"/>
                </a:moveTo>
                <a:lnTo>
                  <a:pt x="10793811" y="0"/>
                </a:lnTo>
                <a:lnTo>
                  <a:pt x="10793811" y="540543"/>
                </a:lnTo>
                <a:lnTo>
                  <a:pt x="0" y="54054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F816F14-045A-7CFC-9AE0-8247D05D80D0}"/>
              </a:ext>
            </a:extLst>
          </p:cNvPr>
          <p:cNvSpPr/>
          <p:nvPr/>
        </p:nvSpPr>
        <p:spPr>
          <a:xfrm>
            <a:off x="777627" y="6172200"/>
            <a:ext cx="8095358" cy="405407"/>
          </a:xfrm>
          <a:custGeom>
            <a:avLst/>
            <a:gdLst/>
            <a:ahLst/>
            <a:cxnLst/>
            <a:rect l="l" t="t" r="r" b="b"/>
            <a:pathLst>
              <a:path w="10793811" h="540543">
                <a:moveTo>
                  <a:pt x="0" y="0"/>
                </a:moveTo>
                <a:lnTo>
                  <a:pt x="10793811" y="0"/>
                </a:lnTo>
                <a:lnTo>
                  <a:pt x="10793811" y="540543"/>
                </a:lnTo>
                <a:lnTo>
                  <a:pt x="0" y="54054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8DE8F48D-1ED5-5A44-ADB2-E78D2099CE3F}"/>
              </a:ext>
            </a:extLst>
          </p:cNvPr>
          <p:cNvSpPr/>
          <p:nvPr/>
        </p:nvSpPr>
        <p:spPr>
          <a:xfrm>
            <a:off x="777627" y="6785522"/>
            <a:ext cx="7774781" cy="379809"/>
          </a:xfrm>
          <a:custGeom>
            <a:avLst/>
            <a:gdLst/>
            <a:ahLst/>
            <a:cxnLst/>
            <a:rect l="l" t="t" r="r" b="b"/>
            <a:pathLst>
              <a:path w="10366375" h="506413">
                <a:moveTo>
                  <a:pt x="0" y="0"/>
                </a:moveTo>
                <a:lnTo>
                  <a:pt x="10366375" y="0"/>
                </a:lnTo>
                <a:lnTo>
                  <a:pt x="10366375" y="506413"/>
                </a:lnTo>
                <a:lnTo>
                  <a:pt x="0" y="5064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C71D09A8-F7C3-9B02-2FF5-52AB9F45EBAD}"/>
              </a:ext>
            </a:extLst>
          </p:cNvPr>
          <p:cNvSpPr/>
          <p:nvPr/>
        </p:nvSpPr>
        <p:spPr>
          <a:xfrm>
            <a:off x="777627" y="7337524"/>
            <a:ext cx="8095358" cy="760810"/>
          </a:xfrm>
          <a:custGeom>
            <a:avLst/>
            <a:gdLst/>
            <a:ahLst/>
            <a:cxnLst/>
            <a:rect l="l" t="t" r="r" b="b"/>
            <a:pathLst>
              <a:path w="10793811" h="1014414">
                <a:moveTo>
                  <a:pt x="0" y="0"/>
                </a:moveTo>
                <a:lnTo>
                  <a:pt x="10793811" y="0"/>
                </a:lnTo>
                <a:lnTo>
                  <a:pt x="10793811" y="1014414"/>
                </a:lnTo>
                <a:lnTo>
                  <a:pt x="0" y="101441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D7C15264-546F-8B9E-416E-849B1F449AA0}"/>
              </a:ext>
            </a:extLst>
          </p:cNvPr>
          <p:cNvSpPr/>
          <p:nvPr/>
        </p:nvSpPr>
        <p:spPr>
          <a:xfrm>
            <a:off x="777627" y="8126016"/>
            <a:ext cx="8095358" cy="760810"/>
          </a:xfrm>
          <a:custGeom>
            <a:avLst/>
            <a:gdLst/>
            <a:ahLst/>
            <a:cxnLst/>
            <a:rect l="l" t="t" r="r" b="b"/>
            <a:pathLst>
              <a:path w="10793811" h="1014414">
                <a:moveTo>
                  <a:pt x="0" y="0"/>
                </a:moveTo>
                <a:lnTo>
                  <a:pt x="10793811" y="0"/>
                </a:lnTo>
                <a:lnTo>
                  <a:pt x="10793811" y="1014414"/>
                </a:lnTo>
                <a:lnTo>
                  <a:pt x="0" y="101441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13A4D7D-F691-F73F-F517-E63968C6C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70365"/>
              </p:ext>
            </p:extLst>
          </p:nvPr>
        </p:nvGraphicFramePr>
        <p:xfrm>
          <a:off x="1099035" y="2014686"/>
          <a:ext cx="15773397" cy="7086598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09491534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3482743926"/>
                    </a:ext>
                  </a:extLst>
                </a:gridCol>
                <a:gridCol w="7238997">
                  <a:extLst>
                    <a:ext uri="{9D8B030D-6E8A-4147-A177-3AD203B41FA5}">
                      <a16:colId xmlns:a16="http://schemas.microsoft.com/office/drawing/2014/main" val="2634156802"/>
                    </a:ext>
                  </a:extLst>
                </a:gridCol>
              </a:tblGrid>
              <a:tr h="73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Flag / Command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Usage (Example)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What it does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832534"/>
                  </a:ext>
                </a:extLst>
              </a:tr>
              <a:tr h="897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s</a:t>
                      </a:r>
                      <a:r>
                        <a:rPr lang="en-IN" sz="2400"/>
                        <a:t> (Substitute)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sed 's/http/https/' file.txt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Replaces the </a:t>
                      </a:r>
                      <a:r>
                        <a:rPr lang="en-IN" sz="2400" b="1"/>
                        <a:t>first occurrence</a:t>
                      </a:r>
                      <a:r>
                        <a:rPr lang="en-IN" sz="2400"/>
                        <a:t> of the specified pattern in each 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56057"/>
                  </a:ext>
                </a:extLst>
              </a:tr>
              <a:tr h="12210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g</a:t>
                      </a:r>
                      <a:r>
                        <a:rPr lang="en-IN" sz="2400"/>
                        <a:t> (Global)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/>
                        <a:t>sed</a:t>
                      </a:r>
                      <a:r>
                        <a:rPr lang="en-IN" sz="2400" dirty="0"/>
                        <a:t> 's/http/https/g' file.txt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Replaces </a:t>
                      </a:r>
                      <a:r>
                        <a:rPr lang="en-IN" sz="2400" b="1"/>
                        <a:t>all occurrences</a:t>
                      </a:r>
                      <a:r>
                        <a:rPr lang="en-IN" sz="2400"/>
                        <a:t> of the specified pattern in each line. Used with the s command.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498725"/>
                  </a:ext>
                </a:extLst>
              </a:tr>
              <a:tr h="897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-i</a:t>
                      </a:r>
                      <a:r>
                        <a:rPr lang="en-IN" sz="2400"/>
                        <a:t> (In-place Edit)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sed -i 's/8080/9090/g' config.txt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Modifies the original file directly without creating a separate output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62948"/>
                  </a:ext>
                </a:extLst>
              </a:tr>
              <a:tr h="12210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d</a:t>
                      </a:r>
                      <a:r>
                        <a:rPr lang="en-IN" sz="2400"/>
                        <a:t> (Delete)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sed '/ERROR/d' logfile.txt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Deletes all lines that match the specified pattern. Useful for removing unwanted log or configuration entries.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032893"/>
                  </a:ext>
                </a:extLst>
              </a:tr>
              <a:tr h="897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a</a:t>
                      </a:r>
                      <a:r>
                        <a:rPr lang="en-IN" sz="2400"/>
                        <a:t> (Append)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sed '/server/a timeout=30' config.txt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Appends a new line </a:t>
                      </a:r>
                      <a:r>
                        <a:rPr lang="en-IN" sz="2400" b="1"/>
                        <a:t>after</a:t>
                      </a:r>
                      <a:r>
                        <a:rPr lang="en-IN" sz="2400"/>
                        <a:t> the line matching the specified pattern.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771594"/>
                  </a:ext>
                </a:extLst>
              </a:tr>
              <a:tr h="12210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c</a:t>
                      </a:r>
                      <a:r>
                        <a:rPr lang="en-IN" sz="2400"/>
                        <a:t> (Change)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/>
                        <a:t>sed</a:t>
                      </a:r>
                      <a:r>
                        <a:rPr lang="en-IN" sz="2400" dirty="0"/>
                        <a:t> '/timeout/c timeout=60' config.txt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Replaces the </a:t>
                      </a:r>
                      <a:r>
                        <a:rPr lang="en-IN" sz="2400" b="1" dirty="0"/>
                        <a:t>entire matching line</a:t>
                      </a:r>
                      <a:r>
                        <a:rPr lang="en-IN" sz="2400" dirty="0"/>
                        <a:t> with the specified text. Useful for updating configuration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400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133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3993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886" y="1295103"/>
            <a:ext cx="7126932" cy="919460"/>
            <a:chOff x="0" y="0"/>
            <a:chExt cx="9502576" cy="1225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2576" cy="1225947"/>
            </a:xfrm>
            <a:custGeom>
              <a:avLst/>
              <a:gdLst/>
              <a:ahLst/>
              <a:cxnLst/>
              <a:rect l="l" t="t" r="r" b="b"/>
              <a:pathLst>
                <a:path w="9502576" h="1225947">
                  <a:moveTo>
                    <a:pt x="0" y="0"/>
                  </a:moveTo>
                  <a:lnTo>
                    <a:pt x="9502576" y="0"/>
                  </a:lnTo>
                  <a:lnTo>
                    <a:pt x="9502576" y="1225947"/>
                  </a:lnTo>
                  <a:lnTo>
                    <a:pt x="0" y="1225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502576" cy="1264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00"/>
                </a:lnSpc>
              </a:pPr>
              <a:r>
                <a:rPr lang="en-US" sz="55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Automation Scenarios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2698998"/>
            <a:ext cx="16392228" cy="490538"/>
            <a:chOff x="0" y="0"/>
            <a:chExt cx="21856304" cy="6540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56305" cy="654051"/>
            </a:xfrm>
            <a:custGeom>
              <a:avLst/>
              <a:gdLst/>
              <a:ahLst/>
              <a:cxnLst/>
              <a:rect l="l" t="t" r="r" b="b"/>
              <a:pathLst>
                <a:path w="21856305" h="654051">
                  <a:moveTo>
                    <a:pt x="0" y="0"/>
                  </a:moveTo>
                  <a:lnTo>
                    <a:pt x="21856305" y="0"/>
                  </a:lnTo>
                  <a:lnTo>
                    <a:pt x="21856305" y="654051"/>
                  </a:lnTo>
                  <a:lnTo>
                    <a:pt x="0" y="654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1856304" cy="730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 a DevOps engineer, you will be working on building various automation tasks with bash as follows: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886" y="3798838"/>
            <a:ext cx="609314" cy="609314"/>
            <a:chOff x="0" y="0"/>
            <a:chExt cx="812419" cy="812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76784" y="3989634"/>
            <a:ext cx="151359" cy="32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 b="1">
                <a:solidFill>
                  <a:srgbClr val="272525"/>
                </a:solidFill>
                <a:latin typeface="Barlow Bold"/>
                <a:ea typeface="Barlow Bold"/>
                <a:cs typeface="Barlow Bold"/>
                <a:sym typeface="Barlow Bold"/>
              </a:rPr>
              <a:t>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827907" y="3777407"/>
            <a:ext cx="4403526" cy="912019"/>
            <a:chOff x="0" y="0"/>
            <a:chExt cx="5871368" cy="12160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 dirty="0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Server Setup and Configuration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02152" y="3798838"/>
            <a:ext cx="609314" cy="609314"/>
            <a:chOff x="0" y="0"/>
            <a:chExt cx="812419" cy="8124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86996" y="3932484"/>
            <a:ext cx="239465" cy="384721"/>
            <a:chOff x="0" y="0"/>
            <a:chExt cx="319287" cy="5129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9287" cy="512962"/>
            </a:xfrm>
            <a:custGeom>
              <a:avLst/>
              <a:gdLst/>
              <a:ahLst/>
              <a:cxnLst/>
              <a:rect l="l" t="t" r="r" b="b"/>
              <a:pathLst>
                <a:path w="319287" h="512962">
                  <a:moveTo>
                    <a:pt x="0" y="0"/>
                  </a:moveTo>
                  <a:lnTo>
                    <a:pt x="319287" y="0"/>
                  </a:lnTo>
                  <a:lnTo>
                    <a:pt x="319287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57150"/>
              <a:ext cx="319287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82172" y="3777407"/>
            <a:ext cx="4403526" cy="912019"/>
            <a:chOff x="0" y="0"/>
            <a:chExt cx="5871368" cy="121602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System Monitoring and Health Checks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56417" y="3798838"/>
            <a:ext cx="609314" cy="609314"/>
            <a:chOff x="0" y="0"/>
            <a:chExt cx="812419" cy="8124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245579" y="3932484"/>
            <a:ext cx="230832" cy="384721"/>
            <a:chOff x="0" y="0"/>
            <a:chExt cx="307776" cy="5129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7776" cy="512962"/>
            </a:xfrm>
            <a:custGeom>
              <a:avLst/>
              <a:gdLst/>
              <a:ahLst/>
              <a:cxnLst/>
              <a:rect l="l" t="t" r="r" b="b"/>
              <a:pathLst>
                <a:path w="307776" h="512962">
                  <a:moveTo>
                    <a:pt x="0" y="0"/>
                  </a:moveTo>
                  <a:lnTo>
                    <a:pt x="307776" y="0"/>
                  </a:lnTo>
                  <a:lnTo>
                    <a:pt x="307776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57150"/>
              <a:ext cx="307776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936439" y="3777407"/>
            <a:ext cx="3563391" cy="466725"/>
            <a:chOff x="0" y="0"/>
            <a:chExt cx="4751188" cy="6223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51188" cy="622300"/>
            </a:xfrm>
            <a:custGeom>
              <a:avLst/>
              <a:gdLst/>
              <a:ahLst/>
              <a:cxnLst/>
              <a:rect l="l" t="t" r="r" b="b"/>
              <a:pathLst>
                <a:path w="4751188" h="622300">
                  <a:moveTo>
                    <a:pt x="0" y="0"/>
                  </a:moveTo>
                  <a:lnTo>
                    <a:pt x="4751188" y="0"/>
                  </a:lnTo>
                  <a:lnTo>
                    <a:pt x="4751188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751188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Task Automation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7886" y="5415260"/>
            <a:ext cx="609314" cy="609314"/>
            <a:chOff x="0" y="0"/>
            <a:chExt cx="812419" cy="8124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23206" y="5548907"/>
            <a:ext cx="258664" cy="384721"/>
            <a:chOff x="0" y="0"/>
            <a:chExt cx="344885" cy="5129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4885" cy="512962"/>
            </a:xfrm>
            <a:custGeom>
              <a:avLst/>
              <a:gdLst/>
              <a:ahLst/>
              <a:cxnLst/>
              <a:rect l="l" t="t" r="r" b="b"/>
              <a:pathLst>
                <a:path w="344885" h="512962">
                  <a:moveTo>
                    <a:pt x="0" y="0"/>
                  </a:moveTo>
                  <a:lnTo>
                    <a:pt x="344885" y="0"/>
                  </a:lnTo>
                  <a:lnTo>
                    <a:pt x="344885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57150"/>
              <a:ext cx="344885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27907" y="5393829"/>
            <a:ext cx="4403526" cy="912019"/>
            <a:chOff x="0" y="0"/>
            <a:chExt cx="5871368" cy="121602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Software Installation and Updates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502152" y="5415260"/>
            <a:ext cx="609314" cy="609314"/>
            <a:chOff x="0" y="0"/>
            <a:chExt cx="812419" cy="81241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691461" y="5548907"/>
            <a:ext cx="230535" cy="384721"/>
            <a:chOff x="0" y="0"/>
            <a:chExt cx="307380" cy="51296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07380" cy="512962"/>
            </a:xfrm>
            <a:custGeom>
              <a:avLst/>
              <a:gdLst/>
              <a:ahLst/>
              <a:cxnLst/>
              <a:rect l="l" t="t" r="r" b="b"/>
              <a:pathLst>
                <a:path w="307380" h="512962">
                  <a:moveTo>
                    <a:pt x="0" y="0"/>
                  </a:moveTo>
                  <a:lnTo>
                    <a:pt x="307380" y="0"/>
                  </a:lnTo>
                  <a:lnTo>
                    <a:pt x="307380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57150"/>
              <a:ext cx="307380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382172" y="5393829"/>
            <a:ext cx="4403526" cy="912019"/>
            <a:chOff x="0" y="0"/>
            <a:chExt cx="5871368" cy="121602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Version Control and Deployment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056417" y="5415260"/>
            <a:ext cx="609314" cy="609314"/>
            <a:chOff x="0" y="0"/>
            <a:chExt cx="812419" cy="81241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46174" y="5548907"/>
            <a:ext cx="229641" cy="384721"/>
            <a:chOff x="0" y="0"/>
            <a:chExt cx="306188" cy="51296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06188" cy="512962"/>
            </a:xfrm>
            <a:custGeom>
              <a:avLst/>
              <a:gdLst/>
              <a:ahLst/>
              <a:cxnLst/>
              <a:rect l="l" t="t" r="r" b="b"/>
              <a:pathLst>
                <a:path w="306188" h="512962">
                  <a:moveTo>
                    <a:pt x="0" y="0"/>
                  </a:moveTo>
                  <a:lnTo>
                    <a:pt x="306188" y="0"/>
                  </a:lnTo>
                  <a:lnTo>
                    <a:pt x="306188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57150"/>
              <a:ext cx="306188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6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936439" y="5393829"/>
            <a:ext cx="4403526" cy="912019"/>
            <a:chOff x="0" y="0"/>
            <a:chExt cx="5871368" cy="121602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Cloud Infrastructure Management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7886" y="7476976"/>
            <a:ext cx="609314" cy="609314"/>
            <a:chOff x="0" y="0"/>
            <a:chExt cx="812419" cy="81241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46422" y="7610623"/>
            <a:ext cx="212080" cy="384721"/>
            <a:chOff x="0" y="0"/>
            <a:chExt cx="282773" cy="51296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82773" cy="512962"/>
            </a:xfrm>
            <a:custGeom>
              <a:avLst/>
              <a:gdLst/>
              <a:ahLst/>
              <a:cxnLst/>
              <a:rect l="l" t="t" r="r" b="b"/>
              <a:pathLst>
                <a:path w="282773" h="512962">
                  <a:moveTo>
                    <a:pt x="0" y="0"/>
                  </a:moveTo>
                  <a:lnTo>
                    <a:pt x="282773" y="0"/>
                  </a:lnTo>
                  <a:lnTo>
                    <a:pt x="282773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57150"/>
              <a:ext cx="282773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7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27907" y="7455545"/>
            <a:ext cx="3918645" cy="466725"/>
            <a:chOff x="0" y="0"/>
            <a:chExt cx="5224860" cy="6223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224860" cy="622300"/>
            </a:xfrm>
            <a:custGeom>
              <a:avLst/>
              <a:gdLst/>
              <a:ahLst/>
              <a:cxnLst/>
              <a:rect l="l" t="t" r="r" b="b"/>
              <a:pathLst>
                <a:path w="5224860" h="622300">
                  <a:moveTo>
                    <a:pt x="0" y="0"/>
                  </a:moveTo>
                  <a:lnTo>
                    <a:pt x="5224860" y="0"/>
                  </a:lnTo>
                  <a:lnTo>
                    <a:pt x="5224860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5224860" cy="650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Security and Compliance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502152" y="7476976"/>
            <a:ext cx="609314" cy="609314"/>
            <a:chOff x="0" y="0"/>
            <a:chExt cx="812419" cy="81241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91164" y="7610623"/>
            <a:ext cx="231279" cy="384721"/>
            <a:chOff x="0" y="0"/>
            <a:chExt cx="308372" cy="51296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08372" cy="512962"/>
            </a:xfrm>
            <a:custGeom>
              <a:avLst/>
              <a:gdLst/>
              <a:ahLst/>
              <a:cxnLst/>
              <a:rect l="l" t="t" r="r" b="b"/>
              <a:pathLst>
                <a:path w="308372" h="512962">
                  <a:moveTo>
                    <a:pt x="0" y="0"/>
                  </a:moveTo>
                  <a:lnTo>
                    <a:pt x="308372" y="0"/>
                  </a:lnTo>
                  <a:lnTo>
                    <a:pt x="308372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57150"/>
              <a:ext cx="308372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8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82172" y="7455545"/>
            <a:ext cx="4403526" cy="912019"/>
            <a:chOff x="0" y="0"/>
            <a:chExt cx="5871368" cy="121602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Backup and Disaster Recovery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056417" y="7476976"/>
            <a:ext cx="609314" cy="609314"/>
            <a:chOff x="0" y="0"/>
            <a:chExt cx="812419" cy="81241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487426" y="0"/>
                  </a:lnTo>
                  <a:cubicBezTo>
                    <a:pt x="666877" y="0"/>
                    <a:pt x="812419" y="145542"/>
                    <a:pt x="812419" y="324993"/>
                  </a:cubicBezTo>
                  <a:lnTo>
                    <a:pt x="812419" y="487426"/>
                  </a:lnTo>
                  <a:cubicBezTo>
                    <a:pt x="812419" y="666877"/>
                    <a:pt x="666877" y="812419"/>
                    <a:pt x="487426" y="812419"/>
                  </a:cubicBezTo>
                  <a:lnTo>
                    <a:pt x="324993" y="812419"/>
                  </a:lnTo>
                  <a:cubicBezTo>
                    <a:pt x="145542" y="812419"/>
                    <a:pt x="0" y="666877"/>
                    <a:pt x="0" y="487426"/>
                  </a:cubicBez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247512" y="7610623"/>
            <a:ext cx="227111" cy="384721"/>
            <a:chOff x="0" y="0"/>
            <a:chExt cx="302815" cy="51296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02815" cy="512962"/>
            </a:xfrm>
            <a:custGeom>
              <a:avLst/>
              <a:gdLst/>
              <a:ahLst/>
              <a:cxnLst/>
              <a:rect l="l" t="t" r="r" b="b"/>
              <a:pathLst>
                <a:path w="302815" h="512962">
                  <a:moveTo>
                    <a:pt x="0" y="0"/>
                  </a:moveTo>
                  <a:lnTo>
                    <a:pt x="302815" y="0"/>
                  </a:lnTo>
                  <a:lnTo>
                    <a:pt x="302815" y="512962"/>
                  </a:lnTo>
                  <a:lnTo>
                    <a:pt x="0" y="512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57150"/>
              <a:ext cx="302815" cy="455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9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936439" y="7455545"/>
            <a:ext cx="4403526" cy="912019"/>
            <a:chOff x="0" y="0"/>
            <a:chExt cx="5871368" cy="121602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871368" cy="1216026"/>
            </a:xfrm>
            <a:custGeom>
              <a:avLst/>
              <a:gdLst/>
              <a:ahLst/>
              <a:cxnLst/>
              <a:rect l="l" t="t" r="r" b="b"/>
              <a:pathLst>
                <a:path w="5871368" h="1216026">
                  <a:moveTo>
                    <a:pt x="0" y="0"/>
                  </a:moveTo>
                  <a:lnTo>
                    <a:pt x="5871368" y="0"/>
                  </a:lnTo>
                  <a:lnTo>
                    <a:pt x="5871368" y="1216026"/>
                  </a:lnTo>
                  <a:lnTo>
                    <a:pt x="0" y="121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28575"/>
              <a:ext cx="5871368" cy="124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b="1">
                  <a:solidFill>
                    <a:srgbClr val="27252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Logging and Troubleshooting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EF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7351" y="542181"/>
            <a:ext cx="5394572" cy="695771"/>
            <a:chOff x="0" y="0"/>
            <a:chExt cx="7192763" cy="9276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92763" cy="927695"/>
            </a:xfrm>
            <a:custGeom>
              <a:avLst/>
              <a:gdLst/>
              <a:ahLst/>
              <a:cxnLst/>
              <a:rect l="l" t="t" r="r" b="b"/>
              <a:pathLst>
                <a:path w="7192763" h="927695">
                  <a:moveTo>
                    <a:pt x="0" y="0"/>
                  </a:moveTo>
                  <a:lnTo>
                    <a:pt x="7192763" y="0"/>
                  </a:lnTo>
                  <a:lnTo>
                    <a:pt x="7192763" y="927695"/>
                  </a:lnTo>
                  <a:lnTo>
                    <a:pt x="0" y="927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192763" cy="956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50"/>
                </a:lnSpc>
              </a:pPr>
              <a:r>
                <a:rPr lang="en-US" sz="4187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Assignment: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7351" y="1490231"/>
            <a:ext cx="9077107" cy="433209"/>
            <a:chOff x="0" y="0"/>
            <a:chExt cx="12102809" cy="5776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02809" cy="577611"/>
            </a:xfrm>
            <a:custGeom>
              <a:avLst/>
              <a:gdLst/>
              <a:ahLst/>
              <a:cxnLst/>
              <a:rect l="l" t="t" r="r" b="b"/>
              <a:pathLst>
                <a:path w="12102809" h="577611">
                  <a:moveTo>
                    <a:pt x="0" y="0"/>
                  </a:moveTo>
                  <a:lnTo>
                    <a:pt x="12102809" y="0"/>
                  </a:lnTo>
                  <a:lnTo>
                    <a:pt x="12102809" y="577611"/>
                  </a:lnTo>
                  <a:lnTo>
                    <a:pt x="0" y="577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102809" cy="5966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8"/>
                </a:lnSpc>
              </a:pPr>
              <a:r>
                <a:rPr lang="en-US" sz="2262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Create &amp; run a script that automates package updates in your system.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7351" y="2132856"/>
            <a:ext cx="16853297" cy="423721"/>
            <a:chOff x="0" y="0"/>
            <a:chExt cx="22471063" cy="5649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094" lvl="2" indent="-121698" algn="l">
                <a:lnSpc>
                  <a:spcPts val="3054"/>
                </a:lnSpc>
                <a:buFont typeface="Arial"/>
                <a:buChar char="⚬"/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a new script: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vim update_packages.sh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7351" y="2532460"/>
            <a:ext cx="16853297" cy="423721"/>
            <a:chOff x="0" y="0"/>
            <a:chExt cx="22471063" cy="5649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094" lvl="2" indent="-121698" algn="l">
                <a:lnSpc>
                  <a:spcPts val="3054"/>
                </a:lnSpc>
                <a:buFont typeface="Arial"/>
                <a:buChar char="⚬"/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Write the Update Commands inside your script: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7351" y="3090862"/>
            <a:ext cx="16853297" cy="423721"/>
            <a:chOff x="0" y="0"/>
            <a:chExt cx="22471063" cy="5649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#!/bin/bash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7351" y="3649266"/>
            <a:ext cx="16853297" cy="423721"/>
            <a:chOff x="0" y="0"/>
            <a:chExt cx="22471063" cy="5649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echo "Updating package list..."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7351" y="4207669"/>
            <a:ext cx="16853297" cy="423721"/>
            <a:chOff x="0" y="0"/>
            <a:chExt cx="22471063" cy="5649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sudo apt update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7351" y="4766072"/>
            <a:ext cx="16853297" cy="423721"/>
            <a:chOff x="0" y="0"/>
            <a:chExt cx="22471063" cy="5649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echo "Upgrading packages..."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7351" y="5324475"/>
            <a:ext cx="16853297" cy="423721"/>
            <a:chOff x="0" y="0"/>
            <a:chExt cx="22471063" cy="5649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sudo apt upgrade -y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7351" y="5882879"/>
            <a:ext cx="16853297" cy="423721"/>
            <a:chOff x="0" y="0"/>
            <a:chExt cx="22471063" cy="5649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echo "Cleaning up..."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7351" y="6441281"/>
            <a:ext cx="16853297" cy="423721"/>
            <a:chOff x="0" y="0"/>
            <a:chExt cx="22471063" cy="5649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i="1">
                  <a:solidFill>
                    <a:srgbClr val="1F7135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sudo apt autoremove -y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7351" y="6999685"/>
            <a:ext cx="16853297" cy="804721"/>
            <a:chOff x="0" y="0"/>
            <a:chExt cx="22471063" cy="10729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471062" cy="1072961"/>
            </a:xfrm>
            <a:custGeom>
              <a:avLst/>
              <a:gdLst/>
              <a:ahLst/>
              <a:cxnLst/>
              <a:rect l="l" t="t" r="r" b="b"/>
              <a:pathLst>
                <a:path w="22471062" h="1072961">
                  <a:moveTo>
                    <a:pt x="0" y="0"/>
                  </a:moveTo>
                  <a:lnTo>
                    <a:pt x="22471062" y="0"/>
                  </a:lnTo>
                  <a:lnTo>
                    <a:pt x="22471062" y="1072961"/>
                  </a:lnTo>
                  <a:lnTo>
                    <a:pt x="0" y="1072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22471063" cy="1149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4"/>
                </a:lnSpc>
              </a:pPr>
              <a:r>
                <a:rPr lang="en-US" sz="1862" u="sng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Note</a:t>
              </a: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For CentOS/RHEL-based systems, replace the above commands with: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sudo yum</a:t>
              </a:r>
            </a:p>
            <a:p>
              <a:pPr algn="l">
                <a:lnSpc>
                  <a:spcPts val="3054"/>
                </a:lnSpc>
              </a:pPr>
              <a:endParaRPr lang="en-US" sz="1862">
                <a:solidFill>
                  <a:srgbClr val="1F7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7351" y="7885956"/>
            <a:ext cx="16853297" cy="423721"/>
            <a:chOff x="0" y="0"/>
            <a:chExt cx="22471063" cy="56496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094" lvl="2" indent="-121698" algn="l">
                <a:lnSpc>
                  <a:spcPts val="3054"/>
                </a:lnSpc>
                <a:buFont typeface="Arial"/>
                <a:buChar char="⚬"/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Make the Script Executable before running: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chmod +x update_packages.sh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17351" y="8285560"/>
            <a:ext cx="16853297" cy="423721"/>
            <a:chOff x="0" y="0"/>
            <a:chExt cx="22471063" cy="5649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471062" cy="564961"/>
            </a:xfrm>
            <a:custGeom>
              <a:avLst/>
              <a:gdLst/>
              <a:ahLst/>
              <a:cxnLst/>
              <a:rect l="l" t="t" r="r" b="b"/>
              <a:pathLst>
                <a:path w="22471062" h="564961">
                  <a:moveTo>
                    <a:pt x="0" y="0"/>
                  </a:moveTo>
                  <a:lnTo>
                    <a:pt x="22471062" y="0"/>
                  </a:lnTo>
                  <a:lnTo>
                    <a:pt x="22471062" y="564961"/>
                  </a:lnTo>
                  <a:lnTo>
                    <a:pt x="0" y="564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22471063" cy="641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094" lvl="2" indent="-121698" algn="l">
                <a:lnSpc>
                  <a:spcPts val="3054"/>
                </a:lnSpc>
                <a:buFont typeface="Arial"/>
                <a:buChar char="⚬"/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 the script to automatically update the packages: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./update_packages.sh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17351" y="8685162"/>
            <a:ext cx="16853297" cy="1185721"/>
            <a:chOff x="0" y="0"/>
            <a:chExt cx="22471063" cy="15809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471062" cy="1580961"/>
            </a:xfrm>
            <a:custGeom>
              <a:avLst/>
              <a:gdLst/>
              <a:ahLst/>
              <a:cxnLst/>
              <a:rect l="l" t="t" r="r" b="b"/>
              <a:pathLst>
                <a:path w="22471062" h="1580961">
                  <a:moveTo>
                    <a:pt x="0" y="0"/>
                  </a:moveTo>
                  <a:lnTo>
                    <a:pt x="22471062" y="0"/>
                  </a:lnTo>
                  <a:lnTo>
                    <a:pt x="22471062" y="1580961"/>
                  </a:lnTo>
                  <a:lnTo>
                    <a:pt x="0" y="1580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22471063" cy="16571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5094" lvl="2" indent="-121698" algn="l">
                <a:lnSpc>
                  <a:spcPts val="3054"/>
                </a:lnSpc>
                <a:buFont typeface="Arial"/>
                <a:buChar char="⚬"/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Verify the Updates: Check if the system has been updated by running:</a:t>
              </a:r>
            </a:p>
            <a:p>
              <a:pPr marL="365094" lvl="2" indent="-121698" algn="l">
                <a:lnSpc>
                  <a:spcPts val="3054"/>
                </a:lnSpc>
              </a:pP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sudo apt list --upgradable</a:t>
              </a: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— or — </a:t>
              </a:r>
              <a:r>
                <a:rPr lang="en-US" sz="1862">
                  <a:solidFill>
                    <a:srgbClr val="1F7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sudo yum check-update</a:t>
              </a:r>
              <a:r>
                <a:rPr lang="en-US" sz="1862">
                  <a:solidFill>
                    <a:srgbClr val="27252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—&gt; As per your Linux env.</a:t>
              </a:r>
            </a:p>
            <a:p>
              <a:pPr marL="365094" lvl="2" indent="-121698" algn="l">
                <a:lnSpc>
                  <a:spcPts val="3054"/>
                </a:lnSpc>
              </a:pPr>
              <a:endParaRPr lang="en-US" sz="1862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4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425" y="1026914"/>
            <a:ext cx="6613029" cy="855017"/>
            <a:chOff x="0" y="0"/>
            <a:chExt cx="8817372" cy="11400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7372" cy="1140023"/>
            </a:xfrm>
            <a:custGeom>
              <a:avLst/>
              <a:gdLst/>
              <a:ahLst/>
              <a:cxnLst/>
              <a:rect l="l" t="t" r="r" b="b"/>
              <a:pathLst>
                <a:path w="8817372" h="1140023">
                  <a:moveTo>
                    <a:pt x="0" y="0"/>
                  </a:moveTo>
                  <a:lnTo>
                    <a:pt x="8817372" y="0"/>
                  </a:lnTo>
                  <a:lnTo>
                    <a:pt x="8817372" y="1140023"/>
                  </a:lnTo>
                  <a:lnTo>
                    <a:pt x="0" y="11400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817372" cy="1178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00"/>
                </a:lnSpc>
              </a:pPr>
              <a:r>
                <a:rPr lang="en-US" sz="5187" b="1">
                  <a:solidFill>
                    <a:srgbClr val="7068F4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Conclusion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425" y="2187327"/>
            <a:ext cx="16529149" cy="1579216"/>
            <a:chOff x="0" y="0"/>
            <a:chExt cx="22038865" cy="21056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38866" cy="2105621"/>
            </a:xfrm>
            <a:custGeom>
              <a:avLst/>
              <a:gdLst/>
              <a:ahLst/>
              <a:cxnLst/>
              <a:rect l="l" t="t" r="r" b="b"/>
              <a:pathLst>
                <a:path w="22038866" h="2105621">
                  <a:moveTo>
                    <a:pt x="0" y="0"/>
                  </a:moveTo>
                  <a:lnTo>
                    <a:pt x="22038866" y="0"/>
                  </a:lnTo>
                  <a:lnTo>
                    <a:pt x="22038866" y="2105621"/>
                  </a:lnTo>
                  <a:lnTo>
                    <a:pt x="0" y="21056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2038865" cy="2200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Bash fundamentals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Bash is a Unix shell used for command-line interfaces, automation, and scripting. It allows you to combine commands and logic to automate tasks, like system backups and server management.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9425" y="3782914"/>
            <a:ext cx="16529149" cy="1076622"/>
            <a:chOff x="0" y="0"/>
            <a:chExt cx="22038865" cy="14354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38866" cy="1435497"/>
            </a:xfrm>
            <a:custGeom>
              <a:avLst/>
              <a:gdLst/>
              <a:ahLst/>
              <a:cxnLst/>
              <a:rect l="l" t="t" r="r" b="b"/>
              <a:pathLst>
                <a:path w="22038866" h="1435497">
                  <a:moveTo>
                    <a:pt x="0" y="0"/>
                  </a:moveTo>
                  <a:lnTo>
                    <a:pt x="22038866" y="0"/>
                  </a:lnTo>
                  <a:lnTo>
                    <a:pt x="22038866" y="1435497"/>
                  </a:lnTo>
                  <a:lnTo>
                    <a:pt x="0" y="1435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2038865" cy="1530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Structure of Bash Script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A Bash script starts with a shebang (#!/bin/bash), followed by commands, variables, and comments. Variables are assigned without spaces, and comments begin with #.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9425" y="4875908"/>
            <a:ext cx="16529149" cy="1076622"/>
            <a:chOff x="0" y="0"/>
            <a:chExt cx="22038865" cy="14354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038866" cy="1435497"/>
            </a:xfrm>
            <a:custGeom>
              <a:avLst/>
              <a:gdLst/>
              <a:ahLst/>
              <a:cxnLst/>
              <a:rect l="l" t="t" r="r" b="b"/>
              <a:pathLst>
                <a:path w="22038866" h="1435497">
                  <a:moveTo>
                    <a:pt x="0" y="0"/>
                  </a:moveTo>
                  <a:lnTo>
                    <a:pt x="22038866" y="0"/>
                  </a:lnTo>
                  <a:lnTo>
                    <a:pt x="22038866" y="1435497"/>
                  </a:lnTo>
                  <a:lnTo>
                    <a:pt x="0" y="1435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2038865" cy="1530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File Handling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Bash provides commands like cp (copy), rm (remove), touch (create file), and echo (output text) for file operations.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9425" y="5968902"/>
            <a:ext cx="16529149" cy="1076622"/>
            <a:chOff x="0" y="0"/>
            <a:chExt cx="22038865" cy="14354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038866" cy="1435497"/>
            </a:xfrm>
            <a:custGeom>
              <a:avLst/>
              <a:gdLst/>
              <a:ahLst/>
              <a:cxnLst/>
              <a:rect l="l" t="t" r="r" b="b"/>
              <a:pathLst>
                <a:path w="22038866" h="1435497">
                  <a:moveTo>
                    <a:pt x="0" y="0"/>
                  </a:moveTo>
                  <a:lnTo>
                    <a:pt x="22038866" y="0"/>
                  </a:lnTo>
                  <a:lnTo>
                    <a:pt x="22038866" y="1435497"/>
                  </a:lnTo>
                  <a:lnTo>
                    <a:pt x="0" y="1435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2038865" cy="1530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File Compression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The tar command is used to create compressed archives, often with the -czf option for gzip compression.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9425" y="7061895"/>
            <a:ext cx="16529149" cy="1076622"/>
            <a:chOff x="0" y="0"/>
            <a:chExt cx="22038865" cy="14354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038866" cy="1435497"/>
            </a:xfrm>
            <a:custGeom>
              <a:avLst/>
              <a:gdLst/>
              <a:ahLst/>
              <a:cxnLst/>
              <a:rect l="l" t="t" r="r" b="b"/>
              <a:pathLst>
                <a:path w="22038866" h="1435497">
                  <a:moveTo>
                    <a:pt x="0" y="0"/>
                  </a:moveTo>
                  <a:lnTo>
                    <a:pt x="22038866" y="0"/>
                  </a:lnTo>
                  <a:lnTo>
                    <a:pt x="22038866" y="1435497"/>
                  </a:lnTo>
                  <a:lnTo>
                    <a:pt x="0" y="1435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2038865" cy="1530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String Manipulation (Awk, Sed, Grep)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awk processes text line by line, sed manipulates text streams, and grep searches for patterns. These tools are essential for text parsing and pattern matching.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9425" y="8154889"/>
            <a:ext cx="16529149" cy="1076622"/>
            <a:chOff x="0" y="0"/>
            <a:chExt cx="22038865" cy="14354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038866" cy="1435497"/>
            </a:xfrm>
            <a:custGeom>
              <a:avLst/>
              <a:gdLst/>
              <a:ahLst/>
              <a:cxnLst/>
              <a:rect l="l" t="t" r="r" b="b"/>
              <a:pathLst>
                <a:path w="22038866" h="1435497">
                  <a:moveTo>
                    <a:pt x="0" y="0"/>
                  </a:moveTo>
                  <a:lnTo>
                    <a:pt x="22038866" y="0"/>
                  </a:lnTo>
                  <a:lnTo>
                    <a:pt x="22038866" y="1435497"/>
                  </a:lnTo>
                  <a:lnTo>
                    <a:pt x="0" y="1435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2038865" cy="1530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8220" lvl="2" indent="-152740" algn="l">
                <a:lnSpc>
                  <a:spcPts val="3769"/>
                </a:lnSpc>
                <a:buFont typeface="Arial"/>
                <a:buChar char="⚬"/>
              </a:pPr>
              <a:r>
                <a:rPr lang="en-US" sz="2337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 Scenarios</a:t>
              </a:r>
              <a:r>
                <a:rPr lang="en-US" sz="233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Bash scripts automate tasks like server configuration, software installation, backups, system health checks, and more.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1621</Words>
  <Application>Microsoft Office PowerPoint</Application>
  <PresentationFormat>Custom</PresentationFormat>
  <Paragraphs>337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Montserrat</vt:lpstr>
      <vt:lpstr>Montserrat Bold</vt:lpstr>
      <vt:lpstr>Calibri</vt:lpstr>
      <vt:lpstr>Arial</vt:lpstr>
      <vt:lpstr>Canva Sans Bold</vt:lpstr>
      <vt:lpstr>Barlow Bold</vt:lpstr>
      <vt:lpstr>Montserrat Italics</vt:lpstr>
      <vt:lpstr>Montserrat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Smash-with-Bash.pptx.pptx</dc:title>
  <cp:lastModifiedBy>MohammaD AneeS</cp:lastModifiedBy>
  <cp:revision>4</cp:revision>
  <dcterms:created xsi:type="dcterms:W3CDTF">2006-08-16T00:00:00Z</dcterms:created>
  <dcterms:modified xsi:type="dcterms:W3CDTF">2026-08-02T06:48:40Z</dcterms:modified>
  <dc:identifier>DAGzfN3VVHs</dc:identifier>
</cp:coreProperties>
</file>