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Consolas Bold" panose="020B0709020204030204" pitchFamily="49" charset="0"/>
      <p:regular r:id="rId24"/>
      <p:bold r:id="rId25"/>
    </p:embeddedFont>
    <p:embeddedFont>
      <p:font typeface="Inter" panose="020B0502030000000004" pitchFamily="34" charset="0"/>
      <p:regular r:id="rId26"/>
    </p:embeddedFont>
    <p:embeddedFont>
      <p:font typeface="Inter Bold" panose="020B0802030000000004" pitchFamily="34" charset="0"/>
      <p:regular r:id="rId27"/>
      <p:bold r:id="rId28"/>
    </p:embeddedFont>
    <p:embeddedFont>
      <p:font typeface="Petrona" panose="02000503020000020003" pitchFamily="2" charset="77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638" autoAdjust="0"/>
  </p:normalViewPr>
  <p:slideViewPr>
    <p:cSldViewPr>
      <p:cViewPr varScale="1">
        <p:scale>
          <a:sx n="84" d="100"/>
          <a:sy n="84" d="100"/>
        </p:scale>
        <p:origin x="232" y="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676102" y="3760440"/>
            <a:ext cx="9256129" cy="1158936"/>
            <a:chOff x="0" y="0"/>
            <a:chExt cx="12341506" cy="1545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41506" cy="1545248"/>
            </a:xfrm>
            <a:custGeom>
              <a:avLst/>
              <a:gdLst/>
              <a:ahLst/>
              <a:cxnLst/>
              <a:rect l="l" t="t" r="r" b="b"/>
              <a:pathLst>
                <a:path w="12341506" h="1545248">
                  <a:moveTo>
                    <a:pt x="0" y="0"/>
                  </a:moveTo>
                  <a:lnTo>
                    <a:pt x="12341506" y="0"/>
                  </a:lnTo>
                  <a:lnTo>
                    <a:pt x="12341506" y="1545248"/>
                  </a:lnTo>
                  <a:lnTo>
                    <a:pt x="0" y="15452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41506" cy="15833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8620"/>
                </a:lnSpc>
              </a:pPr>
              <a:r>
                <a:rPr lang="en-US" sz="6924" spc="-138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Continuous Integration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54891" y="4919376"/>
            <a:ext cx="3898552" cy="579468"/>
            <a:chOff x="0" y="0"/>
            <a:chExt cx="5198070" cy="7726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98070" cy="772624"/>
            </a:xfrm>
            <a:custGeom>
              <a:avLst/>
              <a:gdLst/>
              <a:ahLst/>
              <a:cxnLst/>
              <a:rect l="l" t="t" r="r" b="b"/>
              <a:pathLst>
                <a:path w="5198070" h="772624">
                  <a:moveTo>
                    <a:pt x="0" y="0"/>
                  </a:moveTo>
                  <a:lnTo>
                    <a:pt x="5198070" y="0"/>
                  </a:lnTo>
                  <a:lnTo>
                    <a:pt x="5198070" y="772624"/>
                  </a:lnTo>
                  <a:lnTo>
                    <a:pt x="0" y="7726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5198070" cy="80119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10"/>
                </a:lnSpc>
              </a:pPr>
              <a:r>
                <a:rPr lang="en-US" sz="3462" spc="-69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[ Advanced ]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18852" y="9065896"/>
            <a:ext cx="1714500" cy="414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274" b="1" spc="-45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Presenter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3265" y="9449752"/>
            <a:ext cx="3952274" cy="47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  <a:spcBef>
                <a:spcPct val="0"/>
              </a:spcBef>
            </a:pPr>
            <a:r>
              <a:rPr lang="en-US" sz="2474" b="1" spc="-49" dirty="0">
                <a:solidFill>
                  <a:srgbClr val="F95F88"/>
                </a:solidFill>
                <a:latin typeface="Inter Bold"/>
                <a:ea typeface="Inter Bold"/>
                <a:cs typeface="Inter Bold"/>
                <a:sym typeface="Inter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42355" y="583257"/>
            <a:ext cx="5833319" cy="832367"/>
            <a:chOff x="0" y="0"/>
            <a:chExt cx="7777758" cy="11098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77759" cy="1109822"/>
            </a:xfrm>
            <a:custGeom>
              <a:avLst/>
              <a:gdLst/>
              <a:ahLst/>
              <a:cxnLst/>
              <a:rect l="l" t="t" r="r" b="b"/>
              <a:pathLst>
                <a:path w="7777759" h="1109822">
                  <a:moveTo>
                    <a:pt x="0" y="0"/>
                  </a:moveTo>
                  <a:lnTo>
                    <a:pt x="7777759" y="0"/>
                  </a:lnTo>
                  <a:lnTo>
                    <a:pt x="7777759" y="1109822"/>
                  </a:lnTo>
                  <a:lnTo>
                    <a:pt x="0" y="11098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777758" cy="11383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86"/>
                </a:lnSpc>
              </a:pPr>
              <a:r>
                <a:rPr lang="en-US" sz="4962" spc="-99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Topics for today!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742355" y="1736675"/>
            <a:ext cx="1060549" cy="1328291"/>
          </a:xfrm>
          <a:custGeom>
            <a:avLst/>
            <a:gdLst/>
            <a:ahLst/>
            <a:cxnLst/>
            <a:rect l="l" t="t" r="r" b="b"/>
            <a:pathLst>
              <a:path w="1060549" h="1328291">
                <a:moveTo>
                  <a:pt x="0" y="0"/>
                </a:moveTo>
                <a:lnTo>
                  <a:pt x="1060549" y="0"/>
                </a:lnTo>
                <a:lnTo>
                  <a:pt x="1060549" y="1328291"/>
                </a:lnTo>
                <a:lnTo>
                  <a:pt x="0" y="1328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" r="-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120950" y="1948755"/>
            <a:ext cx="5241604" cy="526504"/>
            <a:chOff x="0" y="0"/>
            <a:chExt cx="6988806" cy="7020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88806" cy="702005"/>
            </a:xfrm>
            <a:custGeom>
              <a:avLst/>
              <a:gdLst/>
              <a:ahLst/>
              <a:cxnLst/>
              <a:rect l="l" t="t" r="r" b="b"/>
              <a:pathLst>
                <a:path w="6988806" h="702005">
                  <a:moveTo>
                    <a:pt x="0" y="0"/>
                  </a:moveTo>
                  <a:lnTo>
                    <a:pt x="6988806" y="0"/>
                  </a:lnTo>
                  <a:lnTo>
                    <a:pt x="6988806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988806" cy="7210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49" spc="-62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Recap: Build &amp; test automation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742355" y="3064966"/>
            <a:ext cx="1060549" cy="1328291"/>
          </a:xfrm>
          <a:custGeom>
            <a:avLst/>
            <a:gdLst/>
            <a:ahLst/>
            <a:cxnLst/>
            <a:rect l="l" t="t" r="r" b="b"/>
            <a:pathLst>
              <a:path w="1060549" h="1328291">
                <a:moveTo>
                  <a:pt x="0" y="0"/>
                </a:moveTo>
                <a:lnTo>
                  <a:pt x="1060549" y="0"/>
                </a:lnTo>
                <a:lnTo>
                  <a:pt x="1060549" y="1328292"/>
                </a:lnTo>
                <a:lnTo>
                  <a:pt x="0" y="1328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" r="-8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120950" y="3277046"/>
            <a:ext cx="4248140" cy="526504"/>
            <a:chOff x="0" y="0"/>
            <a:chExt cx="5664187" cy="7020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64187" cy="702005"/>
            </a:xfrm>
            <a:custGeom>
              <a:avLst/>
              <a:gdLst/>
              <a:ahLst/>
              <a:cxnLst/>
              <a:rect l="l" t="t" r="r" b="b"/>
              <a:pathLst>
                <a:path w="5664187" h="702005">
                  <a:moveTo>
                    <a:pt x="0" y="0"/>
                  </a:moveTo>
                  <a:lnTo>
                    <a:pt x="5664187" y="0"/>
                  </a:lnTo>
                  <a:lnTo>
                    <a:pt x="5664187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5664187" cy="7210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49" spc="-62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Overview of test types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742355" y="4393257"/>
            <a:ext cx="1060549" cy="1328291"/>
          </a:xfrm>
          <a:custGeom>
            <a:avLst/>
            <a:gdLst/>
            <a:ahLst/>
            <a:cxnLst/>
            <a:rect l="l" t="t" r="r" b="b"/>
            <a:pathLst>
              <a:path w="1060549" h="1328291">
                <a:moveTo>
                  <a:pt x="0" y="0"/>
                </a:moveTo>
                <a:lnTo>
                  <a:pt x="1060549" y="0"/>
                </a:lnTo>
                <a:lnTo>
                  <a:pt x="1060549" y="1328292"/>
                </a:lnTo>
                <a:lnTo>
                  <a:pt x="0" y="13282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" r="-8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2120950" y="4605338"/>
            <a:ext cx="3499991" cy="526504"/>
            <a:chOff x="0" y="0"/>
            <a:chExt cx="4666655" cy="7020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666655" cy="702005"/>
            </a:xfrm>
            <a:custGeom>
              <a:avLst/>
              <a:gdLst/>
              <a:ahLst/>
              <a:cxnLst/>
              <a:rect l="l" t="t" r="r" b="b"/>
              <a:pathLst>
                <a:path w="4666655" h="702005">
                  <a:moveTo>
                    <a:pt x="0" y="0"/>
                  </a:moveTo>
                  <a:lnTo>
                    <a:pt x="4666655" y="0"/>
                  </a:lnTo>
                  <a:lnTo>
                    <a:pt x="4666655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4666655" cy="7210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49" spc="-62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Artifact Management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742355" y="5721549"/>
            <a:ext cx="1060549" cy="1328291"/>
          </a:xfrm>
          <a:custGeom>
            <a:avLst/>
            <a:gdLst/>
            <a:ahLst/>
            <a:cxnLst/>
            <a:rect l="l" t="t" r="r" b="b"/>
            <a:pathLst>
              <a:path w="1060549" h="1328291">
                <a:moveTo>
                  <a:pt x="0" y="0"/>
                </a:moveTo>
                <a:lnTo>
                  <a:pt x="1060549" y="0"/>
                </a:lnTo>
                <a:lnTo>
                  <a:pt x="1060549" y="1328291"/>
                </a:lnTo>
                <a:lnTo>
                  <a:pt x="0" y="13282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" r="-8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2120950" y="5933629"/>
            <a:ext cx="5104537" cy="526504"/>
            <a:chOff x="0" y="0"/>
            <a:chExt cx="6806049" cy="70200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06049" cy="702005"/>
            </a:xfrm>
            <a:custGeom>
              <a:avLst/>
              <a:gdLst/>
              <a:ahLst/>
              <a:cxnLst/>
              <a:rect l="l" t="t" r="r" b="b"/>
              <a:pathLst>
                <a:path w="6806049" h="702005">
                  <a:moveTo>
                    <a:pt x="0" y="0"/>
                  </a:moveTo>
                  <a:lnTo>
                    <a:pt x="6806049" y="0"/>
                  </a:lnTo>
                  <a:lnTo>
                    <a:pt x="6806049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6806049" cy="7210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49" spc="-62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Notification &amp; reporting in CI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742355" y="7049840"/>
            <a:ext cx="1060549" cy="1328291"/>
          </a:xfrm>
          <a:custGeom>
            <a:avLst/>
            <a:gdLst/>
            <a:ahLst/>
            <a:cxnLst/>
            <a:rect l="l" t="t" r="r" b="b"/>
            <a:pathLst>
              <a:path w="1060549" h="1328291">
                <a:moveTo>
                  <a:pt x="0" y="0"/>
                </a:moveTo>
                <a:lnTo>
                  <a:pt x="1060549" y="0"/>
                </a:lnTo>
                <a:lnTo>
                  <a:pt x="1060549" y="1328291"/>
                </a:lnTo>
                <a:lnTo>
                  <a:pt x="0" y="13282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" r="-8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120950" y="7261920"/>
            <a:ext cx="4135918" cy="526504"/>
            <a:chOff x="0" y="0"/>
            <a:chExt cx="5514557" cy="70200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514557" cy="702005"/>
            </a:xfrm>
            <a:custGeom>
              <a:avLst/>
              <a:gdLst/>
              <a:ahLst/>
              <a:cxnLst/>
              <a:rect l="l" t="t" r="r" b="b"/>
              <a:pathLst>
                <a:path w="5514557" h="702005">
                  <a:moveTo>
                    <a:pt x="0" y="0"/>
                  </a:moveTo>
                  <a:lnTo>
                    <a:pt x="5514557" y="0"/>
                  </a:lnTo>
                  <a:lnTo>
                    <a:pt x="5514557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514557" cy="7210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49" spc="-62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Different CI/CD env's</a:t>
              </a:r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742355" y="8378130"/>
            <a:ext cx="1060549" cy="1328291"/>
          </a:xfrm>
          <a:custGeom>
            <a:avLst/>
            <a:gdLst/>
            <a:ahLst/>
            <a:cxnLst/>
            <a:rect l="l" t="t" r="r" b="b"/>
            <a:pathLst>
              <a:path w="1060549" h="1328291">
                <a:moveTo>
                  <a:pt x="0" y="0"/>
                </a:moveTo>
                <a:lnTo>
                  <a:pt x="1060549" y="0"/>
                </a:lnTo>
                <a:lnTo>
                  <a:pt x="1060549" y="1328291"/>
                </a:lnTo>
                <a:lnTo>
                  <a:pt x="0" y="13282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" r="-8"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2120950" y="8590210"/>
            <a:ext cx="5588978" cy="526504"/>
            <a:chOff x="0" y="0"/>
            <a:chExt cx="7451970" cy="70200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451970" cy="702005"/>
            </a:xfrm>
            <a:custGeom>
              <a:avLst/>
              <a:gdLst/>
              <a:ahLst/>
              <a:cxnLst/>
              <a:rect l="l" t="t" r="r" b="b"/>
              <a:pathLst>
                <a:path w="7451970" h="702005">
                  <a:moveTo>
                    <a:pt x="0" y="0"/>
                  </a:moveTo>
                  <a:lnTo>
                    <a:pt x="7451970" y="0"/>
                  </a:lnTo>
                  <a:lnTo>
                    <a:pt x="7451970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7451970" cy="7210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49" spc="-62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CI optimization &amp; best practices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37159" y="697260"/>
            <a:ext cx="10961489" cy="822275"/>
            <a:chOff x="0" y="0"/>
            <a:chExt cx="14615318" cy="10963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15319" cy="1096367"/>
            </a:xfrm>
            <a:custGeom>
              <a:avLst/>
              <a:gdLst/>
              <a:ahLst/>
              <a:cxnLst/>
              <a:rect l="l" t="t" r="r" b="b"/>
              <a:pathLst>
                <a:path w="14615319" h="1096367">
                  <a:moveTo>
                    <a:pt x="0" y="0"/>
                  </a:moveTo>
                  <a:lnTo>
                    <a:pt x="14615319" y="0"/>
                  </a:lnTo>
                  <a:lnTo>
                    <a:pt x="14615319" y="1096367"/>
                  </a:lnTo>
                  <a:lnTo>
                    <a:pt x="0" y="10963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15318" cy="114399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437"/>
                </a:lnSpc>
              </a:pPr>
              <a:r>
                <a:rPr lang="en-US" sz="5125" spc="-103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Importance of building &amp; testing in CI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7159" y="1839725"/>
            <a:ext cx="16613684" cy="867547"/>
            <a:chOff x="0" y="0"/>
            <a:chExt cx="22151578" cy="11567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51578" cy="1156729"/>
            </a:xfrm>
            <a:custGeom>
              <a:avLst/>
              <a:gdLst/>
              <a:ahLst/>
              <a:cxnLst/>
              <a:rect l="l" t="t" r="r" b="b"/>
              <a:pathLst>
                <a:path w="22151578" h="1156729">
                  <a:moveTo>
                    <a:pt x="0" y="0"/>
                  </a:moveTo>
                  <a:lnTo>
                    <a:pt x="22151578" y="0"/>
                  </a:lnTo>
                  <a:lnTo>
                    <a:pt x="22151578" y="1156729"/>
                  </a:lnTo>
                  <a:lnTo>
                    <a:pt x="0" y="11567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2151578" cy="12519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9"/>
                </a:lnSpc>
              </a:pPr>
              <a:r>
                <a:rPr lang="en-US" sz="2074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Automated builds play a vital role in modern software development by simplifying code compilation, dependency management, and application packaging. They help ensure that software is consistently in a deployable state, reducing manual effort and errors.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32396" y="3027461"/>
            <a:ext cx="16623209" cy="6566892"/>
            <a:chOff x="0" y="0"/>
            <a:chExt cx="22164278" cy="87558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64295" cy="8755888"/>
            </a:xfrm>
            <a:custGeom>
              <a:avLst/>
              <a:gdLst/>
              <a:ahLst/>
              <a:cxnLst/>
              <a:rect l="l" t="t" r="r" b="b"/>
              <a:pathLst>
                <a:path w="22164295" h="8755888">
                  <a:moveTo>
                    <a:pt x="0" y="140335"/>
                  </a:moveTo>
                  <a:cubicBezTo>
                    <a:pt x="0" y="62865"/>
                    <a:pt x="62865" y="0"/>
                    <a:pt x="140462" y="0"/>
                  </a:cubicBezTo>
                  <a:lnTo>
                    <a:pt x="22023832" y="0"/>
                  </a:lnTo>
                  <a:lnTo>
                    <a:pt x="22023832" y="6350"/>
                  </a:lnTo>
                  <a:lnTo>
                    <a:pt x="22023832" y="0"/>
                  </a:lnTo>
                  <a:cubicBezTo>
                    <a:pt x="22101429" y="0"/>
                    <a:pt x="22164295" y="62865"/>
                    <a:pt x="22164295" y="140335"/>
                  </a:cubicBezTo>
                  <a:lnTo>
                    <a:pt x="22157945" y="140335"/>
                  </a:lnTo>
                  <a:lnTo>
                    <a:pt x="22164295" y="140335"/>
                  </a:lnTo>
                  <a:lnTo>
                    <a:pt x="22164295" y="8615553"/>
                  </a:lnTo>
                  <a:lnTo>
                    <a:pt x="22157945" y="8615553"/>
                  </a:lnTo>
                  <a:lnTo>
                    <a:pt x="22164295" y="8615553"/>
                  </a:lnTo>
                  <a:cubicBezTo>
                    <a:pt x="22164295" y="8693023"/>
                    <a:pt x="22101429" y="8755888"/>
                    <a:pt x="22023832" y="8755888"/>
                  </a:cubicBezTo>
                  <a:lnTo>
                    <a:pt x="22023832" y="8749538"/>
                  </a:lnTo>
                  <a:lnTo>
                    <a:pt x="22023832" y="8755888"/>
                  </a:lnTo>
                  <a:lnTo>
                    <a:pt x="140462" y="8755888"/>
                  </a:lnTo>
                  <a:lnTo>
                    <a:pt x="140462" y="8749538"/>
                  </a:lnTo>
                  <a:lnTo>
                    <a:pt x="140462" y="8755888"/>
                  </a:lnTo>
                  <a:cubicBezTo>
                    <a:pt x="62865" y="8755888"/>
                    <a:pt x="0" y="8693023"/>
                    <a:pt x="0" y="8615553"/>
                  </a:cubicBezTo>
                  <a:lnTo>
                    <a:pt x="0" y="140335"/>
                  </a:lnTo>
                  <a:lnTo>
                    <a:pt x="6350" y="140335"/>
                  </a:lnTo>
                  <a:lnTo>
                    <a:pt x="0" y="140335"/>
                  </a:lnTo>
                  <a:moveTo>
                    <a:pt x="12700" y="140335"/>
                  </a:moveTo>
                  <a:lnTo>
                    <a:pt x="12700" y="8615553"/>
                  </a:lnTo>
                  <a:lnTo>
                    <a:pt x="6350" y="8615553"/>
                  </a:lnTo>
                  <a:lnTo>
                    <a:pt x="12700" y="8615553"/>
                  </a:lnTo>
                  <a:cubicBezTo>
                    <a:pt x="12700" y="8686038"/>
                    <a:pt x="69850" y="8743188"/>
                    <a:pt x="140462" y="8743188"/>
                  </a:cubicBezTo>
                  <a:lnTo>
                    <a:pt x="22023832" y="8743188"/>
                  </a:lnTo>
                  <a:cubicBezTo>
                    <a:pt x="22094318" y="8743188"/>
                    <a:pt x="22151595" y="8686038"/>
                    <a:pt x="22151595" y="8615553"/>
                  </a:cubicBezTo>
                  <a:lnTo>
                    <a:pt x="22151595" y="140335"/>
                  </a:lnTo>
                  <a:cubicBezTo>
                    <a:pt x="22151595" y="69850"/>
                    <a:pt x="22094445" y="12700"/>
                    <a:pt x="22023832" y="12700"/>
                  </a:cubicBezTo>
                  <a:lnTo>
                    <a:pt x="140462" y="12700"/>
                  </a:lnTo>
                  <a:lnTo>
                    <a:pt x="140462" y="6350"/>
                  </a:lnTo>
                  <a:lnTo>
                    <a:pt x="140462" y="12700"/>
                  </a:lnTo>
                  <a:cubicBezTo>
                    <a:pt x="69850" y="12700"/>
                    <a:pt x="12700" y="69850"/>
                    <a:pt x="12700" y="14033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46684" y="3041749"/>
            <a:ext cx="16594634" cy="799356"/>
            <a:chOff x="0" y="0"/>
            <a:chExt cx="22126178" cy="1065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126194" cy="1065784"/>
            </a:xfrm>
            <a:custGeom>
              <a:avLst/>
              <a:gdLst/>
              <a:ahLst/>
              <a:cxnLst/>
              <a:rect l="l" t="t" r="r" b="b"/>
              <a:pathLst>
                <a:path w="22126194" h="1065784">
                  <a:moveTo>
                    <a:pt x="0" y="0"/>
                  </a:moveTo>
                  <a:lnTo>
                    <a:pt x="22126194" y="0"/>
                  </a:lnTo>
                  <a:lnTo>
                    <a:pt x="22126194" y="1065784"/>
                  </a:lnTo>
                  <a:lnTo>
                    <a:pt x="0" y="10657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019574" y="3194745"/>
            <a:ext cx="3946624" cy="530005"/>
            <a:chOff x="0" y="0"/>
            <a:chExt cx="5262165" cy="706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62165" cy="706674"/>
            </a:xfrm>
            <a:custGeom>
              <a:avLst/>
              <a:gdLst/>
              <a:ahLst/>
              <a:cxnLst/>
              <a:rect l="l" t="t" r="r" b="b"/>
              <a:pathLst>
                <a:path w="5262165" h="706674">
                  <a:moveTo>
                    <a:pt x="0" y="0"/>
                  </a:moveTo>
                  <a:lnTo>
                    <a:pt x="5262165" y="0"/>
                  </a:lnTo>
                  <a:lnTo>
                    <a:pt x="5262165" y="706674"/>
                  </a:lnTo>
                  <a:lnTo>
                    <a:pt x="0" y="7066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5262165" cy="7352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1"/>
                </a:lnSpc>
              </a:pPr>
              <a:r>
                <a:rPr lang="en-US" sz="3162" spc="-64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Automated Build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321654" y="3194745"/>
            <a:ext cx="3946624" cy="530005"/>
            <a:chOff x="0" y="0"/>
            <a:chExt cx="5262165" cy="7066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62165" cy="706674"/>
            </a:xfrm>
            <a:custGeom>
              <a:avLst/>
              <a:gdLst/>
              <a:ahLst/>
              <a:cxnLst/>
              <a:rect l="l" t="t" r="r" b="b"/>
              <a:pathLst>
                <a:path w="5262165" h="706674">
                  <a:moveTo>
                    <a:pt x="0" y="0"/>
                  </a:moveTo>
                  <a:lnTo>
                    <a:pt x="5262165" y="0"/>
                  </a:lnTo>
                  <a:lnTo>
                    <a:pt x="5262165" y="706674"/>
                  </a:lnTo>
                  <a:lnTo>
                    <a:pt x="0" y="7066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5262165" cy="7352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01"/>
                </a:lnSpc>
              </a:pPr>
              <a:r>
                <a:rPr lang="en-US" sz="3162" spc="-64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Automated Testing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46684" y="3841105"/>
            <a:ext cx="16594634" cy="1453902"/>
            <a:chOff x="0" y="0"/>
            <a:chExt cx="22126178" cy="193853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126194" cy="1938528"/>
            </a:xfrm>
            <a:custGeom>
              <a:avLst/>
              <a:gdLst/>
              <a:ahLst/>
              <a:cxnLst/>
              <a:rect l="l" t="t" r="r" b="b"/>
              <a:pathLst>
                <a:path w="22126194" h="1938528">
                  <a:moveTo>
                    <a:pt x="0" y="0"/>
                  </a:moveTo>
                  <a:lnTo>
                    <a:pt x="22126194" y="0"/>
                  </a:lnTo>
                  <a:lnTo>
                    <a:pt x="22126194" y="1938528"/>
                  </a:lnTo>
                  <a:lnTo>
                    <a:pt x="0" y="19385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85850" y="3994100"/>
            <a:ext cx="7814221" cy="1228083"/>
            <a:chOff x="0" y="0"/>
            <a:chExt cx="10418962" cy="16374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18962" cy="1637444"/>
            </a:xfrm>
            <a:custGeom>
              <a:avLst/>
              <a:gdLst/>
              <a:ahLst/>
              <a:cxnLst/>
              <a:rect l="l" t="t" r="r" b="b"/>
              <a:pathLst>
                <a:path w="10418962" h="1637444">
                  <a:moveTo>
                    <a:pt x="0" y="0"/>
                  </a:moveTo>
                  <a:lnTo>
                    <a:pt x="10418962" y="0"/>
                  </a:lnTo>
                  <a:lnTo>
                    <a:pt x="10418962" y="1637444"/>
                  </a:lnTo>
                  <a:lnTo>
                    <a:pt x="0" y="16374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10418962" cy="17231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Early Issue Detection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Identifies errors in code integration, dependencies, and configurations before deployment, reducing late-stage failures.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87929" y="3994100"/>
            <a:ext cx="7814221" cy="828033"/>
            <a:chOff x="0" y="0"/>
            <a:chExt cx="10418962" cy="11040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18962" cy="1104044"/>
            </a:xfrm>
            <a:custGeom>
              <a:avLst/>
              <a:gdLst/>
              <a:ahLst/>
              <a:cxnLst/>
              <a:rect l="l" t="t" r="r" b="b"/>
              <a:pathLst>
                <a:path w="10418962" h="1104044">
                  <a:moveTo>
                    <a:pt x="0" y="0"/>
                  </a:moveTo>
                  <a:lnTo>
                    <a:pt x="10418962" y="0"/>
                  </a:lnTo>
                  <a:lnTo>
                    <a:pt x="10418962" y="1104044"/>
                  </a:lnTo>
                  <a:lnTo>
                    <a:pt x="0" y="11040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0418962" cy="11897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Quality Assurance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Detects bugs early, ensuring software stability and reliability.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6684" y="5295008"/>
            <a:ext cx="16594634" cy="1071265"/>
            <a:chOff x="0" y="0"/>
            <a:chExt cx="22126178" cy="142835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126194" cy="1428369"/>
            </a:xfrm>
            <a:custGeom>
              <a:avLst/>
              <a:gdLst/>
              <a:ahLst/>
              <a:cxnLst/>
              <a:rect l="l" t="t" r="r" b="b"/>
              <a:pathLst>
                <a:path w="22126194" h="1428369">
                  <a:moveTo>
                    <a:pt x="0" y="0"/>
                  </a:moveTo>
                  <a:lnTo>
                    <a:pt x="22126194" y="0"/>
                  </a:lnTo>
                  <a:lnTo>
                    <a:pt x="22126194" y="1428369"/>
                  </a:lnTo>
                  <a:lnTo>
                    <a:pt x="0" y="14283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085850" y="5448002"/>
            <a:ext cx="7814221" cy="828033"/>
            <a:chOff x="0" y="0"/>
            <a:chExt cx="10418962" cy="11040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418962" cy="1104044"/>
            </a:xfrm>
            <a:custGeom>
              <a:avLst/>
              <a:gdLst/>
              <a:ahLst/>
              <a:cxnLst/>
              <a:rect l="l" t="t" r="r" b="b"/>
              <a:pathLst>
                <a:path w="10418962" h="1104044">
                  <a:moveTo>
                    <a:pt x="0" y="0"/>
                  </a:moveTo>
                  <a:lnTo>
                    <a:pt x="10418962" y="0"/>
                  </a:lnTo>
                  <a:lnTo>
                    <a:pt x="10418962" y="1104044"/>
                  </a:lnTo>
                  <a:lnTo>
                    <a:pt x="0" y="11040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10418962" cy="11897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Efficiency and Speed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Automates repetitive tasks, speeding up development and allowing faster feedback loops.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87929" y="5448002"/>
            <a:ext cx="7814221" cy="828033"/>
            <a:chOff x="0" y="0"/>
            <a:chExt cx="10418962" cy="11040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418962" cy="1104044"/>
            </a:xfrm>
            <a:custGeom>
              <a:avLst/>
              <a:gdLst/>
              <a:ahLst/>
              <a:cxnLst/>
              <a:rect l="l" t="t" r="r" b="b"/>
              <a:pathLst>
                <a:path w="10418962" h="1104044">
                  <a:moveTo>
                    <a:pt x="0" y="0"/>
                  </a:moveTo>
                  <a:lnTo>
                    <a:pt x="10418962" y="0"/>
                  </a:lnTo>
                  <a:lnTo>
                    <a:pt x="10418962" y="1104044"/>
                  </a:lnTo>
                  <a:lnTo>
                    <a:pt x="0" y="11040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10418962" cy="11897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Efficiency and Speed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Runs tests automatically on every change, providing quick validation.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6684" y="6366272"/>
            <a:ext cx="16594634" cy="1071265"/>
            <a:chOff x="0" y="0"/>
            <a:chExt cx="22126178" cy="142835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2126194" cy="1428369"/>
            </a:xfrm>
            <a:custGeom>
              <a:avLst/>
              <a:gdLst/>
              <a:ahLst/>
              <a:cxnLst/>
              <a:rect l="l" t="t" r="r" b="b"/>
              <a:pathLst>
                <a:path w="22126194" h="1428369">
                  <a:moveTo>
                    <a:pt x="0" y="0"/>
                  </a:moveTo>
                  <a:lnTo>
                    <a:pt x="22126194" y="0"/>
                  </a:lnTo>
                  <a:lnTo>
                    <a:pt x="22126194" y="1428369"/>
                  </a:lnTo>
                  <a:lnTo>
                    <a:pt x="0" y="14283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085850" y="6519267"/>
            <a:ext cx="7814221" cy="828033"/>
            <a:chOff x="0" y="0"/>
            <a:chExt cx="10418962" cy="110404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418962" cy="1104044"/>
            </a:xfrm>
            <a:custGeom>
              <a:avLst/>
              <a:gdLst/>
              <a:ahLst/>
              <a:cxnLst/>
              <a:rect l="l" t="t" r="r" b="b"/>
              <a:pathLst>
                <a:path w="10418962" h="1104044">
                  <a:moveTo>
                    <a:pt x="0" y="0"/>
                  </a:moveTo>
                  <a:lnTo>
                    <a:pt x="10418962" y="0"/>
                  </a:lnTo>
                  <a:lnTo>
                    <a:pt x="10418962" y="1104044"/>
                  </a:lnTo>
                  <a:lnTo>
                    <a:pt x="0" y="11040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10418962" cy="11897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Consistency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Ensures every build follows the same process, reducing environment discrepancies and deployment issues.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87929" y="6519267"/>
            <a:ext cx="7814221" cy="828033"/>
            <a:chOff x="0" y="0"/>
            <a:chExt cx="10418962" cy="11040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418962" cy="1104044"/>
            </a:xfrm>
            <a:custGeom>
              <a:avLst/>
              <a:gdLst/>
              <a:ahLst/>
              <a:cxnLst/>
              <a:rect l="l" t="t" r="r" b="b"/>
              <a:pathLst>
                <a:path w="10418962" h="1104044">
                  <a:moveTo>
                    <a:pt x="0" y="0"/>
                  </a:moveTo>
                  <a:lnTo>
                    <a:pt x="10418962" y="0"/>
                  </a:lnTo>
                  <a:lnTo>
                    <a:pt x="10418962" y="1104044"/>
                  </a:lnTo>
                  <a:lnTo>
                    <a:pt x="0" y="11040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10418962" cy="11897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Comprehensive Coverage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Supports unit, integration, and regression testing to cover all scenarios.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46684" y="7437536"/>
            <a:ext cx="16594634" cy="1071265"/>
            <a:chOff x="0" y="0"/>
            <a:chExt cx="22126178" cy="142835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126194" cy="1428369"/>
            </a:xfrm>
            <a:custGeom>
              <a:avLst/>
              <a:gdLst/>
              <a:ahLst/>
              <a:cxnLst/>
              <a:rect l="l" t="t" r="r" b="b"/>
              <a:pathLst>
                <a:path w="22126194" h="1428369">
                  <a:moveTo>
                    <a:pt x="0" y="0"/>
                  </a:moveTo>
                  <a:lnTo>
                    <a:pt x="22126194" y="0"/>
                  </a:lnTo>
                  <a:lnTo>
                    <a:pt x="22126194" y="1428369"/>
                  </a:lnTo>
                  <a:lnTo>
                    <a:pt x="0" y="14283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085850" y="7590533"/>
            <a:ext cx="7814221" cy="427983"/>
            <a:chOff x="0" y="0"/>
            <a:chExt cx="10418962" cy="57064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418962" cy="570644"/>
            </a:xfrm>
            <a:custGeom>
              <a:avLst/>
              <a:gdLst/>
              <a:ahLst/>
              <a:cxnLst/>
              <a:rect l="l" t="t" r="r" b="b"/>
              <a:pathLst>
                <a:path w="10418962" h="570644">
                  <a:moveTo>
                    <a:pt x="0" y="0"/>
                  </a:moveTo>
                  <a:lnTo>
                    <a:pt x="10418962" y="0"/>
                  </a:lnTo>
                  <a:lnTo>
                    <a:pt x="10418962" y="570644"/>
                  </a:lnTo>
                  <a:lnTo>
                    <a:pt x="0" y="5706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85725"/>
              <a:ext cx="10418962" cy="6563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Faster Releases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Speeds up development and deployment cycles.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387929" y="7590532"/>
            <a:ext cx="7814221" cy="828033"/>
            <a:chOff x="0" y="0"/>
            <a:chExt cx="10418962" cy="110404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418962" cy="1104044"/>
            </a:xfrm>
            <a:custGeom>
              <a:avLst/>
              <a:gdLst/>
              <a:ahLst/>
              <a:cxnLst/>
              <a:rect l="l" t="t" r="r" b="b"/>
              <a:pathLst>
                <a:path w="10418962" h="1104044">
                  <a:moveTo>
                    <a:pt x="0" y="0"/>
                  </a:moveTo>
                  <a:lnTo>
                    <a:pt x="10418962" y="0"/>
                  </a:lnTo>
                  <a:lnTo>
                    <a:pt x="10418962" y="1104044"/>
                  </a:lnTo>
                  <a:lnTo>
                    <a:pt x="0" y="11040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85725"/>
              <a:ext cx="10418962" cy="11897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Reduced Manual Effort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Minimizes repetitive manual testing, freeing up resources for critical tasks.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46684" y="8508801"/>
            <a:ext cx="16594634" cy="1071265"/>
            <a:chOff x="0" y="0"/>
            <a:chExt cx="22126178" cy="142835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126194" cy="1428369"/>
            </a:xfrm>
            <a:custGeom>
              <a:avLst/>
              <a:gdLst/>
              <a:ahLst/>
              <a:cxnLst/>
              <a:rect l="l" t="t" r="r" b="b"/>
              <a:pathLst>
                <a:path w="22126194" h="1428369">
                  <a:moveTo>
                    <a:pt x="0" y="0"/>
                  </a:moveTo>
                  <a:lnTo>
                    <a:pt x="22126194" y="0"/>
                  </a:lnTo>
                  <a:lnTo>
                    <a:pt x="22126194" y="1428369"/>
                  </a:lnTo>
                  <a:lnTo>
                    <a:pt x="0" y="14283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085850" y="8661798"/>
            <a:ext cx="7814221" cy="828033"/>
            <a:chOff x="0" y="0"/>
            <a:chExt cx="10418962" cy="110404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418962" cy="1104044"/>
            </a:xfrm>
            <a:custGeom>
              <a:avLst/>
              <a:gdLst/>
              <a:ahLst/>
              <a:cxnLst/>
              <a:rect l="l" t="t" r="r" b="b"/>
              <a:pathLst>
                <a:path w="10418962" h="1104044">
                  <a:moveTo>
                    <a:pt x="0" y="0"/>
                  </a:moveTo>
                  <a:lnTo>
                    <a:pt x="10418962" y="0"/>
                  </a:lnTo>
                  <a:lnTo>
                    <a:pt x="10418962" y="1104044"/>
                  </a:lnTo>
                  <a:lnTo>
                    <a:pt x="0" y="11040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85725"/>
              <a:ext cx="10418962" cy="11897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Improves Collaboration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Developers can work together without breaking the build.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387929" y="8661798"/>
            <a:ext cx="7814221" cy="828033"/>
            <a:chOff x="0" y="0"/>
            <a:chExt cx="10418962" cy="110404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418962" cy="1104044"/>
            </a:xfrm>
            <a:custGeom>
              <a:avLst/>
              <a:gdLst/>
              <a:ahLst/>
              <a:cxnLst/>
              <a:rect l="l" t="t" r="r" b="b"/>
              <a:pathLst>
                <a:path w="10418962" h="1104044">
                  <a:moveTo>
                    <a:pt x="0" y="0"/>
                  </a:moveTo>
                  <a:lnTo>
                    <a:pt x="10418962" y="0"/>
                  </a:lnTo>
                  <a:lnTo>
                    <a:pt x="10418962" y="1104044"/>
                  </a:lnTo>
                  <a:lnTo>
                    <a:pt x="0" y="11040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85725"/>
              <a:ext cx="10418962" cy="11897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59"/>
                </a:lnSpc>
              </a:pPr>
              <a:r>
                <a:rPr lang="en-US" sz="1974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Improved Collaboration</a:t>
              </a:r>
              <a:r>
                <a:rPr lang="en-US" sz="1974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– Provides automated feedback to developers, ensuring only tested code is merged.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34926" y="740122"/>
            <a:ext cx="8227962" cy="820042"/>
            <a:chOff x="0" y="0"/>
            <a:chExt cx="10970617" cy="10933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0616" cy="1093390"/>
            </a:xfrm>
            <a:custGeom>
              <a:avLst/>
              <a:gdLst/>
              <a:ahLst/>
              <a:cxnLst/>
              <a:rect l="l" t="t" r="r" b="b"/>
              <a:pathLst>
                <a:path w="10970616" h="1093390">
                  <a:moveTo>
                    <a:pt x="0" y="0"/>
                  </a:moveTo>
                  <a:lnTo>
                    <a:pt x="10970616" y="0"/>
                  </a:lnTo>
                  <a:lnTo>
                    <a:pt x="10970616" y="1093390"/>
                  </a:lnTo>
                  <a:lnTo>
                    <a:pt x="0" y="1093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970617" cy="11410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437"/>
                </a:lnSpc>
              </a:pPr>
              <a:r>
                <a:rPr lang="en-US" sz="5125" spc="-103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YML file Structure for CI/CD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4926" y="1733359"/>
            <a:ext cx="16618149" cy="867547"/>
            <a:chOff x="0" y="0"/>
            <a:chExt cx="22157532" cy="11567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57531" cy="1156729"/>
            </a:xfrm>
            <a:custGeom>
              <a:avLst/>
              <a:gdLst/>
              <a:ahLst/>
              <a:cxnLst/>
              <a:rect l="l" t="t" r="r" b="b"/>
              <a:pathLst>
                <a:path w="22157531" h="1156729">
                  <a:moveTo>
                    <a:pt x="0" y="0"/>
                  </a:moveTo>
                  <a:lnTo>
                    <a:pt x="22157531" y="0"/>
                  </a:lnTo>
                  <a:lnTo>
                    <a:pt x="22157531" y="1156729"/>
                  </a:lnTo>
                  <a:lnTo>
                    <a:pt x="0" y="11567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2157532" cy="12519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12935" lvl="1" indent="-156468" algn="l">
                <a:lnSpc>
                  <a:spcPts val="3319"/>
                </a:lnSpc>
                <a:buFont typeface="Arial"/>
                <a:buChar char="•"/>
              </a:pPr>
              <a:r>
                <a:rPr lang="en-US" sz="2074" b="1" spc="-4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YAML (.yaml) &amp; YML (.yml) are the same </a:t>
              </a:r>
              <a:r>
                <a:rPr lang="en-US" sz="2074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— just different file extensions. There’s no technical difference, .yaml is more standard, but .yml is still widely used!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34926" y="2743781"/>
            <a:ext cx="16618149" cy="448447"/>
            <a:chOff x="0" y="0"/>
            <a:chExt cx="22157532" cy="5979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57531" cy="597929"/>
            </a:xfrm>
            <a:custGeom>
              <a:avLst/>
              <a:gdLst/>
              <a:ahLst/>
              <a:cxnLst/>
              <a:rect l="l" t="t" r="r" b="b"/>
              <a:pathLst>
                <a:path w="22157531" h="597929">
                  <a:moveTo>
                    <a:pt x="0" y="0"/>
                  </a:moveTo>
                  <a:lnTo>
                    <a:pt x="22157531" y="0"/>
                  </a:lnTo>
                  <a:lnTo>
                    <a:pt x="22157531" y="597929"/>
                  </a:lnTo>
                  <a:lnTo>
                    <a:pt x="0" y="5979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2157532" cy="69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12935" lvl="1" indent="-156468" algn="l">
                <a:lnSpc>
                  <a:spcPts val="3319"/>
                </a:lnSpc>
                <a:buFont typeface="Arial"/>
                <a:buChar char="•"/>
              </a:pPr>
              <a:r>
                <a:rPr lang="en-US" sz="2074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YML file is used to define workflows in build automation tools, It follows a </a:t>
              </a:r>
              <a:r>
                <a:rPr lang="en-US" sz="2074" b="1" spc="-4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key-value</a:t>
              </a:r>
              <a:r>
                <a:rPr lang="en-US" sz="2074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format </a:t>
              </a:r>
              <a:r>
                <a:rPr lang="en-US" sz="2074" b="1" spc="-4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with indentation</a:t>
              </a:r>
              <a:r>
                <a:rPr lang="en-US" sz="2074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0164" y="3529161"/>
            <a:ext cx="3985171" cy="3359349"/>
            <a:chOff x="0" y="0"/>
            <a:chExt cx="5313562" cy="4479132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5300853" cy="4466463"/>
            </a:xfrm>
            <a:custGeom>
              <a:avLst/>
              <a:gdLst/>
              <a:ahLst/>
              <a:cxnLst/>
              <a:rect l="l" t="t" r="r" b="b"/>
              <a:pathLst>
                <a:path w="5300853" h="4466463">
                  <a:moveTo>
                    <a:pt x="0" y="133604"/>
                  </a:moveTo>
                  <a:cubicBezTo>
                    <a:pt x="0" y="59817"/>
                    <a:pt x="59817" y="0"/>
                    <a:pt x="133604" y="0"/>
                  </a:cubicBezTo>
                  <a:lnTo>
                    <a:pt x="5167249" y="0"/>
                  </a:lnTo>
                  <a:cubicBezTo>
                    <a:pt x="5241036" y="0"/>
                    <a:pt x="5300853" y="59817"/>
                    <a:pt x="5300853" y="133604"/>
                  </a:cubicBezTo>
                  <a:lnTo>
                    <a:pt x="5300853" y="4332859"/>
                  </a:lnTo>
                  <a:cubicBezTo>
                    <a:pt x="5300853" y="4406646"/>
                    <a:pt x="5241036" y="4466463"/>
                    <a:pt x="5167249" y="4466463"/>
                  </a:cubicBezTo>
                  <a:lnTo>
                    <a:pt x="133604" y="4466463"/>
                  </a:lnTo>
                  <a:cubicBezTo>
                    <a:pt x="59817" y="4466463"/>
                    <a:pt x="0" y="4406646"/>
                    <a:pt x="0" y="433285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313553" cy="4479163"/>
            </a:xfrm>
            <a:custGeom>
              <a:avLst/>
              <a:gdLst/>
              <a:ahLst/>
              <a:cxnLst/>
              <a:rect l="l" t="t" r="r" b="b"/>
              <a:pathLst>
                <a:path w="5313553" h="4479163">
                  <a:moveTo>
                    <a:pt x="0" y="139954"/>
                  </a:moveTo>
                  <a:cubicBezTo>
                    <a:pt x="0" y="62611"/>
                    <a:pt x="62738" y="0"/>
                    <a:pt x="139954" y="0"/>
                  </a:cubicBezTo>
                  <a:lnTo>
                    <a:pt x="5173599" y="0"/>
                  </a:lnTo>
                  <a:lnTo>
                    <a:pt x="5173599" y="6350"/>
                  </a:lnTo>
                  <a:lnTo>
                    <a:pt x="5173599" y="0"/>
                  </a:lnTo>
                  <a:cubicBezTo>
                    <a:pt x="5250942" y="0"/>
                    <a:pt x="5313553" y="62611"/>
                    <a:pt x="5313553" y="139954"/>
                  </a:cubicBezTo>
                  <a:lnTo>
                    <a:pt x="5307203" y="139954"/>
                  </a:lnTo>
                  <a:lnTo>
                    <a:pt x="5313553" y="139954"/>
                  </a:lnTo>
                  <a:lnTo>
                    <a:pt x="5313553" y="4339209"/>
                  </a:lnTo>
                  <a:lnTo>
                    <a:pt x="5307203" y="4339209"/>
                  </a:lnTo>
                  <a:lnTo>
                    <a:pt x="5313553" y="4339209"/>
                  </a:lnTo>
                  <a:cubicBezTo>
                    <a:pt x="5313553" y="4416552"/>
                    <a:pt x="5250815" y="4479163"/>
                    <a:pt x="5173599" y="4479163"/>
                  </a:cubicBezTo>
                  <a:lnTo>
                    <a:pt x="5173599" y="4472813"/>
                  </a:lnTo>
                  <a:lnTo>
                    <a:pt x="5173599" y="4479163"/>
                  </a:lnTo>
                  <a:lnTo>
                    <a:pt x="139954" y="4479163"/>
                  </a:lnTo>
                  <a:lnTo>
                    <a:pt x="139954" y="4472813"/>
                  </a:lnTo>
                  <a:lnTo>
                    <a:pt x="139954" y="4479163"/>
                  </a:lnTo>
                  <a:cubicBezTo>
                    <a:pt x="62738" y="4479163"/>
                    <a:pt x="0" y="4416425"/>
                    <a:pt x="0" y="4339209"/>
                  </a:cubicBezTo>
                  <a:lnTo>
                    <a:pt x="0" y="139954"/>
                  </a:lnTo>
                  <a:lnTo>
                    <a:pt x="6350" y="139954"/>
                  </a:lnTo>
                  <a:lnTo>
                    <a:pt x="0" y="139954"/>
                  </a:lnTo>
                  <a:moveTo>
                    <a:pt x="12700" y="139954"/>
                  </a:moveTo>
                  <a:lnTo>
                    <a:pt x="12700" y="4339209"/>
                  </a:lnTo>
                  <a:lnTo>
                    <a:pt x="6350" y="4339209"/>
                  </a:lnTo>
                  <a:lnTo>
                    <a:pt x="12700" y="4339209"/>
                  </a:lnTo>
                  <a:cubicBezTo>
                    <a:pt x="12700" y="4409440"/>
                    <a:pt x="69723" y="4466463"/>
                    <a:pt x="139954" y="4466463"/>
                  </a:cubicBezTo>
                  <a:lnTo>
                    <a:pt x="5173599" y="4466463"/>
                  </a:lnTo>
                  <a:cubicBezTo>
                    <a:pt x="5243957" y="4466463"/>
                    <a:pt x="5300853" y="4409440"/>
                    <a:pt x="5300853" y="4339209"/>
                  </a:cubicBezTo>
                  <a:lnTo>
                    <a:pt x="5300853" y="139954"/>
                  </a:lnTo>
                  <a:cubicBezTo>
                    <a:pt x="5300853" y="69723"/>
                    <a:pt x="5243830" y="12700"/>
                    <a:pt x="5173599" y="12700"/>
                  </a:cubicBezTo>
                  <a:lnTo>
                    <a:pt x="139954" y="12700"/>
                  </a:lnTo>
                  <a:lnTo>
                    <a:pt x="139954" y="6350"/>
                  </a:lnTo>
                  <a:lnTo>
                    <a:pt x="139954" y="12700"/>
                  </a:lnTo>
                  <a:cubicBezTo>
                    <a:pt x="69723" y="12700"/>
                    <a:pt x="12700" y="69723"/>
                    <a:pt x="12700" y="13995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83022" y="3782020"/>
            <a:ext cx="3479452" cy="530126"/>
            <a:chOff x="0" y="0"/>
            <a:chExt cx="4639270" cy="7068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639270" cy="706835"/>
            </a:xfrm>
            <a:custGeom>
              <a:avLst/>
              <a:gdLst/>
              <a:ahLst/>
              <a:cxnLst/>
              <a:rect l="l" t="t" r="r" b="b"/>
              <a:pathLst>
                <a:path w="4639270" h="706835">
                  <a:moveTo>
                    <a:pt x="0" y="0"/>
                  </a:moveTo>
                  <a:lnTo>
                    <a:pt x="4639270" y="0"/>
                  </a:lnTo>
                  <a:lnTo>
                    <a:pt x="4639270" y="706835"/>
                  </a:lnTo>
                  <a:lnTo>
                    <a:pt x="0" y="7068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4639270" cy="7925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b="1" spc="-62">
                  <a:solidFill>
                    <a:srgbClr val="0000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name: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022" y="4455170"/>
            <a:ext cx="3479452" cy="492026"/>
            <a:chOff x="0" y="0"/>
            <a:chExt cx="4639270" cy="6560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639270" cy="656035"/>
            </a:xfrm>
            <a:custGeom>
              <a:avLst/>
              <a:gdLst/>
              <a:ahLst/>
              <a:cxnLst/>
              <a:rect l="l" t="t" r="r" b="b"/>
              <a:pathLst>
                <a:path w="4639270" h="656035">
                  <a:moveTo>
                    <a:pt x="0" y="0"/>
                  </a:moveTo>
                  <a:lnTo>
                    <a:pt x="4639270" y="0"/>
                  </a:lnTo>
                  <a:lnTo>
                    <a:pt x="4639270" y="656035"/>
                  </a:lnTo>
                  <a:lnTo>
                    <a:pt x="0" y="6560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4639270" cy="6750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Workflow Name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83022" y="5090220"/>
            <a:ext cx="3479452" cy="763191"/>
            <a:chOff x="0" y="0"/>
            <a:chExt cx="4639270" cy="10175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639270" cy="1017588"/>
            </a:xfrm>
            <a:custGeom>
              <a:avLst/>
              <a:gdLst/>
              <a:ahLst/>
              <a:cxnLst/>
              <a:rect l="l" t="t" r="r" b="b"/>
              <a:pathLst>
                <a:path w="4639270" h="1017588">
                  <a:moveTo>
                    <a:pt x="0" y="0"/>
                  </a:moveTo>
                  <a:lnTo>
                    <a:pt x="4639270" y="0"/>
                  </a:lnTo>
                  <a:lnTo>
                    <a:pt x="4639270" y="1017588"/>
                  </a:lnTo>
                  <a:lnTo>
                    <a:pt x="0" y="1017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4639270" cy="1093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Defines the name of the workflow.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044380" y="3529161"/>
            <a:ext cx="3985171" cy="3359349"/>
            <a:chOff x="0" y="0"/>
            <a:chExt cx="5313562" cy="4479132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5300853" cy="4466463"/>
            </a:xfrm>
            <a:custGeom>
              <a:avLst/>
              <a:gdLst/>
              <a:ahLst/>
              <a:cxnLst/>
              <a:rect l="l" t="t" r="r" b="b"/>
              <a:pathLst>
                <a:path w="5300853" h="4466463">
                  <a:moveTo>
                    <a:pt x="0" y="133604"/>
                  </a:moveTo>
                  <a:cubicBezTo>
                    <a:pt x="0" y="59817"/>
                    <a:pt x="59817" y="0"/>
                    <a:pt x="133604" y="0"/>
                  </a:cubicBezTo>
                  <a:lnTo>
                    <a:pt x="5167249" y="0"/>
                  </a:lnTo>
                  <a:cubicBezTo>
                    <a:pt x="5241036" y="0"/>
                    <a:pt x="5300853" y="59817"/>
                    <a:pt x="5300853" y="133604"/>
                  </a:cubicBezTo>
                  <a:lnTo>
                    <a:pt x="5300853" y="4332859"/>
                  </a:lnTo>
                  <a:cubicBezTo>
                    <a:pt x="5300853" y="4406646"/>
                    <a:pt x="5241036" y="4466463"/>
                    <a:pt x="5167249" y="4466463"/>
                  </a:cubicBezTo>
                  <a:lnTo>
                    <a:pt x="133604" y="4466463"/>
                  </a:lnTo>
                  <a:cubicBezTo>
                    <a:pt x="59817" y="4466463"/>
                    <a:pt x="0" y="4406646"/>
                    <a:pt x="0" y="433285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5313553" cy="4479163"/>
            </a:xfrm>
            <a:custGeom>
              <a:avLst/>
              <a:gdLst/>
              <a:ahLst/>
              <a:cxnLst/>
              <a:rect l="l" t="t" r="r" b="b"/>
              <a:pathLst>
                <a:path w="5313553" h="4479163">
                  <a:moveTo>
                    <a:pt x="0" y="139954"/>
                  </a:moveTo>
                  <a:cubicBezTo>
                    <a:pt x="0" y="62611"/>
                    <a:pt x="62738" y="0"/>
                    <a:pt x="139954" y="0"/>
                  </a:cubicBezTo>
                  <a:lnTo>
                    <a:pt x="5173599" y="0"/>
                  </a:lnTo>
                  <a:lnTo>
                    <a:pt x="5173599" y="6350"/>
                  </a:lnTo>
                  <a:lnTo>
                    <a:pt x="5173599" y="0"/>
                  </a:lnTo>
                  <a:cubicBezTo>
                    <a:pt x="5250942" y="0"/>
                    <a:pt x="5313553" y="62611"/>
                    <a:pt x="5313553" y="139954"/>
                  </a:cubicBezTo>
                  <a:lnTo>
                    <a:pt x="5307203" y="139954"/>
                  </a:lnTo>
                  <a:lnTo>
                    <a:pt x="5313553" y="139954"/>
                  </a:lnTo>
                  <a:lnTo>
                    <a:pt x="5313553" y="4339209"/>
                  </a:lnTo>
                  <a:lnTo>
                    <a:pt x="5307203" y="4339209"/>
                  </a:lnTo>
                  <a:lnTo>
                    <a:pt x="5313553" y="4339209"/>
                  </a:lnTo>
                  <a:cubicBezTo>
                    <a:pt x="5313553" y="4416552"/>
                    <a:pt x="5250815" y="4479163"/>
                    <a:pt x="5173599" y="4479163"/>
                  </a:cubicBezTo>
                  <a:lnTo>
                    <a:pt x="5173599" y="4472813"/>
                  </a:lnTo>
                  <a:lnTo>
                    <a:pt x="5173599" y="4479163"/>
                  </a:lnTo>
                  <a:lnTo>
                    <a:pt x="139954" y="4479163"/>
                  </a:lnTo>
                  <a:lnTo>
                    <a:pt x="139954" y="4472813"/>
                  </a:lnTo>
                  <a:lnTo>
                    <a:pt x="139954" y="4479163"/>
                  </a:lnTo>
                  <a:cubicBezTo>
                    <a:pt x="62738" y="4479163"/>
                    <a:pt x="0" y="4416425"/>
                    <a:pt x="0" y="4339209"/>
                  </a:cubicBezTo>
                  <a:lnTo>
                    <a:pt x="0" y="139954"/>
                  </a:lnTo>
                  <a:lnTo>
                    <a:pt x="6350" y="139954"/>
                  </a:lnTo>
                  <a:lnTo>
                    <a:pt x="0" y="139954"/>
                  </a:lnTo>
                  <a:moveTo>
                    <a:pt x="12700" y="139954"/>
                  </a:moveTo>
                  <a:lnTo>
                    <a:pt x="12700" y="4339209"/>
                  </a:lnTo>
                  <a:lnTo>
                    <a:pt x="6350" y="4339209"/>
                  </a:lnTo>
                  <a:lnTo>
                    <a:pt x="12700" y="4339209"/>
                  </a:lnTo>
                  <a:cubicBezTo>
                    <a:pt x="12700" y="4409440"/>
                    <a:pt x="69723" y="4466463"/>
                    <a:pt x="139954" y="4466463"/>
                  </a:cubicBezTo>
                  <a:lnTo>
                    <a:pt x="5173599" y="4466463"/>
                  </a:lnTo>
                  <a:cubicBezTo>
                    <a:pt x="5243957" y="4466463"/>
                    <a:pt x="5300853" y="4409440"/>
                    <a:pt x="5300853" y="4339209"/>
                  </a:cubicBezTo>
                  <a:lnTo>
                    <a:pt x="5300853" y="139954"/>
                  </a:lnTo>
                  <a:cubicBezTo>
                    <a:pt x="5300853" y="69723"/>
                    <a:pt x="5243830" y="12700"/>
                    <a:pt x="5173599" y="12700"/>
                  </a:cubicBezTo>
                  <a:lnTo>
                    <a:pt x="139954" y="12700"/>
                  </a:lnTo>
                  <a:lnTo>
                    <a:pt x="139954" y="6350"/>
                  </a:lnTo>
                  <a:lnTo>
                    <a:pt x="139954" y="12700"/>
                  </a:lnTo>
                  <a:cubicBezTo>
                    <a:pt x="69723" y="12700"/>
                    <a:pt x="12700" y="69723"/>
                    <a:pt x="12700" y="13995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5297240" y="3782020"/>
            <a:ext cx="3479452" cy="530126"/>
            <a:chOff x="0" y="0"/>
            <a:chExt cx="4639270" cy="70683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39270" cy="706835"/>
            </a:xfrm>
            <a:custGeom>
              <a:avLst/>
              <a:gdLst/>
              <a:ahLst/>
              <a:cxnLst/>
              <a:rect l="l" t="t" r="r" b="b"/>
              <a:pathLst>
                <a:path w="4639270" h="706835">
                  <a:moveTo>
                    <a:pt x="0" y="0"/>
                  </a:moveTo>
                  <a:lnTo>
                    <a:pt x="4639270" y="0"/>
                  </a:lnTo>
                  <a:lnTo>
                    <a:pt x="4639270" y="706835"/>
                  </a:lnTo>
                  <a:lnTo>
                    <a:pt x="0" y="7068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4639270" cy="7925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b="1" spc="-62">
                  <a:solidFill>
                    <a:srgbClr val="0000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on: 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97240" y="4455170"/>
            <a:ext cx="3479452" cy="984051"/>
            <a:chOff x="0" y="0"/>
            <a:chExt cx="4639270" cy="131206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39270" cy="1312068"/>
            </a:xfrm>
            <a:custGeom>
              <a:avLst/>
              <a:gdLst/>
              <a:ahLst/>
              <a:cxnLst/>
              <a:rect l="l" t="t" r="r" b="b"/>
              <a:pathLst>
                <a:path w="4639270" h="1312068">
                  <a:moveTo>
                    <a:pt x="0" y="0"/>
                  </a:moveTo>
                  <a:lnTo>
                    <a:pt x="4639270" y="0"/>
                  </a:lnTo>
                  <a:lnTo>
                    <a:pt x="4639270" y="1312068"/>
                  </a:lnTo>
                  <a:lnTo>
                    <a:pt x="0" y="13120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639270" cy="13311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Triggers the Workflow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97240" y="5582245"/>
            <a:ext cx="3479452" cy="763191"/>
            <a:chOff x="0" y="0"/>
            <a:chExt cx="4639270" cy="101758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639270" cy="1017588"/>
            </a:xfrm>
            <a:custGeom>
              <a:avLst/>
              <a:gdLst/>
              <a:ahLst/>
              <a:cxnLst/>
              <a:rect l="l" t="t" r="r" b="b"/>
              <a:pathLst>
                <a:path w="4639270" h="1017588">
                  <a:moveTo>
                    <a:pt x="0" y="0"/>
                  </a:moveTo>
                  <a:lnTo>
                    <a:pt x="4639270" y="0"/>
                  </a:lnTo>
                  <a:lnTo>
                    <a:pt x="4639270" y="1017588"/>
                  </a:lnTo>
                  <a:lnTo>
                    <a:pt x="0" y="1017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76200"/>
              <a:ext cx="4639270" cy="1093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Specifies when the workflow should run.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258598" y="3529161"/>
            <a:ext cx="3985171" cy="3359349"/>
            <a:chOff x="0" y="0"/>
            <a:chExt cx="5313562" cy="4479132"/>
          </a:xfrm>
        </p:grpSpPr>
        <p:sp>
          <p:nvSpPr>
            <p:cNvPr id="40" name="Freeform 40"/>
            <p:cNvSpPr/>
            <p:nvPr/>
          </p:nvSpPr>
          <p:spPr>
            <a:xfrm>
              <a:off x="6350" y="6350"/>
              <a:ext cx="5300853" cy="4466463"/>
            </a:xfrm>
            <a:custGeom>
              <a:avLst/>
              <a:gdLst/>
              <a:ahLst/>
              <a:cxnLst/>
              <a:rect l="l" t="t" r="r" b="b"/>
              <a:pathLst>
                <a:path w="5300853" h="4466463">
                  <a:moveTo>
                    <a:pt x="0" y="133604"/>
                  </a:moveTo>
                  <a:cubicBezTo>
                    <a:pt x="0" y="59817"/>
                    <a:pt x="59817" y="0"/>
                    <a:pt x="133604" y="0"/>
                  </a:cubicBezTo>
                  <a:lnTo>
                    <a:pt x="5167249" y="0"/>
                  </a:lnTo>
                  <a:cubicBezTo>
                    <a:pt x="5241036" y="0"/>
                    <a:pt x="5300853" y="59817"/>
                    <a:pt x="5300853" y="133604"/>
                  </a:cubicBezTo>
                  <a:lnTo>
                    <a:pt x="5300853" y="4332859"/>
                  </a:lnTo>
                  <a:cubicBezTo>
                    <a:pt x="5300853" y="4406646"/>
                    <a:pt x="5241036" y="4466463"/>
                    <a:pt x="5167249" y="4466463"/>
                  </a:cubicBezTo>
                  <a:lnTo>
                    <a:pt x="133604" y="4466463"/>
                  </a:lnTo>
                  <a:cubicBezTo>
                    <a:pt x="59817" y="4466463"/>
                    <a:pt x="0" y="4406646"/>
                    <a:pt x="0" y="433285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5313553" cy="4479163"/>
            </a:xfrm>
            <a:custGeom>
              <a:avLst/>
              <a:gdLst/>
              <a:ahLst/>
              <a:cxnLst/>
              <a:rect l="l" t="t" r="r" b="b"/>
              <a:pathLst>
                <a:path w="5313553" h="4479163">
                  <a:moveTo>
                    <a:pt x="0" y="139954"/>
                  </a:moveTo>
                  <a:cubicBezTo>
                    <a:pt x="0" y="62611"/>
                    <a:pt x="62738" y="0"/>
                    <a:pt x="139954" y="0"/>
                  </a:cubicBezTo>
                  <a:lnTo>
                    <a:pt x="5173599" y="0"/>
                  </a:lnTo>
                  <a:lnTo>
                    <a:pt x="5173599" y="6350"/>
                  </a:lnTo>
                  <a:lnTo>
                    <a:pt x="5173599" y="0"/>
                  </a:lnTo>
                  <a:cubicBezTo>
                    <a:pt x="5250942" y="0"/>
                    <a:pt x="5313553" y="62611"/>
                    <a:pt x="5313553" y="139954"/>
                  </a:cubicBezTo>
                  <a:lnTo>
                    <a:pt x="5307203" y="139954"/>
                  </a:lnTo>
                  <a:lnTo>
                    <a:pt x="5313553" y="139954"/>
                  </a:lnTo>
                  <a:lnTo>
                    <a:pt x="5313553" y="4339209"/>
                  </a:lnTo>
                  <a:lnTo>
                    <a:pt x="5307203" y="4339209"/>
                  </a:lnTo>
                  <a:lnTo>
                    <a:pt x="5313553" y="4339209"/>
                  </a:lnTo>
                  <a:cubicBezTo>
                    <a:pt x="5313553" y="4416552"/>
                    <a:pt x="5250815" y="4479163"/>
                    <a:pt x="5173599" y="4479163"/>
                  </a:cubicBezTo>
                  <a:lnTo>
                    <a:pt x="5173599" y="4472813"/>
                  </a:lnTo>
                  <a:lnTo>
                    <a:pt x="5173599" y="4479163"/>
                  </a:lnTo>
                  <a:lnTo>
                    <a:pt x="139954" y="4479163"/>
                  </a:lnTo>
                  <a:lnTo>
                    <a:pt x="139954" y="4472813"/>
                  </a:lnTo>
                  <a:lnTo>
                    <a:pt x="139954" y="4479163"/>
                  </a:lnTo>
                  <a:cubicBezTo>
                    <a:pt x="62738" y="4479163"/>
                    <a:pt x="0" y="4416425"/>
                    <a:pt x="0" y="4339209"/>
                  </a:cubicBezTo>
                  <a:lnTo>
                    <a:pt x="0" y="139954"/>
                  </a:lnTo>
                  <a:lnTo>
                    <a:pt x="6350" y="139954"/>
                  </a:lnTo>
                  <a:lnTo>
                    <a:pt x="0" y="139954"/>
                  </a:lnTo>
                  <a:moveTo>
                    <a:pt x="12700" y="139954"/>
                  </a:moveTo>
                  <a:lnTo>
                    <a:pt x="12700" y="4339209"/>
                  </a:lnTo>
                  <a:lnTo>
                    <a:pt x="6350" y="4339209"/>
                  </a:lnTo>
                  <a:lnTo>
                    <a:pt x="12700" y="4339209"/>
                  </a:lnTo>
                  <a:cubicBezTo>
                    <a:pt x="12700" y="4409440"/>
                    <a:pt x="69723" y="4466463"/>
                    <a:pt x="139954" y="4466463"/>
                  </a:cubicBezTo>
                  <a:lnTo>
                    <a:pt x="5173599" y="4466463"/>
                  </a:lnTo>
                  <a:cubicBezTo>
                    <a:pt x="5243957" y="4466463"/>
                    <a:pt x="5300853" y="4409440"/>
                    <a:pt x="5300853" y="4339209"/>
                  </a:cubicBezTo>
                  <a:lnTo>
                    <a:pt x="5300853" y="139954"/>
                  </a:lnTo>
                  <a:cubicBezTo>
                    <a:pt x="5300853" y="69723"/>
                    <a:pt x="5243830" y="12700"/>
                    <a:pt x="5173599" y="12700"/>
                  </a:cubicBezTo>
                  <a:lnTo>
                    <a:pt x="139954" y="12700"/>
                  </a:lnTo>
                  <a:lnTo>
                    <a:pt x="139954" y="6350"/>
                  </a:lnTo>
                  <a:lnTo>
                    <a:pt x="139954" y="12700"/>
                  </a:lnTo>
                  <a:cubicBezTo>
                    <a:pt x="69723" y="12700"/>
                    <a:pt x="12700" y="69723"/>
                    <a:pt x="12700" y="13995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511456" y="3782020"/>
            <a:ext cx="3479452" cy="530126"/>
            <a:chOff x="0" y="0"/>
            <a:chExt cx="4639270" cy="70683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639270" cy="706835"/>
            </a:xfrm>
            <a:custGeom>
              <a:avLst/>
              <a:gdLst/>
              <a:ahLst/>
              <a:cxnLst/>
              <a:rect l="l" t="t" r="r" b="b"/>
              <a:pathLst>
                <a:path w="4639270" h="706835">
                  <a:moveTo>
                    <a:pt x="0" y="0"/>
                  </a:moveTo>
                  <a:lnTo>
                    <a:pt x="4639270" y="0"/>
                  </a:lnTo>
                  <a:lnTo>
                    <a:pt x="4639270" y="706835"/>
                  </a:lnTo>
                  <a:lnTo>
                    <a:pt x="0" y="7068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85725"/>
              <a:ext cx="4639270" cy="7925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b="1" spc="-62">
                  <a:solidFill>
                    <a:srgbClr val="0000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jobs: 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511456" y="4455170"/>
            <a:ext cx="3479452" cy="492026"/>
            <a:chOff x="0" y="0"/>
            <a:chExt cx="4639270" cy="65603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639270" cy="656035"/>
            </a:xfrm>
            <a:custGeom>
              <a:avLst/>
              <a:gdLst/>
              <a:ahLst/>
              <a:cxnLst/>
              <a:rect l="l" t="t" r="r" b="b"/>
              <a:pathLst>
                <a:path w="4639270" h="656035">
                  <a:moveTo>
                    <a:pt x="0" y="0"/>
                  </a:moveTo>
                  <a:lnTo>
                    <a:pt x="4639270" y="0"/>
                  </a:lnTo>
                  <a:lnTo>
                    <a:pt x="4639270" y="656035"/>
                  </a:lnTo>
                  <a:lnTo>
                    <a:pt x="0" y="6560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4639270" cy="6750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Defines Jobs to Run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11456" y="5090220"/>
            <a:ext cx="3479452" cy="763191"/>
            <a:chOff x="0" y="0"/>
            <a:chExt cx="4639270" cy="101758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639270" cy="1017588"/>
            </a:xfrm>
            <a:custGeom>
              <a:avLst/>
              <a:gdLst/>
              <a:ahLst/>
              <a:cxnLst/>
              <a:rect l="l" t="t" r="r" b="b"/>
              <a:pathLst>
                <a:path w="4639270" h="1017588">
                  <a:moveTo>
                    <a:pt x="0" y="0"/>
                  </a:moveTo>
                  <a:lnTo>
                    <a:pt x="4639270" y="0"/>
                  </a:lnTo>
                  <a:lnTo>
                    <a:pt x="4639270" y="1017588"/>
                  </a:lnTo>
                  <a:lnTo>
                    <a:pt x="0" y="1017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76200"/>
              <a:ext cx="4639270" cy="1093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Each CI/CD pipeline consists of multiple jobs.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472815" y="3529161"/>
            <a:ext cx="3985171" cy="3359349"/>
            <a:chOff x="0" y="0"/>
            <a:chExt cx="5313562" cy="4479132"/>
          </a:xfrm>
        </p:grpSpPr>
        <p:sp>
          <p:nvSpPr>
            <p:cNvPr id="52" name="Freeform 52"/>
            <p:cNvSpPr/>
            <p:nvPr/>
          </p:nvSpPr>
          <p:spPr>
            <a:xfrm>
              <a:off x="6350" y="6350"/>
              <a:ext cx="5300853" cy="4466463"/>
            </a:xfrm>
            <a:custGeom>
              <a:avLst/>
              <a:gdLst/>
              <a:ahLst/>
              <a:cxnLst/>
              <a:rect l="l" t="t" r="r" b="b"/>
              <a:pathLst>
                <a:path w="5300853" h="4466463">
                  <a:moveTo>
                    <a:pt x="0" y="133604"/>
                  </a:moveTo>
                  <a:cubicBezTo>
                    <a:pt x="0" y="59817"/>
                    <a:pt x="59817" y="0"/>
                    <a:pt x="133604" y="0"/>
                  </a:cubicBezTo>
                  <a:lnTo>
                    <a:pt x="5167249" y="0"/>
                  </a:lnTo>
                  <a:cubicBezTo>
                    <a:pt x="5241036" y="0"/>
                    <a:pt x="5300853" y="59817"/>
                    <a:pt x="5300853" y="133604"/>
                  </a:cubicBezTo>
                  <a:lnTo>
                    <a:pt x="5300853" y="4332859"/>
                  </a:lnTo>
                  <a:cubicBezTo>
                    <a:pt x="5300853" y="4406646"/>
                    <a:pt x="5241036" y="4466463"/>
                    <a:pt x="5167249" y="4466463"/>
                  </a:cubicBezTo>
                  <a:lnTo>
                    <a:pt x="133604" y="4466463"/>
                  </a:lnTo>
                  <a:cubicBezTo>
                    <a:pt x="59817" y="4466463"/>
                    <a:pt x="0" y="4406646"/>
                    <a:pt x="0" y="433285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0" y="0"/>
              <a:ext cx="5313553" cy="4479163"/>
            </a:xfrm>
            <a:custGeom>
              <a:avLst/>
              <a:gdLst/>
              <a:ahLst/>
              <a:cxnLst/>
              <a:rect l="l" t="t" r="r" b="b"/>
              <a:pathLst>
                <a:path w="5313553" h="4479163">
                  <a:moveTo>
                    <a:pt x="0" y="139954"/>
                  </a:moveTo>
                  <a:cubicBezTo>
                    <a:pt x="0" y="62611"/>
                    <a:pt x="62738" y="0"/>
                    <a:pt x="139954" y="0"/>
                  </a:cubicBezTo>
                  <a:lnTo>
                    <a:pt x="5173599" y="0"/>
                  </a:lnTo>
                  <a:lnTo>
                    <a:pt x="5173599" y="6350"/>
                  </a:lnTo>
                  <a:lnTo>
                    <a:pt x="5173599" y="0"/>
                  </a:lnTo>
                  <a:cubicBezTo>
                    <a:pt x="5250942" y="0"/>
                    <a:pt x="5313553" y="62611"/>
                    <a:pt x="5313553" y="139954"/>
                  </a:cubicBezTo>
                  <a:lnTo>
                    <a:pt x="5307203" y="139954"/>
                  </a:lnTo>
                  <a:lnTo>
                    <a:pt x="5313553" y="139954"/>
                  </a:lnTo>
                  <a:lnTo>
                    <a:pt x="5313553" y="4339209"/>
                  </a:lnTo>
                  <a:lnTo>
                    <a:pt x="5307203" y="4339209"/>
                  </a:lnTo>
                  <a:lnTo>
                    <a:pt x="5313553" y="4339209"/>
                  </a:lnTo>
                  <a:cubicBezTo>
                    <a:pt x="5313553" y="4416552"/>
                    <a:pt x="5250815" y="4479163"/>
                    <a:pt x="5173599" y="4479163"/>
                  </a:cubicBezTo>
                  <a:lnTo>
                    <a:pt x="5173599" y="4472813"/>
                  </a:lnTo>
                  <a:lnTo>
                    <a:pt x="5173599" y="4479163"/>
                  </a:lnTo>
                  <a:lnTo>
                    <a:pt x="139954" y="4479163"/>
                  </a:lnTo>
                  <a:lnTo>
                    <a:pt x="139954" y="4472813"/>
                  </a:lnTo>
                  <a:lnTo>
                    <a:pt x="139954" y="4479163"/>
                  </a:lnTo>
                  <a:cubicBezTo>
                    <a:pt x="62738" y="4479163"/>
                    <a:pt x="0" y="4416425"/>
                    <a:pt x="0" y="4339209"/>
                  </a:cubicBezTo>
                  <a:lnTo>
                    <a:pt x="0" y="139954"/>
                  </a:lnTo>
                  <a:lnTo>
                    <a:pt x="6350" y="139954"/>
                  </a:lnTo>
                  <a:lnTo>
                    <a:pt x="0" y="139954"/>
                  </a:lnTo>
                  <a:moveTo>
                    <a:pt x="12700" y="139954"/>
                  </a:moveTo>
                  <a:lnTo>
                    <a:pt x="12700" y="4339209"/>
                  </a:lnTo>
                  <a:lnTo>
                    <a:pt x="6350" y="4339209"/>
                  </a:lnTo>
                  <a:lnTo>
                    <a:pt x="12700" y="4339209"/>
                  </a:lnTo>
                  <a:cubicBezTo>
                    <a:pt x="12700" y="4409440"/>
                    <a:pt x="69723" y="4466463"/>
                    <a:pt x="139954" y="4466463"/>
                  </a:cubicBezTo>
                  <a:lnTo>
                    <a:pt x="5173599" y="4466463"/>
                  </a:lnTo>
                  <a:cubicBezTo>
                    <a:pt x="5243957" y="4466463"/>
                    <a:pt x="5300853" y="4409440"/>
                    <a:pt x="5300853" y="4339209"/>
                  </a:cubicBezTo>
                  <a:lnTo>
                    <a:pt x="5300853" y="139954"/>
                  </a:lnTo>
                  <a:cubicBezTo>
                    <a:pt x="5300853" y="69723"/>
                    <a:pt x="5243830" y="12700"/>
                    <a:pt x="5173599" y="12700"/>
                  </a:cubicBezTo>
                  <a:lnTo>
                    <a:pt x="139954" y="12700"/>
                  </a:lnTo>
                  <a:lnTo>
                    <a:pt x="139954" y="6350"/>
                  </a:lnTo>
                  <a:lnTo>
                    <a:pt x="139954" y="12700"/>
                  </a:lnTo>
                  <a:cubicBezTo>
                    <a:pt x="69723" y="12700"/>
                    <a:pt x="12700" y="69723"/>
                    <a:pt x="12700" y="13995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3725674" y="3782020"/>
            <a:ext cx="3479453" cy="530126"/>
            <a:chOff x="0" y="0"/>
            <a:chExt cx="4639270" cy="70683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639270" cy="706835"/>
            </a:xfrm>
            <a:custGeom>
              <a:avLst/>
              <a:gdLst/>
              <a:ahLst/>
              <a:cxnLst/>
              <a:rect l="l" t="t" r="r" b="b"/>
              <a:pathLst>
                <a:path w="4639270" h="706835">
                  <a:moveTo>
                    <a:pt x="0" y="0"/>
                  </a:moveTo>
                  <a:lnTo>
                    <a:pt x="4639270" y="0"/>
                  </a:lnTo>
                  <a:lnTo>
                    <a:pt x="4639270" y="706835"/>
                  </a:lnTo>
                  <a:lnTo>
                    <a:pt x="0" y="7068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85725"/>
              <a:ext cx="4639270" cy="7925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b="1" spc="-62">
                  <a:solidFill>
                    <a:srgbClr val="0000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steps: 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725674" y="4455170"/>
            <a:ext cx="3479453" cy="492026"/>
            <a:chOff x="0" y="0"/>
            <a:chExt cx="4639270" cy="65603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639270" cy="656035"/>
            </a:xfrm>
            <a:custGeom>
              <a:avLst/>
              <a:gdLst/>
              <a:ahLst/>
              <a:cxnLst/>
              <a:rect l="l" t="t" r="r" b="b"/>
              <a:pathLst>
                <a:path w="4639270" h="656035">
                  <a:moveTo>
                    <a:pt x="0" y="0"/>
                  </a:moveTo>
                  <a:lnTo>
                    <a:pt x="4639270" y="0"/>
                  </a:lnTo>
                  <a:lnTo>
                    <a:pt x="4639270" y="656035"/>
                  </a:lnTo>
                  <a:lnTo>
                    <a:pt x="0" y="6560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4639270" cy="6750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Tasks Inside a Job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725674" y="5090220"/>
            <a:ext cx="3479453" cy="1545431"/>
            <a:chOff x="0" y="0"/>
            <a:chExt cx="4639270" cy="206057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639270" cy="2060575"/>
            </a:xfrm>
            <a:custGeom>
              <a:avLst/>
              <a:gdLst/>
              <a:ahLst/>
              <a:cxnLst/>
              <a:rect l="l" t="t" r="r" b="b"/>
              <a:pathLst>
                <a:path w="4639270" h="2060575">
                  <a:moveTo>
                    <a:pt x="0" y="0"/>
                  </a:moveTo>
                  <a:lnTo>
                    <a:pt x="4639270" y="0"/>
                  </a:lnTo>
                  <a:lnTo>
                    <a:pt x="4639270" y="2060575"/>
                  </a:lnTo>
                  <a:lnTo>
                    <a:pt x="0" y="20605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76200"/>
              <a:ext cx="4639270" cy="21367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Each job has sequential steps that run built-in commands (run:) or use reusable GitHub Actions (uses:).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30164" y="7117556"/>
            <a:ext cx="5389810" cy="2434084"/>
            <a:chOff x="0" y="0"/>
            <a:chExt cx="7186413" cy="3245445"/>
          </a:xfrm>
        </p:grpSpPr>
        <p:sp>
          <p:nvSpPr>
            <p:cNvPr id="64" name="Freeform 64"/>
            <p:cNvSpPr/>
            <p:nvPr/>
          </p:nvSpPr>
          <p:spPr>
            <a:xfrm>
              <a:off x="6350" y="6350"/>
              <a:ext cx="7173722" cy="3232785"/>
            </a:xfrm>
            <a:custGeom>
              <a:avLst/>
              <a:gdLst/>
              <a:ahLst/>
              <a:cxnLst/>
              <a:rect l="l" t="t" r="r" b="b"/>
              <a:pathLst>
                <a:path w="7173722" h="3232785">
                  <a:moveTo>
                    <a:pt x="0" y="133604"/>
                  </a:moveTo>
                  <a:cubicBezTo>
                    <a:pt x="0" y="59817"/>
                    <a:pt x="59944" y="0"/>
                    <a:pt x="133858" y="0"/>
                  </a:cubicBezTo>
                  <a:lnTo>
                    <a:pt x="7039864" y="0"/>
                  </a:lnTo>
                  <a:cubicBezTo>
                    <a:pt x="7113778" y="0"/>
                    <a:pt x="7173722" y="59817"/>
                    <a:pt x="7173722" y="133604"/>
                  </a:cubicBezTo>
                  <a:lnTo>
                    <a:pt x="7173722" y="3099181"/>
                  </a:lnTo>
                  <a:cubicBezTo>
                    <a:pt x="7173722" y="3172968"/>
                    <a:pt x="7113778" y="3232785"/>
                    <a:pt x="7039864" y="3232785"/>
                  </a:cubicBezTo>
                  <a:lnTo>
                    <a:pt x="133858" y="3232785"/>
                  </a:lnTo>
                  <a:cubicBezTo>
                    <a:pt x="59944" y="3232785"/>
                    <a:pt x="0" y="3172968"/>
                    <a:pt x="0" y="3099181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65" name="Freeform 65"/>
            <p:cNvSpPr/>
            <p:nvPr/>
          </p:nvSpPr>
          <p:spPr>
            <a:xfrm>
              <a:off x="0" y="0"/>
              <a:ext cx="7186422" cy="3245485"/>
            </a:xfrm>
            <a:custGeom>
              <a:avLst/>
              <a:gdLst/>
              <a:ahLst/>
              <a:cxnLst/>
              <a:rect l="l" t="t" r="r" b="b"/>
              <a:pathLst>
                <a:path w="7186422" h="3245485">
                  <a:moveTo>
                    <a:pt x="0" y="139954"/>
                  </a:moveTo>
                  <a:cubicBezTo>
                    <a:pt x="0" y="62611"/>
                    <a:pt x="62865" y="0"/>
                    <a:pt x="140208" y="0"/>
                  </a:cubicBezTo>
                  <a:lnTo>
                    <a:pt x="7046214" y="0"/>
                  </a:lnTo>
                  <a:lnTo>
                    <a:pt x="7046214" y="6350"/>
                  </a:lnTo>
                  <a:lnTo>
                    <a:pt x="7046214" y="0"/>
                  </a:lnTo>
                  <a:cubicBezTo>
                    <a:pt x="7123684" y="0"/>
                    <a:pt x="7186422" y="62611"/>
                    <a:pt x="7186422" y="139954"/>
                  </a:cubicBezTo>
                  <a:lnTo>
                    <a:pt x="7180072" y="139954"/>
                  </a:lnTo>
                  <a:lnTo>
                    <a:pt x="7186422" y="139954"/>
                  </a:lnTo>
                  <a:lnTo>
                    <a:pt x="7186422" y="3105531"/>
                  </a:lnTo>
                  <a:lnTo>
                    <a:pt x="7180072" y="3105531"/>
                  </a:lnTo>
                  <a:lnTo>
                    <a:pt x="7186422" y="3105531"/>
                  </a:lnTo>
                  <a:cubicBezTo>
                    <a:pt x="7186422" y="3182874"/>
                    <a:pt x="7123557" y="3245485"/>
                    <a:pt x="7046214" y="3245485"/>
                  </a:cubicBezTo>
                  <a:lnTo>
                    <a:pt x="7046214" y="3239135"/>
                  </a:lnTo>
                  <a:lnTo>
                    <a:pt x="7046214" y="3245485"/>
                  </a:lnTo>
                  <a:lnTo>
                    <a:pt x="140208" y="3245485"/>
                  </a:lnTo>
                  <a:lnTo>
                    <a:pt x="140208" y="3239135"/>
                  </a:lnTo>
                  <a:lnTo>
                    <a:pt x="140208" y="3245485"/>
                  </a:lnTo>
                  <a:cubicBezTo>
                    <a:pt x="62865" y="3245485"/>
                    <a:pt x="0" y="3182747"/>
                    <a:pt x="0" y="3105531"/>
                  </a:cubicBezTo>
                  <a:lnTo>
                    <a:pt x="0" y="139954"/>
                  </a:lnTo>
                  <a:lnTo>
                    <a:pt x="6350" y="139954"/>
                  </a:lnTo>
                  <a:lnTo>
                    <a:pt x="0" y="139954"/>
                  </a:lnTo>
                  <a:moveTo>
                    <a:pt x="12700" y="139954"/>
                  </a:moveTo>
                  <a:lnTo>
                    <a:pt x="12700" y="3105531"/>
                  </a:lnTo>
                  <a:lnTo>
                    <a:pt x="6350" y="3105531"/>
                  </a:lnTo>
                  <a:lnTo>
                    <a:pt x="12700" y="3105531"/>
                  </a:lnTo>
                  <a:cubicBezTo>
                    <a:pt x="12700" y="3175762"/>
                    <a:pt x="69850" y="3232785"/>
                    <a:pt x="140208" y="3232785"/>
                  </a:cubicBezTo>
                  <a:lnTo>
                    <a:pt x="7046214" y="3232785"/>
                  </a:lnTo>
                  <a:cubicBezTo>
                    <a:pt x="7116699" y="3232785"/>
                    <a:pt x="7173722" y="3175762"/>
                    <a:pt x="7173722" y="3105531"/>
                  </a:cubicBezTo>
                  <a:lnTo>
                    <a:pt x="7173722" y="139954"/>
                  </a:lnTo>
                  <a:cubicBezTo>
                    <a:pt x="7173722" y="69723"/>
                    <a:pt x="7116572" y="12700"/>
                    <a:pt x="7046214" y="12700"/>
                  </a:cubicBezTo>
                  <a:lnTo>
                    <a:pt x="140208" y="12700"/>
                  </a:lnTo>
                  <a:lnTo>
                    <a:pt x="140208" y="6350"/>
                  </a:lnTo>
                  <a:lnTo>
                    <a:pt x="140208" y="12700"/>
                  </a:lnTo>
                  <a:cubicBezTo>
                    <a:pt x="69850" y="12700"/>
                    <a:pt x="12700" y="69723"/>
                    <a:pt x="12700" y="13995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083022" y="7370415"/>
            <a:ext cx="4884092" cy="1022151"/>
            <a:chOff x="0" y="0"/>
            <a:chExt cx="6512123" cy="136286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512123" cy="1362868"/>
            </a:xfrm>
            <a:custGeom>
              <a:avLst/>
              <a:gdLst/>
              <a:ahLst/>
              <a:cxnLst/>
              <a:rect l="l" t="t" r="r" b="b"/>
              <a:pathLst>
                <a:path w="6512123" h="1362868">
                  <a:moveTo>
                    <a:pt x="0" y="0"/>
                  </a:moveTo>
                  <a:lnTo>
                    <a:pt x="6512123" y="0"/>
                  </a:lnTo>
                  <a:lnTo>
                    <a:pt x="6512123" y="1362868"/>
                  </a:lnTo>
                  <a:lnTo>
                    <a:pt x="0" y="13628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6512123" cy="1381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runs-on:  Selects the Runner OS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83022" y="8535591"/>
            <a:ext cx="4884092" cy="763191"/>
            <a:chOff x="0" y="0"/>
            <a:chExt cx="6512123" cy="101758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512123" cy="1017588"/>
            </a:xfrm>
            <a:custGeom>
              <a:avLst/>
              <a:gdLst/>
              <a:ahLst/>
              <a:cxnLst/>
              <a:rect l="l" t="t" r="r" b="b"/>
              <a:pathLst>
                <a:path w="6512123" h="1017588">
                  <a:moveTo>
                    <a:pt x="0" y="0"/>
                  </a:moveTo>
                  <a:lnTo>
                    <a:pt x="6512123" y="0"/>
                  </a:lnTo>
                  <a:lnTo>
                    <a:pt x="6512123" y="1017588"/>
                  </a:lnTo>
                  <a:lnTo>
                    <a:pt x="0" y="1017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76200"/>
              <a:ext cx="6512123" cy="1093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Specifies the environment for execution (e.g., Ubuntu, Windows, macOS).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49020" y="7117556"/>
            <a:ext cx="5389810" cy="2434084"/>
            <a:chOff x="0" y="0"/>
            <a:chExt cx="7186413" cy="3245445"/>
          </a:xfrm>
        </p:grpSpPr>
        <p:sp>
          <p:nvSpPr>
            <p:cNvPr id="73" name="Freeform 73"/>
            <p:cNvSpPr/>
            <p:nvPr/>
          </p:nvSpPr>
          <p:spPr>
            <a:xfrm>
              <a:off x="6350" y="6350"/>
              <a:ext cx="7173722" cy="3232785"/>
            </a:xfrm>
            <a:custGeom>
              <a:avLst/>
              <a:gdLst/>
              <a:ahLst/>
              <a:cxnLst/>
              <a:rect l="l" t="t" r="r" b="b"/>
              <a:pathLst>
                <a:path w="7173722" h="3232785">
                  <a:moveTo>
                    <a:pt x="0" y="133604"/>
                  </a:moveTo>
                  <a:cubicBezTo>
                    <a:pt x="0" y="59817"/>
                    <a:pt x="59944" y="0"/>
                    <a:pt x="133858" y="0"/>
                  </a:cubicBezTo>
                  <a:lnTo>
                    <a:pt x="7039864" y="0"/>
                  </a:lnTo>
                  <a:cubicBezTo>
                    <a:pt x="7113778" y="0"/>
                    <a:pt x="7173722" y="59817"/>
                    <a:pt x="7173722" y="133604"/>
                  </a:cubicBezTo>
                  <a:lnTo>
                    <a:pt x="7173722" y="3099181"/>
                  </a:lnTo>
                  <a:cubicBezTo>
                    <a:pt x="7173722" y="3172968"/>
                    <a:pt x="7113778" y="3232785"/>
                    <a:pt x="7039864" y="3232785"/>
                  </a:cubicBezTo>
                  <a:lnTo>
                    <a:pt x="133858" y="3232785"/>
                  </a:lnTo>
                  <a:cubicBezTo>
                    <a:pt x="59944" y="3232785"/>
                    <a:pt x="0" y="3172968"/>
                    <a:pt x="0" y="3099181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0" y="0"/>
              <a:ext cx="7186422" cy="3245485"/>
            </a:xfrm>
            <a:custGeom>
              <a:avLst/>
              <a:gdLst/>
              <a:ahLst/>
              <a:cxnLst/>
              <a:rect l="l" t="t" r="r" b="b"/>
              <a:pathLst>
                <a:path w="7186422" h="3245485">
                  <a:moveTo>
                    <a:pt x="0" y="139954"/>
                  </a:moveTo>
                  <a:cubicBezTo>
                    <a:pt x="0" y="62611"/>
                    <a:pt x="62865" y="0"/>
                    <a:pt x="140208" y="0"/>
                  </a:cubicBezTo>
                  <a:lnTo>
                    <a:pt x="7046214" y="0"/>
                  </a:lnTo>
                  <a:lnTo>
                    <a:pt x="7046214" y="6350"/>
                  </a:lnTo>
                  <a:lnTo>
                    <a:pt x="7046214" y="0"/>
                  </a:lnTo>
                  <a:cubicBezTo>
                    <a:pt x="7123684" y="0"/>
                    <a:pt x="7186422" y="62611"/>
                    <a:pt x="7186422" y="139954"/>
                  </a:cubicBezTo>
                  <a:lnTo>
                    <a:pt x="7180072" y="139954"/>
                  </a:lnTo>
                  <a:lnTo>
                    <a:pt x="7186422" y="139954"/>
                  </a:lnTo>
                  <a:lnTo>
                    <a:pt x="7186422" y="3105531"/>
                  </a:lnTo>
                  <a:lnTo>
                    <a:pt x="7180072" y="3105531"/>
                  </a:lnTo>
                  <a:lnTo>
                    <a:pt x="7186422" y="3105531"/>
                  </a:lnTo>
                  <a:cubicBezTo>
                    <a:pt x="7186422" y="3182874"/>
                    <a:pt x="7123557" y="3245485"/>
                    <a:pt x="7046214" y="3245485"/>
                  </a:cubicBezTo>
                  <a:lnTo>
                    <a:pt x="7046214" y="3239135"/>
                  </a:lnTo>
                  <a:lnTo>
                    <a:pt x="7046214" y="3245485"/>
                  </a:lnTo>
                  <a:lnTo>
                    <a:pt x="140208" y="3245485"/>
                  </a:lnTo>
                  <a:lnTo>
                    <a:pt x="140208" y="3239135"/>
                  </a:lnTo>
                  <a:lnTo>
                    <a:pt x="140208" y="3245485"/>
                  </a:lnTo>
                  <a:cubicBezTo>
                    <a:pt x="62865" y="3245485"/>
                    <a:pt x="0" y="3182747"/>
                    <a:pt x="0" y="3105531"/>
                  </a:cubicBezTo>
                  <a:lnTo>
                    <a:pt x="0" y="139954"/>
                  </a:lnTo>
                  <a:lnTo>
                    <a:pt x="6350" y="139954"/>
                  </a:lnTo>
                  <a:lnTo>
                    <a:pt x="0" y="139954"/>
                  </a:lnTo>
                  <a:moveTo>
                    <a:pt x="12700" y="139954"/>
                  </a:moveTo>
                  <a:lnTo>
                    <a:pt x="12700" y="3105531"/>
                  </a:lnTo>
                  <a:lnTo>
                    <a:pt x="6350" y="3105531"/>
                  </a:lnTo>
                  <a:lnTo>
                    <a:pt x="12700" y="3105531"/>
                  </a:lnTo>
                  <a:cubicBezTo>
                    <a:pt x="12700" y="3175762"/>
                    <a:pt x="69850" y="3232785"/>
                    <a:pt x="140208" y="3232785"/>
                  </a:cubicBezTo>
                  <a:lnTo>
                    <a:pt x="7046214" y="3232785"/>
                  </a:lnTo>
                  <a:cubicBezTo>
                    <a:pt x="7116699" y="3232785"/>
                    <a:pt x="7173722" y="3175762"/>
                    <a:pt x="7173722" y="3105531"/>
                  </a:cubicBezTo>
                  <a:lnTo>
                    <a:pt x="7173722" y="139954"/>
                  </a:lnTo>
                  <a:cubicBezTo>
                    <a:pt x="7173722" y="69723"/>
                    <a:pt x="7116572" y="12700"/>
                    <a:pt x="7046214" y="12700"/>
                  </a:cubicBezTo>
                  <a:lnTo>
                    <a:pt x="140208" y="12700"/>
                  </a:lnTo>
                  <a:lnTo>
                    <a:pt x="140208" y="6350"/>
                  </a:lnTo>
                  <a:lnTo>
                    <a:pt x="140208" y="12700"/>
                  </a:lnTo>
                  <a:cubicBezTo>
                    <a:pt x="69850" y="12700"/>
                    <a:pt x="12700" y="69723"/>
                    <a:pt x="12700" y="13995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6701879" y="7370415"/>
            <a:ext cx="4639121" cy="530126"/>
            <a:chOff x="0" y="0"/>
            <a:chExt cx="6185495" cy="70683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185495" cy="706835"/>
            </a:xfrm>
            <a:custGeom>
              <a:avLst/>
              <a:gdLst/>
              <a:ahLst/>
              <a:cxnLst/>
              <a:rect l="l" t="t" r="r" b="b"/>
              <a:pathLst>
                <a:path w="6185495" h="706835">
                  <a:moveTo>
                    <a:pt x="0" y="0"/>
                  </a:moveTo>
                  <a:lnTo>
                    <a:pt x="6185495" y="0"/>
                  </a:lnTo>
                  <a:lnTo>
                    <a:pt x="6185495" y="706835"/>
                  </a:lnTo>
                  <a:lnTo>
                    <a:pt x="0" y="7068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6185495" cy="7258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env: Defines Env Variables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701879" y="8043565"/>
            <a:ext cx="4884092" cy="763191"/>
            <a:chOff x="0" y="0"/>
            <a:chExt cx="6512123" cy="101758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512123" cy="1017588"/>
            </a:xfrm>
            <a:custGeom>
              <a:avLst/>
              <a:gdLst/>
              <a:ahLst/>
              <a:cxnLst/>
              <a:rect l="l" t="t" r="r" b="b"/>
              <a:pathLst>
                <a:path w="6512123" h="1017588">
                  <a:moveTo>
                    <a:pt x="0" y="0"/>
                  </a:moveTo>
                  <a:lnTo>
                    <a:pt x="6512123" y="0"/>
                  </a:lnTo>
                  <a:lnTo>
                    <a:pt x="6512123" y="1017588"/>
                  </a:lnTo>
                  <a:lnTo>
                    <a:pt x="0" y="1017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0" name="TextBox 80"/>
            <p:cNvSpPr txBox="1"/>
            <p:nvPr/>
          </p:nvSpPr>
          <p:spPr>
            <a:xfrm>
              <a:off x="0" y="-76200"/>
              <a:ext cx="6512123" cy="1093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Used to store reusable environment variables.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067878" y="7117556"/>
            <a:ext cx="5389810" cy="2434084"/>
            <a:chOff x="0" y="0"/>
            <a:chExt cx="7186413" cy="3245445"/>
          </a:xfrm>
        </p:grpSpPr>
        <p:sp>
          <p:nvSpPr>
            <p:cNvPr id="82" name="Freeform 82"/>
            <p:cNvSpPr/>
            <p:nvPr/>
          </p:nvSpPr>
          <p:spPr>
            <a:xfrm>
              <a:off x="6350" y="6350"/>
              <a:ext cx="7173722" cy="3232785"/>
            </a:xfrm>
            <a:custGeom>
              <a:avLst/>
              <a:gdLst/>
              <a:ahLst/>
              <a:cxnLst/>
              <a:rect l="l" t="t" r="r" b="b"/>
              <a:pathLst>
                <a:path w="7173722" h="3232785">
                  <a:moveTo>
                    <a:pt x="0" y="133604"/>
                  </a:moveTo>
                  <a:cubicBezTo>
                    <a:pt x="0" y="59817"/>
                    <a:pt x="59944" y="0"/>
                    <a:pt x="133858" y="0"/>
                  </a:cubicBezTo>
                  <a:lnTo>
                    <a:pt x="7039864" y="0"/>
                  </a:lnTo>
                  <a:cubicBezTo>
                    <a:pt x="7113778" y="0"/>
                    <a:pt x="7173722" y="59817"/>
                    <a:pt x="7173722" y="133604"/>
                  </a:cubicBezTo>
                  <a:lnTo>
                    <a:pt x="7173722" y="3099181"/>
                  </a:lnTo>
                  <a:cubicBezTo>
                    <a:pt x="7173722" y="3172968"/>
                    <a:pt x="7113778" y="3232785"/>
                    <a:pt x="7039864" y="3232785"/>
                  </a:cubicBezTo>
                  <a:lnTo>
                    <a:pt x="133858" y="3232785"/>
                  </a:lnTo>
                  <a:cubicBezTo>
                    <a:pt x="59944" y="3232785"/>
                    <a:pt x="0" y="3172968"/>
                    <a:pt x="0" y="3099181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7186422" cy="3245485"/>
            </a:xfrm>
            <a:custGeom>
              <a:avLst/>
              <a:gdLst/>
              <a:ahLst/>
              <a:cxnLst/>
              <a:rect l="l" t="t" r="r" b="b"/>
              <a:pathLst>
                <a:path w="7186422" h="3245485">
                  <a:moveTo>
                    <a:pt x="0" y="139954"/>
                  </a:moveTo>
                  <a:cubicBezTo>
                    <a:pt x="0" y="62611"/>
                    <a:pt x="62865" y="0"/>
                    <a:pt x="140208" y="0"/>
                  </a:cubicBezTo>
                  <a:lnTo>
                    <a:pt x="7046214" y="0"/>
                  </a:lnTo>
                  <a:lnTo>
                    <a:pt x="7046214" y="6350"/>
                  </a:lnTo>
                  <a:lnTo>
                    <a:pt x="7046214" y="0"/>
                  </a:lnTo>
                  <a:cubicBezTo>
                    <a:pt x="7123684" y="0"/>
                    <a:pt x="7186422" y="62611"/>
                    <a:pt x="7186422" y="139954"/>
                  </a:cubicBezTo>
                  <a:lnTo>
                    <a:pt x="7180072" y="139954"/>
                  </a:lnTo>
                  <a:lnTo>
                    <a:pt x="7186422" y="139954"/>
                  </a:lnTo>
                  <a:lnTo>
                    <a:pt x="7186422" y="3105531"/>
                  </a:lnTo>
                  <a:lnTo>
                    <a:pt x="7180072" y="3105531"/>
                  </a:lnTo>
                  <a:lnTo>
                    <a:pt x="7186422" y="3105531"/>
                  </a:lnTo>
                  <a:cubicBezTo>
                    <a:pt x="7186422" y="3182874"/>
                    <a:pt x="7123557" y="3245485"/>
                    <a:pt x="7046214" y="3245485"/>
                  </a:cubicBezTo>
                  <a:lnTo>
                    <a:pt x="7046214" y="3239135"/>
                  </a:lnTo>
                  <a:lnTo>
                    <a:pt x="7046214" y="3245485"/>
                  </a:lnTo>
                  <a:lnTo>
                    <a:pt x="140208" y="3245485"/>
                  </a:lnTo>
                  <a:lnTo>
                    <a:pt x="140208" y="3239135"/>
                  </a:lnTo>
                  <a:lnTo>
                    <a:pt x="140208" y="3245485"/>
                  </a:lnTo>
                  <a:cubicBezTo>
                    <a:pt x="62865" y="3245485"/>
                    <a:pt x="0" y="3182747"/>
                    <a:pt x="0" y="3105531"/>
                  </a:cubicBezTo>
                  <a:lnTo>
                    <a:pt x="0" y="139954"/>
                  </a:lnTo>
                  <a:lnTo>
                    <a:pt x="6350" y="139954"/>
                  </a:lnTo>
                  <a:lnTo>
                    <a:pt x="0" y="139954"/>
                  </a:lnTo>
                  <a:moveTo>
                    <a:pt x="12700" y="139954"/>
                  </a:moveTo>
                  <a:lnTo>
                    <a:pt x="12700" y="3105531"/>
                  </a:lnTo>
                  <a:lnTo>
                    <a:pt x="6350" y="3105531"/>
                  </a:lnTo>
                  <a:lnTo>
                    <a:pt x="12700" y="3105531"/>
                  </a:lnTo>
                  <a:cubicBezTo>
                    <a:pt x="12700" y="3175762"/>
                    <a:pt x="69850" y="3232785"/>
                    <a:pt x="140208" y="3232785"/>
                  </a:cubicBezTo>
                  <a:lnTo>
                    <a:pt x="7046214" y="3232785"/>
                  </a:lnTo>
                  <a:cubicBezTo>
                    <a:pt x="7116699" y="3232785"/>
                    <a:pt x="7173722" y="3175762"/>
                    <a:pt x="7173722" y="3105531"/>
                  </a:cubicBezTo>
                  <a:lnTo>
                    <a:pt x="7173722" y="139954"/>
                  </a:lnTo>
                  <a:cubicBezTo>
                    <a:pt x="7173722" y="69723"/>
                    <a:pt x="7116572" y="12700"/>
                    <a:pt x="7046214" y="12700"/>
                  </a:cubicBezTo>
                  <a:lnTo>
                    <a:pt x="140208" y="12700"/>
                  </a:lnTo>
                  <a:lnTo>
                    <a:pt x="140208" y="6350"/>
                  </a:lnTo>
                  <a:lnTo>
                    <a:pt x="140208" y="12700"/>
                  </a:lnTo>
                  <a:cubicBezTo>
                    <a:pt x="69850" y="12700"/>
                    <a:pt x="12700" y="69723"/>
                    <a:pt x="12700" y="13995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12320736" y="7370415"/>
            <a:ext cx="4884092" cy="1022151"/>
            <a:chOff x="0" y="0"/>
            <a:chExt cx="6512123" cy="136286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512123" cy="1362868"/>
            </a:xfrm>
            <a:custGeom>
              <a:avLst/>
              <a:gdLst/>
              <a:ahLst/>
              <a:cxnLst/>
              <a:rect l="l" t="t" r="r" b="b"/>
              <a:pathLst>
                <a:path w="6512123" h="1362868">
                  <a:moveTo>
                    <a:pt x="0" y="0"/>
                  </a:moveTo>
                  <a:lnTo>
                    <a:pt x="6512123" y="0"/>
                  </a:lnTo>
                  <a:lnTo>
                    <a:pt x="6512123" y="1362868"/>
                  </a:lnTo>
                  <a:lnTo>
                    <a:pt x="0" y="13628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6512123" cy="1381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needs:  Define Job Dependencies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2320736" y="8535591"/>
            <a:ext cx="4884092" cy="763191"/>
            <a:chOff x="0" y="0"/>
            <a:chExt cx="6512123" cy="101758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512123" cy="1017588"/>
            </a:xfrm>
            <a:custGeom>
              <a:avLst/>
              <a:gdLst/>
              <a:ahLst/>
              <a:cxnLst/>
              <a:rect l="l" t="t" r="r" b="b"/>
              <a:pathLst>
                <a:path w="6512123" h="1017588">
                  <a:moveTo>
                    <a:pt x="0" y="0"/>
                  </a:moveTo>
                  <a:lnTo>
                    <a:pt x="6512123" y="0"/>
                  </a:lnTo>
                  <a:lnTo>
                    <a:pt x="6512123" y="1017588"/>
                  </a:lnTo>
                  <a:lnTo>
                    <a:pt x="0" y="1017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0" y="-76200"/>
              <a:ext cx="6512123" cy="1093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Ensures a job runs </a:t>
              </a:r>
              <a:r>
                <a:rPr lang="en-US" sz="1874" b="1" spc="-3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only after</a:t>
              </a:r>
              <a:r>
                <a:rPr lang="en-US" sz="1874" spc="-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another job completes.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69888" y="604838"/>
            <a:ext cx="6049416" cy="756196"/>
            <a:chOff x="0" y="0"/>
            <a:chExt cx="8065888" cy="10082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65888" cy="1008262"/>
            </a:xfrm>
            <a:custGeom>
              <a:avLst/>
              <a:gdLst/>
              <a:ahLst/>
              <a:cxnLst/>
              <a:rect l="l" t="t" r="r" b="b"/>
              <a:pathLst>
                <a:path w="8065888" h="1008262">
                  <a:moveTo>
                    <a:pt x="0" y="0"/>
                  </a:moveTo>
                  <a:lnTo>
                    <a:pt x="8065888" y="0"/>
                  </a:lnTo>
                  <a:lnTo>
                    <a:pt x="8065888" y="1008262"/>
                  </a:lnTo>
                  <a:lnTo>
                    <a:pt x="0" y="10082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065888" cy="10463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937"/>
                </a:lnSpc>
              </a:pPr>
              <a:r>
                <a:rPr lang="en-US" sz="4750" spc="-95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Sample .YML file: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9887" y="1526009"/>
            <a:ext cx="13434269" cy="460751"/>
            <a:chOff x="0" y="0"/>
            <a:chExt cx="17912358" cy="614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912359" cy="614335"/>
            </a:xfrm>
            <a:custGeom>
              <a:avLst/>
              <a:gdLst/>
              <a:ahLst/>
              <a:cxnLst/>
              <a:rect l="l" t="t" r="r" b="b"/>
              <a:pathLst>
                <a:path w="17912359" h="614335">
                  <a:moveTo>
                    <a:pt x="0" y="0"/>
                  </a:moveTo>
                  <a:lnTo>
                    <a:pt x="17912359" y="0"/>
                  </a:lnTo>
                  <a:lnTo>
                    <a:pt x="17912359" y="614335"/>
                  </a:lnTo>
                  <a:lnTo>
                    <a:pt x="0" y="614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7912358" cy="6333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2"/>
                </a:lnSpc>
              </a:pPr>
              <a:r>
                <a:rPr lang="en-US" sz="2774" spc="-55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A simple GitHub Actions YAML file for a DevOps workflow that builds and deploys a project.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9887" y="2807506"/>
            <a:ext cx="8105775" cy="615546"/>
            <a:chOff x="0" y="0"/>
            <a:chExt cx="10807700" cy="8207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07700" cy="820729"/>
            </a:xfrm>
            <a:custGeom>
              <a:avLst/>
              <a:gdLst/>
              <a:ahLst/>
              <a:cxnLst/>
              <a:rect l="l" t="t" r="r" b="b"/>
              <a:pathLst>
                <a:path w="10807700" h="820729">
                  <a:moveTo>
                    <a:pt x="0" y="0"/>
                  </a:moveTo>
                  <a:lnTo>
                    <a:pt x="10807700" y="0"/>
                  </a:lnTo>
                  <a:lnTo>
                    <a:pt x="10807700" y="820729"/>
                  </a:lnTo>
                  <a:lnTo>
                    <a:pt x="0" y="8207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10807700" cy="9255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27"/>
                </a:lnSpc>
              </a:pPr>
              <a:r>
                <a:rPr lang="en-US" sz="2287" spc="-4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Workflow Name (name:) → Defines the workflow name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9887" y="3423052"/>
            <a:ext cx="8105775" cy="1201293"/>
            <a:chOff x="0" y="0"/>
            <a:chExt cx="10807700" cy="16017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07700" cy="1601724"/>
            </a:xfrm>
            <a:custGeom>
              <a:avLst/>
              <a:gdLst/>
              <a:ahLst/>
              <a:cxnLst/>
              <a:rect l="l" t="t" r="r" b="b"/>
              <a:pathLst>
                <a:path w="10807700" h="1601724">
                  <a:moveTo>
                    <a:pt x="0" y="0"/>
                  </a:moveTo>
                  <a:lnTo>
                    <a:pt x="10807700" y="0"/>
                  </a:lnTo>
                  <a:lnTo>
                    <a:pt x="10807700" y="1601724"/>
                  </a:lnTo>
                  <a:lnTo>
                    <a:pt x="0" y="16017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10807700" cy="170649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27"/>
                </a:lnSpc>
              </a:pPr>
              <a:endParaRPr/>
            </a:p>
            <a:p>
              <a:pPr algn="l">
                <a:lnSpc>
                  <a:spcPts val="3727"/>
                </a:lnSpc>
              </a:pPr>
              <a:r>
                <a:rPr lang="en-US" sz="2287" spc="-4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Event Triggers (on:) → Runs on push &amp; pull_request events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9887" y="4491714"/>
            <a:ext cx="8105775" cy="1201293"/>
            <a:chOff x="0" y="0"/>
            <a:chExt cx="10807700" cy="160172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807700" cy="1601724"/>
            </a:xfrm>
            <a:custGeom>
              <a:avLst/>
              <a:gdLst/>
              <a:ahLst/>
              <a:cxnLst/>
              <a:rect l="l" t="t" r="r" b="b"/>
              <a:pathLst>
                <a:path w="10807700" h="1601724">
                  <a:moveTo>
                    <a:pt x="0" y="0"/>
                  </a:moveTo>
                  <a:lnTo>
                    <a:pt x="10807700" y="0"/>
                  </a:lnTo>
                  <a:lnTo>
                    <a:pt x="10807700" y="1601724"/>
                  </a:lnTo>
                  <a:lnTo>
                    <a:pt x="0" y="16017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10807700" cy="170649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27"/>
                </a:lnSpc>
              </a:pPr>
              <a:endParaRPr/>
            </a:p>
            <a:p>
              <a:pPr algn="l">
                <a:lnSpc>
                  <a:spcPts val="3727"/>
                </a:lnSpc>
              </a:pPr>
              <a:r>
                <a:rPr lang="en-US" sz="2287" spc="-4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Jobs (jobs:) → Defines build and deploy jobs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9887" y="5541671"/>
            <a:ext cx="8105775" cy="1787040"/>
            <a:chOff x="0" y="0"/>
            <a:chExt cx="10807700" cy="23827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807700" cy="2382720"/>
            </a:xfrm>
            <a:custGeom>
              <a:avLst/>
              <a:gdLst/>
              <a:ahLst/>
              <a:cxnLst/>
              <a:rect l="l" t="t" r="r" b="b"/>
              <a:pathLst>
                <a:path w="10807700" h="2382720">
                  <a:moveTo>
                    <a:pt x="0" y="0"/>
                  </a:moveTo>
                  <a:lnTo>
                    <a:pt x="10807700" y="0"/>
                  </a:lnTo>
                  <a:lnTo>
                    <a:pt x="10807700" y="2382720"/>
                  </a:lnTo>
                  <a:lnTo>
                    <a:pt x="0" y="2382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04775"/>
              <a:ext cx="10807700" cy="24874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27"/>
                </a:lnSpc>
              </a:pPr>
              <a:endParaRPr/>
            </a:p>
            <a:p>
              <a:pPr algn="l">
                <a:lnSpc>
                  <a:spcPts val="3727"/>
                </a:lnSpc>
              </a:pPr>
              <a:r>
                <a:rPr lang="en-US" sz="2287" spc="-4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Steps inside Jobs (steps:) → Runs checkout, setup, install, test, and deploy steps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9887" y="6921732"/>
            <a:ext cx="8105775" cy="1201293"/>
            <a:chOff x="0" y="0"/>
            <a:chExt cx="10807700" cy="16017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807700" cy="1601724"/>
            </a:xfrm>
            <a:custGeom>
              <a:avLst/>
              <a:gdLst/>
              <a:ahLst/>
              <a:cxnLst/>
              <a:rect l="l" t="t" r="r" b="b"/>
              <a:pathLst>
                <a:path w="10807700" h="1601724">
                  <a:moveTo>
                    <a:pt x="0" y="0"/>
                  </a:moveTo>
                  <a:lnTo>
                    <a:pt x="10807700" y="0"/>
                  </a:lnTo>
                  <a:lnTo>
                    <a:pt x="10807700" y="1601724"/>
                  </a:lnTo>
                  <a:lnTo>
                    <a:pt x="0" y="16017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10807700" cy="170649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27"/>
                </a:lnSpc>
              </a:pPr>
              <a:endParaRPr/>
            </a:p>
            <a:p>
              <a:pPr algn="l">
                <a:lnSpc>
                  <a:spcPts val="3727"/>
                </a:lnSpc>
              </a:pPr>
              <a:r>
                <a:rPr lang="en-US" sz="2287" spc="-4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Environment Variables (env:) → Defines APP_ENV variable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9887" y="7985935"/>
            <a:ext cx="8105775" cy="1787040"/>
            <a:chOff x="0" y="0"/>
            <a:chExt cx="10807700" cy="23827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807700" cy="2382720"/>
            </a:xfrm>
            <a:custGeom>
              <a:avLst/>
              <a:gdLst/>
              <a:ahLst/>
              <a:cxnLst/>
              <a:rect l="l" t="t" r="r" b="b"/>
              <a:pathLst>
                <a:path w="10807700" h="2382720">
                  <a:moveTo>
                    <a:pt x="0" y="0"/>
                  </a:moveTo>
                  <a:lnTo>
                    <a:pt x="10807700" y="0"/>
                  </a:lnTo>
                  <a:lnTo>
                    <a:pt x="10807700" y="2382720"/>
                  </a:lnTo>
                  <a:lnTo>
                    <a:pt x="0" y="2382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10807700" cy="24874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27"/>
                </a:lnSpc>
              </a:pPr>
              <a:endParaRPr/>
            </a:p>
            <a:p>
              <a:pPr algn="l">
                <a:lnSpc>
                  <a:spcPts val="3727"/>
                </a:lnSpc>
              </a:pPr>
              <a:r>
                <a:rPr lang="en-US" sz="2287" spc="-4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Dependencies (needs:) → Ensures deploy runs only after build completes.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9421862" y="2151736"/>
            <a:ext cx="5781572" cy="7995280"/>
          </a:xfrm>
          <a:custGeom>
            <a:avLst/>
            <a:gdLst/>
            <a:ahLst/>
            <a:cxnLst/>
            <a:rect l="l" t="t" r="r" b="b"/>
            <a:pathLst>
              <a:path w="5781572" h="7995280">
                <a:moveTo>
                  <a:pt x="0" y="0"/>
                </a:moveTo>
                <a:lnTo>
                  <a:pt x="5781572" y="0"/>
                </a:lnTo>
                <a:lnTo>
                  <a:pt x="5781572" y="7995280"/>
                </a:lnTo>
                <a:lnTo>
                  <a:pt x="0" y="7995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" b="-1353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40284" y="615999"/>
            <a:ext cx="6603206" cy="825401"/>
            <a:chOff x="0" y="0"/>
            <a:chExt cx="8804275" cy="11005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04275" cy="1100535"/>
            </a:xfrm>
            <a:custGeom>
              <a:avLst/>
              <a:gdLst/>
              <a:ahLst/>
              <a:cxnLst/>
              <a:rect l="l" t="t" r="r" b="b"/>
              <a:pathLst>
                <a:path w="8804275" h="1100535">
                  <a:moveTo>
                    <a:pt x="0" y="0"/>
                  </a:moveTo>
                  <a:lnTo>
                    <a:pt x="8804275" y="0"/>
                  </a:lnTo>
                  <a:lnTo>
                    <a:pt x="8804275" y="1100535"/>
                  </a:lnTo>
                  <a:lnTo>
                    <a:pt x="0" y="11005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804275" cy="11291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437"/>
                </a:lnSpc>
              </a:pPr>
              <a:r>
                <a:rPr lang="en-US" sz="5187" spc="-103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Types of Tests in CI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0209" y="1682650"/>
            <a:ext cx="16607432" cy="480269"/>
            <a:chOff x="0" y="0"/>
            <a:chExt cx="22143243" cy="640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43244" cy="640358"/>
            </a:xfrm>
            <a:custGeom>
              <a:avLst/>
              <a:gdLst/>
              <a:ahLst/>
              <a:cxnLst/>
              <a:rect l="l" t="t" r="r" b="b"/>
              <a:pathLst>
                <a:path w="22143244" h="640358">
                  <a:moveTo>
                    <a:pt x="0" y="0"/>
                  </a:moveTo>
                  <a:lnTo>
                    <a:pt x="22143244" y="0"/>
                  </a:lnTo>
                  <a:lnTo>
                    <a:pt x="22143244" y="640358"/>
                  </a:lnTo>
                  <a:lnTo>
                    <a:pt x="0" y="6403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2143243" cy="7356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50"/>
                </a:lnSpc>
              </a:pPr>
              <a:r>
                <a:rPr lang="en-US" sz="2312" spc="-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 Continuous Integration (CI), several types of tests are used to ensure software quality and reliability.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670301" y="2952453"/>
            <a:ext cx="3301604" cy="447537"/>
            <a:chOff x="0" y="0"/>
            <a:chExt cx="4402138" cy="596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02138" cy="596715"/>
            </a:xfrm>
            <a:custGeom>
              <a:avLst/>
              <a:gdLst/>
              <a:ahLst/>
              <a:cxnLst/>
              <a:rect l="l" t="t" r="r" b="b"/>
              <a:pathLst>
                <a:path w="4402138" h="596715">
                  <a:moveTo>
                    <a:pt x="0" y="0"/>
                  </a:moveTo>
                  <a:lnTo>
                    <a:pt x="4402138" y="0"/>
                  </a:lnTo>
                  <a:lnTo>
                    <a:pt x="4402138" y="596715"/>
                  </a:lnTo>
                  <a:lnTo>
                    <a:pt x="0" y="596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402138" cy="6252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311"/>
                </a:lnSpc>
              </a:pPr>
              <a:r>
                <a:rPr lang="en-US" sz="2662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Unit Tests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489671" y="3509069"/>
            <a:ext cx="5482233" cy="383976"/>
            <a:chOff x="0" y="0"/>
            <a:chExt cx="7309643" cy="5119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09643" cy="511968"/>
            </a:xfrm>
            <a:custGeom>
              <a:avLst/>
              <a:gdLst/>
              <a:ahLst/>
              <a:cxnLst/>
              <a:rect l="l" t="t" r="r" b="b"/>
              <a:pathLst>
                <a:path w="7309643" h="511968">
                  <a:moveTo>
                    <a:pt x="0" y="0"/>
                  </a:moveTo>
                  <a:lnTo>
                    <a:pt x="7309643" y="0"/>
                  </a:lnTo>
                  <a:lnTo>
                    <a:pt x="7309643" y="511968"/>
                  </a:lnTo>
                  <a:lnTo>
                    <a:pt x="0" y="511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7309643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000"/>
                </a:lnSpc>
              </a:pPr>
              <a:r>
                <a:rPr lang="en-US" sz="1874" spc="-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Ensure each part of the code works as expected.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6682680" y="3977134"/>
            <a:ext cx="4922490" cy="4922490"/>
          </a:xfrm>
          <a:custGeom>
            <a:avLst/>
            <a:gdLst/>
            <a:ahLst/>
            <a:cxnLst/>
            <a:rect l="l" t="t" r="r" b="b"/>
            <a:pathLst>
              <a:path w="4922490" h="4922490">
                <a:moveTo>
                  <a:pt x="0" y="0"/>
                </a:moveTo>
                <a:lnTo>
                  <a:pt x="4922490" y="0"/>
                </a:lnTo>
                <a:lnTo>
                  <a:pt x="4922490" y="4922490"/>
                </a:lnTo>
                <a:lnTo>
                  <a:pt x="0" y="492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7993632" y="4790256"/>
            <a:ext cx="359271" cy="449015"/>
            <a:chOff x="0" y="0"/>
            <a:chExt cx="479028" cy="59868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79028" cy="598687"/>
            </a:xfrm>
            <a:custGeom>
              <a:avLst/>
              <a:gdLst/>
              <a:ahLst/>
              <a:cxnLst/>
              <a:rect l="l" t="t" r="r" b="b"/>
              <a:pathLst>
                <a:path w="479028" h="598687">
                  <a:moveTo>
                    <a:pt x="0" y="0"/>
                  </a:moveTo>
                  <a:lnTo>
                    <a:pt x="479028" y="0"/>
                  </a:lnTo>
                  <a:lnTo>
                    <a:pt x="479028" y="598687"/>
                  </a:lnTo>
                  <a:lnTo>
                    <a:pt x="0" y="5986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479028" cy="7034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99"/>
                </a:lnSpc>
              </a:pPr>
              <a:r>
                <a:rPr lang="en-US" sz="2812" spc="-37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56144" y="2829669"/>
            <a:ext cx="3301604" cy="447537"/>
            <a:chOff x="0" y="0"/>
            <a:chExt cx="4402138" cy="5967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402138" cy="596715"/>
            </a:xfrm>
            <a:custGeom>
              <a:avLst/>
              <a:gdLst/>
              <a:ahLst/>
              <a:cxnLst/>
              <a:rect l="l" t="t" r="r" b="b"/>
              <a:pathLst>
                <a:path w="4402138" h="596715">
                  <a:moveTo>
                    <a:pt x="0" y="0"/>
                  </a:moveTo>
                  <a:lnTo>
                    <a:pt x="4402138" y="0"/>
                  </a:lnTo>
                  <a:lnTo>
                    <a:pt x="4402138" y="596715"/>
                  </a:lnTo>
                  <a:lnTo>
                    <a:pt x="0" y="596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4402138" cy="6252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1"/>
                </a:lnSpc>
              </a:pPr>
              <a:r>
                <a:rPr lang="en-US" sz="2662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Integration Tests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456144" y="3386286"/>
            <a:ext cx="5482381" cy="767954"/>
            <a:chOff x="0" y="0"/>
            <a:chExt cx="7309842" cy="10239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09841" cy="1023938"/>
            </a:xfrm>
            <a:custGeom>
              <a:avLst/>
              <a:gdLst/>
              <a:ahLst/>
              <a:cxnLst/>
              <a:rect l="l" t="t" r="r" b="b"/>
              <a:pathLst>
                <a:path w="7309841" h="1023938">
                  <a:moveTo>
                    <a:pt x="0" y="0"/>
                  </a:moveTo>
                  <a:lnTo>
                    <a:pt x="7309841" y="0"/>
                  </a:lnTo>
                  <a:lnTo>
                    <a:pt x="7309841" y="1023938"/>
                  </a:lnTo>
                  <a:lnTo>
                    <a:pt x="0" y="1023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7309842" cy="11001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Detect issues when modules interact with databases, APIs, or external services.</a:t>
              </a:r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6682680" y="3977134"/>
            <a:ext cx="4922490" cy="4922490"/>
          </a:xfrm>
          <a:custGeom>
            <a:avLst/>
            <a:gdLst/>
            <a:ahLst/>
            <a:cxnLst/>
            <a:rect l="l" t="t" r="r" b="b"/>
            <a:pathLst>
              <a:path w="4922490" h="4922490">
                <a:moveTo>
                  <a:pt x="0" y="0"/>
                </a:moveTo>
                <a:lnTo>
                  <a:pt x="4922490" y="0"/>
                </a:lnTo>
                <a:lnTo>
                  <a:pt x="4922490" y="4922490"/>
                </a:lnTo>
                <a:lnTo>
                  <a:pt x="0" y="4922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9471942" y="4567461"/>
            <a:ext cx="359271" cy="449015"/>
            <a:chOff x="0" y="0"/>
            <a:chExt cx="479028" cy="59868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79028" cy="598687"/>
            </a:xfrm>
            <a:custGeom>
              <a:avLst/>
              <a:gdLst/>
              <a:ahLst/>
              <a:cxnLst/>
              <a:rect l="l" t="t" r="r" b="b"/>
              <a:pathLst>
                <a:path w="479028" h="598687">
                  <a:moveTo>
                    <a:pt x="0" y="0"/>
                  </a:moveTo>
                  <a:lnTo>
                    <a:pt x="479028" y="0"/>
                  </a:lnTo>
                  <a:lnTo>
                    <a:pt x="479028" y="598687"/>
                  </a:lnTo>
                  <a:lnTo>
                    <a:pt x="0" y="5986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104775"/>
              <a:ext cx="479028" cy="7034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99"/>
                </a:lnSpc>
              </a:pPr>
              <a:r>
                <a:rPr lang="en-US" sz="2812" spc="-37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965335" y="5125790"/>
            <a:ext cx="3301604" cy="447537"/>
            <a:chOff x="0" y="0"/>
            <a:chExt cx="4402138" cy="59671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402138" cy="596715"/>
            </a:xfrm>
            <a:custGeom>
              <a:avLst/>
              <a:gdLst/>
              <a:ahLst/>
              <a:cxnLst/>
              <a:rect l="l" t="t" r="r" b="b"/>
              <a:pathLst>
                <a:path w="4402138" h="596715">
                  <a:moveTo>
                    <a:pt x="0" y="0"/>
                  </a:moveTo>
                  <a:lnTo>
                    <a:pt x="4402138" y="0"/>
                  </a:lnTo>
                  <a:lnTo>
                    <a:pt x="4402138" y="596715"/>
                  </a:lnTo>
                  <a:lnTo>
                    <a:pt x="0" y="596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4402138" cy="6252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1"/>
                </a:lnSpc>
              </a:pPr>
              <a:r>
                <a:rPr lang="en-US" sz="2662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End-to-End Tests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965335" y="5682406"/>
            <a:ext cx="5482381" cy="767954"/>
            <a:chOff x="0" y="0"/>
            <a:chExt cx="7309842" cy="10239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09841" cy="1023938"/>
            </a:xfrm>
            <a:custGeom>
              <a:avLst/>
              <a:gdLst/>
              <a:ahLst/>
              <a:cxnLst/>
              <a:rect l="l" t="t" r="r" b="b"/>
              <a:pathLst>
                <a:path w="7309841" h="1023938">
                  <a:moveTo>
                    <a:pt x="0" y="0"/>
                  </a:moveTo>
                  <a:lnTo>
                    <a:pt x="7309841" y="0"/>
                  </a:lnTo>
                  <a:lnTo>
                    <a:pt x="7309841" y="1023938"/>
                  </a:lnTo>
                  <a:lnTo>
                    <a:pt x="0" y="1023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76200"/>
              <a:ext cx="7309842" cy="11001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Identify issues in UI, backend, and third-party integrations.</a:t>
              </a:r>
            </a:p>
          </p:txBody>
        </p:sp>
      </p:grpSp>
      <p:sp>
        <p:nvSpPr>
          <p:cNvPr id="38" name="Freeform 38" descr="preencoded.png"/>
          <p:cNvSpPr/>
          <p:nvPr/>
        </p:nvSpPr>
        <p:spPr>
          <a:xfrm>
            <a:off x="6682680" y="3977134"/>
            <a:ext cx="4922490" cy="4922490"/>
          </a:xfrm>
          <a:custGeom>
            <a:avLst/>
            <a:gdLst/>
            <a:ahLst/>
            <a:cxnLst/>
            <a:rect l="l" t="t" r="r" b="b"/>
            <a:pathLst>
              <a:path w="4922490" h="4922490">
                <a:moveTo>
                  <a:pt x="0" y="0"/>
                </a:moveTo>
                <a:lnTo>
                  <a:pt x="4922490" y="0"/>
                </a:lnTo>
                <a:lnTo>
                  <a:pt x="4922490" y="4922490"/>
                </a:lnTo>
                <a:lnTo>
                  <a:pt x="0" y="4922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10567912" y="5584404"/>
            <a:ext cx="359271" cy="449015"/>
            <a:chOff x="0" y="0"/>
            <a:chExt cx="479028" cy="59868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9028" cy="598687"/>
            </a:xfrm>
            <a:custGeom>
              <a:avLst/>
              <a:gdLst/>
              <a:ahLst/>
              <a:cxnLst/>
              <a:rect l="l" t="t" r="r" b="b"/>
              <a:pathLst>
                <a:path w="479028" h="598687">
                  <a:moveTo>
                    <a:pt x="0" y="0"/>
                  </a:moveTo>
                  <a:lnTo>
                    <a:pt x="479028" y="0"/>
                  </a:lnTo>
                  <a:lnTo>
                    <a:pt x="479028" y="598687"/>
                  </a:lnTo>
                  <a:lnTo>
                    <a:pt x="0" y="5986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104775"/>
              <a:ext cx="479028" cy="7034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99"/>
                </a:lnSpc>
              </a:pPr>
              <a:r>
                <a:rPr lang="en-US" sz="2812" spc="-37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776919" y="7075215"/>
            <a:ext cx="3301604" cy="447537"/>
            <a:chOff x="0" y="0"/>
            <a:chExt cx="4402138" cy="59671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402138" cy="596715"/>
            </a:xfrm>
            <a:custGeom>
              <a:avLst/>
              <a:gdLst/>
              <a:ahLst/>
              <a:cxnLst/>
              <a:rect l="l" t="t" r="r" b="b"/>
              <a:pathLst>
                <a:path w="4402138" h="596715">
                  <a:moveTo>
                    <a:pt x="0" y="0"/>
                  </a:moveTo>
                  <a:lnTo>
                    <a:pt x="4402138" y="0"/>
                  </a:lnTo>
                  <a:lnTo>
                    <a:pt x="4402138" y="596715"/>
                  </a:lnTo>
                  <a:lnTo>
                    <a:pt x="0" y="596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4402138" cy="6252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1"/>
                </a:lnSpc>
              </a:pPr>
              <a:r>
                <a:rPr lang="en-US" sz="2662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Performance Tests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776919" y="7631832"/>
            <a:ext cx="5482381" cy="767954"/>
            <a:chOff x="0" y="0"/>
            <a:chExt cx="7309842" cy="102393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309841" cy="1023938"/>
            </a:xfrm>
            <a:custGeom>
              <a:avLst/>
              <a:gdLst/>
              <a:ahLst/>
              <a:cxnLst/>
              <a:rect l="l" t="t" r="r" b="b"/>
              <a:pathLst>
                <a:path w="7309841" h="1023938">
                  <a:moveTo>
                    <a:pt x="0" y="0"/>
                  </a:moveTo>
                  <a:lnTo>
                    <a:pt x="7309841" y="0"/>
                  </a:lnTo>
                  <a:lnTo>
                    <a:pt x="7309841" y="1023938"/>
                  </a:lnTo>
                  <a:lnTo>
                    <a:pt x="0" y="1023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7309842" cy="11001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Helps identify bottlenecks and optimize system performance.</a:t>
              </a:r>
            </a:p>
          </p:txBody>
        </p:sp>
      </p:grpSp>
      <p:sp>
        <p:nvSpPr>
          <p:cNvPr id="48" name="Freeform 48" descr="preencoded.png"/>
          <p:cNvSpPr/>
          <p:nvPr/>
        </p:nvSpPr>
        <p:spPr>
          <a:xfrm>
            <a:off x="6682680" y="3977134"/>
            <a:ext cx="4922490" cy="4922490"/>
          </a:xfrm>
          <a:custGeom>
            <a:avLst/>
            <a:gdLst/>
            <a:ahLst/>
            <a:cxnLst/>
            <a:rect l="l" t="t" r="r" b="b"/>
            <a:pathLst>
              <a:path w="4922490" h="4922490">
                <a:moveTo>
                  <a:pt x="0" y="0"/>
                </a:moveTo>
                <a:lnTo>
                  <a:pt x="4922490" y="0"/>
                </a:lnTo>
                <a:lnTo>
                  <a:pt x="4922490" y="4922490"/>
                </a:lnTo>
                <a:lnTo>
                  <a:pt x="0" y="49224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49" name="Group 49"/>
          <p:cNvGrpSpPr/>
          <p:nvPr/>
        </p:nvGrpSpPr>
        <p:grpSpPr>
          <a:xfrm>
            <a:off x="10456144" y="7075215"/>
            <a:ext cx="359271" cy="449015"/>
            <a:chOff x="0" y="0"/>
            <a:chExt cx="479028" cy="59868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79028" cy="598687"/>
            </a:xfrm>
            <a:custGeom>
              <a:avLst/>
              <a:gdLst/>
              <a:ahLst/>
              <a:cxnLst/>
              <a:rect l="l" t="t" r="r" b="b"/>
              <a:pathLst>
                <a:path w="479028" h="598687">
                  <a:moveTo>
                    <a:pt x="0" y="0"/>
                  </a:moveTo>
                  <a:lnTo>
                    <a:pt x="479028" y="0"/>
                  </a:lnTo>
                  <a:lnTo>
                    <a:pt x="479028" y="598687"/>
                  </a:lnTo>
                  <a:lnTo>
                    <a:pt x="0" y="5986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04775"/>
              <a:ext cx="479028" cy="7034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99"/>
                </a:lnSpc>
              </a:pPr>
              <a:r>
                <a:rPr lang="en-US" sz="2812" spc="-37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4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580141" y="9042499"/>
            <a:ext cx="3301604" cy="447537"/>
            <a:chOff x="0" y="0"/>
            <a:chExt cx="4402138" cy="59671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402138" cy="596715"/>
            </a:xfrm>
            <a:custGeom>
              <a:avLst/>
              <a:gdLst/>
              <a:ahLst/>
              <a:cxnLst/>
              <a:rect l="l" t="t" r="r" b="b"/>
              <a:pathLst>
                <a:path w="4402138" h="596715">
                  <a:moveTo>
                    <a:pt x="0" y="0"/>
                  </a:moveTo>
                  <a:lnTo>
                    <a:pt x="4402138" y="0"/>
                  </a:lnTo>
                  <a:lnTo>
                    <a:pt x="4402138" y="596715"/>
                  </a:lnTo>
                  <a:lnTo>
                    <a:pt x="0" y="596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4402138" cy="6252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1"/>
                </a:lnSpc>
              </a:pPr>
              <a:r>
                <a:rPr lang="en-US" sz="2662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Security Tests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580141" y="9599115"/>
            <a:ext cx="5482381" cy="383976"/>
            <a:chOff x="0" y="0"/>
            <a:chExt cx="7309842" cy="51196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309841" cy="511968"/>
            </a:xfrm>
            <a:custGeom>
              <a:avLst/>
              <a:gdLst/>
              <a:ahLst/>
              <a:cxnLst/>
              <a:rect l="l" t="t" r="r" b="b"/>
              <a:pathLst>
                <a:path w="7309841" h="511968">
                  <a:moveTo>
                    <a:pt x="0" y="0"/>
                  </a:moveTo>
                  <a:lnTo>
                    <a:pt x="7309841" y="0"/>
                  </a:lnTo>
                  <a:lnTo>
                    <a:pt x="7309841" y="511968"/>
                  </a:lnTo>
                  <a:lnTo>
                    <a:pt x="0" y="511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76200"/>
              <a:ext cx="7309842" cy="5881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 spc="-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Helps prevent data breaches and security threats.</a:t>
              </a:r>
            </a:p>
          </p:txBody>
        </p:sp>
      </p:grpSp>
      <p:sp>
        <p:nvSpPr>
          <p:cNvPr id="58" name="Freeform 58" descr="preencoded.png"/>
          <p:cNvSpPr/>
          <p:nvPr/>
        </p:nvSpPr>
        <p:spPr>
          <a:xfrm>
            <a:off x="6682680" y="3977134"/>
            <a:ext cx="4922490" cy="4922490"/>
          </a:xfrm>
          <a:custGeom>
            <a:avLst/>
            <a:gdLst/>
            <a:ahLst/>
            <a:cxnLst/>
            <a:rect l="l" t="t" r="r" b="b"/>
            <a:pathLst>
              <a:path w="4922490" h="4922490">
                <a:moveTo>
                  <a:pt x="0" y="0"/>
                </a:moveTo>
                <a:lnTo>
                  <a:pt x="4922490" y="0"/>
                </a:lnTo>
                <a:lnTo>
                  <a:pt x="4922490" y="4922490"/>
                </a:lnTo>
                <a:lnTo>
                  <a:pt x="0" y="49224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59" name="Group 59"/>
          <p:cNvGrpSpPr/>
          <p:nvPr/>
        </p:nvGrpSpPr>
        <p:grpSpPr>
          <a:xfrm>
            <a:off x="9220870" y="7917432"/>
            <a:ext cx="359271" cy="449015"/>
            <a:chOff x="0" y="0"/>
            <a:chExt cx="479028" cy="59868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79028" cy="598687"/>
            </a:xfrm>
            <a:custGeom>
              <a:avLst/>
              <a:gdLst/>
              <a:ahLst/>
              <a:cxnLst/>
              <a:rect l="l" t="t" r="r" b="b"/>
              <a:pathLst>
                <a:path w="479028" h="598687">
                  <a:moveTo>
                    <a:pt x="0" y="0"/>
                  </a:moveTo>
                  <a:lnTo>
                    <a:pt x="479028" y="0"/>
                  </a:lnTo>
                  <a:lnTo>
                    <a:pt x="479028" y="598687"/>
                  </a:lnTo>
                  <a:lnTo>
                    <a:pt x="0" y="5986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104775"/>
              <a:ext cx="479028" cy="7034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99"/>
                </a:lnSpc>
              </a:pPr>
              <a:r>
                <a:rPr lang="en-US" sz="2812" spc="-37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5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718991" y="8366448"/>
            <a:ext cx="3301604" cy="447537"/>
            <a:chOff x="0" y="0"/>
            <a:chExt cx="4402138" cy="59671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402138" cy="596715"/>
            </a:xfrm>
            <a:custGeom>
              <a:avLst/>
              <a:gdLst/>
              <a:ahLst/>
              <a:cxnLst/>
              <a:rect l="l" t="t" r="r" b="b"/>
              <a:pathLst>
                <a:path w="4402138" h="596715">
                  <a:moveTo>
                    <a:pt x="0" y="0"/>
                  </a:moveTo>
                  <a:lnTo>
                    <a:pt x="4402138" y="0"/>
                  </a:lnTo>
                  <a:lnTo>
                    <a:pt x="4402138" y="596715"/>
                  </a:lnTo>
                  <a:lnTo>
                    <a:pt x="0" y="596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4402138" cy="6252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311"/>
                </a:lnSpc>
              </a:pPr>
              <a:r>
                <a:rPr lang="en-US" sz="2662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Regression Tests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38361" y="8923065"/>
            <a:ext cx="5482233" cy="767954"/>
            <a:chOff x="0" y="0"/>
            <a:chExt cx="7309643" cy="102393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309643" cy="1023938"/>
            </a:xfrm>
            <a:custGeom>
              <a:avLst/>
              <a:gdLst/>
              <a:ahLst/>
              <a:cxnLst/>
              <a:rect l="l" t="t" r="r" b="b"/>
              <a:pathLst>
                <a:path w="7309643" h="1023938">
                  <a:moveTo>
                    <a:pt x="0" y="0"/>
                  </a:moveTo>
                  <a:lnTo>
                    <a:pt x="7309643" y="0"/>
                  </a:lnTo>
                  <a:lnTo>
                    <a:pt x="7309643" y="1023938"/>
                  </a:lnTo>
                  <a:lnTo>
                    <a:pt x="0" y="1023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76200"/>
              <a:ext cx="7309643" cy="11001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000"/>
                </a:lnSpc>
              </a:pPr>
              <a:r>
                <a:rPr lang="en-US" sz="1874" spc="-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Ensure that new code changes do not break existing functionality.</a:t>
              </a:r>
            </a:p>
          </p:txBody>
        </p:sp>
      </p:grpSp>
      <p:sp>
        <p:nvSpPr>
          <p:cNvPr id="68" name="Freeform 68" descr="preencoded.png"/>
          <p:cNvSpPr/>
          <p:nvPr/>
        </p:nvSpPr>
        <p:spPr>
          <a:xfrm>
            <a:off x="6682680" y="3977134"/>
            <a:ext cx="4922490" cy="4922490"/>
          </a:xfrm>
          <a:custGeom>
            <a:avLst/>
            <a:gdLst/>
            <a:ahLst/>
            <a:cxnLst/>
            <a:rect l="l" t="t" r="r" b="b"/>
            <a:pathLst>
              <a:path w="4922490" h="4922490">
                <a:moveTo>
                  <a:pt x="0" y="0"/>
                </a:moveTo>
                <a:lnTo>
                  <a:pt x="4922490" y="0"/>
                </a:lnTo>
                <a:lnTo>
                  <a:pt x="4922490" y="4922490"/>
                </a:lnTo>
                <a:lnTo>
                  <a:pt x="0" y="492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69" name="Group 69"/>
          <p:cNvGrpSpPr/>
          <p:nvPr/>
        </p:nvGrpSpPr>
        <p:grpSpPr>
          <a:xfrm>
            <a:off x="7792269" y="7476752"/>
            <a:ext cx="359271" cy="449015"/>
            <a:chOff x="0" y="0"/>
            <a:chExt cx="479028" cy="598687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79028" cy="598687"/>
            </a:xfrm>
            <a:custGeom>
              <a:avLst/>
              <a:gdLst/>
              <a:ahLst/>
              <a:cxnLst/>
              <a:rect l="l" t="t" r="r" b="b"/>
              <a:pathLst>
                <a:path w="479028" h="598687">
                  <a:moveTo>
                    <a:pt x="0" y="0"/>
                  </a:moveTo>
                  <a:lnTo>
                    <a:pt x="479028" y="0"/>
                  </a:lnTo>
                  <a:lnTo>
                    <a:pt x="479028" y="598687"/>
                  </a:lnTo>
                  <a:lnTo>
                    <a:pt x="0" y="5986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104775"/>
              <a:ext cx="479028" cy="7034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99"/>
                </a:lnSpc>
              </a:pPr>
              <a:r>
                <a:rPr lang="en-US" sz="2812" spc="-37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6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206378" y="5404097"/>
            <a:ext cx="4116140" cy="447537"/>
            <a:chOff x="0" y="0"/>
            <a:chExt cx="5488187" cy="59671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488187" cy="596715"/>
            </a:xfrm>
            <a:custGeom>
              <a:avLst/>
              <a:gdLst/>
              <a:ahLst/>
              <a:cxnLst/>
              <a:rect l="l" t="t" r="r" b="b"/>
              <a:pathLst>
                <a:path w="5488187" h="596715">
                  <a:moveTo>
                    <a:pt x="0" y="0"/>
                  </a:moveTo>
                  <a:lnTo>
                    <a:pt x="5488187" y="0"/>
                  </a:lnTo>
                  <a:lnTo>
                    <a:pt x="5488187" y="596715"/>
                  </a:lnTo>
                  <a:lnTo>
                    <a:pt x="0" y="596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28575"/>
              <a:ext cx="5488187" cy="6252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311"/>
                </a:lnSpc>
              </a:pPr>
              <a:r>
                <a:rPr lang="en-US" sz="2662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Smoke Tests (Sanity Checks)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40284" y="5960715"/>
            <a:ext cx="5482233" cy="767954"/>
            <a:chOff x="0" y="0"/>
            <a:chExt cx="7309643" cy="102393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309643" cy="1023938"/>
            </a:xfrm>
            <a:custGeom>
              <a:avLst/>
              <a:gdLst/>
              <a:ahLst/>
              <a:cxnLst/>
              <a:rect l="l" t="t" r="r" b="b"/>
              <a:pathLst>
                <a:path w="7309643" h="1023938">
                  <a:moveTo>
                    <a:pt x="0" y="0"/>
                  </a:moveTo>
                  <a:lnTo>
                    <a:pt x="7309643" y="0"/>
                  </a:lnTo>
                  <a:lnTo>
                    <a:pt x="7309643" y="1023938"/>
                  </a:lnTo>
                  <a:lnTo>
                    <a:pt x="0" y="1023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76200"/>
              <a:ext cx="7309643" cy="11001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000"/>
                </a:lnSpc>
              </a:pPr>
              <a:r>
                <a:rPr lang="en-US" sz="1874" spc="-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Quick tests to check if critical features work before running extensive tests.</a:t>
              </a:r>
            </a:p>
          </p:txBody>
        </p:sp>
      </p:grpSp>
      <p:sp>
        <p:nvSpPr>
          <p:cNvPr id="78" name="Freeform 78" descr="preencoded.png"/>
          <p:cNvSpPr/>
          <p:nvPr/>
        </p:nvSpPr>
        <p:spPr>
          <a:xfrm>
            <a:off x="6682680" y="3977134"/>
            <a:ext cx="4922490" cy="4922490"/>
          </a:xfrm>
          <a:custGeom>
            <a:avLst/>
            <a:gdLst/>
            <a:ahLst/>
            <a:cxnLst/>
            <a:rect l="l" t="t" r="r" b="b"/>
            <a:pathLst>
              <a:path w="4922490" h="4922490">
                <a:moveTo>
                  <a:pt x="0" y="0"/>
                </a:moveTo>
                <a:lnTo>
                  <a:pt x="4922490" y="0"/>
                </a:lnTo>
                <a:lnTo>
                  <a:pt x="4922490" y="4922490"/>
                </a:lnTo>
                <a:lnTo>
                  <a:pt x="0" y="49224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79" name="Group 79"/>
          <p:cNvGrpSpPr/>
          <p:nvPr/>
        </p:nvGrpSpPr>
        <p:grpSpPr>
          <a:xfrm>
            <a:off x="7246069" y="6085061"/>
            <a:ext cx="359271" cy="449015"/>
            <a:chOff x="0" y="0"/>
            <a:chExt cx="479028" cy="598687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79028" cy="598687"/>
            </a:xfrm>
            <a:custGeom>
              <a:avLst/>
              <a:gdLst/>
              <a:ahLst/>
              <a:cxnLst/>
              <a:rect l="l" t="t" r="r" b="b"/>
              <a:pathLst>
                <a:path w="479028" h="598687">
                  <a:moveTo>
                    <a:pt x="0" y="0"/>
                  </a:moveTo>
                  <a:lnTo>
                    <a:pt x="479028" y="0"/>
                  </a:lnTo>
                  <a:lnTo>
                    <a:pt x="479028" y="598687"/>
                  </a:lnTo>
                  <a:lnTo>
                    <a:pt x="0" y="5986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104775"/>
              <a:ext cx="479028" cy="7034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99"/>
                </a:lnSpc>
              </a:pPr>
              <a:r>
                <a:rPr lang="en-US" sz="2812" spc="-37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68412" y="699046"/>
            <a:ext cx="6823174" cy="852934"/>
            <a:chOff x="0" y="0"/>
            <a:chExt cx="9097565" cy="11372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97565" cy="1137245"/>
            </a:xfrm>
            <a:custGeom>
              <a:avLst/>
              <a:gdLst/>
              <a:ahLst/>
              <a:cxnLst/>
              <a:rect l="l" t="t" r="r" b="b"/>
              <a:pathLst>
                <a:path w="9097565" h="1137245">
                  <a:moveTo>
                    <a:pt x="0" y="0"/>
                  </a:moveTo>
                  <a:lnTo>
                    <a:pt x="9097565" y="0"/>
                  </a:lnTo>
                  <a:lnTo>
                    <a:pt x="9097565" y="1137245"/>
                  </a:lnTo>
                  <a:lnTo>
                    <a:pt x="0" y="11372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097565" cy="11753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687"/>
                </a:lnSpc>
              </a:pPr>
              <a:r>
                <a:rPr lang="en-US" sz="5312" spc="-107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Artifact Management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8413" y="1721913"/>
            <a:ext cx="9693176" cy="844628"/>
            <a:chOff x="0" y="0"/>
            <a:chExt cx="12924235" cy="11261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24235" cy="1126171"/>
            </a:xfrm>
            <a:custGeom>
              <a:avLst/>
              <a:gdLst/>
              <a:ahLst/>
              <a:cxnLst/>
              <a:rect l="l" t="t" r="r" b="b"/>
              <a:pathLst>
                <a:path w="12924235" h="1126171">
                  <a:moveTo>
                    <a:pt x="0" y="0"/>
                  </a:moveTo>
                  <a:lnTo>
                    <a:pt x="12924235" y="0"/>
                  </a:lnTo>
                  <a:lnTo>
                    <a:pt x="12924235" y="1126171"/>
                  </a:lnTo>
                  <a:lnTo>
                    <a:pt x="0" y="1126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2924235" cy="121189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7281" lvl="1" indent="-153640" algn="l">
                <a:lnSpc>
                  <a:spcPts val="3286"/>
                </a:lnSpc>
                <a:buFont typeface="Arial"/>
                <a:buChar char="•"/>
              </a:pPr>
              <a:r>
                <a:rPr lang="en-US" sz="20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 the context of CI/CD, Artifacts </a:t>
              </a:r>
              <a:r>
                <a:rPr lang="en-US" sz="2037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primarily store successful build outputs</a:t>
              </a:r>
              <a:r>
                <a:rPr lang="en-US" sz="20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but can also capture </a:t>
              </a:r>
              <a:r>
                <a:rPr lang="en-US" sz="2037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logs or reports</a:t>
              </a:r>
              <a:r>
                <a:rPr lang="en-US" sz="20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for failed builds to help with troubleshooting.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68413" y="2703598"/>
            <a:ext cx="9693176" cy="844628"/>
            <a:chOff x="0" y="0"/>
            <a:chExt cx="12924235" cy="11261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924235" cy="1126171"/>
            </a:xfrm>
            <a:custGeom>
              <a:avLst/>
              <a:gdLst/>
              <a:ahLst/>
              <a:cxnLst/>
              <a:rect l="l" t="t" r="r" b="b"/>
              <a:pathLst>
                <a:path w="12924235" h="1126171">
                  <a:moveTo>
                    <a:pt x="0" y="0"/>
                  </a:moveTo>
                  <a:lnTo>
                    <a:pt x="12924235" y="0"/>
                  </a:lnTo>
                  <a:lnTo>
                    <a:pt x="12924235" y="1126171"/>
                  </a:lnTo>
                  <a:lnTo>
                    <a:pt x="0" y="1126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2924235" cy="121189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7281" lvl="1" indent="-153640" algn="l">
                <a:lnSpc>
                  <a:spcPts val="3286"/>
                </a:lnSpc>
                <a:buFont typeface="Arial"/>
                <a:buChar char="•"/>
              </a:pPr>
              <a:r>
                <a:rPr lang="en-US" sz="20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Artifacts are crucial in CI/CD pipelines as they are the tangible outputs that are tested, validated, and eventually deployed to users.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68413" y="3685282"/>
            <a:ext cx="9693176" cy="435053"/>
            <a:chOff x="0" y="0"/>
            <a:chExt cx="12924235" cy="5800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924235" cy="580071"/>
            </a:xfrm>
            <a:custGeom>
              <a:avLst/>
              <a:gdLst/>
              <a:ahLst/>
              <a:cxnLst/>
              <a:rect l="l" t="t" r="r" b="b"/>
              <a:pathLst>
                <a:path w="12924235" h="580071">
                  <a:moveTo>
                    <a:pt x="0" y="0"/>
                  </a:moveTo>
                  <a:lnTo>
                    <a:pt x="12924235" y="0"/>
                  </a:lnTo>
                  <a:lnTo>
                    <a:pt x="12924235" y="580071"/>
                  </a:lnTo>
                  <a:lnTo>
                    <a:pt x="0" y="5800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2924235" cy="66579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7281" lvl="1" indent="-153640" algn="l">
                <a:lnSpc>
                  <a:spcPts val="3286"/>
                </a:lnSpc>
                <a:buFont typeface="Arial"/>
                <a:buChar char="•"/>
              </a:pPr>
              <a:r>
                <a:rPr lang="en-US" sz="20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Managing them efficiently ensures consistency in deployments.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68413" y="4401443"/>
            <a:ext cx="9693176" cy="844628"/>
            <a:chOff x="0" y="0"/>
            <a:chExt cx="12924235" cy="11261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24235" cy="1126171"/>
            </a:xfrm>
            <a:custGeom>
              <a:avLst/>
              <a:gdLst/>
              <a:ahLst/>
              <a:cxnLst/>
              <a:rect l="l" t="t" r="r" b="b"/>
              <a:pathLst>
                <a:path w="12924235" h="1126171">
                  <a:moveTo>
                    <a:pt x="0" y="0"/>
                  </a:moveTo>
                  <a:lnTo>
                    <a:pt x="12924235" y="0"/>
                  </a:lnTo>
                  <a:lnTo>
                    <a:pt x="12924235" y="1126171"/>
                  </a:lnTo>
                  <a:lnTo>
                    <a:pt x="0" y="1126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2924235" cy="121189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86"/>
                </a:lnSpc>
              </a:pPr>
              <a:r>
                <a:rPr lang="en-US" sz="2037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Real-World Use Case:</a:t>
              </a:r>
              <a:r>
                <a:rPr lang="en-US" sz="20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Docker Hub is used to store and distribute containerized services.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8413" y="5527179"/>
            <a:ext cx="5129510" cy="554394"/>
            <a:chOff x="0" y="0"/>
            <a:chExt cx="6839347" cy="7391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39347" cy="739192"/>
            </a:xfrm>
            <a:custGeom>
              <a:avLst/>
              <a:gdLst/>
              <a:ahLst/>
              <a:cxnLst/>
              <a:rect l="l" t="t" r="r" b="b"/>
              <a:pathLst>
                <a:path w="6839347" h="739192">
                  <a:moveTo>
                    <a:pt x="0" y="0"/>
                  </a:moveTo>
                  <a:lnTo>
                    <a:pt x="6839347" y="0"/>
                  </a:lnTo>
                  <a:lnTo>
                    <a:pt x="6839347" y="739192"/>
                  </a:lnTo>
                  <a:lnTo>
                    <a:pt x="0" y="7391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6839347" cy="7677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287" spc="-67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Why are Artifact important 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63650" y="6685210"/>
            <a:ext cx="567779" cy="567779"/>
            <a:chOff x="0" y="0"/>
            <a:chExt cx="757038" cy="757038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744347" cy="744347"/>
            </a:xfrm>
            <a:custGeom>
              <a:avLst/>
              <a:gdLst/>
              <a:ahLst/>
              <a:cxnLst/>
              <a:rect l="l" t="t" r="r" b="b"/>
              <a:pathLst>
                <a:path w="744347" h="744347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409" y="0"/>
                  </a:lnTo>
                  <a:cubicBezTo>
                    <a:pt x="682117" y="0"/>
                    <a:pt x="744347" y="62230"/>
                    <a:pt x="744347" y="138938"/>
                  </a:cubicBezTo>
                  <a:lnTo>
                    <a:pt x="744347" y="605409"/>
                  </a:lnTo>
                  <a:cubicBezTo>
                    <a:pt x="744347" y="682117"/>
                    <a:pt x="682117" y="744347"/>
                    <a:pt x="605409" y="744347"/>
                  </a:cubicBezTo>
                  <a:lnTo>
                    <a:pt x="138938" y="744347"/>
                  </a:lnTo>
                  <a:cubicBezTo>
                    <a:pt x="62230" y="744347"/>
                    <a:pt x="0" y="682117"/>
                    <a:pt x="0" y="605409"/>
                  </a:cubicBezTo>
                  <a:close/>
                </a:path>
              </a:pathLst>
            </a:custGeom>
            <a:solidFill>
              <a:srgbClr val="FFA44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757047" cy="757047"/>
            </a:xfrm>
            <a:custGeom>
              <a:avLst/>
              <a:gdLst/>
              <a:ahLst/>
              <a:cxnLst/>
              <a:rect l="l" t="t" r="r" b="b"/>
              <a:pathLst>
                <a:path w="757047" h="757047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759" y="0"/>
                  </a:lnTo>
                  <a:lnTo>
                    <a:pt x="611759" y="6350"/>
                  </a:lnTo>
                  <a:lnTo>
                    <a:pt x="611759" y="0"/>
                  </a:lnTo>
                  <a:cubicBezTo>
                    <a:pt x="692023" y="0"/>
                    <a:pt x="757047" y="65024"/>
                    <a:pt x="757047" y="145288"/>
                  </a:cubicBezTo>
                  <a:lnTo>
                    <a:pt x="757047" y="611759"/>
                  </a:lnTo>
                  <a:lnTo>
                    <a:pt x="750697" y="611759"/>
                  </a:lnTo>
                  <a:lnTo>
                    <a:pt x="757047" y="611759"/>
                  </a:lnTo>
                  <a:cubicBezTo>
                    <a:pt x="757047" y="692023"/>
                    <a:pt x="692023" y="757047"/>
                    <a:pt x="611759" y="757047"/>
                  </a:cubicBezTo>
                  <a:lnTo>
                    <a:pt x="611759" y="750697"/>
                  </a:lnTo>
                  <a:lnTo>
                    <a:pt x="611759" y="757047"/>
                  </a:lnTo>
                  <a:lnTo>
                    <a:pt x="145288" y="757047"/>
                  </a:lnTo>
                  <a:lnTo>
                    <a:pt x="145288" y="750697"/>
                  </a:lnTo>
                  <a:lnTo>
                    <a:pt x="145288" y="757047"/>
                  </a:lnTo>
                  <a:cubicBezTo>
                    <a:pt x="65024" y="757047"/>
                    <a:pt x="0" y="692023"/>
                    <a:pt x="0" y="611759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759"/>
                  </a:lnTo>
                  <a:lnTo>
                    <a:pt x="6350" y="611759"/>
                  </a:lnTo>
                  <a:lnTo>
                    <a:pt x="12700" y="611759"/>
                  </a:lnTo>
                  <a:cubicBezTo>
                    <a:pt x="12700" y="685038"/>
                    <a:pt x="72009" y="744347"/>
                    <a:pt x="145288" y="744347"/>
                  </a:cubicBezTo>
                  <a:lnTo>
                    <a:pt x="611759" y="744347"/>
                  </a:lnTo>
                  <a:cubicBezTo>
                    <a:pt x="685038" y="744347"/>
                    <a:pt x="744347" y="685038"/>
                    <a:pt x="744347" y="611759"/>
                  </a:cubicBezTo>
                  <a:lnTo>
                    <a:pt x="744347" y="145288"/>
                  </a:lnTo>
                  <a:lnTo>
                    <a:pt x="750697" y="145288"/>
                  </a:lnTo>
                  <a:lnTo>
                    <a:pt x="744347" y="145288"/>
                  </a:lnTo>
                  <a:cubicBezTo>
                    <a:pt x="744347" y="72009"/>
                    <a:pt x="684911" y="12700"/>
                    <a:pt x="611759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E58A3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42826" y="6713190"/>
            <a:ext cx="409277" cy="511671"/>
            <a:chOff x="0" y="0"/>
            <a:chExt cx="545703" cy="6822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5703" cy="682228"/>
            </a:xfrm>
            <a:custGeom>
              <a:avLst/>
              <a:gdLst/>
              <a:ahLst/>
              <a:cxnLst/>
              <a:rect l="l" t="t" r="r" b="b"/>
              <a:pathLst>
                <a:path w="545703" h="682228">
                  <a:moveTo>
                    <a:pt x="0" y="0"/>
                  </a:moveTo>
                  <a:lnTo>
                    <a:pt x="545703" y="0"/>
                  </a:lnTo>
                  <a:lnTo>
                    <a:pt x="545703" y="682228"/>
                  </a:lnTo>
                  <a:lnTo>
                    <a:pt x="0" y="682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57150"/>
              <a:ext cx="545703" cy="62507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spc="-6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74762" y="6689972"/>
            <a:ext cx="3662957" cy="426393"/>
            <a:chOff x="0" y="0"/>
            <a:chExt cx="4883943" cy="56852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83943" cy="568523"/>
            </a:xfrm>
            <a:custGeom>
              <a:avLst/>
              <a:gdLst/>
              <a:ahLst/>
              <a:cxnLst/>
              <a:rect l="l" t="t" r="r" b="b"/>
              <a:pathLst>
                <a:path w="4883943" h="568523">
                  <a:moveTo>
                    <a:pt x="0" y="0"/>
                  </a:moveTo>
                  <a:lnTo>
                    <a:pt x="4883943" y="0"/>
                  </a:lnTo>
                  <a:lnTo>
                    <a:pt x="4883943" y="568523"/>
                  </a:lnTo>
                  <a:lnTo>
                    <a:pt x="0" y="5685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4883943" cy="597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25" spc="-53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Consistent Deployments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834360" y="6685210"/>
            <a:ext cx="567779" cy="567779"/>
            <a:chOff x="0" y="0"/>
            <a:chExt cx="757038" cy="757038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744347" cy="744347"/>
            </a:xfrm>
            <a:custGeom>
              <a:avLst/>
              <a:gdLst/>
              <a:ahLst/>
              <a:cxnLst/>
              <a:rect l="l" t="t" r="r" b="b"/>
              <a:pathLst>
                <a:path w="744347" h="744347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409" y="0"/>
                  </a:lnTo>
                  <a:cubicBezTo>
                    <a:pt x="682117" y="0"/>
                    <a:pt x="744347" y="62230"/>
                    <a:pt x="744347" y="138938"/>
                  </a:cubicBezTo>
                  <a:lnTo>
                    <a:pt x="744347" y="605409"/>
                  </a:lnTo>
                  <a:cubicBezTo>
                    <a:pt x="744347" y="682117"/>
                    <a:pt x="682117" y="744347"/>
                    <a:pt x="605409" y="744347"/>
                  </a:cubicBezTo>
                  <a:lnTo>
                    <a:pt x="138938" y="744347"/>
                  </a:lnTo>
                  <a:cubicBezTo>
                    <a:pt x="62230" y="744347"/>
                    <a:pt x="0" y="682117"/>
                    <a:pt x="0" y="605409"/>
                  </a:cubicBezTo>
                  <a:close/>
                </a:path>
              </a:pathLst>
            </a:custGeom>
            <a:solidFill>
              <a:srgbClr val="FFA44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757047" cy="757047"/>
            </a:xfrm>
            <a:custGeom>
              <a:avLst/>
              <a:gdLst/>
              <a:ahLst/>
              <a:cxnLst/>
              <a:rect l="l" t="t" r="r" b="b"/>
              <a:pathLst>
                <a:path w="757047" h="757047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759" y="0"/>
                  </a:lnTo>
                  <a:lnTo>
                    <a:pt x="611759" y="6350"/>
                  </a:lnTo>
                  <a:lnTo>
                    <a:pt x="611759" y="0"/>
                  </a:lnTo>
                  <a:cubicBezTo>
                    <a:pt x="692023" y="0"/>
                    <a:pt x="757047" y="65024"/>
                    <a:pt x="757047" y="145288"/>
                  </a:cubicBezTo>
                  <a:lnTo>
                    <a:pt x="757047" y="611759"/>
                  </a:lnTo>
                  <a:lnTo>
                    <a:pt x="750697" y="611759"/>
                  </a:lnTo>
                  <a:lnTo>
                    <a:pt x="757047" y="611759"/>
                  </a:lnTo>
                  <a:cubicBezTo>
                    <a:pt x="757047" y="692023"/>
                    <a:pt x="692023" y="757047"/>
                    <a:pt x="611759" y="757047"/>
                  </a:cubicBezTo>
                  <a:lnTo>
                    <a:pt x="611759" y="750697"/>
                  </a:lnTo>
                  <a:lnTo>
                    <a:pt x="611759" y="757047"/>
                  </a:lnTo>
                  <a:lnTo>
                    <a:pt x="145288" y="757047"/>
                  </a:lnTo>
                  <a:lnTo>
                    <a:pt x="145288" y="750697"/>
                  </a:lnTo>
                  <a:lnTo>
                    <a:pt x="145288" y="757047"/>
                  </a:lnTo>
                  <a:cubicBezTo>
                    <a:pt x="65024" y="757047"/>
                    <a:pt x="0" y="692023"/>
                    <a:pt x="0" y="611759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759"/>
                  </a:lnTo>
                  <a:lnTo>
                    <a:pt x="6350" y="611759"/>
                  </a:lnTo>
                  <a:lnTo>
                    <a:pt x="12700" y="611759"/>
                  </a:lnTo>
                  <a:cubicBezTo>
                    <a:pt x="12700" y="685038"/>
                    <a:pt x="72009" y="744347"/>
                    <a:pt x="145288" y="744347"/>
                  </a:cubicBezTo>
                  <a:lnTo>
                    <a:pt x="611759" y="744347"/>
                  </a:lnTo>
                  <a:cubicBezTo>
                    <a:pt x="685038" y="744347"/>
                    <a:pt x="744347" y="685038"/>
                    <a:pt x="744347" y="611759"/>
                  </a:cubicBezTo>
                  <a:lnTo>
                    <a:pt x="744347" y="145288"/>
                  </a:lnTo>
                  <a:lnTo>
                    <a:pt x="750697" y="145288"/>
                  </a:lnTo>
                  <a:lnTo>
                    <a:pt x="744347" y="145288"/>
                  </a:lnTo>
                  <a:cubicBezTo>
                    <a:pt x="744347" y="72009"/>
                    <a:pt x="684911" y="12700"/>
                    <a:pt x="611759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E58A35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5913536" y="6713190"/>
            <a:ext cx="409277" cy="511671"/>
            <a:chOff x="0" y="0"/>
            <a:chExt cx="545703" cy="68222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45703" cy="682228"/>
            </a:xfrm>
            <a:custGeom>
              <a:avLst/>
              <a:gdLst/>
              <a:ahLst/>
              <a:cxnLst/>
              <a:rect l="l" t="t" r="r" b="b"/>
              <a:pathLst>
                <a:path w="545703" h="682228">
                  <a:moveTo>
                    <a:pt x="0" y="0"/>
                  </a:moveTo>
                  <a:lnTo>
                    <a:pt x="545703" y="0"/>
                  </a:lnTo>
                  <a:lnTo>
                    <a:pt x="545703" y="682228"/>
                  </a:lnTo>
                  <a:lnTo>
                    <a:pt x="0" y="682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57150"/>
              <a:ext cx="545703" cy="62507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spc="-6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45474" y="6689972"/>
            <a:ext cx="3411588" cy="426393"/>
            <a:chOff x="0" y="0"/>
            <a:chExt cx="4548783" cy="56852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548783" cy="568523"/>
            </a:xfrm>
            <a:custGeom>
              <a:avLst/>
              <a:gdLst/>
              <a:ahLst/>
              <a:cxnLst/>
              <a:rect l="l" t="t" r="r" b="b"/>
              <a:pathLst>
                <a:path w="4548783" h="568523">
                  <a:moveTo>
                    <a:pt x="0" y="0"/>
                  </a:moveTo>
                  <a:lnTo>
                    <a:pt x="4548783" y="0"/>
                  </a:lnTo>
                  <a:lnTo>
                    <a:pt x="4548783" y="568523"/>
                  </a:lnTo>
                  <a:lnTo>
                    <a:pt x="0" y="5685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4548783" cy="597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25" spc="-53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Faster Rollbacks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63650" y="8184505"/>
            <a:ext cx="567779" cy="567779"/>
            <a:chOff x="0" y="0"/>
            <a:chExt cx="757038" cy="757038"/>
          </a:xfrm>
        </p:grpSpPr>
        <p:sp>
          <p:nvSpPr>
            <p:cNvPr id="45" name="Freeform 45"/>
            <p:cNvSpPr/>
            <p:nvPr/>
          </p:nvSpPr>
          <p:spPr>
            <a:xfrm>
              <a:off x="6350" y="6350"/>
              <a:ext cx="744347" cy="744347"/>
            </a:xfrm>
            <a:custGeom>
              <a:avLst/>
              <a:gdLst/>
              <a:ahLst/>
              <a:cxnLst/>
              <a:rect l="l" t="t" r="r" b="b"/>
              <a:pathLst>
                <a:path w="744347" h="744347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409" y="0"/>
                  </a:lnTo>
                  <a:cubicBezTo>
                    <a:pt x="682117" y="0"/>
                    <a:pt x="744347" y="62230"/>
                    <a:pt x="744347" y="138938"/>
                  </a:cubicBezTo>
                  <a:lnTo>
                    <a:pt x="744347" y="605409"/>
                  </a:lnTo>
                  <a:cubicBezTo>
                    <a:pt x="744347" y="682117"/>
                    <a:pt x="682117" y="744347"/>
                    <a:pt x="605409" y="744347"/>
                  </a:cubicBezTo>
                  <a:lnTo>
                    <a:pt x="138938" y="744347"/>
                  </a:lnTo>
                  <a:cubicBezTo>
                    <a:pt x="62230" y="744347"/>
                    <a:pt x="0" y="682117"/>
                    <a:pt x="0" y="605409"/>
                  </a:cubicBezTo>
                  <a:close/>
                </a:path>
              </a:pathLst>
            </a:custGeom>
            <a:solidFill>
              <a:srgbClr val="FFA44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757047" cy="757047"/>
            </a:xfrm>
            <a:custGeom>
              <a:avLst/>
              <a:gdLst/>
              <a:ahLst/>
              <a:cxnLst/>
              <a:rect l="l" t="t" r="r" b="b"/>
              <a:pathLst>
                <a:path w="757047" h="757047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759" y="0"/>
                  </a:lnTo>
                  <a:lnTo>
                    <a:pt x="611759" y="6350"/>
                  </a:lnTo>
                  <a:lnTo>
                    <a:pt x="611759" y="0"/>
                  </a:lnTo>
                  <a:cubicBezTo>
                    <a:pt x="692023" y="0"/>
                    <a:pt x="757047" y="65024"/>
                    <a:pt x="757047" y="145288"/>
                  </a:cubicBezTo>
                  <a:lnTo>
                    <a:pt x="757047" y="611759"/>
                  </a:lnTo>
                  <a:lnTo>
                    <a:pt x="750697" y="611759"/>
                  </a:lnTo>
                  <a:lnTo>
                    <a:pt x="757047" y="611759"/>
                  </a:lnTo>
                  <a:cubicBezTo>
                    <a:pt x="757047" y="692023"/>
                    <a:pt x="692023" y="757047"/>
                    <a:pt x="611759" y="757047"/>
                  </a:cubicBezTo>
                  <a:lnTo>
                    <a:pt x="611759" y="750697"/>
                  </a:lnTo>
                  <a:lnTo>
                    <a:pt x="611759" y="757047"/>
                  </a:lnTo>
                  <a:lnTo>
                    <a:pt x="145288" y="757047"/>
                  </a:lnTo>
                  <a:lnTo>
                    <a:pt x="145288" y="750697"/>
                  </a:lnTo>
                  <a:lnTo>
                    <a:pt x="145288" y="757047"/>
                  </a:lnTo>
                  <a:cubicBezTo>
                    <a:pt x="65024" y="757047"/>
                    <a:pt x="0" y="692023"/>
                    <a:pt x="0" y="611759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759"/>
                  </a:lnTo>
                  <a:lnTo>
                    <a:pt x="6350" y="611759"/>
                  </a:lnTo>
                  <a:lnTo>
                    <a:pt x="12700" y="611759"/>
                  </a:lnTo>
                  <a:cubicBezTo>
                    <a:pt x="12700" y="685038"/>
                    <a:pt x="72009" y="744347"/>
                    <a:pt x="145288" y="744347"/>
                  </a:cubicBezTo>
                  <a:lnTo>
                    <a:pt x="611759" y="744347"/>
                  </a:lnTo>
                  <a:cubicBezTo>
                    <a:pt x="685038" y="744347"/>
                    <a:pt x="744347" y="685038"/>
                    <a:pt x="744347" y="611759"/>
                  </a:cubicBezTo>
                  <a:lnTo>
                    <a:pt x="744347" y="145288"/>
                  </a:lnTo>
                  <a:lnTo>
                    <a:pt x="750697" y="145288"/>
                  </a:lnTo>
                  <a:lnTo>
                    <a:pt x="744347" y="145288"/>
                  </a:lnTo>
                  <a:cubicBezTo>
                    <a:pt x="744347" y="72009"/>
                    <a:pt x="684911" y="12700"/>
                    <a:pt x="611759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E58A35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942826" y="8212485"/>
            <a:ext cx="409277" cy="511671"/>
            <a:chOff x="0" y="0"/>
            <a:chExt cx="545703" cy="68222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5703" cy="682228"/>
            </a:xfrm>
            <a:custGeom>
              <a:avLst/>
              <a:gdLst/>
              <a:ahLst/>
              <a:cxnLst/>
              <a:rect l="l" t="t" r="r" b="b"/>
              <a:pathLst>
                <a:path w="545703" h="682228">
                  <a:moveTo>
                    <a:pt x="0" y="0"/>
                  </a:moveTo>
                  <a:lnTo>
                    <a:pt x="545703" y="0"/>
                  </a:lnTo>
                  <a:lnTo>
                    <a:pt x="545703" y="682228"/>
                  </a:lnTo>
                  <a:lnTo>
                    <a:pt x="0" y="682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57150"/>
              <a:ext cx="545703" cy="62507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spc="-6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674762" y="8189268"/>
            <a:ext cx="3916264" cy="852785"/>
            <a:chOff x="0" y="0"/>
            <a:chExt cx="5221685" cy="113704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221685" cy="1137047"/>
            </a:xfrm>
            <a:custGeom>
              <a:avLst/>
              <a:gdLst/>
              <a:ahLst/>
              <a:cxnLst/>
              <a:rect l="l" t="t" r="r" b="b"/>
              <a:pathLst>
                <a:path w="5221685" h="1137047">
                  <a:moveTo>
                    <a:pt x="0" y="0"/>
                  </a:moveTo>
                  <a:lnTo>
                    <a:pt x="5221685" y="0"/>
                  </a:lnTo>
                  <a:lnTo>
                    <a:pt x="5221685" y="1137047"/>
                  </a:lnTo>
                  <a:lnTo>
                    <a:pt x="0" y="11370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5221685" cy="11656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25" spc="-53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Efficient Storage &amp; Distribution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834360" y="8184505"/>
            <a:ext cx="567779" cy="567779"/>
            <a:chOff x="0" y="0"/>
            <a:chExt cx="757038" cy="757038"/>
          </a:xfrm>
        </p:grpSpPr>
        <p:sp>
          <p:nvSpPr>
            <p:cNvPr id="54" name="Freeform 54"/>
            <p:cNvSpPr/>
            <p:nvPr/>
          </p:nvSpPr>
          <p:spPr>
            <a:xfrm>
              <a:off x="6350" y="6350"/>
              <a:ext cx="744347" cy="744347"/>
            </a:xfrm>
            <a:custGeom>
              <a:avLst/>
              <a:gdLst/>
              <a:ahLst/>
              <a:cxnLst/>
              <a:rect l="l" t="t" r="r" b="b"/>
              <a:pathLst>
                <a:path w="744347" h="744347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409" y="0"/>
                  </a:lnTo>
                  <a:cubicBezTo>
                    <a:pt x="682117" y="0"/>
                    <a:pt x="744347" y="62230"/>
                    <a:pt x="744347" y="138938"/>
                  </a:cubicBezTo>
                  <a:lnTo>
                    <a:pt x="744347" y="605409"/>
                  </a:lnTo>
                  <a:cubicBezTo>
                    <a:pt x="744347" y="682117"/>
                    <a:pt x="682117" y="744347"/>
                    <a:pt x="605409" y="744347"/>
                  </a:cubicBezTo>
                  <a:lnTo>
                    <a:pt x="138938" y="744347"/>
                  </a:lnTo>
                  <a:cubicBezTo>
                    <a:pt x="62230" y="744347"/>
                    <a:pt x="0" y="682117"/>
                    <a:pt x="0" y="605409"/>
                  </a:cubicBezTo>
                  <a:close/>
                </a:path>
              </a:pathLst>
            </a:custGeom>
            <a:solidFill>
              <a:srgbClr val="FFA44F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757047" cy="757047"/>
            </a:xfrm>
            <a:custGeom>
              <a:avLst/>
              <a:gdLst/>
              <a:ahLst/>
              <a:cxnLst/>
              <a:rect l="l" t="t" r="r" b="b"/>
              <a:pathLst>
                <a:path w="757047" h="757047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759" y="0"/>
                  </a:lnTo>
                  <a:lnTo>
                    <a:pt x="611759" y="6350"/>
                  </a:lnTo>
                  <a:lnTo>
                    <a:pt x="611759" y="0"/>
                  </a:lnTo>
                  <a:cubicBezTo>
                    <a:pt x="692023" y="0"/>
                    <a:pt x="757047" y="65024"/>
                    <a:pt x="757047" y="145288"/>
                  </a:cubicBezTo>
                  <a:lnTo>
                    <a:pt x="757047" y="611759"/>
                  </a:lnTo>
                  <a:lnTo>
                    <a:pt x="750697" y="611759"/>
                  </a:lnTo>
                  <a:lnTo>
                    <a:pt x="757047" y="611759"/>
                  </a:lnTo>
                  <a:cubicBezTo>
                    <a:pt x="757047" y="692023"/>
                    <a:pt x="692023" y="757047"/>
                    <a:pt x="611759" y="757047"/>
                  </a:cubicBezTo>
                  <a:lnTo>
                    <a:pt x="611759" y="750697"/>
                  </a:lnTo>
                  <a:lnTo>
                    <a:pt x="611759" y="757047"/>
                  </a:lnTo>
                  <a:lnTo>
                    <a:pt x="145288" y="757047"/>
                  </a:lnTo>
                  <a:lnTo>
                    <a:pt x="145288" y="750697"/>
                  </a:lnTo>
                  <a:lnTo>
                    <a:pt x="145288" y="757047"/>
                  </a:lnTo>
                  <a:cubicBezTo>
                    <a:pt x="65024" y="757047"/>
                    <a:pt x="0" y="692023"/>
                    <a:pt x="0" y="611759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759"/>
                  </a:lnTo>
                  <a:lnTo>
                    <a:pt x="6350" y="611759"/>
                  </a:lnTo>
                  <a:lnTo>
                    <a:pt x="12700" y="611759"/>
                  </a:lnTo>
                  <a:cubicBezTo>
                    <a:pt x="12700" y="685038"/>
                    <a:pt x="72009" y="744347"/>
                    <a:pt x="145288" y="744347"/>
                  </a:cubicBezTo>
                  <a:lnTo>
                    <a:pt x="611759" y="744347"/>
                  </a:lnTo>
                  <a:cubicBezTo>
                    <a:pt x="685038" y="744347"/>
                    <a:pt x="744347" y="685038"/>
                    <a:pt x="744347" y="611759"/>
                  </a:cubicBezTo>
                  <a:lnTo>
                    <a:pt x="744347" y="145288"/>
                  </a:lnTo>
                  <a:lnTo>
                    <a:pt x="750697" y="145288"/>
                  </a:lnTo>
                  <a:lnTo>
                    <a:pt x="744347" y="145288"/>
                  </a:lnTo>
                  <a:cubicBezTo>
                    <a:pt x="744347" y="72009"/>
                    <a:pt x="684911" y="12700"/>
                    <a:pt x="611759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E58A35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5913536" y="8212485"/>
            <a:ext cx="409277" cy="511671"/>
            <a:chOff x="0" y="0"/>
            <a:chExt cx="545703" cy="68222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45703" cy="682228"/>
            </a:xfrm>
            <a:custGeom>
              <a:avLst/>
              <a:gdLst/>
              <a:ahLst/>
              <a:cxnLst/>
              <a:rect l="l" t="t" r="r" b="b"/>
              <a:pathLst>
                <a:path w="545703" h="682228">
                  <a:moveTo>
                    <a:pt x="0" y="0"/>
                  </a:moveTo>
                  <a:lnTo>
                    <a:pt x="545703" y="0"/>
                  </a:lnTo>
                  <a:lnTo>
                    <a:pt x="545703" y="682228"/>
                  </a:lnTo>
                  <a:lnTo>
                    <a:pt x="0" y="682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57150"/>
              <a:ext cx="545703" cy="62507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spc="-6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645474" y="8189268"/>
            <a:ext cx="3443734" cy="426393"/>
            <a:chOff x="0" y="0"/>
            <a:chExt cx="4591645" cy="56852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591645" cy="568523"/>
            </a:xfrm>
            <a:custGeom>
              <a:avLst/>
              <a:gdLst/>
              <a:ahLst/>
              <a:cxnLst/>
              <a:rect l="l" t="t" r="r" b="b"/>
              <a:pathLst>
                <a:path w="4591645" h="568523">
                  <a:moveTo>
                    <a:pt x="0" y="0"/>
                  </a:moveTo>
                  <a:lnTo>
                    <a:pt x="4591645" y="0"/>
                  </a:lnTo>
                  <a:lnTo>
                    <a:pt x="4591645" y="568523"/>
                  </a:lnTo>
                  <a:lnTo>
                    <a:pt x="0" y="5685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28575"/>
              <a:ext cx="4591645" cy="597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625" spc="-53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Security &amp; Compliance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92238" y="974229"/>
            <a:ext cx="7968257" cy="779561"/>
            <a:chOff x="0" y="0"/>
            <a:chExt cx="10624343" cy="10394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24343" cy="1039415"/>
            </a:xfrm>
            <a:custGeom>
              <a:avLst/>
              <a:gdLst/>
              <a:ahLst/>
              <a:cxnLst/>
              <a:rect l="l" t="t" r="r" b="b"/>
              <a:pathLst>
                <a:path w="10624343" h="1039415">
                  <a:moveTo>
                    <a:pt x="0" y="0"/>
                  </a:moveTo>
                  <a:lnTo>
                    <a:pt x="10624343" y="0"/>
                  </a:lnTo>
                  <a:lnTo>
                    <a:pt x="10624343" y="1039415"/>
                  </a:lnTo>
                  <a:lnTo>
                    <a:pt x="0" y="1039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624343" cy="10775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5"/>
                </a:lnSpc>
              </a:pPr>
              <a:r>
                <a:rPr lang="en-US" sz="4875" spc="-98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Popular Artifact Repositories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992237" y="2584400"/>
            <a:ext cx="437852" cy="437852"/>
          </a:xfrm>
          <a:custGeom>
            <a:avLst/>
            <a:gdLst/>
            <a:ahLst/>
            <a:cxnLst/>
            <a:rect l="l" t="t" r="r" b="b"/>
            <a:pathLst>
              <a:path w="437852" h="437852">
                <a:moveTo>
                  <a:pt x="0" y="0"/>
                </a:moveTo>
                <a:lnTo>
                  <a:pt x="437852" y="0"/>
                </a:lnTo>
                <a:lnTo>
                  <a:pt x="437852" y="437852"/>
                </a:lnTo>
                <a:lnTo>
                  <a:pt x="0" y="437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589038" y="2534840"/>
            <a:ext cx="2268141" cy="984822"/>
            <a:chOff x="0" y="0"/>
            <a:chExt cx="3024188" cy="13130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24188" cy="1313095"/>
            </a:xfrm>
            <a:custGeom>
              <a:avLst/>
              <a:gdLst/>
              <a:ahLst/>
              <a:cxnLst/>
              <a:rect l="l" t="t" r="r" b="b"/>
              <a:pathLst>
                <a:path w="3024188" h="1313095">
                  <a:moveTo>
                    <a:pt x="0" y="0"/>
                  </a:moveTo>
                  <a:lnTo>
                    <a:pt x="3024188" y="0"/>
                  </a:lnTo>
                  <a:lnTo>
                    <a:pt x="3024188" y="1313095"/>
                  </a:lnTo>
                  <a:lnTo>
                    <a:pt x="0" y="1313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024188" cy="13321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1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AWS S3 / GCP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9037" y="3679775"/>
            <a:ext cx="2268141" cy="1360885"/>
            <a:chOff x="0" y="0"/>
            <a:chExt cx="3024188" cy="18145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24188" cy="1814513"/>
            </a:xfrm>
            <a:custGeom>
              <a:avLst/>
              <a:gdLst/>
              <a:ahLst/>
              <a:cxnLst/>
              <a:rect l="l" t="t" r="r" b="b"/>
              <a:pathLst>
                <a:path w="3024188" h="1814513">
                  <a:moveTo>
                    <a:pt x="0" y="0"/>
                  </a:moveTo>
                  <a:lnTo>
                    <a:pt x="3024188" y="0"/>
                  </a:lnTo>
                  <a:lnTo>
                    <a:pt x="3024188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3024188" cy="1900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Used for cloud-based artifact storage.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4282380" y="2584400"/>
            <a:ext cx="313432" cy="313432"/>
          </a:xfrm>
          <a:custGeom>
            <a:avLst/>
            <a:gdLst/>
            <a:ahLst/>
            <a:cxnLst/>
            <a:rect l="l" t="t" r="r" b="b"/>
            <a:pathLst>
              <a:path w="313432" h="313432">
                <a:moveTo>
                  <a:pt x="0" y="0"/>
                </a:moveTo>
                <a:lnTo>
                  <a:pt x="313432" y="0"/>
                </a:lnTo>
                <a:lnTo>
                  <a:pt x="313432" y="313432"/>
                </a:lnTo>
                <a:lnTo>
                  <a:pt x="0" y="3134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4879330" y="2534840"/>
            <a:ext cx="2268141" cy="974824"/>
            <a:chOff x="0" y="0"/>
            <a:chExt cx="3024188" cy="12997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24188" cy="1299765"/>
            </a:xfrm>
            <a:custGeom>
              <a:avLst/>
              <a:gdLst/>
              <a:ahLst/>
              <a:cxnLst/>
              <a:rect l="l" t="t" r="r" b="b"/>
              <a:pathLst>
                <a:path w="3024188" h="1299765">
                  <a:moveTo>
                    <a:pt x="0" y="0"/>
                  </a:moveTo>
                  <a:lnTo>
                    <a:pt x="3024188" y="0"/>
                  </a:lnTo>
                  <a:lnTo>
                    <a:pt x="3024188" y="1299765"/>
                  </a:lnTo>
                  <a:lnTo>
                    <a:pt x="0" y="12997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024188" cy="13188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1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Nexus Repository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879330" y="3679775"/>
            <a:ext cx="2268141" cy="1814512"/>
            <a:chOff x="0" y="0"/>
            <a:chExt cx="3024188" cy="24193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24188" cy="2419350"/>
            </a:xfrm>
            <a:custGeom>
              <a:avLst/>
              <a:gdLst/>
              <a:ahLst/>
              <a:cxnLst/>
              <a:rect l="l" t="t" r="r" b="b"/>
              <a:pathLst>
                <a:path w="3024188" h="2419350">
                  <a:moveTo>
                    <a:pt x="0" y="0"/>
                  </a:moveTo>
                  <a:lnTo>
                    <a:pt x="3024188" y="0"/>
                  </a:lnTo>
                  <a:lnTo>
                    <a:pt x="3024188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3024188" cy="25050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Stores binaries, dependencies, and container images.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7572672" y="2584400"/>
            <a:ext cx="437852" cy="437852"/>
          </a:xfrm>
          <a:custGeom>
            <a:avLst/>
            <a:gdLst/>
            <a:ahLst/>
            <a:cxnLst/>
            <a:rect l="l" t="t" r="r" b="b"/>
            <a:pathLst>
              <a:path w="437852" h="437852">
                <a:moveTo>
                  <a:pt x="0" y="0"/>
                </a:moveTo>
                <a:lnTo>
                  <a:pt x="437852" y="0"/>
                </a:lnTo>
                <a:lnTo>
                  <a:pt x="437852" y="437852"/>
                </a:lnTo>
                <a:lnTo>
                  <a:pt x="0" y="4378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8169474" y="2534840"/>
            <a:ext cx="2268141" cy="487413"/>
            <a:chOff x="0" y="0"/>
            <a:chExt cx="3024188" cy="6498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24188" cy="649883"/>
            </a:xfrm>
            <a:custGeom>
              <a:avLst/>
              <a:gdLst/>
              <a:ahLst/>
              <a:cxnLst/>
              <a:rect l="l" t="t" r="r" b="b"/>
              <a:pathLst>
                <a:path w="3024188" h="649883">
                  <a:moveTo>
                    <a:pt x="0" y="0"/>
                  </a:moveTo>
                  <a:lnTo>
                    <a:pt x="3024188" y="0"/>
                  </a:lnTo>
                  <a:lnTo>
                    <a:pt x="3024188" y="649883"/>
                  </a:lnTo>
                  <a:lnTo>
                    <a:pt x="0" y="6498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3024188" cy="6689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1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Docker Hub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69474" y="3192364"/>
            <a:ext cx="2268141" cy="1360885"/>
            <a:chOff x="0" y="0"/>
            <a:chExt cx="3024188" cy="18145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24188" cy="1814513"/>
            </a:xfrm>
            <a:custGeom>
              <a:avLst/>
              <a:gdLst/>
              <a:ahLst/>
              <a:cxnLst/>
              <a:rect l="l" t="t" r="r" b="b"/>
              <a:pathLst>
                <a:path w="3024188" h="1814513">
                  <a:moveTo>
                    <a:pt x="0" y="0"/>
                  </a:moveTo>
                  <a:lnTo>
                    <a:pt x="3024188" y="0"/>
                  </a:lnTo>
                  <a:lnTo>
                    <a:pt x="3024188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3024188" cy="1900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Stores and distributes Docker images.</a:t>
              </a:r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992238" y="6394400"/>
            <a:ext cx="387250" cy="387250"/>
          </a:xfrm>
          <a:custGeom>
            <a:avLst/>
            <a:gdLst/>
            <a:ahLst/>
            <a:cxnLst/>
            <a:rect l="l" t="t" r="r" b="b"/>
            <a:pathLst>
              <a:path w="387250" h="387250">
                <a:moveTo>
                  <a:pt x="0" y="0"/>
                </a:moveTo>
                <a:lnTo>
                  <a:pt x="387250" y="0"/>
                </a:lnTo>
                <a:lnTo>
                  <a:pt x="387250" y="387250"/>
                </a:lnTo>
                <a:lnTo>
                  <a:pt x="0" y="38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589038" y="6344841"/>
            <a:ext cx="2693342" cy="974824"/>
            <a:chOff x="0" y="0"/>
            <a:chExt cx="3591123" cy="129976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591123" cy="1299765"/>
            </a:xfrm>
            <a:custGeom>
              <a:avLst/>
              <a:gdLst/>
              <a:ahLst/>
              <a:cxnLst/>
              <a:rect l="l" t="t" r="r" b="b"/>
              <a:pathLst>
                <a:path w="3591123" h="1299765">
                  <a:moveTo>
                    <a:pt x="0" y="0"/>
                  </a:moveTo>
                  <a:lnTo>
                    <a:pt x="3591123" y="0"/>
                  </a:lnTo>
                  <a:lnTo>
                    <a:pt x="3591123" y="1299765"/>
                  </a:lnTo>
                  <a:lnTo>
                    <a:pt x="0" y="12997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3591123" cy="13188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1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Jenkins Artifacts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89037" y="7036146"/>
            <a:ext cx="2268141" cy="1360885"/>
            <a:chOff x="0" y="0"/>
            <a:chExt cx="3024188" cy="181451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024188" cy="1814513"/>
            </a:xfrm>
            <a:custGeom>
              <a:avLst/>
              <a:gdLst/>
              <a:ahLst/>
              <a:cxnLst/>
              <a:rect l="l" t="t" r="r" b="b"/>
              <a:pathLst>
                <a:path w="3024188" h="1814513">
                  <a:moveTo>
                    <a:pt x="0" y="0"/>
                  </a:moveTo>
                  <a:lnTo>
                    <a:pt x="3024188" y="0"/>
                  </a:lnTo>
                  <a:lnTo>
                    <a:pt x="3024188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3024188" cy="1900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Stores artifacts in the Jenkins workspace.</a:t>
              </a:r>
            </a:p>
          </p:txBody>
        </p:sp>
      </p:grpSp>
      <p:sp>
        <p:nvSpPr>
          <p:cNvPr id="39" name="Freeform 39" descr="preencoded.png"/>
          <p:cNvSpPr/>
          <p:nvPr/>
        </p:nvSpPr>
        <p:spPr>
          <a:xfrm>
            <a:off x="4644293" y="6443959"/>
            <a:ext cx="437853" cy="437853"/>
          </a:xfrm>
          <a:custGeom>
            <a:avLst/>
            <a:gdLst/>
            <a:ahLst/>
            <a:cxnLst/>
            <a:rect l="l" t="t" r="r" b="b"/>
            <a:pathLst>
              <a:path w="437853" h="437853">
                <a:moveTo>
                  <a:pt x="0" y="0"/>
                </a:moveTo>
                <a:lnTo>
                  <a:pt x="437854" y="0"/>
                </a:lnTo>
                <a:lnTo>
                  <a:pt x="437854" y="437853"/>
                </a:lnTo>
                <a:lnTo>
                  <a:pt x="0" y="4378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5241243" y="6394400"/>
            <a:ext cx="2849984" cy="974824"/>
            <a:chOff x="0" y="0"/>
            <a:chExt cx="3799979" cy="129976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799979" cy="1299765"/>
            </a:xfrm>
            <a:custGeom>
              <a:avLst/>
              <a:gdLst/>
              <a:ahLst/>
              <a:cxnLst/>
              <a:rect l="l" t="t" r="r" b="b"/>
              <a:pathLst>
                <a:path w="3799979" h="1299765">
                  <a:moveTo>
                    <a:pt x="0" y="0"/>
                  </a:moveTo>
                  <a:lnTo>
                    <a:pt x="3799979" y="0"/>
                  </a:lnTo>
                  <a:lnTo>
                    <a:pt x="3799979" y="1299765"/>
                  </a:lnTo>
                  <a:lnTo>
                    <a:pt x="0" y="12997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3799979" cy="13188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3062" spc="-61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Jfrog Artifactory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41243" y="7036146"/>
            <a:ext cx="2268141" cy="907256"/>
            <a:chOff x="0" y="0"/>
            <a:chExt cx="3024188" cy="120967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024188" cy="1209675"/>
            </a:xfrm>
            <a:custGeom>
              <a:avLst/>
              <a:gdLst/>
              <a:ahLst/>
              <a:cxnLst/>
              <a:rect l="l" t="t" r="r" b="b"/>
              <a:pathLst>
                <a:path w="3024188" h="1209675">
                  <a:moveTo>
                    <a:pt x="0" y="0"/>
                  </a:moveTo>
                  <a:lnTo>
                    <a:pt x="3024188" y="0"/>
                  </a:lnTo>
                  <a:lnTo>
                    <a:pt x="302418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3024188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Supports multiple package formats.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78520" y="517046"/>
            <a:ext cx="6117877" cy="764679"/>
            <a:chOff x="0" y="0"/>
            <a:chExt cx="8157170" cy="10195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57170" cy="1019572"/>
            </a:xfrm>
            <a:custGeom>
              <a:avLst/>
              <a:gdLst/>
              <a:ahLst/>
              <a:cxnLst/>
              <a:rect l="l" t="t" r="r" b="b"/>
              <a:pathLst>
                <a:path w="8157170" h="1019572">
                  <a:moveTo>
                    <a:pt x="0" y="0"/>
                  </a:moveTo>
                  <a:lnTo>
                    <a:pt x="8157170" y="0"/>
                  </a:lnTo>
                  <a:lnTo>
                    <a:pt x="8157170" y="1019572"/>
                  </a:lnTo>
                  <a:lnTo>
                    <a:pt x="0" y="1019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7170" cy="10576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000"/>
                </a:lnSpc>
              </a:pPr>
              <a:r>
                <a:rPr lang="en-US" sz="4812" spc="-96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Hands-on Activity!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78520" y="1462699"/>
            <a:ext cx="16730960" cy="986267"/>
            <a:chOff x="0" y="0"/>
            <a:chExt cx="22307947" cy="13150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07947" cy="1315022"/>
            </a:xfrm>
            <a:custGeom>
              <a:avLst/>
              <a:gdLst/>
              <a:ahLst/>
              <a:cxnLst/>
              <a:rect l="l" t="t" r="r" b="b"/>
              <a:pathLst>
                <a:path w="22307947" h="1315022">
                  <a:moveTo>
                    <a:pt x="0" y="0"/>
                  </a:moveTo>
                  <a:lnTo>
                    <a:pt x="22307947" y="0"/>
                  </a:lnTo>
                  <a:lnTo>
                    <a:pt x="22307947" y="1315022"/>
                  </a:lnTo>
                  <a:lnTo>
                    <a:pt x="0" y="1315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2307947" cy="14197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9"/>
                </a:lnSpc>
              </a:pPr>
              <a:r>
                <a:rPr lang="en-US" sz="2387" spc="-38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Let's analyze a workflow that </a:t>
              </a:r>
              <a:r>
                <a:rPr lang="en-US" sz="2387" b="1" spc="-38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creates, stores, and retrieves an artifact</a:t>
              </a:r>
              <a:r>
                <a:rPr lang="en-US" sz="2387" spc="-38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to demonstrate artifact management in GitHub Actions.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629941"/>
            <a:ext cx="28575" cy="6214467"/>
            <a:chOff x="0" y="0"/>
            <a:chExt cx="38100" cy="82859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100" cy="8285988"/>
            </a:xfrm>
            <a:custGeom>
              <a:avLst/>
              <a:gdLst/>
              <a:ahLst/>
              <a:cxnLst/>
              <a:rect l="l" t="t" r="r" b="b"/>
              <a:pathLst>
                <a:path w="38100" h="828598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266938"/>
                  </a:lnTo>
                  <a:cubicBezTo>
                    <a:pt x="38100" y="8277479"/>
                    <a:pt x="29591" y="8285988"/>
                    <a:pt x="19050" y="8285988"/>
                  </a:cubicBezTo>
                  <a:cubicBezTo>
                    <a:pt x="8509" y="8285988"/>
                    <a:pt x="0" y="8277479"/>
                    <a:pt x="0" y="8266938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50380" y="3116015"/>
            <a:ext cx="667345" cy="28575"/>
            <a:chOff x="0" y="0"/>
            <a:chExt cx="889793" cy="38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9762" cy="38100"/>
            </a:xfrm>
            <a:custGeom>
              <a:avLst/>
              <a:gdLst/>
              <a:ahLst/>
              <a:cxnLst/>
              <a:rect l="l" t="t" r="r" b="b"/>
              <a:pathLst>
                <a:path w="88976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70712" y="0"/>
                  </a:lnTo>
                  <a:cubicBezTo>
                    <a:pt x="881253" y="0"/>
                    <a:pt x="889762" y="8509"/>
                    <a:pt x="889762" y="19050"/>
                  </a:cubicBezTo>
                  <a:cubicBezTo>
                    <a:pt x="889762" y="29591"/>
                    <a:pt x="881253" y="38100"/>
                    <a:pt x="8707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773682" y="2875360"/>
            <a:ext cx="510034" cy="510034"/>
            <a:chOff x="0" y="0"/>
            <a:chExt cx="680045" cy="680045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5" h="667385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542798" y="0"/>
                  </a:lnTo>
                  <a:cubicBezTo>
                    <a:pt x="611632" y="0"/>
                    <a:pt x="667385" y="55753"/>
                    <a:pt x="667385" y="124587"/>
                  </a:cubicBezTo>
                  <a:lnTo>
                    <a:pt x="667385" y="542798"/>
                  </a:lnTo>
                  <a:cubicBezTo>
                    <a:pt x="667385" y="611632"/>
                    <a:pt x="611632" y="667385"/>
                    <a:pt x="542798" y="667385"/>
                  </a:cubicBezTo>
                  <a:lnTo>
                    <a:pt x="124587" y="667385"/>
                  </a:lnTo>
                  <a:cubicBezTo>
                    <a:pt x="55753" y="667385"/>
                    <a:pt x="0" y="611505"/>
                    <a:pt x="0" y="542798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680085" cy="680085"/>
            </a:xfrm>
            <a:custGeom>
              <a:avLst/>
              <a:gdLst/>
              <a:ahLst/>
              <a:cxnLst/>
              <a:rect l="l" t="t" r="r" b="b"/>
              <a:pathLst>
                <a:path w="680085" h="680085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549148" y="0"/>
                  </a:lnTo>
                  <a:lnTo>
                    <a:pt x="549148" y="6350"/>
                  </a:lnTo>
                  <a:lnTo>
                    <a:pt x="549148" y="0"/>
                  </a:lnTo>
                  <a:cubicBezTo>
                    <a:pt x="621411" y="0"/>
                    <a:pt x="680085" y="58674"/>
                    <a:pt x="680085" y="130937"/>
                  </a:cubicBezTo>
                  <a:lnTo>
                    <a:pt x="673735" y="130937"/>
                  </a:lnTo>
                  <a:lnTo>
                    <a:pt x="680085" y="130937"/>
                  </a:lnTo>
                  <a:lnTo>
                    <a:pt x="680085" y="549148"/>
                  </a:lnTo>
                  <a:lnTo>
                    <a:pt x="673735" y="549148"/>
                  </a:lnTo>
                  <a:lnTo>
                    <a:pt x="680085" y="549148"/>
                  </a:lnTo>
                  <a:cubicBezTo>
                    <a:pt x="680085" y="621411"/>
                    <a:pt x="621411" y="680085"/>
                    <a:pt x="549148" y="680085"/>
                  </a:cubicBezTo>
                  <a:lnTo>
                    <a:pt x="549148" y="673735"/>
                  </a:lnTo>
                  <a:lnTo>
                    <a:pt x="549148" y="680085"/>
                  </a:lnTo>
                  <a:lnTo>
                    <a:pt x="130937" y="680085"/>
                  </a:lnTo>
                  <a:lnTo>
                    <a:pt x="130937" y="673735"/>
                  </a:lnTo>
                  <a:lnTo>
                    <a:pt x="130937" y="680085"/>
                  </a:lnTo>
                  <a:cubicBezTo>
                    <a:pt x="58674" y="680085"/>
                    <a:pt x="0" y="621411"/>
                    <a:pt x="0" y="549148"/>
                  </a:cubicBezTo>
                  <a:lnTo>
                    <a:pt x="0" y="130937"/>
                  </a:lnTo>
                  <a:lnTo>
                    <a:pt x="6350" y="130937"/>
                  </a:lnTo>
                  <a:lnTo>
                    <a:pt x="0" y="130937"/>
                  </a:lnTo>
                  <a:moveTo>
                    <a:pt x="12700" y="130937"/>
                  </a:moveTo>
                  <a:lnTo>
                    <a:pt x="12700" y="549148"/>
                  </a:lnTo>
                  <a:lnTo>
                    <a:pt x="6350" y="549148"/>
                  </a:lnTo>
                  <a:lnTo>
                    <a:pt x="12700" y="549148"/>
                  </a:lnTo>
                  <a:cubicBezTo>
                    <a:pt x="12700" y="614426"/>
                    <a:pt x="65659" y="667385"/>
                    <a:pt x="130937" y="667385"/>
                  </a:cubicBezTo>
                  <a:lnTo>
                    <a:pt x="549148" y="667385"/>
                  </a:lnTo>
                  <a:cubicBezTo>
                    <a:pt x="614426" y="667385"/>
                    <a:pt x="667385" y="614426"/>
                    <a:pt x="667385" y="549148"/>
                  </a:cubicBezTo>
                  <a:lnTo>
                    <a:pt x="667385" y="130937"/>
                  </a:lnTo>
                  <a:cubicBezTo>
                    <a:pt x="667385" y="65659"/>
                    <a:pt x="614426" y="12700"/>
                    <a:pt x="549148" y="12700"/>
                  </a:cubicBezTo>
                  <a:lnTo>
                    <a:pt x="130937" y="12700"/>
                  </a:lnTo>
                  <a:lnTo>
                    <a:pt x="130937" y="6350"/>
                  </a:lnTo>
                  <a:lnTo>
                    <a:pt x="130937" y="12700"/>
                  </a:lnTo>
                  <a:cubicBezTo>
                    <a:pt x="65659" y="12700"/>
                    <a:pt x="12700" y="65659"/>
                    <a:pt x="12700" y="130937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45120" y="2900884"/>
            <a:ext cx="367010" cy="458838"/>
            <a:chOff x="0" y="0"/>
            <a:chExt cx="489347" cy="61178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9347" cy="611783"/>
            </a:xfrm>
            <a:custGeom>
              <a:avLst/>
              <a:gdLst/>
              <a:ahLst/>
              <a:cxnLst/>
              <a:rect l="l" t="t" r="r" b="b"/>
              <a:pathLst>
                <a:path w="489347" h="611783">
                  <a:moveTo>
                    <a:pt x="0" y="0"/>
                  </a:moveTo>
                  <a:lnTo>
                    <a:pt x="489347" y="0"/>
                  </a:lnTo>
                  <a:lnTo>
                    <a:pt x="489347" y="611783"/>
                  </a:lnTo>
                  <a:lnTo>
                    <a:pt x="0" y="6117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47625"/>
              <a:ext cx="489347" cy="5641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874"/>
                </a:lnSpc>
              </a:pPr>
              <a:r>
                <a:rPr lang="en-US" sz="2874" spc="-57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41041" y="2852291"/>
            <a:ext cx="3058865" cy="461002"/>
            <a:chOff x="0" y="0"/>
            <a:chExt cx="4078487" cy="614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78487" cy="614669"/>
            </a:xfrm>
            <a:custGeom>
              <a:avLst/>
              <a:gdLst/>
              <a:ahLst/>
              <a:cxnLst/>
              <a:rect l="l" t="t" r="r" b="b"/>
              <a:pathLst>
                <a:path w="4078487" h="614669">
                  <a:moveTo>
                    <a:pt x="0" y="0"/>
                  </a:moveTo>
                  <a:lnTo>
                    <a:pt x="4078487" y="0"/>
                  </a:lnTo>
                  <a:lnTo>
                    <a:pt x="4078487" y="614669"/>
                  </a:lnTo>
                  <a:lnTo>
                    <a:pt x="0" y="6146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4078487" cy="64324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5"/>
                </a:lnSpc>
              </a:pPr>
              <a:r>
                <a:rPr lang="en-US" sz="2774" spc="-56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Trigger - push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141041" y="3396406"/>
            <a:ext cx="15368439" cy="466834"/>
            <a:chOff x="0" y="0"/>
            <a:chExt cx="20491252" cy="62244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491252" cy="622446"/>
            </a:xfrm>
            <a:custGeom>
              <a:avLst/>
              <a:gdLst/>
              <a:ahLst/>
              <a:cxnLst/>
              <a:rect l="l" t="t" r="r" b="b"/>
              <a:pathLst>
                <a:path w="20491252" h="622446">
                  <a:moveTo>
                    <a:pt x="0" y="0"/>
                  </a:moveTo>
                  <a:lnTo>
                    <a:pt x="20491252" y="0"/>
                  </a:lnTo>
                  <a:lnTo>
                    <a:pt x="20491252" y="622446"/>
                  </a:lnTo>
                  <a:lnTo>
                    <a:pt x="0" y="622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20491252" cy="6986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8"/>
                </a:lnSpc>
              </a:pPr>
              <a:r>
                <a:rPr lang="en-US" sz="21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Runs when code is pushed to the repository.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50380" y="4683175"/>
            <a:ext cx="667345" cy="28575"/>
            <a:chOff x="0" y="0"/>
            <a:chExt cx="889793" cy="38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89762" cy="38100"/>
            </a:xfrm>
            <a:custGeom>
              <a:avLst/>
              <a:gdLst/>
              <a:ahLst/>
              <a:cxnLst/>
              <a:rect l="l" t="t" r="r" b="b"/>
              <a:pathLst>
                <a:path w="88976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70712" y="0"/>
                  </a:lnTo>
                  <a:cubicBezTo>
                    <a:pt x="881253" y="0"/>
                    <a:pt x="889762" y="8509"/>
                    <a:pt x="889762" y="19050"/>
                  </a:cubicBezTo>
                  <a:cubicBezTo>
                    <a:pt x="889762" y="29591"/>
                    <a:pt x="881253" y="38100"/>
                    <a:pt x="8707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73682" y="4442520"/>
            <a:ext cx="510034" cy="510034"/>
            <a:chOff x="0" y="0"/>
            <a:chExt cx="680045" cy="680045"/>
          </a:xfrm>
        </p:grpSpPr>
        <p:sp>
          <p:nvSpPr>
            <p:cNvPr id="31" name="Freeform 31"/>
            <p:cNvSpPr/>
            <p:nvPr/>
          </p:nvSpPr>
          <p:spPr>
            <a:xfrm>
              <a:off x="6350" y="6350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5" h="667385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542798" y="0"/>
                  </a:lnTo>
                  <a:cubicBezTo>
                    <a:pt x="611632" y="0"/>
                    <a:pt x="667385" y="55753"/>
                    <a:pt x="667385" y="124587"/>
                  </a:cubicBezTo>
                  <a:lnTo>
                    <a:pt x="667385" y="542798"/>
                  </a:lnTo>
                  <a:cubicBezTo>
                    <a:pt x="667385" y="611632"/>
                    <a:pt x="611632" y="667385"/>
                    <a:pt x="542798" y="667385"/>
                  </a:cubicBezTo>
                  <a:lnTo>
                    <a:pt x="124587" y="667385"/>
                  </a:lnTo>
                  <a:cubicBezTo>
                    <a:pt x="55753" y="667385"/>
                    <a:pt x="0" y="611505"/>
                    <a:pt x="0" y="542798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680085" cy="680085"/>
            </a:xfrm>
            <a:custGeom>
              <a:avLst/>
              <a:gdLst/>
              <a:ahLst/>
              <a:cxnLst/>
              <a:rect l="l" t="t" r="r" b="b"/>
              <a:pathLst>
                <a:path w="680085" h="680085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549148" y="0"/>
                  </a:lnTo>
                  <a:lnTo>
                    <a:pt x="549148" y="6350"/>
                  </a:lnTo>
                  <a:lnTo>
                    <a:pt x="549148" y="0"/>
                  </a:lnTo>
                  <a:cubicBezTo>
                    <a:pt x="621411" y="0"/>
                    <a:pt x="680085" y="58674"/>
                    <a:pt x="680085" y="130937"/>
                  </a:cubicBezTo>
                  <a:lnTo>
                    <a:pt x="673735" y="130937"/>
                  </a:lnTo>
                  <a:lnTo>
                    <a:pt x="680085" y="130937"/>
                  </a:lnTo>
                  <a:lnTo>
                    <a:pt x="680085" y="549148"/>
                  </a:lnTo>
                  <a:lnTo>
                    <a:pt x="673735" y="549148"/>
                  </a:lnTo>
                  <a:lnTo>
                    <a:pt x="680085" y="549148"/>
                  </a:lnTo>
                  <a:cubicBezTo>
                    <a:pt x="680085" y="621411"/>
                    <a:pt x="621411" y="680085"/>
                    <a:pt x="549148" y="680085"/>
                  </a:cubicBezTo>
                  <a:lnTo>
                    <a:pt x="549148" y="673735"/>
                  </a:lnTo>
                  <a:lnTo>
                    <a:pt x="549148" y="680085"/>
                  </a:lnTo>
                  <a:lnTo>
                    <a:pt x="130937" y="680085"/>
                  </a:lnTo>
                  <a:lnTo>
                    <a:pt x="130937" y="673735"/>
                  </a:lnTo>
                  <a:lnTo>
                    <a:pt x="130937" y="680085"/>
                  </a:lnTo>
                  <a:cubicBezTo>
                    <a:pt x="58674" y="680085"/>
                    <a:pt x="0" y="621411"/>
                    <a:pt x="0" y="549148"/>
                  </a:cubicBezTo>
                  <a:lnTo>
                    <a:pt x="0" y="130937"/>
                  </a:lnTo>
                  <a:lnTo>
                    <a:pt x="6350" y="130937"/>
                  </a:lnTo>
                  <a:lnTo>
                    <a:pt x="0" y="130937"/>
                  </a:lnTo>
                  <a:moveTo>
                    <a:pt x="12700" y="130937"/>
                  </a:moveTo>
                  <a:lnTo>
                    <a:pt x="12700" y="549148"/>
                  </a:lnTo>
                  <a:lnTo>
                    <a:pt x="6350" y="549148"/>
                  </a:lnTo>
                  <a:lnTo>
                    <a:pt x="12700" y="549148"/>
                  </a:lnTo>
                  <a:cubicBezTo>
                    <a:pt x="12700" y="614426"/>
                    <a:pt x="65659" y="667385"/>
                    <a:pt x="130937" y="667385"/>
                  </a:cubicBezTo>
                  <a:lnTo>
                    <a:pt x="549148" y="667385"/>
                  </a:lnTo>
                  <a:cubicBezTo>
                    <a:pt x="614426" y="667385"/>
                    <a:pt x="667385" y="614426"/>
                    <a:pt x="667385" y="549148"/>
                  </a:cubicBezTo>
                  <a:lnTo>
                    <a:pt x="667385" y="130937"/>
                  </a:lnTo>
                  <a:cubicBezTo>
                    <a:pt x="667385" y="65659"/>
                    <a:pt x="614426" y="12700"/>
                    <a:pt x="549148" y="12700"/>
                  </a:cubicBezTo>
                  <a:lnTo>
                    <a:pt x="130937" y="12700"/>
                  </a:lnTo>
                  <a:lnTo>
                    <a:pt x="130937" y="6350"/>
                  </a:lnTo>
                  <a:lnTo>
                    <a:pt x="130937" y="12700"/>
                  </a:lnTo>
                  <a:cubicBezTo>
                    <a:pt x="65659" y="12700"/>
                    <a:pt x="12700" y="65659"/>
                    <a:pt x="12700" y="130937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845120" y="4468044"/>
            <a:ext cx="367010" cy="458837"/>
            <a:chOff x="0" y="0"/>
            <a:chExt cx="489347" cy="61178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9347" cy="611783"/>
            </a:xfrm>
            <a:custGeom>
              <a:avLst/>
              <a:gdLst/>
              <a:ahLst/>
              <a:cxnLst/>
              <a:rect l="l" t="t" r="r" b="b"/>
              <a:pathLst>
                <a:path w="489347" h="611783">
                  <a:moveTo>
                    <a:pt x="0" y="0"/>
                  </a:moveTo>
                  <a:lnTo>
                    <a:pt x="489347" y="0"/>
                  </a:lnTo>
                  <a:lnTo>
                    <a:pt x="489347" y="611783"/>
                  </a:lnTo>
                  <a:lnTo>
                    <a:pt x="0" y="6117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47625"/>
              <a:ext cx="489347" cy="5641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874"/>
                </a:lnSpc>
              </a:pPr>
              <a:r>
                <a:rPr lang="en-US" sz="2874" spc="-57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141041" y="4419451"/>
            <a:ext cx="3058865" cy="461002"/>
            <a:chOff x="0" y="0"/>
            <a:chExt cx="4078487" cy="61466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078487" cy="614669"/>
            </a:xfrm>
            <a:custGeom>
              <a:avLst/>
              <a:gdLst/>
              <a:ahLst/>
              <a:cxnLst/>
              <a:rect l="l" t="t" r="r" b="b"/>
              <a:pathLst>
                <a:path w="4078487" h="614669">
                  <a:moveTo>
                    <a:pt x="0" y="0"/>
                  </a:moveTo>
                  <a:lnTo>
                    <a:pt x="4078487" y="0"/>
                  </a:lnTo>
                  <a:lnTo>
                    <a:pt x="4078487" y="614669"/>
                  </a:lnTo>
                  <a:lnTo>
                    <a:pt x="0" y="6146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4078487" cy="64324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5"/>
                </a:lnSpc>
              </a:pPr>
              <a:r>
                <a:rPr lang="en-US" sz="2774" spc="-56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Job - 1 :  build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141041" y="4963566"/>
            <a:ext cx="15368439" cy="466834"/>
            <a:chOff x="0" y="0"/>
            <a:chExt cx="20491252" cy="62244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0491252" cy="622446"/>
            </a:xfrm>
            <a:custGeom>
              <a:avLst/>
              <a:gdLst/>
              <a:ahLst/>
              <a:cxnLst/>
              <a:rect l="l" t="t" r="r" b="b"/>
              <a:pathLst>
                <a:path w="20491252" h="622446">
                  <a:moveTo>
                    <a:pt x="0" y="0"/>
                  </a:moveTo>
                  <a:lnTo>
                    <a:pt x="20491252" y="0"/>
                  </a:lnTo>
                  <a:lnTo>
                    <a:pt x="20491252" y="622446"/>
                  </a:lnTo>
                  <a:lnTo>
                    <a:pt x="0" y="622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20491252" cy="6986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4246" lvl="1" indent="-162123" algn="l">
                <a:lnSpc>
                  <a:spcPts val="3378"/>
                </a:lnSpc>
                <a:buFont typeface="Arial"/>
                <a:buChar char="•"/>
              </a:pPr>
              <a:r>
                <a:rPr lang="en-US" sz="21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Checks out the code.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141041" y="5397401"/>
            <a:ext cx="15368439" cy="466834"/>
            <a:chOff x="0" y="0"/>
            <a:chExt cx="20491252" cy="62244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491252" cy="622446"/>
            </a:xfrm>
            <a:custGeom>
              <a:avLst/>
              <a:gdLst/>
              <a:ahLst/>
              <a:cxnLst/>
              <a:rect l="l" t="t" r="r" b="b"/>
              <a:pathLst>
                <a:path w="20491252" h="622446">
                  <a:moveTo>
                    <a:pt x="0" y="0"/>
                  </a:moveTo>
                  <a:lnTo>
                    <a:pt x="20491252" y="0"/>
                  </a:lnTo>
                  <a:lnTo>
                    <a:pt x="20491252" y="622446"/>
                  </a:lnTo>
                  <a:lnTo>
                    <a:pt x="0" y="622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20491252" cy="6986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4246" lvl="1" indent="-162123" algn="l">
                <a:lnSpc>
                  <a:spcPts val="3378"/>
                </a:lnSpc>
                <a:buFont typeface="Arial"/>
                <a:buChar char="•"/>
              </a:pPr>
              <a:r>
                <a:rPr lang="en-US" sz="21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Creates an output directory and adds a file (artifact.txt).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141041" y="5831235"/>
            <a:ext cx="15368439" cy="466834"/>
            <a:chOff x="0" y="0"/>
            <a:chExt cx="20491252" cy="62244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0491252" cy="622446"/>
            </a:xfrm>
            <a:custGeom>
              <a:avLst/>
              <a:gdLst/>
              <a:ahLst/>
              <a:cxnLst/>
              <a:rect l="l" t="t" r="r" b="b"/>
              <a:pathLst>
                <a:path w="20491252" h="622446">
                  <a:moveTo>
                    <a:pt x="0" y="0"/>
                  </a:moveTo>
                  <a:lnTo>
                    <a:pt x="20491252" y="0"/>
                  </a:lnTo>
                  <a:lnTo>
                    <a:pt x="20491252" y="622446"/>
                  </a:lnTo>
                  <a:lnTo>
                    <a:pt x="0" y="622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20491252" cy="6986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4246" lvl="1" indent="-162123" algn="l">
                <a:lnSpc>
                  <a:spcPts val="3378"/>
                </a:lnSpc>
                <a:buFont typeface="Arial"/>
                <a:buChar char="•"/>
              </a:pPr>
              <a:r>
                <a:rPr lang="en-US" sz="21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Uploads this file as an artifact.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50380" y="7118002"/>
            <a:ext cx="667345" cy="28575"/>
            <a:chOff x="0" y="0"/>
            <a:chExt cx="889793" cy="381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89762" cy="38100"/>
            </a:xfrm>
            <a:custGeom>
              <a:avLst/>
              <a:gdLst/>
              <a:ahLst/>
              <a:cxnLst/>
              <a:rect l="l" t="t" r="r" b="b"/>
              <a:pathLst>
                <a:path w="88976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70712" y="0"/>
                  </a:lnTo>
                  <a:cubicBezTo>
                    <a:pt x="881253" y="0"/>
                    <a:pt x="889762" y="8509"/>
                    <a:pt x="889762" y="19050"/>
                  </a:cubicBezTo>
                  <a:cubicBezTo>
                    <a:pt x="889762" y="29591"/>
                    <a:pt x="881253" y="38100"/>
                    <a:pt x="8707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773682" y="6877347"/>
            <a:ext cx="510034" cy="510034"/>
            <a:chOff x="0" y="0"/>
            <a:chExt cx="680045" cy="680045"/>
          </a:xfrm>
        </p:grpSpPr>
        <p:sp>
          <p:nvSpPr>
            <p:cNvPr id="51" name="Freeform 51"/>
            <p:cNvSpPr/>
            <p:nvPr/>
          </p:nvSpPr>
          <p:spPr>
            <a:xfrm>
              <a:off x="6350" y="6350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5" h="667385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542798" y="0"/>
                  </a:lnTo>
                  <a:cubicBezTo>
                    <a:pt x="611632" y="0"/>
                    <a:pt x="667385" y="55753"/>
                    <a:pt x="667385" y="124587"/>
                  </a:cubicBezTo>
                  <a:lnTo>
                    <a:pt x="667385" y="542798"/>
                  </a:lnTo>
                  <a:cubicBezTo>
                    <a:pt x="667385" y="611632"/>
                    <a:pt x="611632" y="667385"/>
                    <a:pt x="542798" y="667385"/>
                  </a:cubicBezTo>
                  <a:lnTo>
                    <a:pt x="124587" y="667385"/>
                  </a:lnTo>
                  <a:cubicBezTo>
                    <a:pt x="55753" y="667385"/>
                    <a:pt x="0" y="611505"/>
                    <a:pt x="0" y="542798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680085" cy="680085"/>
            </a:xfrm>
            <a:custGeom>
              <a:avLst/>
              <a:gdLst/>
              <a:ahLst/>
              <a:cxnLst/>
              <a:rect l="l" t="t" r="r" b="b"/>
              <a:pathLst>
                <a:path w="680085" h="680085">
                  <a:moveTo>
                    <a:pt x="0" y="130937"/>
                  </a:moveTo>
                  <a:cubicBezTo>
                    <a:pt x="0" y="58674"/>
                    <a:pt x="58674" y="0"/>
                    <a:pt x="130937" y="0"/>
                  </a:cubicBezTo>
                  <a:lnTo>
                    <a:pt x="549148" y="0"/>
                  </a:lnTo>
                  <a:lnTo>
                    <a:pt x="549148" y="6350"/>
                  </a:lnTo>
                  <a:lnTo>
                    <a:pt x="549148" y="0"/>
                  </a:lnTo>
                  <a:cubicBezTo>
                    <a:pt x="621411" y="0"/>
                    <a:pt x="680085" y="58674"/>
                    <a:pt x="680085" y="130937"/>
                  </a:cubicBezTo>
                  <a:lnTo>
                    <a:pt x="673735" y="130937"/>
                  </a:lnTo>
                  <a:lnTo>
                    <a:pt x="680085" y="130937"/>
                  </a:lnTo>
                  <a:lnTo>
                    <a:pt x="680085" y="549148"/>
                  </a:lnTo>
                  <a:lnTo>
                    <a:pt x="673735" y="549148"/>
                  </a:lnTo>
                  <a:lnTo>
                    <a:pt x="680085" y="549148"/>
                  </a:lnTo>
                  <a:cubicBezTo>
                    <a:pt x="680085" y="621411"/>
                    <a:pt x="621411" y="680085"/>
                    <a:pt x="549148" y="680085"/>
                  </a:cubicBezTo>
                  <a:lnTo>
                    <a:pt x="549148" y="673735"/>
                  </a:lnTo>
                  <a:lnTo>
                    <a:pt x="549148" y="680085"/>
                  </a:lnTo>
                  <a:lnTo>
                    <a:pt x="130937" y="680085"/>
                  </a:lnTo>
                  <a:lnTo>
                    <a:pt x="130937" y="673735"/>
                  </a:lnTo>
                  <a:lnTo>
                    <a:pt x="130937" y="680085"/>
                  </a:lnTo>
                  <a:cubicBezTo>
                    <a:pt x="58674" y="680085"/>
                    <a:pt x="0" y="621411"/>
                    <a:pt x="0" y="549148"/>
                  </a:cubicBezTo>
                  <a:lnTo>
                    <a:pt x="0" y="130937"/>
                  </a:lnTo>
                  <a:lnTo>
                    <a:pt x="6350" y="130937"/>
                  </a:lnTo>
                  <a:lnTo>
                    <a:pt x="0" y="130937"/>
                  </a:lnTo>
                  <a:moveTo>
                    <a:pt x="12700" y="130937"/>
                  </a:moveTo>
                  <a:lnTo>
                    <a:pt x="12700" y="549148"/>
                  </a:lnTo>
                  <a:lnTo>
                    <a:pt x="6350" y="549148"/>
                  </a:lnTo>
                  <a:lnTo>
                    <a:pt x="12700" y="549148"/>
                  </a:lnTo>
                  <a:cubicBezTo>
                    <a:pt x="12700" y="614426"/>
                    <a:pt x="65659" y="667385"/>
                    <a:pt x="130937" y="667385"/>
                  </a:cubicBezTo>
                  <a:lnTo>
                    <a:pt x="549148" y="667385"/>
                  </a:lnTo>
                  <a:cubicBezTo>
                    <a:pt x="614426" y="667385"/>
                    <a:pt x="667385" y="614426"/>
                    <a:pt x="667385" y="549148"/>
                  </a:cubicBezTo>
                  <a:lnTo>
                    <a:pt x="667385" y="130937"/>
                  </a:lnTo>
                  <a:cubicBezTo>
                    <a:pt x="667385" y="65659"/>
                    <a:pt x="614426" y="12700"/>
                    <a:pt x="549148" y="12700"/>
                  </a:cubicBezTo>
                  <a:lnTo>
                    <a:pt x="130937" y="12700"/>
                  </a:lnTo>
                  <a:lnTo>
                    <a:pt x="130937" y="6350"/>
                  </a:lnTo>
                  <a:lnTo>
                    <a:pt x="130937" y="12700"/>
                  </a:lnTo>
                  <a:cubicBezTo>
                    <a:pt x="65659" y="12700"/>
                    <a:pt x="12700" y="65659"/>
                    <a:pt x="12700" y="130937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845120" y="6902871"/>
            <a:ext cx="367010" cy="458837"/>
            <a:chOff x="0" y="0"/>
            <a:chExt cx="489347" cy="61178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89347" cy="611783"/>
            </a:xfrm>
            <a:custGeom>
              <a:avLst/>
              <a:gdLst/>
              <a:ahLst/>
              <a:cxnLst/>
              <a:rect l="l" t="t" r="r" b="b"/>
              <a:pathLst>
                <a:path w="489347" h="611783">
                  <a:moveTo>
                    <a:pt x="0" y="0"/>
                  </a:moveTo>
                  <a:lnTo>
                    <a:pt x="489347" y="0"/>
                  </a:lnTo>
                  <a:lnTo>
                    <a:pt x="489347" y="611783"/>
                  </a:lnTo>
                  <a:lnTo>
                    <a:pt x="0" y="6117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47625"/>
              <a:ext cx="489347" cy="5641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874"/>
                </a:lnSpc>
              </a:pPr>
              <a:r>
                <a:rPr lang="en-US" sz="2874" spc="-57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141041" y="6854279"/>
            <a:ext cx="3058865" cy="461002"/>
            <a:chOff x="0" y="0"/>
            <a:chExt cx="4078487" cy="61466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078487" cy="614669"/>
            </a:xfrm>
            <a:custGeom>
              <a:avLst/>
              <a:gdLst/>
              <a:ahLst/>
              <a:cxnLst/>
              <a:rect l="l" t="t" r="r" b="b"/>
              <a:pathLst>
                <a:path w="4078487" h="614669">
                  <a:moveTo>
                    <a:pt x="0" y="0"/>
                  </a:moveTo>
                  <a:lnTo>
                    <a:pt x="4078487" y="0"/>
                  </a:lnTo>
                  <a:lnTo>
                    <a:pt x="4078487" y="614669"/>
                  </a:lnTo>
                  <a:lnTo>
                    <a:pt x="0" y="6146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4078487" cy="64324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5"/>
                </a:lnSpc>
              </a:pPr>
              <a:r>
                <a:rPr lang="en-US" sz="2774" spc="-56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Job - 2 :  download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141041" y="7398395"/>
            <a:ext cx="15368439" cy="466834"/>
            <a:chOff x="0" y="0"/>
            <a:chExt cx="20491252" cy="62244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0491252" cy="622446"/>
            </a:xfrm>
            <a:custGeom>
              <a:avLst/>
              <a:gdLst/>
              <a:ahLst/>
              <a:cxnLst/>
              <a:rect l="l" t="t" r="r" b="b"/>
              <a:pathLst>
                <a:path w="20491252" h="622446">
                  <a:moveTo>
                    <a:pt x="0" y="0"/>
                  </a:moveTo>
                  <a:lnTo>
                    <a:pt x="20491252" y="0"/>
                  </a:lnTo>
                  <a:lnTo>
                    <a:pt x="20491252" y="622446"/>
                  </a:lnTo>
                  <a:lnTo>
                    <a:pt x="0" y="622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20491252" cy="6986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4246" lvl="1" indent="-162123" algn="l">
                <a:lnSpc>
                  <a:spcPts val="3378"/>
                </a:lnSpc>
                <a:buFont typeface="Arial"/>
                <a:buChar char="•"/>
              </a:pPr>
              <a:r>
                <a:rPr lang="en-US" sz="21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Runs after the build job completes.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141041" y="7832229"/>
            <a:ext cx="15368439" cy="466834"/>
            <a:chOff x="0" y="0"/>
            <a:chExt cx="20491252" cy="62244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0491252" cy="622446"/>
            </a:xfrm>
            <a:custGeom>
              <a:avLst/>
              <a:gdLst/>
              <a:ahLst/>
              <a:cxnLst/>
              <a:rect l="l" t="t" r="r" b="b"/>
              <a:pathLst>
                <a:path w="20491252" h="622446">
                  <a:moveTo>
                    <a:pt x="0" y="0"/>
                  </a:moveTo>
                  <a:lnTo>
                    <a:pt x="20491252" y="0"/>
                  </a:lnTo>
                  <a:lnTo>
                    <a:pt x="20491252" y="622446"/>
                  </a:lnTo>
                  <a:lnTo>
                    <a:pt x="0" y="622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76200"/>
              <a:ext cx="20491252" cy="6986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4246" lvl="1" indent="-162123" algn="l">
                <a:lnSpc>
                  <a:spcPts val="3378"/>
                </a:lnSpc>
                <a:buFont typeface="Arial"/>
                <a:buChar char="•"/>
              </a:pPr>
              <a:r>
                <a:rPr lang="en-US" sz="21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Downloads the stored artifact.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141041" y="8266062"/>
            <a:ext cx="15368439" cy="466834"/>
            <a:chOff x="0" y="0"/>
            <a:chExt cx="20491252" cy="62244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0491252" cy="622446"/>
            </a:xfrm>
            <a:custGeom>
              <a:avLst/>
              <a:gdLst/>
              <a:ahLst/>
              <a:cxnLst/>
              <a:rect l="l" t="t" r="r" b="b"/>
              <a:pathLst>
                <a:path w="20491252" h="622446">
                  <a:moveTo>
                    <a:pt x="0" y="0"/>
                  </a:moveTo>
                  <a:lnTo>
                    <a:pt x="20491252" y="0"/>
                  </a:lnTo>
                  <a:lnTo>
                    <a:pt x="20491252" y="622446"/>
                  </a:lnTo>
                  <a:lnTo>
                    <a:pt x="0" y="622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76200"/>
              <a:ext cx="20491252" cy="6986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4246" lvl="1" indent="-162123" algn="l">
                <a:lnSpc>
                  <a:spcPts val="3378"/>
                </a:lnSpc>
                <a:buFont typeface="Arial"/>
                <a:buChar char="•"/>
              </a:pPr>
              <a:r>
                <a:rPr lang="en-US" sz="21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Lists and displays its content for verification.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78520" y="9094589"/>
            <a:ext cx="16730960" cy="415655"/>
            <a:chOff x="0" y="0"/>
            <a:chExt cx="22307947" cy="55420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307947" cy="554207"/>
            </a:xfrm>
            <a:custGeom>
              <a:avLst/>
              <a:gdLst/>
              <a:ahLst/>
              <a:cxnLst/>
              <a:rect l="l" t="t" r="r" b="b"/>
              <a:pathLst>
                <a:path w="22307947" h="554207">
                  <a:moveTo>
                    <a:pt x="0" y="0"/>
                  </a:moveTo>
                  <a:lnTo>
                    <a:pt x="22307947" y="0"/>
                  </a:lnTo>
                  <a:lnTo>
                    <a:pt x="22307947" y="554207"/>
                  </a:lnTo>
                  <a:lnTo>
                    <a:pt x="0" y="5542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76200"/>
              <a:ext cx="22307947" cy="6304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64"/>
                </a:lnSpc>
              </a:pPr>
              <a:r>
                <a:rPr lang="en-US" sz="1950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Troubleshooting Tip:</a:t>
              </a:r>
              <a:r>
                <a:rPr lang="en-US" sz="1950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Check repository permissions and CI pipeline logs.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18288000" cy="3470821"/>
          </a:xfrm>
          <a:custGeom>
            <a:avLst/>
            <a:gdLst/>
            <a:ahLst/>
            <a:cxnLst/>
            <a:rect l="l" t="t" r="r" b="b"/>
            <a:pathLst>
              <a:path w="18288000" h="3470821">
                <a:moveTo>
                  <a:pt x="0" y="0"/>
                </a:moveTo>
                <a:lnTo>
                  <a:pt x="18288000" y="0"/>
                </a:lnTo>
                <a:lnTo>
                  <a:pt x="18288000" y="3470821"/>
                </a:lnTo>
                <a:lnTo>
                  <a:pt x="0" y="3470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82" r="-658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59483" y="3747046"/>
            <a:ext cx="9215586" cy="844154"/>
            <a:chOff x="0" y="0"/>
            <a:chExt cx="12287448" cy="11255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87448" cy="1125538"/>
            </a:xfrm>
            <a:custGeom>
              <a:avLst/>
              <a:gdLst/>
              <a:ahLst/>
              <a:cxnLst/>
              <a:rect l="l" t="t" r="r" b="b"/>
              <a:pathLst>
                <a:path w="12287448" h="1125538">
                  <a:moveTo>
                    <a:pt x="0" y="0"/>
                  </a:moveTo>
                  <a:lnTo>
                    <a:pt x="12287448" y="0"/>
                  </a:lnTo>
                  <a:lnTo>
                    <a:pt x="12287448" y="1125538"/>
                  </a:lnTo>
                  <a:lnTo>
                    <a:pt x="0" y="1125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287448" cy="11636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625"/>
                </a:lnSpc>
              </a:pPr>
              <a:r>
                <a:rPr lang="en-US" sz="5312" spc="-106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Notifications &amp; Reporting in CI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9482" y="4828396"/>
            <a:ext cx="16569035" cy="955995"/>
            <a:chOff x="0" y="0"/>
            <a:chExt cx="22092047" cy="12746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2047" cy="1274660"/>
            </a:xfrm>
            <a:custGeom>
              <a:avLst/>
              <a:gdLst/>
              <a:ahLst/>
              <a:cxnLst/>
              <a:rect l="l" t="t" r="r" b="b"/>
              <a:pathLst>
                <a:path w="22092047" h="1274660">
                  <a:moveTo>
                    <a:pt x="0" y="0"/>
                  </a:moveTo>
                  <a:lnTo>
                    <a:pt x="22092047" y="0"/>
                  </a:lnTo>
                  <a:lnTo>
                    <a:pt x="22092047" y="1274660"/>
                  </a:lnTo>
                  <a:lnTo>
                    <a:pt x="0" y="12746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22092047" cy="13794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15"/>
                </a:lnSpc>
              </a:pPr>
              <a:r>
                <a:rPr lang="en-US" sz="2274" spc="-4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Continuous Integration (CI) notifications and reporting are essential for keeping teams informed about build status, test results, and deployment progress.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9482" y="5988771"/>
            <a:ext cx="16569035" cy="489270"/>
            <a:chOff x="0" y="0"/>
            <a:chExt cx="22092047" cy="652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92047" cy="652360"/>
            </a:xfrm>
            <a:custGeom>
              <a:avLst/>
              <a:gdLst/>
              <a:ahLst/>
              <a:cxnLst/>
              <a:rect l="l" t="t" r="r" b="b"/>
              <a:pathLst>
                <a:path w="22092047" h="652360">
                  <a:moveTo>
                    <a:pt x="0" y="0"/>
                  </a:moveTo>
                  <a:lnTo>
                    <a:pt x="22092047" y="0"/>
                  </a:lnTo>
                  <a:lnTo>
                    <a:pt x="22092047" y="652360"/>
                  </a:lnTo>
                  <a:lnTo>
                    <a:pt x="0" y="6523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22092047" cy="7571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15"/>
                </a:lnSpc>
              </a:pPr>
              <a:r>
                <a:rPr lang="en-US" sz="2274" spc="-4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They help detect failures early and ensure smooth collaboration.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9482" y="6782841"/>
            <a:ext cx="6649779" cy="583986"/>
            <a:chOff x="0" y="0"/>
            <a:chExt cx="8866372" cy="77864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866371" cy="778647"/>
            </a:xfrm>
            <a:custGeom>
              <a:avLst/>
              <a:gdLst/>
              <a:ahLst/>
              <a:cxnLst/>
              <a:rect l="l" t="t" r="r" b="b"/>
              <a:pathLst>
                <a:path w="8866371" h="778647">
                  <a:moveTo>
                    <a:pt x="0" y="0"/>
                  </a:moveTo>
                  <a:lnTo>
                    <a:pt x="8866371" y="0"/>
                  </a:lnTo>
                  <a:lnTo>
                    <a:pt x="8866371" y="778647"/>
                  </a:lnTo>
                  <a:lnTo>
                    <a:pt x="0" y="7786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8866372" cy="8072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08"/>
                </a:lnSpc>
              </a:pPr>
              <a:r>
                <a:rPr lang="en-US" sz="3487" spc="-69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Importance of Notifications in CI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9483" y="7780436"/>
            <a:ext cx="3865960" cy="491133"/>
            <a:chOff x="0" y="0"/>
            <a:chExt cx="5154613" cy="65484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54613" cy="654843"/>
            </a:xfrm>
            <a:custGeom>
              <a:avLst/>
              <a:gdLst/>
              <a:ahLst/>
              <a:cxnLst/>
              <a:rect l="l" t="t" r="r" b="b"/>
              <a:pathLst>
                <a:path w="5154613" h="654843">
                  <a:moveTo>
                    <a:pt x="0" y="0"/>
                  </a:moveTo>
                  <a:lnTo>
                    <a:pt x="5154613" y="0"/>
                  </a:lnTo>
                  <a:lnTo>
                    <a:pt x="5154613" y="654843"/>
                  </a:lnTo>
                  <a:lnTo>
                    <a:pt x="0" y="654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57150"/>
              <a:ext cx="5154613" cy="5976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12"/>
                </a:lnSpc>
              </a:pPr>
              <a:r>
                <a:rPr lang="en-US" sz="3812" spc="-77">
                  <a:solidFill>
                    <a:srgbClr val="FAA1A1"/>
                  </a:solidFill>
                  <a:latin typeface="Petrona"/>
                  <a:ea typeface="Petrona"/>
                  <a:cs typeface="Petrona"/>
                  <a:sym typeface="Petrona"/>
                </a:rPr>
                <a:t>—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59483" y="8578454"/>
            <a:ext cx="3865960" cy="491133"/>
            <a:chOff x="0" y="0"/>
            <a:chExt cx="5154613" cy="65484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154613" cy="654843"/>
            </a:xfrm>
            <a:custGeom>
              <a:avLst/>
              <a:gdLst/>
              <a:ahLst/>
              <a:cxnLst/>
              <a:rect l="l" t="t" r="r" b="b"/>
              <a:pathLst>
                <a:path w="5154613" h="654843">
                  <a:moveTo>
                    <a:pt x="0" y="0"/>
                  </a:moveTo>
                  <a:lnTo>
                    <a:pt x="5154613" y="0"/>
                  </a:lnTo>
                  <a:lnTo>
                    <a:pt x="5154613" y="654843"/>
                  </a:lnTo>
                  <a:lnTo>
                    <a:pt x="0" y="654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04775"/>
              <a:ext cx="5154613" cy="7596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12"/>
                </a:lnSpc>
              </a:pPr>
              <a:r>
                <a:rPr lang="en-US" sz="2375" b="1" spc="-38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Immediate Feedback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093791" y="7780436"/>
            <a:ext cx="3865960" cy="491133"/>
            <a:chOff x="0" y="0"/>
            <a:chExt cx="5154613" cy="65484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154613" cy="654843"/>
            </a:xfrm>
            <a:custGeom>
              <a:avLst/>
              <a:gdLst/>
              <a:ahLst/>
              <a:cxnLst/>
              <a:rect l="l" t="t" r="r" b="b"/>
              <a:pathLst>
                <a:path w="5154613" h="654843">
                  <a:moveTo>
                    <a:pt x="0" y="0"/>
                  </a:moveTo>
                  <a:lnTo>
                    <a:pt x="5154613" y="0"/>
                  </a:lnTo>
                  <a:lnTo>
                    <a:pt x="5154613" y="654843"/>
                  </a:lnTo>
                  <a:lnTo>
                    <a:pt x="0" y="654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57150"/>
              <a:ext cx="5154613" cy="5976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12"/>
                </a:lnSpc>
              </a:pPr>
              <a:r>
                <a:rPr lang="en-US" sz="3812" spc="-77">
                  <a:solidFill>
                    <a:srgbClr val="FAA1A1"/>
                  </a:solidFill>
                  <a:latin typeface="Petrona"/>
                  <a:ea typeface="Petrona"/>
                  <a:cs typeface="Petrona"/>
                  <a:sym typeface="Petrona"/>
                </a:rPr>
                <a:t>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93791" y="8578454"/>
            <a:ext cx="3865960" cy="491133"/>
            <a:chOff x="0" y="0"/>
            <a:chExt cx="5154613" cy="65484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54613" cy="654843"/>
            </a:xfrm>
            <a:custGeom>
              <a:avLst/>
              <a:gdLst/>
              <a:ahLst/>
              <a:cxnLst/>
              <a:rect l="l" t="t" r="r" b="b"/>
              <a:pathLst>
                <a:path w="5154613" h="654843">
                  <a:moveTo>
                    <a:pt x="0" y="0"/>
                  </a:moveTo>
                  <a:lnTo>
                    <a:pt x="5154613" y="0"/>
                  </a:lnTo>
                  <a:lnTo>
                    <a:pt x="5154613" y="654843"/>
                  </a:lnTo>
                  <a:lnTo>
                    <a:pt x="0" y="654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04775"/>
              <a:ext cx="5154613" cy="7596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12"/>
                </a:lnSpc>
              </a:pPr>
              <a:r>
                <a:rPr lang="en-US" sz="2375" b="1" spc="-38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Faster Issue Resolution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28100" y="7780436"/>
            <a:ext cx="3865960" cy="491133"/>
            <a:chOff x="0" y="0"/>
            <a:chExt cx="5154613" cy="65484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54613" cy="654843"/>
            </a:xfrm>
            <a:custGeom>
              <a:avLst/>
              <a:gdLst/>
              <a:ahLst/>
              <a:cxnLst/>
              <a:rect l="l" t="t" r="r" b="b"/>
              <a:pathLst>
                <a:path w="5154613" h="654843">
                  <a:moveTo>
                    <a:pt x="0" y="0"/>
                  </a:moveTo>
                  <a:lnTo>
                    <a:pt x="5154613" y="0"/>
                  </a:lnTo>
                  <a:lnTo>
                    <a:pt x="5154613" y="654843"/>
                  </a:lnTo>
                  <a:lnTo>
                    <a:pt x="0" y="654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57150"/>
              <a:ext cx="5154613" cy="5976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12"/>
                </a:lnSpc>
              </a:pPr>
              <a:r>
                <a:rPr lang="en-US" sz="3812" spc="-77">
                  <a:solidFill>
                    <a:srgbClr val="FAA1A1"/>
                  </a:solidFill>
                  <a:latin typeface="Petrona"/>
                  <a:ea typeface="Petrona"/>
                  <a:cs typeface="Petrona"/>
                  <a:sym typeface="Petrona"/>
                </a:rPr>
                <a:t>—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328100" y="8578454"/>
            <a:ext cx="3865960" cy="491133"/>
            <a:chOff x="0" y="0"/>
            <a:chExt cx="5154613" cy="65484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154613" cy="654843"/>
            </a:xfrm>
            <a:custGeom>
              <a:avLst/>
              <a:gdLst/>
              <a:ahLst/>
              <a:cxnLst/>
              <a:rect l="l" t="t" r="r" b="b"/>
              <a:pathLst>
                <a:path w="5154613" h="654843">
                  <a:moveTo>
                    <a:pt x="0" y="0"/>
                  </a:moveTo>
                  <a:lnTo>
                    <a:pt x="5154613" y="0"/>
                  </a:lnTo>
                  <a:lnTo>
                    <a:pt x="5154613" y="654843"/>
                  </a:lnTo>
                  <a:lnTo>
                    <a:pt x="0" y="654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04775"/>
              <a:ext cx="5154613" cy="7596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12"/>
                </a:lnSpc>
              </a:pPr>
              <a:r>
                <a:rPr lang="en-US" sz="2375" b="1" spc="-38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Improved Collaboration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562410" y="7780436"/>
            <a:ext cx="3866109" cy="491133"/>
            <a:chOff x="0" y="0"/>
            <a:chExt cx="5154812" cy="65484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54812" cy="654843"/>
            </a:xfrm>
            <a:custGeom>
              <a:avLst/>
              <a:gdLst/>
              <a:ahLst/>
              <a:cxnLst/>
              <a:rect l="l" t="t" r="r" b="b"/>
              <a:pathLst>
                <a:path w="5154812" h="654843">
                  <a:moveTo>
                    <a:pt x="0" y="0"/>
                  </a:moveTo>
                  <a:lnTo>
                    <a:pt x="5154812" y="0"/>
                  </a:lnTo>
                  <a:lnTo>
                    <a:pt x="5154812" y="654843"/>
                  </a:lnTo>
                  <a:lnTo>
                    <a:pt x="0" y="654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57150"/>
              <a:ext cx="5154812" cy="5976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12"/>
                </a:lnSpc>
              </a:pPr>
              <a:r>
                <a:rPr lang="en-US" sz="3812" spc="-77">
                  <a:solidFill>
                    <a:srgbClr val="FAA1A1"/>
                  </a:solidFill>
                  <a:latin typeface="Petrona"/>
                  <a:ea typeface="Petrona"/>
                  <a:cs typeface="Petrona"/>
                  <a:sym typeface="Petrona"/>
                </a:rPr>
                <a:t>—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562410" y="8578454"/>
            <a:ext cx="3866109" cy="491133"/>
            <a:chOff x="0" y="0"/>
            <a:chExt cx="5154812" cy="65484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54812" cy="654843"/>
            </a:xfrm>
            <a:custGeom>
              <a:avLst/>
              <a:gdLst/>
              <a:ahLst/>
              <a:cxnLst/>
              <a:rect l="l" t="t" r="r" b="b"/>
              <a:pathLst>
                <a:path w="5154812" h="654843">
                  <a:moveTo>
                    <a:pt x="0" y="0"/>
                  </a:moveTo>
                  <a:lnTo>
                    <a:pt x="5154812" y="0"/>
                  </a:lnTo>
                  <a:lnTo>
                    <a:pt x="5154812" y="654843"/>
                  </a:lnTo>
                  <a:lnTo>
                    <a:pt x="0" y="654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04775"/>
              <a:ext cx="5154812" cy="7596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12"/>
                </a:lnSpc>
              </a:pPr>
              <a:r>
                <a:rPr lang="en-US" sz="2375" b="1" spc="-38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Automated Alerts</a:t>
              </a:r>
              <a:r>
                <a:rPr lang="en-US" sz="2375" spc="-38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36604" y="519741"/>
            <a:ext cx="5614792" cy="549195"/>
            <a:chOff x="0" y="0"/>
            <a:chExt cx="7486390" cy="7322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86390" cy="732259"/>
            </a:xfrm>
            <a:custGeom>
              <a:avLst/>
              <a:gdLst/>
              <a:ahLst/>
              <a:cxnLst/>
              <a:rect l="l" t="t" r="r" b="b"/>
              <a:pathLst>
                <a:path w="7486390" h="732259">
                  <a:moveTo>
                    <a:pt x="0" y="0"/>
                  </a:moveTo>
                  <a:lnTo>
                    <a:pt x="7486390" y="0"/>
                  </a:lnTo>
                  <a:lnTo>
                    <a:pt x="7486390" y="732259"/>
                  </a:lnTo>
                  <a:lnTo>
                    <a:pt x="0" y="7322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486390" cy="76083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58"/>
                </a:lnSpc>
              </a:pPr>
              <a:r>
                <a:rPr lang="en-US" sz="3262" spc="-66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Common Notification Channels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8748" y="2918520"/>
            <a:ext cx="16890504" cy="28575"/>
            <a:chOff x="0" y="0"/>
            <a:chExt cx="22520672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20656" cy="38100"/>
            </a:xfrm>
            <a:custGeom>
              <a:avLst/>
              <a:gdLst/>
              <a:ahLst/>
              <a:cxnLst/>
              <a:rect l="l" t="t" r="r" b="b"/>
              <a:pathLst>
                <a:path w="2252065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2501606" y="0"/>
                  </a:lnTo>
                  <a:cubicBezTo>
                    <a:pt x="22512147" y="0"/>
                    <a:pt x="22520656" y="8509"/>
                    <a:pt x="22520656" y="19050"/>
                  </a:cubicBezTo>
                  <a:cubicBezTo>
                    <a:pt x="22520656" y="29591"/>
                    <a:pt x="22512147" y="38100"/>
                    <a:pt x="2250160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002584" y="2319635"/>
            <a:ext cx="28575" cy="598885"/>
            <a:chOff x="0" y="0"/>
            <a:chExt cx="38100" cy="7985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" cy="798576"/>
            </a:xfrm>
            <a:custGeom>
              <a:avLst/>
              <a:gdLst/>
              <a:ahLst/>
              <a:cxnLst/>
              <a:rect l="l" t="t" r="r" b="b"/>
              <a:pathLst>
                <a:path w="38100" h="79857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9526"/>
                  </a:lnTo>
                  <a:cubicBezTo>
                    <a:pt x="38100" y="790067"/>
                    <a:pt x="29591" y="798576"/>
                    <a:pt x="19050" y="798576"/>
                  </a:cubicBezTo>
                  <a:cubicBezTo>
                    <a:pt x="8509" y="798576"/>
                    <a:pt x="0" y="789940"/>
                    <a:pt x="0" y="77952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787527" y="2689175"/>
            <a:ext cx="458689" cy="458689"/>
            <a:chOff x="0" y="0"/>
            <a:chExt cx="611585" cy="611585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598805" cy="598805"/>
            </a:xfrm>
            <a:custGeom>
              <a:avLst/>
              <a:gdLst/>
              <a:ahLst/>
              <a:cxnLst/>
              <a:rect l="l" t="t" r="r" b="b"/>
              <a:pathLst>
                <a:path w="598805" h="598805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87045" y="0"/>
                  </a:lnTo>
                  <a:cubicBezTo>
                    <a:pt x="548767" y="0"/>
                    <a:pt x="598805" y="50038"/>
                    <a:pt x="598805" y="111760"/>
                  </a:cubicBezTo>
                  <a:lnTo>
                    <a:pt x="598805" y="487045"/>
                  </a:lnTo>
                  <a:cubicBezTo>
                    <a:pt x="598805" y="548767"/>
                    <a:pt x="548767" y="598805"/>
                    <a:pt x="487045" y="598805"/>
                  </a:cubicBezTo>
                  <a:lnTo>
                    <a:pt x="111760" y="598805"/>
                  </a:lnTo>
                  <a:cubicBezTo>
                    <a:pt x="50038" y="598805"/>
                    <a:pt x="0" y="548767"/>
                    <a:pt x="0" y="487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11505" cy="611505"/>
            </a:xfrm>
            <a:custGeom>
              <a:avLst/>
              <a:gdLst/>
              <a:ahLst/>
              <a:cxnLst/>
              <a:rect l="l" t="t" r="r" b="b"/>
              <a:pathLst>
                <a:path w="611505" h="611505">
                  <a:moveTo>
                    <a:pt x="0" y="118110"/>
                  </a:moveTo>
                  <a:cubicBezTo>
                    <a:pt x="0" y="52959"/>
                    <a:pt x="52959" y="0"/>
                    <a:pt x="118110" y="0"/>
                  </a:cubicBez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cubicBezTo>
                    <a:pt x="558673" y="0"/>
                    <a:pt x="611505" y="52959"/>
                    <a:pt x="611505" y="118110"/>
                  </a:cubicBezTo>
                  <a:lnTo>
                    <a:pt x="605155" y="118110"/>
                  </a:lnTo>
                  <a:lnTo>
                    <a:pt x="611505" y="118110"/>
                  </a:lnTo>
                  <a:lnTo>
                    <a:pt x="611505" y="493395"/>
                  </a:lnTo>
                  <a:lnTo>
                    <a:pt x="605155" y="493395"/>
                  </a:lnTo>
                  <a:lnTo>
                    <a:pt x="611505" y="493395"/>
                  </a:lnTo>
                  <a:cubicBezTo>
                    <a:pt x="611505" y="558673"/>
                    <a:pt x="558546" y="611505"/>
                    <a:pt x="493395" y="611505"/>
                  </a:cubicBezTo>
                  <a:lnTo>
                    <a:pt x="493395" y="605155"/>
                  </a:lnTo>
                  <a:lnTo>
                    <a:pt x="493395" y="611505"/>
                  </a:lnTo>
                  <a:lnTo>
                    <a:pt x="118110" y="611505"/>
                  </a:lnTo>
                  <a:lnTo>
                    <a:pt x="118110" y="605155"/>
                  </a:lnTo>
                  <a:lnTo>
                    <a:pt x="118110" y="611505"/>
                  </a:lnTo>
                  <a:cubicBezTo>
                    <a:pt x="52832" y="611505"/>
                    <a:pt x="0" y="558546"/>
                    <a:pt x="0" y="493395"/>
                  </a:cubicBezTo>
                  <a:lnTo>
                    <a:pt x="0" y="118110"/>
                  </a:lnTo>
                  <a:lnTo>
                    <a:pt x="6350" y="118110"/>
                  </a:lnTo>
                  <a:lnTo>
                    <a:pt x="0" y="118110"/>
                  </a:lnTo>
                  <a:moveTo>
                    <a:pt x="12700" y="118110"/>
                  </a:moveTo>
                  <a:lnTo>
                    <a:pt x="12700" y="493395"/>
                  </a:lnTo>
                  <a:lnTo>
                    <a:pt x="6350" y="493395"/>
                  </a:lnTo>
                  <a:lnTo>
                    <a:pt x="12700" y="493395"/>
                  </a:lnTo>
                  <a:cubicBezTo>
                    <a:pt x="12700" y="551688"/>
                    <a:pt x="59944" y="598805"/>
                    <a:pt x="118110" y="598805"/>
                  </a:cubicBezTo>
                  <a:lnTo>
                    <a:pt x="493395" y="598805"/>
                  </a:lnTo>
                  <a:cubicBezTo>
                    <a:pt x="551688" y="598805"/>
                    <a:pt x="598805" y="551561"/>
                    <a:pt x="598805" y="493395"/>
                  </a:cubicBezTo>
                  <a:lnTo>
                    <a:pt x="598805" y="118110"/>
                  </a:lnTo>
                  <a:cubicBezTo>
                    <a:pt x="598805" y="59817"/>
                    <a:pt x="551561" y="12700"/>
                    <a:pt x="493395" y="12700"/>
                  </a:cubicBezTo>
                  <a:lnTo>
                    <a:pt x="118110" y="12700"/>
                  </a:lnTo>
                  <a:lnTo>
                    <a:pt x="118110" y="6350"/>
                  </a:lnTo>
                  <a:lnTo>
                    <a:pt x="118110" y="12700"/>
                  </a:lnTo>
                  <a:cubicBezTo>
                    <a:pt x="59944" y="12700"/>
                    <a:pt x="12700" y="59944"/>
                    <a:pt x="12700" y="11811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852192" y="2712616"/>
            <a:ext cx="329356" cy="508571"/>
            <a:chOff x="0" y="0"/>
            <a:chExt cx="439142" cy="67809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9142" cy="678095"/>
            </a:xfrm>
            <a:custGeom>
              <a:avLst/>
              <a:gdLst/>
              <a:ahLst/>
              <a:cxnLst/>
              <a:rect l="l" t="t" r="r" b="b"/>
              <a:pathLst>
                <a:path w="439142" h="678095">
                  <a:moveTo>
                    <a:pt x="0" y="0"/>
                  </a:moveTo>
                  <a:lnTo>
                    <a:pt x="439142" y="0"/>
                  </a:lnTo>
                  <a:lnTo>
                    <a:pt x="439142" y="678095"/>
                  </a:lnTo>
                  <a:lnTo>
                    <a:pt x="0" y="678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57150"/>
              <a:ext cx="439142" cy="6209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8326" y="1361182"/>
            <a:ext cx="6237237" cy="438745"/>
            <a:chOff x="0" y="0"/>
            <a:chExt cx="8316317" cy="58499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b="1" spc="-4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Email Alerts</a:t>
              </a:r>
              <a:r>
                <a:rPr lang="en-US" sz="2062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98326" y="1800374"/>
            <a:ext cx="6237237" cy="438745"/>
            <a:chOff x="0" y="0"/>
            <a:chExt cx="8316317" cy="5849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Sends build reports directly to developers.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20570" y="2918520"/>
            <a:ext cx="28575" cy="598885"/>
            <a:chOff x="0" y="0"/>
            <a:chExt cx="38100" cy="79851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100" cy="798576"/>
            </a:xfrm>
            <a:custGeom>
              <a:avLst/>
              <a:gdLst/>
              <a:ahLst/>
              <a:cxnLst/>
              <a:rect l="l" t="t" r="r" b="b"/>
              <a:pathLst>
                <a:path w="38100" h="79857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9526"/>
                  </a:lnTo>
                  <a:cubicBezTo>
                    <a:pt x="38100" y="790067"/>
                    <a:pt x="29591" y="798576"/>
                    <a:pt x="19050" y="798576"/>
                  </a:cubicBezTo>
                  <a:cubicBezTo>
                    <a:pt x="8509" y="798576"/>
                    <a:pt x="0" y="789940"/>
                    <a:pt x="0" y="77952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205514" y="2689175"/>
            <a:ext cx="458689" cy="458689"/>
            <a:chOff x="0" y="0"/>
            <a:chExt cx="611585" cy="611585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598805" cy="598805"/>
            </a:xfrm>
            <a:custGeom>
              <a:avLst/>
              <a:gdLst/>
              <a:ahLst/>
              <a:cxnLst/>
              <a:rect l="l" t="t" r="r" b="b"/>
              <a:pathLst>
                <a:path w="598805" h="598805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87045" y="0"/>
                  </a:lnTo>
                  <a:cubicBezTo>
                    <a:pt x="548767" y="0"/>
                    <a:pt x="598805" y="50038"/>
                    <a:pt x="598805" y="111760"/>
                  </a:cubicBezTo>
                  <a:lnTo>
                    <a:pt x="598805" y="487045"/>
                  </a:lnTo>
                  <a:cubicBezTo>
                    <a:pt x="598805" y="548767"/>
                    <a:pt x="548767" y="598805"/>
                    <a:pt x="487045" y="598805"/>
                  </a:cubicBezTo>
                  <a:lnTo>
                    <a:pt x="111760" y="598805"/>
                  </a:lnTo>
                  <a:cubicBezTo>
                    <a:pt x="50038" y="598805"/>
                    <a:pt x="0" y="548767"/>
                    <a:pt x="0" y="487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611505" cy="611505"/>
            </a:xfrm>
            <a:custGeom>
              <a:avLst/>
              <a:gdLst/>
              <a:ahLst/>
              <a:cxnLst/>
              <a:rect l="l" t="t" r="r" b="b"/>
              <a:pathLst>
                <a:path w="611505" h="611505">
                  <a:moveTo>
                    <a:pt x="0" y="118110"/>
                  </a:moveTo>
                  <a:cubicBezTo>
                    <a:pt x="0" y="52959"/>
                    <a:pt x="52959" y="0"/>
                    <a:pt x="118110" y="0"/>
                  </a:cubicBez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cubicBezTo>
                    <a:pt x="558673" y="0"/>
                    <a:pt x="611505" y="52959"/>
                    <a:pt x="611505" y="118110"/>
                  </a:cubicBezTo>
                  <a:lnTo>
                    <a:pt x="605155" y="118110"/>
                  </a:lnTo>
                  <a:lnTo>
                    <a:pt x="611505" y="118110"/>
                  </a:lnTo>
                  <a:lnTo>
                    <a:pt x="611505" y="493395"/>
                  </a:lnTo>
                  <a:lnTo>
                    <a:pt x="605155" y="493395"/>
                  </a:lnTo>
                  <a:lnTo>
                    <a:pt x="611505" y="493395"/>
                  </a:lnTo>
                  <a:cubicBezTo>
                    <a:pt x="611505" y="558673"/>
                    <a:pt x="558546" y="611505"/>
                    <a:pt x="493395" y="611505"/>
                  </a:cubicBezTo>
                  <a:lnTo>
                    <a:pt x="493395" y="605155"/>
                  </a:lnTo>
                  <a:lnTo>
                    <a:pt x="493395" y="611505"/>
                  </a:lnTo>
                  <a:lnTo>
                    <a:pt x="118110" y="611505"/>
                  </a:lnTo>
                  <a:lnTo>
                    <a:pt x="118110" y="605155"/>
                  </a:lnTo>
                  <a:lnTo>
                    <a:pt x="118110" y="611505"/>
                  </a:lnTo>
                  <a:cubicBezTo>
                    <a:pt x="52832" y="611505"/>
                    <a:pt x="0" y="558546"/>
                    <a:pt x="0" y="493395"/>
                  </a:cubicBezTo>
                  <a:lnTo>
                    <a:pt x="0" y="118110"/>
                  </a:lnTo>
                  <a:lnTo>
                    <a:pt x="6350" y="118110"/>
                  </a:lnTo>
                  <a:lnTo>
                    <a:pt x="0" y="118110"/>
                  </a:lnTo>
                  <a:moveTo>
                    <a:pt x="12700" y="118110"/>
                  </a:moveTo>
                  <a:lnTo>
                    <a:pt x="12700" y="493395"/>
                  </a:lnTo>
                  <a:lnTo>
                    <a:pt x="6350" y="493395"/>
                  </a:lnTo>
                  <a:lnTo>
                    <a:pt x="12700" y="493395"/>
                  </a:lnTo>
                  <a:cubicBezTo>
                    <a:pt x="12700" y="551688"/>
                    <a:pt x="59944" y="598805"/>
                    <a:pt x="118110" y="598805"/>
                  </a:cubicBezTo>
                  <a:lnTo>
                    <a:pt x="493395" y="598805"/>
                  </a:lnTo>
                  <a:cubicBezTo>
                    <a:pt x="551688" y="598805"/>
                    <a:pt x="598805" y="551561"/>
                    <a:pt x="598805" y="493395"/>
                  </a:cubicBezTo>
                  <a:lnTo>
                    <a:pt x="598805" y="118110"/>
                  </a:lnTo>
                  <a:cubicBezTo>
                    <a:pt x="598805" y="59817"/>
                    <a:pt x="551561" y="12700"/>
                    <a:pt x="493395" y="12700"/>
                  </a:cubicBezTo>
                  <a:lnTo>
                    <a:pt x="118110" y="12700"/>
                  </a:lnTo>
                  <a:lnTo>
                    <a:pt x="118110" y="6350"/>
                  </a:lnTo>
                  <a:lnTo>
                    <a:pt x="118110" y="12700"/>
                  </a:lnTo>
                  <a:cubicBezTo>
                    <a:pt x="59944" y="12700"/>
                    <a:pt x="12700" y="59944"/>
                    <a:pt x="12700" y="11811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270180" y="2712616"/>
            <a:ext cx="329356" cy="508571"/>
            <a:chOff x="0" y="0"/>
            <a:chExt cx="439142" cy="67809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9142" cy="678095"/>
            </a:xfrm>
            <a:custGeom>
              <a:avLst/>
              <a:gdLst/>
              <a:ahLst/>
              <a:cxnLst/>
              <a:rect l="l" t="t" r="r" b="b"/>
              <a:pathLst>
                <a:path w="439142" h="678095">
                  <a:moveTo>
                    <a:pt x="0" y="0"/>
                  </a:moveTo>
                  <a:lnTo>
                    <a:pt x="439142" y="0"/>
                  </a:lnTo>
                  <a:lnTo>
                    <a:pt x="439142" y="678095"/>
                  </a:lnTo>
                  <a:lnTo>
                    <a:pt x="0" y="678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57150"/>
              <a:ext cx="439142" cy="6209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16314" y="3717131"/>
            <a:ext cx="6237238" cy="438745"/>
            <a:chOff x="0" y="0"/>
            <a:chExt cx="8316317" cy="58499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b="1" spc="-4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Slack/MS Teams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16314" y="4156322"/>
            <a:ext cx="6237238" cy="438745"/>
            <a:chOff x="0" y="0"/>
            <a:chExt cx="8316317" cy="58499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Integrates with chat platforms for real-time alerts.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838557" y="2319635"/>
            <a:ext cx="28575" cy="598885"/>
            <a:chOff x="0" y="0"/>
            <a:chExt cx="38100" cy="79851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100" cy="798576"/>
            </a:xfrm>
            <a:custGeom>
              <a:avLst/>
              <a:gdLst/>
              <a:ahLst/>
              <a:cxnLst/>
              <a:rect l="l" t="t" r="r" b="b"/>
              <a:pathLst>
                <a:path w="38100" h="79857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9526"/>
                  </a:lnTo>
                  <a:cubicBezTo>
                    <a:pt x="38100" y="790067"/>
                    <a:pt x="29591" y="798576"/>
                    <a:pt x="19050" y="798576"/>
                  </a:cubicBezTo>
                  <a:cubicBezTo>
                    <a:pt x="8509" y="798576"/>
                    <a:pt x="0" y="789940"/>
                    <a:pt x="0" y="77952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0623500" y="2689175"/>
            <a:ext cx="458689" cy="458689"/>
            <a:chOff x="0" y="0"/>
            <a:chExt cx="611585" cy="611585"/>
          </a:xfrm>
        </p:grpSpPr>
        <p:sp>
          <p:nvSpPr>
            <p:cNvPr id="42" name="Freeform 42"/>
            <p:cNvSpPr/>
            <p:nvPr/>
          </p:nvSpPr>
          <p:spPr>
            <a:xfrm>
              <a:off x="6350" y="6350"/>
              <a:ext cx="598805" cy="598805"/>
            </a:xfrm>
            <a:custGeom>
              <a:avLst/>
              <a:gdLst/>
              <a:ahLst/>
              <a:cxnLst/>
              <a:rect l="l" t="t" r="r" b="b"/>
              <a:pathLst>
                <a:path w="598805" h="598805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87045" y="0"/>
                  </a:lnTo>
                  <a:cubicBezTo>
                    <a:pt x="548767" y="0"/>
                    <a:pt x="598805" y="50038"/>
                    <a:pt x="598805" y="111760"/>
                  </a:cubicBezTo>
                  <a:lnTo>
                    <a:pt x="598805" y="487045"/>
                  </a:lnTo>
                  <a:cubicBezTo>
                    <a:pt x="598805" y="548767"/>
                    <a:pt x="548767" y="598805"/>
                    <a:pt x="487045" y="598805"/>
                  </a:cubicBezTo>
                  <a:lnTo>
                    <a:pt x="111760" y="598805"/>
                  </a:lnTo>
                  <a:cubicBezTo>
                    <a:pt x="50038" y="598805"/>
                    <a:pt x="0" y="548767"/>
                    <a:pt x="0" y="487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611505" cy="611505"/>
            </a:xfrm>
            <a:custGeom>
              <a:avLst/>
              <a:gdLst/>
              <a:ahLst/>
              <a:cxnLst/>
              <a:rect l="l" t="t" r="r" b="b"/>
              <a:pathLst>
                <a:path w="611505" h="611505">
                  <a:moveTo>
                    <a:pt x="0" y="118110"/>
                  </a:moveTo>
                  <a:cubicBezTo>
                    <a:pt x="0" y="52959"/>
                    <a:pt x="52959" y="0"/>
                    <a:pt x="118110" y="0"/>
                  </a:cubicBez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cubicBezTo>
                    <a:pt x="558673" y="0"/>
                    <a:pt x="611505" y="52959"/>
                    <a:pt x="611505" y="118110"/>
                  </a:cubicBezTo>
                  <a:lnTo>
                    <a:pt x="605155" y="118110"/>
                  </a:lnTo>
                  <a:lnTo>
                    <a:pt x="611505" y="118110"/>
                  </a:lnTo>
                  <a:lnTo>
                    <a:pt x="611505" y="493395"/>
                  </a:lnTo>
                  <a:lnTo>
                    <a:pt x="605155" y="493395"/>
                  </a:lnTo>
                  <a:lnTo>
                    <a:pt x="611505" y="493395"/>
                  </a:lnTo>
                  <a:cubicBezTo>
                    <a:pt x="611505" y="558673"/>
                    <a:pt x="558546" y="611505"/>
                    <a:pt x="493395" y="611505"/>
                  </a:cubicBezTo>
                  <a:lnTo>
                    <a:pt x="493395" y="605155"/>
                  </a:lnTo>
                  <a:lnTo>
                    <a:pt x="493395" y="611505"/>
                  </a:lnTo>
                  <a:lnTo>
                    <a:pt x="118110" y="611505"/>
                  </a:lnTo>
                  <a:lnTo>
                    <a:pt x="118110" y="605155"/>
                  </a:lnTo>
                  <a:lnTo>
                    <a:pt x="118110" y="611505"/>
                  </a:lnTo>
                  <a:cubicBezTo>
                    <a:pt x="52832" y="611505"/>
                    <a:pt x="0" y="558546"/>
                    <a:pt x="0" y="493395"/>
                  </a:cubicBezTo>
                  <a:lnTo>
                    <a:pt x="0" y="118110"/>
                  </a:lnTo>
                  <a:lnTo>
                    <a:pt x="6350" y="118110"/>
                  </a:lnTo>
                  <a:lnTo>
                    <a:pt x="0" y="118110"/>
                  </a:lnTo>
                  <a:moveTo>
                    <a:pt x="12700" y="118110"/>
                  </a:moveTo>
                  <a:lnTo>
                    <a:pt x="12700" y="493395"/>
                  </a:lnTo>
                  <a:lnTo>
                    <a:pt x="6350" y="493395"/>
                  </a:lnTo>
                  <a:lnTo>
                    <a:pt x="12700" y="493395"/>
                  </a:lnTo>
                  <a:cubicBezTo>
                    <a:pt x="12700" y="551688"/>
                    <a:pt x="59944" y="598805"/>
                    <a:pt x="118110" y="598805"/>
                  </a:cubicBezTo>
                  <a:lnTo>
                    <a:pt x="493395" y="598805"/>
                  </a:lnTo>
                  <a:cubicBezTo>
                    <a:pt x="551688" y="598805"/>
                    <a:pt x="598805" y="551561"/>
                    <a:pt x="598805" y="493395"/>
                  </a:cubicBezTo>
                  <a:lnTo>
                    <a:pt x="598805" y="118110"/>
                  </a:lnTo>
                  <a:cubicBezTo>
                    <a:pt x="598805" y="59817"/>
                    <a:pt x="551561" y="12700"/>
                    <a:pt x="493395" y="12700"/>
                  </a:cubicBezTo>
                  <a:lnTo>
                    <a:pt x="118110" y="12700"/>
                  </a:lnTo>
                  <a:lnTo>
                    <a:pt x="118110" y="6350"/>
                  </a:lnTo>
                  <a:lnTo>
                    <a:pt x="118110" y="12700"/>
                  </a:lnTo>
                  <a:cubicBezTo>
                    <a:pt x="59944" y="12700"/>
                    <a:pt x="12700" y="59944"/>
                    <a:pt x="12700" y="11811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0688166" y="2712616"/>
            <a:ext cx="329356" cy="508571"/>
            <a:chOff x="0" y="0"/>
            <a:chExt cx="439142" cy="67809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9142" cy="678095"/>
            </a:xfrm>
            <a:custGeom>
              <a:avLst/>
              <a:gdLst/>
              <a:ahLst/>
              <a:cxnLst/>
              <a:rect l="l" t="t" r="r" b="b"/>
              <a:pathLst>
                <a:path w="439142" h="678095">
                  <a:moveTo>
                    <a:pt x="0" y="0"/>
                  </a:moveTo>
                  <a:lnTo>
                    <a:pt x="439142" y="0"/>
                  </a:lnTo>
                  <a:lnTo>
                    <a:pt x="439142" y="678095"/>
                  </a:lnTo>
                  <a:lnTo>
                    <a:pt x="0" y="678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57150"/>
              <a:ext cx="439142" cy="6209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734300" y="1361182"/>
            <a:ext cx="6237237" cy="438745"/>
            <a:chOff x="0" y="0"/>
            <a:chExt cx="8316317" cy="58499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b="1" spc="-4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Webhook Notifications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734300" y="1800374"/>
            <a:ext cx="6765876" cy="438745"/>
            <a:chOff x="0" y="0"/>
            <a:chExt cx="9021168" cy="58499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021168" cy="584994"/>
            </a:xfrm>
            <a:custGeom>
              <a:avLst/>
              <a:gdLst/>
              <a:ahLst/>
              <a:cxnLst/>
              <a:rect l="l" t="t" r="r" b="b"/>
              <a:pathLst>
                <a:path w="9021168" h="584994">
                  <a:moveTo>
                    <a:pt x="0" y="0"/>
                  </a:moveTo>
                  <a:lnTo>
                    <a:pt x="9021168" y="0"/>
                  </a:lnTo>
                  <a:lnTo>
                    <a:pt x="9021168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9021168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Sends data to monitoring tools or custom dashboards.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256544" y="2918520"/>
            <a:ext cx="28575" cy="598885"/>
            <a:chOff x="0" y="0"/>
            <a:chExt cx="38100" cy="79851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8100" cy="798576"/>
            </a:xfrm>
            <a:custGeom>
              <a:avLst/>
              <a:gdLst/>
              <a:ahLst/>
              <a:cxnLst/>
              <a:rect l="l" t="t" r="r" b="b"/>
              <a:pathLst>
                <a:path w="38100" h="79857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9526"/>
                  </a:lnTo>
                  <a:cubicBezTo>
                    <a:pt x="38100" y="790067"/>
                    <a:pt x="29591" y="798576"/>
                    <a:pt x="19050" y="798576"/>
                  </a:cubicBezTo>
                  <a:cubicBezTo>
                    <a:pt x="8509" y="798576"/>
                    <a:pt x="0" y="789940"/>
                    <a:pt x="0" y="77952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4041488" y="2689175"/>
            <a:ext cx="458689" cy="458689"/>
            <a:chOff x="0" y="0"/>
            <a:chExt cx="611585" cy="611585"/>
          </a:xfrm>
        </p:grpSpPr>
        <p:sp>
          <p:nvSpPr>
            <p:cNvPr id="56" name="Freeform 56"/>
            <p:cNvSpPr/>
            <p:nvPr/>
          </p:nvSpPr>
          <p:spPr>
            <a:xfrm>
              <a:off x="6350" y="6350"/>
              <a:ext cx="598805" cy="598805"/>
            </a:xfrm>
            <a:custGeom>
              <a:avLst/>
              <a:gdLst/>
              <a:ahLst/>
              <a:cxnLst/>
              <a:rect l="l" t="t" r="r" b="b"/>
              <a:pathLst>
                <a:path w="598805" h="598805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87045" y="0"/>
                  </a:lnTo>
                  <a:cubicBezTo>
                    <a:pt x="548767" y="0"/>
                    <a:pt x="598805" y="50038"/>
                    <a:pt x="598805" y="111760"/>
                  </a:cubicBezTo>
                  <a:lnTo>
                    <a:pt x="598805" y="487045"/>
                  </a:lnTo>
                  <a:cubicBezTo>
                    <a:pt x="598805" y="548767"/>
                    <a:pt x="548767" y="598805"/>
                    <a:pt x="487045" y="598805"/>
                  </a:cubicBezTo>
                  <a:lnTo>
                    <a:pt x="111760" y="598805"/>
                  </a:lnTo>
                  <a:cubicBezTo>
                    <a:pt x="50038" y="598805"/>
                    <a:pt x="0" y="548767"/>
                    <a:pt x="0" y="487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0"/>
              <a:ext cx="611505" cy="611505"/>
            </a:xfrm>
            <a:custGeom>
              <a:avLst/>
              <a:gdLst/>
              <a:ahLst/>
              <a:cxnLst/>
              <a:rect l="l" t="t" r="r" b="b"/>
              <a:pathLst>
                <a:path w="611505" h="611505">
                  <a:moveTo>
                    <a:pt x="0" y="118110"/>
                  </a:moveTo>
                  <a:cubicBezTo>
                    <a:pt x="0" y="52959"/>
                    <a:pt x="52959" y="0"/>
                    <a:pt x="118110" y="0"/>
                  </a:cubicBez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cubicBezTo>
                    <a:pt x="558673" y="0"/>
                    <a:pt x="611505" y="52959"/>
                    <a:pt x="611505" y="118110"/>
                  </a:cubicBezTo>
                  <a:lnTo>
                    <a:pt x="605155" y="118110"/>
                  </a:lnTo>
                  <a:lnTo>
                    <a:pt x="611505" y="118110"/>
                  </a:lnTo>
                  <a:lnTo>
                    <a:pt x="611505" y="493395"/>
                  </a:lnTo>
                  <a:lnTo>
                    <a:pt x="605155" y="493395"/>
                  </a:lnTo>
                  <a:lnTo>
                    <a:pt x="611505" y="493395"/>
                  </a:lnTo>
                  <a:cubicBezTo>
                    <a:pt x="611505" y="558673"/>
                    <a:pt x="558546" y="611505"/>
                    <a:pt x="493395" y="611505"/>
                  </a:cubicBezTo>
                  <a:lnTo>
                    <a:pt x="493395" y="605155"/>
                  </a:lnTo>
                  <a:lnTo>
                    <a:pt x="493395" y="611505"/>
                  </a:lnTo>
                  <a:lnTo>
                    <a:pt x="118110" y="611505"/>
                  </a:lnTo>
                  <a:lnTo>
                    <a:pt x="118110" y="605155"/>
                  </a:lnTo>
                  <a:lnTo>
                    <a:pt x="118110" y="611505"/>
                  </a:lnTo>
                  <a:cubicBezTo>
                    <a:pt x="52832" y="611505"/>
                    <a:pt x="0" y="558546"/>
                    <a:pt x="0" y="493395"/>
                  </a:cubicBezTo>
                  <a:lnTo>
                    <a:pt x="0" y="118110"/>
                  </a:lnTo>
                  <a:lnTo>
                    <a:pt x="6350" y="118110"/>
                  </a:lnTo>
                  <a:lnTo>
                    <a:pt x="0" y="118110"/>
                  </a:lnTo>
                  <a:moveTo>
                    <a:pt x="12700" y="118110"/>
                  </a:moveTo>
                  <a:lnTo>
                    <a:pt x="12700" y="493395"/>
                  </a:lnTo>
                  <a:lnTo>
                    <a:pt x="6350" y="493395"/>
                  </a:lnTo>
                  <a:lnTo>
                    <a:pt x="12700" y="493395"/>
                  </a:lnTo>
                  <a:cubicBezTo>
                    <a:pt x="12700" y="551688"/>
                    <a:pt x="59944" y="598805"/>
                    <a:pt x="118110" y="598805"/>
                  </a:cubicBezTo>
                  <a:lnTo>
                    <a:pt x="493395" y="598805"/>
                  </a:lnTo>
                  <a:cubicBezTo>
                    <a:pt x="551688" y="598805"/>
                    <a:pt x="598805" y="551561"/>
                    <a:pt x="598805" y="493395"/>
                  </a:cubicBezTo>
                  <a:lnTo>
                    <a:pt x="598805" y="118110"/>
                  </a:lnTo>
                  <a:cubicBezTo>
                    <a:pt x="598805" y="59817"/>
                    <a:pt x="551561" y="12700"/>
                    <a:pt x="493395" y="12700"/>
                  </a:cubicBezTo>
                  <a:lnTo>
                    <a:pt x="118110" y="12700"/>
                  </a:lnTo>
                  <a:lnTo>
                    <a:pt x="118110" y="6350"/>
                  </a:lnTo>
                  <a:lnTo>
                    <a:pt x="118110" y="12700"/>
                  </a:lnTo>
                  <a:cubicBezTo>
                    <a:pt x="59944" y="12700"/>
                    <a:pt x="12700" y="59944"/>
                    <a:pt x="12700" y="11811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4106152" y="2712616"/>
            <a:ext cx="329356" cy="508571"/>
            <a:chOff x="0" y="0"/>
            <a:chExt cx="439142" cy="67809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39142" cy="678095"/>
            </a:xfrm>
            <a:custGeom>
              <a:avLst/>
              <a:gdLst/>
              <a:ahLst/>
              <a:cxnLst/>
              <a:rect l="l" t="t" r="r" b="b"/>
              <a:pathLst>
                <a:path w="439142" h="678095">
                  <a:moveTo>
                    <a:pt x="0" y="0"/>
                  </a:moveTo>
                  <a:lnTo>
                    <a:pt x="439142" y="0"/>
                  </a:lnTo>
                  <a:lnTo>
                    <a:pt x="439142" y="678095"/>
                  </a:lnTo>
                  <a:lnTo>
                    <a:pt x="0" y="678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57150"/>
              <a:ext cx="439142" cy="6209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4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152286" y="3717131"/>
            <a:ext cx="6237237" cy="438745"/>
            <a:chOff x="0" y="0"/>
            <a:chExt cx="8316317" cy="58499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b="1" spc="-4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GitHub/GitLab Notifications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152286" y="4156322"/>
            <a:ext cx="6237237" cy="438745"/>
            <a:chOff x="0" y="0"/>
            <a:chExt cx="8316317" cy="58499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Displays CI/CD statuses within the repository.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671321" y="5143500"/>
            <a:ext cx="4945357" cy="559788"/>
            <a:chOff x="0" y="0"/>
            <a:chExt cx="6593810" cy="74638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593810" cy="746384"/>
            </a:xfrm>
            <a:custGeom>
              <a:avLst/>
              <a:gdLst/>
              <a:ahLst/>
              <a:cxnLst/>
              <a:rect l="l" t="t" r="r" b="b"/>
              <a:pathLst>
                <a:path w="6593810" h="746384">
                  <a:moveTo>
                    <a:pt x="0" y="0"/>
                  </a:moveTo>
                  <a:lnTo>
                    <a:pt x="6593810" y="0"/>
                  </a:lnTo>
                  <a:lnTo>
                    <a:pt x="6593810" y="746384"/>
                  </a:lnTo>
                  <a:lnTo>
                    <a:pt x="0" y="7463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6593810" cy="76543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182"/>
                </a:lnSpc>
              </a:pPr>
              <a:r>
                <a:rPr lang="en-US" sz="3362" spc="-68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Reporting in CICD pipelines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98748" y="7611666"/>
            <a:ext cx="16890504" cy="28575"/>
            <a:chOff x="0" y="0"/>
            <a:chExt cx="22520672" cy="381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2520656" cy="38100"/>
            </a:xfrm>
            <a:custGeom>
              <a:avLst/>
              <a:gdLst/>
              <a:ahLst/>
              <a:cxnLst/>
              <a:rect l="l" t="t" r="r" b="b"/>
              <a:pathLst>
                <a:path w="22520656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2501606" y="0"/>
                  </a:lnTo>
                  <a:cubicBezTo>
                    <a:pt x="22512147" y="0"/>
                    <a:pt x="22520656" y="8509"/>
                    <a:pt x="22520656" y="19050"/>
                  </a:cubicBezTo>
                  <a:cubicBezTo>
                    <a:pt x="22520656" y="29591"/>
                    <a:pt x="22512147" y="38100"/>
                    <a:pt x="22501606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4002584" y="7012781"/>
            <a:ext cx="28575" cy="598885"/>
            <a:chOff x="0" y="0"/>
            <a:chExt cx="38100" cy="79851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8100" cy="798576"/>
            </a:xfrm>
            <a:custGeom>
              <a:avLst/>
              <a:gdLst/>
              <a:ahLst/>
              <a:cxnLst/>
              <a:rect l="l" t="t" r="r" b="b"/>
              <a:pathLst>
                <a:path w="38100" h="79857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9526"/>
                  </a:lnTo>
                  <a:cubicBezTo>
                    <a:pt x="38100" y="790067"/>
                    <a:pt x="29591" y="798576"/>
                    <a:pt x="19050" y="798576"/>
                  </a:cubicBezTo>
                  <a:cubicBezTo>
                    <a:pt x="8509" y="798576"/>
                    <a:pt x="0" y="789940"/>
                    <a:pt x="0" y="77952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3787527" y="7382321"/>
            <a:ext cx="458689" cy="458689"/>
            <a:chOff x="0" y="0"/>
            <a:chExt cx="611585" cy="611585"/>
          </a:xfrm>
        </p:grpSpPr>
        <p:sp>
          <p:nvSpPr>
            <p:cNvPr id="75" name="Freeform 75"/>
            <p:cNvSpPr/>
            <p:nvPr/>
          </p:nvSpPr>
          <p:spPr>
            <a:xfrm>
              <a:off x="6350" y="6350"/>
              <a:ext cx="598805" cy="598805"/>
            </a:xfrm>
            <a:custGeom>
              <a:avLst/>
              <a:gdLst/>
              <a:ahLst/>
              <a:cxnLst/>
              <a:rect l="l" t="t" r="r" b="b"/>
              <a:pathLst>
                <a:path w="598805" h="598805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87045" y="0"/>
                  </a:lnTo>
                  <a:cubicBezTo>
                    <a:pt x="548767" y="0"/>
                    <a:pt x="598805" y="50038"/>
                    <a:pt x="598805" y="111760"/>
                  </a:cubicBezTo>
                  <a:lnTo>
                    <a:pt x="598805" y="487045"/>
                  </a:lnTo>
                  <a:cubicBezTo>
                    <a:pt x="598805" y="548767"/>
                    <a:pt x="548767" y="598805"/>
                    <a:pt x="487045" y="598805"/>
                  </a:cubicBezTo>
                  <a:lnTo>
                    <a:pt x="111760" y="598805"/>
                  </a:lnTo>
                  <a:cubicBezTo>
                    <a:pt x="50038" y="598805"/>
                    <a:pt x="0" y="548767"/>
                    <a:pt x="0" y="487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611505" cy="611505"/>
            </a:xfrm>
            <a:custGeom>
              <a:avLst/>
              <a:gdLst/>
              <a:ahLst/>
              <a:cxnLst/>
              <a:rect l="l" t="t" r="r" b="b"/>
              <a:pathLst>
                <a:path w="611505" h="611505">
                  <a:moveTo>
                    <a:pt x="0" y="118110"/>
                  </a:moveTo>
                  <a:cubicBezTo>
                    <a:pt x="0" y="52959"/>
                    <a:pt x="52959" y="0"/>
                    <a:pt x="118110" y="0"/>
                  </a:cubicBez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cubicBezTo>
                    <a:pt x="558673" y="0"/>
                    <a:pt x="611505" y="52959"/>
                    <a:pt x="611505" y="118110"/>
                  </a:cubicBezTo>
                  <a:lnTo>
                    <a:pt x="605155" y="118110"/>
                  </a:lnTo>
                  <a:lnTo>
                    <a:pt x="611505" y="118110"/>
                  </a:lnTo>
                  <a:lnTo>
                    <a:pt x="611505" y="493395"/>
                  </a:lnTo>
                  <a:lnTo>
                    <a:pt x="605155" y="493395"/>
                  </a:lnTo>
                  <a:lnTo>
                    <a:pt x="611505" y="493395"/>
                  </a:lnTo>
                  <a:cubicBezTo>
                    <a:pt x="611505" y="558673"/>
                    <a:pt x="558546" y="611505"/>
                    <a:pt x="493395" y="611505"/>
                  </a:cubicBezTo>
                  <a:lnTo>
                    <a:pt x="493395" y="605155"/>
                  </a:lnTo>
                  <a:lnTo>
                    <a:pt x="493395" y="611505"/>
                  </a:lnTo>
                  <a:lnTo>
                    <a:pt x="118110" y="611505"/>
                  </a:lnTo>
                  <a:lnTo>
                    <a:pt x="118110" y="605155"/>
                  </a:lnTo>
                  <a:lnTo>
                    <a:pt x="118110" y="611505"/>
                  </a:lnTo>
                  <a:cubicBezTo>
                    <a:pt x="52832" y="611505"/>
                    <a:pt x="0" y="558546"/>
                    <a:pt x="0" y="493395"/>
                  </a:cubicBezTo>
                  <a:lnTo>
                    <a:pt x="0" y="118110"/>
                  </a:lnTo>
                  <a:lnTo>
                    <a:pt x="6350" y="118110"/>
                  </a:lnTo>
                  <a:lnTo>
                    <a:pt x="0" y="118110"/>
                  </a:lnTo>
                  <a:moveTo>
                    <a:pt x="12700" y="118110"/>
                  </a:moveTo>
                  <a:lnTo>
                    <a:pt x="12700" y="493395"/>
                  </a:lnTo>
                  <a:lnTo>
                    <a:pt x="6350" y="493395"/>
                  </a:lnTo>
                  <a:lnTo>
                    <a:pt x="12700" y="493395"/>
                  </a:lnTo>
                  <a:cubicBezTo>
                    <a:pt x="12700" y="551688"/>
                    <a:pt x="59944" y="598805"/>
                    <a:pt x="118110" y="598805"/>
                  </a:cubicBezTo>
                  <a:lnTo>
                    <a:pt x="493395" y="598805"/>
                  </a:lnTo>
                  <a:cubicBezTo>
                    <a:pt x="551688" y="598805"/>
                    <a:pt x="598805" y="551561"/>
                    <a:pt x="598805" y="493395"/>
                  </a:cubicBezTo>
                  <a:lnTo>
                    <a:pt x="598805" y="118110"/>
                  </a:lnTo>
                  <a:cubicBezTo>
                    <a:pt x="598805" y="59817"/>
                    <a:pt x="551561" y="12700"/>
                    <a:pt x="493395" y="12700"/>
                  </a:cubicBezTo>
                  <a:lnTo>
                    <a:pt x="118110" y="12700"/>
                  </a:lnTo>
                  <a:lnTo>
                    <a:pt x="118110" y="6350"/>
                  </a:lnTo>
                  <a:lnTo>
                    <a:pt x="118110" y="12700"/>
                  </a:lnTo>
                  <a:cubicBezTo>
                    <a:pt x="59944" y="12700"/>
                    <a:pt x="12700" y="59944"/>
                    <a:pt x="12700" y="11811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3852192" y="7405763"/>
            <a:ext cx="329356" cy="508571"/>
            <a:chOff x="0" y="0"/>
            <a:chExt cx="439142" cy="678095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39142" cy="678095"/>
            </a:xfrm>
            <a:custGeom>
              <a:avLst/>
              <a:gdLst/>
              <a:ahLst/>
              <a:cxnLst/>
              <a:rect l="l" t="t" r="r" b="b"/>
              <a:pathLst>
                <a:path w="439142" h="678095">
                  <a:moveTo>
                    <a:pt x="0" y="0"/>
                  </a:moveTo>
                  <a:lnTo>
                    <a:pt x="439142" y="0"/>
                  </a:lnTo>
                  <a:lnTo>
                    <a:pt x="439142" y="678095"/>
                  </a:lnTo>
                  <a:lnTo>
                    <a:pt x="0" y="678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0" y="57150"/>
              <a:ext cx="439142" cy="6209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2644229" y="6030665"/>
            <a:ext cx="2745433" cy="440201"/>
            <a:chOff x="0" y="0"/>
            <a:chExt cx="3660577" cy="58693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660577" cy="586934"/>
            </a:xfrm>
            <a:custGeom>
              <a:avLst/>
              <a:gdLst/>
              <a:ahLst/>
              <a:cxnLst/>
              <a:rect l="l" t="t" r="r" b="b"/>
              <a:pathLst>
                <a:path w="3660577" h="586934">
                  <a:moveTo>
                    <a:pt x="0" y="0"/>
                  </a:moveTo>
                  <a:lnTo>
                    <a:pt x="3660577" y="0"/>
                  </a:lnTo>
                  <a:lnTo>
                    <a:pt x="3660577" y="586934"/>
                  </a:lnTo>
                  <a:lnTo>
                    <a:pt x="0" y="5869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3660577" cy="6155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9"/>
                </a:lnSpc>
              </a:pPr>
              <a:r>
                <a:rPr lang="en-US" sz="2624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Test Reports 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98326" y="6493520"/>
            <a:ext cx="6237237" cy="848320"/>
            <a:chOff x="0" y="0"/>
            <a:chExt cx="8316317" cy="113109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316316" cy="1131094"/>
            </a:xfrm>
            <a:custGeom>
              <a:avLst/>
              <a:gdLst/>
              <a:ahLst/>
              <a:cxnLst/>
              <a:rect l="l" t="t" r="r" b="b"/>
              <a:pathLst>
                <a:path w="8316316" h="1131094">
                  <a:moveTo>
                    <a:pt x="0" y="0"/>
                  </a:moveTo>
                  <a:lnTo>
                    <a:pt x="8316316" y="0"/>
                  </a:lnTo>
                  <a:lnTo>
                    <a:pt x="8316316" y="1131094"/>
                  </a:lnTo>
                  <a:lnTo>
                    <a:pt x="0" y="1131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85725"/>
              <a:ext cx="8316317" cy="12168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Summarizes unit, integration, and functional test results.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420570" y="7611666"/>
            <a:ext cx="28575" cy="598885"/>
            <a:chOff x="0" y="0"/>
            <a:chExt cx="38100" cy="798513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8100" cy="798576"/>
            </a:xfrm>
            <a:custGeom>
              <a:avLst/>
              <a:gdLst/>
              <a:ahLst/>
              <a:cxnLst/>
              <a:rect l="l" t="t" r="r" b="b"/>
              <a:pathLst>
                <a:path w="38100" h="79857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9526"/>
                  </a:lnTo>
                  <a:cubicBezTo>
                    <a:pt x="38100" y="790067"/>
                    <a:pt x="29591" y="798576"/>
                    <a:pt x="19050" y="798576"/>
                  </a:cubicBezTo>
                  <a:cubicBezTo>
                    <a:pt x="8509" y="798576"/>
                    <a:pt x="0" y="789940"/>
                    <a:pt x="0" y="77952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7205514" y="7382321"/>
            <a:ext cx="458689" cy="458689"/>
            <a:chOff x="0" y="0"/>
            <a:chExt cx="611585" cy="611585"/>
          </a:xfrm>
        </p:grpSpPr>
        <p:sp>
          <p:nvSpPr>
            <p:cNvPr id="89" name="Freeform 89"/>
            <p:cNvSpPr/>
            <p:nvPr/>
          </p:nvSpPr>
          <p:spPr>
            <a:xfrm>
              <a:off x="6350" y="6350"/>
              <a:ext cx="598805" cy="598805"/>
            </a:xfrm>
            <a:custGeom>
              <a:avLst/>
              <a:gdLst/>
              <a:ahLst/>
              <a:cxnLst/>
              <a:rect l="l" t="t" r="r" b="b"/>
              <a:pathLst>
                <a:path w="598805" h="598805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87045" y="0"/>
                  </a:lnTo>
                  <a:cubicBezTo>
                    <a:pt x="548767" y="0"/>
                    <a:pt x="598805" y="50038"/>
                    <a:pt x="598805" y="111760"/>
                  </a:cubicBezTo>
                  <a:lnTo>
                    <a:pt x="598805" y="487045"/>
                  </a:lnTo>
                  <a:cubicBezTo>
                    <a:pt x="598805" y="548767"/>
                    <a:pt x="548767" y="598805"/>
                    <a:pt x="487045" y="598805"/>
                  </a:cubicBezTo>
                  <a:lnTo>
                    <a:pt x="111760" y="598805"/>
                  </a:lnTo>
                  <a:cubicBezTo>
                    <a:pt x="50038" y="598805"/>
                    <a:pt x="0" y="548767"/>
                    <a:pt x="0" y="487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0" name="Freeform 90"/>
            <p:cNvSpPr/>
            <p:nvPr/>
          </p:nvSpPr>
          <p:spPr>
            <a:xfrm>
              <a:off x="0" y="0"/>
              <a:ext cx="611505" cy="611505"/>
            </a:xfrm>
            <a:custGeom>
              <a:avLst/>
              <a:gdLst/>
              <a:ahLst/>
              <a:cxnLst/>
              <a:rect l="l" t="t" r="r" b="b"/>
              <a:pathLst>
                <a:path w="611505" h="611505">
                  <a:moveTo>
                    <a:pt x="0" y="118110"/>
                  </a:moveTo>
                  <a:cubicBezTo>
                    <a:pt x="0" y="52959"/>
                    <a:pt x="52959" y="0"/>
                    <a:pt x="118110" y="0"/>
                  </a:cubicBez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cubicBezTo>
                    <a:pt x="558673" y="0"/>
                    <a:pt x="611505" y="52959"/>
                    <a:pt x="611505" y="118110"/>
                  </a:cubicBezTo>
                  <a:lnTo>
                    <a:pt x="605155" y="118110"/>
                  </a:lnTo>
                  <a:lnTo>
                    <a:pt x="611505" y="118110"/>
                  </a:lnTo>
                  <a:lnTo>
                    <a:pt x="611505" y="493395"/>
                  </a:lnTo>
                  <a:lnTo>
                    <a:pt x="605155" y="493395"/>
                  </a:lnTo>
                  <a:lnTo>
                    <a:pt x="611505" y="493395"/>
                  </a:lnTo>
                  <a:cubicBezTo>
                    <a:pt x="611505" y="558673"/>
                    <a:pt x="558546" y="611505"/>
                    <a:pt x="493395" y="611505"/>
                  </a:cubicBezTo>
                  <a:lnTo>
                    <a:pt x="493395" y="605155"/>
                  </a:lnTo>
                  <a:lnTo>
                    <a:pt x="493395" y="611505"/>
                  </a:lnTo>
                  <a:lnTo>
                    <a:pt x="118110" y="611505"/>
                  </a:lnTo>
                  <a:lnTo>
                    <a:pt x="118110" y="605155"/>
                  </a:lnTo>
                  <a:lnTo>
                    <a:pt x="118110" y="611505"/>
                  </a:lnTo>
                  <a:cubicBezTo>
                    <a:pt x="52832" y="611505"/>
                    <a:pt x="0" y="558546"/>
                    <a:pt x="0" y="493395"/>
                  </a:cubicBezTo>
                  <a:lnTo>
                    <a:pt x="0" y="118110"/>
                  </a:lnTo>
                  <a:lnTo>
                    <a:pt x="6350" y="118110"/>
                  </a:lnTo>
                  <a:lnTo>
                    <a:pt x="0" y="118110"/>
                  </a:lnTo>
                  <a:moveTo>
                    <a:pt x="12700" y="118110"/>
                  </a:moveTo>
                  <a:lnTo>
                    <a:pt x="12700" y="493395"/>
                  </a:lnTo>
                  <a:lnTo>
                    <a:pt x="6350" y="493395"/>
                  </a:lnTo>
                  <a:lnTo>
                    <a:pt x="12700" y="493395"/>
                  </a:lnTo>
                  <a:cubicBezTo>
                    <a:pt x="12700" y="551688"/>
                    <a:pt x="59944" y="598805"/>
                    <a:pt x="118110" y="598805"/>
                  </a:cubicBezTo>
                  <a:lnTo>
                    <a:pt x="493395" y="598805"/>
                  </a:lnTo>
                  <a:cubicBezTo>
                    <a:pt x="551688" y="598805"/>
                    <a:pt x="598805" y="551561"/>
                    <a:pt x="598805" y="493395"/>
                  </a:cubicBezTo>
                  <a:lnTo>
                    <a:pt x="598805" y="118110"/>
                  </a:lnTo>
                  <a:cubicBezTo>
                    <a:pt x="598805" y="59817"/>
                    <a:pt x="551561" y="12700"/>
                    <a:pt x="493395" y="12700"/>
                  </a:cubicBezTo>
                  <a:lnTo>
                    <a:pt x="118110" y="12700"/>
                  </a:lnTo>
                  <a:lnTo>
                    <a:pt x="118110" y="6350"/>
                  </a:lnTo>
                  <a:lnTo>
                    <a:pt x="118110" y="12700"/>
                  </a:lnTo>
                  <a:cubicBezTo>
                    <a:pt x="59944" y="12700"/>
                    <a:pt x="12700" y="59944"/>
                    <a:pt x="12700" y="11811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7270180" y="7405763"/>
            <a:ext cx="329356" cy="508571"/>
            <a:chOff x="0" y="0"/>
            <a:chExt cx="439142" cy="678095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439142" cy="678095"/>
            </a:xfrm>
            <a:custGeom>
              <a:avLst/>
              <a:gdLst/>
              <a:ahLst/>
              <a:cxnLst/>
              <a:rect l="l" t="t" r="r" b="b"/>
              <a:pathLst>
                <a:path w="439142" h="678095">
                  <a:moveTo>
                    <a:pt x="0" y="0"/>
                  </a:moveTo>
                  <a:lnTo>
                    <a:pt x="439142" y="0"/>
                  </a:lnTo>
                  <a:lnTo>
                    <a:pt x="439142" y="678095"/>
                  </a:lnTo>
                  <a:lnTo>
                    <a:pt x="0" y="678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3" name="TextBox 93"/>
            <p:cNvSpPr txBox="1"/>
            <p:nvPr/>
          </p:nvSpPr>
          <p:spPr>
            <a:xfrm>
              <a:off x="0" y="57150"/>
              <a:ext cx="439142" cy="6209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790533" y="8410278"/>
            <a:ext cx="3618007" cy="440201"/>
            <a:chOff x="0" y="0"/>
            <a:chExt cx="4824010" cy="58693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824010" cy="586934"/>
            </a:xfrm>
            <a:custGeom>
              <a:avLst/>
              <a:gdLst/>
              <a:ahLst/>
              <a:cxnLst/>
              <a:rect l="l" t="t" r="r" b="b"/>
              <a:pathLst>
                <a:path w="4824010" h="586934">
                  <a:moveTo>
                    <a:pt x="0" y="0"/>
                  </a:moveTo>
                  <a:lnTo>
                    <a:pt x="4824010" y="0"/>
                  </a:lnTo>
                  <a:lnTo>
                    <a:pt x="4824010" y="586934"/>
                  </a:lnTo>
                  <a:lnTo>
                    <a:pt x="0" y="5869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6" name="TextBox 96"/>
            <p:cNvSpPr txBox="1"/>
            <p:nvPr/>
          </p:nvSpPr>
          <p:spPr>
            <a:xfrm>
              <a:off x="0" y="-28575"/>
              <a:ext cx="4824010" cy="6155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9"/>
                </a:lnSpc>
              </a:pPr>
              <a:r>
                <a:rPr lang="en-US" sz="2624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Code Coverage Reports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4316314" y="8873132"/>
            <a:ext cx="6237238" cy="438745"/>
            <a:chOff x="0" y="0"/>
            <a:chExt cx="8316317" cy="584994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9" name="TextBox 99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Highlights how much code is tested.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0838557" y="7012781"/>
            <a:ext cx="28575" cy="598885"/>
            <a:chOff x="0" y="0"/>
            <a:chExt cx="38100" cy="798513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8100" cy="798576"/>
            </a:xfrm>
            <a:custGeom>
              <a:avLst/>
              <a:gdLst/>
              <a:ahLst/>
              <a:cxnLst/>
              <a:rect l="l" t="t" r="r" b="b"/>
              <a:pathLst>
                <a:path w="38100" h="79857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9526"/>
                  </a:lnTo>
                  <a:cubicBezTo>
                    <a:pt x="38100" y="790067"/>
                    <a:pt x="29591" y="798576"/>
                    <a:pt x="19050" y="798576"/>
                  </a:cubicBezTo>
                  <a:cubicBezTo>
                    <a:pt x="8509" y="798576"/>
                    <a:pt x="0" y="789940"/>
                    <a:pt x="0" y="77952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102" name="Group 102"/>
          <p:cNvGrpSpPr/>
          <p:nvPr/>
        </p:nvGrpSpPr>
        <p:grpSpPr>
          <a:xfrm>
            <a:off x="10623500" y="7382321"/>
            <a:ext cx="458689" cy="458689"/>
            <a:chOff x="0" y="0"/>
            <a:chExt cx="611585" cy="611585"/>
          </a:xfrm>
        </p:grpSpPr>
        <p:sp>
          <p:nvSpPr>
            <p:cNvPr id="103" name="Freeform 103"/>
            <p:cNvSpPr/>
            <p:nvPr/>
          </p:nvSpPr>
          <p:spPr>
            <a:xfrm>
              <a:off x="6350" y="6350"/>
              <a:ext cx="598805" cy="598805"/>
            </a:xfrm>
            <a:custGeom>
              <a:avLst/>
              <a:gdLst/>
              <a:ahLst/>
              <a:cxnLst/>
              <a:rect l="l" t="t" r="r" b="b"/>
              <a:pathLst>
                <a:path w="598805" h="598805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87045" y="0"/>
                  </a:lnTo>
                  <a:cubicBezTo>
                    <a:pt x="548767" y="0"/>
                    <a:pt x="598805" y="50038"/>
                    <a:pt x="598805" y="111760"/>
                  </a:cubicBezTo>
                  <a:lnTo>
                    <a:pt x="598805" y="487045"/>
                  </a:lnTo>
                  <a:cubicBezTo>
                    <a:pt x="598805" y="548767"/>
                    <a:pt x="548767" y="598805"/>
                    <a:pt x="487045" y="598805"/>
                  </a:cubicBezTo>
                  <a:lnTo>
                    <a:pt x="111760" y="598805"/>
                  </a:lnTo>
                  <a:cubicBezTo>
                    <a:pt x="50038" y="598805"/>
                    <a:pt x="0" y="548767"/>
                    <a:pt x="0" y="487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" name="Freeform 104"/>
            <p:cNvSpPr/>
            <p:nvPr/>
          </p:nvSpPr>
          <p:spPr>
            <a:xfrm>
              <a:off x="0" y="0"/>
              <a:ext cx="611505" cy="611505"/>
            </a:xfrm>
            <a:custGeom>
              <a:avLst/>
              <a:gdLst/>
              <a:ahLst/>
              <a:cxnLst/>
              <a:rect l="l" t="t" r="r" b="b"/>
              <a:pathLst>
                <a:path w="611505" h="611505">
                  <a:moveTo>
                    <a:pt x="0" y="118110"/>
                  </a:moveTo>
                  <a:cubicBezTo>
                    <a:pt x="0" y="52959"/>
                    <a:pt x="52959" y="0"/>
                    <a:pt x="118110" y="0"/>
                  </a:cubicBez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cubicBezTo>
                    <a:pt x="558673" y="0"/>
                    <a:pt x="611505" y="52959"/>
                    <a:pt x="611505" y="118110"/>
                  </a:cubicBezTo>
                  <a:lnTo>
                    <a:pt x="605155" y="118110"/>
                  </a:lnTo>
                  <a:lnTo>
                    <a:pt x="611505" y="118110"/>
                  </a:lnTo>
                  <a:lnTo>
                    <a:pt x="611505" y="493395"/>
                  </a:lnTo>
                  <a:lnTo>
                    <a:pt x="605155" y="493395"/>
                  </a:lnTo>
                  <a:lnTo>
                    <a:pt x="611505" y="493395"/>
                  </a:lnTo>
                  <a:cubicBezTo>
                    <a:pt x="611505" y="558673"/>
                    <a:pt x="558546" y="611505"/>
                    <a:pt x="493395" y="611505"/>
                  </a:cubicBezTo>
                  <a:lnTo>
                    <a:pt x="493395" y="605155"/>
                  </a:lnTo>
                  <a:lnTo>
                    <a:pt x="493395" y="611505"/>
                  </a:lnTo>
                  <a:lnTo>
                    <a:pt x="118110" y="611505"/>
                  </a:lnTo>
                  <a:lnTo>
                    <a:pt x="118110" y="605155"/>
                  </a:lnTo>
                  <a:lnTo>
                    <a:pt x="118110" y="611505"/>
                  </a:lnTo>
                  <a:cubicBezTo>
                    <a:pt x="52832" y="611505"/>
                    <a:pt x="0" y="558546"/>
                    <a:pt x="0" y="493395"/>
                  </a:cubicBezTo>
                  <a:lnTo>
                    <a:pt x="0" y="118110"/>
                  </a:lnTo>
                  <a:lnTo>
                    <a:pt x="6350" y="118110"/>
                  </a:lnTo>
                  <a:lnTo>
                    <a:pt x="0" y="118110"/>
                  </a:lnTo>
                  <a:moveTo>
                    <a:pt x="12700" y="118110"/>
                  </a:moveTo>
                  <a:lnTo>
                    <a:pt x="12700" y="493395"/>
                  </a:lnTo>
                  <a:lnTo>
                    <a:pt x="6350" y="493395"/>
                  </a:lnTo>
                  <a:lnTo>
                    <a:pt x="12700" y="493395"/>
                  </a:lnTo>
                  <a:cubicBezTo>
                    <a:pt x="12700" y="551688"/>
                    <a:pt x="59944" y="598805"/>
                    <a:pt x="118110" y="598805"/>
                  </a:cubicBezTo>
                  <a:lnTo>
                    <a:pt x="493395" y="598805"/>
                  </a:lnTo>
                  <a:cubicBezTo>
                    <a:pt x="551688" y="598805"/>
                    <a:pt x="598805" y="551561"/>
                    <a:pt x="598805" y="493395"/>
                  </a:cubicBezTo>
                  <a:lnTo>
                    <a:pt x="598805" y="118110"/>
                  </a:lnTo>
                  <a:cubicBezTo>
                    <a:pt x="598805" y="59817"/>
                    <a:pt x="551561" y="12700"/>
                    <a:pt x="493395" y="12700"/>
                  </a:cubicBezTo>
                  <a:lnTo>
                    <a:pt x="118110" y="12700"/>
                  </a:lnTo>
                  <a:lnTo>
                    <a:pt x="118110" y="6350"/>
                  </a:lnTo>
                  <a:lnTo>
                    <a:pt x="118110" y="12700"/>
                  </a:lnTo>
                  <a:cubicBezTo>
                    <a:pt x="59944" y="12700"/>
                    <a:pt x="12700" y="59944"/>
                    <a:pt x="12700" y="11811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105" name="Group 105"/>
          <p:cNvGrpSpPr/>
          <p:nvPr/>
        </p:nvGrpSpPr>
        <p:grpSpPr>
          <a:xfrm>
            <a:off x="10688166" y="7405763"/>
            <a:ext cx="329356" cy="508571"/>
            <a:chOff x="0" y="0"/>
            <a:chExt cx="439142" cy="678095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439142" cy="678095"/>
            </a:xfrm>
            <a:custGeom>
              <a:avLst/>
              <a:gdLst/>
              <a:ahLst/>
              <a:cxnLst/>
              <a:rect l="l" t="t" r="r" b="b"/>
              <a:pathLst>
                <a:path w="439142" h="678095">
                  <a:moveTo>
                    <a:pt x="0" y="0"/>
                  </a:moveTo>
                  <a:lnTo>
                    <a:pt x="439142" y="0"/>
                  </a:lnTo>
                  <a:lnTo>
                    <a:pt x="439142" y="678095"/>
                  </a:lnTo>
                  <a:lnTo>
                    <a:pt x="0" y="678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7" name="TextBox 107"/>
            <p:cNvSpPr txBox="1"/>
            <p:nvPr/>
          </p:nvSpPr>
          <p:spPr>
            <a:xfrm>
              <a:off x="0" y="57150"/>
              <a:ext cx="439142" cy="6209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480202" y="6030665"/>
            <a:ext cx="2745433" cy="440201"/>
            <a:chOff x="0" y="0"/>
            <a:chExt cx="3660577" cy="58693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3660577" cy="586934"/>
            </a:xfrm>
            <a:custGeom>
              <a:avLst/>
              <a:gdLst/>
              <a:ahLst/>
              <a:cxnLst/>
              <a:rect l="l" t="t" r="r" b="b"/>
              <a:pathLst>
                <a:path w="3660577" h="586934">
                  <a:moveTo>
                    <a:pt x="0" y="0"/>
                  </a:moveTo>
                  <a:lnTo>
                    <a:pt x="3660577" y="0"/>
                  </a:lnTo>
                  <a:lnTo>
                    <a:pt x="3660577" y="586934"/>
                  </a:lnTo>
                  <a:lnTo>
                    <a:pt x="0" y="5869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0" name="TextBox 110"/>
            <p:cNvSpPr txBox="1"/>
            <p:nvPr/>
          </p:nvSpPr>
          <p:spPr>
            <a:xfrm>
              <a:off x="0" y="-28575"/>
              <a:ext cx="3660577" cy="6155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9"/>
                </a:lnSpc>
              </a:pPr>
              <a:r>
                <a:rPr lang="en-US" sz="2624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Build Logs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734300" y="6493520"/>
            <a:ext cx="6237237" cy="438745"/>
            <a:chOff x="0" y="0"/>
            <a:chExt cx="8316317" cy="58499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3" name="TextBox 113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Provides detailed logs for debugging.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4256544" y="7611666"/>
            <a:ext cx="28575" cy="598885"/>
            <a:chOff x="0" y="0"/>
            <a:chExt cx="38100" cy="798513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38100" cy="798576"/>
            </a:xfrm>
            <a:custGeom>
              <a:avLst/>
              <a:gdLst/>
              <a:ahLst/>
              <a:cxnLst/>
              <a:rect l="l" t="t" r="r" b="b"/>
              <a:pathLst>
                <a:path w="38100" h="79857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79526"/>
                  </a:lnTo>
                  <a:cubicBezTo>
                    <a:pt x="38100" y="790067"/>
                    <a:pt x="29591" y="798576"/>
                    <a:pt x="19050" y="798576"/>
                  </a:cubicBezTo>
                  <a:cubicBezTo>
                    <a:pt x="8509" y="798576"/>
                    <a:pt x="0" y="789940"/>
                    <a:pt x="0" y="77952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116" name="Group 116"/>
          <p:cNvGrpSpPr/>
          <p:nvPr/>
        </p:nvGrpSpPr>
        <p:grpSpPr>
          <a:xfrm>
            <a:off x="14041488" y="7382321"/>
            <a:ext cx="458689" cy="458689"/>
            <a:chOff x="0" y="0"/>
            <a:chExt cx="611585" cy="611585"/>
          </a:xfrm>
        </p:grpSpPr>
        <p:sp>
          <p:nvSpPr>
            <p:cNvPr id="117" name="Freeform 117"/>
            <p:cNvSpPr/>
            <p:nvPr/>
          </p:nvSpPr>
          <p:spPr>
            <a:xfrm>
              <a:off x="6350" y="6350"/>
              <a:ext cx="598805" cy="598805"/>
            </a:xfrm>
            <a:custGeom>
              <a:avLst/>
              <a:gdLst/>
              <a:ahLst/>
              <a:cxnLst/>
              <a:rect l="l" t="t" r="r" b="b"/>
              <a:pathLst>
                <a:path w="598805" h="598805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487045" y="0"/>
                  </a:lnTo>
                  <a:cubicBezTo>
                    <a:pt x="548767" y="0"/>
                    <a:pt x="598805" y="50038"/>
                    <a:pt x="598805" y="111760"/>
                  </a:cubicBezTo>
                  <a:lnTo>
                    <a:pt x="598805" y="487045"/>
                  </a:lnTo>
                  <a:cubicBezTo>
                    <a:pt x="598805" y="548767"/>
                    <a:pt x="548767" y="598805"/>
                    <a:pt x="487045" y="598805"/>
                  </a:cubicBezTo>
                  <a:lnTo>
                    <a:pt x="111760" y="598805"/>
                  </a:lnTo>
                  <a:cubicBezTo>
                    <a:pt x="50038" y="598805"/>
                    <a:pt x="0" y="548767"/>
                    <a:pt x="0" y="487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8" name="Freeform 118"/>
            <p:cNvSpPr/>
            <p:nvPr/>
          </p:nvSpPr>
          <p:spPr>
            <a:xfrm>
              <a:off x="0" y="0"/>
              <a:ext cx="611505" cy="611505"/>
            </a:xfrm>
            <a:custGeom>
              <a:avLst/>
              <a:gdLst/>
              <a:ahLst/>
              <a:cxnLst/>
              <a:rect l="l" t="t" r="r" b="b"/>
              <a:pathLst>
                <a:path w="611505" h="611505">
                  <a:moveTo>
                    <a:pt x="0" y="118110"/>
                  </a:moveTo>
                  <a:cubicBezTo>
                    <a:pt x="0" y="52959"/>
                    <a:pt x="52959" y="0"/>
                    <a:pt x="118110" y="0"/>
                  </a:cubicBez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lnTo>
                    <a:pt x="493395" y="6350"/>
                  </a:lnTo>
                  <a:lnTo>
                    <a:pt x="493395" y="0"/>
                  </a:lnTo>
                  <a:cubicBezTo>
                    <a:pt x="558673" y="0"/>
                    <a:pt x="611505" y="52959"/>
                    <a:pt x="611505" y="118110"/>
                  </a:cubicBezTo>
                  <a:lnTo>
                    <a:pt x="605155" y="118110"/>
                  </a:lnTo>
                  <a:lnTo>
                    <a:pt x="611505" y="118110"/>
                  </a:lnTo>
                  <a:lnTo>
                    <a:pt x="611505" y="493395"/>
                  </a:lnTo>
                  <a:lnTo>
                    <a:pt x="605155" y="493395"/>
                  </a:lnTo>
                  <a:lnTo>
                    <a:pt x="611505" y="493395"/>
                  </a:lnTo>
                  <a:cubicBezTo>
                    <a:pt x="611505" y="558673"/>
                    <a:pt x="558546" y="611505"/>
                    <a:pt x="493395" y="611505"/>
                  </a:cubicBezTo>
                  <a:lnTo>
                    <a:pt x="493395" y="605155"/>
                  </a:lnTo>
                  <a:lnTo>
                    <a:pt x="493395" y="611505"/>
                  </a:lnTo>
                  <a:lnTo>
                    <a:pt x="118110" y="611505"/>
                  </a:lnTo>
                  <a:lnTo>
                    <a:pt x="118110" y="605155"/>
                  </a:lnTo>
                  <a:lnTo>
                    <a:pt x="118110" y="611505"/>
                  </a:lnTo>
                  <a:cubicBezTo>
                    <a:pt x="52832" y="611505"/>
                    <a:pt x="0" y="558546"/>
                    <a:pt x="0" y="493395"/>
                  </a:cubicBezTo>
                  <a:lnTo>
                    <a:pt x="0" y="118110"/>
                  </a:lnTo>
                  <a:lnTo>
                    <a:pt x="6350" y="118110"/>
                  </a:lnTo>
                  <a:lnTo>
                    <a:pt x="0" y="118110"/>
                  </a:lnTo>
                  <a:moveTo>
                    <a:pt x="12700" y="118110"/>
                  </a:moveTo>
                  <a:lnTo>
                    <a:pt x="12700" y="493395"/>
                  </a:lnTo>
                  <a:lnTo>
                    <a:pt x="6350" y="493395"/>
                  </a:lnTo>
                  <a:lnTo>
                    <a:pt x="12700" y="493395"/>
                  </a:lnTo>
                  <a:cubicBezTo>
                    <a:pt x="12700" y="551688"/>
                    <a:pt x="59944" y="598805"/>
                    <a:pt x="118110" y="598805"/>
                  </a:cubicBezTo>
                  <a:lnTo>
                    <a:pt x="493395" y="598805"/>
                  </a:lnTo>
                  <a:cubicBezTo>
                    <a:pt x="551688" y="598805"/>
                    <a:pt x="598805" y="551561"/>
                    <a:pt x="598805" y="493395"/>
                  </a:cubicBezTo>
                  <a:lnTo>
                    <a:pt x="598805" y="118110"/>
                  </a:lnTo>
                  <a:cubicBezTo>
                    <a:pt x="598805" y="59817"/>
                    <a:pt x="551561" y="12700"/>
                    <a:pt x="493395" y="12700"/>
                  </a:cubicBezTo>
                  <a:lnTo>
                    <a:pt x="118110" y="12700"/>
                  </a:lnTo>
                  <a:lnTo>
                    <a:pt x="118110" y="6350"/>
                  </a:lnTo>
                  <a:lnTo>
                    <a:pt x="118110" y="12700"/>
                  </a:lnTo>
                  <a:cubicBezTo>
                    <a:pt x="59944" y="12700"/>
                    <a:pt x="12700" y="59944"/>
                    <a:pt x="12700" y="11811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14106152" y="7405763"/>
            <a:ext cx="329356" cy="508571"/>
            <a:chOff x="0" y="0"/>
            <a:chExt cx="439142" cy="678095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39142" cy="678095"/>
            </a:xfrm>
            <a:custGeom>
              <a:avLst/>
              <a:gdLst/>
              <a:ahLst/>
              <a:cxnLst/>
              <a:rect l="l" t="t" r="r" b="b"/>
              <a:pathLst>
                <a:path w="439142" h="678095">
                  <a:moveTo>
                    <a:pt x="0" y="0"/>
                  </a:moveTo>
                  <a:lnTo>
                    <a:pt x="439142" y="0"/>
                  </a:lnTo>
                  <a:lnTo>
                    <a:pt x="439142" y="678095"/>
                  </a:lnTo>
                  <a:lnTo>
                    <a:pt x="0" y="6780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1" name="TextBox 121"/>
            <p:cNvSpPr txBox="1"/>
            <p:nvPr/>
          </p:nvSpPr>
          <p:spPr>
            <a:xfrm>
              <a:off x="0" y="57150"/>
              <a:ext cx="439142" cy="6209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3062" spc="-6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4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2650031" y="8410278"/>
            <a:ext cx="3213025" cy="440201"/>
            <a:chOff x="0" y="0"/>
            <a:chExt cx="4284034" cy="58693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4284034" cy="586934"/>
            </a:xfrm>
            <a:custGeom>
              <a:avLst/>
              <a:gdLst/>
              <a:ahLst/>
              <a:cxnLst/>
              <a:rect l="l" t="t" r="r" b="b"/>
              <a:pathLst>
                <a:path w="4284034" h="586934">
                  <a:moveTo>
                    <a:pt x="0" y="0"/>
                  </a:moveTo>
                  <a:lnTo>
                    <a:pt x="4284034" y="0"/>
                  </a:lnTo>
                  <a:lnTo>
                    <a:pt x="4284034" y="586934"/>
                  </a:lnTo>
                  <a:lnTo>
                    <a:pt x="0" y="5869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4" name="TextBox 124"/>
            <p:cNvSpPr txBox="1"/>
            <p:nvPr/>
          </p:nvSpPr>
          <p:spPr>
            <a:xfrm>
              <a:off x="0" y="-28575"/>
              <a:ext cx="4284034" cy="6155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9"/>
                </a:lnSpc>
              </a:pPr>
              <a:r>
                <a:rPr lang="en-US" sz="2624" spc="-5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Performance metrics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1152286" y="8873132"/>
            <a:ext cx="6237237" cy="438745"/>
            <a:chOff x="0" y="0"/>
            <a:chExt cx="8316317" cy="584994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8316316" cy="584994"/>
            </a:xfrm>
            <a:custGeom>
              <a:avLst/>
              <a:gdLst/>
              <a:ahLst/>
              <a:cxnLst/>
              <a:rect l="l" t="t" r="r" b="b"/>
              <a:pathLst>
                <a:path w="8316316" h="584994">
                  <a:moveTo>
                    <a:pt x="0" y="0"/>
                  </a:moveTo>
                  <a:lnTo>
                    <a:pt x="8316316" y="0"/>
                  </a:lnTo>
                  <a:lnTo>
                    <a:pt x="8316316" y="584994"/>
                  </a:lnTo>
                  <a:lnTo>
                    <a:pt x="0" y="584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7" name="TextBox 127"/>
            <p:cNvSpPr txBox="1"/>
            <p:nvPr/>
          </p:nvSpPr>
          <p:spPr>
            <a:xfrm>
              <a:off x="0" y="-85725"/>
              <a:ext cx="8316317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99"/>
                </a:lnSpc>
              </a:pPr>
              <a:r>
                <a:rPr lang="en-US" sz="2062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Tracks build times and test execution speed.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56289" y="679549"/>
            <a:ext cx="7778608" cy="855766"/>
            <a:chOff x="0" y="0"/>
            <a:chExt cx="10371477" cy="11410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71477" cy="1141022"/>
            </a:xfrm>
            <a:custGeom>
              <a:avLst/>
              <a:gdLst/>
              <a:ahLst/>
              <a:cxnLst/>
              <a:rect l="l" t="t" r="r" b="b"/>
              <a:pathLst>
                <a:path w="10371477" h="1141022">
                  <a:moveTo>
                    <a:pt x="0" y="0"/>
                  </a:moveTo>
                  <a:lnTo>
                    <a:pt x="10371477" y="0"/>
                  </a:lnTo>
                  <a:lnTo>
                    <a:pt x="10371477" y="1141022"/>
                  </a:lnTo>
                  <a:lnTo>
                    <a:pt x="0" y="1141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371477" cy="11791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376"/>
                </a:lnSpc>
              </a:pPr>
              <a:r>
                <a:rPr lang="en-US" sz="5074" spc="-101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Let's analyze a sample code 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6289" y="1535315"/>
            <a:ext cx="17038754" cy="436709"/>
            <a:chOff x="0" y="0"/>
            <a:chExt cx="22718339" cy="5822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18339" cy="582278"/>
            </a:xfrm>
            <a:custGeom>
              <a:avLst/>
              <a:gdLst/>
              <a:ahLst/>
              <a:cxnLst/>
              <a:rect l="l" t="t" r="r" b="b"/>
              <a:pathLst>
                <a:path w="22718339" h="582278">
                  <a:moveTo>
                    <a:pt x="0" y="0"/>
                  </a:moveTo>
                  <a:lnTo>
                    <a:pt x="22718339" y="0"/>
                  </a:lnTo>
                  <a:lnTo>
                    <a:pt x="22718339" y="582278"/>
                  </a:lnTo>
                  <a:lnTo>
                    <a:pt x="0" y="5822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2718339" cy="6680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94"/>
                </a:lnSpc>
              </a:pPr>
              <a:r>
                <a:rPr lang="en-US" sz="2049" spc="-42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Automatically notify the team in Slack when a build fails, so they can quickly investigate and fix the issue.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6289" y="2754957"/>
            <a:ext cx="3177913" cy="443080"/>
            <a:chOff x="0" y="0"/>
            <a:chExt cx="4237218" cy="5907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37218" cy="590773"/>
            </a:xfrm>
            <a:custGeom>
              <a:avLst/>
              <a:gdLst/>
              <a:ahLst/>
              <a:cxnLst/>
              <a:rect l="l" t="t" r="r" b="b"/>
              <a:pathLst>
                <a:path w="4237218" h="590773">
                  <a:moveTo>
                    <a:pt x="0" y="0"/>
                  </a:moveTo>
                  <a:lnTo>
                    <a:pt x="4237218" y="0"/>
                  </a:lnTo>
                  <a:lnTo>
                    <a:pt x="4237218" y="590773"/>
                  </a:lnTo>
                  <a:lnTo>
                    <a:pt x="0" y="5907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237218" cy="6193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3"/>
                </a:lnSpc>
              </a:pPr>
              <a:r>
                <a:rPr lang="en-US" sz="2637" spc="-52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Workflow Breakdown: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6289" y="3370809"/>
            <a:ext cx="8237433" cy="416335"/>
            <a:chOff x="0" y="0"/>
            <a:chExt cx="10983243" cy="5551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83244" cy="555114"/>
            </a:xfrm>
            <a:custGeom>
              <a:avLst/>
              <a:gdLst/>
              <a:ahLst/>
              <a:cxnLst/>
              <a:rect l="l" t="t" r="r" b="b"/>
              <a:pathLst>
                <a:path w="10983244" h="555114">
                  <a:moveTo>
                    <a:pt x="0" y="0"/>
                  </a:moveTo>
                  <a:lnTo>
                    <a:pt x="10983244" y="0"/>
                  </a:lnTo>
                  <a:lnTo>
                    <a:pt x="10983244" y="555114"/>
                  </a:lnTo>
                  <a:lnTo>
                    <a:pt x="0" y="555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0983243" cy="6408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94084" lvl="1" indent="-147042" algn="l">
                <a:lnSpc>
                  <a:spcPts val="3133"/>
                </a:lnSpc>
                <a:buAutoNum type="arabicPeriod"/>
              </a:pPr>
              <a:r>
                <a:rPr lang="en-US" sz="1950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Trigger Event (</a:t>
              </a:r>
              <a:r>
                <a:rPr lang="en-US" sz="1950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on: push</a:t>
              </a:r>
              <a:r>
                <a:rPr lang="en-US" sz="1950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6289" y="3821906"/>
            <a:ext cx="8237433" cy="416335"/>
            <a:chOff x="0" y="0"/>
            <a:chExt cx="10983243" cy="55511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83244" cy="555114"/>
            </a:xfrm>
            <a:custGeom>
              <a:avLst/>
              <a:gdLst/>
              <a:ahLst/>
              <a:cxnLst/>
              <a:rect l="l" t="t" r="r" b="b"/>
              <a:pathLst>
                <a:path w="10983244" h="555114">
                  <a:moveTo>
                    <a:pt x="0" y="0"/>
                  </a:moveTo>
                  <a:lnTo>
                    <a:pt x="10983244" y="0"/>
                  </a:lnTo>
                  <a:lnTo>
                    <a:pt x="10983244" y="555114"/>
                  </a:lnTo>
                  <a:lnTo>
                    <a:pt x="0" y="555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10983243" cy="6408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71695" lvl="2" indent="-257232" algn="l">
                <a:lnSpc>
                  <a:spcPts val="3133"/>
                </a:lnSpc>
                <a:buFont typeface="Arial"/>
                <a:buChar char="⚬"/>
              </a:pPr>
              <a:r>
                <a:rPr lang="en-US" sz="1950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workflow runs whenever code is pushed to the repository.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6289" y="4263479"/>
            <a:ext cx="8237433" cy="416335"/>
            <a:chOff x="0" y="0"/>
            <a:chExt cx="10983243" cy="5551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83244" cy="555114"/>
            </a:xfrm>
            <a:custGeom>
              <a:avLst/>
              <a:gdLst/>
              <a:ahLst/>
              <a:cxnLst/>
              <a:rect l="l" t="t" r="r" b="b"/>
              <a:pathLst>
                <a:path w="10983244" h="555114">
                  <a:moveTo>
                    <a:pt x="0" y="0"/>
                  </a:moveTo>
                  <a:lnTo>
                    <a:pt x="10983244" y="0"/>
                  </a:lnTo>
                  <a:lnTo>
                    <a:pt x="10983244" y="555114"/>
                  </a:lnTo>
                  <a:lnTo>
                    <a:pt x="0" y="555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10983243" cy="6408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94084" lvl="1" indent="-147042" algn="l">
                <a:lnSpc>
                  <a:spcPts val="3133"/>
                </a:lnSpc>
                <a:buAutoNum type="arabicPeriod"/>
              </a:pPr>
              <a:r>
                <a:rPr lang="en-US" sz="1950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 Job (</a:t>
              </a:r>
              <a:r>
                <a:rPr lang="en-US" sz="1950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jobs: build</a:t>
              </a:r>
              <a:r>
                <a:rPr lang="en-US" sz="1950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6289" y="4714578"/>
            <a:ext cx="8237433" cy="416335"/>
            <a:chOff x="0" y="0"/>
            <a:chExt cx="10983243" cy="5551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83244" cy="555114"/>
            </a:xfrm>
            <a:custGeom>
              <a:avLst/>
              <a:gdLst/>
              <a:ahLst/>
              <a:cxnLst/>
              <a:rect l="l" t="t" r="r" b="b"/>
              <a:pathLst>
                <a:path w="10983244" h="555114">
                  <a:moveTo>
                    <a:pt x="0" y="0"/>
                  </a:moveTo>
                  <a:lnTo>
                    <a:pt x="10983244" y="0"/>
                  </a:lnTo>
                  <a:lnTo>
                    <a:pt x="10983244" y="555114"/>
                  </a:lnTo>
                  <a:lnTo>
                    <a:pt x="0" y="555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10983243" cy="6408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71695" lvl="2" indent="-257232" algn="l">
                <a:lnSpc>
                  <a:spcPts val="3133"/>
                </a:lnSpc>
                <a:buFont typeface="Arial"/>
                <a:buChar char="⚬"/>
              </a:pPr>
              <a:r>
                <a:rPr lang="en-US" sz="1950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Runs on an Ubuntu environment (runs-on: ubuntu-latest).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6289" y="5165675"/>
            <a:ext cx="8237433" cy="416335"/>
            <a:chOff x="0" y="0"/>
            <a:chExt cx="10983243" cy="55511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983244" cy="555114"/>
            </a:xfrm>
            <a:custGeom>
              <a:avLst/>
              <a:gdLst/>
              <a:ahLst/>
              <a:cxnLst/>
              <a:rect l="l" t="t" r="r" b="b"/>
              <a:pathLst>
                <a:path w="10983244" h="555114">
                  <a:moveTo>
                    <a:pt x="0" y="0"/>
                  </a:moveTo>
                  <a:lnTo>
                    <a:pt x="10983244" y="0"/>
                  </a:lnTo>
                  <a:lnTo>
                    <a:pt x="10983244" y="555114"/>
                  </a:lnTo>
                  <a:lnTo>
                    <a:pt x="0" y="555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0983243" cy="6408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94084" lvl="1" indent="-147042" algn="l">
                <a:lnSpc>
                  <a:spcPts val="3133"/>
                </a:lnSpc>
                <a:buAutoNum type="arabicPeriod"/>
              </a:pPr>
              <a:r>
                <a:rPr lang="en-US" sz="1950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Steps inside the Job: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6289" y="5607249"/>
            <a:ext cx="8237433" cy="806860"/>
            <a:chOff x="0" y="0"/>
            <a:chExt cx="10983243" cy="107581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983244" cy="1075814"/>
            </a:xfrm>
            <a:custGeom>
              <a:avLst/>
              <a:gdLst/>
              <a:ahLst/>
              <a:cxnLst/>
              <a:rect l="l" t="t" r="r" b="b"/>
              <a:pathLst>
                <a:path w="10983244" h="1075814">
                  <a:moveTo>
                    <a:pt x="0" y="0"/>
                  </a:moveTo>
                  <a:lnTo>
                    <a:pt x="10983244" y="0"/>
                  </a:lnTo>
                  <a:lnTo>
                    <a:pt x="10983244" y="1075814"/>
                  </a:lnTo>
                  <a:lnTo>
                    <a:pt x="0" y="10758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10983243" cy="1161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71695" lvl="2" indent="-257232" algn="l">
                <a:lnSpc>
                  <a:spcPts val="3133"/>
                </a:lnSpc>
                <a:buFont typeface="Arial"/>
                <a:buChar char="⚬"/>
              </a:pPr>
              <a:r>
                <a:rPr lang="en-US" sz="1950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Checkout Code:</a:t>
              </a:r>
              <a:r>
                <a:rPr lang="en-US" sz="1950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Pulls the latest repository code using actions/checkout@v3.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6289" y="6420742"/>
            <a:ext cx="8237433" cy="416335"/>
            <a:chOff x="0" y="0"/>
            <a:chExt cx="10983243" cy="55511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83244" cy="555114"/>
            </a:xfrm>
            <a:custGeom>
              <a:avLst/>
              <a:gdLst/>
              <a:ahLst/>
              <a:cxnLst/>
              <a:rect l="l" t="t" r="r" b="b"/>
              <a:pathLst>
                <a:path w="10983244" h="555114">
                  <a:moveTo>
                    <a:pt x="0" y="0"/>
                  </a:moveTo>
                  <a:lnTo>
                    <a:pt x="10983244" y="0"/>
                  </a:lnTo>
                  <a:lnTo>
                    <a:pt x="10983244" y="555114"/>
                  </a:lnTo>
                  <a:lnTo>
                    <a:pt x="0" y="555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10983243" cy="6408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71695" lvl="2" indent="-257232" algn="l">
                <a:lnSpc>
                  <a:spcPts val="3133"/>
                </a:lnSpc>
                <a:buFont typeface="Arial"/>
                <a:buChar char="⚬"/>
              </a:pPr>
              <a:r>
                <a:rPr lang="en-US" sz="1950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Run Tests:</a:t>
              </a:r>
              <a:r>
                <a:rPr lang="en-US" sz="1950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Executes npm test to check for any code issues.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6289" y="6871841"/>
            <a:ext cx="8237433" cy="416335"/>
            <a:chOff x="0" y="0"/>
            <a:chExt cx="10983243" cy="55511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983244" cy="555114"/>
            </a:xfrm>
            <a:custGeom>
              <a:avLst/>
              <a:gdLst/>
              <a:ahLst/>
              <a:cxnLst/>
              <a:rect l="l" t="t" r="r" b="b"/>
              <a:pathLst>
                <a:path w="10983244" h="555114">
                  <a:moveTo>
                    <a:pt x="0" y="0"/>
                  </a:moveTo>
                  <a:lnTo>
                    <a:pt x="10983244" y="0"/>
                  </a:lnTo>
                  <a:lnTo>
                    <a:pt x="10983244" y="555114"/>
                  </a:lnTo>
                  <a:lnTo>
                    <a:pt x="0" y="555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10983243" cy="6408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71695" lvl="2" indent="-257232" algn="l">
                <a:lnSpc>
                  <a:spcPts val="3133"/>
                </a:lnSpc>
                <a:buFont typeface="Arial"/>
                <a:buChar char="⚬"/>
              </a:pPr>
              <a:r>
                <a:rPr lang="en-US" sz="1950" b="1" spc="-4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Slack Notification on Failure: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56289" y="7313414"/>
            <a:ext cx="8237433" cy="416335"/>
            <a:chOff x="0" y="0"/>
            <a:chExt cx="10983243" cy="55511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983244" cy="555114"/>
            </a:xfrm>
            <a:custGeom>
              <a:avLst/>
              <a:gdLst/>
              <a:ahLst/>
              <a:cxnLst/>
              <a:rect l="l" t="t" r="r" b="b"/>
              <a:pathLst>
                <a:path w="10983244" h="555114">
                  <a:moveTo>
                    <a:pt x="0" y="0"/>
                  </a:moveTo>
                  <a:lnTo>
                    <a:pt x="10983244" y="0"/>
                  </a:lnTo>
                  <a:lnTo>
                    <a:pt x="10983244" y="555114"/>
                  </a:lnTo>
                  <a:lnTo>
                    <a:pt x="0" y="555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10983243" cy="6408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249306" lvl="3" indent="-312326" algn="l">
                <a:lnSpc>
                  <a:spcPts val="3133"/>
                </a:lnSpc>
                <a:buFont typeface="Arial"/>
                <a:buChar char="￭"/>
              </a:pPr>
              <a:r>
                <a:rPr lang="en-US" sz="1950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If the test fails (if: failure()), it triggers a Slack notification.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6289" y="7782667"/>
            <a:ext cx="8237433" cy="380025"/>
            <a:chOff x="0" y="0"/>
            <a:chExt cx="10983243" cy="50670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983244" cy="506701"/>
            </a:xfrm>
            <a:custGeom>
              <a:avLst/>
              <a:gdLst/>
              <a:ahLst/>
              <a:cxnLst/>
              <a:rect l="l" t="t" r="r" b="b"/>
              <a:pathLst>
                <a:path w="10983244" h="506701">
                  <a:moveTo>
                    <a:pt x="0" y="0"/>
                  </a:moveTo>
                  <a:lnTo>
                    <a:pt x="10983244" y="0"/>
                  </a:lnTo>
                  <a:lnTo>
                    <a:pt x="10983244" y="506701"/>
                  </a:lnTo>
                  <a:lnTo>
                    <a:pt x="0" y="5067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114300"/>
              <a:ext cx="10983243" cy="62100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249306" lvl="3" indent="-312326" algn="l">
                <a:lnSpc>
                  <a:spcPts val="3133"/>
                </a:lnSpc>
                <a:buFont typeface="Arial"/>
                <a:buChar char="￭"/>
              </a:pPr>
              <a:r>
                <a:rPr lang="en-US" sz="1950" spc="-40">
                  <a:solidFill>
                    <a:srgbClr val="272525"/>
                  </a:solidFill>
                  <a:latin typeface="Consolas"/>
                  <a:ea typeface="Consolas"/>
                  <a:cs typeface="Consolas"/>
                  <a:sym typeface="Consolas"/>
                </a:rPr>
                <a:t>Uses rtCamp/action-slack-notify@v2 to send a message.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6289" y="8215610"/>
            <a:ext cx="8237433" cy="806860"/>
            <a:chOff x="0" y="0"/>
            <a:chExt cx="10983243" cy="107581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983244" cy="1075814"/>
            </a:xfrm>
            <a:custGeom>
              <a:avLst/>
              <a:gdLst/>
              <a:ahLst/>
              <a:cxnLst/>
              <a:rect l="l" t="t" r="r" b="b"/>
              <a:pathLst>
                <a:path w="10983244" h="1075814">
                  <a:moveTo>
                    <a:pt x="0" y="0"/>
                  </a:moveTo>
                  <a:lnTo>
                    <a:pt x="10983244" y="0"/>
                  </a:lnTo>
                  <a:lnTo>
                    <a:pt x="10983244" y="1075814"/>
                  </a:lnTo>
                  <a:lnTo>
                    <a:pt x="0" y="10758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85725"/>
              <a:ext cx="10983243" cy="11615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249306" lvl="3" indent="-312326" algn="l">
                <a:lnSpc>
                  <a:spcPts val="3133"/>
                </a:lnSpc>
                <a:buFont typeface="Arial"/>
                <a:buChar char="￭"/>
              </a:pPr>
              <a:r>
                <a:rPr lang="en-US" sz="1950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webhook URL is stored as a secret (SLACK_WEBHOOK_URL) to securely send notifications.</a:t>
              </a:r>
            </a:p>
          </p:txBody>
        </p:sp>
      </p:grpSp>
      <p:sp>
        <p:nvSpPr>
          <p:cNvPr id="48" name="Freeform 48" descr="preencoded.png"/>
          <p:cNvSpPr/>
          <p:nvPr/>
        </p:nvSpPr>
        <p:spPr>
          <a:xfrm>
            <a:off x="9312942" y="2327587"/>
            <a:ext cx="7697280" cy="7837368"/>
          </a:xfrm>
          <a:custGeom>
            <a:avLst/>
            <a:gdLst/>
            <a:ahLst/>
            <a:cxnLst/>
            <a:rect l="l" t="t" r="r" b="b"/>
            <a:pathLst>
              <a:path w="7697280" h="7837368">
                <a:moveTo>
                  <a:pt x="0" y="0"/>
                </a:moveTo>
                <a:lnTo>
                  <a:pt x="7697280" y="0"/>
                </a:lnTo>
                <a:lnTo>
                  <a:pt x="7697280" y="7837368"/>
                </a:lnTo>
                <a:lnTo>
                  <a:pt x="0" y="7837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" b="-49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58739" y="675531"/>
            <a:ext cx="8758634" cy="1731010"/>
            <a:chOff x="0" y="0"/>
            <a:chExt cx="11678179" cy="23080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8179" cy="2308013"/>
            </a:xfrm>
            <a:custGeom>
              <a:avLst/>
              <a:gdLst/>
              <a:ahLst/>
              <a:cxnLst/>
              <a:rect l="l" t="t" r="r" b="b"/>
              <a:pathLst>
                <a:path w="11678179" h="2308013">
                  <a:moveTo>
                    <a:pt x="0" y="0"/>
                  </a:moveTo>
                  <a:lnTo>
                    <a:pt x="11678179" y="0"/>
                  </a:lnTo>
                  <a:lnTo>
                    <a:pt x="11678179" y="2308013"/>
                  </a:lnTo>
                  <a:lnTo>
                    <a:pt x="0" y="2308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678179" cy="23461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625"/>
                </a:lnSpc>
              </a:pPr>
              <a:r>
                <a:rPr lang="en-US" sz="5312" spc="-106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Best Practices for Notifications &amp; Reporting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34666" y="2730252"/>
            <a:ext cx="28575" cy="6881217"/>
            <a:chOff x="0" y="0"/>
            <a:chExt cx="38100" cy="91749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" cy="9174988"/>
            </a:xfrm>
            <a:custGeom>
              <a:avLst/>
              <a:gdLst/>
              <a:ahLst/>
              <a:cxnLst/>
              <a:rect l="l" t="t" r="r" b="b"/>
              <a:pathLst>
                <a:path w="38100" h="917498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155938"/>
                  </a:lnTo>
                  <a:cubicBezTo>
                    <a:pt x="38100" y="9166479"/>
                    <a:pt x="29591" y="9174988"/>
                    <a:pt x="19050" y="9174988"/>
                  </a:cubicBezTo>
                  <a:cubicBezTo>
                    <a:pt x="8509" y="9174988"/>
                    <a:pt x="0" y="9166479"/>
                    <a:pt x="0" y="9155938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382092" y="3267819"/>
            <a:ext cx="735955" cy="28575"/>
            <a:chOff x="0" y="0"/>
            <a:chExt cx="981273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1329" cy="38100"/>
            </a:xfrm>
            <a:custGeom>
              <a:avLst/>
              <a:gdLst/>
              <a:ahLst/>
              <a:cxnLst/>
              <a:rect l="l" t="t" r="r" b="b"/>
              <a:pathLst>
                <a:path w="98132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62279" y="0"/>
                  </a:lnTo>
                  <a:cubicBezTo>
                    <a:pt x="972820" y="0"/>
                    <a:pt x="981329" y="8509"/>
                    <a:pt x="981329" y="19050"/>
                  </a:cubicBezTo>
                  <a:cubicBezTo>
                    <a:pt x="981329" y="29591"/>
                    <a:pt x="972693" y="38100"/>
                    <a:pt x="96227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53901" y="3001416"/>
            <a:ext cx="561529" cy="561529"/>
            <a:chOff x="0" y="0"/>
            <a:chExt cx="748705" cy="748705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735965" cy="735965"/>
            </a:xfrm>
            <a:custGeom>
              <a:avLst/>
              <a:gdLst/>
              <a:ahLst/>
              <a:cxnLst/>
              <a:rect l="l" t="t" r="r" b="b"/>
              <a:pathLst>
                <a:path w="735965" h="735965">
                  <a:moveTo>
                    <a:pt x="0" y="137414"/>
                  </a:moveTo>
                  <a:cubicBezTo>
                    <a:pt x="0" y="61468"/>
                    <a:pt x="61468" y="0"/>
                    <a:pt x="137414" y="0"/>
                  </a:cubicBezTo>
                  <a:lnTo>
                    <a:pt x="598551" y="0"/>
                  </a:lnTo>
                  <a:cubicBezTo>
                    <a:pt x="674497" y="0"/>
                    <a:pt x="735965" y="61468"/>
                    <a:pt x="735965" y="137414"/>
                  </a:cubicBezTo>
                  <a:lnTo>
                    <a:pt x="735965" y="598551"/>
                  </a:lnTo>
                  <a:cubicBezTo>
                    <a:pt x="735965" y="674497"/>
                    <a:pt x="674497" y="735965"/>
                    <a:pt x="598551" y="735965"/>
                  </a:cubicBezTo>
                  <a:lnTo>
                    <a:pt x="137414" y="735965"/>
                  </a:lnTo>
                  <a:cubicBezTo>
                    <a:pt x="61468" y="735965"/>
                    <a:pt x="0" y="674497"/>
                    <a:pt x="0" y="598551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748665" cy="748665"/>
            </a:xfrm>
            <a:custGeom>
              <a:avLst/>
              <a:gdLst/>
              <a:ahLst/>
              <a:cxnLst/>
              <a:rect l="l" t="t" r="r" b="b"/>
              <a:pathLst>
                <a:path w="748665" h="748665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604901" y="0"/>
                  </a:lnTo>
                  <a:lnTo>
                    <a:pt x="604901" y="6350"/>
                  </a:lnTo>
                  <a:lnTo>
                    <a:pt x="604901" y="0"/>
                  </a:lnTo>
                  <a:cubicBezTo>
                    <a:pt x="684276" y="0"/>
                    <a:pt x="748665" y="64389"/>
                    <a:pt x="748665" y="143764"/>
                  </a:cubicBezTo>
                  <a:lnTo>
                    <a:pt x="742315" y="143764"/>
                  </a:lnTo>
                  <a:lnTo>
                    <a:pt x="748665" y="143764"/>
                  </a:lnTo>
                  <a:lnTo>
                    <a:pt x="748665" y="604901"/>
                  </a:lnTo>
                  <a:lnTo>
                    <a:pt x="742315" y="604901"/>
                  </a:lnTo>
                  <a:lnTo>
                    <a:pt x="748665" y="604901"/>
                  </a:lnTo>
                  <a:cubicBezTo>
                    <a:pt x="748665" y="684276"/>
                    <a:pt x="684276" y="748665"/>
                    <a:pt x="604901" y="748665"/>
                  </a:cubicBezTo>
                  <a:lnTo>
                    <a:pt x="604901" y="742315"/>
                  </a:lnTo>
                  <a:lnTo>
                    <a:pt x="604901" y="748665"/>
                  </a:lnTo>
                  <a:lnTo>
                    <a:pt x="143764" y="748665"/>
                  </a:lnTo>
                  <a:lnTo>
                    <a:pt x="143764" y="742315"/>
                  </a:lnTo>
                  <a:lnTo>
                    <a:pt x="143764" y="748665"/>
                  </a:lnTo>
                  <a:cubicBezTo>
                    <a:pt x="64389" y="748665"/>
                    <a:pt x="0" y="684403"/>
                    <a:pt x="0" y="604901"/>
                  </a:cubicBezTo>
                  <a:lnTo>
                    <a:pt x="0" y="143764"/>
                  </a:lnTo>
                  <a:lnTo>
                    <a:pt x="6350" y="143764"/>
                  </a:lnTo>
                  <a:lnTo>
                    <a:pt x="0" y="143764"/>
                  </a:lnTo>
                  <a:moveTo>
                    <a:pt x="12700" y="143764"/>
                  </a:moveTo>
                  <a:lnTo>
                    <a:pt x="12700" y="604901"/>
                  </a:lnTo>
                  <a:lnTo>
                    <a:pt x="6350" y="604901"/>
                  </a:lnTo>
                  <a:lnTo>
                    <a:pt x="12700" y="604901"/>
                  </a:lnTo>
                  <a:cubicBezTo>
                    <a:pt x="12700" y="677291"/>
                    <a:pt x="71374" y="735965"/>
                    <a:pt x="143764" y="735965"/>
                  </a:cubicBezTo>
                  <a:lnTo>
                    <a:pt x="604901" y="735965"/>
                  </a:lnTo>
                  <a:cubicBezTo>
                    <a:pt x="677291" y="735965"/>
                    <a:pt x="735965" y="677291"/>
                    <a:pt x="735965" y="604901"/>
                  </a:cubicBezTo>
                  <a:lnTo>
                    <a:pt x="735965" y="143764"/>
                  </a:lnTo>
                  <a:cubicBezTo>
                    <a:pt x="735965" y="71374"/>
                    <a:pt x="677291" y="12700"/>
                    <a:pt x="604901" y="12700"/>
                  </a:cubicBezTo>
                  <a:lnTo>
                    <a:pt x="143764" y="12700"/>
                  </a:lnTo>
                  <a:lnTo>
                    <a:pt x="143764" y="6350"/>
                  </a:lnTo>
                  <a:lnTo>
                    <a:pt x="143764" y="12700"/>
                  </a:lnTo>
                  <a:cubicBezTo>
                    <a:pt x="71374" y="12700"/>
                    <a:pt x="12700" y="71374"/>
                    <a:pt x="12700" y="14376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32185" y="3029099"/>
            <a:ext cx="404812" cy="506016"/>
            <a:chOff x="0" y="0"/>
            <a:chExt cx="539750" cy="674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9750" cy="674688"/>
            </a:xfrm>
            <a:custGeom>
              <a:avLst/>
              <a:gdLst/>
              <a:ahLst/>
              <a:cxnLst/>
              <a:rect l="l" t="t" r="r" b="b"/>
              <a:pathLst>
                <a:path w="539750" h="674688">
                  <a:moveTo>
                    <a:pt x="0" y="0"/>
                  </a:moveTo>
                  <a:lnTo>
                    <a:pt x="539750" y="0"/>
                  </a:lnTo>
                  <a:lnTo>
                    <a:pt x="539750" y="674688"/>
                  </a:lnTo>
                  <a:lnTo>
                    <a:pt x="0" y="674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57150"/>
              <a:ext cx="539750" cy="6175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spc="-6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361605" y="2975521"/>
            <a:ext cx="4057947" cy="506016"/>
            <a:chOff x="0" y="0"/>
            <a:chExt cx="5410597" cy="674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10597" cy="674688"/>
            </a:xfrm>
            <a:custGeom>
              <a:avLst/>
              <a:gdLst/>
              <a:ahLst/>
              <a:cxnLst/>
              <a:rect l="l" t="t" r="r" b="b"/>
              <a:pathLst>
                <a:path w="5410597" h="674688">
                  <a:moveTo>
                    <a:pt x="0" y="0"/>
                  </a:moveTo>
                  <a:lnTo>
                    <a:pt x="5410597" y="0"/>
                  </a:lnTo>
                  <a:lnTo>
                    <a:pt x="5410597" y="674688"/>
                  </a:lnTo>
                  <a:lnTo>
                    <a:pt x="0" y="674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410597" cy="6937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87" spc="-63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Use Relevant Channels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82092" y="5049441"/>
            <a:ext cx="735955" cy="28575"/>
            <a:chOff x="0" y="0"/>
            <a:chExt cx="981273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81329" cy="38100"/>
            </a:xfrm>
            <a:custGeom>
              <a:avLst/>
              <a:gdLst/>
              <a:ahLst/>
              <a:cxnLst/>
              <a:rect l="l" t="t" r="r" b="b"/>
              <a:pathLst>
                <a:path w="98132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62279" y="0"/>
                  </a:lnTo>
                  <a:cubicBezTo>
                    <a:pt x="972820" y="0"/>
                    <a:pt x="981329" y="8509"/>
                    <a:pt x="981329" y="19050"/>
                  </a:cubicBezTo>
                  <a:cubicBezTo>
                    <a:pt x="981329" y="29591"/>
                    <a:pt x="972693" y="38100"/>
                    <a:pt x="96227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53901" y="4783039"/>
            <a:ext cx="561529" cy="561529"/>
            <a:chOff x="0" y="0"/>
            <a:chExt cx="748705" cy="748705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735965" cy="735965"/>
            </a:xfrm>
            <a:custGeom>
              <a:avLst/>
              <a:gdLst/>
              <a:ahLst/>
              <a:cxnLst/>
              <a:rect l="l" t="t" r="r" b="b"/>
              <a:pathLst>
                <a:path w="735965" h="735965">
                  <a:moveTo>
                    <a:pt x="0" y="137414"/>
                  </a:moveTo>
                  <a:cubicBezTo>
                    <a:pt x="0" y="61468"/>
                    <a:pt x="61468" y="0"/>
                    <a:pt x="137414" y="0"/>
                  </a:cubicBezTo>
                  <a:lnTo>
                    <a:pt x="598551" y="0"/>
                  </a:lnTo>
                  <a:cubicBezTo>
                    <a:pt x="674497" y="0"/>
                    <a:pt x="735965" y="61468"/>
                    <a:pt x="735965" y="137414"/>
                  </a:cubicBezTo>
                  <a:lnTo>
                    <a:pt x="735965" y="598551"/>
                  </a:lnTo>
                  <a:cubicBezTo>
                    <a:pt x="735965" y="674497"/>
                    <a:pt x="674497" y="735965"/>
                    <a:pt x="598551" y="735965"/>
                  </a:cubicBezTo>
                  <a:lnTo>
                    <a:pt x="137414" y="735965"/>
                  </a:lnTo>
                  <a:cubicBezTo>
                    <a:pt x="61468" y="735965"/>
                    <a:pt x="0" y="674497"/>
                    <a:pt x="0" y="598551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748665" cy="748665"/>
            </a:xfrm>
            <a:custGeom>
              <a:avLst/>
              <a:gdLst/>
              <a:ahLst/>
              <a:cxnLst/>
              <a:rect l="l" t="t" r="r" b="b"/>
              <a:pathLst>
                <a:path w="748665" h="748665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604901" y="0"/>
                  </a:lnTo>
                  <a:lnTo>
                    <a:pt x="604901" y="6350"/>
                  </a:lnTo>
                  <a:lnTo>
                    <a:pt x="604901" y="0"/>
                  </a:lnTo>
                  <a:cubicBezTo>
                    <a:pt x="684276" y="0"/>
                    <a:pt x="748665" y="64389"/>
                    <a:pt x="748665" y="143764"/>
                  </a:cubicBezTo>
                  <a:lnTo>
                    <a:pt x="742315" y="143764"/>
                  </a:lnTo>
                  <a:lnTo>
                    <a:pt x="748665" y="143764"/>
                  </a:lnTo>
                  <a:lnTo>
                    <a:pt x="748665" y="604901"/>
                  </a:lnTo>
                  <a:lnTo>
                    <a:pt x="742315" y="604901"/>
                  </a:lnTo>
                  <a:lnTo>
                    <a:pt x="748665" y="604901"/>
                  </a:lnTo>
                  <a:cubicBezTo>
                    <a:pt x="748665" y="684276"/>
                    <a:pt x="684276" y="748665"/>
                    <a:pt x="604901" y="748665"/>
                  </a:cubicBezTo>
                  <a:lnTo>
                    <a:pt x="604901" y="742315"/>
                  </a:lnTo>
                  <a:lnTo>
                    <a:pt x="604901" y="748665"/>
                  </a:lnTo>
                  <a:lnTo>
                    <a:pt x="143764" y="748665"/>
                  </a:lnTo>
                  <a:lnTo>
                    <a:pt x="143764" y="742315"/>
                  </a:lnTo>
                  <a:lnTo>
                    <a:pt x="143764" y="748665"/>
                  </a:lnTo>
                  <a:cubicBezTo>
                    <a:pt x="64389" y="748665"/>
                    <a:pt x="0" y="684403"/>
                    <a:pt x="0" y="604901"/>
                  </a:cubicBezTo>
                  <a:lnTo>
                    <a:pt x="0" y="143764"/>
                  </a:lnTo>
                  <a:lnTo>
                    <a:pt x="6350" y="143764"/>
                  </a:lnTo>
                  <a:lnTo>
                    <a:pt x="0" y="143764"/>
                  </a:lnTo>
                  <a:moveTo>
                    <a:pt x="12700" y="143764"/>
                  </a:moveTo>
                  <a:lnTo>
                    <a:pt x="12700" y="604901"/>
                  </a:lnTo>
                  <a:lnTo>
                    <a:pt x="6350" y="604901"/>
                  </a:lnTo>
                  <a:lnTo>
                    <a:pt x="12700" y="604901"/>
                  </a:lnTo>
                  <a:cubicBezTo>
                    <a:pt x="12700" y="677291"/>
                    <a:pt x="71374" y="735965"/>
                    <a:pt x="143764" y="735965"/>
                  </a:cubicBezTo>
                  <a:lnTo>
                    <a:pt x="604901" y="735965"/>
                  </a:lnTo>
                  <a:cubicBezTo>
                    <a:pt x="677291" y="735965"/>
                    <a:pt x="735965" y="677291"/>
                    <a:pt x="735965" y="604901"/>
                  </a:cubicBezTo>
                  <a:lnTo>
                    <a:pt x="735965" y="143764"/>
                  </a:lnTo>
                  <a:cubicBezTo>
                    <a:pt x="735965" y="71374"/>
                    <a:pt x="677291" y="12700"/>
                    <a:pt x="604901" y="12700"/>
                  </a:cubicBezTo>
                  <a:lnTo>
                    <a:pt x="143764" y="12700"/>
                  </a:lnTo>
                  <a:lnTo>
                    <a:pt x="143764" y="6350"/>
                  </a:lnTo>
                  <a:lnTo>
                    <a:pt x="143764" y="12700"/>
                  </a:lnTo>
                  <a:cubicBezTo>
                    <a:pt x="71374" y="12700"/>
                    <a:pt x="12700" y="71374"/>
                    <a:pt x="12700" y="14376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32185" y="4810720"/>
            <a:ext cx="404812" cy="506016"/>
            <a:chOff x="0" y="0"/>
            <a:chExt cx="539750" cy="6746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9750" cy="674688"/>
            </a:xfrm>
            <a:custGeom>
              <a:avLst/>
              <a:gdLst/>
              <a:ahLst/>
              <a:cxnLst/>
              <a:rect l="l" t="t" r="r" b="b"/>
              <a:pathLst>
                <a:path w="539750" h="674688">
                  <a:moveTo>
                    <a:pt x="0" y="0"/>
                  </a:moveTo>
                  <a:lnTo>
                    <a:pt x="539750" y="0"/>
                  </a:lnTo>
                  <a:lnTo>
                    <a:pt x="539750" y="674688"/>
                  </a:lnTo>
                  <a:lnTo>
                    <a:pt x="0" y="674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57150"/>
              <a:ext cx="539750" cy="6175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spc="-6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361605" y="4757142"/>
            <a:ext cx="6285160" cy="506016"/>
            <a:chOff x="0" y="0"/>
            <a:chExt cx="8380213" cy="6746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380213" cy="674688"/>
            </a:xfrm>
            <a:custGeom>
              <a:avLst/>
              <a:gdLst/>
              <a:ahLst/>
              <a:cxnLst/>
              <a:rect l="l" t="t" r="r" b="b"/>
              <a:pathLst>
                <a:path w="8380213" h="674688">
                  <a:moveTo>
                    <a:pt x="0" y="0"/>
                  </a:moveTo>
                  <a:lnTo>
                    <a:pt x="8380213" y="0"/>
                  </a:lnTo>
                  <a:lnTo>
                    <a:pt x="8380213" y="674688"/>
                  </a:lnTo>
                  <a:lnTo>
                    <a:pt x="0" y="674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8380213" cy="6937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87" spc="-63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Automate Failures &amp; Success Alerts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82092" y="6831062"/>
            <a:ext cx="735955" cy="28575"/>
            <a:chOff x="0" y="0"/>
            <a:chExt cx="981273" cy="381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81329" cy="38100"/>
            </a:xfrm>
            <a:custGeom>
              <a:avLst/>
              <a:gdLst/>
              <a:ahLst/>
              <a:cxnLst/>
              <a:rect l="l" t="t" r="r" b="b"/>
              <a:pathLst>
                <a:path w="98132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62279" y="0"/>
                  </a:lnTo>
                  <a:cubicBezTo>
                    <a:pt x="972820" y="0"/>
                    <a:pt x="981329" y="8509"/>
                    <a:pt x="981329" y="19050"/>
                  </a:cubicBezTo>
                  <a:cubicBezTo>
                    <a:pt x="981329" y="29591"/>
                    <a:pt x="972693" y="38100"/>
                    <a:pt x="96227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853901" y="6564660"/>
            <a:ext cx="561529" cy="561529"/>
            <a:chOff x="0" y="0"/>
            <a:chExt cx="748705" cy="748705"/>
          </a:xfrm>
        </p:grpSpPr>
        <p:sp>
          <p:nvSpPr>
            <p:cNvPr id="38" name="Freeform 38"/>
            <p:cNvSpPr/>
            <p:nvPr/>
          </p:nvSpPr>
          <p:spPr>
            <a:xfrm>
              <a:off x="6350" y="6350"/>
              <a:ext cx="735965" cy="735965"/>
            </a:xfrm>
            <a:custGeom>
              <a:avLst/>
              <a:gdLst/>
              <a:ahLst/>
              <a:cxnLst/>
              <a:rect l="l" t="t" r="r" b="b"/>
              <a:pathLst>
                <a:path w="735965" h="735965">
                  <a:moveTo>
                    <a:pt x="0" y="137414"/>
                  </a:moveTo>
                  <a:cubicBezTo>
                    <a:pt x="0" y="61468"/>
                    <a:pt x="61468" y="0"/>
                    <a:pt x="137414" y="0"/>
                  </a:cubicBezTo>
                  <a:lnTo>
                    <a:pt x="598551" y="0"/>
                  </a:lnTo>
                  <a:cubicBezTo>
                    <a:pt x="674497" y="0"/>
                    <a:pt x="735965" y="61468"/>
                    <a:pt x="735965" y="137414"/>
                  </a:cubicBezTo>
                  <a:lnTo>
                    <a:pt x="735965" y="598551"/>
                  </a:lnTo>
                  <a:cubicBezTo>
                    <a:pt x="735965" y="674497"/>
                    <a:pt x="674497" y="735965"/>
                    <a:pt x="598551" y="735965"/>
                  </a:cubicBezTo>
                  <a:lnTo>
                    <a:pt x="137414" y="735965"/>
                  </a:lnTo>
                  <a:cubicBezTo>
                    <a:pt x="61468" y="735965"/>
                    <a:pt x="0" y="674497"/>
                    <a:pt x="0" y="598551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748665" cy="748665"/>
            </a:xfrm>
            <a:custGeom>
              <a:avLst/>
              <a:gdLst/>
              <a:ahLst/>
              <a:cxnLst/>
              <a:rect l="l" t="t" r="r" b="b"/>
              <a:pathLst>
                <a:path w="748665" h="748665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604901" y="0"/>
                  </a:lnTo>
                  <a:lnTo>
                    <a:pt x="604901" y="6350"/>
                  </a:lnTo>
                  <a:lnTo>
                    <a:pt x="604901" y="0"/>
                  </a:lnTo>
                  <a:cubicBezTo>
                    <a:pt x="684276" y="0"/>
                    <a:pt x="748665" y="64389"/>
                    <a:pt x="748665" y="143764"/>
                  </a:cubicBezTo>
                  <a:lnTo>
                    <a:pt x="742315" y="143764"/>
                  </a:lnTo>
                  <a:lnTo>
                    <a:pt x="748665" y="143764"/>
                  </a:lnTo>
                  <a:lnTo>
                    <a:pt x="748665" y="604901"/>
                  </a:lnTo>
                  <a:lnTo>
                    <a:pt x="742315" y="604901"/>
                  </a:lnTo>
                  <a:lnTo>
                    <a:pt x="748665" y="604901"/>
                  </a:lnTo>
                  <a:cubicBezTo>
                    <a:pt x="748665" y="684276"/>
                    <a:pt x="684276" y="748665"/>
                    <a:pt x="604901" y="748665"/>
                  </a:cubicBezTo>
                  <a:lnTo>
                    <a:pt x="604901" y="742315"/>
                  </a:lnTo>
                  <a:lnTo>
                    <a:pt x="604901" y="748665"/>
                  </a:lnTo>
                  <a:lnTo>
                    <a:pt x="143764" y="748665"/>
                  </a:lnTo>
                  <a:lnTo>
                    <a:pt x="143764" y="742315"/>
                  </a:lnTo>
                  <a:lnTo>
                    <a:pt x="143764" y="748665"/>
                  </a:lnTo>
                  <a:cubicBezTo>
                    <a:pt x="64389" y="748665"/>
                    <a:pt x="0" y="684403"/>
                    <a:pt x="0" y="604901"/>
                  </a:cubicBezTo>
                  <a:lnTo>
                    <a:pt x="0" y="143764"/>
                  </a:lnTo>
                  <a:lnTo>
                    <a:pt x="6350" y="143764"/>
                  </a:lnTo>
                  <a:lnTo>
                    <a:pt x="0" y="143764"/>
                  </a:lnTo>
                  <a:moveTo>
                    <a:pt x="12700" y="143764"/>
                  </a:moveTo>
                  <a:lnTo>
                    <a:pt x="12700" y="604901"/>
                  </a:lnTo>
                  <a:lnTo>
                    <a:pt x="6350" y="604901"/>
                  </a:lnTo>
                  <a:lnTo>
                    <a:pt x="12700" y="604901"/>
                  </a:lnTo>
                  <a:cubicBezTo>
                    <a:pt x="12700" y="677291"/>
                    <a:pt x="71374" y="735965"/>
                    <a:pt x="143764" y="735965"/>
                  </a:cubicBezTo>
                  <a:lnTo>
                    <a:pt x="604901" y="735965"/>
                  </a:lnTo>
                  <a:cubicBezTo>
                    <a:pt x="677291" y="735965"/>
                    <a:pt x="735965" y="677291"/>
                    <a:pt x="735965" y="604901"/>
                  </a:cubicBezTo>
                  <a:lnTo>
                    <a:pt x="735965" y="143764"/>
                  </a:lnTo>
                  <a:cubicBezTo>
                    <a:pt x="735965" y="71374"/>
                    <a:pt x="677291" y="12700"/>
                    <a:pt x="604901" y="12700"/>
                  </a:cubicBezTo>
                  <a:lnTo>
                    <a:pt x="143764" y="12700"/>
                  </a:lnTo>
                  <a:lnTo>
                    <a:pt x="143764" y="6350"/>
                  </a:lnTo>
                  <a:lnTo>
                    <a:pt x="143764" y="12700"/>
                  </a:lnTo>
                  <a:cubicBezTo>
                    <a:pt x="71374" y="12700"/>
                    <a:pt x="12700" y="71374"/>
                    <a:pt x="12700" y="14376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32185" y="6592341"/>
            <a:ext cx="404812" cy="506016"/>
            <a:chOff x="0" y="0"/>
            <a:chExt cx="539750" cy="67468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39750" cy="674688"/>
            </a:xfrm>
            <a:custGeom>
              <a:avLst/>
              <a:gdLst/>
              <a:ahLst/>
              <a:cxnLst/>
              <a:rect l="l" t="t" r="r" b="b"/>
              <a:pathLst>
                <a:path w="539750" h="674688">
                  <a:moveTo>
                    <a:pt x="0" y="0"/>
                  </a:moveTo>
                  <a:lnTo>
                    <a:pt x="539750" y="0"/>
                  </a:lnTo>
                  <a:lnTo>
                    <a:pt x="539750" y="674688"/>
                  </a:lnTo>
                  <a:lnTo>
                    <a:pt x="0" y="674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57150"/>
              <a:ext cx="539750" cy="6175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spc="-6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361605" y="6538764"/>
            <a:ext cx="5863829" cy="506016"/>
            <a:chOff x="0" y="0"/>
            <a:chExt cx="7818438" cy="67468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818438" cy="674688"/>
            </a:xfrm>
            <a:custGeom>
              <a:avLst/>
              <a:gdLst/>
              <a:ahLst/>
              <a:cxnLst/>
              <a:rect l="l" t="t" r="r" b="b"/>
              <a:pathLst>
                <a:path w="7818438" h="674688">
                  <a:moveTo>
                    <a:pt x="0" y="0"/>
                  </a:moveTo>
                  <a:lnTo>
                    <a:pt x="7818438" y="0"/>
                  </a:lnTo>
                  <a:lnTo>
                    <a:pt x="7818438" y="674688"/>
                  </a:lnTo>
                  <a:lnTo>
                    <a:pt x="0" y="674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7818438" cy="6937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87" spc="-63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Store Reports for Future Analysis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82092" y="8612684"/>
            <a:ext cx="735955" cy="28575"/>
            <a:chOff x="0" y="0"/>
            <a:chExt cx="981273" cy="381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81329" cy="38100"/>
            </a:xfrm>
            <a:custGeom>
              <a:avLst/>
              <a:gdLst/>
              <a:ahLst/>
              <a:cxnLst/>
              <a:rect l="l" t="t" r="r" b="b"/>
              <a:pathLst>
                <a:path w="98132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62279" y="0"/>
                  </a:lnTo>
                  <a:cubicBezTo>
                    <a:pt x="972820" y="0"/>
                    <a:pt x="981329" y="8509"/>
                    <a:pt x="981329" y="19050"/>
                  </a:cubicBezTo>
                  <a:cubicBezTo>
                    <a:pt x="981329" y="29591"/>
                    <a:pt x="972693" y="38100"/>
                    <a:pt x="96227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853901" y="8346281"/>
            <a:ext cx="561529" cy="561529"/>
            <a:chOff x="0" y="0"/>
            <a:chExt cx="748705" cy="748705"/>
          </a:xfrm>
        </p:grpSpPr>
        <p:sp>
          <p:nvSpPr>
            <p:cNvPr id="49" name="Freeform 49"/>
            <p:cNvSpPr/>
            <p:nvPr/>
          </p:nvSpPr>
          <p:spPr>
            <a:xfrm>
              <a:off x="6350" y="6350"/>
              <a:ext cx="735965" cy="735965"/>
            </a:xfrm>
            <a:custGeom>
              <a:avLst/>
              <a:gdLst/>
              <a:ahLst/>
              <a:cxnLst/>
              <a:rect l="l" t="t" r="r" b="b"/>
              <a:pathLst>
                <a:path w="735965" h="735965">
                  <a:moveTo>
                    <a:pt x="0" y="137414"/>
                  </a:moveTo>
                  <a:cubicBezTo>
                    <a:pt x="0" y="61468"/>
                    <a:pt x="61468" y="0"/>
                    <a:pt x="137414" y="0"/>
                  </a:cubicBezTo>
                  <a:lnTo>
                    <a:pt x="598551" y="0"/>
                  </a:lnTo>
                  <a:cubicBezTo>
                    <a:pt x="674497" y="0"/>
                    <a:pt x="735965" y="61468"/>
                    <a:pt x="735965" y="137414"/>
                  </a:cubicBezTo>
                  <a:lnTo>
                    <a:pt x="735965" y="598551"/>
                  </a:lnTo>
                  <a:cubicBezTo>
                    <a:pt x="735965" y="674497"/>
                    <a:pt x="674497" y="735965"/>
                    <a:pt x="598551" y="735965"/>
                  </a:cubicBezTo>
                  <a:lnTo>
                    <a:pt x="137414" y="735965"/>
                  </a:lnTo>
                  <a:cubicBezTo>
                    <a:pt x="61468" y="735965"/>
                    <a:pt x="0" y="674497"/>
                    <a:pt x="0" y="598551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748665" cy="748665"/>
            </a:xfrm>
            <a:custGeom>
              <a:avLst/>
              <a:gdLst/>
              <a:ahLst/>
              <a:cxnLst/>
              <a:rect l="l" t="t" r="r" b="b"/>
              <a:pathLst>
                <a:path w="748665" h="748665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604901" y="0"/>
                  </a:lnTo>
                  <a:lnTo>
                    <a:pt x="604901" y="6350"/>
                  </a:lnTo>
                  <a:lnTo>
                    <a:pt x="604901" y="0"/>
                  </a:lnTo>
                  <a:cubicBezTo>
                    <a:pt x="684276" y="0"/>
                    <a:pt x="748665" y="64389"/>
                    <a:pt x="748665" y="143764"/>
                  </a:cubicBezTo>
                  <a:lnTo>
                    <a:pt x="742315" y="143764"/>
                  </a:lnTo>
                  <a:lnTo>
                    <a:pt x="748665" y="143764"/>
                  </a:lnTo>
                  <a:lnTo>
                    <a:pt x="748665" y="604901"/>
                  </a:lnTo>
                  <a:lnTo>
                    <a:pt x="742315" y="604901"/>
                  </a:lnTo>
                  <a:lnTo>
                    <a:pt x="748665" y="604901"/>
                  </a:lnTo>
                  <a:cubicBezTo>
                    <a:pt x="748665" y="684276"/>
                    <a:pt x="684276" y="748665"/>
                    <a:pt x="604901" y="748665"/>
                  </a:cubicBezTo>
                  <a:lnTo>
                    <a:pt x="604901" y="742315"/>
                  </a:lnTo>
                  <a:lnTo>
                    <a:pt x="604901" y="748665"/>
                  </a:lnTo>
                  <a:lnTo>
                    <a:pt x="143764" y="748665"/>
                  </a:lnTo>
                  <a:lnTo>
                    <a:pt x="143764" y="742315"/>
                  </a:lnTo>
                  <a:lnTo>
                    <a:pt x="143764" y="748665"/>
                  </a:lnTo>
                  <a:cubicBezTo>
                    <a:pt x="64389" y="748665"/>
                    <a:pt x="0" y="684403"/>
                    <a:pt x="0" y="604901"/>
                  </a:cubicBezTo>
                  <a:lnTo>
                    <a:pt x="0" y="143764"/>
                  </a:lnTo>
                  <a:lnTo>
                    <a:pt x="6350" y="143764"/>
                  </a:lnTo>
                  <a:lnTo>
                    <a:pt x="0" y="143764"/>
                  </a:lnTo>
                  <a:moveTo>
                    <a:pt x="12700" y="143764"/>
                  </a:moveTo>
                  <a:lnTo>
                    <a:pt x="12700" y="604901"/>
                  </a:lnTo>
                  <a:lnTo>
                    <a:pt x="6350" y="604901"/>
                  </a:lnTo>
                  <a:lnTo>
                    <a:pt x="12700" y="604901"/>
                  </a:lnTo>
                  <a:cubicBezTo>
                    <a:pt x="12700" y="677291"/>
                    <a:pt x="71374" y="735965"/>
                    <a:pt x="143764" y="735965"/>
                  </a:cubicBezTo>
                  <a:lnTo>
                    <a:pt x="604901" y="735965"/>
                  </a:lnTo>
                  <a:cubicBezTo>
                    <a:pt x="677291" y="735965"/>
                    <a:pt x="735965" y="677291"/>
                    <a:pt x="735965" y="604901"/>
                  </a:cubicBezTo>
                  <a:lnTo>
                    <a:pt x="735965" y="143764"/>
                  </a:lnTo>
                  <a:cubicBezTo>
                    <a:pt x="735965" y="71374"/>
                    <a:pt x="677291" y="12700"/>
                    <a:pt x="604901" y="12700"/>
                  </a:cubicBezTo>
                  <a:lnTo>
                    <a:pt x="143764" y="12700"/>
                  </a:lnTo>
                  <a:lnTo>
                    <a:pt x="143764" y="6350"/>
                  </a:lnTo>
                  <a:lnTo>
                    <a:pt x="143764" y="12700"/>
                  </a:lnTo>
                  <a:cubicBezTo>
                    <a:pt x="71374" y="12700"/>
                    <a:pt x="12700" y="71374"/>
                    <a:pt x="12700" y="143764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32185" y="8373964"/>
            <a:ext cx="404812" cy="506016"/>
            <a:chOff x="0" y="0"/>
            <a:chExt cx="539750" cy="67468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39750" cy="674688"/>
            </a:xfrm>
            <a:custGeom>
              <a:avLst/>
              <a:gdLst/>
              <a:ahLst/>
              <a:cxnLst/>
              <a:rect l="l" t="t" r="r" b="b"/>
              <a:pathLst>
                <a:path w="539750" h="674688">
                  <a:moveTo>
                    <a:pt x="0" y="0"/>
                  </a:moveTo>
                  <a:lnTo>
                    <a:pt x="539750" y="0"/>
                  </a:lnTo>
                  <a:lnTo>
                    <a:pt x="539750" y="674688"/>
                  </a:lnTo>
                  <a:lnTo>
                    <a:pt x="0" y="674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57150"/>
              <a:ext cx="539750" cy="6175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87"/>
                </a:lnSpc>
              </a:pPr>
              <a:r>
                <a:rPr lang="en-US" sz="3187" spc="-6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361605" y="8320385"/>
            <a:ext cx="5657255" cy="506016"/>
            <a:chOff x="0" y="0"/>
            <a:chExt cx="7543007" cy="67468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543007" cy="674688"/>
            </a:xfrm>
            <a:custGeom>
              <a:avLst/>
              <a:gdLst/>
              <a:ahLst/>
              <a:cxnLst/>
              <a:rect l="l" t="t" r="r" b="b"/>
              <a:pathLst>
                <a:path w="7543007" h="674688">
                  <a:moveTo>
                    <a:pt x="0" y="0"/>
                  </a:moveTo>
                  <a:lnTo>
                    <a:pt x="7543007" y="0"/>
                  </a:lnTo>
                  <a:lnTo>
                    <a:pt x="7543007" y="674688"/>
                  </a:lnTo>
                  <a:lnTo>
                    <a:pt x="0" y="674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7543007" cy="6937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3187" spc="-63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Integrate with Monitoring Tools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5838" y="774650"/>
            <a:ext cx="11286679" cy="968276"/>
            <a:chOff x="0" y="0"/>
            <a:chExt cx="15048905" cy="12910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8905" cy="1291035"/>
            </a:xfrm>
            <a:custGeom>
              <a:avLst/>
              <a:gdLst/>
              <a:ahLst/>
              <a:cxnLst/>
              <a:rect l="l" t="t" r="r" b="b"/>
              <a:pathLst>
                <a:path w="15048905" h="1291035">
                  <a:moveTo>
                    <a:pt x="0" y="0"/>
                  </a:moveTo>
                  <a:lnTo>
                    <a:pt x="15048905" y="0"/>
                  </a:lnTo>
                  <a:lnTo>
                    <a:pt x="15048905" y="1291035"/>
                  </a:lnTo>
                  <a:lnTo>
                    <a:pt x="0" y="12910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048905" cy="13291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625"/>
                </a:lnSpc>
              </a:pPr>
              <a:r>
                <a:rPr lang="en-US" sz="6062" spc="-122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Different Environments in CI/CD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5838" y="2183011"/>
            <a:ext cx="16316325" cy="563315"/>
            <a:chOff x="0" y="0"/>
            <a:chExt cx="21755100" cy="7510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5100" cy="751087"/>
            </a:xfrm>
            <a:custGeom>
              <a:avLst/>
              <a:gdLst/>
              <a:ahLst/>
              <a:cxnLst/>
              <a:rect l="l" t="t" r="r" b="b"/>
              <a:pathLst>
                <a:path w="21755100" h="751087">
                  <a:moveTo>
                    <a:pt x="0" y="0"/>
                  </a:moveTo>
                  <a:lnTo>
                    <a:pt x="21755100" y="0"/>
                  </a:lnTo>
                  <a:lnTo>
                    <a:pt x="21755100" y="751087"/>
                  </a:lnTo>
                  <a:lnTo>
                    <a:pt x="0" y="751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755100" cy="8558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75"/>
                </a:lnSpc>
              </a:pPr>
              <a:r>
                <a:rPr lang="en-US" sz="2750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CI/CD pipelines use multiple environments to ensure software quality before production.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5838" y="2961965"/>
            <a:ext cx="16316325" cy="563315"/>
            <a:chOff x="0" y="0"/>
            <a:chExt cx="21755100" cy="7510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55100" cy="751087"/>
            </a:xfrm>
            <a:custGeom>
              <a:avLst/>
              <a:gdLst/>
              <a:ahLst/>
              <a:cxnLst/>
              <a:rect l="l" t="t" r="r" b="b"/>
              <a:pathLst>
                <a:path w="21755100" h="751087">
                  <a:moveTo>
                    <a:pt x="0" y="0"/>
                  </a:moveTo>
                  <a:lnTo>
                    <a:pt x="21755100" y="0"/>
                  </a:lnTo>
                  <a:lnTo>
                    <a:pt x="21755100" y="751087"/>
                  </a:lnTo>
                  <a:lnTo>
                    <a:pt x="0" y="751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21755100" cy="8558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75"/>
                </a:lnSpc>
              </a:pPr>
              <a:r>
                <a:rPr lang="en-US" sz="2750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Each stage ensures reliable software delivery with minimal disruptions.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5838" y="4383435"/>
            <a:ext cx="16316325" cy="38100"/>
            <a:chOff x="0" y="0"/>
            <a:chExt cx="21755100" cy="50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55100" cy="50800"/>
            </a:xfrm>
            <a:custGeom>
              <a:avLst/>
              <a:gdLst/>
              <a:ahLst/>
              <a:cxnLst/>
              <a:rect l="l" t="t" r="r" b="b"/>
              <a:pathLst>
                <a:path w="2175510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29700" y="0"/>
                  </a:lnTo>
                  <a:cubicBezTo>
                    <a:pt x="21743670" y="0"/>
                    <a:pt x="21755100" y="11430"/>
                    <a:pt x="21755100" y="25400"/>
                  </a:cubicBezTo>
                  <a:cubicBezTo>
                    <a:pt x="21755100" y="39370"/>
                    <a:pt x="21743670" y="50800"/>
                    <a:pt x="2172970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900660" y="4383435"/>
            <a:ext cx="38100" cy="845046"/>
            <a:chOff x="0" y="0"/>
            <a:chExt cx="50800" cy="11267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800" cy="1126744"/>
            </a:xfrm>
            <a:custGeom>
              <a:avLst/>
              <a:gdLst/>
              <a:ahLst/>
              <a:cxnLst/>
              <a:rect l="l" t="t" r="r" b="b"/>
              <a:pathLst>
                <a:path w="50800" h="112674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1344"/>
                  </a:lnTo>
                  <a:cubicBezTo>
                    <a:pt x="50800" y="1115314"/>
                    <a:pt x="39370" y="1126744"/>
                    <a:pt x="25400" y="1126744"/>
                  </a:cubicBezTo>
                  <a:cubicBezTo>
                    <a:pt x="11430" y="1126744"/>
                    <a:pt x="0" y="1115314"/>
                    <a:pt x="0" y="110134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2598092" y="4061817"/>
            <a:ext cx="643235" cy="643235"/>
            <a:chOff x="0" y="0"/>
            <a:chExt cx="857647" cy="857647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844931" cy="844931"/>
            </a:xfrm>
            <a:custGeom>
              <a:avLst/>
              <a:gdLst/>
              <a:ahLst/>
              <a:cxnLst/>
              <a:rect l="l" t="t" r="r" b="b"/>
              <a:pathLst>
                <a:path w="844931" h="844931">
                  <a:moveTo>
                    <a:pt x="0" y="157734"/>
                  </a:moveTo>
                  <a:cubicBezTo>
                    <a:pt x="0" y="70612"/>
                    <a:pt x="70612" y="0"/>
                    <a:pt x="157734" y="0"/>
                  </a:cubicBezTo>
                  <a:lnTo>
                    <a:pt x="687197" y="0"/>
                  </a:lnTo>
                  <a:cubicBezTo>
                    <a:pt x="774319" y="0"/>
                    <a:pt x="844931" y="70612"/>
                    <a:pt x="844931" y="157734"/>
                  </a:cubicBezTo>
                  <a:lnTo>
                    <a:pt x="844931" y="687197"/>
                  </a:lnTo>
                  <a:cubicBezTo>
                    <a:pt x="844931" y="774319"/>
                    <a:pt x="774319" y="844931"/>
                    <a:pt x="687197" y="844931"/>
                  </a:cubicBezTo>
                  <a:lnTo>
                    <a:pt x="157734" y="844931"/>
                  </a:lnTo>
                  <a:cubicBezTo>
                    <a:pt x="70612" y="844931"/>
                    <a:pt x="0" y="774319"/>
                    <a:pt x="0" y="68719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857631" cy="857631"/>
            </a:xfrm>
            <a:custGeom>
              <a:avLst/>
              <a:gdLst/>
              <a:ahLst/>
              <a:cxnLst/>
              <a:rect l="l" t="t" r="r" b="b"/>
              <a:pathLst>
                <a:path w="857631" h="857631">
                  <a:moveTo>
                    <a:pt x="0" y="164084"/>
                  </a:moveTo>
                  <a:cubicBezTo>
                    <a:pt x="0" y="73533"/>
                    <a:pt x="73533" y="0"/>
                    <a:pt x="164084" y="0"/>
                  </a:cubicBezTo>
                  <a:lnTo>
                    <a:pt x="693547" y="0"/>
                  </a:lnTo>
                  <a:lnTo>
                    <a:pt x="693547" y="6350"/>
                  </a:lnTo>
                  <a:lnTo>
                    <a:pt x="693547" y="0"/>
                  </a:lnTo>
                  <a:lnTo>
                    <a:pt x="693547" y="6350"/>
                  </a:lnTo>
                  <a:lnTo>
                    <a:pt x="693547" y="0"/>
                  </a:lnTo>
                  <a:cubicBezTo>
                    <a:pt x="784225" y="0"/>
                    <a:pt x="857631" y="73533"/>
                    <a:pt x="857631" y="164084"/>
                  </a:cubicBezTo>
                  <a:lnTo>
                    <a:pt x="857631" y="693547"/>
                  </a:lnTo>
                  <a:lnTo>
                    <a:pt x="851281" y="693547"/>
                  </a:lnTo>
                  <a:lnTo>
                    <a:pt x="857631" y="693547"/>
                  </a:lnTo>
                  <a:cubicBezTo>
                    <a:pt x="857631" y="784225"/>
                    <a:pt x="784098" y="857631"/>
                    <a:pt x="693547" y="857631"/>
                  </a:cubicBezTo>
                  <a:lnTo>
                    <a:pt x="693547" y="851281"/>
                  </a:lnTo>
                  <a:lnTo>
                    <a:pt x="693547" y="857631"/>
                  </a:lnTo>
                  <a:lnTo>
                    <a:pt x="164084" y="857631"/>
                  </a:lnTo>
                  <a:lnTo>
                    <a:pt x="164084" y="851281"/>
                  </a:lnTo>
                  <a:lnTo>
                    <a:pt x="164084" y="857631"/>
                  </a:lnTo>
                  <a:cubicBezTo>
                    <a:pt x="73533" y="857631"/>
                    <a:pt x="0" y="784225"/>
                    <a:pt x="0" y="693547"/>
                  </a:cubicBezTo>
                  <a:lnTo>
                    <a:pt x="0" y="164084"/>
                  </a:lnTo>
                  <a:lnTo>
                    <a:pt x="6350" y="164084"/>
                  </a:lnTo>
                  <a:lnTo>
                    <a:pt x="0" y="164084"/>
                  </a:lnTo>
                  <a:moveTo>
                    <a:pt x="12700" y="164084"/>
                  </a:moveTo>
                  <a:lnTo>
                    <a:pt x="12700" y="693547"/>
                  </a:lnTo>
                  <a:lnTo>
                    <a:pt x="6350" y="693547"/>
                  </a:lnTo>
                  <a:lnTo>
                    <a:pt x="12700" y="693547"/>
                  </a:lnTo>
                  <a:cubicBezTo>
                    <a:pt x="12700" y="777113"/>
                    <a:pt x="80518" y="844931"/>
                    <a:pt x="164084" y="844931"/>
                  </a:cubicBezTo>
                  <a:lnTo>
                    <a:pt x="693547" y="844931"/>
                  </a:lnTo>
                  <a:cubicBezTo>
                    <a:pt x="777113" y="844931"/>
                    <a:pt x="844931" y="777113"/>
                    <a:pt x="844931" y="693547"/>
                  </a:cubicBezTo>
                  <a:lnTo>
                    <a:pt x="844931" y="164084"/>
                  </a:lnTo>
                  <a:lnTo>
                    <a:pt x="851281" y="164084"/>
                  </a:lnTo>
                  <a:lnTo>
                    <a:pt x="844931" y="164084"/>
                  </a:lnTo>
                  <a:cubicBezTo>
                    <a:pt x="844931" y="80518"/>
                    <a:pt x="777113" y="12700"/>
                    <a:pt x="693547" y="12700"/>
                  </a:cubicBezTo>
                  <a:lnTo>
                    <a:pt x="164084" y="12700"/>
                  </a:lnTo>
                  <a:lnTo>
                    <a:pt x="164084" y="6350"/>
                  </a:lnTo>
                  <a:lnTo>
                    <a:pt x="164084" y="12700"/>
                  </a:lnTo>
                  <a:cubicBezTo>
                    <a:pt x="80518" y="12700"/>
                    <a:pt x="12700" y="80518"/>
                    <a:pt x="12700" y="16408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2687315" y="4092996"/>
            <a:ext cx="464790" cy="580876"/>
            <a:chOff x="0" y="0"/>
            <a:chExt cx="619720" cy="7745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19720" cy="774502"/>
            </a:xfrm>
            <a:custGeom>
              <a:avLst/>
              <a:gdLst/>
              <a:ahLst/>
              <a:cxnLst/>
              <a:rect l="l" t="t" r="r" b="b"/>
              <a:pathLst>
                <a:path w="619720" h="774502">
                  <a:moveTo>
                    <a:pt x="0" y="0"/>
                  </a:moveTo>
                  <a:lnTo>
                    <a:pt x="619720" y="0"/>
                  </a:lnTo>
                  <a:lnTo>
                    <a:pt x="619720" y="774502"/>
                  </a:lnTo>
                  <a:lnTo>
                    <a:pt x="0" y="774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57150"/>
              <a:ext cx="619720" cy="7173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3625" spc="-7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67420" y="5510212"/>
            <a:ext cx="3304729" cy="484138"/>
            <a:chOff x="0" y="0"/>
            <a:chExt cx="4406305" cy="64551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06305" cy="645517"/>
            </a:xfrm>
            <a:custGeom>
              <a:avLst/>
              <a:gdLst/>
              <a:ahLst/>
              <a:cxnLst/>
              <a:rect l="l" t="t" r="r" b="b"/>
              <a:pathLst>
                <a:path w="4406305" h="645517">
                  <a:moveTo>
                    <a:pt x="0" y="0"/>
                  </a:moveTo>
                  <a:lnTo>
                    <a:pt x="4406305" y="0"/>
                  </a:lnTo>
                  <a:lnTo>
                    <a:pt x="4406305" y="645517"/>
                  </a:lnTo>
                  <a:lnTo>
                    <a:pt x="0" y="6455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406305" cy="6645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49"/>
                </a:lnSpc>
              </a:pPr>
              <a:r>
                <a:rPr lang="en-US" sz="3000" spc="-61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Test Suite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67420" y="6163270"/>
            <a:ext cx="3304729" cy="1351955"/>
            <a:chOff x="0" y="0"/>
            <a:chExt cx="4406305" cy="180260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406305" cy="1802607"/>
            </a:xfrm>
            <a:custGeom>
              <a:avLst/>
              <a:gdLst/>
              <a:ahLst/>
              <a:cxnLst/>
              <a:rect l="l" t="t" r="r" b="b"/>
              <a:pathLst>
                <a:path w="4406305" h="1802607">
                  <a:moveTo>
                    <a:pt x="0" y="0"/>
                  </a:moveTo>
                  <a:lnTo>
                    <a:pt x="4406305" y="0"/>
                  </a:lnTo>
                  <a:lnTo>
                    <a:pt x="4406305" y="1802607"/>
                  </a:lnTo>
                  <a:lnTo>
                    <a:pt x="0" y="18026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4406305" cy="18883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Runs automated tests (unit, integration, functional).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67420" y="7613749"/>
            <a:ext cx="3304729" cy="1351955"/>
            <a:chOff x="0" y="0"/>
            <a:chExt cx="4406305" cy="180260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406305" cy="1802607"/>
            </a:xfrm>
            <a:custGeom>
              <a:avLst/>
              <a:gdLst/>
              <a:ahLst/>
              <a:cxnLst/>
              <a:rect l="l" t="t" r="r" b="b"/>
              <a:pathLst>
                <a:path w="4406305" h="1802607">
                  <a:moveTo>
                    <a:pt x="0" y="0"/>
                  </a:moveTo>
                  <a:lnTo>
                    <a:pt x="4406305" y="0"/>
                  </a:lnTo>
                  <a:lnTo>
                    <a:pt x="4406305" y="1802607"/>
                  </a:lnTo>
                  <a:lnTo>
                    <a:pt x="0" y="18026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4406305" cy="18883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Detects bugs early in isolated environments.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050138" y="4383435"/>
            <a:ext cx="38100" cy="845046"/>
            <a:chOff x="0" y="0"/>
            <a:chExt cx="50800" cy="11267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0800" cy="1126744"/>
            </a:xfrm>
            <a:custGeom>
              <a:avLst/>
              <a:gdLst/>
              <a:ahLst/>
              <a:cxnLst/>
              <a:rect l="l" t="t" r="r" b="b"/>
              <a:pathLst>
                <a:path w="50800" h="112674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1344"/>
                  </a:lnTo>
                  <a:cubicBezTo>
                    <a:pt x="50800" y="1115314"/>
                    <a:pt x="39370" y="1126744"/>
                    <a:pt x="25400" y="1126744"/>
                  </a:cubicBezTo>
                  <a:cubicBezTo>
                    <a:pt x="11430" y="1126744"/>
                    <a:pt x="0" y="1115314"/>
                    <a:pt x="0" y="110134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6747570" y="4061817"/>
            <a:ext cx="643235" cy="643235"/>
            <a:chOff x="0" y="0"/>
            <a:chExt cx="857647" cy="857647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844931" cy="844931"/>
            </a:xfrm>
            <a:custGeom>
              <a:avLst/>
              <a:gdLst/>
              <a:ahLst/>
              <a:cxnLst/>
              <a:rect l="l" t="t" r="r" b="b"/>
              <a:pathLst>
                <a:path w="844931" h="844931">
                  <a:moveTo>
                    <a:pt x="0" y="157734"/>
                  </a:moveTo>
                  <a:cubicBezTo>
                    <a:pt x="0" y="70612"/>
                    <a:pt x="70612" y="0"/>
                    <a:pt x="157734" y="0"/>
                  </a:cubicBezTo>
                  <a:lnTo>
                    <a:pt x="687197" y="0"/>
                  </a:lnTo>
                  <a:cubicBezTo>
                    <a:pt x="774319" y="0"/>
                    <a:pt x="844931" y="70612"/>
                    <a:pt x="844931" y="157734"/>
                  </a:cubicBezTo>
                  <a:lnTo>
                    <a:pt x="844931" y="687197"/>
                  </a:lnTo>
                  <a:cubicBezTo>
                    <a:pt x="844931" y="774319"/>
                    <a:pt x="774319" y="844931"/>
                    <a:pt x="687197" y="844931"/>
                  </a:cubicBezTo>
                  <a:lnTo>
                    <a:pt x="157734" y="844931"/>
                  </a:lnTo>
                  <a:cubicBezTo>
                    <a:pt x="70612" y="844931"/>
                    <a:pt x="0" y="774319"/>
                    <a:pt x="0" y="68719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857631" cy="857631"/>
            </a:xfrm>
            <a:custGeom>
              <a:avLst/>
              <a:gdLst/>
              <a:ahLst/>
              <a:cxnLst/>
              <a:rect l="l" t="t" r="r" b="b"/>
              <a:pathLst>
                <a:path w="857631" h="857631">
                  <a:moveTo>
                    <a:pt x="0" y="164084"/>
                  </a:moveTo>
                  <a:cubicBezTo>
                    <a:pt x="0" y="73533"/>
                    <a:pt x="73533" y="0"/>
                    <a:pt x="164084" y="0"/>
                  </a:cubicBezTo>
                  <a:lnTo>
                    <a:pt x="693547" y="0"/>
                  </a:lnTo>
                  <a:lnTo>
                    <a:pt x="693547" y="6350"/>
                  </a:lnTo>
                  <a:lnTo>
                    <a:pt x="693547" y="0"/>
                  </a:lnTo>
                  <a:lnTo>
                    <a:pt x="693547" y="6350"/>
                  </a:lnTo>
                  <a:lnTo>
                    <a:pt x="693547" y="0"/>
                  </a:lnTo>
                  <a:cubicBezTo>
                    <a:pt x="784225" y="0"/>
                    <a:pt x="857631" y="73533"/>
                    <a:pt x="857631" y="164084"/>
                  </a:cubicBezTo>
                  <a:lnTo>
                    <a:pt x="857631" y="693547"/>
                  </a:lnTo>
                  <a:lnTo>
                    <a:pt x="851281" y="693547"/>
                  </a:lnTo>
                  <a:lnTo>
                    <a:pt x="857631" y="693547"/>
                  </a:lnTo>
                  <a:cubicBezTo>
                    <a:pt x="857631" y="784225"/>
                    <a:pt x="784098" y="857631"/>
                    <a:pt x="693547" y="857631"/>
                  </a:cubicBezTo>
                  <a:lnTo>
                    <a:pt x="693547" y="851281"/>
                  </a:lnTo>
                  <a:lnTo>
                    <a:pt x="693547" y="857631"/>
                  </a:lnTo>
                  <a:lnTo>
                    <a:pt x="164084" y="857631"/>
                  </a:lnTo>
                  <a:lnTo>
                    <a:pt x="164084" y="851281"/>
                  </a:lnTo>
                  <a:lnTo>
                    <a:pt x="164084" y="857631"/>
                  </a:lnTo>
                  <a:cubicBezTo>
                    <a:pt x="73533" y="857631"/>
                    <a:pt x="0" y="784225"/>
                    <a:pt x="0" y="693547"/>
                  </a:cubicBezTo>
                  <a:lnTo>
                    <a:pt x="0" y="164084"/>
                  </a:lnTo>
                  <a:lnTo>
                    <a:pt x="6350" y="164084"/>
                  </a:lnTo>
                  <a:lnTo>
                    <a:pt x="0" y="164084"/>
                  </a:lnTo>
                  <a:moveTo>
                    <a:pt x="12700" y="164084"/>
                  </a:moveTo>
                  <a:lnTo>
                    <a:pt x="12700" y="693547"/>
                  </a:lnTo>
                  <a:lnTo>
                    <a:pt x="6350" y="693547"/>
                  </a:lnTo>
                  <a:lnTo>
                    <a:pt x="12700" y="693547"/>
                  </a:lnTo>
                  <a:cubicBezTo>
                    <a:pt x="12700" y="777113"/>
                    <a:pt x="80518" y="844931"/>
                    <a:pt x="164084" y="844931"/>
                  </a:cubicBezTo>
                  <a:lnTo>
                    <a:pt x="693547" y="844931"/>
                  </a:lnTo>
                  <a:cubicBezTo>
                    <a:pt x="777113" y="844931"/>
                    <a:pt x="844931" y="777113"/>
                    <a:pt x="844931" y="693547"/>
                  </a:cubicBezTo>
                  <a:lnTo>
                    <a:pt x="844931" y="164084"/>
                  </a:lnTo>
                  <a:lnTo>
                    <a:pt x="851281" y="164084"/>
                  </a:lnTo>
                  <a:lnTo>
                    <a:pt x="844931" y="164084"/>
                  </a:lnTo>
                  <a:cubicBezTo>
                    <a:pt x="844931" y="80518"/>
                    <a:pt x="777113" y="12700"/>
                    <a:pt x="693547" y="12700"/>
                  </a:cubicBezTo>
                  <a:lnTo>
                    <a:pt x="164084" y="12700"/>
                  </a:lnTo>
                  <a:lnTo>
                    <a:pt x="164084" y="6350"/>
                  </a:lnTo>
                  <a:lnTo>
                    <a:pt x="164084" y="12700"/>
                  </a:lnTo>
                  <a:cubicBezTo>
                    <a:pt x="80518" y="12700"/>
                    <a:pt x="12700" y="80518"/>
                    <a:pt x="12700" y="16408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6836792" y="4092996"/>
            <a:ext cx="464790" cy="580876"/>
            <a:chOff x="0" y="0"/>
            <a:chExt cx="619720" cy="77450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19720" cy="774502"/>
            </a:xfrm>
            <a:custGeom>
              <a:avLst/>
              <a:gdLst/>
              <a:ahLst/>
              <a:cxnLst/>
              <a:rect l="l" t="t" r="r" b="b"/>
              <a:pathLst>
                <a:path w="619720" h="774502">
                  <a:moveTo>
                    <a:pt x="0" y="0"/>
                  </a:moveTo>
                  <a:lnTo>
                    <a:pt x="619720" y="0"/>
                  </a:lnTo>
                  <a:lnTo>
                    <a:pt x="619720" y="774502"/>
                  </a:lnTo>
                  <a:lnTo>
                    <a:pt x="0" y="774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57150"/>
              <a:ext cx="619720" cy="7173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3625" spc="-7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416897" y="5510212"/>
            <a:ext cx="3304729" cy="484138"/>
            <a:chOff x="0" y="0"/>
            <a:chExt cx="4406305" cy="64551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406305" cy="645517"/>
            </a:xfrm>
            <a:custGeom>
              <a:avLst/>
              <a:gdLst/>
              <a:ahLst/>
              <a:cxnLst/>
              <a:rect l="l" t="t" r="r" b="b"/>
              <a:pathLst>
                <a:path w="4406305" h="645517">
                  <a:moveTo>
                    <a:pt x="0" y="0"/>
                  </a:moveTo>
                  <a:lnTo>
                    <a:pt x="4406305" y="0"/>
                  </a:lnTo>
                  <a:lnTo>
                    <a:pt x="4406305" y="645517"/>
                  </a:lnTo>
                  <a:lnTo>
                    <a:pt x="0" y="6455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4406305" cy="6645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49"/>
                </a:lnSpc>
              </a:pPr>
              <a:r>
                <a:rPr lang="en-US" sz="3000" spc="-61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OneBox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416897" y="6163270"/>
            <a:ext cx="3304729" cy="1802606"/>
            <a:chOff x="0" y="0"/>
            <a:chExt cx="4406305" cy="240347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406305" cy="2403475"/>
            </a:xfrm>
            <a:custGeom>
              <a:avLst/>
              <a:gdLst/>
              <a:ahLst/>
              <a:cxnLst/>
              <a:rect l="l" t="t" r="r" b="b"/>
              <a:pathLst>
                <a:path w="4406305" h="2403475">
                  <a:moveTo>
                    <a:pt x="0" y="0"/>
                  </a:moveTo>
                  <a:lnTo>
                    <a:pt x="4406305" y="0"/>
                  </a:lnTo>
                  <a:lnTo>
                    <a:pt x="4406305" y="2403475"/>
                  </a:lnTo>
                  <a:lnTo>
                    <a:pt x="0" y="2403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85725"/>
              <a:ext cx="4406305" cy="2489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Allows for safe experimentation without affecting other environments.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16897" y="8064401"/>
            <a:ext cx="3304729" cy="1351955"/>
            <a:chOff x="0" y="0"/>
            <a:chExt cx="4406305" cy="180260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406305" cy="1802607"/>
            </a:xfrm>
            <a:custGeom>
              <a:avLst/>
              <a:gdLst/>
              <a:ahLst/>
              <a:cxnLst/>
              <a:rect l="l" t="t" r="r" b="b"/>
              <a:pathLst>
                <a:path w="4406305" h="1802607">
                  <a:moveTo>
                    <a:pt x="0" y="0"/>
                  </a:moveTo>
                  <a:lnTo>
                    <a:pt x="4406305" y="0"/>
                  </a:lnTo>
                  <a:lnTo>
                    <a:pt x="4406305" y="1802607"/>
                  </a:lnTo>
                  <a:lnTo>
                    <a:pt x="0" y="18026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85725"/>
              <a:ext cx="4406305" cy="18883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Used by developers to validate changes before merging.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199614" y="4383435"/>
            <a:ext cx="38100" cy="845046"/>
            <a:chOff x="0" y="0"/>
            <a:chExt cx="50800" cy="112672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0800" cy="1126744"/>
            </a:xfrm>
            <a:custGeom>
              <a:avLst/>
              <a:gdLst/>
              <a:ahLst/>
              <a:cxnLst/>
              <a:rect l="l" t="t" r="r" b="b"/>
              <a:pathLst>
                <a:path w="50800" h="112674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1344"/>
                  </a:lnTo>
                  <a:cubicBezTo>
                    <a:pt x="50800" y="1115314"/>
                    <a:pt x="39370" y="1126744"/>
                    <a:pt x="25400" y="1126744"/>
                  </a:cubicBezTo>
                  <a:cubicBezTo>
                    <a:pt x="11430" y="1126744"/>
                    <a:pt x="0" y="1115314"/>
                    <a:pt x="0" y="110134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897046" y="4061817"/>
            <a:ext cx="643235" cy="643235"/>
            <a:chOff x="0" y="0"/>
            <a:chExt cx="857647" cy="857647"/>
          </a:xfrm>
        </p:grpSpPr>
        <p:sp>
          <p:nvSpPr>
            <p:cNvPr id="54" name="Freeform 54"/>
            <p:cNvSpPr/>
            <p:nvPr/>
          </p:nvSpPr>
          <p:spPr>
            <a:xfrm>
              <a:off x="6350" y="6350"/>
              <a:ext cx="844931" cy="844931"/>
            </a:xfrm>
            <a:custGeom>
              <a:avLst/>
              <a:gdLst/>
              <a:ahLst/>
              <a:cxnLst/>
              <a:rect l="l" t="t" r="r" b="b"/>
              <a:pathLst>
                <a:path w="844931" h="844931">
                  <a:moveTo>
                    <a:pt x="0" y="157734"/>
                  </a:moveTo>
                  <a:cubicBezTo>
                    <a:pt x="0" y="70612"/>
                    <a:pt x="70612" y="0"/>
                    <a:pt x="157734" y="0"/>
                  </a:cubicBezTo>
                  <a:lnTo>
                    <a:pt x="687197" y="0"/>
                  </a:lnTo>
                  <a:cubicBezTo>
                    <a:pt x="774319" y="0"/>
                    <a:pt x="844931" y="70612"/>
                    <a:pt x="844931" y="157734"/>
                  </a:cubicBezTo>
                  <a:lnTo>
                    <a:pt x="844931" y="687197"/>
                  </a:lnTo>
                  <a:cubicBezTo>
                    <a:pt x="844931" y="774319"/>
                    <a:pt x="774319" y="844931"/>
                    <a:pt x="687197" y="844931"/>
                  </a:cubicBezTo>
                  <a:lnTo>
                    <a:pt x="157734" y="844931"/>
                  </a:lnTo>
                  <a:cubicBezTo>
                    <a:pt x="70612" y="844931"/>
                    <a:pt x="0" y="774319"/>
                    <a:pt x="0" y="68719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857631" cy="857631"/>
            </a:xfrm>
            <a:custGeom>
              <a:avLst/>
              <a:gdLst/>
              <a:ahLst/>
              <a:cxnLst/>
              <a:rect l="l" t="t" r="r" b="b"/>
              <a:pathLst>
                <a:path w="857631" h="857631">
                  <a:moveTo>
                    <a:pt x="0" y="164084"/>
                  </a:moveTo>
                  <a:cubicBezTo>
                    <a:pt x="0" y="73533"/>
                    <a:pt x="73533" y="0"/>
                    <a:pt x="164084" y="0"/>
                  </a:cubicBezTo>
                  <a:lnTo>
                    <a:pt x="693547" y="0"/>
                  </a:lnTo>
                  <a:lnTo>
                    <a:pt x="693547" y="6350"/>
                  </a:lnTo>
                  <a:lnTo>
                    <a:pt x="693547" y="0"/>
                  </a:lnTo>
                  <a:lnTo>
                    <a:pt x="693547" y="6350"/>
                  </a:lnTo>
                  <a:lnTo>
                    <a:pt x="693547" y="0"/>
                  </a:lnTo>
                  <a:cubicBezTo>
                    <a:pt x="784225" y="0"/>
                    <a:pt x="857631" y="73533"/>
                    <a:pt x="857631" y="164084"/>
                  </a:cubicBezTo>
                  <a:lnTo>
                    <a:pt x="857631" y="693547"/>
                  </a:lnTo>
                  <a:lnTo>
                    <a:pt x="851281" y="693547"/>
                  </a:lnTo>
                  <a:lnTo>
                    <a:pt x="857631" y="693547"/>
                  </a:lnTo>
                  <a:cubicBezTo>
                    <a:pt x="857631" y="784225"/>
                    <a:pt x="784098" y="857631"/>
                    <a:pt x="693547" y="857631"/>
                  </a:cubicBezTo>
                  <a:lnTo>
                    <a:pt x="693547" y="851281"/>
                  </a:lnTo>
                  <a:lnTo>
                    <a:pt x="693547" y="857631"/>
                  </a:lnTo>
                  <a:lnTo>
                    <a:pt x="164084" y="857631"/>
                  </a:lnTo>
                  <a:lnTo>
                    <a:pt x="164084" y="851281"/>
                  </a:lnTo>
                  <a:lnTo>
                    <a:pt x="164084" y="857631"/>
                  </a:lnTo>
                  <a:cubicBezTo>
                    <a:pt x="73533" y="857631"/>
                    <a:pt x="0" y="784225"/>
                    <a:pt x="0" y="693547"/>
                  </a:cubicBezTo>
                  <a:lnTo>
                    <a:pt x="0" y="164084"/>
                  </a:lnTo>
                  <a:lnTo>
                    <a:pt x="6350" y="164084"/>
                  </a:lnTo>
                  <a:lnTo>
                    <a:pt x="0" y="164084"/>
                  </a:lnTo>
                  <a:moveTo>
                    <a:pt x="12700" y="164084"/>
                  </a:moveTo>
                  <a:lnTo>
                    <a:pt x="12700" y="693547"/>
                  </a:lnTo>
                  <a:lnTo>
                    <a:pt x="6350" y="693547"/>
                  </a:lnTo>
                  <a:lnTo>
                    <a:pt x="12700" y="693547"/>
                  </a:lnTo>
                  <a:cubicBezTo>
                    <a:pt x="12700" y="777113"/>
                    <a:pt x="80518" y="844931"/>
                    <a:pt x="164084" y="844931"/>
                  </a:cubicBezTo>
                  <a:lnTo>
                    <a:pt x="693547" y="844931"/>
                  </a:lnTo>
                  <a:cubicBezTo>
                    <a:pt x="777113" y="844931"/>
                    <a:pt x="844931" y="777113"/>
                    <a:pt x="844931" y="693547"/>
                  </a:cubicBezTo>
                  <a:lnTo>
                    <a:pt x="844931" y="164084"/>
                  </a:lnTo>
                  <a:lnTo>
                    <a:pt x="851281" y="164084"/>
                  </a:lnTo>
                  <a:lnTo>
                    <a:pt x="844931" y="164084"/>
                  </a:lnTo>
                  <a:cubicBezTo>
                    <a:pt x="844931" y="80518"/>
                    <a:pt x="777113" y="12700"/>
                    <a:pt x="693547" y="12700"/>
                  </a:cubicBezTo>
                  <a:lnTo>
                    <a:pt x="164084" y="12700"/>
                  </a:lnTo>
                  <a:lnTo>
                    <a:pt x="164084" y="6350"/>
                  </a:lnTo>
                  <a:lnTo>
                    <a:pt x="164084" y="12700"/>
                  </a:lnTo>
                  <a:cubicBezTo>
                    <a:pt x="80518" y="12700"/>
                    <a:pt x="12700" y="80518"/>
                    <a:pt x="12700" y="16408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0986269" y="4092996"/>
            <a:ext cx="464790" cy="580876"/>
            <a:chOff x="0" y="0"/>
            <a:chExt cx="619720" cy="77450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19720" cy="774502"/>
            </a:xfrm>
            <a:custGeom>
              <a:avLst/>
              <a:gdLst/>
              <a:ahLst/>
              <a:cxnLst/>
              <a:rect l="l" t="t" r="r" b="b"/>
              <a:pathLst>
                <a:path w="619720" h="774502">
                  <a:moveTo>
                    <a:pt x="0" y="0"/>
                  </a:moveTo>
                  <a:lnTo>
                    <a:pt x="619720" y="0"/>
                  </a:lnTo>
                  <a:lnTo>
                    <a:pt x="619720" y="774502"/>
                  </a:lnTo>
                  <a:lnTo>
                    <a:pt x="0" y="774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57150"/>
              <a:ext cx="619720" cy="7173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3625" spc="-7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566374" y="5510212"/>
            <a:ext cx="3304729" cy="484138"/>
            <a:chOff x="0" y="0"/>
            <a:chExt cx="4406305" cy="64551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406305" cy="645517"/>
            </a:xfrm>
            <a:custGeom>
              <a:avLst/>
              <a:gdLst/>
              <a:ahLst/>
              <a:cxnLst/>
              <a:rect l="l" t="t" r="r" b="b"/>
              <a:pathLst>
                <a:path w="4406305" h="645517">
                  <a:moveTo>
                    <a:pt x="0" y="0"/>
                  </a:moveTo>
                  <a:lnTo>
                    <a:pt x="4406305" y="0"/>
                  </a:lnTo>
                  <a:lnTo>
                    <a:pt x="4406305" y="645517"/>
                  </a:lnTo>
                  <a:lnTo>
                    <a:pt x="0" y="6455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4406305" cy="6645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49"/>
                </a:lnSpc>
              </a:pPr>
              <a:r>
                <a:rPr lang="en-US" sz="3000" spc="-61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Beta/Gamma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566374" y="6163270"/>
            <a:ext cx="3304729" cy="901304"/>
            <a:chOff x="0" y="0"/>
            <a:chExt cx="4406305" cy="120173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406305" cy="1201738"/>
            </a:xfrm>
            <a:custGeom>
              <a:avLst/>
              <a:gdLst/>
              <a:ahLst/>
              <a:cxnLst/>
              <a:rect l="l" t="t" r="r" b="b"/>
              <a:pathLst>
                <a:path w="4406305" h="1201738">
                  <a:moveTo>
                    <a:pt x="0" y="0"/>
                  </a:moveTo>
                  <a:lnTo>
                    <a:pt x="4406305" y="0"/>
                  </a:lnTo>
                  <a:lnTo>
                    <a:pt x="4406305" y="1201738"/>
                  </a:lnTo>
                  <a:lnTo>
                    <a:pt x="0" y="1201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4406305" cy="12874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Pre-production testing environments.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566374" y="7163097"/>
            <a:ext cx="3304729" cy="901304"/>
            <a:chOff x="0" y="0"/>
            <a:chExt cx="4406305" cy="120173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406305" cy="1201738"/>
            </a:xfrm>
            <a:custGeom>
              <a:avLst/>
              <a:gdLst/>
              <a:ahLst/>
              <a:cxnLst/>
              <a:rect l="l" t="t" r="r" b="b"/>
              <a:pathLst>
                <a:path w="4406305" h="1201738">
                  <a:moveTo>
                    <a:pt x="0" y="0"/>
                  </a:moveTo>
                  <a:lnTo>
                    <a:pt x="4406305" y="0"/>
                  </a:lnTo>
                  <a:lnTo>
                    <a:pt x="4406305" y="1201738"/>
                  </a:lnTo>
                  <a:lnTo>
                    <a:pt x="0" y="1201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85725"/>
              <a:ext cx="4406305" cy="12874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Beta: Limited user testing for feedback.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566374" y="8162925"/>
            <a:ext cx="3304729" cy="1351955"/>
            <a:chOff x="0" y="0"/>
            <a:chExt cx="4406305" cy="180260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406305" cy="1802607"/>
            </a:xfrm>
            <a:custGeom>
              <a:avLst/>
              <a:gdLst/>
              <a:ahLst/>
              <a:cxnLst/>
              <a:rect l="l" t="t" r="r" b="b"/>
              <a:pathLst>
                <a:path w="4406305" h="1802607">
                  <a:moveTo>
                    <a:pt x="0" y="0"/>
                  </a:moveTo>
                  <a:lnTo>
                    <a:pt x="4406305" y="0"/>
                  </a:lnTo>
                  <a:lnTo>
                    <a:pt x="4406305" y="1802607"/>
                  </a:lnTo>
                  <a:lnTo>
                    <a:pt x="0" y="18026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85725"/>
              <a:ext cx="4406305" cy="18883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Gamma: Internal validation before release.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5349091" y="4383435"/>
            <a:ext cx="38100" cy="845046"/>
            <a:chOff x="0" y="0"/>
            <a:chExt cx="50800" cy="112672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0800" cy="1126744"/>
            </a:xfrm>
            <a:custGeom>
              <a:avLst/>
              <a:gdLst/>
              <a:ahLst/>
              <a:cxnLst/>
              <a:rect l="l" t="t" r="r" b="b"/>
              <a:pathLst>
                <a:path w="50800" h="112674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1344"/>
                  </a:lnTo>
                  <a:cubicBezTo>
                    <a:pt x="50800" y="1115314"/>
                    <a:pt x="39370" y="1126744"/>
                    <a:pt x="25400" y="1126744"/>
                  </a:cubicBezTo>
                  <a:cubicBezTo>
                    <a:pt x="11430" y="1126744"/>
                    <a:pt x="0" y="1115314"/>
                    <a:pt x="0" y="110134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5046524" y="4061817"/>
            <a:ext cx="643235" cy="643235"/>
            <a:chOff x="0" y="0"/>
            <a:chExt cx="857647" cy="857647"/>
          </a:xfrm>
        </p:grpSpPr>
        <p:sp>
          <p:nvSpPr>
            <p:cNvPr id="74" name="Freeform 74"/>
            <p:cNvSpPr/>
            <p:nvPr/>
          </p:nvSpPr>
          <p:spPr>
            <a:xfrm>
              <a:off x="6350" y="6350"/>
              <a:ext cx="844931" cy="844931"/>
            </a:xfrm>
            <a:custGeom>
              <a:avLst/>
              <a:gdLst/>
              <a:ahLst/>
              <a:cxnLst/>
              <a:rect l="l" t="t" r="r" b="b"/>
              <a:pathLst>
                <a:path w="844931" h="844931">
                  <a:moveTo>
                    <a:pt x="0" y="157734"/>
                  </a:moveTo>
                  <a:cubicBezTo>
                    <a:pt x="0" y="70612"/>
                    <a:pt x="70612" y="0"/>
                    <a:pt x="157734" y="0"/>
                  </a:cubicBezTo>
                  <a:lnTo>
                    <a:pt x="687197" y="0"/>
                  </a:lnTo>
                  <a:cubicBezTo>
                    <a:pt x="774319" y="0"/>
                    <a:pt x="844931" y="70612"/>
                    <a:pt x="844931" y="157734"/>
                  </a:cubicBezTo>
                  <a:lnTo>
                    <a:pt x="844931" y="687197"/>
                  </a:lnTo>
                  <a:cubicBezTo>
                    <a:pt x="844931" y="774319"/>
                    <a:pt x="774319" y="844931"/>
                    <a:pt x="687197" y="844931"/>
                  </a:cubicBezTo>
                  <a:lnTo>
                    <a:pt x="157734" y="844931"/>
                  </a:lnTo>
                  <a:cubicBezTo>
                    <a:pt x="70612" y="844931"/>
                    <a:pt x="0" y="774319"/>
                    <a:pt x="0" y="68719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0"/>
              <a:ext cx="857631" cy="857631"/>
            </a:xfrm>
            <a:custGeom>
              <a:avLst/>
              <a:gdLst/>
              <a:ahLst/>
              <a:cxnLst/>
              <a:rect l="l" t="t" r="r" b="b"/>
              <a:pathLst>
                <a:path w="857631" h="857631">
                  <a:moveTo>
                    <a:pt x="0" y="164084"/>
                  </a:moveTo>
                  <a:cubicBezTo>
                    <a:pt x="0" y="73533"/>
                    <a:pt x="73533" y="0"/>
                    <a:pt x="164084" y="0"/>
                  </a:cubicBezTo>
                  <a:lnTo>
                    <a:pt x="693547" y="0"/>
                  </a:lnTo>
                  <a:lnTo>
                    <a:pt x="693547" y="6350"/>
                  </a:lnTo>
                  <a:lnTo>
                    <a:pt x="693547" y="0"/>
                  </a:lnTo>
                  <a:lnTo>
                    <a:pt x="693547" y="6350"/>
                  </a:lnTo>
                  <a:lnTo>
                    <a:pt x="693547" y="0"/>
                  </a:lnTo>
                  <a:cubicBezTo>
                    <a:pt x="784225" y="0"/>
                    <a:pt x="857631" y="73533"/>
                    <a:pt x="857631" y="164084"/>
                  </a:cubicBezTo>
                  <a:lnTo>
                    <a:pt x="857631" y="693547"/>
                  </a:lnTo>
                  <a:lnTo>
                    <a:pt x="851281" y="693547"/>
                  </a:lnTo>
                  <a:lnTo>
                    <a:pt x="857631" y="693547"/>
                  </a:lnTo>
                  <a:cubicBezTo>
                    <a:pt x="857631" y="784225"/>
                    <a:pt x="784098" y="857631"/>
                    <a:pt x="693547" y="857631"/>
                  </a:cubicBezTo>
                  <a:lnTo>
                    <a:pt x="693547" y="851281"/>
                  </a:lnTo>
                  <a:lnTo>
                    <a:pt x="693547" y="857631"/>
                  </a:lnTo>
                  <a:lnTo>
                    <a:pt x="164084" y="857631"/>
                  </a:lnTo>
                  <a:lnTo>
                    <a:pt x="164084" y="851281"/>
                  </a:lnTo>
                  <a:lnTo>
                    <a:pt x="164084" y="857631"/>
                  </a:lnTo>
                  <a:cubicBezTo>
                    <a:pt x="73533" y="857631"/>
                    <a:pt x="0" y="784225"/>
                    <a:pt x="0" y="693547"/>
                  </a:cubicBezTo>
                  <a:lnTo>
                    <a:pt x="0" y="164084"/>
                  </a:lnTo>
                  <a:lnTo>
                    <a:pt x="6350" y="164084"/>
                  </a:lnTo>
                  <a:lnTo>
                    <a:pt x="0" y="164084"/>
                  </a:lnTo>
                  <a:moveTo>
                    <a:pt x="12700" y="164084"/>
                  </a:moveTo>
                  <a:lnTo>
                    <a:pt x="12700" y="693547"/>
                  </a:lnTo>
                  <a:lnTo>
                    <a:pt x="6350" y="693547"/>
                  </a:lnTo>
                  <a:lnTo>
                    <a:pt x="12700" y="693547"/>
                  </a:lnTo>
                  <a:cubicBezTo>
                    <a:pt x="12700" y="777113"/>
                    <a:pt x="80518" y="844931"/>
                    <a:pt x="164084" y="844931"/>
                  </a:cubicBezTo>
                  <a:lnTo>
                    <a:pt x="693547" y="844931"/>
                  </a:lnTo>
                  <a:cubicBezTo>
                    <a:pt x="777113" y="844931"/>
                    <a:pt x="844931" y="777113"/>
                    <a:pt x="844931" y="693547"/>
                  </a:cubicBezTo>
                  <a:lnTo>
                    <a:pt x="844931" y="164084"/>
                  </a:lnTo>
                  <a:lnTo>
                    <a:pt x="851281" y="164084"/>
                  </a:lnTo>
                  <a:lnTo>
                    <a:pt x="844931" y="164084"/>
                  </a:lnTo>
                  <a:cubicBezTo>
                    <a:pt x="844931" y="80518"/>
                    <a:pt x="777113" y="12700"/>
                    <a:pt x="693547" y="12700"/>
                  </a:cubicBezTo>
                  <a:lnTo>
                    <a:pt x="164084" y="12700"/>
                  </a:lnTo>
                  <a:lnTo>
                    <a:pt x="164084" y="6350"/>
                  </a:lnTo>
                  <a:lnTo>
                    <a:pt x="164084" y="12700"/>
                  </a:lnTo>
                  <a:cubicBezTo>
                    <a:pt x="80518" y="12700"/>
                    <a:pt x="12700" y="80518"/>
                    <a:pt x="12700" y="164084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5135746" y="4092996"/>
            <a:ext cx="464790" cy="580876"/>
            <a:chOff x="0" y="0"/>
            <a:chExt cx="619720" cy="77450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19720" cy="774502"/>
            </a:xfrm>
            <a:custGeom>
              <a:avLst/>
              <a:gdLst/>
              <a:ahLst/>
              <a:cxnLst/>
              <a:rect l="l" t="t" r="r" b="b"/>
              <a:pathLst>
                <a:path w="619720" h="774502">
                  <a:moveTo>
                    <a:pt x="0" y="0"/>
                  </a:moveTo>
                  <a:lnTo>
                    <a:pt x="619720" y="0"/>
                  </a:lnTo>
                  <a:lnTo>
                    <a:pt x="619720" y="774502"/>
                  </a:lnTo>
                  <a:lnTo>
                    <a:pt x="0" y="7745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57150"/>
              <a:ext cx="619720" cy="7173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3625" spc="-7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4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3715851" y="5510212"/>
            <a:ext cx="3304729" cy="484138"/>
            <a:chOff x="0" y="0"/>
            <a:chExt cx="4406305" cy="645517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406305" cy="645517"/>
            </a:xfrm>
            <a:custGeom>
              <a:avLst/>
              <a:gdLst/>
              <a:ahLst/>
              <a:cxnLst/>
              <a:rect l="l" t="t" r="r" b="b"/>
              <a:pathLst>
                <a:path w="4406305" h="645517">
                  <a:moveTo>
                    <a:pt x="0" y="0"/>
                  </a:moveTo>
                  <a:lnTo>
                    <a:pt x="4406305" y="0"/>
                  </a:lnTo>
                  <a:lnTo>
                    <a:pt x="4406305" y="645517"/>
                  </a:lnTo>
                  <a:lnTo>
                    <a:pt x="0" y="6455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4406305" cy="6645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49"/>
                </a:lnSpc>
              </a:pPr>
              <a:r>
                <a:rPr lang="en-US" sz="3000" spc="-61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Production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715851" y="6163270"/>
            <a:ext cx="3304729" cy="901304"/>
            <a:chOff x="0" y="0"/>
            <a:chExt cx="4406305" cy="120173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406305" cy="1201738"/>
            </a:xfrm>
            <a:custGeom>
              <a:avLst/>
              <a:gdLst/>
              <a:ahLst/>
              <a:cxnLst/>
              <a:rect l="l" t="t" r="r" b="b"/>
              <a:pathLst>
                <a:path w="4406305" h="1201738">
                  <a:moveTo>
                    <a:pt x="0" y="0"/>
                  </a:moveTo>
                  <a:lnTo>
                    <a:pt x="4406305" y="0"/>
                  </a:lnTo>
                  <a:lnTo>
                    <a:pt x="4406305" y="1201738"/>
                  </a:lnTo>
                  <a:lnTo>
                    <a:pt x="0" y="1201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-85725"/>
              <a:ext cx="4406305" cy="12874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live, user-facing environment.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715851" y="7163097"/>
            <a:ext cx="3304729" cy="1351955"/>
            <a:chOff x="0" y="0"/>
            <a:chExt cx="4406305" cy="1802607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406305" cy="1802607"/>
            </a:xfrm>
            <a:custGeom>
              <a:avLst/>
              <a:gdLst/>
              <a:ahLst/>
              <a:cxnLst/>
              <a:rect l="l" t="t" r="r" b="b"/>
              <a:pathLst>
                <a:path w="4406305" h="1802607">
                  <a:moveTo>
                    <a:pt x="0" y="0"/>
                  </a:moveTo>
                  <a:lnTo>
                    <a:pt x="4406305" y="0"/>
                  </a:lnTo>
                  <a:lnTo>
                    <a:pt x="4406305" y="1802607"/>
                  </a:lnTo>
                  <a:lnTo>
                    <a:pt x="0" y="18026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0" y="-85725"/>
              <a:ext cx="4406305" cy="18883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Requires stability, security, and monitoring.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92873" y="684447"/>
            <a:ext cx="10539438" cy="632384"/>
            <a:chOff x="0" y="0"/>
            <a:chExt cx="14052584" cy="843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052584" cy="843179"/>
            </a:xfrm>
            <a:custGeom>
              <a:avLst/>
              <a:gdLst/>
              <a:ahLst/>
              <a:cxnLst/>
              <a:rect l="l" t="t" r="r" b="b"/>
              <a:pathLst>
                <a:path w="14052584" h="843179">
                  <a:moveTo>
                    <a:pt x="0" y="0"/>
                  </a:moveTo>
                  <a:lnTo>
                    <a:pt x="14052584" y="0"/>
                  </a:lnTo>
                  <a:lnTo>
                    <a:pt x="14052584" y="843179"/>
                  </a:lnTo>
                  <a:lnTo>
                    <a:pt x="0" y="843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052584" cy="8622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683"/>
                </a:lnSpc>
              </a:pPr>
              <a:r>
                <a:rPr lang="en-US" sz="3774" spc="-75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Exercise: Setting Up Multiple Environments in CI/CD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2873" y="1400414"/>
            <a:ext cx="17795772" cy="431511"/>
            <a:chOff x="0" y="0"/>
            <a:chExt cx="23727696" cy="5753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727696" cy="575348"/>
            </a:xfrm>
            <a:custGeom>
              <a:avLst/>
              <a:gdLst/>
              <a:ahLst/>
              <a:cxnLst/>
              <a:rect l="l" t="t" r="r" b="b"/>
              <a:pathLst>
                <a:path w="23727696" h="575348">
                  <a:moveTo>
                    <a:pt x="0" y="0"/>
                  </a:moveTo>
                  <a:lnTo>
                    <a:pt x="23727696" y="0"/>
                  </a:lnTo>
                  <a:lnTo>
                    <a:pt x="23727696" y="575348"/>
                  </a:lnTo>
                  <a:lnTo>
                    <a:pt x="0" y="575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3727696" cy="6610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3" lvl="1" indent="-150812" algn="l">
                <a:lnSpc>
                  <a:spcPts val="3249"/>
                </a:lnSpc>
                <a:buFont typeface="Arial"/>
                <a:buChar char="•"/>
              </a:pPr>
              <a:r>
                <a:rPr lang="en-US" sz="1999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Create a CI/CD pipeline in </a:t>
              </a:r>
              <a:r>
                <a:rPr lang="en-US" sz="1999" b="1" spc="-4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GitHub Actions</a:t>
              </a:r>
              <a:r>
                <a:rPr lang="en-US" sz="1999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that simulates different environments (</a:t>
              </a:r>
              <a:r>
                <a:rPr lang="en-US" sz="1999" b="1" spc="-4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Test Suite, OneBox, Staging, and Production</a:t>
              </a:r>
              <a:r>
                <a:rPr lang="en-US" sz="1999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).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92873" y="1850975"/>
            <a:ext cx="17795772" cy="431511"/>
            <a:chOff x="0" y="0"/>
            <a:chExt cx="23727696" cy="5753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727696" cy="575348"/>
            </a:xfrm>
            <a:custGeom>
              <a:avLst/>
              <a:gdLst/>
              <a:ahLst/>
              <a:cxnLst/>
              <a:rect l="l" t="t" r="r" b="b"/>
              <a:pathLst>
                <a:path w="23727696" h="575348">
                  <a:moveTo>
                    <a:pt x="0" y="0"/>
                  </a:moveTo>
                  <a:lnTo>
                    <a:pt x="23727696" y="0"/>
                  </a:lnTo>
                  <a:lnTo>
                    <a:pt x="23727696" y="575348"/>
                  </a:lnTo>
                  <a:lnTo>
                    <a:pt x="0" y="575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3727696" cy="6610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3" lvl="1" indent="-150812" algn="l">
                <a:lnSpc>
                  <a:spcPts val="3249"/>
                </a:lnSpc>
                <a:buFont typeface="Arial"/>
                <a:buChar char="•"/>
              </a:pPr>
              <a:r>
                <a:rPr lang="en-US" sz="1999" spc="-4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This will help you understand how to structure a workflow for different release stages.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2873" y="2458045"/>
            <a:ext cx="5033552" cy="485927"/>
            <a:chOff x="0" y="0"/>
            <a:chExt cx="6711403" cy="6479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711404" cy="647903"/>
            </a:xfrm>
            <a:custGeom>
              <a:avLst/>
              <a:gdLst/>
              <a:ahLst/>
              <a:cxnLst/>
              <a:rect l="l" t="t" r="r" b="b"/>
              <a:pathLst>
                <a:path w="6711404" h="647903">
                  <a:moveTo>
                    <a:pt x="0" y="0"/>
                  </a:moveTo>
                  <a:lnTo>
                    <a:pt x="6711404" y="0"/>
                  </a:lnTo>
                  <a:lnTo>
                    <a:pt x="6711404" y="647903"/>
                  </a:lnTo>
                  <a:lnTo>
                    <a:pt x="0" y="6479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6711403" cy="67647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899" spc="-59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Breakdown of the Workflow 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2873" y="3058117"/>
            <a:ext cx="17795772" cy="411364"/>
            <a:chOff x="0" y="0"/>
            <a:chExt cx="23727696" cy="5484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727696" cy="548486"/>
            </a:xfrm>
            <a:custGeom>
              <a:avLst/>
              <a:gdLst/>
              <a:ahLst/>
              <a:cxnLst/>
              <a:rect l="l" t="t" r="r" b="b"/>
              <a:pathLst>
                <a:path w="23727696" h="548486">
                  <a:moveTo>
                    <a:pt x="0" y="0"/>
                  </a:moveTo>
                  <a:lnTo>
                    <a:pt x="23727696" y="0"/>
                  </a:lnTo>
                  <a:lnTo>
                    <a:pt x="23727696" y="548486"/>
                  </a:lnTo>
                  <a:lnTo>
                    <a:pt x="0" y="54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23727696" cy="624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87"/>
                </a:lnSpc>
              </a:pPr>
              <a:r>
                <a:rPr lang="en-US" sz="1899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Workflow Name &amp; Trigger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2873" y="3439862"/>
            <a:ext cx="17795772" cy="411364"/>
            <a:chOff x="0" y="0"/>
            <a:chExt cx="23727696" cy="5484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727696" cy="548486"/>
            </a:xfrm>
            <a:custGeom>
              <a:avLst/>
              <a:gdLst/>
              <a:ahLst/>
              <a:cxnLst/>
              <a:rect l="l" t="t" r="r" b="b"/>
              <a:pathLst>
                <a:path w="23727696" h="548486">
                  <a:moveTo>
                    <a:pt x="0" y="0"/>
                  </a:moveTo>
                  <a:lnTo>
                    <a:pt x="23727696" y="0"/>
                  </a:lnTo>
                  <a:lnTo>
                    <a:pt x="23727696" y="548486"/>
                  </a:lnTo>
                  <a:lnTo>
                    <a:pt x="0" y="54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23727696" cy="624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87"/>
                </a:lnSpc>
              </a:pP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workflow is named "Multi-Environment CI/CD" (name:).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92873" y="3831131"/>
            <a:ext cx="17795772" cy="411364"/>
            <a:chOff x="0" y="0"/>
            <a:chExt cx="23727696" cy="54848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727696" cy="548486"/>
            </a:xfrm>
            <a:custGeom>
              <a:avLst/>
              <a:gdLst/>
              <a:ahLst/>
              <a:cxnLst/>
              <a:rect l="l" t="t" r="r" b="b"/>
              <a:pathLst>
                <a:path w="23727696" h="548486">
                  <a:moveTo>
                    <a:pt x="0" y="0"/>
                  </a:moveTo>
                  <a:lnTo>
                    <a:pt x="23727696" y="0"/>
                  </a:lnTo>
                  <a:lnTo>
                    <a:pt x="23727696" y="548486"/>
                  </a:lnTo>
                  <a:lnTo>
                    <a:pt x="0" y="54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23727696" cy="624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87"/>
                </a:lnSpc>
              </a:pP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It is triggered by a push event (on: [push]).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92873" y="4222399"/>
            <a:ext cx="17795772" cy="801889"/>
            <a:chOff x="0" y="0"/>
            <a:chExt cx="23727696" cy="106918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727696" cy="1069186"/>
            </a:xfrm>
            <a:custGeom>
              <a:avLst/>
              <a:gdLst/>
              <a:ahLst/>
              <a:cxnLst/>
              <a:rect l="l" t="t" r="r" b="b"/>
              <a:pathLst>
                <a:path w="23727696" h="1069186">
                  <a:moveTo>
                    <a:pt x="0" y="0"/>
                  </a:moveTo>
                  <a:lnTo>
                    <a:pt x="23727696" y="0"/>
                  </a:lnTo>
                  <a:lnTo>
                    <a:pt x="23727696" y="1069186"/>
                  </a:lnTo>
                  <a:lnTo>
                    <a:pt x="0" y="1069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23727696" cy="11453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87"/>
                </a:lnSpc>
              </a:pPr>
              <a:r>
                <a:rPr lang="en-US" sz="1899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Jobs Defined (</a:t>
              </a: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jobs:</a:t>
              </a:r>
              <a:r>
                <a:rPr lang="en-US" sz="1899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)</a:t>
              </a:r>
            </a:p>
            <a:p>
              <a:pPr algn="l">
                <a:lnSpc>
                  <a:spcPts val="3087"/>
                </a:lnSpc>
              </a:pP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workflow contains 4 jobs, each running </a:t>
              </a:r>
              <a:r>
                <a:rPr lang="en-US" sz="1899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sequentially</a:t>
              </a: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292873" y="5176689"/>
            <a:ext cx="4448865" cy="783580"/>
          </a:xfrm>
          <a:custGeom>
            <a:avLst/>
            <a:gdLst/>
            <a:ahLst/>
            <a:cxnLst/>
            <a:rect l="l" t="t" r="r" b="b"/>
            <a:pathLst>
              <a:path w="4448865" h="783580">
                <a:moveTo>
                  <a:pt x="0" y="0"/>
                </a:moveTo>
                <a:lnTo>
                  <a:pt x="4448865" y="0"/>
                </a:lnTo>
                <a:lnTo>
                  <a:pt x="4448865" y="783580"/>
                </a:lnTo>
                <a:lnTo>
                  <a:pt x="0" y="78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28" b="-2428"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498908" y="6254055"/>
            <a:ext cx="4036794" cy="375986"/>
            <a:chOff x="0" y="0"/>
            <a:chExt cx="5382393" cy="50131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382392" cy="501314"/>
            </a:xfrm>
            <a:custGeom>
              <a:avLst/>
              <a:gdLst/>
              <a:ahLst/>
              <a:cxnLst/>
              <a:rect l="l" t="t" r="r" b="b"/>
              <a:pathLst>
                <a:path w="5382392" h="501314">
                  <a:moveTo>
                    <a:pt x="0" y="0"/>
                  </a:moveTo>
                  <a:lnTo>
                    <a:pt x="5382392" y="0"/>
                  </a:lnTo>
                  <a:lnTo>
                    <a:pt x="5382392" y="501314"/>
                  </a:lnTo>
                  <a:lnTo>
                    <a:pt x="0" y="501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14300"/>
              <a:ext cx="5382393" cy="61561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87"/>
                </a:lnSpc>
              </a:pPr>
              <a:r>
                <a:rPr lang="en-US" sz="1899" spc="-39">
                  <a:solidFill>
                    <a:srgbClr val="272525"/>
                  </a:solidFill>
                  <a:latin typeface="Consolas"/>
                  <a:ea typeface="Consolas"/>
                  <a:cs typeface="Consolas"/>
                  <a:sym typeface="Consolas"/>
                </a:rPr>
                <a:t>test-suite (1st job)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98908" y="6694289"/>
            <a:ext cx="4036794" cy="411364"/>
            <a:chOff x="0" y="0"/>
            <a:chExt cx="5382393" cy="54848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82392" cy="548486"/>
            </a:xfrm>
            <a:custGeom>
              <a:avLst/>
              <a:gdLst/>
              <a:ahLst/>
              <a:cxnLst/>
              <a:rect l="l" t="t" r="r" b="b"/>
              <a:pathLst>
                <a:path w="5382392" h="548486">
                  <a:moveTo>
                    <a:pt x="0" y="0"/>
                  </a:moveTo>
                  <a:lnTo>
                    <a:pt x="5382392" y="0"/>
                  </a:lnTo>
                  <a:lnTo>
                    <a:pt x="5382392" y="548486"/>
                  </a:lnTo>
                  <a:lnTo>
                    <a:pt x="0" y="54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5382393" cy="624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6542" lvl="1" indent="-143271" algn="l">
                <a:lnSpc>
                  <a:spcPts val="3087"/>
                </a:lnSpc>
                <a:buFont typeface="Arial"/>
                <a:buChar char="•"/>
              </a:pP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Checks out the code.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98908" y="7076034"/>
            <a:ext cx="4036794" cy="411364"/>
            <a:chOff x="0" y="0"/>
            <a:chExt cx="5382393" cy="54848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82392" cy="548486"/>
            </a:xfrm>
            <a:custGeom>
              <a:avLst/>
              <a:gdLst/>
              <a:ahLst/>
              <a:cxnLst/>
              <a:rect l="l" t="t" r="r" b="b"/>
              <a:pathLst>
                <a:path w="5382392" h="548486">
                  <a:moveTo>
                    <a:pt x="0" y="0"/>
                  </a:moveTo>
                  <a:lnTo>
                    <a:pt x="5382392" y="0"/>
                  </a:lnTo>
                  <a:lnTo>
                    <a:pt x="5382392" y="548486"/>
                  </a:lnTo>
                  <a:lnTo>
                    <a:pt x="0" y="54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5382393" cy="624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6542" lvl="1" indent="-143271" algn="l">
                <a:lnSpc>
                  <a:spcPts val="3087"/>
                </a:lnSpc>
                <a:buFont typeface="Arial"/>
                <a:buChar char="•"/>
              </a:pPr>
              <a:r>
                <a:rPr lang="en-US" sz="1899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Runs unit and integration tests.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8908" y="7653040"/>
            <a:ext cx="4036794" cy="801889"/>
            <a:chOff x="0" y="0"/>
            <a:chExt cx="5382393" cy="106918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382392" cy="1069186"/>
            </a:xfrm>
            <a:custGeom>
              <a:avLst/>
              <a:gdLst/>
              <a:ahLst/>
              <a:cxnLst/>
              <a:rect l="l" t="t" r="r" b="b"/>
              <a:pathLst>
                <a:path w="5382392" h="1069186">
                  <a:moveTo>
                    <a:pt x="0" y="0"/>
                  </a:moveTo>
                  <a:lnTo>
                    <a:pt x="5382392" y="0"/>
                  </a:lnTo>
                  <a:lnTo>
                    <a:pt x="5382392" y="1069186"/>
                  </a:lnTo>
                  <a:lnTo>
                    <a:pt x="0" y="1069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5382393" cy="11453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6542" lvl="1" indent="-143271" algn="l">
                <a:lnSpc>
                  <a:spcPts val="3087"/>
                </a:lnSpc>
                <a:buFont typeface="Arial"/>
                <a:buChar char="•"/>
              </a:pP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Ensures the code is stable before moving to the next stage.</a:t>
              </a:r>
            </a:p>
          </p:txBody>
        </p:sp>
      </p:grpSp>
      <p:sp>
        <p:nvSpPr>
          <p:cNvPr id="43" name="Freeform 43" descr="preencoded.png"/>
          <p:cNvSpPr/>
          <p:nvPr/>
        </p:nvSpPr>
        <p:spPr>
          <a:xfrm>
            <a:off x="4741738" y="5176689"/>
            <a:ext cx="4449021" cy="783580"/>
          </a:xfrm>
          <a:custGeom>
            <a:avLst/>
            <a:gdLst/>
            <a:ahLst/>
            <a:cxnLst/>
            <a:rect l="l" t="t" r="r" b="b"/>
            <a:pathLst>
              <a:path w="4449021" h="783580">
                <a:moveTo>
                  <a:pt x="0" y="0"/>
                </a:moveTo>
                <a:lnTo>
                  <a:pt x="4449021" y="0"/>
                </a:lnTo>
                <a:lnTo>
                  <a:pt x="4449021" y="783580"/>
                </a:lnTo>
                <a:lnTo>
                  <a:pt x="0" y="783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30" b="-2430"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4947773" y="6254055"/>
            <a:ext cx="4036951" cy="801889"/>
            <a:chOff x="0" y="0"/>
            <a:chExt cx="5382601" cy="106918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82601" cy="1069186"/>
            </a:xfrm>
            <a:custGeom>
              <a:avLst/>
              <a:gdLst/>
              <a:ahLst/>
              <a:cxnLst/>
              <a:rect l="l" t="t" r="r" b="b"/>
              <a:pathLst>
                <a:path w="5382601" h="1069186">
                  <a:moveTo>
                    <a:pt x="0" y="0"/>
                  </a:moveTo>
                  <a:lnTo>
                    <a:pt x="5382601" y="0"/>
                  </a:lnTo>
                  <a:lnTo>
                    <a:pt x="5382601" y="1069186"/>
                  </a:lnTo>
                  <a:lnTo>
                    <a:pt x="0" y="1069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76200"/>
              <a:ext cx="5382601" cy="11453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87"/>
                </a:lnSpc>
              </a:pP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onebox (2nd job, depends on test-suite)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932531" y="7066658"/>
            <a:ext cx="4036951" cy="1003199"/>
            <a:chOff x="0" y="-76200"/>
            <a:chExt cx="5382601" cy="1337599"/>
          </a:xfrm>
        </p:grpSpPr>
        <p:sp>
          <p:nvSpPr>
            <p:cNvPr id="48" name="Freeform 48"/>
            <p:cNvSpPr/>
            <p:nvPr/>
          </p:nvSpPr>
          <p:spPr>
            <a:xfrm>
              <a:off x="0" y="192213"/>
              <a:ext cx="5382601" cy="1069186"/>
            </a:xfrm>
            <a:custGeom>
              <a:avLst/>
              <a:gdLst/>
              <a:ahLst/>
              <a:cxnLst/>
              <a:rect l="l" t="t" r="r" b="b"/>
              <a:pathLst>
                <a:path w="5382601" h="1069186">
                  <a:moveTo>
                    <a:pt x="0" y="0"/>
                  </a:moveTo>
                  <a:lnTo>
                    <a:pt x="5382601" y="0"/>
                  </a:lnTo>
                  <a:lnTo>
                    <a:pt x="5382601" y="1069186"/>
                  </a:lnTo>
                  <a:lnTo>
                    <a:pt x="0" y="1069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76200"/>
              <a:ext cx="5382601" cy="11453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6542" lvl="1" indent="-143271" algn="l">
                <a:lnSpc>
                  <a:spcPts val="3087"/>
                </a:lnSpc>
                <a:buFont typeface="Arial"/>
                <a:buChar char="•"/>
              </a:pPr>
              <a:r>
                <a:rPr lang="en-US" sz="1899" spc="-39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Deploys the application to an </a:t>
              </a:r>
              <a:r>
                <a:rPr lang="en-US" sz="1899" b="1" spc="-39" dirty="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isolated </a:t>
              </a:r>
              <a:r>
                <a:rPr lang="en-US" sz="1899" b="1" spc="-39" dirty="0" err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OneBox</a:t>
              </a:r>
              <a:r>
                <a:rPr lang="en-US" sz="1899" b="1" spc="-39" dirty="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environment</a:t>
              </a:r>
              <a:r>
                <a:rPr lang="en-US" sz="1899" spc="-39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959671" y="7435547"/>
            <a:ext cx="4040293" cy="1472808"/>
            <a:chOff x="-4456" y="0"/>
            <a:chExt cx="5387057" cy="196374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382601" cy="1069186"/>
            </a:xfrm>
            <a:custGeom>
              <a:avLst/>
              <a:gdLst/>
              <a:ahLst/>
              <a:cxnLst/>
              <a:rect l="l" t="t" r="r" b="b"/>
              <a:pathLst>
                <a:path w="5382601" h="1069186">
                  <a:moveTo>
                    <a:pt x="0" y="0"/>
                  </a:moveTo>
                  <a:lnTo>
                    <a:pt x="5382601" y="0"/>
                  </a:lnTo>
                  <a:lnTo>
                    <a:pt x="5382601" y="1069186"/>
                  </a:lnTo>
                  <a:lnTo>
                    <a:pt x="0" y="1069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-4456" y="818359"/>
              <a:ext cx="5382601" cy="11453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6542" lvl="1" indent="-143271" algn="l">
                <a:lnSpc>
                  <a:spcPts val="3087"/>
                </a:lnSpc>
                <a:buFont typeface="Arial"/>
                <a:buChar char="•"/>
              </a:pPr>
              <a:r>
                <a:rPr lang="en-US" sz="1899" spc="-39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Helps developers test their changes in a controlled space.</a:t>
              </a:r>
            </a:p>
          </p:txBody>
        </p:sp>
      </p:grpSp>
      <p:sp>
        <p:nvSpPr>
          <p:cNvPr id="53" name="Freeform 53" descr="preencoded.png"/>
          <p:cNvSpPr/>
          <p:nvPr/>
        </p:nvSpPr>
        <p:spPr>
          <a:xfrm>
            <a:off x="9190759" y="5176689"/>
            <a:ext cx="4448865" cy="783580"/>
          </a:xfrm>
          <a:custGeom>
            <a:avLst/>
            <a:gdLst/>
            <a:ahLst/>
            <a:cxnLst/>
            <a:rect l="l" t="t" r="r" b="b"/>
            <a:pathLst>
              <a:path w="4448865" h="783580">
                <a:moveTo>
                  <a:pt x="0" y="0"/>
                </a:moveTo>
                <a:lnTo>
                  <a:pt x="4448865" y="0"/>
                </a:lnTo>
                <a:lnTo>
                  <a:pt x="4448865" y="783580"/>
                </a:lnTo>
                <a:lnTo>
                  <a:pt x="0" y="783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428" b="-2428"/>
            </a:stretch>
          </a:blipFill>
        </p:spPr>
      </p:sp>
      <p:grpSp>
        <p:nvGrpSpPr>
          <p:cNvPr id="54" name="Group 54"/>
          <p:cNvGrpSpPr/>
          <p:nvPr/>
        </p:nvGrpSpPr>
        <p:grpSpPr>
          <a:xfrm>
            <a:off x="9396795" y="6254055"/>
            <a:ext cx="4036794" cy="801889"/>
            <a:chOff x="0" y="0"/>
            <a:chExt cx="5382393" cy="106918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382392" cy="1069186"/>
            </a:xfrm>
            <a:custGeom>
              <a:avLst/>
              <a:gdLst/>
              <a:ahLst/>
              <a:cxnLst/>
              <a:rect l="l" t="t" r="r" b="b"/>
              <a:pathLst>
                <a:path w="5382392" h="1069186">
                  <a:moveTo>
                    <a:pt x="0" y="0"/>
                  </a:moveTo>
                  <a:lnTo>
                    <a:pt x="5382392" y="0"/>
                  </a:lnTo>
                  <a:lnTo>
                    <a:pt x="5382392" y="1069186"/>
                  </a:lnTo>
                  <a:lnTo>
                    <a:pt x="0" y="1069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76200"/>
              <a:ext cx="5382393" cy="11453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87"/>
                </a:lnSpc>
              </a:pP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staging (3rd job, depends on onebox)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378291" y="6694289"/>
            <a:ext cx="4055297" cy="1514682"/>
            <a:chOff x="-24672" y="0"/>
            <a:chExt cx="5407064" cy="2019577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382392" cy="1589886"/>
            </a:xfrm>
            <a:custGeom>
              <a:avLst/>
              <a:gdLst/>
              <a:ahLst/>
              <a:cxnLst/>
              <a:rect l="l" t="t" r="r" b="b"/>
              <a:pathLst>
                <a:path w="5382392" h="1589886">
                  <a:moveTo>
                    <a:pt x="0" y="0"/>
                  </a:moveTo>
                  <a:lnTo>
                    <a:pt x="5382392" y="0"/>
                  </a:lnTo>
                  <a:lnTo>
                    <a:pt x="5382392" y="1589886"/>
                  </a:lnTo>
                  <a:lnTo>
                    <a:pt x="0" y="15898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-24672" y="353491"/>
              <a:ext cx="5382393" cy="16660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6542" lvl="1" indent="-143271" algn="l">
                <a:lnSpc>
                  <a:spcPts val="3087"/>
                </a:lnSpc>
                <a:buFont typeface="Arial"/>
                <a:buChar char="•"/>
              </a:pPr>
              <a:r>
                <a:rPr lang="en-US" sz="1899" spc="-39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Deploys the application to a </a:t>
              </a:r>
              <a:r>
                <a:rPr lang="en-US" sz="1899" b="1" spc="-39" dirty="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staging environment (Beta/Gamma)</a:t>
              </a:r>
              <a:r>
                <a:rPr lang="en-US" sz="1899" spc="-39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396794" y="7389316"/>
            <a:ext cx="4036794" cy="1591873"/>
            <a:chOff x="-1" y="0"/>
            <a:chExt cx="5382393" cy="212249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382392" cy="1069186"/>
            </a:xfrm>
            <a:custGeom>
              <a:avLst/>
              <a:gdLst/>
              <a:ahLst/>
              <a:cxnLst/>
              <a:rect l="l" t="t" r="r" b="b"/>
              <a:pathLst>
                <a:path w="5382392" h="1069186">
                  <a:moveTo>
                    <a:pt x="0" y="0"/>
                  </a:moveTo>
                  <a:lnTo>
                    <a:pt x="5382392" y="0"/>
                  </a:lnTo>
                  <a:lnTo>
                    <a:pt x="5382392" y="1069186"/>
                  </a:lnTo>
                  <a:lnTo>
                    <a:pt x="0" y="1069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-1" y="977113"/>
              <a:ext cx="5382393" cy="11453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6542" lvl="1" indent="-143271" algn="l">
                <a:lnSpc>
                  <a:spcPts val="3087"/>
                </a:lnSpc>
                <a:buFont typeface="Arial"/>
                <a:buChar char="•"/>
              </a:pPr>
              <a:r>
                <a:rPr lang="en-US" sz="1899" spc="-39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Used for testing with real-like conditions before production.</a:t>
              </a:r>
            </a:p>
          </p:txBody>
        </p:sp>
      </p:grpSp>
      <p:sp>
        <p:nvSpPr>
          <p:cNvPr id="63" name="Freeform 63" descr="preencoded.png"/>
          <p:cNvSpPr/>
          <p:nvPr/>
        </p:nvSpPr>
        <p:spPr>
          <a:xfrm>
            <a:off x="13639624" y="5176689"/>
            <a:ext cx="4449021" cy="783580"/>
          </a:xfrm>
          <a:custGeom>
            <a:avLst/>
            <a:gdLst/>
            <a:ahLst/>
            <a:cxnLst/>
            <a:rect l="l" t="t" r="r" b="b"/>
            <a:pathLst>
              <a:path w="4449021" h="783580">
                <a:moveTo>
                  <a:pt x="0" y="0"/>
                </a:moveTo>
                <a:lnTo>
                  <a:pt x="4449021" y="0"/>
                </a:lnTo>
                <a:lnTo>
                  <a:pt x="4449021" y="783580"/>
                </a:lnTo>
                <a:lnTo>
                  <a:pt x="0" y="78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430" b="-2430"/>
            </a:stretch>
          </a:blipFill>
        </p:spPr>
      </p:sp>
      <p:grpSp>
        <p:nvGrpSpPr>
          <p:cNvPr id="64" name="Group 64"/>
          <p:cNvGrpSpPr/>
          <p:nvPr/>
        </p:nvGrpSpPr>
        <p:grpSpPr>
          <a:xfrm>
            <a:off x="13845659" y="6254055"/>
            <a:ext cx="4036951" cy="801889"/>
            <a:chOff x="0" y="0"/>
            <a:chExt cx="5382601" cy="106918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82601" cy="1069186"/>
            </a:xfrm>
            <a:custGeom>
              <a:avLst/>
              <a:gdLst/>
              <a:ahLst/>
              <a:cxnLst/>
              <a:rect l="l" t="t" r="r" b="b"/>
              <a:pathLst>
                <a:path w="5382601" h="1069186">
                  <a:moveTo>
                    <a:pt x="0" y="0"/>
                  </a:moveTo>
                  <a:lnTo>
                    <a:pt x="5382601" y="0"/>
                  </a:lnTo>
                  <a:lnTo>
                    <a:pt x="5382601" y="1069186"/>
                  </a:lnTo>
                  <a:lnTo>
                    <a:pt x="0" y="1069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76200"/>
              <a:ext cx="5382601" cy="11453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87"/>
                </a:lnSpc>
              </a:pP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production (4th job, depends on staging)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3845659" y="6694289"/>
            <a:ext cx="4036951" cy="1170388"/>
            <a:chOff x="0" y="0"/>
            <a:chExt cx="5382601" cy="156051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382601" cy="1069186"/>
            </a:xfrm>
            <a:custGeom>
              <a:avLst/>
              <a:gdLst/>
              <a:ahLst/>
              <a:cxnLst/>
              <a:rect l="l" t="t" r="r" b="b"/>
              <a:pathLst>
                <a:path w="5382601" h="1069186">
                  <a:moveTo>
                    <a:pt x="0" y="0"/>
                  </a:moveTo>
                  <a:lnTo>
                    <a:pt x="5382601" y="0"/>
                  </a:lnTo>
                  <a:lnTo>
                    <a:pt x="5382601" y="1069186"/>
                  </a:lnTo>
                  <a:lnTo>
                    <a:pt x="0" y="1069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415132"/>
              <a:ext cx="5382601" cy="11453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6542" lvl="1" indent="-143271" algn="l">
                <a:lnSpc>
                  <a:spcPts val="3087"/>
                </a:lnSpc>
                <a:buFont typeface="Arial"/>
                <a:buChar char="•"/>
              </a:pPr>
              <a:r>
                <a:rPr lang="en-US" sz="1899" spc="-39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Deploys the </a:t>
              </a:r>
              <a:r>
                <a:rPr lang="en-US" sz="1899" b="1" spc="-39" dirty="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final version</a:t>
              </a:r>
              <a:r>
                <a:rPr lang="en-US" sz="1899" spc="-39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of the application to production.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292873" y="8616854"/>
            <a:ext cx="17795772" cy="411364"/>
            <a:chOff x="0" y="0"/>
            <a:chExt cx="23727696" cy="54848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3727696" cy="548486"/>
            </a:xfrm>
            <a:custGeom>
              <a:avLst/>
              <a:gdLst/>
              <a:ahLst/>
              <a:cxnLst/>
              <a:rect l="l" t="t" r="r" b="b"/>
              <a:pathLst>
                <a:path w="23727696" h="548486">
                  <a:moveTo>
                    <a:pt x="0" y="0"/>
                  </a:moveTo>
                  <a:lnTo>
                    <a:pt x="23727696" y="0"/>
                  </a:lnTo>
                  <a:lnTo>
                    <a:pt x="23727696" y="548486"/>
                  </a:lnTo>
                  <a:lnTo>
                    <a:pt x="0" y="54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76200"/>
              <a:ext cx="23727696" cy="624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87"/>
                </a:lnSpc>
              </a:pPr>
              <a:r>
                <a:rPr lang="en-US" sz="1899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Things to Observe: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92873" y="9150552"/>
            <a:ext cx="17795772" cy="411364"/>
            <a:chOff x="0" y="0"/>
            <a:chExt cx="23727696" cy="54848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3727696" cy="548486"/>
            </a:xfrm>
            <a:custGeom>
              <a:avLst/>
              <a:gdLst/>
              <a:ahLst/>
              <a:cxnLst/>
              <a:rect l="l" t="t" r="r" b="b"/>
              <a:pathLst>
                <a:path w="23727696" h="548486">
                  <a:moveTo>
                    <a:pt x="0" y="0"/>
                  </a:moveTo>
                  <a:lnTo>
                    <a:pt x="23727696" y="0"/>
                  </a:lnTo>
                  <a:lnTo>
                    <a:pt x="23727696" y="548486"/>
                  </a:lnTo>
                  <a:lnTo>
                    <a:pt x="0" y="54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76200"/>
              <a:ext cx="23727696" cy="624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829464" lvl="2" indent="-276488" algn="l">
                <a:lnSpc>
                  <a:spcPts val="3087"/>
                </a:lnSpc>
                <a:buFont typeface="Arial"/>
                <a:buChar char="⚬"/>
              </a:pPr>
              <a:r>
                <a:rPr lang="en-US" sz="1899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Job Dependencies</a:t>
              </a: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→ needs: ensures that each stage waits for the previous one to complete.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292873" y="9541821"/>
            <a:ext cx="17795772" cy="411364"/>
            <a:chOff x="0" y="0"/>
            <a:chExt cx="23727696" cy="54848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3727696" cy="548486"/>
            </a:xfrm>
            <a:custGeom>
              <a:avLst/>
              <a:gdLst/>
              <a:ahLst/>
              <a:cxnLst/>
              <a:rect l="l" t="t" r="r" b="b"/>
              <a:pathLst>
                <a:path w="23727696" h="548486">
                  <a:moveTo>
                    <a:pt x="0" y="0"/>
                  </a:moveTo>
                  <a:lnTo>
                    <a:pt x="23727696" y="0"/>
                  </a:lnTo>
                  <a:lnTo>
                    <a:pt x="23727696" y="548486"/>
                  </a:lnTo>
                  <a:lnTo>
                    <a:pt x="0" y="548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76200"/>
              <a:ext cx="23727696" cy="624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829464" lvl="2" indent="-276488" algn="l">
                <a:lnSpc>
                  <a:spcPts val="3087"/>
                </a:lnSpc>
                <a:buFont typeface="Arial"/>
                <a:buChar char="⚬"/>
              </a:pPr>
              <a:r>
                <a:rPr lang="en-US" sz="1899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Simulated Delays (</a:t>
              </a: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sleep 3</a:t>
              </a:r>
              <a:r>
                <a:rPr lang="en-US" sz="1899" b="1" spc="-39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)</a:t>
              </a:r>
              <a:r>
                <a:rPr lang="en-US" sz="1899" spc="-3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→ Mimics actual deployment/testing time.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67519" y="681632"/>
            <a:ext cx="10394602" cy="852041"/>
            <a:chOff x="0" y="0"/>
            <a:chExt cx="13859470" cy="11360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59470" cy="1136055"/>
            </a:xfrm>
            <a:custGeom>
              <a:avLst/>
              <a:gdLst/>
              <a:ahLst/>
              <a:cxnLst/>
              <a:rect l="l" t="t" r="r" b="b"/>
              <a:pathLst>
                <a:path w="13859470" h="1136055">
                  <a:moveTo>
                    <a:pt x="0" y="0"/>
                  </a:moveTo>
                  <a:lnTo>
                    <a:pt x="13859470" y="0"/>
                  </a:lnTo>
                  <a:lnTo>
                    <a:pt x="13859470" y="1136055"/>
                  </a:lnTo>
                  <a:lnTo>
                    <a:pt x="0" y="11360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859470" cy="11741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687"/>
                </a:lnSpc>
              </a:pPr>
              <a:r>
                <a:rPr lang="en-US" sz="5312" spc="-107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CI Optimization and Best Practices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7519" y="1926390"/>
            <a:ext cx="16552961" cy="433875"/>
            <a:chOff x="0" y="0"/>
            <a:chExt cx="22070615" cy="57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70616" cy="578500"/>
            </a:xfrm>
            <a:custGeom>
              <a:avLst/>
              <a:gdLst/>
              <a:ahLst/>
              <a:cxnLst/>
              <a:rect l="l" t="t" r="r" b="b"/>
              <a:pathLst>
                <a:path w="22070616" h="578500">
                  <a:moveTo>
                    <a:pt x="0" y="0"/>
                  </a:moveTo>
                  <a:lnTo>
                    <a:pt x="22070616" y="0"/>
                  </a:lnTo>
                  <a:lnTo>
                    <a:pt x="22070616" y="578500"/>
                  </a:lnTo>
                  <a:lnTo>
                    <a:pt x="0" y="578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2070615" cy="6642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7281" lvl="1" indent="-153640" algn="l">
                <a:lnSpc>
                  <a:spcPts val="3220"/>
                </a:lnSpc>
                <a:buFont typeface="Arial"/>
                <a:buChar char="•"/>
              </a:pPr>
              <a:r>
                <a:rPr lang="en-US" sz="20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Optimizing Continuous Integration (CI) improves build speed, resource efficiency, and development workflow.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7519" y="2512665"/>
            <a:ext cx="16552961" cy="433875"/>
            <a:chOff x="0" y="0"/>
            <a:chExt cx="22070615" cy="57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70616" cy="578500"/>
            </a:xfrm>
            <a:custGeom>
              <a:avLst/>
              <a:gdLst/>
              <a:ahLst/>
              <a:cxnLst/>
              <a:rect l="l" t="t" r="r" b="b"/>
              <a:pathLst>
                <a:path w="22070616" h="578500">
                  <a:moveTo>
                    <a:pt x="0" y="0"/>
                  </a:moveTo>
                  <a:lnTo>
                    <a:pt x="22070616" y="0"/>
                  </a:lnTo>
                  <a:lnTo>
                    <a:pt x="22070616" y="578500"/>
                  </a:lnTo>
                  <a:lnTo>
                    <a:pt x="0" y="578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2070615" cy="6642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7281" lvl="1" indent="-153640" algn="l">
                <a:lnSpc>
                  <a:spcPts val="3220"/>
                </a:lnSpc>
                <a:buFont typeface="Arial"/>
                <a:buChar char="•"/>
              </a:pPr>
              <a:r>
                <a:rPr lang="en-US" sz="2037" spc="-4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 well-structured CI pipeline minimizes delays, enhances reliability, and streamlines software delivery.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67519" y="3281065"/>
            <a:ext cx="7091809" cy="511225"/>
            <a:chOff x="0" y="0"/>
            <a:chExt cx="9455745" cy="6816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55745" cy="681633"/>
            </a:xfrm>
            <a:custGeom>
              <a:avLst/>
              <a:gdLst/>
              <a:ahLst/>
              <a:cxnLst/>
              <a:rect l="l" t="t" r="r" b="b"/>
              <a:pathLst>
                <a:path w="9455745" h="681633">
                  <a:moveTo>
                    <a:pt x="0" y="0"/>
                  </a:moveTo>
                  <a:lnTo>
                    <a:pt x="9455745" y="0"/>
                  </a:lnTo>
                  <a:lnTo>
                    <a:pt x="9455745" y="681633"/>
                  </a:lnTo>
                  <a:lnTo>
                    <a:pt x="0" y="681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455745" cy="7006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99"/>
                </a:lnSpc>
              </a:pPr>
              <a:r>
                <a:rPr lang="en-US" sz="3187" spc="-64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Common CI Bottlenecks and Solutions 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62756" y="4159300"/>
            <a:ext cx="5361980" cy="1495425"/>
            <a:chOff x="0" y="0"/>
            <a:chExt cx="7149307" cy="1993900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7136638" cy="1981200"/>
            </a:xfrm>
            <a:custGeom>
              <a:avLst/>
              <a:gdLst/>
              <a:ahLst/>
              <a:cxnLst/>
              <a:rect l="l" t="t" r="r" b="b"/>
              <a:pathLst>
                <a:path w="7136638" h="1981200">
                  <a:moveTo>
                    <a:pt x="0" y="138811"/>
                  </a:moveTo>
                  <a:cubicBezTo>
                    <a:pt x="0" y="62103"/>
                    <a:pt x="62484" y="0"/>
                    <a:pt x="139446" y="0"/>
                  </a:cubicBezTo>
                  <a:lnTo>
                    <a:pt x="6997192" y="0"/>
                  </a:lnTo>
                  <a:cubicBezTo>
                    <a:pt x="7074154" y="0"/>
                    <a:pt x="7136638" y="62103"/>
                    <a:pt x="7136638" y="138811"/>
                  </a:cubicBezTo>
                  <a:lnTo>
                    <a:pt x="7136638" y="1842389"/>
                  </a:lnTo>
                  <a:cubicBezTo>
                    <a:pt x="7136638" y="1919097"/>
                    <a:pt x="7074154" y="1981200"/>
                    <a:pt x="6997192" y="1981200"/>
                  </a:cubicBezTo>
                  <a:lnTo>
                    <a:pt x="139446" y="1981200"/>
                  </a:lnTo>
                  <a:cubicBezTo>
                    <a:pt x="62484" y="1981200"/>
                    <a:pt x="0" y="1919097"/>
                    <a:pt x="0" y="184238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7149338" cy="1993900"/>
            </a:xfrm>
            <a:custGeom>
              <a:avLst/>
              <a:gdLst/>
              <a:ahLst/>
              <a:cxnLst/>
              <a:rect l="l" t="t" r="r" b="b"/>
              <a:pathLst>
                <a:path w="7149338" h="1993900">
                  <a:moveTo>
                    <a:pt x="0" y="145161"/>
                  </a:moveTo>
                  <a:cubicBezTo>
                    <a:pt x="0" y="65024"/>
                    <a:pt x="65278" y="0"/>
                    <a:pt x="145796" y="0"/>
                  </a:cubicBezTo>
                  <a:lnTo>
                    <a:pt x="7003542" y="0"/>
                  </a:lnTo>
                  <a:lnTo>
                    <a:pt x="7003542" y="6350"/>
                  </a:lnTo>
                  <a:lnTo>
                    <a:pt x="7003542" y="0"/>
                  </a:lnTo>
                  <a:cubicBezTo>
                    <a:pt x="7084061" y="0"/>
                    <a:pt x="7149338" y="65024"/>
                    <a:pt x="7149338" y="145161"/>
                  </a:cubicBezTo>
                  <a:lnTo>
                    <a:pt x="7142988" y="145161"/>
                  </a:lnTo>
                  <a:lnTo>
                    <a:pt x="7149338" y="145161"/>
                  </a:lnTo>
                  <a:lnTo>
                    <a:pt x="7149338" y="1848739"/>
                  </a:lnTo>
                  <a:lnTo>
                    <a:pt x="7142988" y="1848739"/>
                  </a:lnTo>
                  <a:lnTo>
                    <a:pt x="7149338" y="1848739"/>
                  </a:lnTo>
                  <a:cubicBezTo>
                    <a:pt x="7149338" y="1929003"/>
                    <a:pt x="7084061" y="1993900"/>
                    <a:pt x="7003542" y="1993900"/>
                  </a:cubicBezTo>
                  <a:lnTo>
                    <a:pt x="7003542" y="1987550"/>
                  </a:lnTo>
                  <a:lnTo>
                    <a:pt x="7003542" y="1993900"/>
                  </a:lnTo>
                  <a:lnTo>
                    <a:pt x="145796" y="1993900"/>
                  </a:lnTo>
                  <a:lnTo>
                    <a:pt x="145796" y="1987550"/>
                  </a:lnTo>
                  <a:lnTo>
                    <a:pt x="145796" y="1993900"/>
                  </a:lnTo>
                  <a:cubicBezTo>
                    <a:pt x="65278" y="1993900"/>
                    <a:pt x="0" y="1928876"/>
                    <a:pt x="0" y="1848739"/>
                  </a:cubicBezTo>
                  <a:lnTo>
                    <a:pt x="0" y="145161"/>
                  </a:lnTo>
                  <a:lnTo>
                    <a:pt x="6350" y="145161"/>
                  </a:lnTo>
                  <a:lnTo>
                    <a:pt x="0" y="145161"/>
                  </a:lnTo>
                  <a:moveTo>
                    <a:pt x="12700" y="145161"/>
                  </a:moveTo>
                  <a:lnTo>
                    <a:pt x="12700" y="1848739"/>
                  </a:lnTo>
                  <a:lnTo>
                    <a:pt x="6350" y="1848739"/>
                  </a:lnTo>
                  <a:lnTo>
                    <a:pt x="12700" y="1848739"/>
                  </a:lnTo>
                  <a:cubicBezTo>
                    <a:pt x="12700" y="1921891"/>
                    <a:pt x="72263" y="1981200"/>
                    <a:pt x="145796" y="1981200"/>
                  </a:cubicBezTo>
                  <a:lnTo>
                    <a:pt x="7003542" y="1981200"/>
                  </a:lnTo>
                  <a:cubicBezTo>
                    <a:pt x="7077075" y="1981200"/>
                    <a:pt x="7136638" y="1921891"/>
                    <a:pt x="7136638" y="1848739"/>
                  </a:cubicBezTo>
                  <a:lnTo>
                    <a:pt x="7136638" y="145161"/>
                  </a:lnTo>
                  <a:cubicBezTo>
                    <a:pt x="7136638" y="72009"/>
                    <a:pt x="7077075" y="12700"/>
                    <a:pt x="7003542" y="12700"/>
                  </a:cubicBezTo>
                  <a:lnTo>
                    <a:pt x="145796" y="12700"/>
                  </a:lnTo>
                  <a:lnTo>
                    <a:pt x="145796" y="6350"/>
                  </a:lnTo>
                  <a:lnTo>
                    <a:pt x="145796" y="12700"/>
                  </a:lnTo>
                  <a:cubicBezTo>
                    <a:pt x="72263" y="12700"/>
                    <a:pt x="12700" y="72009"/>
                    <a:pt x="12700" y="145161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839516" y="4421386"/>
            <a:ext cx="3408461" cy="425946"/>
            <a:chOff x="0" y="0"/>
            <a:chExt cx="4544615" cy="5679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44615" cy="567928"/>
            </a:xfrm>
            <a:custGeom>
              <a:avLst/>
              <a:gdLst/>
              <a:ahLst/>
              <a:cxnLst/>
              <a:rect l="l" t="t" r="r" b="b"/>
              <a:pathLst>
                <a:path w="4544615" h="567928">
                  <a:moveTo>
                    <a:pt x="0" y="0"/>
                  </a:moveTo>
                  <a:lnTo>
                    <a:pt x="4544615" y="0"/>
                  </a:lnTo>
                  <a:lnTo>
                    <a:pt x="4544615" y="567928"/>
                  </a:lnTo>
                  <a:lnTo>
                    <a:pt x="0" y="567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544615" cy="5965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2625" spc="-5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Slow Builds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24842" y="4996011"/>
            <a:ext cx="4837808" cy="396628"/>
            <a:chOff x="0" y="0"/>
            <a:chExt cx="6450410" cy="52883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450410" cy="528837"/>
            </a:xfrm>
            <a:custGeom>
              <a:avLst/>
              <a:gdLst/>
              <a:ahLst/>
              <a:cxnLst/>
              <a:rect l="l" t="t" r="r" b="b"/>
              <a:pathLst>
                <a:path w="6450410" h="528837">
                  <a:moveTo>
                    <a:pt x="0" y="0"/>
                  </a:moveTo>
                  <a:lnTo>
                    <a:pt x="6450410" y="0"/>
                  </a:lnTo>
                  <a:lnTo>
                    <a:pt x="6450410" y="528837"/>
                  </a:lnTo>
                  <a:lnTo>
                    <a:pt x="0" y="5288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6450410" cy="6050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1937" spc="-38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Use caching and parallel testing.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63010" y="4159300"/>
            <a:ext cx="5361980" cy="1495425"/>
            <a:chOff x="0" y="0"/>
            <a:chExt cx="7149307" cy="1993900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7136638" cy="1981200"/>
            </a:xfrm>
            <a:custGeom>
              <a:avLst/>
              <a:gdLst/>
              <a:ahLst/>
              <a:cxnLst/>
              <a:rect l="l" t="t" r="r" b="b"/>
              <a:pathLst>
                <a:path w="7136638" h="1981200">
                  <a:moveTo>
                    <a:pt x="0" y="138811"/>
                  </a:moveTo>
                  <a:cubicBezTo>
                    <a:pt x="0" y="62103"/>
                    <a:pt x="62484" y="0"/>
                    <a:pt x="139446" y="0"/>
                  </a:cubicBezTo>
                  <a:lnTo>
                    <a:pt x="6997192" y="0"/>
                  </a:lnTo>
                  <a:cubicBezTo>
                    <a:pt x="7074154" y="0"/>
                    <a:pt x="7136638" y="62103"/>
                    <a:pt x="7136638" y="138811"/>
                  </a:cubicBezTo>
                  <a:lnTo>
                    <a:pt x="7136638" y="1842389"/>
                  </a:lnTo>
                  <a:cubicBezTo>
                    <a:pt x="7136638" y="1919097"/>
                    <a:pt x="7074154" y="1981200"/>
                    <a:pt x="6997192" y="1981200"/>
                  </a:cubicBezTo>
                  <a:lnTo>
                    <a:pt x="139446" y="1981200"/>
                  </a:lnTo>
                  <a:cubicBezTo>
                    <a:pt x="62484" y="1981200"/>
                    <a:pt x="0" y="1919097"/>
                    <a:pt x="0" y="184238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7149338" cy="1993900"/>
            </a:xfrm>
            <a:custGeom>
              <a:avLst/>
              <a:gdLst/>
              <a:ahLst/>
              <a:cxnLst/>
              <a:rect l="l" t="t" r="r" b="b"/>
              <a:pathLst>
                <a:path w="7149338" h="1993900">
                  <a:moveTo>
                    <a:pt x="0" y="145161"/>
                  </a:moveTo>
                  <a:cubicBezTo>
                    <a:pt x="0" y="65024"/>
                    <a:pt x="65278" y="0"/>
                    <a:pt x="145796" y="0"/>
                  </a:cubicBezTo>
                  <a:lnTo>
                    <a:pt x="7003542" y="0"/>
                  </a:lnTo>
                  <a:lnTo>
                    <a:pt x="7003542" y="6350"/>
                  </a:lnTo>
                  <a:lnTo>
                    <a:pt x="7003542" y="0"/>
                  </a:lnTo>
                  <a:cubicBezTo>
                    <a:pt x="7084061" y="0"/>
                    <a:pt x="7149338" y="65024"/>
                    <a:pt x="7149338" y="145161"/>
                  </a:cubicBezTo>
                  <a:lnTo>
                    <a:pt x="7142988" y="145161"/>
                  </a:lnTo>
                  <a:lnTo>
                    <a:pt x="7149338" y="145161"/>
                  </a:lnTo>
                  <a:lnTo>
                    <a:pt x="7149338" y="1848739"/>
                  </a:lnTo>
                  <a:lnTo>
                    <a:pt x="7142988" y="1848739"/>
                  </a:lnTo>
                  <a:lnTo>
                    <a:pt x="7149338" y="1848739"/>
                  </a:lnTo>
                  <a:cubicBezTo>
                    <a:pt x="7149338" y="1929003"/>
                    <a:pt x="7084061" y="1993900"/>
                    <a:pt x="7003542" y="1993900"/>
                  </a:cubicBezTo>
                  <a:lnTo>
                    <a:pt x="7003542" y="1987550"/>
                  </a:lnTo>
                  <a:lnTo>
                    <a:pt x="7003542" y="1993900"/>
                  </a:lnTo>
                  <a:lnTo>
                    <a:pt x="145796" y="1993900"/>
                  </a:lnTo>
                  <a:lnTo>
                    <a:pt x="145796" y="1987550"/>
                  </a:lnTo>
                  <a:lnTo>
                    <a:pt x="145796" y="1993900"/>
                  </a:lnTo>
                  <a:cubicBezTo>
                    <a:pt x="65278" y="1993900"/>
                    <a:pt x="0" y="1928876"/>
                    <a:pt x="0" y="1848739"/>
                  </a:cubicBezTo>
                  <a:lnTo>
                    <a:pt x="0" y="145161"/>
                  </a:lnTo>
                  <a:lnTo>
                    <a:pt x="6350" y="145161"/>
                  </a:lnTo>
                  <a:lnTo>
                    <a:pt x="0" y="145161"/>
                  </a:lnTo>
                  <a:moveTo>
                    <a:pt x="12700" y="145161"/>
                  </a:moveTo>
                  <a:lnTo>
                    <a:pt x="12700" y="1848739"/>
                  </a:lnTo>
                  <a:lnTo>
                    <a:pt x="6350" y="1848739"/>
                  </a:lnTo>
                  <a:lnTo>
                    <a:pt x="12700" y="1848739"/>
                  </a:lnTo>
                  <a:cubicBezTo>
                    <a:pt x="12700" y="1921891"/>
                    <a:pt x="72263" y="1981200"/>
                    <a:pt x="145796" y="1981200"/>
                  </a:cubicBezTo>
                  <a:lnTo>
                    <a:pt x="7003542" y="1981200"/>
                  </a:lnTo>
                  <a:cubicBezTo>
                    <a:pt x="7077075" y="1981200"/>
                    <a:pt x="7136638" y="1921891"/>
                    <a:pt x="7136638" y="1848739"/>
                  </a:cubicBezTo>
                  <a:lnTo>
                    <a:pt x="7136638" y="145161"/>
                  </a:lnTo>
                  <a:cubicBezTo>
                    <a:pt x="7136638" y="72009"/>
                    <a:pt x="7077075" y="12700"/>
                    <a:pt x="7003542" y="12700"/>
                  </a:cubicBezTo>
                  <a:lnTo>
                    <a:pt x="145796" y="12700"/>
                  </a:lnTo>
                  <a:lnTo>
                    <a:pt x="145796" y="6350"/>
                  </a:lnTo>
                  <a:lnTo>
                    <a:pt x="145796" y="12700"/>
                  </a:lnTo>
                  <a:cubicBezTo>
                    <a:pt x="72263" y="12700"/>
                    <a:pt x="12700" y="72009"/>
                    <a:pt x="12700" y="145161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439769" y="4421386"/>
            <a:ext cx="3408461" cy="425946"/>
            <a:chOff x="0" y="0"/>
            <a:chExt cx="4544615" cy="56792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544615" cy="567928"/>
            </a:xfrm>
            <a:custGeom>
              <a:avLst/>
              <a:gdLst/>
              <a:ahLst/>
              <a:cxnLst/>
              <a:rect l="l" t="t" r="r" b="b"/>
              <a:pathLst>
                <a:path w="4544615" h="567928">
                  <a:moveTo>
                    <a:pt x="0" y="0"/>
                  </a:moveTo>
                  <a:lnTo>
                    <a:pt x="4544615" y="0"/>
                  </a:lnTo>
                  <a:lnTo>
                    <a:pt x="4544615" y="567928"/>
                  </a:lnTo>
                  <a:lnTo>
                    <a:pt x="0" y="567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544615" cy="5965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2625" spc="-5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Overloaded Pipelines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25096" y="4996011"/>
            <a:ext cx="4837808" cy="396628"/>
            <a:chOff x="0" y="0"/>
            <a:chExt cx="6450410" cy="52883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50410" cy="528837"/>
            </a:xfrm>
            <a:custGeom>
              <a:avLst/>
              <a:gdLst/>
              <a:ahLst/>
              <a:cxnLst/>
              <a:rect l="l" t="t" r="r" b="b"/>
              <a:pathLst>
                <a:path w="6450410" h="528837">
                  <a:moveTo>
                    <a:pt x="0" y="0"/>
                  </a:moveTo>
                  <a:lnTo>
                    <a:pt x="6450410" y="0"/>
                  </a:lnTo>
                  <a:lnTo>
                    <a:pt x="6450410" y="528837"/>
                  </a:lnTo>
                  <a:lnTo>
                    <a:pt x="0" y="5288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6450410" cy="6050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1937" spc="-38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Keep pipelines modular and efficient.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063264" y="4159300"/>
            <a:ext cx="5361980" cy="1495425"/>
            <a:chOff x="0" y="0"/>
            <a:chExt cx="7149307" cy="1993900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7136638" cy="1981200"/>
            </a:xfrm>
            <a:custGeom>
              <a:avLst/>
              <a:gdLst/>
              <a:ahLst/>
              <a:cxnLst/>
              <a:rect l="l" t="t" r="r" b="b"/>
              <a:pathLst>
                <a:path w="7136638" h="1981200">
                  <a:moveTo>
                    <a:pt x="0" y="138811"/>
                  </a:moveTo>
                  <a:cubicBezTo>
                    <a:pt x="0" y="62103"/>
                    <a:pt x="62484" y="0"/>
                    <a:pt x="139446" y="0"/>
                  </a:cubicBezTo>
                  <a:lnTo>
                    <a:pt x="6997192" y="0"/>
                  </a:lnTo>
                  <a:cubicBezTo>
                    <a:pt x="7074154" y="0"/>
                    <a:pt x="7136638" y="62103"/>
                    <a:pt x="7136638" y="138811"/>
                  </a:cubicBezTo>
                  <a:lnTo>
                    <a:pt x="7136638" y="1842389"/>
                  </a:lnTo>
                  <a:cubicBezTo>
                    <a:pt x="7136638" y="1919097"/>
                    <a:pt x="7074154" y="1981200"/>
                    <a:pt x="6997192" y="1981200"/>
                  </a:cubicBezTo>
                  <a:lnTo>
                    <a:pt x="139446" y="1981200"/>
                  </a:lnTo>
                  <a:cubicBezTo>
                    <a:pt x="62484" y="1981200"/>
                    <a:pt x="0" y="1919097"/>
                    <a:pt x="0" y="184238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7149338" cy="1993900"/>
            </a:xfrm>
            <a:custGeom>
              <a:avLst/>
              <a:gdLst/>
              <a:ahLst/>
              <a:cxnLst/>
              <a:rect l="l" t="t" r="r" b="b"/>
              <a:pathLst>
                <a:path w="7149338" h="1993900">
                  <a:moveTo>
                    <a:pt x="0" y="145161"/>
                  </a:moveTo>
                  <a:cubicBezTo>
                    <a:pt x="0" y="65024"/>
                    <a:pt x="65278" y="0"/>
                    <a:pt x="145796" y="0"/>
                  </a:cubicBezTo>
                  <a:lnTo>
                    <a:pt x="7003542" y="0"/>
                  </a:lnTo>
                  <a:lnTo>
                    <a:pt x="7003542" y="6350"/>
                  </a:lnTo>
                  <a:lnTo>
                    <a:pt x="7003542" y="0"/>
                  </a:lnTo>
                  <a:cubicBezTo>
                    <a:pt x="7084061" y="0"/>
                    <a:pt x="7149338" y="65024"/>
                    <a:pt x="7149338" y="145161"/>
                  </a:cubicBezTo>
                  <a:lnTo>
                    <a:pt x="7142988" y="145161"/>
                  </a:lnTo>
                  <a:lnTo>
                    <a:pt x="7149338" y="145161"/>
                  </a:lnTo>
                  <a:lnTo>
                    <a:pt x="7149338" y="1848739"/>
                  </a:lnTo>
                  <a:lnTo>
                    <a:pt x="7142988" y="1848739"/>
                  </a:lnTo>
                  <a:lnTo>
                    <a:pt x="7149338" y="1848739"/>
                  </a:lnTo>
                  <a:cubicBezTo>
                    <a:pt x="7149338" y="1929003"/>
                    <a:pt x="7084061" y="1993900"/>
                    <a:pt x="7003542" y="1993900"/>
                  </a:cubicBezTo>
                  <a:lnTo>
                    <a:pt x="7003542" y="1987550"/>
                  </a:lnTo>
                  <a:lnTo>
                    <a:pt x="7003542" y="1993900"/>
                  </a:lnTo>
                  <a:lnTo>
                    <a:pt x="145796" y="1993900"/>
                  </a:lnTo>
                  <a:lnTo>
                    <a:pt x="145796" y="1987550"/>
                  </a:lnTo>
                  <a:lnTo>
                    <a:pt x="145796" y="1993900"/>
                  </a:lnTo>
                  <a:cubicBezTo>
                    <a:pt x="65278" y="1993900"/>
                    <a:pt x="0" y="1928876"/>
                    <a:pt x="0" y="1848739"/>
                  </a:cubicBezTo>
                  <a:lnTo>
                    <a:pt x="0" y="145161"/>
                  </a:lnTo>
                  <a:lnTo>
                    <a:pt x="6350" y="145161"/>
                  </a:lnTo>
                  <a:lnTo>
                    <a:pt x="0" y="145161"/>
                  </a:lnTo>
                  <a:moveTo>
                    <a:pt x="12700" y="145161"/>
                  </a:moveTo>
                  <a:lnTo>
                    <a:pt x="12700" y="1848739"/>
                  </a:lnTo>
                  <a:lnTo>
                    <a:pt x="6350" y="1848739"/>
                  </a:lnTo>
                  <a:lnTo>
                    <a:pt x="12700" y="1848739"/>
                  </a:lnTo>
                  <a:cubicBezTo>
                    <a:pt x="12700" y="1921891"/>
                    <a:pt x="72263" y="1981200"/>
                    <a:pt x="145796" y="1981200"/>
                  </a:cubicBezTo>
                  <a:lnTo>
                    <a:pt x="7003542" y="1981200"/>
                  </a:lnTo>
                  <a:cubicBezTo>
                    <a:pt x="7077075" y="1981200"/>
                    <a:pt x="7136638" y="1921891"/>
                    <a:pt x="7136638" y="1848739"/>
                  </a:cubicBezTo>
                  <a:lnTo>
                    <a:pt x="7136638" y="145161"/>
                  </a:lnTo>
                  <a:cubicBezTo>
                    <a:pt x="7136638" y="72009"/>
                    <a:pt x="7077075" y="12700"/>
                    <a:pt x="7003542" y="12700"/>
                  </a:cubicBezTo>
                  <a:lnTo>
                    <a:pt x="145796" y="12700"/>
                  </a:lnTo>
                  <a:lnTo>
                    <a:pt x="145796" y="6350"/>
                  </a:lnTo>
                  <a:lnTo>
                    <a:pt x="145796" y="12700"/>
                  </a:lnTo>
                  <a:cubicBezTo>
                    <a:pt x="72263" y="12700"/>
                    <a:pt x="12700" y="72009"/>
                    <a:pt x="12700" y="145161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3040022" y="4421386"/>
            <a:ext cx="3408461" cy="425946"/>
            <a:chOff x="0" y="0"/>
            <a:chExt cx="4544615" cy="56792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544615" cy="567928"/>
            </a:xfrm>
            <a:custGeom>
              <a:avLst/>
              <a:gdLst/>
              <a:ahLst/>
              <a:cxnLst/>
              <a:rect l="l" t="t" r="r" b="b"/>
              <a:pathLst>
                <a:path w="4544615" h="567928">
                  <a:moveTo>
                    <a:pt x="0" y="0"/>
                  </a:moveTo>
                  <a:lnTo>
                    <a:pt x="4544615" y="0"/>
                  </a:lnTo>
                  <a:lnTo>
                    <a:pt x="4544615" y="567928"/>
                  </a:lnTo>
                  <a:lnTo>
                    <a:pt x="0" y="567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4544615" cy="5965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2625" spc="-5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Manual Failover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325350" y="4996011"/>
            <a:ext cx="4837808" cy="396628"/>
            <a:chOff x="0" y="0"/>
            <a:chExt cx="6450410" cy="52883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450410" cy="528837"/>
            </a:xfrm>
            <a:custGeom>
              <a:avLst/>
              <a:gdLst/>
              <a:ahLst/>
              <a:cxnLst/>
              <a:rect l="l" t="t" r="r" b="b"/>
              <a:pathLst>
                <a:path w="6450410" h="528837">
                  <a:moveTo>
                    <a:pt x="0" y="0"/>
                  </a:moveTo>
                  <a:lnTo>
                    <a:pt x="6450410" y="0"/>
                  </a:lnTo>
                  <a:lnTo>
                    <a:pt x="6450410" y="528837"/>
                  </a:lnTo>
                  <a:lnTo>
                    <a:pt x="0" y="5288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6450410" cy="6050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1937" spc="-38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Implement automated rollbacks.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67519" y="6021735"/>
            <a:ext cx="6235304" cy="511225"/>
            <a:chOff x="0" y="0"/>
            <a:chExt cx="8313738" cy="68163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313738" cy="681633"/>
            </a:xfrm>
            <a:custGeom>
              <a:avLst/>
              <a:gdLst/>
              <a:ahLst/>
              <a:cxnLst/>
              <a:rect l="l" t="t" r="r" b="b"/>
              <a:pathLst>
                <a:path w="8313738" h="681633">
                  <a:moveTo>
                    <a:pt x="0" y="0"/>
                  </a:moveTo>
                  <a:lnTo>
                    <a:pt x="8313738" y="0"/>
                  </a:lnTo>
                  <a:lnTo>
                    <a:pt x="8313738" y="681633"/>
                  </a:lnTo>
                  <a:lnTo>
                    <a:pt x="0" y="681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8313738" cy="7006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99"/>
                </a:lnSpc>
              </a:pPr>
              <a:r>
                <a:rPr lang="en-US" sz="3187" spc="-64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Best Practices for CI Optimization :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62756" y="6899970"/>
            <a:ext cx="3961954" cy="2714625"/>
            <a:chOff x="0" y="0"/>
            <a:chExt cx="5282605" cy="3619500"/>
          </a:xfrm>
        </p:grpSpPr>
        <p:sp>
          <p:nvSpPr>
            <p:cNvPr id="49" name="Freeform 49"/>
            <p:cNvSpPr/>
            <p:nvPr/>
          </p:nvSpPr>
          <p:spPr>
            <a:xfrm>
              <a:off x="6350" y="6350"/>
              <a:ext cx="5269865" cy="3606800"/>
            </a:xfrm>
            <a:custGeom>
              <a:avLst/>
              <a:gdLst/>
              <a:ahLst/>
              <a:cxnLst/>
              <a:rect l="l" t="t" r="r" b="b"/>
              <a:pathLst>
                <a:path w="5269865" h="3606800">
                  <a:moveTo>
                    <a:pt x="0" y="138811"/>
                  </a:moveTo>
                  <a:cubicBezTo>
                    <a:pt x="0" y="62103"/>
                    <a:pt x="62230" y="0"/>
                    <a:pt x="138938" y="0"/>
                  </a:cubicBezTo>
                  <a:lnTo>
                    <a:pt x="5130927" y="0"/>
                  </a:lnTo>
                  <a:cubicBezTo>
                    <a:pt x="5207635" y="0"/>
                    <a:pt x="5269865" y="62103"/>
                    <a:pt x="5269865" y="138811"/>
                  </a:cubicBezTo>
                  <a:lnTo>
                    <a:pt x="5269865" y="3467989"/>
                  </a:lnTo>
                  <a:cubicBezTo>
                    <a:pt x="5269865" y="3544697"/>
                    <a:pt x="5207635" y="3606800"/>
                    <a:pt x="5130927" y="3606800"/>
                  </a:cubicBezTo>
                  <a:lnTo>
                    <a:pt x="138938" y="3606800"/>
                  </a:lnTo>
                  <a:cubicBezTo>
                    <a:pt x="62230" y="3606800"/>
                    <a:pt x="0" y="3544697"/>
                    <a:pt x="0" y="346798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5282565" cy="3619500"/>
            </a:xfrm>
            <a:custGeom>
              <a:avLst/>
              <a:gdLst/>
              <a:ahLst/>
              <a:cxnLst/>
              <a:rect l="l" t="t" r="r" b="b"/>
              <a:pathLst>
                <a:path w="5282565" h="3619500">
                  <a:moveTo>
                    <a:pt x="0" y="145161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5137277" y="0"/>
                  </a:lnTo>
                  <a:lnTo>
                    <a:pt x="5137277" y="6350"/>
                  </a:lnTo>
                  <a:lnTo>
                    <a:pt x="5137277" y="0"/>
                  </a:lnTo>
                  <a:cubicBezTo>
                    <a:pt x="5217541" y="0"/>
                    <a:pt x="5282565" y="65024"/>
                    <a:pt x="5282565" y="145161"/>
                  </a:cubicBezTo>
                  <a:lnTo>
                    <a:pt x="5276215" y="145161"/>
                  </a:lnTo>
                  <a:lnTo>
                    <a:pt x="5282565" y="145161"/>
                  </a:lnTo>
                  <a:lnTo>
                    <a:pt x="5282565" y="3474339"/>
                  </a:lnTo>
                  <a:lnTo>
                    <a:pt x="5276215" y="3474339"/>
                  </a:lnTo>
                  <a:lnTo>
                    <a:pt x="5282565" y="3474339"/>
                  </a:lnTo>
                  <a:cubicBezTo>
                    <a:pt x="5282565" y="3554476"/>
                    <a:pt x="5217541" y="3619500"/>
                    <a:pt x="5137277" y="3619500"/>
                  </a:cubicBezTo>
                  <a:lnTo>
                    <a:pt x="5137277" y="3613150"/>
                  </a:lnTo>
                  <a:lnTo>
                    <a:pt x="5137277" y="3619500"/>
                  </a:lnTo>
                  <a:lnTo>
                    <a:pt x="145288" y="3619500"/>
                  </a:lnTo>
                  <a:lnTo>
                    <a:pt x="145288" y="3613150"/>
                  </a:lnTo>
                  <a:lnTo>
                    <a:pt x="145288" y="3619500"/>
                  </a:lnTo>
                  <a:cubicBezTo>
                    <a:pt x="65024" y="3619500"/>
                    <a:pt x="0" y="3554476"/>
                    <a:pt x="0" y="3474339"/>
                  </a:cubicBezTo>
                  <a:lnTo>
                    <a:pt x="0" y="145161"/>
                  </a:lnTo>
                  <a:lnTo>
                    <a:pt x="6350" y="145161"/>
                  </a:lnTo>
                  <a:lnTo>
                    <a:pt x="0" y="145161"/>
                  </a:lnTo>
                  <a:moveTo>
                    <a:pt x="12700" y="145161"/>
                  </a:moveTo>
                  <a:lnTo>
                    <a:pt x="12700" y="3474339"/>
                  </a:lnTo>
                  <a:lnTo>
                    <a:pt x="6350" y="3474339"/>
                  </a:lnTo>
                  <a:lnTo>
                    <a:pt x="12700" y="3474339"/>
                  </a:lnTo>
                  <a:cubicBezTo>
                    <a:pt x="12700" y="3547491"/>
                    <a:pt x="72136" y="3606800"/>
                    <a:pt x="145288" y="3606800"/>
                  </a:cubicBezTo>
                  <a:lnTo>
                    <a:pt x="5137277" y="3606800"/>
                  </a:lnTo>
                  <a:cubicBezTo>
                    <a:pt x="5210556" y="3606800"/>
                    <a:pt x="5269865" y="3547491"/>
                    <a:pt x="5269865" y="3474339"/>
                  </a:cubicBezTo>
                  <a:lnTo>
                    <a:pt x="5269865" y="145161"/>
                  </a:lnTo>
                  <a:cubicBezTo>
                    <a:pt x="5269865" y="72009"/>
                    <a:pt x="5210556" y="12700"/>
                    <a:pt x="5137277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136" y="12700"/>
                    <a:pt x="12700" y="72009"/>
                    <a:pt x="12700" y="145161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139429" y="7162056"/>
            <a:ext cx="3408461" cy="425946"/>
            <a:chOff x="0" y="0"/>
            <a:chExt cx="4544615" cy="56792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544615" cy="567928"/>
            </a:xfrm>
            <a:custGeom>
              <a:avLst/>
              <a:gdLst/>
              <a:ahLst/>
              <a:cxnLst/>
              <a:rect l="l" t="t" r="r" b="b"/>
              <a:pathLst>
                <a:path w="4544615" h="567928">
                  <a:moveTo>
                    <a:pt x="0" y="0"/>
                  </a:moveTo>
                  <a:lnTo>
                    <a:pt x="4544615" y="0"/>
                  </a:lnTo>
                  <a:lnTo>
                    <a:pt x="4544615" y="567928"/>
                  </a:lnTo>
                  <a:lnTo>
                    <a:pt x="0" y="567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4544615" cy="5965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2625" spc="-5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Parallelization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24842" y="7736681"/>
            <a:ext cx="3437781" cy="1189881"/>
            <a:chOff x="0" y="0"/>
            <a:chExt cx="4583708" cy="158650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583708" cy="1586508"/>
            </a:xfrm>
            <a:custGeom>
              <a:avLst/>
              <a:gdLst/>
              <a:ahLst/>
              <a:cxnLst/>
              <a:rect l="l" t="t" r="r" b="b"/>
              <a:pathLst>
                <a:path w="4583708" h="1586508">
                  <a:moveTo>
                    <a:pt x="0" y="0"/>
                  </a:moveTo>
                  <a:lnTo>
                    <a:pt x="4583708" y="0"/>
                  </a:lnTo>
                  <a:lnTo>
                    <a:pt x="4583708" y="1586508"/>
                  </a:lnTo>
                  <a:lnTo>
                    <a:pt x="0" y="1586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76200"/>
              <a:ext cx="4583708" cy="1662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1937" spc="-38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Run tests and builds concurrently for faster execution.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062984" y="6899970"/>
            <a:ext cx="3961954" cy="2714625"/>
            <a:chOff x="0" y="0"/>
            <a:chExt cx="5282605" cy="3619500"/>
          </a:xfrm>
        </p:grpSpPr>
        <p:sp>
          <p:nvSpPr>
            <p:cNvPr id="58" name="Freeform 58"/>
            <p:cNvSpPr/>
            <p:nvPr/>
          </p:nvSpPr>
          <p:spPr>
            <a:xfrm>
              <a:off x="6350" y="6350"/>
              <a:ext cx="5269865" cy="3606800"/>
            </a:xfrm>
            <a:custGeom>
              <a:avLst/>
              <a:gdLst/>
              <a:ahLst/>
              <a:cxnLst/>
              <a:rect l="l" t="t" r="r" b="b"/>
              <a:pathLst>
                <a:path w="5269865" h="3606800">
                  <a:moveTo>
                    <a:pt x="0" y="138811"/>
                  </a:moveTo>
                  <a:cubicBezTo>
                    <a:pt x="0" y="62103"/>
                    <a:pt x="62230" y="0"/>
                    <a:pt x="138938" y="0"/>
                  </a:cubicBezTo>
                  <a:lnTo>
                    <a:pt x="5130927" y="0"/>
                  </a:lnTo>
                  <a:cubicBezTo>
                    <a:pt x="5207635" y="0"/>
                    <a:pt x="5269865" y="62103"/>
                    <a:pt x="5269865" y="138811"/>
                  </a:cubicBezTo>
                  <a:lnTo>
                    <a:pt x="5269865" y="3467989"/>
                  </a:lnTo>
                  <a:cubicBezTo>
                    <a:pt x="5269865" y="3544697"/>
                    <a:pt x="5207635" y="3606800"/>
                    <a:pt x="5130927" y="3606800"/>
                  </a:cubicBezTo>
                  <a:lnTo>
                    <a:pt x="138938" y="3606800"/>
                  </a:lnTo>
                  <a:cubicBezTo>
                    <a:pt x="62230" y="3606800"/>
                    <a:pt x="0" y="3544697"/>
                    <a:pt x="0" y="346798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5282565" cy="3619500"/>
            </a:xfrm>
            <a:custGeom>
              <a:avLst/>
              <a:gdLst/>
              <a:ahLst/>
              <a:cxnLst/>
              <a:rect l="l" t="t" r="r" b="b"/>
              <a:pathLst>
                <a:path w="5282565" h="3619500">
                  <a:moveTo>
                    <a:pt x="0" y="145161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5137277" y="0"/>
                  </a:lnTo>
                  <a:lnTo>
                    <a:pt x="5137277" y="6350"/>
                  </a:lnTo>
                  <a:lnTo>
                    <a:pt x="5137277" y="0"/>
                  </a:lnTo>
                  <a:cubicBezTo>
                    <a:pt x="5217541" y="0"/>
                    <a:pt x="5282565" y="65024"/>
                    <a:pt x="5282565" y="145161"/>
                  </a:cubicBezTo>
                  <a:lnTo>
                    <a:pt x="5276215" y="145161"/>
                  </a:lnTo>
                  <a:lnTo>
                    <a:pt x="5282565" y="145161"/>
                  </a:lnTo>
                  <a:lnTo>
                    <a:pt x="5282565" y="3474339"/>
                  </a:lnTo>
                  <a:lnTo>
                    <a:pt x="5276215" y="3474339"/>
                  </a:lnTo>
                  <a:lnTo>
                    <a:pt x="5282565" y="3474339"/>
                  </a:lnTo>
                  <a:cubicBezTo>
                    <a:pt x="5282565" y="3554476"/>
                    <a:pt x="5217541" y="3619500"/>
                    <a:pt x="5137277" y="3619500"/>
                  </a:cubicBezTo>
                  <a:lnTo>
                    <a:pt x="5137277" y="3613150"/>
                  </a:lnTo>
                  <a:lnTo>
                    <a:pt x="5137277" y="3619500"/>
                  </a:lnTo>
                  <a:lnTo>
                    <a:pt x="145288" y="3619500"/>
                  </a:lnTo>
                  <a:lnTo>
                    <a:pt x="145288" y="3613150"/>
                  </a:lnTo>
                  <a:lnTo>
                    <a:pt x="145288" y="3619500"/>
                  </a:lnTo>
                  <a:cubicBezTo>
                    <a:pt x="65024" y="3619500"/>
                    <a:pt x="0" y="3554476"/>
                    <a:pt x="0" y="3474339"/>
                  </a:cubicBezTo>
                  <a:lnTo>
                    <a:pt x="0" y="145161"/>
                  </a:lnTo>
                  <a:lnTo>
                    <a:pt x="6350" y="145161"/>
                  </a:lnTo>
                  <a:lnTo>
                    <a:pt x="0" y="145161"/>
                  </a:lnTo>
                  <a:moveTo>
                    <a:pt x="12700" y="145161"/>
                  </a:moveTo>
                  <a:lnTo>
                    <a:pt x="12700" y="3474339"/>
                  </a:lnTo>
                  <a:lnTo>
                    <a:pt x="6350" y="3474339"/>
                  </a:lnTo>
                  <a:lnTo>
                    <a:pt x="12700" y="3474339"/>
                  </a:lnTo>
                  <a:cubicBezTo>
                    <a:pt x="12700" y="3547491"/>
                    <a:pt x="72136" y="3606800"/>
                    <a:pt x="145288" y="3606800"/>
                  </a:cubicBezTo>
                  <a:lnTo>
                    <a:pt x="5137277" y="3606800"/>
                  </a:lnTo>
                  <a:cubicBezTo>
                    <a:pt x="5210556" y="3606800"/>
                    <a:pt x="5269865" y="3547491"/>
                    <a:pt x="5269865" y="3474339"/>
                  </a:cubicBezTo>
                  <a:lnTo>
                    <a:pt x="5269865" y="145161"/>
                  </a:lnTo>
                  <a:cubicBezTo>
                    <a:pt x="5269865" y="72009"/>
                    <a:pt x="5210556" y="12700"/>
                    <a:pt x="5137277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136" y="12700"/>
                    <a:pt x="12700" y="72009"/>
                    <a:pt x="12700" y="145161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5339655" y="7162056"/>
            <a:ext cx="3408461" cy="425946"/>
            <a:chOff x="0" y="0"/>
            <a:chExt cx="4544615" cy="56792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544615" cy="567928"/>
            </a:xfrm>
            <a:custGeom>
              <a:avLst/>
              <a:gdLst/>
              <a:ahLst/>
              <a:cxnLst/>
              <a:rect l="l" t="t" r="r" b="b"/>
              <a:pathLst>
                <a:path w="4544615" h="567928">
                  <a:moveTo>
                    <a:pt x="0" y="0"/>
                  </a:moveTo>
                  <a:lnTo>
                    <a:pt x="4544615" y="0"/>
                  </a:lnTo>
                  <a:lnTo>
                    <a:pt x="4544615" y="567928"/>
                  </a:lnTo>
                  <a:lnTo>
                    <a:pt x="0" y="567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4544615" cy="5965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2625" spc="-5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Caching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325070" y="7736681"/>
            <a:ext cx="3437781" cy="1189881"/>
            <a:chOff x="0" y="0"/>
            <a:chExt cx="4583708" cy="158650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583708" cy="1586508"/>
            </a:xfrm>
            <a:custGeom>
              <a:avLst/>
              <a:gdLst/>
              <a:ahLst/>
              <a:cxnLst/>
              <a:rect l="l" t="t" r="r" b="b"/>
              <a:pathLst>
                <a:path w="4583708" h="1586508">
                  <a:moveTo>
                    <a:pt x="0" y="0"/>
                  </a:moveTo>
                  <a:lnTo>
                    <a:pt x="4583708" y="0"/>
                  </a:lnTo>
                  <a:lnTo>
                    <a:pt x="4583708" y="1586508"/>
                  </a:lnTo>
                  <a:lnTo>
                    <a:pt x="0" y="1586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76200"/>
              <a:ext cx="4583708" cy="1662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1937" spc="-38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Store dependencies and artifacts to reduce redundant processing.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263211" y="6899970"/>
            <a:ext cx="3961954" cy="2714625"/>
            <a:chOff x="0" y="0"/>
            <a:chExt cx="5282605" cy="3619500"/>
          </a:xfrm>
        </p:grpSpPr>
        <p:sp>
          <p:nvSpPr>
            <p:cNvPr id="67" name="Freeform 67"/>
            <p:cNvSpPr/>
            <p:nvPr/>
          </p:nvSpPr>
          <p:spPr>
            <a:xfrm>
              <a:off x="6350" y="6350"/>
              <a:ext cx="5269865" cy="3606800"/>
            </a:xfrm>
            <a:custGeom>
              <a:avLst/>
              <a:gdLst/>
              <a:ahLst/>
              <a:cxnLst/>
              <a:rect l="l" t="t" r="r" b="b"/>
              <a:pathLst>
                <a:path w="5269865" h="3606800">
                  <a:moveTo>
                    <a:pt x="0" y="138811"/>
                  </a:moveTo>
                  <a:cubicBezTo>
                    <a:pt x="0" y="62103"/>
                    <a:pt x="62230" y="0"/>
                    <a:pt x="138938" y="0"/>
                  </a:cubicBezTo>
                  <a:lnTo>
                    <a:pt x="5130927" y="0"/>
                  </a:lnTo>
                  <a:cubicBezTo>
                    <a:pt x="5207635" y="0"/>
                    <a:pt x="5269865" y="62103"/>
                    <a:pt x="5269865" y="138811"/>
                  </a:cubicBezTo>
                  <a:lnTo>
                    <a:pt x="5269865" y="3467989"/>
                  </a:lnTo>
                  <a:cubicBezTo>
                    <a:pt x="5269865" y="3544697"/>
                    <a:pt x="5207635" y="3606800"/>
                    <a:pt x="5130927" y="3606800"/>
                  </a:cubicBezTo>
                  <a:lnTo>
                    <a:pt x="138938" y="3606800"/>
                  </a:lnTo>
                  <a:cubicBezTo>
                    <a:pt x="62230" y="3606800"/>
                    <a:pt x="0" y="3544697"/>
                    <a:pt x="0" y="346798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68" name="Freeform 68"/>
            <p:cNvSpPr/>
            <p:nvPr/>
          </p:nvSpPr>
          <p:spPr>
            <a:xfrm>
              <a:off x="0" y="0"/>
              <a:ext cx="5282565" cy="3619500"/>
            </a:xfrm>
            <a:custGeom>
              <a:avLst/>
              <a:gdLst/>
              <a:ahLst/>
              <a:cxnLst/>
              <a:rect l="l" t="t" r="r" b="b"/>
              <a:pathLst>
                <a:path w="5282565" h="3619500">
                  <a:moveTo>
                    <a:pt x="0" y="145161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5137277" y="0"/>
                  </a:lnTo>
                  <a:lnTo>
                    <a:pt x="5137277" y="6350"/>
                  </a:lnTo>
                  <a:lnTo>
                    <a:pt x="5137277" y="0"/>
                  </a:lnTo>
                  <a:cubicBezTo>
                    <a:pt x="5217541" y="0"/>
                    <a:pt x="5282565" y="65024"/>
                    <a:pt x="5282565" y="145161"/>
                  </a:cubicBezTo>
                  <a:lnTo>
                    <a:pt x="5276215" y="145161"/>
                  </a:lnTo>
                  <a:lnTo>
                    <a:pt x="5282565" y="145161"/>
                  </a:lnTo>
                  <a:lnTo>
                    <a:pt x="5282565" y="3474339"/>
                  </a:lnTo>
                  <a:lnTo>
                    <a:pt x="5276215" y="3474339"/>
                  </a:lnTo>
                  <a:lnTo>
                    <a:pt x="5282565" y="3474339"/>
                  </a:lnTo>
                  <a:cubicBezTo>
                    <a:pt x="5282565" y="3554476"/>
                    <a:pt x="5217541" y="3619500"/>
                    <a:pt x="5137277" y="3619500"/>
                  </a:cubicBezTo>
                  <a:lnTo>
                    <a:pt x="5137277" y="3613150"/>
                  </a:lnTo>
                  <a:lnTo>
                    <a:pt x="5137277" y="3619500"/>
                  </a:lnTo>
                  <a:lnTo>
                    <a:pt x="145288" y="3619500"/>
                  </a:lnTo>
                  <a:lnTo>
                    <a:pt x="145288" y="3613150"/>
                  </a:lnTo>
                  <a:lnTo>
                    <a:pt x="145288" y="3619500"/>
                  </a:lnTo>
                  <a:cubicBezTo>
                    <a:pt x="65024" y="3619500"/>
                    <a:pt x="0" y="3554476"/>
                    <a:pt x="0" y="3474339"/>
                  </a:cubicBezTo>
                  <a:lnTo>
                    <a:pt x="0" y="145161"/>
                  </a:lnTo>
                  <a:lnTo>
                    <a:pt x="6350" y="145161"/>
                  </a:lnTo>
                  <a:lnTo>
                    <a:pt x="0" y="145161"/>
                  </a:lnTo>
                  <a:moveTo>
                    <a:pt x="12700" y="145161"/>
                  </a:moveTo>
                  <a:lnTo>
                    <a:pt x="12700" y="3474339"/>
                  </a:lnTo>
                  <a:lnTo>
                    <a:pt x="6350" y="3474339"/>
                  </a:lnTo>
                  <a:lnTo>
                    <a:pt x="12700" y="3474339"/>
                  </a:lnTo>
                  <a:cubicBezTo>
                    <a:pt x="12700" y="3547491"/>
                    <a:pt x="72136" y="3606800"/>
                    <a:pt x="145288" y="3606800"/>
                  </a:cubicBezTo>
                  <a:lnTo>
                    <a:pt x="5137277" y="3606800"/>
                  </a:lnTo>
                  <a:cubicBezTo>
                    <a:pt x="5210556" y="3606800"/>
                    <a:pt x="5269865" y="3547491"/>
                    <a:pt x="5269865" y="3474339"/>
                  </a:cubicBezTo>
                  <a:lnTo>
                    <a:pt x="5269865" y="145161"/>
                  </a:lnTo>
                  <a:cubicBezTo>
                    <a:pt x="5269865" y="72009"/>
                    <a:pt x="5210556" y="12700"/>
                    <a:pt x="5137277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136" y="12700"/>
                    <a:pt x="12700" y="72009"/>
                    <a:pt x="12700" y="145161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9539882" y="7162056"/>
            <a:ext cx="3408461" cy="425946"/>
            <a:chOff x="0" y="0"/>
            <a:chExt cx="4544615" cy="56792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544615" cy="567928"/>
            </a:xfrm>
            <a:custGeom>
              <a:avLst/>
              <a:gdLst/>
              <a:ahLst/>
              <a:cxnLst/>
              <a:rect l="l" t="t" r="r" b="b"/>
              <a:pathLst>
                <a:path w="4544615" h="567928">
                  <a:moveTo>
                    <a:pt x="0" y="0"/>
                  </a:moveTo>
                  <a:lnTo>
                    <a:pt x="4544615" y="0"/>
                  </a:lnTo>
                  <a:lnTo>
                    <a:pt x="4544615" y="567928"/>
                  </a:lnTo>
                  <a:lnTo>
                    <a:pt x="0" y="567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4544615" cy="5965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2625" spc="-5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Streamlined pipelines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525298" y="7736681"/>
            <a:ext cx="3437781" cy="1189881"/>
            <a:chOff x="0" y="0"/>
            <a:chExt cx="4583708" cy="158650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583708" cy="1586508"/>
            </a:xfrm>
            <a:custGeom>
              <a:avLst/>
              <a:gdLst/>
              <a:ahLst/>
              <a:cxnLst/>
              <a:rect l="l" t="t" r="r" b="b"/>
              <a:pathLst>
                <a:path w="4583708" h="1586508">
                  <a:moveTo>
                    <a:pt x="0" y="0"/>
                  </a:moveTo>
                  <a:lnTo>
                    <a:pt x="4583708" y="0"/>
                  </a:lnTo>
                  <a:lnTo>
                    <a:pt x="4583708" y="1586508"/>
                  </a:lnTo>
                  <a:lnTo>
                    <a:pt x="0" y="1586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76200"/>
              <a:ext cx="4583708" cy="1662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1937" spc="-38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Remove unnecessary steps and automate testing, deployment, and monitoring.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463439" y="6899970"/>
            <a:ext cx="3961954" cy="2714625"/>
            <a:chOff x="0" y="0"/>
            <a:chExt cx="5282605" cy="3619500"/>
          </a:xfrm>
        </p:grpSpPr>
        <p:sp>
          <p:nvSpPr>
            <p:cNvPr id="76" name="Freeform 76"/>
            <p:cNvSpPr/>
            <p:nvPr/>
          </p:nvSpPr>
          <p:spPr>
            <a:xfrm>
              <a:off x="6350" y="6350"/>
              <a:ext cx="5269865" cy="3606800"/>
            </a:xfrm>
            <a:custGeom>
              <a:avLst/>
              <a:gdLst/>
              <a:ahLst/>
              <a:cxnLst/>
              <a:rect l="l" t="t" r="r" b="b"/>
              <a:pathLst>
                <a:path w="5269865" h="3606800">
                  <a:moveTo>
                    <a:pt x="0" y="138811"/>
                  </a:moveTo>
                  <a:cubicBezTo>
                    <a:pt x="0" y="62103"/>
                    <a:pt x="62230" y="0"/>
                    <a:pt x="138938" y="0"/>
                  </a:cubicBezTo>
                  <a:lnTo>
                    <a:pt x="5130927" y="0"/>
                  </a:lnTo>
                  <a:cubicBezTo>
                    <a:pt x="5207635" y="0"/>
                    <a:pt x="5269865" y="62103"/>
                    <a:pt x="5269865" y="138811"/>
                  </a:cubicBezTo>
                  <a:lnTo>
                    <a:pt x="5269865" y="3467989"/>
                  </a:lnTo>
                  <a:cubicBezTo>
                    <a:pt x="5269865" y="3544697"/>
                    <a:pt x="5207635" y="3606800"/>
                    <a:pt x="5130927" y="3606800"/>
                  </a:cubicBezTo>
                  <a:lnTo>
                    <a:pt x="138938" y="3606800"/>
                  </a:lnTo>
                  <a:cubicBezTo>
                    <a:pt x="62230" y="3606800"/>
                    <a:pt x="0" y="3544697"/>
                    <a:pt x="0" y="3467989"/>
                  </a:cubicBezTo>
                  <a:close/>
                </a:path>
              </a:pathLst>
            </a:custGeom>
            <a:solidFill>
              <a:srgbClr val="FAA1A1"/>
            </a:solidFill>
          </p:spPr>
        </p:sp>
        <p:sp>
          <p:nvSpPr>
            <p:cNvPr id="77" name="Freeform 77"/>
            <p:cNvSpPr/>
            <p:nvPr/>
          </p:nvSpPr>
          <p:spPr>
            <a:xfrm>
              <a:off x="0" y="0"/>
              <a:ext cx="5282565" cy="3619500"/>
            </a:xfrm>
            <a:custGeom>
              <a:avLst/>
              <a:gdLst/>
              <a:ahLst/>
              <a:cxnLst/>
              <a:rect l="l" t="t" r="r" b="b"/>
              <a:pathLst>
                <a:path w="5282565" h="3619500">
                  <a:moveTo>
                    <a:pt x="0" y="145161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5137277" y="0"/>
                  </a:lnTo>
                  <a:lnTo>
                    <a:pt x="5137277" y="6350"/>
                  </a:lnTo>
                  <a:lnTo>
                    <a:pt x="5137277" y="0"/>
                  </a:lnTo>
                  <a:cubicBezTo>
                    <a:pt x="5217541" y="0"/>
                    <a:pt x="5282565" y="65024"/>
                    <a:pt x="5282565" y="145161"/>
                  </a:cubicBezTo>
                  <a:lnTo>
                    <a:pt x="5276215" y="145161"/>
                  </a:lnTo>
                  <a:lnTo>
                    <a:pt x="5282565" y="145161"/>
                  </a:lnTo>
                  <a:lnTo>
                    <a:pt x="5282565" y="3474339"/>
                  </a:lnTo>
                  <a:lnTo>
                    <a:pt x="5276215" y="3474339"/>
                  </a:lnTo>
                  <a:lnTo>
                    <a:pt x="5282565" y="3474339"/>
                  </a:lnTo>
                  <a:cubicBezTo>
                    <a:pt x="5282565" y="3554476"/>
                    <a:pt x="5217541" y="3619500"/>
                    <a:pt x="5137277" y="3619500"/>
                  </a:cubicBezTo>
                  <a:lnTo>
                    <a:pt x="5137277" y="3613150"/>
                  </a:lnTo>
                  <a:lnTo>
                    <a:pt x="5137277" y="3619500"/>
                  </a:lnTo>
                  <a:lnTo>
                    <a:pt x="145288" y="3619500"/>
                  </a:lnTo>
                  <a:lnTo>
                    <a:pt x="145288" y="3613150"/>
                  </a:lnTo>
                  <a:lnTo>
                    <a:pt x="145288" y="3619500"/>
                  </a:lnTo>
                  <a:cubicBezTo>
                    <a:pt x="65024" y="3619500"/>
                    <a:pt x="0" y="3554476"/>
                    <a:pt x="0" y="3474339"/>
                  </a:cubicBezTo>
                  <a:lnTo>
                    <a:pt x="0" y="145161"/>
                  </a:lnTo>
                  <a:lnTo>
                    <a:pt x="6350" y="145161"/>
                  </a:lnTo>
                  <a:lnTo>
                    <a:pt x="0" y="145161"/>
                  </a:lnTo>
                  <a:moveTo>
                    <a:pt x="12700" y="145161"/>
                  </a:moveTo>
                  <a:lnTo>
                    <a:pt x="12700" y="3474339"/>
                  </a:lnTo>
                  <a:lnTo>
                    <a:pt x="6350" y="3474339"/>
                  </a:lnTo>
                  <a:lnTo>
                    <a:pt x="12700" y="3474339"/>
                  </a:lnTo>
                  <a:cubicBezTo>
                    <a:pt x="12700" y="3547491"/>
                    <a:pt x="72136" y="3606800"/>
                    <a:pt x="145288" y="3606800"/>
                  </a:cubicBezTo>
                  <a:lnTo>
                    <a:pt x="5137277" y="3606800"/>
                  </a:lnTo>
                  <a:cubicBezTo>
                    <a:pt x="5210556" y="3606800"/>
                    <a:pt x="5269865" y="3547491"/>
                    <a:pt x="5269865" y="3474339"/>
                  </a:cubicBezTo>
                  <a:lnTo>
                    <a:pt x="5269865" y="145161"/>
                  </a:lnTo>
                  <a:cubicBezTo>
                    <a:pt x="5269865" y="72009"/>
                    <a:pt x="5210556" y="12700"/>
                    <a:pt x="5137277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136" y="12700"/>
                    <a:pt x="12700" y="72009"/>
                    <a:pt x="12700" y="145161"/>
                  </a:cubicBezTo>
                  <a:close/>
                </a:path>
              </a:pathLst>
            </a:custGeom>
            <a:solidFill>
              <a:srgbClr val="E08787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13725525" y="7162056"/>
            <a:ext cx="3437781" cy="851892"/>
            <a:chOff x="0" y="0"/>
            <a:chExt cx="4583708" cy="1135857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583708" cy="1135857"/>
            </a:xfrm>
            <a:custGeom>
              <a:avLst/>
              <a:gdLst/>
              <a:ahLst/>
              <a:cxnLst/>
              <a:rect l="l" t="t" r="r" b="b"/>
              <a:pathLst>
                <a:path w="4583708" h="1135857">
                  <a:moveTo>
                    <a:pt x="0" y="0"/>
                  </a:moveTo>
                  <a:lnTo>
                    <a:pt x="4583708" y="0"/>
                  </a:lnTo>
                  <a:lnTo>
                    <a:pt x="4583708" y="1135857"/>
                  </a:lnTo>
                  <a:lnTo>
                    <a:pt x="0" y="11358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0" name="TextBox 80"/>
            <p:cNvSpPr txBox="1"/>
            <p:nvPr/>
          </p:nvSpPr>
          <p:spPr>
            <a:xfrm>
              <a:off x="0" y="-28575"/>
              <a:ext cx="4583708" cy="11644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2625" spc="-53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Continuous Optimization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3725525" y="8162627"/>
            <a:ext cx="3437781" cy="1189881"/>
            <a:chOff x="0" y="0"/>
            <a:chExt cx="4583708" cy="1586508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583708" cy="1586508"/>
            </a:xfrm>
            <a:custGeom>
              <a:avLst/>
              <a:gdLst/>
              <a:ahLst/>
              <a:cxnLst/>
              <a:rect l="l" t="t" r="r" b="b"/>
              <a:pathLst>
                <a:path w="4583708" h="1586508">
                  <a:moveTo>
                    <a:pt x="0" y="0"/>
                  </a:moveTo>
                  <a:lnTo>
                    <a:pt x="4583708" y="0"/>
                  </a:lnTo>
                  <a:lnTo>
                    <a:pt x="4583708" y="1586508"/>
                  </a:lnTo>
                  <a:lnTo>
                    <a:pt x="0" y="1586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3" name="TextBox 83"/>
            <p:cNvSpPr txBox="1"/>
            <p:nvPr/>
          </p:nvSpPr>
          <p:spPr>
            <a:xfrm>
              <a:off x="0" y="-76200"/>
              <a:ext cx="4583708" cy="1662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062"/>
                </a:lnSpc>
              </a:pPr>
              <a:r>
                <a:rPr lang="en-US" sz="1937" spc="-38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Regularly analyze CI performance and refine processes.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>
                <a:alpha val="72157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92238" y="1410891"/>
            <a:ext cx="7797105" cy="974526"/>
            <a:chOff x="0" y="0"/>
            <a:chExt cx="10396140" cy="12993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96140" cy="1299368"/>
            </a:xfrm>
            <a:custGeom>
              <a:avLst/>
              <a:gdLst/>
              <a:ahLst/>
              <a:cxnLst/>
              <a:rect l="l" t="t" r="r" b="b"/>
              <a:pathLst>
                <a:path w="10396140" h="1299368">
                  <a:moveTo>
                    <a:pt x="0" y="0"/>
                  </a:moveTo>
                  <a:lnTo>
                    <a:pt x="10396140" y="0"/>
                  </a:lnTo>
                  <a:lnTo>
                    <a:pt x="10396140" y="1299368"/>
                  </a:lnTo>
                  <a:lnTo>
                    <a:pt x="0" y="1299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396140" cy="13374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625"/>
                </a:lnSpc>
              </a:pPr>
              <a:r>
                <a:rPr lang="en-US" sz="6124" spc="-122">
                  <a:solidFill>
                    <a:srgbClr val="F95F88"/>
                  </a:solidFill>
                  <a:latin typeface="Petrona"/>
                  <a:ea typeface="Petrona"/>
                  <a:cs typeface="Petrona"/>
                  <a:sym typeface="Petrona"/>
                </a:rPr>
                <a:t>Conclusion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2238" y="2810619"/>
            <a:ext cx="16303526" cy="1133772"/>
            <a:chOff x="0" y="0"/>
            <a:chExt cx="21738035" cy="15116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21738035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 b="1" spc="-4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Test Types in CI</a:t>
              </a: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Automated tests (unit, integration, functional) ensure early bug detection and software reliability.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92238" y="4043511"/>
            <a:ext cx="16303526" cy="1133772"/>
            <a:chOff x="0" y="0"/>
            <a:chExt cx="21738035" cy="15116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21738035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 b="1" spc="-4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Artifact Management</a:t>
              </a: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Storing, versioning, and managing build artifacts improves deployment consistency and traceability.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92238" y="5276404"/>
            <a:ext cx="16303526" cy="1133772"/>
            <a:chOff x="0" y="0"/>
            <a:chExt cx="21738035" cy="15116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21738035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 b="1" spc="-4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Notification &amp; Reporting in CI</a:t>
              </a: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Real-time alerts and comprehensive reports enable faster issue resolution and better decision-making.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2238" y="6509296"/>
            <a:ext cx="16303526" cy="1133772"/>
            <a:chOff x="0" y="0"/>
            <a:chExt cx="21738035" cy="15116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21738035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 b="1" spc="-4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Different CI/CD Environments</a:t>
              </a: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Staged environments (Test, OneBox, Staging, Production) ensure stability, risk mitigation, and controlled rollouts.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2238" y="7742187"/>
            <a:ext cx="16303526" cy="1133772"/>
            <a:chOff x="0" y="0"/>
            <a:chExt cx="21738035" cy="151169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21738035" cy="1597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 b="1" spc="-4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CI Optimization &amp; Best Practices</a:t>
              </a: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: Caching, parallel execution, modular workflows, and automation enhance CI efficiency and speed.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1854</Words>
  <Application>Microsoft Macintosh PowerPoint</Application>
  <PresentationFormat>Custom</PresentationFormat>
  <Paragraphs>304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Consolas</vt:lpstr>
      <vt:lpstr>Inter Bold</vt:lpstr>
      <vt:lpstr>Inter</vt:lpstr>
      <vt:lpstr>Petrona</vt:lpstr>
      <vt:lpstr>Consolas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Advanced_CI - sec18.pptx</dc:title>
  <cp:lastModifiedBy>Alam, Anees</cp:lastModifiedBy>
  <cp:revision>2</cp:revision>
  <dcterms:created xsi:type="dcterms:W3CDTF">2006-08-16T00:00:00Z</dcterms:created>
  <dcterms:modified xsi:type="dcterms:W3CDTF">2025-03-16T08:51:57Z</dcterms:modified>
  <dc:identifier>DAGh3acfeCM</dc:identifier>
</cp:coreProperties>
</file>