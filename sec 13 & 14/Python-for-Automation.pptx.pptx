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DM Sans" pitchFamily="2" charset="77"/>
      <p:regular r:id="rId21"/>
      <p:bold r:id="rId22"/>
      <p:italic r:id="rId23"/>
      <p:boldItalic r:id="rId24"/>
    </p:embeddedFont>
    <p:embeddedFont>
      <p:font typeface="DM Sans Bold" pitchFamily="2" charset="77"/>
      <p:regular r:id="rId25"/>
      <p:bold r:id="rId26"/>
    </p:embeddedFont>
    <p:embeddedFont>
      <p:font typeface="PT Serif" panose="020A0603040505020204" pitchFamily="18" charset="77"/>
      <p:regular r:id="rId27"/>
    </p:embeddedFont>
    <p:embeddedFont>
      <p:font typeface="PT Serif Bold" panose="020A0603040505020204" pitchFamily="18" charset="77"/>
      <p:regular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88" autoAdjust="0"/>
  </p:normalViewPr>
  <p:slideViewPr>
    <p:cSldViewPr>
      <p:cViewPr varScale="1">
        <p:scale>
          <a:sx n="77" d="100"/>
          <a:sy n="77" d="100"/>
        </p:scale>
        <p:origin x="6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6ver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561505" y="3852565"/>
            <a:ext cx="9485176" cy="1201208"/>
            <a:chOff x="0" y="0"/>
            <a:chExt cx="12646901" cy="16016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646901" cy="1601611"/>
            </a:xfrm>
            <a:custGeom>
              <a:avLst/>
              <a:gdLst/>
              <a:ahLst/>
              <a:cxnLst/>
              <a:rect l="l" t="t" r="r" b="b"/>
              <a:pathLst>
                <a:path w="12646901" h="1601611">
                  <a:moveTo>
                    <a:pt x="0" y="0"/>
                  </a:moveTo>
                  <a:lnTo>
                    <a:pt x="12646901" y="0"/>
                  </a:lnTo>
                  <a:lnTo>
                    <a:pt x="12646901" y="1601611"/>
                  </a:lnTo>
                  <a:lnTo>
                    <a:pt x="0" y="16016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646901" cy="16397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7815"/>
                </a:lnSpc>
              </a:pPr>
              <a:r>
                <a:rPr lang="en-US" sz="6212" b="1">
                  <a:solidFill>
                    <a:srgbClr val="5E98F1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Python for Automation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22423" y="5053773"/>
            <a:ext cx="9445526" cy="474365"/>
            <a:chOff x="0" y="0"/>
            <a:chExt cx="12594035" cy="6324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4035" cy="632486"/>
            </a:xfrm>
            <a:custGeom>
              <a:avLst/>
              <a:gdLst/>
              <a:ahLst/>
              <a:cxnLst/>
              <a:rect l="l" t="t" r="r" b="b"/>
              <a:pathLst>
                <a:path w="12594035" h="632486">
                  <a:moveTo>
                    <a:pt x="0" y="0"/>
                  </a:moveTo>
                  <a:lnTo>
                    <a:pt x="12594035" y="0"/>
                  </a:lnTo>
                  <a:lnTo>
                    <a:pt x="12594035" y="632486"/>
                  </a:lnTo>
                  <a:lnTo>
                    <a:pt x="0" y="6324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12594035" cy="73726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051"/>
                </a:lnSpc>
              </a:pPr>
              <a:r>
                <a:rPr lang="en-US" sz="2487">
                  <a:solidFill>
                    <a:srgbClr val="5E98F1"/>
                  </a:solidFill>
                  <a:latin typeface="DM Sans"/>
                  <a:ea typeface="DM Sans"/>
                  <a:cs typeface="DM Sans"/>
                  <a:sym typeface="DM Sans"/>
                </a:rPr>
                <a:t>[Strings, Dates, Environments, and Libraries]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47054" y="8996363"/>
            <a:ext cx="1519946" cy="307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50"/>
              </a:lnSpc>
              <a:spcBef>
                <a:spcPct val="0"/>
              </a:spcBef>
            </a:pPr>
            <a:r>
              <a:rPr lang="en-US" sz="2350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Presenter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7054" y="9488488"/>
            <a:ext cx="4678142" cy="307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0"/>
              </a:lnSpc>
              <a:spcBef>
                <a:spcPct val="0"/>
              </a:spcBef>
            </a:pPr>
            <a:r>
              <a:rPr lang="en-US" sz="2350" b="1">
                <a:solidFill>
                  <a:srgbClr val="004AAD"/>
                </a:solidFill>
                <a:latin typeface="PT Serif Bold"/>
                <a:ea typeface="PT Serif Bold"/>
                <a:cs typeface="PT Serif Bold"/>
                <a:sym typeface="PT Serif Bold"/>
              </a:rPr>
              <a:t>Mohammad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7" y="791616"/>
            <a:ext cx="6326237" cy="951508"/>
            <a:chOff x="0" y="0"/>
            <a:chExt cx="8434983" cy="12686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34984" cy="1268677"/>
            </a:xfrm>
            <a:custGeom>
              <a:avLst/>
              <a:gdLst/>
              <a:ahLst/>
              <a:cxnLst/>
              <a:rect l="l" t="t" r="r" b="b"/>
              <a:pathLst>
                <a:path w="8434984" h="1268677">
                  <a:moveTo>
                    <a:pt x="0" y="0"/>
                  </a:moveTo>
                  <a:lnTo>
                    <a:pt x="8434984" y="0"/>
                  </a:lnTo>
                  <a:lnTo>
                    <a:pt x="8434984" y="1268677"/>
                  </a:lnTo>
                  <a:lnTo>
                    <a:pt x="0" y="1268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8434983" cy="12877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87"/>
                </a:lnSpc>
              </a:pPr>
              <a:r>
                <a:rPr lang="en-US" sz="493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Topics for today!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92238" y="2064246"/>
            <a:ext cx="1204912" cy="1486197"/>
          </a:xfrm>
          <a:custGeom>
            <a:avLst/>
            <a:gdLst/>
            <a:ahLst/>
            <a:cxnLst/>
            <a:rect l="l" t="t" r="r" b="b"/>
            <a:pathLst>
              <a:path w="1204912" h="1486197">
                <a:moveTo>
                  <a:pt x="0" y="0"/>
                </a:moveTo>
                <a:lnTo>
                  <a:pt x="1204912" y="0"/>
                </a:lnTo>
                <a:lnTo>
                  <a:pt x="1204912" y="1486198"/>
                </a:lnTo>
                <a:lnTo>
                  <a:pt x="0" y="1486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7" r="-2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558652" y="2305199"/>
            <a:ext cx="6954291" cy="474315"/>
            <a:chOff x="0" y="0"/>
            <a:chExt cx="9272388" cy="6324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72388" cy="632420"/>
            </a:xfrm>
            <a:custGeom>
              <a:avLst/>
              <a:gdLst/>
              <a:ahLst/>
              <a:cxnLst/>
              <a:rect l="l" t="t" r="r" b="b"/>
              <a:pathLst>
                <a:path w="9272388" h="632420">
                  <a:moveTo>
                    <a:pt x="0" y="0"/>
                  </a:moveTo>
                  <a:lnTo>
                    <a:pt x="9272388" y="0"/>
                  </a:lnTo>
                  <a:lnTo>
                    <a:pt x="9272388" y="632420"/>
                  </a:lnTo>
                  <a:lnTo>
                    <a:pt x="0" y="6324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9272388" cy="641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3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String Handling &amp; Date/Time Operations</a:t>
              </a:r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992238" y="3550444"/>
            <a:ext cx="1204912" cy="1486198"/>
          </a:xfrm>
          <a:custGeom>
            <a:avLst/>
            <a:gdLst/>
            <a:ahLst/>
            <a:cxnLst/>
            <a:rect l="l" t="t" r="r" b="b"/>
            <a:pathLst>
              <a:path w="1204912" h="1486198">
                <a:moveTo>
                  <a:pt x="0" y="0"/>
                </a:moveTo>
                <a:lnTo>
                  <a:pt x="1204912" y="0"/>
                </a:lnTo>
                <a:lnTo>
                  <a:pt x="1204912" y="1486197"/>
                </a:lnTo>
                <a:lnTo>
                  <a:pt x="0" y="1486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7" r="-2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2558652" y="3791396"/>
            <a:ext cx="6879431" cy="474315"/>
            <a:chOff x="0" y="0"/>
            <a:chExt cx="9172575" cy="6324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72575" cy="632420"/>
            </a:xfrm>
            <a:custGeom>
              <a:avLst/>
              <a:gdLst/>
              <a:ahLst/>
              <a:cxnLst/>
              <a:rect l="l" t="t" r="r" b="b"/>
              <a:pathLst>
                <a:path w="9172575" h="632420">
                  <a:moveTo>
                    <a:pt x="0" y="0"/>
                  </a:moveTo>
                  <a:lnTo>
                    <a:pt x="9172575" y="0"/>
                  </a:lnTo>
                  <a:lnTo>
                    <a:pt x="9172575" y="632420"/>
                  </a:lnTo>
                  <a:lnTo>
                    <a:pt x="0" y="6324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9172575" cy="641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3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Command-Line Arguments &amp; User Input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992238" y="5036641"/>
            <a:ext cx="1204912" cy="1486197"/>
          </a:xfrm>
          <a:custGeom>
            <a:avLst/>
            <a:gdLst/>
            <a:ahLst/>
            <a:cxnLst/>
            <a:rect l="l" t="t" r="r" b="b"/>
            <a:pathLst>
              <a:path w="1204912" h="1486197">
                <a:moveTo>
                  <a:pt x="0" y="0"/>
                </a:moveTo>
                <a:lnTo>
                  <a:pt x="1204912" y="0"/>
                </a:lnTo>
                <a:lnTo>
                  <a:pt x="1204912" y="1486198"/>
                </a:lnTo>
                <a:lnTo>
                  <a:pt x="0" y="14861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7" r="-2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2558652" y="5277594"/>
            <a:ext cx="7850981" cy="474315"/>
            <a:chOff x="0" y="0"/>
            <a:chExt cx="10467975" cy="6324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67975" cy="632420"/>
            </a:xfrm>
            <a:custGeom>
              <a:avLst/>
              <a:gdLst/>
              <a:ahLst/>
              <a:cxnLst/>
              <a:rect l="l" t="t" r="r" b="b"/>
              <a:pathLst>
                <a:path w="10467975" h="632420">
                  <a:moveTo>
                    <a:pt x="0" y="0"/>
                  </a:moveTo>
                  <a:lnTo>
                    <a:pt x="10467975" y="0"/>
                  </a:lnTo>
                  <a:lnTo>
                    <a:pt x="10467975" y="632420"/>
                  </a:lnTo>
                  <a:lnTo>
                    <a:pt x="0" y="6324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0467975" cy="641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3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Virtual Environments &amp; Package Management</a:t>
              </a:r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992238" y="6522839"/>
            <a:ext cx="1204912" cy="1486198"/>
          </a:xfrm>
          <a:custGeom>
            <a:avLst/>
            <a:gdLst/>
            <a:ahLst/>
            <a:cxnLst/>
            <a:rect l="l" t="t" r="r" b="b"/>
            <a:pathLst>
              <a:path w="1204912" h="1486198">
                <a:moveTo>
                  <a:pt x="0" y="0"/>
                </a:moveTo>
                <a:lnTo>
                  <a:pt x="1204912" y="0"/>
                </a:lnTo>
                <a:lnTo>
                  <a:pt x="1204912" y="1486197"/>
                </a:lnTo>
                <a:lnTo>
                  <a:pt x="0" y="1486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7" r="-2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2558652" y="6763791"/>
            <a:ext cx="4175075" cy="474315"/>
            <a:chOff x="0" y="0"/>
            <a:chExt cx="5566767" cy="6324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566767" cy="632420"/>
            </a:xfrm>
            <a:custGeom>
              <a:avLst/>
              <a:gdLst/>
              <a:ahLst/>
              <a:cxnLst/>
              <a:rect l="l" t="t" r="r" b="b"/>
              <a:pathLst>
                <a:path w="5566767" h="632420">
                  <a:moveTo>
                    <a:pt x="0" y="0"/>
                  </a:moveTo>
                  <a:lnTo>
                    <a:pt x="5566767" y="0"/>
                  </a:lnTo>
                  <a:lnTo>
                    <a:pt x="5566767" y="632420"/>
                  </a:lnTo>
                  <a:lnTo>
                    <a:pt x="0" y="6324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5566767" cy="641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3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Libraries for Automation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992238" y="8009036"/>
            <a:ext cx="1204912" cy="1486198"/>
          </a:xfrm>
          <a:custGeom>
            <a:avLst/>
            <a:gdLst/>
            <a:ahLst/>
            <a:cxnLst/>
            <a:rect l="l" t="t" r="r" b="b"/>
            <a:pathLst>
              <a:path w="1204912" h="1486198">
                <a:moveTo>
                  <a:pt x="0" y="0"/>
                </a:moveTo>
                <a:lnTo>
                  <a:pt x="1204912" y="0"/>
                </a:lnTo>
                <a:lnTo>
                  <a:pt x="1204912" y="1486198"/>
                </a:lnTo>
                <a:lnTo>
                  <a:pt x="0" y="14861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07" r="-20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2558652" y="8249990"/>
            <a:ext cx="3795712" cy="474315"/>
            <a:chOff x="0" y="0"/>
            <a:chExt cx="5060950" cy="6324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60950" cy="632420"/>
            </a:xfrm>
            <a:custGeom>
              <a:avLst/>
              <a:gdLst/>
              <a:ahLst/>
              <a:cxnLst/>
              <a:rect l="l" t="t" r="r" b="b"/>
              <a:pathLst>
                <a:path w="5060950" h="632420">
                  <a:moveTo>
                    <a:pt x="0" y="0"/>
                  </a:moveTo>
                  <a:lnTo>
                    <a:pt x="5060950" y="0"/>
                  </a:lnTo>
                  <a:lnTo>
                    <a:pt x="5060950" y="632420"/>
                  </a:lnTo>
                  <a:lnTo>
                    <a:pt x="0" y="6324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060950" cy="641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87"/>
                </a:lnSpc>
              </a:pPr>
              <a:r>
                <a:rPr lang="en-US" sz="293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Hands-on Activities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7" y="929387"/>
            <a:ext cx="6852535" cy="818897"/>
            <a:chOff x="0" y="0"/>
            <a:chExt cx="9136713" cy="10918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36713" cy="1091862"/>
            </a:xfrm>
            <a:custGeom>
              <a:avLst/>
              <a:gdLst/>
              <a:ahLst/>
              <a:cxnLst/>
              <a:rect l="l" t="t" r="r" b="b"/>
              <a:pathLst>
                <a:path w="9136713" h="1091862">
                  <a:moveTo>
                    <a:pt x="0" y="0"/>
                  </a:moveTo>
                  <a:lnTo>
                    <a:pt x="9136713" y="0"/>
                  </a:lnTo>
                  <a:lnTo>
                    <a:pt x="9136713" y="1091862"/>
                  </a:lnTo>
                  <a:lnTo>
                    <a:pt x="0" y="10918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9136713" cy="11109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377"/>
                </a:lnSpc>
              </a:pPr>
              <a:r>
                <a:rPr lang="en-US" sz="426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String Handling in Python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7" y="1967359"/>
            <a:ext cx="16303526" cy="429041"/>
            <a:chOff x="0" y="0"/>
            <a:chExt cx="21738035" cy="5720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572055"/>
            </a:xfrm>
            <a:custGeom>
              <a:avLst/>
              <a:gdLst/>
              <a:ahLst/>
              <a:cxnLst/>
              <a:rect l="l" t="t" r="r" b="b"/>
              <a:pathLst>
                <a:path w="21738034" h="572055">
                  <a:moveTo>
                    <a:pt x="0" y="0"/>
                  </a:moveTo>
                  <a:lnTo>
                    <a:pt x="21738034" y="0"/>
                  </a:lnTo>
                  <a:lnTo>
                    <a:pt x="21738034" y="572055"/>
                  </a:lnTo>
                  <a:lnTo>
                    <a:pt x="0" y="5720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1738035" cy="657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1211" lvl="1" indent="-170606" algn="l">
                <a:lnSpc>
                  <a:spcPts val="3619"/>
                </a:lnSpc>
                <a:buFont typeface="Arial"/>
                <a:buChar char="•"/>
              </a:pPr>
              <a:r>
                <a:rPr lang="en-US" sz="22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Strings are one of the most frequently used data types in Python.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985739" y="2687636"/>
            <a:ext cx="3125838" cy="544464"/>
            <a:chOff x="0" y="0"/>
            <a:chExt cx="4167783" cy="7259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67783" cy="725952"/>
            </a:xfrm>
            <a:custGeom>
              <a:avLst/>
              <a:gdLst/>
              <a:ahLst/>
              <a:cxnLst/>
              <a:rect l="l" t="t" r="r" b="b"/>
              <a:pathLst>
                <a:path w="4167783" h="725952">
                  <a:moveTo>
                    <a:pt x="0" y="0"/>
                  </a:moveTo>
                  <a:lnTo>
                    <a:pt x="4167783" y="0"/>
                  </a:lnTo>
                  <a:lnTo>
                    <a:pt x="4167783" y="725952"/>
                  </a:lnTo>
                  <a:lnTo>
                    <a:pt x="0" y="7259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167783" cy="735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5"/>
                </a:lnSpc>
              </a:pPr>
              <a:r>
                <a:rPr lang="en-US" sz="2837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Slicing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8" y="3374975"/>
            <a:ext cx="5262471" cy="827144"/>
            <a:chOff x="0" y="0"/>
            <a:chExt cx="7016628" cy="110285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16628" cy="1102859"/>
            </a:xfrm>
            <a:custGeom>
              <a:avLst/>
              <a:gdLst/>
              <a:ahLst/>
              <a:cxnLst/>
              <a:rect l="l" t="t" r="r" b="b"/>
              <a:pathLst>
                <a:path w="7016628" h="1102859">
                  <a:moveTo>
                    <a:pt x="0" y="0"/>
                  </a:moveTo>
                  <a:lnTo>
                    <a:pt x="7016628" y="0"/>
                  </a:lnTo>
                  <a:lnTo>
                    <a:pt x="7016628" y="1102859"/>
                  </a:lnTo>
                  <a:lnTo>
                    <a:pt x="0" y="11028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7016628" cy="1188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7"/>
                </a:lnSpc>
              </a:pPr>
              <a:r>
                <a:rPr lang="en-US" sz="21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Allows you to extract a specific portion of a string using the </a:t>
              </a:r>
              <a:r>
                <a:rPr lang="en-US" sz="2137" u="sng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indexing mechanism</a:t>
              </a:r>
              <a:r>
                <a:rPr lang="en-US" sz="21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8" y="4630744"/>
            <a:ext cx="5112841" cy="398519"/>
            <a:chOff x="0" y="0"/>
            <a:chExt cx="6817122" cy="5313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17122" cy="531359"/>
            </a:xfrm>
            <a:custGeom>
              <a:avLst/>
              <a:gdLst/>
              <a:ahLst/>
              <a:cxnLst/>
              <a:rect l="l" t="t" r="r" b="b"/>
              <a:pathLst>
                <a:path w="6817122" h="531359">
                  <a:moveTo>
                    <a:pt x="0" y="0"/>
                  </a:moveTo>
                  <a:lnTo>
                    <a:pt x="6817122" y="0"/>
                  </a:lnTo>
                  <a:lnTo>
                    <a:pt x="6817122" y="531359"/>
                  </a:lnTo>
                  <a:lnTo>
                    <a:pt x="0" y="531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6817122" cy="617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7"/>
                </a:lnSpc>
              </a:pPr>
              <a:r>
                <a:rPr lang="en-US" sz="2137" u="sng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Syntax</a:t>
              </a:r>
              <a:r>
                <a:rPr lang="en-US" sz="21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2415" y="5143500"/>
            <a:ext cx="5112841" cy="415552"/>
            <a:chOff x="0" y="0"/>
            <a:chExt cx="6817122" cy="55407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17122" cy="554070"/>
            </a:xfrm>
            <a:custGeom>
              <a:avLst/>
              <a:gdLst/>
              <a:ahLst/>
              <a:cxnLst/>
              <a:rect l="l" t="t" r="r" b="b"/>
              <a:pathLst>
                <a:path w="6817122" h="554070">
                  <a:moveTo>
                    <a:pt x="0" y="0"/>
                  </a:moveTo>
                  <a:lnTo>
                    <a:pt x="6817122" y="0"/>
                  </a:lnTo>
                  <a:lnTo>
                    <a:pt x="6817122" y="554070"/>
                  </a:lnTo>
                  <a:lnTo>
                    <a:pt x="0" y="5540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33350"/>
              <a:ext cx="6817122" cy="687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7"/>
                </a:lnSpc>
              </a:pPr>
              <a:r>
                <a:rPr lang="en-US" sz="213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string[start:end]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2238" y="6128147"/>
            <a:ext cx="5112841" cy="1250454"/>
            <a:chOff x="0" y="0"/>
            <a:chExt cx="6817122" cy="16672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17233" cy="1667383"/>
            </a:xfrm>
            <a:custGeom>
              <a:avLst/>
              <a:gdLst/>
              <a:ahLst/>
              <a:cxnLst/>
              <a:rect l="l" t="t" r="r" b="b"/>
              <a:pathLst>
                <a:path w="6817233" h="1667383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6777482" y="0"/>
                  </a:lnTo>
                  <a:cubicBezTo>
                    <a:pt x="6799452" y="0"/>
                    <a:pt x="6817233" y="17780"/>
                    <a:pt x="6817233" y="39751"/>
                  </a:cubicBezTo>
                  <a:lnTo>
                    <a:pt x="6817233" y="1627632"/>
                  </a:lnTo>
                  <a:cubicBezTo>
                    <a:pt x="6817233" y="1649603"/>
                    <a:pt x="6799452" y="1667383"/>
                    <a:pt x="6777482" y="1667383"/>
                  </a:cubicBezTo>
                  <a:lnTo>
                    <a:pt x="39751" y="1667383"/>
                  </a:lnTo>
                  <a:cubicBezTo>
                    <a:pt x="17780" y="1667383"/>
                    <a:pt x="0" y="1649603"/>
                    <a:pt x="0" y="1627632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82415" y="6128147"/>
            <a:ext cx="5132486" cy="1453596"/>
            <a:chOff x="0" y="0"/>
            <a:chExt cx="6843315" cy="193812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843395" cy="1938239"/>
            </a:xfrm>
            <a:custGeom>
              <a:avLst/>
              <a:gdLst/>
              <a:ahLst/>
              <a:cxnLst/>
              <a:rect l="l" t="t" r="r" b="b"/>
              <a:pathLst>
                <a:path w="6843395" h="1938239">
                  <a:moveTo>
                    <a:pt x="0" y="46209"/>
                  </a:moveTo>
                  <a:cubicBezTo>
                    <a:pt x="0" y="20668"/>
                    <a:pt x="17780" y="0"/>
                    <a:pt x="39751" y="0"/>
                  </a:cubicBezTo>
                  <a:lnTo>
                    <a:pt x="6803644" y="0"/>
                  </a:lnTo>
                  <a:cubicBezTo>
                    <a:pt x="6825614" y="0"/>
                    <a:pt x="6843395" y="20668"/>
                    <a:pt x="6843395" y="46209"/>
                  </a:cubicBezTo>
                  <a:lnTo>
                    <a:pt x="6843395" y="1892048"/>
                  </a:lnTo>
                  <a:cubicBezTo>
                    <a:pt x="6843395" y="1917588"/>
                    <a:pt x="6825614" y="1938239"/>
                    <a:pt x="6803644" y="1938239"/>
                  </a:cubicBezTo>
                  <a:lnTo>
                    <a:pt x="39751" y="1938239"/>
                  </a:lnTo>
                  <a:cubicBezTo>
                    <a:pt x="17780" y="1938239"/>
                    <a:pt x="0" y="1917588"/>
                    <a:pt x="0" y="1892048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0802" y="6276975"/>
            <a:ext cx="4735711" cy="1304768"/>
            <a:chOff x="0" y="0"/>
            <a:chExt cx="6314282" cy="173969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314282" cy="1739691"/>
            </a:xfrm>
            <a:custGeom>
              <a:avLst/>
              <a:gdLst/>
              <a:ahLst/>
              <a:cxnLst/>
              <a:rect l="l" t="t" r="r" b="b"/>
              <a:pathLst>
                <a:path w="6314282" h="1739691">
                  <a:moveTo>
                    <a:pt x="0" y="0"/>
                  </a:moveTo>
                  <a:lnTo>
                    <a:pt x="6314282" y="0"/>
                  </a:lnTo>
                  <a:lnTo>
                    <a:pt x="6314282" y="1739691"/>
                  </a:lnTo>
                  <a:lnTo>
                    <a:pt x="0" y="17396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23825"/>
              <a:ext cx="6314282" cy="1863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59"/>
                </a:lnSpc>
              </a:pPr>
              <a:r>
                <a:rPr lang="en-US" sz="216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string = "Hello, World!"</a:t>
              </a:r>
            </a:p>
            <a:p>
              <a:pPr algn="l">
                <a:lnSpc>
                  <a:spcPts val="3459"/>
                </a:lnSpc>
              </a:pPr>
              <a:r>
                <a:rPr lang="en-US" sz="216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substring = string[0:5]</a:t>
              </a:r>
            </a:p>
            <a:p>
              <a:pPr algn="l">
                <a:lnSpc>
                  <a:spcPts val="3459"/>
                </a:lnSpc>
              </a:pPr>
              <a:r>
                <a:rPr lang="en-US" sz="216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print(substring)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81081" y="2687636"/>
            <a:ext cx="3125837" cy="544464"/>
            <a:chOff x="0" y="0"/>
            <a:chExt cx="4167783" cy="72595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167783" cy="725952"/>
            </a:xfrm>
            <a:custGeom>
              <a:avLst/>
              <a:gdLst/>
              <a:ahLst/>
              <a:cxnLst/>
              <a:rect l="l" t="t" r="r" b="b"/>
              <a:pathLst>
                <a:path w="4167783" h="725952">
                  <a:moveTo>
                    <a:pt x="0" y="0"/>
                  </a:moveTo>
                  <a:lnTo>
                    <a:pt x="4167783" y="0"/>
                  </a:lnTo>
                  <a:lnTo>
                    <a:pt x="4167783" y="725952"/>
                  </a:lnTo>
                  <a:lnTo>
                    <a:pt x="0" y="7259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4167783" cy="735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5"/>
                </a:lnSpc>
              </a:pPr>
              <a:r>
                <a:rPr lang="en-US" sz="2837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Concatenation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98592" y="3374975"/>
            <a:ext cx="5111204" cy="827144"/>
            <a:chOff x="0" y="0"/>
            <a:chExt cx="6814938" cy="110285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814938" cy="1102859"/>
            </a:xfrm>
            <a:custGeom>
              <a:avLst/>
              <a:gdLst/>
              <a:ahLst/>
              <a:cxnLst/>
              <a:rect l="l" t="t" r="r" b="b"/>
              <a:pathLst>
                <a:path w="6814938" h="1102859">
                  <a:moveTo>
                    <a:pt x="0" y="0"/>
                  </a:moveTo>
                  <a:lnTo>
                    <a:pt x="6814938" y="0"/>
                  </a:lnTo>
                  <a:lnTo>
                    <a:pt x="6814938" y="1102859"/>
                  </a:lnTo>
                  <a:lnTo>
                    <a:pt x="0" y="11028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85725"/>
              <a:ext cx="6814938" cy="1188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7"/>
                </a:lnSpc>
              </a:pPr>
              <a:r>
                <a:rPr lang="en-US" sz="21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The process of joining two or more strings together.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598592" y="4347419"/>
            <a:ext cx="5111204" cy="827144"/>
            <a:chOff x="0" y="0"/>
            <a:chExt cx="6814938" cy="110285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814938" cy="1102859"/>
            </a:xfrm>
            <a:custGeom>
              <a:avLst/>
              <a:gdLst/>
              <a:ahLst/>
              <a:cxnLst/>
              <a:rect l="l" t="t" r="r" b="b"/>
              <a:pathLst>
                <a:path w="6814938" h="1102859">
                  <a:moveTo>
                    <a:pt x="0" y="0"/>
                  </a:moveTo>
                  <a:lnTo>
                    <a:pt x="6814938" y="0"/>
                  </a:lnTo>
                  <a:lnTo>
                    <a:pt x="6814938" y="1102859"/>
                  </a:lnTo>
                  <a:lnTo>
                    <a:pt x="0" y="11028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6814938" cy="1188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7"/>
                </a:lnSpc>
              </a:pPr>
              <a:r>
                <a:rPr lang="en-US" sz="21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You concatenate strings using the </a:t>
              </a:r>
              <a:r>
                <a:rPr lang="en-US" sz="213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+</a:t>
              </a:r>
              <a:r>
                <a:rPr lang="en-US" sz="21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operator.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598592" y="5319861"/>
            <a:ext cx="5111204" cy="398519"/>
            <a:chOff x="0" y="0"/>
            <a:chExt cx="6814938" cy="53135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814938" cy="531359"/>
            </a:xfrm>
            <a:custGeom>
              <a:avLst/>
              <a:gdLst/>
              <a:ahLst/>
              <a:cxnLst/>
              <a:rect l="l" t="t" r="r" b="b"/>
              <a:pathLst>
                <a:path w="6814938" h="531359">
                  <a:moveTo>
                    <a:pt x="0" y="0"/>
                  </a:moveTo>
                  <a:lnTo>
                    <a:pt x="6814938" y="0"/>
                  </a:lnTo>
                  <a:lnTo>
                    <a:pt x="6814938" y="531359"/>
                  </a:lnTo>
                  <a:lnTo>
                    <a:pt x="0" y="531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85725"/>
              <a:ext cx="6814938" cy="617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7"/>
                </a:lnSpc>
              </a:pPr>
              <a:r>
                <a:rPr lang="en-US" sz="2137" u="sng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Syntax</a:t>
              </a:r>
              <a:r>
                <a:rPr lang="en-US" sz="21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598592" y="5895380"/>
            <a:ext cx="5111204" cy="406450"/>
            <a:chOff x="0" y="0"/>
            <a:chExt cx="6814938" cy="54193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814938" cy="541933"/>
            </a:xfrm>
            <a:custGeom>
              <a:avLst/>
              <a:gdLst/>
              <a:ahLst/>
              <a:cxnLst/>
              <a:rect l="l" t="t" r="r" b="b"/>
              <a:pathLst>
                <a:path w="6814938" h="541933">
                  <a:moveTo>
                    <a:pt x="0" y="0"/>
                  </a:moveTo>
                  <a:lnTo>
                    <a:pt x="6814938" y="0"/>
                  </a:lnTo>
                  <a:lnTo>
                    <a:pt x="6814938" y="541933"/>
                  </a:lnTo>
                  <a:lnTo>
                    <a:pt x="0" y="5419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04775"/>
              <a:ext cx="6814938" cy="6467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65807" lvl="1" indent="-132904" algn="l">
                <a:lnSpc>
                  <a:spcPts val="2820"/>
                </a:lnSpc>
                <a:buAutoNum type="arabicPeriod"/>
              </a:pPr>
              <a:r>
                <a:rPr lang="en-US" sz="176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string1 + string2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98592" y="6371184"/>
            <a:ext cx="5111204" cy="406450"/>
            <a:chOff x="0" y="0"/>
            <a:chExt cx="6814938" cy="54193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814938" cy="541933"/>
            </a:xfrm>
            <a:custGeom>
              <a:avLst/>
              <a:gdLst/>
              <a:ahLst/>
              <a:cxnLst/>
              <a:rect l="l" t="t" r="r" b="b"/>
              <a:pathLst>
                <a:path w="6814938" h="541933">
                  <a:moveTo>
                    <a:pt x="0" y="0"/>
                  </a:moveTo>
                  <a:lnTo>
                    <a:pt x="6814938" y="0"/>
                  </a:lnTo>
                  <a:lnTo>
                    <a:pt x="6814938" y="541933"/>
                  </a:lnTo>
                  <a:lnTo>
                    <a:pt x="0" y="5419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04775"/>
              <a:ext cx="6814938" cy="6467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265807" lvl="1" indent="-132904" algn="l">
                <a:lnSpc>
                  <a:spcPts val="2820"/>
                </a:lnSpc>
                <a:buAutoNum type="arabicPeriod"/>
              </a:pPr>
              <a:r>
                <a:rPr lang="en-US" sz="176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string1 + " " + string2 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598592" y="6956226"/>
            <a:ext cx="5111204" cy="398519"/>
            <a:chOff x="0" y="0"/>
            <a:chExt cx="6814938" cy="531359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814938" cy="531359"/>
            </a:xfrm>
            <a:custGeom>
              <a:avLst/>
              <a:gdLst/>
              <a:ahLst/>
              <a:cxnLst/>
              <a:rect l="l" t="t" r="r" b="b"/>
              <a:pathLst>
                <a:path w="6814938" h="531359">
                  <a:moveTo>
                    <a:pt x="0" y="0"/>
                  </a:moveTo>
                  <a:lnTo>
                    <a:pt x="6814938" y="0"/>
                  </a:lnTo>
                  <a:lnTo>
                    <a:pt x="6814938" y="531359"/>
                  </a:lnTo>
                  <a:lnTo>
                    <a:pt x="0" y="531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85725"/>
              <a:ext cx="6814938" cy="617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7"/>
                </a:lnSpc>
              </a:pPr>
              <a:r>
                <a:rPr lang="en-US" sz="21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# Adding a space between the strings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598592" y="7576394"/>
            <a:ext cx="5111204" cy="1568053"/>
            <a:chOff x="0" y="0"/>
            <a:chExt cx="6814938" cy="209073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814947" cy="2090801"/>
            </a:xfrm>
            <a:custGeom>
              <a:avLst/>
              <a:gdLst/>
              <a:ahLst/>
              <a:cxnLst/>
              <a:rect l="l" t="t" r="r" b="b"/>
              <a:pathLst>
                <a:path w="6814947" h="2090801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6775196" y="0"/>
                  </a:lnTo>
                  <a:cubicBezTo>
                    <a:pt x="6797167" y="0"/>
                    <a:pt x="6814947" y="17780"/>
                    <a:pt x="6814947" y="39751"/>
                  </a:cubicBezTo>
                  <a:lnTo>
                    <a:pt x="6814947" y="2051050"/>
                  </a:lnTo>
                  <a:cubicBezTo>
                    <a:pt x="6814947" y="2073021"/>
                    <a:pt x="6797167" y="2090801"/>
                    <a:pt x="6775196" y="2090801"/>
                  </a:cubicBezTo>
                  <a:lnTo>
                    <a:pt x="39751" y="2090801"/>
                  </a:lnTo>
                  <a:cubicBezTo>
                    <a:pt x="17780" y="2090801"/>
                    <a:pt x="0" y="2073021"/>
                    <a:pt x="0" y="2051050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588770" y="7576394"/>
            <a:ext cx="5130850" cy="1777893"/>
            <a:chOff x="0" y="0"/>
            <a:chExt cx="6841133" cy="237052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841236" cy="2370589"/>
            </a:xfrm>
            <a:custGeom>
              <a:avLst/>
              <a:gdLst/>
              <a:ahLst/>
              <a:cxnLst/>
              <a:rect l="l" t="t" r="r" b="b"/>
              <a:pathLst>
                <a:path w="6841236" h="2370589">
                  <a:moveTo>
                    <a:pt x="0" y="45071"/>
                  </a:moveTo>
                  <a:cubicBezTo>
                    <a:pt x="0" y="20159"/>
                    <a:pt x="17780" y="0"/>
                    <a:pt x="39751" y="0"/>
                  </a:cubicBezTo>
                  <a:lnTo>
                    <a:pt x="6801485" y="0"/>
                  </a:lnTo>
                  <a:cubicBezTo>
                    <a:pt x="6823456" y="0"/>
                    <a:pt x="6841236" y="20159"/>
                    <a:pt x="6841236" y="45071"/>
                  </a:cubicBezTo>
                  <a:lnTo>
                    <a:pt x="6841236" y="2325527"/>
                  </a:lnTo>
                  <a:cubicBezTo>
                    <a:pt x="6841236" y="2350438"/>
                    <a:pt x="6823456" y="2370589"/>
                    <a:pt x="6801485" y="2370589"/>
                  </a:cubicBezTo>
                  <a:lnTo>
                    <a:pt x="39751" y="2370589"/>
                  </a:lnTo>
                  <a:cubicBezTo>
                    <a:pt x="17780" y="2370589"/>
                    <a:pt x="0" y="2350438"/>
                    <a:pt x="0" y="2325527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787157" y="7725221"/>
            <a:ext cx="4734074" cy="1629066"/>
            <a:chOff x="0" y="0"/>
            <a:chExt cx="6312098" cy="217208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312098" cy="2172088"/>
            </a:xfrm>
            <a:custGeom>
              <a:avLst/>
              <a:gdLst/>
              <a:ahLst/>
              <a:cxnLst/>
              <a:rect l="l" t="t" r="r" b="b"/>
              <a:pathLst>
                <a:path w="6312098" h="2172088">
                  <a:moveTo>
                    <a:pt x="0" y="0"/>
                  </a:moveTo>
                  <a:lnTo>
                    <a:pt x="6312098" y="0"/>
                  </a:lnTo>
                  <a:lnTo>
                    <a:pt x="6312098" y="2172088"/>
                  </a:lnTo>
                  <a:lnTo>
                    <a:pt x="0" y="217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114300"/>
              <a:ext cx="6312098" cy="2286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99"/>
                </a:lnSpc>
              </a:pPr>
              <a:r>
                <a:rPr lang="en-US" sz="206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greeting = "Hello"</a:t>
              </a:r>
            </a:p>
            <a:p>
              <a:pPr algn="l">
                <a:lnSpc>
                  <a:spcPts val="3299"/>
                </a:lnSpc>
              </a:pPr>
              <a:r>
                <a:rPr lang="en-US" sz="206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name = "World!"</a:t>
              </a:r>
            </a:p>
            <a:p>
              <a:pPr algn="l">
                <a:lnSpc>
                  <a:spcPts val="3299"/>
                </a:lnSpc>
              </a:pPr>
              <a:r>
                <a:rPr lang="en-US" sz="206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result = greeting + " " + name</a:t>
              </a:r>
            </a:p>
            <a:p>
              <a:pPr algn="l">
                <a:lnSpc>
                  <a:spcPts val="3299"/>
                </a:lnSpc>
              </a:pPr>
              <a:r>
                <a:rPr lang="en-US" sz="206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print(result)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985298" y="2716211"/>
            <a:ext cx="3537319" cy="544464"/>
            <a:chOff x="0" y="0"/>
            <a:chExt cx="4716426" cy="72595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716426" cy="725952"/>
            </a:xfrm>
            <a:custGeom>
              <a:avLst/>
              <a:gdLst/>
              <a:ahLst/>
              <a:cxnLst/>
              <a:rect l="l" t="t" r="r" b="b"/>
              <a:pathLst>
                <a:path w="4716426" h="725952">
                  <a:moveTo>
                    <a:pt x="0" y="0"/>
                  </a:moveTo>
                  <a:lnTo>
                    <a:pt x="4716426" y="0"/>
                  </a:lnTo>
                  <a:lnTo>
                    <a:pt x="4716426" y="725952"/>
                  </a:lnTo>
                  <a:lnTo>
                    <a:pt x="0" y="7259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4716426" cy="7354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65"/>
                </a:lnSpc>
              </a:pPr>
              <a:r>
                <a:rPr lang="en-US" sz="2837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F-String Formatting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203311" y="3374975"/>
            <a:ext cx="5111204" cy="1255769"/>
            <a:chOff x="0" y="0"/>
            <a:chExt cx="6814938" cy="167435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814938" cy="1674359"/>
            </a:xfrm>
            <a:custGeom>
              <a:avLst/>
              <a:gdLst/>
              <a:ahLst/>
              <a:cxnLst/>
              <a:rect l="l" t="t" r="r" b="b"/>
              <a:pathLst>
                <a:path w="6814938" h="1674359">
                  <a:moveTo>
                    <a:pt x="0" y="0"/>
                  </a:moveTo>
                  <a:lnTo>
                    <a:pt x="6814938" y="0"/>
                  </a:lnTo>
                  <a:lnTo>
                    <a:pt x="6814938" y="1674359"/>
                  </a:lnTo>
                  <a:lnTo>
                    <a:pt x="0" y="1674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85725"/>
              <a:ext cx="6814938" cy="1760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7"/>
                </a:lnSpc>
              </a:pPr>
              <a:r>
                <a:rPr lang="en-US" sz="21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Allow you to embed expressions directly inside string literals using curly braces {}.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2203311" y="4749117"/>
            <a:ext cx="5111204" cy="827144"/>
            <a:chOff x="0" y="0"/>
            <a:chExt cx="6814938" cy="1102859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6814938" cy="1102859"/>
            </a:xfrm>
            <a:custGeom>
              <a:avLst/>
              <a:gdLst/>
              <a:ahLst/>
              <a:cxnLst/>
              <a:rect l="l" t="t" r="r" b="b"/>
              <a:pathLst>
                <a:path w="6814938" h="1102859">
                  <a:moveTo>
                    <a:pt x="0" y="0"/>
                  </a:moveTo>
                  <a:lnTo>
                    <a:pt x="6814938" y="0"/>
                  </a:lnTo>
                  <a:lnTo>
                    <a:pt x="6814938" y="1102859"/>
                  </a:lnTo>
                  <a:lnTo>
                    <a:pt x="0" y="11028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85725"/>
              <a:ext cx="6814938" cy="1188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7"/>
                </a:lnSpc>
              </a:pPr>
              <a:r>
                <a:rPr lang="en-US" sz="21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This makes string formatting easier and more readable.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222957" y="5700086"/>
            <a:ext cx="5111204" cy="398519"/>
            <a:chOff x="0" y="0"/>
            <a:chExt cx="6814938" cy="531359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814938" cy="531359"/>
            </a:xfrm>
            <a:custGeom>
              <a:avLst/>
              <a:gdLst/>
              <a:ahLst/>
              <a:cxnLst/>
              <a:rect l="l" t="t" r="r" b="b"/>
              <a:pathLst>
                <a:path w="6814938" h="531359">
                  <a:moveTo>
                    <a:pt x="0" y="0"/>
                  </a:moveTo>
                  <a:lnTo>
                    <a:pt x="6814938" y="0"/>
                  </a:lnTo>
                  <a:lnTo>
                    <a:pt x="6814938" y="531359"/>
                  </a:lnTo>
                  <a:lnTo>
                    <a:pt x="0" y="531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85725"/>
              <a:ext cx="6814938" cy="6170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7"/>
                </a:lnSpc>
              </a:pPr>
              <a:r>
                <a:rPr lang="en-US" sz="2137" u="sng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Syntax</a:t>
              </a:r>
              <a:r>
                <a:rPr lang="en-US" sz="21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222958" y="6276975"/>
            <a:ext cx="5111204" cy="844177"/>
            <a:chOff x="0" y="0"/>
            <a:chExt cx="6814938" cy="112557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814938" cy="1125570"/>
            </a:xfrm>
            <a:custGeom>
              <a:avLst/>
              <a:gdLst/>
              <a:ahLst/>
              <a:cxnLst/>
              <a:rect l="l" t="t" r="r" b="b"/>
              <a:pathLst>
                <a:path w="6814938" h="1125570">
                  <a:moveTo>
                    <a:pt x="0" y="0"/>
                  </a:moveTo>
                  <a:lnTo>
                    <a:pt x="6814938" y="0"/>
                  </a:lnTo>
                  <a:lnTo>
                    <a:pt x="6814938" y="1125570"/>
                  </a:lnTo>
                  <a:lnTo>
                    <a:pt x="0" y="11255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133350"/>
              <a:ext cx="6814938" cy="12589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47"/>
                </a:lnSpc>
              </a:pPr>
              <a:r>
                <a:rPr lang="en-US" sz="213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f"some text {expression} more text"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203311" y="7249418"/>
            <a:ext cx="5111204" cy="1250454"/>
            <a:chOff x="0" y="0"/>
            <a:chExt cx="6814938" cy="166727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814947" cy="1667383"/>
            </a:xfrm>
            <a:custGeom>
              <a:avLst/>
              <a:gdLst/>
              <a:ahLst/>
              <a:cxnLst/>
              <a:rect l="l" t="t" r="r" b="b"/>
              <a:pathLst>
                <a:path w="6814947" h="1667383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6775196" y="0"/>
                  </a:lnTo>
                  <a:cubicBezTo>
                    <a:pt x="6797167" y="0"/>
                    <a:pt x="6814947" y="17780"/>
                    <a:pt x="6814947" y="39751"/>
                  </a:cubicBezTo>
                  <a:lnTo>
                    <a:pt x="6814947" y="1627632"/>
                  </a:lnTo>
                  <a:cubicBezTo>
                    <a:pt x="6814947" y="1649603"/>
                    <a:pt x="6797167" y="1667383"/>
                    <a:pt x="6775196" y="1667383"/>
                  </a:cubicBezTo>
                  <a:lnTo>
                    <a:pt x="39751" y="1667383"/>
                  </a:lnTo>
                  <a:cubicBezTo>
                    <a:pt x="17780" y="1667383"/>
                    <a:pt x="0" y="1649603"/>
                    <a:pt x="0" y="1627632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2203311" y="7378601"/>
            <a:ext cx="5130850" cy="1250454"/>
            <a:chOff x="0" y="0"/>
            <a:chExt cx="6841133" cy="166727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841236" cy="1667383"/>
            </a:xfrm>
            <a:custGeom>
              <a:avLst/>
              <a:gdLst/>
              <a:ahLst/>
              <a:cxnLst/>
              <a:rect l="l" t="t" r="r" b="b"/>
              <a:pathLst>
                <a:path w="6841236" h="1667383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6801485" y="0"/>
                  </a:lnTo>
                  <a:cubicBezTo>
                    <a:pt x="6823456" y="0"/>
                    <a:pt x="6841236" y="17780"/>
                    <a:pt x="6841236" y="39751"/>
                  </a:cubicBezTo>
                  <a:lnTo>
                    <a:pt x="6841236" y="1627632"/>
                  </a:lnTo>
                  <a:cubicBezTo>
                    <a:pt x="6841236" y="1649603"/>
                    <a:pt x="6823456" y="1667383"/>
                    <a:pt x="6801485" y="1667383"/>
                  </a:cubicBezTo>
                  <a:lnTo>
                    <a:pt x="39751" y="1667383"/>
                  </a:lnTo>
                  <a:cubicBezTo>
                    <a:pt x="17780" y="1667383"/>
                    <a:pt x="0" y="1649603"/>
                    <a:pt x="0" y="1627632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2391876" y="7378601"/>
            <a:ext cx="4734074" cy="1219491"/>
            <a:chOff x="0" y="0"/>
            <a:chExt cx="6312098" cy="162598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6312098" cy="1625988"/>
            </a:xfrm>
            <a:custGeom>
              <a:avLst/>
              <a:gdLst/>
              <a:ahLst/>
              <a:cxnLst/>
              <a:rect l="l" t="t" r="r" b="b"/>
              <a:pathLst>
                <a:path w="6312098" h="1625988">
                  <a:moveTo>
                    <a:pt x="0" y="0"/>
                  </a:moveTo>
                  <a:lnTo>
                    <a:pt x="6312098" y="0"/>
                  </a:lnTo>
                  <a:lnTo>
                    <a:pt x="6312098" y="1625988"/>
                  </a:lnTo>
                  <a:lnTo>
                    <a:pt x="0" y="16259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114300"/>
              <a:ext cx="6312098" cy="174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99"/>
                </a:lnSpc>
              </a:pPr>
              <a:r>
                <a:rPr lang="en-US" sz="206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name = "Alice"</a:t>
              </a:r>
            </a:p>
            <a:p>
              <a:pPr algn="l">
                <a:lnSpc>
                  <a:spcPts val="3299"/>
                </a:lnSpc>
              </a:pPr>
              <a:r>
                <a:rPr lang="en-US" sz="206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greeting = f"Hello, {name}!"</a:t>
              </a:r>
            </a:p>
            <a:p>
              <a:pPr algn="l">
                <a:lnSpc>
                  <a:spcPts val="3299"/>
                </a:lnSpc>
              </a:pPr>
              <a:r>
                <a:rPr lang="en-US" sz="206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print(greeting)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47589" y="744439"/>
            <a:ext cx="5865911" cy="737851"/>
            <a:chOff x="0" y="0"/>
            <a:chExt cx="7821215" cy="9838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21215" cy="983801"/>
            </a:xfrm>
            <a:custGeom>
              <a:avLst/>
              <a:gdLst/>
              <a:ahLst/>
              <a:cxnLst/>
              <a:rect l="l" t="t" r="r" b="b"/>
              <a:pathLst>
                <a:path w="7821215" h="983801">
                  <a:moveTo>
                    <a:pt x="0" y="0"/>
                  </a:moveTo>
                  <a:lnTo>
                    <a:pt x="7821215" y="0"/>
                  </a:lnTo>
                  <a:lnTo>
                    <a:pt x="7821215" y="983801"/>
                  </a:lnTo>
                  <a:lnTo>
                    <a:pt x="0" y="9838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7821215" cy="100285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748"/>
                </a:lnSpc>
              </a:pPr>
              <a:r>
                <a:rPr lang="en-US" sz="3825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Date/Time Operations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7589" y="1673721"/>
            <a:ext cx="16392822" cy="394789"/>
            <a:chOff x="0" y="0"/>
            <a:chExt cx="21857097" cy="5263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857097" cy="526385"/>
            </a:xfrm>
            <a:custGeom>
              <a:avLst/>
              <a:gdLst/>
              <a:ahLst/>
              <a:cxnLst/>
              <a:rect l="l" t="t" r="r" b="b"/>
              <a:pathLst>
                <a:path w="21857097" h="526385">
                  <a:moveTo>
                    <a:pt x="0" y="0"/>
                  </a:moveTo>
                  <a:lnTo>
                    <a:pt x="21857097" y="0"/>
                  </a:lnTo>
                  <a:lnTo>
                    <a:pt x="21857097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1857097" cy="62163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01"/>
                </a:lnSpc>
              </a:pPr>
              <a:r>
                <a:rPr lang="en-US" sz="20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datetime</a:t>
              </a:r>
              <a:r>
                <a:rPr lang="en-US" sz="208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</a:t>
              </a:r>
              <a:r>
                <a:rPr lang="en-US" sz="20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Module</a:t>
              </a:r>
              <a:r>
                <a:rPr lang="en-US" sz="208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:</a:t>
              </a:r>
              <a:r>
                <a:rPr lang="en-US" sz="20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A module that provides tools for working with dates and times.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7589" y="2233018"/>
            <a:ext cx="16392822" cy="394789"/>
            <a:chOff x="0" y="0"/>
            <a:chExt cx="21857097" cy="5263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57097" cy="526385"/>
            </a:xfrm>
            <a:custGeom>
              <a:avLst/>
              <a:gdLst/>
              <a:ahLst/>
              <a:cxnLst/>
              <a:rect l="l" t="t" r="r" b="b"/>
              <a:pathLst>
                <a:path w="21857097" h="526385">
                  <a:moveTo>
                    <a:pt x="0" y="0"/>
                  </a:moveTo>
                  <a:lnTo>
                    <a:pt x="21857097" y="0"/>
                  </a:lnTo>
                  <a:lnTo>
                    <a:pt x="21857097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1857097" cy="62163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01"/>
                </a:lnSpc>
              </a:pPr>
              <a:r>
                <a:rPr lang="en-US" sz="2087" u="sng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Use-cases</a:t>
              </a:r>
              <a:r>
                <a:rPr lang="en-US" sz="20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Logging events, formatting dates for display, or parsing user input.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7589" y="2782789"/>
            <a:ext cx="5346948" cy="6763642"/>
            <a:chOff x="0" y="0"/>
            <a:chExt cx="7129263" cy="90181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129273" cy="9018143"/>
            </a:xfrm>
            <a:custGeom>
              <a:avLst/>
              <a:gdLst/>
              <a:ahLst/>
              <a:cxnLst/>
              <a:rect l="l" t="t" r="r" b="b"/>
              <a:pathLst>
                <a:path w="7129273" h="9018143">
                  <a:moveTo>
                    <a:pt x="0" y="35179"/>
                  </a:moveTo>
                  <a:cubicBezTo>
                    <a:pt x="0" y="15748"/>
                    <a:pt x="15748" y="0"/>
                    <a:pt x="35179" y="0"/>
                  </a:cubicBezTo>
                  <a:lnTo>
                    <a:pt x="7094093" y="0"/>
                  </a:lnTo>
                  <a:cubicBezTo>
                    <a:pt x="7113525" y="0"/>
                    <a:pt x="7129273" y="15748"/>
                    <a:pt x="7129273" y="35179"/>
                  </a:cubicBezTo>
                  <a:lnTo>
                    <a:pt x="7129273" y="8982964"/>
                  </a:lnTo>
                  <a:cubicBezTo>
                    <a:pt x="7129273" y="9002395"/>
                    <a:pt x="7113525" y="9018143"/>
                    <a:pt x="7094093" y="9018143"/>
                  </a:cubicBezTo>
                  <a:lnTo>
                    <a:pt x="35179" y="9018143"/>
                  </a:lnTo>
                  <a:cubicBezTo>
                    <a:pt x="15748" y="9018143"/>
                    <a:pt x="0" y="9002395"/>
                    <a:pt x="0" y="898296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230264" y="2869875"/>
            <a:ext cx="2771775" cy="483520"/>
            <a:chOff x="0" y="0"/>
            <a:chExt cx="3695700" cy="64469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95700" cy="644693"/>
            </a:xfrm>
            <a:custGeom>
              <a:avLst/>
              <a:gdLst/>
              <a:ahLst/>
              <a:cxnLst/>
              <a:rect l="l" t="t" r="r" b="b"/>
              <a:pathLst>
                <a:path w="3695700" h="644693">
                  <a:moveTo>
                    <a:pt x="0" y="0"/>
                  </a:moveTo>
                  <a:lnTo>
                    <a:pt x="3695700" y="0"/>
                  </a:lnTo>
                  <a:lnTo>
                    <a:pt x="3695700" y="644693"/>
                  </a:lnTo>
                  <a:lnTo>
                    <a:pt x="0" y="644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3695700" cy="6542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93"/>
                </a:lnSpc>
              </a:pPr>
              <a:r>
                <a:rPr lang="en-US" sz="2524" b="1">
                  <a:solidFill>
                    <a:srgbClr val="000000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datetime.now()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23504" y="3410545"/>
            <a:ext cx="4995119" cy="786935"/>
            <a:chOff x="0" y="0"/>
            <a:chExt cx="6660158" cy="104924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60159" cy="1049246"/>
            </a:xfrm>
            <a:custGeom>
              <a:avLst/>
              <a:gdLst/>
              <a:ahLst/>
              <a:cxnLst/>
              <a:rect l="l" t="t" r="r" b="b"/>
              <a:pathLst>
                <a:path w="6660159" h="1049246">
                  <a:moveTo>
                    <a:pt x="0" y="0"/>
                  </a:moveTo>
                  <a:lnTo>
                    <a:pt x="6660159" y="0"/>
                  </a:lnTo>
                  <a:lnTo>
                    <a:pt x="6660159" y="1049246"/>
                  </a:lnTo>
                  <a:lnTo>
                    <a:pt x="0" y="10492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6660158" cy="11349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38"/>
                </a:lnSpc>
              </a:pPr>
              <a:r>
                <a:rPr lang="en-US" sz="1987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Fetches the current date and time in the system. 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23504" y="4481810"/>
            <a:ext cx="4995119" cy="786935"/>
            <a:chOff x="0" y="0"/>
            <a:chExt cx="6660158" cy="104924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60159" cy="1049246"/>
            </a:xfrm>
            <a:custGeom>
              <a:avLst/>
              <a:gdLst/>
              <a:ahLst/>
              <a:cxnLst/>
              <a:rect l="l" t="t" r="r" b="b"/>
              <a:pathLst>
                <a:path w="6660159" h="1049246">
                  <a:moveTo>
                    <a:pt x="0" y="0"/>
                  </a:moveTo>
                  <a:lnTo>
                    <a:pt x="6660159" y="0"/>
                  </a:lnTo>
                  <a:lnTo>
                    <a:pt x="6660159" y="1049246"/>
                  </a:lnTo>
                  <a:lnTo>
                    <a:pt x="0" y="10492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6660158" cy="11349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38"/>
                </a:lnSpc>
              </a:pPr>
              <a:r>
                <a:rPr lang="en-US" sz="1987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This is useful for logging, timestamping, or calculating time differences.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23504" y="5591770"/>
            <a:ext cx="4995119" cy="1692920"/>
            <a:chOff x="0" y="0"/>
            <a:chExt cx="6660158" cy="225722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60135" cy="2257206"/>
            </a:xfrm>
            <a:custGeom>
              <a:avLst/>
              <a:gdLst/>
              <a:ahLst/>
              <a:cxnLst/>
              <a:rect l="l" t="t" r="r" b="b"/>
              <a:pathLst>
                <a:path w="6660135" h="2257206">
                  <a:moveTo>
                    <a:pt x="0" y="23678"/>
                  </a:moveTo>
                  <a:cubicBezTo>
                    <a:pt x="0" y="10600"/>
                    <a:pt x="15748" y="0"/>
                    <a:pt x="35179" y="0"/>
                  </a:cubicBezTo>
                  <a:lnTo>
                    <a:pt x="6624955" y="0"/>
                  </a:lnTo>
                  <a:cubicBezTo>
                    <a:pt x="6644387" y="0"/>
                    <a:pt x="6660135" y="10600"/>
                    <a:pt x="6660135" y="23678"/>
                  </a:cubicBezTo>
                  <a:lnTo>
                    <a:pt x="6660135" y="2233527"/>
                  </a:lnTo>
                  <a:cubicBezTo>
                    <a:pt x="6660135" y="2246606"/>
                    <a:pt x="6644387" y="2257206"/>
                    <a:pt x="6624955" y="2257206"/>
                  </a:cubicBezTo>
                  <a:lnTo>
                    <a:pt x="35179" y="2257206"/>
                  </a:lnTo>
                  <a:cubicBezTo>
                    <a:pt x="15748" y="2257206"/>
                    <a:pt x="0" y="2246606"/>
                    <a:pt x="0" y="2233527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4722" y="5766619"/>
            <a:ext cx="5012680" cy="2667263"/>
            <a:chOff x="0" y="0"/>
            <a:chExt cx="6683573" cy="35563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683502" cy="3556317"/>
            </a:xfrm>
            <a:custGeom>
              <a:avLst/>
              <a:gdLst/>
              <a:ahLst/>
              <a:cxnLst/>
              <a:rect l="l" t="t" r="r" b="b"/>
              <a:pathLst>
                <a:path w="6683502" h="3556317">
                  <a:moveTo>
                    <a:pt x="0" y="37306"/>
                  </a:moveTo>
                  <a:cubicBezTo>
                    <a:pt x="0" y="16700"/>
                    <a:pt x="15748" y="0"/>
                    <a:pt x="35179" y="0"/>
                  </a:cubicBezTo>
                  <a:lnTo>
                    <a:pt x="6648323" y="0"/>
                  </a:lnTo>
                  <a:cubicBezTo>
                    <a:pt x="6667754" y="0"/>
                    <a:pt x="6683502" y="16700"/>
                    <a:pt x="6683502" y="37306"/>
                  </a:cubicBezTo>
                  <a:lnTo>
                    <a:pt x="6683502" y="3519011"/>
                  </a:lnTo>
                  <a:cubicBezTo>
                    <a:pt x="6683502" y="3539617"/>
                    <a:pt x="6667754" y="3556317"/>
                    <a:pt x="6648323" y="3556317"/>
                  </a:cubicBezTo>
                  <a:lnTo>
                    <a:pt x="35179" y="3556317"/>
                  </a:lnTo>
                  <a:cubicBezTo>
                    <a:pt x="15748" y="3556317"/>
                    <a:pt x="0" y="3539617"/>
                    <a:pt x="0" y="3519011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85726" y="5772448"/>
            <a:ext cx="4660850" cy="2661434"/>
            <a:chOff x="0" y="0"/>
            <a:chExt cx="6214467" cy="354857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214467" cy="3548580"/>
            </a:xfrm>
            <a:custGeom>
              <a:avLst/>
              <a:gdLst/>
              <a:ahLst/>
              <a:cxnLst/>
              <a:rect l="l" t="t" r="r" b="b"/>
              <a:pathLst>
                <a:path w="6214467" h="3548580">
                  <a:moveTo>
                    <a:pt x="0" y="0"/>
                  </a:moveTo>
                  <a:lnTo>
                    <a:pt x="6214467" y="0"/>
                  </a:lnTo>
                  <a:lnTo>
                    <a:pt x="6214467" y="3548580"/>
                  </a:lnTo>
                  <a:lnTo>
                    <a:pt x="0" y="35485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0"/>
              <a:ext cx="6214467" cy="364382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664"/>
                </a:lnSpc>
              </a:pPr>
              <a:r>
                <a:rPr lang="en-US" sz="1674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import datetime</a:t>
              </a:r>
            </a:p>
            <a:p>
              <a:pPr algn="l">
                <a:lnSpc>
                  <a:spcPts val="2664"/>
                </a:lnSpc>
              </a:pPr>
              <a:endParaRPr lang="en-US" sz="1674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664"/>
                </a:lnSpc>
              </a:pPr>
              <a:r>
                <a:rPr lang="en-US" sz="1674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current_time = datetime.now()</a:t>
              </a:r>
            </a:p>
            <a:p>
              <a:pPr algn="l">
                <a:lnSpc>
                  <a:spcPts val="2664"/>
                </a:lnSpc>
              </a:pPr>
              <a:endParaRPr lang="en-US" sz="1674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664"/>
                </a:lnSpc>
              </a:pPr>
              <a:r>
                <a:rPr lang="en-US" sz="1674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print(current_time)  </a:t>
              </a:r>
            </a:p>
            <a:p>
              <a:pPr algn="l">
                <a:lnSpc>
                  <a:spcPts val="2664"/>
                </a:lnSpc>
              </a:pPr>
              <a:endParaRPr lang="en-US" sz="1674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664"/>
                </a:lnSpc>
              </a:pPr>
              <a:endParaRPr lang="en-US" sz="1674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664"/>
                </a:lnSpc>
              </a:pPr>
              <a:r>
                <a:rPr lang="en-US" sz="1674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# OUTPUT: '2025-02-26 14:45:00.123456'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70451" y="2782789"/>
            <a:ext cx="5346947" cy="6763642"/>
            <a:chOff x="0" y="0"/>
            <a:chExt cx="7129263" cy="901819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129273" cy="9018143"/>
            </a:xfrm>
            <a:custGeom>
              <a:avLst/>
              <a:gdLst/>
              <a:ahLst/>
              <a:cxnLst/>
              <a:rect l="l" t="t" r="r" b="b"/>
              <a:pathLst>
                <a:path w="7129273" h="9018143">
                  <a:moveTo>
                    <a:pt x="0" y="35179"/>
                  </a:moveTo>
                  <a:cubicBezTo>
                    <a:pt x="0" y="15748"/>
                    <a:pt x="15748" y="0"/>
                    <a:pt x="35179" y="0"/>
                  </a:cubicBezTo>
                  <a:lnTo>
                    <a:pt x="7094093" y="0"/>
                  </a:lnTo>
                  <a:cubicBezTo>
                    <a:pt x="7113525" y="0"/>
                    <a:pt x="7129273" y="15748"/>
                    <a:pt x="7129273" y="35179"/>
                  </a:cubicBezTo>
                  <a:lnTo>
                    <a:pt x="7129273" y="8982964"/>
                  </a:lnTo>
                  <a:cubicBezTo>
                    <a:pt x="7129273" y="9002395"/>
                    <a:pt x="7113525" y="9018143"/>
                    <a:pt x="7094093" y="9018143"/>
                  </a:cubicBezTo>
                  <a:lnTo>
                    <a:pt x="35179" y="9018143"/>
                  </a:lnTo>
                  <a:cubicBezTo>
                    <a:pt x="15748" y="9018143"/>
                    <a:pt x="0" y="9002395"/>
                    <a:pt x="0" y="898296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758037" y="2869875"/>
            <a:ext cx="2771775" cy="483520"/>
            <a:chOff x="0" y="0"/>
            <a:chExt cx="3695700" cy="64469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695700" cy="644693"/>
            </a:xfrm>
            <a:custGeom>
              <a:avLst/>
              <a:gdLst/>
              <a:ahLst/>
              <a:cxnLst/>
              <a:rect l="l" t="t" r="r" b="b"/>
              <a:pathLst>
                <a:path w="3695700" h="644693">
                  <a:moveTo>
                    <a:pt x="0" y="0"/>
                  </a:moveTo>
                  <a:lnTo>
                    <a:pt x="3695700" y="0"/>
                  </a:lnTo>
                  <a:lnTo>
                    <a:pt x="3695700" y="644693"/>
                  </a:lnTo>
                  <a:lnTo>
                    <a:pt x="0" y="644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3695700" cy="6542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93"/>
                </a:lnSpc>
              </a:pPr>
              <a:r>
                <a:rPr lang="en-US" sz="2524" b="1">
                  <a:solidFill>
                    <a:srgbClr val="000000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strftime()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646366" y="3410545"/>
            <a:ext cx="4995119" cy="359931"/>
            <a:chOff x="0" y="0"/>
            <a:chExt cx="6660158" cy="47990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660159" cy="479908"/>
            </a:xfrm>
            <a:custGeom>
              <a:avLst/>
              <a:gdLst/>
              <a:ahLst/>
              <a:cxnLst/>
              <a:rect l="l" t="t" r="r" b="b"/>
              <a:pathLst>
                <a:path w="6660159" h="479908">
                  <a:moveTo>
                    <a:pt x="0" y="0"/>
                  </a:moveTo>
                  <a:lnTo>
                    <a:pt x="6660159" y="0"/>
                  </a:lnTo>
                  <a:lnTo>
                    <a:pt x="6660159" y="479908"/>
                  </a:lnTo>
                  <a:lnTo>
                    <a:pt x="0" y="4799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76200"/>
              <a:ext cx="6660158" cy="5561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75"/>
                </a:lnSpc>
              </a:pPr>
              <a:r>
                <a:rPr lang="en-US" sz="1887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short for "string format time".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46366" y="3867894"/>
            <a:ext cx="4995119" cy="750456"/>
            <a:chOff x="0" y="0"/>
            <a:chExt cx="6660158" cy="100060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660159" cy="1000608"/>
            </a:xfrm>
            <a:custGeom>
              <a:avLst/>
              <a:gdLst/>
              <a:ahLst/>
              <a:cxnLst/>
              <a:rect l="l" t="t" r="r" b="b"/>
              <a:pathLst>
                <a:path w="6660159" h="1000608">
                  <a:moveTo>
                    <a:pt x="0" y="0"/>
                  </a:moveTo>
                  <a:lnTo>
                    <a:pt x="6660159" y="0"/>
                  </a:lnTo>
                  <a:lnTo>
                    <a:pt x="6660159" y="1000608"/>
                  </a:lnTo>
                  <a:lnTo>
                    <a:pt x="0" y="10006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76200"/>
              <a:ext cx="6660158" cy="10768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75"/>
                </a:lnSpc>
              </a:pPr>
              <a:r>
                <a:rPr lang="en-US" sz="1887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Converts a datetime object into a formatted string. 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646366" y="4677072"/>
            <a:ext cx="4995119" cy="359931"/>
            <a:chOff x="0" y="0"/>
            <a:chExt cx="6660158" cy="47990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660159" cy="479908"/>
            </a:xfrm>
            <a:custGeom>
              <a:avLst/>
              <a:gdLst/>
              <a:ahLst/>
              <a:cxnLst/>
              <a:rect l="l" t="t" r="r" b="b"/>
              <a:pathLst>
                <a:path w="6660159" h="479908">
                  <a:moveTo>
                    <a:pt x="0" y="0"/>
                  </a:moveTo>
                  <a:lnTo>
                    <a:pt x="6660159" y="0"/>
                  </a:lnTo>
                  <a:lnTo>
                    <a:pt x="6660159" y="479908"/>
                  </a:lnTo>
                  <a:lnTo>
                    <a:pt x="0" y="4799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76200"/>
              <a:ext cx="6660158" cy="55610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75"/>
                </a:lnSpc>
              </a:pPr>
              <a:r>
                <a:rPr lang="en-US" sz="1887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You can specify date/time format to appear.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646366" y="5134421"/>
            <a:ext cx="4995119" cy="394789"/>
            <a:chOff x="0" y="0"/>
            <a:chExt cx="6660158" cy="52638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660159" cy="526385"/>
            </a:xfrm>
            <a:custGeom>
              <a:avLst/>
              <a:gdLst/>
              <a:ahLst/>
              <a:cxnLst/>
              <a:rect l="l" t="t" r="r" b="b"/>
              <a:pathLst>
                <a:path w="6660159" h="526385">
                  <a:moveTo>
                    <a:pt x="0" y="0"/>
                  </a:moveTo>
                  <a:lnTo>
                    <a:pt x="6660159" y="0"/>
                  </a:lnTo>
                  <a:lnTo>
                    <a:pt x="6660159" y="526385"/>
                  </a:lnTo>
                  <a:lnTo>
                    <a:pt x="0" y="526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0"/>
              <a:ext cx="6660158" cy="62163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01"/>
                </a:lnSpc>
              </a:pPr>
              <a:r>
                <a:rPr lang="en-US" sz="2087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Some common format codes: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646366" y="5591770"/>
            <a:ext cx="4995119" cy="361355"/>
            <a:chOff x="0" y="0"/>
            <a:chExt cx="6660158" cy="48180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660159" cy="481807"/>
            </a:xfrm>
            <a:custGeom>
              <a:avLst/>
              <a:gdLst/>
              <a:ahLst/>
              <a:cxnLst/>
              <a:rect l="l" t="t" r="r" b="b"/>
              <a:pathLst>
                <a:path w="6660159" h="481807">
                  <a:moveTo>
                    <a:pt x="0" y="0"/>
                  </a:moveTo>
                  <a:lnTo>
                    <a:pt x="6660159" y="0"/>
                  </a:lnTo>
                  <a:lnTo>
                    <a:pt x="6660159" y="481807"/>
                  </a:lnTo>
                  <a:lnTo>
                    <a:pt x="0" y="4818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6660158" cy="5484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7691" lvl="1" indent="-133846" algn="l">
                <a:lnSpc>
                  <a:spcPts val="2823"/>
                </a:lnSpc>
                <a:buFont typeface="Arial"/>
                <a:buChar char="•"/>
              </a:pPr>
              <a:r>
                <a:rPr lang="en-US" sz="17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%Y: Year, %m: Month, %d: Day of the month 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646366" y="6014591"/>
            <a:ext cx="4995119" cy="361355"/>
            <a:chOff x="0" y="0"/>
            <a:chExt cx="6660158" cy="48180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660159" cy="481807"/>
            </a:xfrm>
            <a:custGeom>
              <a:avLst/>
              <a:gdLst/>
              <a:ahLst/>
              <a:cxnLst/>
              <a:rect l="l" t="t" r="r" b="b"/>
              <a:pathLst>
                <a:path w="6660159" h="481807">
                  <a:moveTo>
                    <a:pt x="0" y="0"/>
                  </a:moveTo>
                  <a:lnTo>
                    <a:pt x="6660159" y="0"/>
                  </a:lnTo>
                  <a:lnTo>
                    <a:pt x="6660159" y="481807"/>
                  </a:lnTo>
                  <a:lnTo>
                    <a:pt x="0" y="4818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6660158" cy="5484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67691" lvl="1" indent="-133846" algn="l">
                <a:lnSpc>
                  <a:spcPts val="2823"/>
                </a:lnSpc>
                <a:buFont typeface="Arial"/>
                <a:buChar char="•"/>
              </a:pPr>
              <a:r>
                <a:rPr lang="en-US" sz="1774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%H: Hour (24 hours), %M: Mins, %S: Secs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646366" y="6573887"/>
            <a:ext cx="4995119" cy="3178200"/>
            <a:chOff x="0" y="0"/>
            <a:chExt cx="6660158" cy="4237601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660135" cy="4237609"/>
            </a:xfrm>
            <a:custGeom>
              <a:avLst/>
              <a:gdLst/>
              <a:ahLst/>
              <a:cxnLst/>
              <a:rect l="l" t="t" r="r" b="b"/>
              <a:pathLst>
                <a:path w="6660135" h="4237609">
                  <a:moveTo>
                    <a:pt x="0" y="39979"/>
                  </a:moveTo>
                  <a:cubicBezTo>
                    <a:pt x="0" y="17897"/>
                    <a:pt x="15748" y="0"/>
                    <a:pt x="35179" y="0"/>
                  </a:cubicBezTo>
                  <a:lnTo>
                    <a:pt x="6624955" y="0"/>
                  </a:lnTo>
                  <a:cubicBezTo>
                    <a:pt x="6644387" y="0"/>
                    <a:pt x="6660135" y="17897"/>
                    <a:pt x="6660135" y="39979"/>
                  </a:cubicBezTo>
                  <a:lnTo>
                    <a:pt x="6660135" y="4197632"/>
                  </a:lnTo>
                  <a:cubicBezTo>
                    <a:pt x="6660135" y="4219714"/>
                    <a:pt x="6644387" y="4237609"/>
                    <a:pt x="6624955" y="4237609"/>
                  </a:cubicBezTo>
                  <a:lnTo>
                    <a:pt x="35179" y="4237609"/>
                  </a:lnTo>
                  <a:cubicBezTo>
                    <a:pt x="15748" y="4237609"/>
                    <a:pt x="0" y="4219714"/>
                    <a:pt x="0" y="4197632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628805" y="6804571"/>
            <a:ext cx="5012680" cy="2972544"/>
            <a:chOff x="0" y="0"/>
            <a:chExt cx="6683573" cy="396339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683502" cy="3963400"/>
            </a:xfrm>
            <a:custGeom>
              <a:avLst/>
              <a:gdLst/>
              <a:ahLst/>
              <a:cxnLst/>
              <a:rect l="l" t="t" r="r" b="b"/>
              <a:pathLst>
                <a:path w="6683502" h="3963400">
                  <a:moveTo>
                    <a:pt x="0" y="37392"/>
                  </a:moveTo>
                  <a:cubicBezTo>
                    <a:pt x="0" y="16739"/>
                    <a:pt x="15748" y="0"/>
                    <a:pt x="35179" y="0"/>
                  </a:cubicBezTo>
                  <a:lnTo>
                    <a:pt x="6648323" y="0"/>
                  </a:lnTo>
                  <a:cubicBezTo>
                    <a:pt x="6667754" y="0"/>
                    <a:pt x="6683502" y="16739"/>
                    <a:pt x="6683502" y="37392"/>
                  </a:cubicBezTo>
                  <a:lnTo>
                    <a:pt x="6683502" y="3926009"/>
                  </a:lnTo>
                  <a:cubicBezTo>
                    <a:pt x="6683502" y="3946662"/>
                    <a:pt x="6667754" y="3963400"/>
                    <a:pt x="6648323" y="3963400"/>
                  </a:cubicBezTo>
                  <a:lnTo>
                    <a:pt x="35179" y="3963400"/>
                  </a:lnTo>
                  <a:cubicBezTo>
                    <a:pt x="15748" y="3963400"/>
                    <a:pt x="0" y="3946662"/>
                    <a:pt x="0" y="3926009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813500" y="6861721"/>
            <a:ext cx="4660850" cy="2823692"/>
            <a:chOff x="0" y="0"/>
            <a:chExt cx="6214467" cy="376492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214467" cy="3764922"/>
            </a:xfrm>
            <a:custGeom>
              <a:avLst/>
              <a:gdLst/>
              <a:ahLst/>
              <a:cxnLst/>
              <a:rect l="l" t="t" r="r" b="b"/>
              <a:pathLst>
                <a:path w="6214467" h="3764922">
                  <a:moveTo>
                    <a:pt x="0" y="0"/>
                  </a:moveTo>
                  <a:lnTo>
                    <a:pt x="6214467" y="0"/>
                  </a:lnTo>
                  <a:lnTo>
                    <a:pt x="6214467" y="3764922"/>
                  </a:lnTo>
                  <a:lnTo>
                    <a:pt x="0" y="37649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95250"/>
              <a:ext cx="6214467" cy="386017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import datetime</a:t>
              </a:r>
            </a:p>
            <a:p>
              <a:pPr algn="l">
                <a:lnSpc>
                  <a:spcPts val="2505"/>
                </a:lnSpc>
              </a:pPr>
              <a:endParaRPr lang="en-US" sz="1575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current_time = datetime.datetime.now()</a:t>
              </a:r>
            </a:p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formatted_time = current_time.strftime("%Y-%m-%d %H:%M:%S")</a:t>
              </a:r>
            </a:p>
            <a:p>
              <a:pPr algn="l">
                <a:lnSpc>
                  <a:spcPts val="2505"/>
                </a:lnSpc>
              </a:pPr>
              <a:endParaRPr lang="en-US" sz="1575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print(formatted_time)</a:t>
              </a:r>
            </a:p>
            <a:p>
              <a:pPr algn="l">
                <a:lnSpc>
                  <a:spcPts val="2505"/>
                </a:lnSpc>
              </a:pPr>
              <a:endParaRPr lang="en-US" sz="1575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# OUTPUT: 2025-03-01 14:30:45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1993315" y="2782789"/>
            <a:ext cx="5346948" cy="6763642"/>
            <a:chOff x="0" y="0"/>
            <a:chExt cx="7129263" cy="901819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129273" cy="9018143"/>
            </a:xfrm>
            <a:custGeom>
              <a:avLst/>
              <a:gdLst/>
              <a:ahLst/>
              <a:cxnLst/>
              <a:rect l="l" t="t" r="r" b="b"/>
              <a:pathLst>
                <a:path w="7129273" h="9018143">
                  <a:moveTo>
                    <a:pt x="0" y="35179"/>
                  </a:moveTo>
                  <a:cubicBezTo>
                    <a:pt x="0" y="15748"/>
                    <a:pt x="15748" y="0"/>
                    <a:pt x="35179" y="0"/>
                  </a:cubicBezTo>
                  <a:lnTo>
                    <a:pt x="7094093" y="0"/>
                  </a:lnTo>
                  <a:cubicBezTo>
                    <a:pt x="7113525" y="0"/>
                    <a:pt x="7129273" y="15748"/>
                    <a:pt x="7129273" y="35179"/>
                  </a:cubicBezTo>
                  <a:lnTo>
                    <a:pt x="7129273" y="8982964"/>
                  </a:lnTo>
                  <a:cubicBezTo>
                    <a:pt x="7129273" y="9002395"/>
                    <a:pt x="7113525" y="9018143"/>
                    <a:pt x="7094093" y="9018143"/>
                  </a:cubicBezTo>
                  <a:lnTo>
                    <a:pt x="35179" y="9018143"/>
                  </a:lnTo>
                  <a:cubicBezTo>
                    <a:pt x="15748" y="9018143"/>
                    <a:pt x="0" y="9002395"/>
                    <a:pt x="0" y="898296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280901" y="2869875"/>
            <a:ext cx="2771775" cy="483520"/>
            <a:chOff x="0" y="0"/>
            <a:chExt cx="3695700" cy="64469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695700" cy="644693"/>
            </a:xfrm>
            <a:custGeom>
              <a:avLst/>
              <a:gdLst/>
              <a:ahLst/>
              <a:cxnLst/>
              <a:rect l="l" t="t" r="r" b="b"/>
              <a:pathLst>
                <a:path w="3695700" h="644693">
                  <a:moveTo>
                    <a:pt x="0" y="0"/>
                  </a:moveTo>
                  <a:lnTo>
                    <a:pt x="3695700" y="0"/>
                  </a:lnTo>
                  <a:lnTo>
                    <a:pt x="3695700" y="644693"/>
                  </a:lnTo>
                  <a:lnTo>
                    <a:pt x="0" y="6446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9525"/>
              <a:ext cx="3695700" cy="65421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193"/>
                </a:lnSpc>
              </a:pPr>
              <a:r>
                <a:rPr lang="en-US" sz="2524" b="1">
                  <a:solidFill>
                    <a:srgbClr val="000000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strptime()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169229" y="3410545"/>
            <a:ext cx="4995119" cy="1196510"/>
            <a:chOff x="0" y="0"/>
            <a:chExt cx="6660158" cy="159534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660159" cy="1595346"/>
            </a:xfrm>
            <a:custGeom>
              <a:avLst/>
              <a:gdLst/>
              <a:ahLst/>
              <a:cxnLst/>
              <a:rect l="l" t="t" r="r" b="b"/>
              <a:pathLst>
                <a:path w="6660159" h="1595346">
                  <a:moveTo>
                    <a:pt x="0" y="0"/>
                  </a:moveTo>
                  <a:lnTo>
                    <a:pt x="6660159" y="0"/>
                  </a:lnTo>
                  <a:lnTo>
                    <a:pt x="6660159" y="1595346"/>
                  </a:lnTo>
                  <a:lnTo>
                    <a:pt x="0" y="15953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85725"/>
              <a:ext cx="6660158" cy="168107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38"/>
                </a:lnSpc>
              </a:pPr>
              <a:r>
                <a:rPr lang="en-US" sz="1987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Converts a string representation of a date into a datetime object, using a specified format for parsing.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2169229" y="4663976"/>
            <a:ext cx="4995119" cy="4485234"/>
            <a:chOff x="0" y="0"/>
            <a:chExt cx="6660158" cy="598031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660135" cy="5980303"/>
            </a:xfrm>
            <a:custGeom>
              <a:avLst/>
              <a:gdLst/>
              <a:ahLst/>
              <a:cxnLst/>
              <a:rect l="l" t="t" r="r" b="b"/>
              <a:pathLst>
                <a:path w="6660135" h="5980303">
                  <a:moveTo>
                    <a:pt x="0" y="35179"/>
                  </a:moveTo>
                  <a:cubicBezTo>
                    <a:pt x="0" y="15748"/>
                    <a:pt x="15748" y="0"/>
                    <a:pt x="35179" y="0"/>
                  </a:cubicBezTo>
                  <a:lnTo>
                    <a:pt x="6624955" y="0"/>
                  </a:lnTo>
                  <a:cubicBezTo>
                    <a:pt x="6644387" y="0"/>
                    <a:pt x="6660135" y="15748"/>
                    <a:pt x="6660135" y="35179"/>
                  </a:cubicBezTo>
                  <a:lnTo>
                    <a:pt x="6660135" y="5945124"/>
                  </a:lnTo>
                  <a:cubicBezTo>
                    <a:pt x="6660135" y="5964555"/>
                    <a:pt x="6644387" y="5980303"/>
                    <a:pt x="6624955" y="5980303"/>
                  </a:cubicBezTo>
                  <a:lnTo>
                    <a:pt x="35179" y="5980303"/>
                  </a:lnTo>
                  <a:cubicBezTo>
                    <a:pt x="15748" y="5980303"/>
                    <a:pt x="0" y="5964555"/>
                    <a:pt x="0" y="5945124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160449" y="4663976"/>
            <a:ext cx="5012680" cy="4882455"/>
            <a:chOff x="0" y="0"/>
            <a:chExt cx="6683573" cy="65099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683502" cy="6509931"/>
            </a:xfrm>
            <a:custGeom>
              <a:avLst/>
              <a:gdLst/>
              <a:ahLst/>
              <a:cxnLst/>
              <a:rect l="l" t="t" r="r" b="b"/>
              <a:pathLst>
                <a:path w="6683502" h="6509931">
                  <a:moveTo>
                    <a:pt x="0" y="38295"/>
                  </a:moveTo>
                  <a:cubicBezTo>
                    <a:pt x="0" y="17143"/>
                    <a:pt x="15748" y="0"/>
                    <a:pt x="35179" y="0"/>
                  </a:cubicBezTo>
                  <a:lnTo>
                    <a:pt x="6648323" y="0"/>
                  </a:lnTo>
                  <a:cubicBezTo>
                    <a:pt x="6667754" y="0"/>
                    <a:pt x="6683502" y="17143"/>
                    <a:pt x="6683502" y="38295"/>
                  </a:cubicBezTo>
                  <a:lnTo>
                    <a:pt x="6683502" y="6471636"/>
                  </a:lnTo>
                  <a:cubicBezTo>
                    <a:pt x="6683502" y="6492788"/>
                    <a:pt x="6667754" y="6509931"/>
                    <a:pt x="6648323" y="6509931"/>
                  </a:cubicBezTo>
                  <a:lnTo>
                    <a:pt x="35179" y="6509931"/>
                  </a:lnTo>
                  <a:cubicBezTo>
                    <a:pt x="15748" y="6509931"/>
                    <a:pt x="0" y="6492788"/>
                    <a:pt x="0" y="6471636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336364" y="4795838"/>
            <a:ext cx="4660850" cy="4709642"/>
            <a:chOff x="0" y="0"/>
            <a:chExt cx="6214467" cy="627952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214467" cy="6279523"/>
            </a:xfrm>
            <a:custGeom>
              <a:avLst/>
              <a:gdLst/>
              <a:ahLst/>
              <a:cxnLst/>
              <a:rect l="l" t="t" r="r" b="b"/>
              <a:pathLst>
                <a:path w="6214467" h="6279523">
                  <a:moveTo>
                    <a:pt x="0" y="0"/>
                  </a:moveTo>
                  <a:lnTo>
                    <a:pt x="6214467" y="0"/>
                  </a:lnTo>
                  <a:lnTo>
                    <a:pt x="6214467" y="6279523"/>
                  </a:lnTo>
                  <a:lnTo>
                    <a:pt x="0" y="62795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95250"/>
              <a:ext cx="6214467" cy="637477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import datetime</a:t>
              </a:r>
            </a:p>
            <a:p>
              <a:pPr algn="l">
                <a:lnSpc>
                  <a:spcPts val="2505"/>
                </a:lnSpc>
              </a:pPr>
              <a:endParaRPr lang="en-US" sz="1575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# Date in string format.</a:t>
              </a:r>
            </a:p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user_input_date = "01/03/2025 14:30"</a:t>
              </a:r>
            </a:p>
            <a:p>
              <a:pPr algn="l">
                <a:lnSpc>
                  <a:spcPts val="2505"/>
                </a:lnSpc>
              </a:pPr>
              <a:endParaRPr lang="en-US" sz="1575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# Convert string data into object format.</a:t>
              </a:r>
            </a:p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date_object = datetime.datetime.strptime(user_input_date, "%d/%m/%Y %H:%M")</a:t>
              </a:r>
            </a:p>
            <a:p>
              <a:pPr algn="l">
                <a:lnSpc>
                  <a:spcPts val="2505"/>
                </a:lnSpc>
              </a:pPr>
              <a:endParaRPr lang="en-US" sz="1575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# Print the datetime object</a:t>
              </a:r>
            </a:p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print(date_object)</a:t>
              </a:r>
            </a:p>
            <a:p>
              <a:pPr algn="l">
                <a:lnSpc>
                  <a:spcPts val="2505"/>
                </a:lnSpc>
              </a:pPr>
              <a:endParaRPr lang="en-US" sz="1575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505"/>
                </a:lnSpc>
              </a:pPr>
              <a:endParaRPr lang="en-US" sz="1575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2505"/>
                </a:lnSpc>
              </a:pPr>
              <a:r>
                <a:rPr lang="en-US" sz="1575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# OUTPUT: 2025-03-01 14:30:00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968722"/>
            <a:ext cx="7442746" cy="930325"/>
            <a:chOff x="0" y="0"/>
            <a:chExt cx="9923662" cy="12404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23662" cy="1240433"/>
            </a:xfrm>
            <a:custGeom>
              <a:avLst/>
              <a:gdLst/>
              <a:ahLst/>
              <a:cxnLst/>
              <a:rect l="l" t="t" r="r" b="b"/>
              <a:pathLst>
                <a:path w="9923662" h="1240433">
                  <a:moveTo>
                    <a:pt x="0" y="0"/>
                  </a:moveTo>
                  <a:lnTo>
                    <a:pt x="9923662" y="0"/>
                  </a:lnTo>
                  <a:lnTo>
                    <a:pt x="9923662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23662" cy="12785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Hands-on Activity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466082"/>
            <a:ext cx="16303526" cy="566886"/>
            <a:chOff x="0" y="0"/>
            <a:chExt cx="21738035" cy="7558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1738035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Logging System Status with Timestamps: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3351907"/>
            <a:ext cx="16303526" cy="566886"/>
            <a:chOff x="0" y="0"/>
            <a:chExt cx="21738035" cy="7558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1738035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9902" lvl="1" indent="-16495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Write the python code that logs system status messages with timestamps.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8" y="4492824"/>
            <a:ext cx="7805886" cy="566886"/>
            <a:chOff x="0" y="0"/>
            <a:chExt cx="10407848" cy="7558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07848" cy="755848"/>
            </a:xfrm>
            <a:custGeom>
              <a:avLst/>
              <a:gdLst/>
              <a:ahLst/>
              <a:cxnLst/>
              <a:rect l="l" t="t" r="r" b="b"/>
              <a:pathLst>
                <a:path w="10407848" h="755848">
                  <a:moveTo>
                    <a:pt x="0" y="0"/>
                  </a:moveTo>
                  <a:lnTo>
                    <a:pt x="10407848" y="0"/>
                  </a:lnTo>
                  <a:lnTo>
                    <a:pt x="1040784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10407848" cy="86062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Steps: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8" y="5314801"/>
            <a:ext cx="7805886" cy="566886"/>
            <a:chOff x="0" y="0"/>
            <a:chExt cx="10407848" cy="7558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07848" cy="755848"/>
            </a:xfrm>
            <a:custGeom>
              <a:avLst/>
              <a:gdLst/>
              <a:ahLst/>
              <a:cxnLst/>
              <a:rect l="l" t="t" r="r" b="b"/>
              <a:pathLst>
                <a:path w="10407848" h="755848">
                  <a:moveTo>
                    <a:pt x="0" y="0"/>
                  </a:moveTo>
                  <a:lnTo>
                    <a:pt x="10407848" y="0"/>
                  </a:lnTo>
                  <a:lnTo>
                    <a:pt x="1040784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0407848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72281" lvl="1" indent="-23614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Import datetime to fetch the current time.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2238" y="5980808"/>
            <a:ext cx="7805886" cy="566886"/>
            <a:chOff x="0" y="0"/>
            <a:chExt cx="10407848" cy="7558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07848" cy="755848"/>
            </a:xfrm>
            <a:custGeom>
              <a:avLst/>
              <a:gdLst/>
              <a:ahLst/>
              <a:cxnLst/>
              <a:rect l="l" t="t" r="r" b="b"/>
              <a:pathLst>
                <a:path w="10407848" h="755848">
                  <a:moveTo>
                    <a:pt x="0" y="0"/>
                  </a:moveTo>
                  <a:lnTo>
                    <a:pt x="10407848" y="0"/>
                  </a:lnTo>
                  <a:lnTo>
                    <a:pt x="1040784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10407848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72281" lvl="1" indent="-23614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Use strftime() to format the timestamp.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2238" y="6646812"/>
            <a:ext cx="7805886" cy="1133772"/>
            <a:chOff x="0" y="0"/>
            <a:chExt cx="10407848" cy="151169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07848" cy="1511697"/>
            </a:xfrm>
            <a:custGeom>
              <a:avLst/>
              <a:gdLst/>
              <a:ahLst/>
              <a:cxnLst/>
              <a:rect l="l" t="t" r="r" b="b"/>
              <a:pathLst>
                <a:path w="10407848" h="1511697">
                  <a:moveTo>
                    <a:pt x="0" y="0"/>
                  </a:moveTo>
                  <a:lnTo>
                    <a:pt x="10407848" y="0"/>
                  </a:lnTo>
                  <a:lnTo>
                    <a:pt x="10407848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10407848" cy="16069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72281" lvl="1" indent="-23614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Create a message string containing the timestamp and a system status message.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2238" y="7696350"/>
            <a:ext cx="7805886" cy="566886"/>
            <a:chOff x="0" y="0"/>
            <a:chExt cx="10407848" cy="75584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07848" cy="755848"/>
            </a:xfrm>
            <a:custGeom>
              <a:avLst/>
              <a:gdLst/>
              <a:ahLst/>
              <a:cxnLst/>
              <a:rect l="l" t="t" r="r" b="b"/>
              <a:pathLst>
                <a:path w="10407848" h="755848">
                  <a:moveTo>
                    <a:pt x="0" y="0"/>
                  </a:moveTo>
                  <a:lnTo>
                    <a:pt x="10407848" y="0"/>
                  </a:lnTo>
                  <a:lnTo>
                    <a:pt x="1040784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10407848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72281" lvl="1" indent="-236141" algn="l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Append the log message to a file.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11275814" y="4506665"/>
            <a:ext cx="4252912" cy="3189685"/>
          </a:xfrm>
          <a:custGeom>
            <a:avLst/>
            <a:gdLst/>
            <a:ahLst/>
            <a:cxnLst/>
            <a:rect l="l" t="t" r="r" b="b"/>
            <a:pathLst>
              <a:path w="4252912" h="3189685">
                <a:moveTo>
                  <a:pt x="0" y="0"/>
                </a:moveTo>
                <a:lnTo>
                  <a:pt x="4252912" y="0"/>
                </a:lnTo>
                <a:lnTo>
                  <a:pt x="4252912" y="3189685"/>
                </a:lnTo>
                <a:lnTo>
                  <a:pt x="0" y="3189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" r="-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849660"/>
            <a:ext cx="6909644" cy="837307"/>
            <a:chOff x="0" y="0"/>
            <a:chExt cx="9212858" cy="11164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12859" cy="1116410"/>
            </a:xfrm>
            <a:custGeom>
              <a:avLst/>
              <a:gdLst/>
              <a:ahLst/>
              <a:cxnLst/>
              <a:rect l="l" t="t" r="r" b="b"/>
              <a:pathLst>
                <a:path w="9212859" h="1116410">
                  <a:moveTo>
                    <a:pt x="0" y="0"/>
                  </a:moveTo>
                  <a:lnTo>
                    <a:pt x="9212859" y="0"/>
                  </a:lnTo>
                  <a:lnTo>
                    <a:pt x="9212859" y="1116410"/>
                  </a:lnTo>
                  <a:lnTo>
                    <a:pt x="0" y="11164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9212858" cy="1135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562"/>
                </a:lnSpc>
              </a:pPr>
              <a:r>
                <a:rPr lang="en-US" sz="5250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Methods &amp; their types!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7" y="2197299"/>
            <a:ext cx="16303526" cy="1029891"/>
            <a:chOff x="0" y="0"/>
            <a:chExt cx="21738035" cy="13731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1373188"/>
            </a:xfrm>
            <a:custGeom>
              <a:avLst/>
              <a:gdLst/>
              <a:ahLst/>
              <a:cxnLst/>
              <a:rect l="l" t="t" r="r" b="b"/>
              <a:pathLst>
                <a:path w="21738034" h="1373188">
                  <a:moveTo>
                    <a:pt x="0" y="0"/>
                  </a:moveTo>
                  <a:lnTo>
                    <a:pt x="21738034" y="0"/>
                  </a:lnTo>
                  <a:lnTo>
                    <a:pt x="21738034" y="1373188"/>
                  </a:lnTo>
                  <a:lnTo>
                    <a:pt x="0" y="1373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1738035" cy="1468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1787" lvl="1" indent="-165894" algn="l">
                <a:lnSpc>
                  <a:spcPts val="3506"/>
                </a:lnSpc>
                <a:buFont typeface="Arial"/>
                <a:buChar char="•"/>
              </a:pPr>
              <a:r>
                <a:rPr lang="en-US" sz="219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strip(), split(), join(), and replace() are all </a:t>
              </a:r>
              <a:r>
                <a:rPr lang="en-US" sz="2199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built-in string methods</a:t>
              </a:r>
              <a:r>
                <a:rPr lang="en-US" sz="219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in Python. These methods are available to all string objects for direct use without needing to import.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7" y="3316486"/>
            <a:ext cx="16303526" cy="1020366"/>
            <a:chOff x="0" y="0"/>
            <a:chExt cx="21738035" cy="13604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8034" cy="1360488"/>
            </a:xfrm>
            <a:custGeom>
              <a:avLst/>
              <a:gdLst/>
              <a:ahLst/>
              <a:cxnLst/>
              <a:rect l="l" t="t" r="r" b="b"/>
              <a:pathLst>
                <a:path w="21738034" h="1360488">
                  <a:moveTo>
                    <a:pt x="0" y="0"/>
                  </a:moveTo>
                  <a:lnTo>
                    <a:pt x="21738034" y="0"/>
                  </a:lnTo>
                  <a:lnTo>
                    <a:pt x="21738034" y="1360488"/>
                  </a:lnTo>
                  <a:lnTo>
                    <a:pt x="0" y="1360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1738035" cy="14557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1787" lvl="1" indent="-165894" algn="l">
                <a:lnSpc>
                  <a:spcPts val="3506"/>
                </a:lnSpc>
                <a:buFont typeface="Arial"/>
                <a:buChar char="•"/>
              </a:pPr>
              <a:r>
                <a:rPr lang="en-US" sz="219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Each method below, is used to clean and manipulate strings, which is a very common task in automation, configuration management, and log processing within DevOps workflows.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8" y="4878884"/>
            <a:ext cx="3609083" cy="502444"/>
            <a:chOff x="0" y="0"/>
            <a:chExt cx="4812110" cy="6699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12110" cy="669925"/>
            </a:xfrm>
            <a:custGeom>
              <a:avLst/>
              <a:gdLst/>
              <a:ahLst/>
              <a:cxnLst/>
              <a:rect l="l" t="t" r="r" b="b"/>
              <a:pathLst>
                <a:path w="4812110" h="669925">
                  <a:moveTo>
                    <a:pt x="0" y="0"/>
                  </a:moveTo>
                  <a:lnTo>
                    <a:pt x="4812110" y="0"/>
                  </a:lnTo>
                  <a:lnTo>
                    <a:pt x="4812110" y="669925"/>
                  </a:lnTo>
                  <a:lnTo>
                    <a:pt x="0" y="669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4812110" cy="688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37"/>
                </a:lnSpc>
              </a:pPr>
              <a:r>
                <a:rPr lang="en-US" sz="3125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strip()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8" y="5636419"/>
            <a:ext cx="3609083" cy="3061098"/>
            <a:chOff x="0" y="0"/>
            <a:chExt cx="4812110" cy="408146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12110" cy="4081463"/>
            </a:xfrm>
            <a:custGeom>
              <a:avLst/>
              <a:gdLst/>
              <a:ahLst/>
              <a:cxnLst/>
              <a:rect l="l" t="t" r="r" b="b"/>
              <a:pathLst>
                <a:path w="4812110" h="4081463">
                  <a:moveTo>
                    <a:pt x="0" y="0"/>
                  </a:moveTo>
                  <a:lnTo>
                    <a:pt x="4812110" y="0"/>
                  </a:lnTo>
                  <a:lnTo>
                    <a:pt x="4812110" y="4081463"/>
                  </a:lnTo>
                  <a:lnTo>
                    <a:pt x="0" y="40814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4812110" cy="41862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00"/>
                </a:lnSpc>
              </a:pPr>
              <a:r>
                <a:rPr lang="en-US" sz="249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Cleans up whitespace from the beginning and end of a string. Useful for cleaning configuration files or user input.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3244" y="4878884"/>
            <a:ext cx="3609082" cy="502444"/>
            <a:chOff x="0" y="0"/>
            <a:chExt cx="4812110" cy="6699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12110" cy="669925"/>
            </a:xfrm>
            <a:custGeom>
              <a:avLst/>
              <a:gdLst/>
              <a:ahLst/>
              <a:cxnLst/>
              <a:rect l="l" t="t" r="r" b="b"/>
              <a:pathLst>
                <a:path w="4812110" h="669925">
                  <a:moveTo>
                    <a:pt x="0" y="0"/>
                  </a:moveTo>
                  <a:lnTo>
                    <a:pt x="4812110" y="0"/>
                  </a:lnTo>
                  <a:lnTo>
                    <a:pt x="4812110" y="669925"/>
                  </a:lnTo>
                  <a:lnTo>
                    <a:pt x="0" y="669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4812110" cy="688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37"/>
                </a:lnSpc>
              </a:pPr>
              <a:r>
                <a:rPr lang="en-US" sz="3125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split()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33244" y="5636419"/>
            <a:ext cx="3609082" cy="2040731"/>
            <a:chOff x="0" y="0"/>
            <a:chExt cx="4812110" cy="27209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12110" cy="2720975"/>
            </a:xfrm>
            <a:custGeom>
              <a:avLst/>
              <a:gdLst/>
              <a:ahLst/>
              <a:cxnLst/>
              <a:rect l="l" t="t" r="r" b="b"/>
              <a:pathLst>
                <a:path w="4812110" h="2720975">
                  <a:moveTo>
                    <a:pt x="0" y="0"/>
                  </a:moveTo>
                  <a:lnTo>
                    <a:pt x="4812110" y="0"/>
                  </a:lnTo>
                  <a:lnTo>
                    <a:pt x="4812110" y="2720975"/>
                  </a:lnTo>
                  <a:lnTo>
                    <a:pt x="0" y="27209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04775"/>
              <a:ext cx="4812110" cy="282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00"/>
                </a:lnSpc>
              </a:pPr>
              <a:r>
                <a:rPr lang="en-US" sz="249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Splits a string into a list based on a delimiter. Perfect for parsing logs, CSV files, or user input.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74250" y="4878884"/>
            <a:ext cx="3609082" cy="502444"/>
            <a:chOff x="0" y="0"/>
            <a:chExt cx="4812110" cy="6699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812110" cy="669925"/>
            </a:xfrm>
            <a:custGeom>
              <a:avLst/>
              <a:gdLst/>
              <a:ahLst/>
              <a:cxnLst/>
              <a:rect l="l" t="t" r="r" b="b"/>
              <a:pathLst>
                <a:path w="4812110" h="669925">
                  <a:moveTo>
                    <a:pt x="0" y="0"/>
                  </a:moveTo>
                  <a:lnTo>
                    <a:pt x="4812110" y="0"/>
                  </a:lnTo>
                  <a:lnTo>
                    <a:pt x="4812110" y="669925"/>
                  </a:lnTo>
                  <a:lnTo>
                    <a:pt x="0" y="669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4812110" cy="688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37"/>
                </a:lnSpc>
              </a:pPr>
              <a:r>
                <a:rPr lang="en-US" sz="3125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join()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474250" y="5636419"/>
            <a:ext cx="3609082" cy="2550914"/>
            <a:chOff x="0" y="0"/>
            <a:chExt cx="4812110" cy="340121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2110" cy="3401218"/>
            </a:xfrm>
            <a:custGeom>
              <a:avLst/>
              <a:gdLst/>
              <a:ahLst/>
              <a:cxnLst/>
              <a:rect l="l" t="t" r="r" b="b"/>
              <a:pathLst>
                <a:path w="4812110" h="3401218">
                  <a:moveTo>
                    <a:pt x="0" y="0"/>
                  </a:moveTo>
                  <a:lnTo>
                    <a:pt x="4812110" y="0"/>
                  </a:lnTo>
                  <a:lnTo>
                    <a:pt x="4812110" y="3401218"/>
                  </a:lnTo>
                  <a:lnTo>
                    <a:pt x="0" y="34012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04775"/>
              <a:ext cx="4812110" cy="3505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00"/>
                </a:lnSpc>
              </a:pPr>
              <a:r>
                <a:rPr lang="en-US" sz="249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Joins a list of strings into a single string with a specified delimiter. Handy for formatting data (like CSV lines).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715256" y="4878884"/>
            <a:ext cx="3609083" cy="502444"/>
            <a:chOff x="0" y="0"/>
            <a:chExt cx="4812110" cy="66992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12110" cy="669925"/>
            </a:xfrm>
            <a:custGeom>
              <a:avLst/>
              <a:gdLst/>
              <a:ahLst/>
              <a:cxnLst/>
              <a:rect l="l" t="t" r="r" b="b"/>
              <a:pathLst>
                <a:path w="4812110" h="669925">
                  <a:moveTo>
                    <a:pt x="0" y="0"/>
                  </a:moveTo>
                  <a:lnTo>
                    <a:pt x="4812110" y="0"/>
                  </a:lnTo>
                  <a:lnTo>
                    <a:pt x="4812110" y="669925"/>
                  </a:lnTo>
                  <a:lnTo>
                    <a:pt x="0" y="6699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4812110" cy="688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37"/>
                </a:lnSpc>
              </a:pPr>
              <a:r>
                <a:rPr lang="en-US" sz="3125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replace()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715256" y="5636419"/>
            <a:ext cx="3609083" cy="3571280"/>
            <a:chOff x="0" y="0"/>
            <a:chExt cx="4812110" cy="476170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812110" cy="4761707"/>
            </a:xfrm>
            <a:custGeom>
              <a:avLst/>
              <a:gdLst/>
              <a:ahLst/>
              <a:cxnLst/>
              <a:rect l="l" t="t" r="r" b="b"/>
              <a:pathLst>
                <a:path w="4812110" h="4761707">
                  <a:moveTo>
                    <a:pt x="0" y="0"/>
                  </a:moveTo>
                  <a:lnTo>
                    <a:pt x="4812110" y="0"/>
                  </a:lnTo>
                  <a:lnTo>
                    <a:pt x="4812110" y="4761707"/>
                  </a:lnTo>
                  <a:lnTo>
                    <a:pt x="0" y="4761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04775"/>
              <a:ext cx="4812110" cy="4866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00"/>
                </a:lnSpc>
              </a:pPr>
              <a:r>
                <a:rPr lang="en-US" sz="249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Replaces occurrences of a substring with another substring. Useful for modifying configuration files, logs, or replacing sensitive information.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817661"/>
            <a:ext cx="7442746" cy="930325"/>
            <a:chOff x="0" y="0"/>
            <a:chExt cx="9923662" cy="12404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23662" cy="1240433"/>
            </a:xfrm>
            <a:custGeom>
              <a:avLst/>
              <a:gdLst/>
              <a:ahLst/>
              <a:cxnLst/>
              <a:rect l="l" t="t" r="r" b="b"/>
              <a:pathLst>
                <a:path w="9923662" h="1240433">
                  <a:moveTo>
                    <a:pt x="0" y="0"/>
                  </a:moveTo>
                  <a:lnTo>
                    <a:pt x="9923662" y="0"/>
                  </a:lnTo>
                  <a:lnTo>
                    <a:pt x="9923662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23662" cy="12785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Hands-on Activity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7" y="2315021"/>
            <a:ext cx="16303526" cy="1133772"/>
            <a:chOff x="0" y="0"/>
            <a:chExt cx="21738035" cy="15116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1511697"/>
            </a:xfrm>
            <a:custGeom>
              <a:avLst/>
              <a:gdLst/>
              <a:ahLst/>
              <a:cxnLst/>
              <a:rect l="l" t="t" r="r" b="b"/>
              <a:pathLst>
                <a:path w="21738034" h="1511697">
                  <a:moveTo>
                    <a:pt x="0" y="0"/>
                  </a:moveTo>
                  <a:lnTo>
                    <a:pt x="21738034" y="0"/>
                  </a:lnTo>
                  <a:lnTo>
                    <a:pt x="21738034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1738035" cy="16069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Let's analyze a python code demonstrating the use of strip(), split(), replace(), and join() with a practical DevOps-related example.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7" y="3547914"/>
            <a:ext cx="16303526" cy="566886"/>
            <a:chOff x="0" y="0"/>
            <a:chExt cx="21738035" cy="7558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1738035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60064" lvl="1" indent="-180032" algn="l">
                <a:lnSpc>
                  <a:spcPts val="3888"/>
                </a:lnSpc>
                <a:buFont typeface="Arial"/>
                <a:buChar char="•"/>
              </a:pPr>
              <a:r>
                <a:rPr lang="en-US" sz="23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Create a sample configuration file with content inside it as string to execute the code.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8" y="4717256"/>
            <a:ext cx="3721299" cy="465087"/>
            <a:chOff x="0" y="0"/>
            <a:chExt cx="4961732" cy="6201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5"/>
                </a:lnSpc>
              </a:pPr>
              <a:r>
                <a:rPr lang="en-US" sz="2874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Goal: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8" y="5465861"/>
            <a:ext cx="7805886" cy="566886"/>
            <a:chOff x="0" y="0"/>
            <a:chExt cx="10407848" cy="7558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07848" cy="755848"/>
            </a:xfrm>
            <a:custGeom>
              <a:avLst/>
              <a:gdLst/>
              <a:ahLst/>
              <a:cxnLst/>
              <a:rect l="l" t="t" r="r" b="b"/>
              <a:pathLst>
                <a:path w="10407848" h="755848">
                  <a:moveTo>
                    <a:pt x="0" y="0"/>
                  </a:moveTo>
                  <a:lnTo>
                    <a:pt x="10407848" y="0"/>
                  </a:lnTo>
                  <a:lnTo>
                    <a:pt x="1040784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0407848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93871" lvl="1" indent="-246936" algn="l">
                <a:lnSpc>
                  <a:spcPts val="3725"/>
                </a:lnSpc>
                <a:buFont typeface="Arial"/>
                <a:buChar char="•"/>
              </a:pPr>
              <a:r>
                <a:rPr lang="en-US" sz="22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Remove extra spaces around each line.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2238" y="6131867"/>
            <a:ext cx="7805886" cy="566886"/>
            <a:chOff x="0" y="0"/>
            <a:chExt cx="10407848" cy="7558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07848" cy="755848"/>
            </a:xfrm>
            <a:custGeom>
              <a:avLst/>
              <a:gdLst/>
              <a:ahLst/>
              <a:cxnLst/>
              <a:rect l="l" t="t" r="r" b="b"/>
              <a:pathLst>
                <a:path w="10407848" h="755848">
                  <a:moveTo>
                    <a:pt x="0" y="0"/>
                  </a:moveTo>
                  <a:lnTo>
                    <a:pt x="10407848" y="0"/>
                  </a:lnTo>
                  <a:lnTo>
                    <a:pt x="1040784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10407848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93871" lvl="1" indent="-246936" algn="l">
                <a:lnSpc>
                  <a:spcPts val="3725"/>
                </a:lnSpc>
                <a:buFont typeface="Arial"/>
                <a:buChar char="•"/>
              </a:pPr>
              <a:r>
                <a:rPr lang="en-US" sz="22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Split each line into key-value pairs.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2238" y="6797874"/>
            <a:ext cx="7805886" cy="566886"/>
            <a:chOff x="0" y="0"/>
            <a:chExt cx="10407848" cy="7558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07848" cy="755848"/>
            </a:xfrm>
            <a:custGeom>
              <a:avLst/>
              <a:gdLst/>
              <a:ahLst/>
              <a:cxnLst/>
              <a:rect l="l" t="t" r="r" b="b"/>
              <a:pathLst>
                <a:path w="10407848" h="755848">
                  <a:moveTo>
                    <a:pt x="0" y="0"/>
                  </a:moveTo>
                  <a:lnTo>
                    <a:pt x="10407848" y="0"/>
                  </a:lnTo>
                  <a:lnTo>
                    <a:pt x="1040784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10407848" cy="8510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93871" lvl="1" indent="-246936" algn="l">
                <a:lnSpc>
                  <a:spcPts val="3725"/>
                </a:lnSpc>
                <a:buFont typeface="Arial"/>
                <a:buChar char="•"/>
              </a:pPr>
              <a:r>
                <a:rPr lang="en-US" sz="22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Replace old password with a new one.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2238" y="7463879"/>
            <a:ext cx="7805886" cy="1133772"/>
            <a:chOff x="0" y="0"/>
            <a:chExt cx="10407848" cy="15116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07848" cy="1511697"/>
            </a:xfrm>
            <a:custGeom>
              <a:avLst/>
              <a:gdLst/>
              <a:ahLst/>
              <a:cxnLst/>
              <a:rect l="l" t="t" r="r" b="b"/>
              <a:pathLst>
                <a:path w="10407848" h="1511697">
                  <a:moveTo>
                    <a:pt x="0" y="0"/>
                  </a:moveTo>
                  <a:lnTo>
                    <a:pt x="10407848" y="0"/>
                  </a:lnTo>
                  <a:lnTo>
                    <a:pt x="10407848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0"/>
              <a:ext cx="10407848" cy="16069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93871" lvl="1" indent="-246936" algn="l">
                <a:lnSpc>
                  <a:spcPts val="3725"/>
                </a:lnSpc>
                <a:buFont typeface="Arial"/>
                <a:buChar char="•"/>
              </a:pPr>
              <a:r>
                <a:rPr lang="en-US" sz="22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Join lines back into a single string after cleaning.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11275814" y="4702671"/>
            <a:ext cx="4252912" cy="3189685"/>
          </a:xfrm>
          <a:custGeom>
            <a:avLst/>
            <a:gdLst/>
            <a:ahLst/>
            <a:cxnLst/>
            <a:rect l="l" t="t" r="r" b="b"/>
            <a:pathLst>
              <a:path w="4252912" h="3189685">
                <a:moveTo>
                  <a:pt x="0" y="0"/>
                </a:moveTo>
                <a:lnTo>
                  <a:pt x="4252912" y="0"/>
                </a:lnTo>
                <a:lnTo>
                  <a:pt x="4252912" y="3189685"/>
                </a:lnTo>
                <a:lnTo>
                  <a:pt x="0" y="3189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" r="-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097608"/>
            <a:ext cx="11276559" cy="790724"/>
            <a:chOff x="0" y="0"/>
            <a:chExt cx="15035412" cy="1054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35412" cy="1054298"/>
            </a:xfrm>
            <a:custGeom>
              <a:avLst/>
              <a:gdLst/>
              <a:ahLst/>
              <a:cxnLst/>
              <a:rect l="l" t="t" r="r" b="b"/>
              <a:pathLst>
                <a:path w="15035412" h="1054298">
                  <a:moveTo>
                    <a:pt x="0" y="0"/>
                  </a:moveTo>
                  <a:lnTo>
                    <a:pt x="15035412" y="0"/>
                  </a:lnTo>
                  <a:lnTo>
                    <a:pt x="15035412" y="1054298"/>
                  </a:lnTo>
                  <a:lnTo>
                    <a:pt x="0" y="1054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5035412" cy="10733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87"/>
                </a:lnSpc>
              </a:pPr>
              <a:r>
                <a:rPr lang="en-US" sz="493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Command-line Arguments &amp; User input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370236"/>
            <a:ext cx="16303526" cy="481905"/>
            <a:chOff x="0" y="0"/>
            <a:chExt cx="21738035" cy="6425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642540"/>
            </a:xfrm>
            <a:custGeom>
              <a:avLst/>
              <a:gdLst/>
              <a:ahLst/>
              <a:cxnLst/>
              <a:rect l="l" t="t" r="r" b="b"/>
              <a:pathLst>
                <a:path w="21738034" h="642540">
                  <a:moveTo>
                    <a:pt x="0" y="0"/>
                  </a:moveTo>
                  <a:lnTo>
                    <a:pt x="21738034" y="0"/>
                  </a:lnTo>
                  <a:lnTo>
                    <a:pt x="21738034" y="642540"/>
                  </a:lnTo>
                  <a:lnTo>
                    <a:pt x="0" y="6425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1738035" cy="737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Command-line arguments and user input allow us to interact with scripts dynamically.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15380" y="3364111"/>
            <a:ext cx="3795712" cy="474315"/>
            <a:chOff x="0" y="0"/>
            <a:chExt cx="5060950" cy="6324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60950" cy="632420"/>
            </a:xfrm>
            <a:custGeom>
              <a:avLst/>
              <a:gdLst/>
              <a:ahLst/>
              <a:cxnLst/>
              <a:rect l="l" t="t" r="r" b="b"/>
              <a:pathLst>
                <a:path w="5060950" h="632420">
                  <a:moveTo>
                    <a:pt x="0" y="0"/>
                  </a:moveTo>
                  <a:lnTo>
                    <a:pt x="5060950" y="0"/>
                  </a:lnTo>
                  <a:lnTo>
                    <a:pt x="5060950" y="632420"/>
                  </a:lnTo>
                  <a:lnTo>
                    <a:pt x="0" y="6324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5060950" cy="641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87"/>
                </a:lnSpc>
              </a:pPr>
              <a:r>
                <a:rPr lang="en-US" sz="2937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sys.argv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7" y="4079379"/>
            <a:ext cx="5041999" cy="1464766"/>
            <a:chOff x="0" y="0"/>
            <a:chExt cx="6722665" cy="19530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722665" cy="1953022"/>
            </a:xfrm>
            <a:custGeom>
              <a:avLst/>
              <a:gdLst/>
              <a:ahLst/>
              <a:cxnLst/>
              <a:rect l="l" t="t" r="r" b="b"/>
              <a:pathLst>
                <a:path w="6722665" h="1953022">
                  <a:moveTo>
                    <a:pt x="0" y="0"/>
                  </a:moveTo>
                  <a:lnTo>
                    <a:pt x="6722665" y="0"/>
                  </a:lnTo>
                  <a:lnTo>
                    <a:pt x="6722665" y="1953022"/>
                  </a:lnTo>
                  <a:lnTo>
                    <a:pt x="0" y="1953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6722665" cy="2038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8016" lvl="1" indent="-164008" algn="l">
                <a:lnSpc>
                  <a:spcPts val="3479"/>
                </a:lnSpc>
                <a:buFont typeface="Arial"/>
                <a:buChar char="•"/>
              </a:pPr>
              <a:r>
                <a:rPr lang="en-US" sz="21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sys.argv is a list that contains the command-line arguments passed to the script. 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7" y="5628382"/>
            <a:ext cx="5041999" cy="2428577"/>
            <a:chOff x="0" y="0"/>
            <a:chExt cx="6722665" cy="323810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22665" cy="3238103"/>
            </a:xfrm>
            <a:custGeom>
              <a:avLst/>
              <a:gdLst/>
              <a:ahLst/>
              <a:cxnLst/>
              <a:rect l="l" t="t" r="r" b="b"/>
              <a:pathLst>
                <a:path w="6722665" h="3238103">
                  <a:moveTo>
                    <a:pt x="0" y="0"/>
                  </a:moveTo>
                  <a:lnTo>
                    <a:pt x="6722665" y="0"/>
                  </a:lnTo>
                  <a:lnTo>
                    <a:pt x="6722665" y="3238103"/>
                  </a:lnTo>
                  <a:lnTo>
                    <a:pt x="0" y="32381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6722665" cy="33238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8016" lvl="1" indent="-164008" algn="l">
                <a:lnSpc>
                  <a:spcPts val="3479"/>
                </a:lnSpc>
                <a:buFont typeface="Arial"/>
                <a:buChar char="•"/>
              </a:pPr>
              <a:r>
                <a:rPr lang="en-US" sz="21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The first element, sys.argv[0], is always the name of the script itself. The remaining elements are the arguments passed after the script name.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54776" y="3364111"/>
            <a:ext cx="3795712" cy="474315"/>
            <a:chOff x="0" y="0"/>
            <a:chExt cx="5060950" cy="6324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60950" cy="632420"/>
            </a:xfrm>
            <a:custGeom>
              <a:avLst/>
              <a:gdLst/>
              <a:ahLst/>
              <a:cxnLst/>
              <a:rect l="l" t="t" r="r" b="b"/>
              <a:pathLst>
                <a:path w="5060950" h="632420">
                  <a:moveTo>
                    <a:pt x="0" y="0"/>
                  </a:moveTo>
                  <a:lnTo>
                    <a:pt x="5060950" y="0"/>
                  </a:lnTo>
                  <a:lnTo>
                    <a:pt x="5060950" y="632420"/>
                  </a:lnTo>
                  <a:lnTo>
                    <a:pt x="0" y="6324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5060950" cy="641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87"/>
                </a:lnSpc>
              </a:pPr>
              <a:r>
                <a:rPr lang="en-US" sz="2937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argparse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31632" y="4079379"/>
            <a:ext cx="5041999" cy="2428578"/>
            <a:chOff x="0" y="0"/>
            <a:chExt cx="6722665" cy="323810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722665" cy="3238103"/>
            </a:xfrm>
            <a:custGeom>
              <a:avLst/>
              <a:gdLst/>
              <a:ahLst/>
              <a:cxnLst/>
              <a:rect l="l" t="t" r="r" b="b"/>
              <a:pathLst>
                <a:path w="6722665" h="3238103">
                  <a:moveTo>
                    <a:pt x="0" y="0"/>
                  </a:moveTo>
                  <a:lnTo>
                    <a:pt x="6722665" y="0"/>
                  </a:lnTo>
                  <a:lnTo>
                    <a:pt x="6722665" y="3238103"/>
                  </a:lnTo>
                  <a:lnTo>
                    <a:pt x="0" y="32381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6722665" cy="33238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8016" lvl="1" indent="-164008" algn="l">
                <a:lnSpc>
                  <a:spcPts val="3479"/>
                </a:lnSpc>
                <a:buFont typeface="Arial"/>
                <a:buChar char="•"/>
              </a:pPr>
              <a:r>
                <a:rPr lang="en-US" sz="21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argparse is a more flexible and user-friendly as it allows you to specify argument types, defaults, and provides automatic help messages.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31632" y="6592192"/>
            <a:ext cx="5041999" cy="963811"/>
            <a:chOff x="0" y="0"/>
            <a:chExt cx="6722665" cy="128508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722665" cy="1285082"/>
            </a:xfrm>
            <a:custGeom>
              <a:avLst/>
              <a:gdLst/>
              <a:ahLst/>
              <a:cxnLst/>
              <a:rect l="l" t="t" r="r" b="b"/>
              <a:pathLst>
                <a:path w="6722665" h="1285082">
                  <a:moveTo>
                    <a:pt x="0" y="0"/>
                  </a:moveTo>
                  <a:lnTo>
                    <a:pt x="6722665" y="0"/>
                  </a:lnTo>
                  <a:lnTo>
                    <a:pt x="6722665" y="1285082"/>
                  </a:lnTo>
                  <a:lnTo>
                    <a:pt x="0" y="12850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6722665" cy="13708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8016" lvl="1" indent="-164008" algn="l">
                <a:lnSpc>
                  <a:spcPts val="3479"/>
                </a:lnSpc>
                <a:buFont typeface="Arial"/>
                <a:buChar char="•"/>
              </a:pPr>
              <a:r>
                <a:rPr lang="en-US" sz="21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You can add a description of what each argument is for.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894171" y="3364111"/>
            <a:ext cx="3795712" cy="474315"/>
            <a:chOff x="0" y="0"/>
            <a:chExt cx="5060950" cy="6324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060950" cy="632420"/>
            </a:xfrm>
            <a:custGeom>
              <a:avLst/>
              <a:gdLst/>
              <a:ahLst/>
              <a:cxnLst/>
              <a:rect l="l" t="t" r="r" b="b"/>
              <a:pathLst>
                <a:path w="5060950" h="632420">
                  <a:moveTo>
                    <a:pt x="0" y="0"/>
                  </a:moveTo>
                  <a:lnTo>
                    <a:pt x="5060950" y="0"/>
                  </a:lnTo>
                  <a:lnTo>
                    <a:pt x="5060950" y="632420"/>
                  </a:lnTo>
                  <a:lnTo>
                    <a:pt x="0" y="6324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5060950" cy="6419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87"/>
                </a:lnSpc>
              </a:pPr>
              <a:r>
                <a:rPr lang="en-US" sz="2937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input()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271027" y="4079379"/>
            <a:ext cx="5041999" cy="963811"/>
            <a:chOff x="0" y="0"/>
            <a:chExt cx="6722665" cy="128508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22665" cy="1285082"/>
            </a:xfrm>
            <a:custGeom>
              <a:avLst/>
              <a:gdLst/>
              <a:ahLst/>
              <a:cxnLst/>
              <a:rect l="l" t="t" r="r" b="b"/>
              <a:pathLst>
                <a:path w="6722665" h="1285082">
                  <a:moveTo>
                    <a:pt x="0" y="0"/>
                  </a:moveTo>
                  <a:lnTo>
                    <a:pt x="6722665" y="0"/>
                  </a:lnTo>
                  <a:lnTo>
                    <a:pt x="6722665" y="1285082"/>
                  </a:lnTo>
                  <a:lnTo>
                    <a:pt x="0" y="12850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85725"/>
              <a:ext cx="6722665" cy="13708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8016" lvl="1" indent="-164008" algn="l">
                <a:lnSpc>
                  <a:spcPts val="3479"/>
                </a:lnSpc>
                <a:buFont typeface="Arial"/>
                <a:buChar char="•"/>
              </a:pPr>
              <a:r>
                <a:rPr lang="en-US" sz="21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This can be useful in interactive scripts.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71027" y="5127426"/>
            <a:ext cx="5041999" cy="1927622"/>
            <a:chOff x="0" y="0"/>
            <a:chExt cx="6722665" cy="257016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722665" cy="2570163"/>
            </a:xfrm>
            <a:custGeom>
              <a:avLst/>
              <a:gdLst/>
              <a:ahLst/>
              <a:cxnLst/>
              <a:rect l="l" t="t" r="r" b="b"/>
              <a:pathLst>
                <a:path w="6722665" h="2570163">
                  <a:moveTo>
                    <a:pt x="0" y="0"/>
                  </a:moveTo>
                  <a:lnTo>
                    <a:pt x="6722665" y="0"/>
                  </a:lnTo>
                  <a:lnTo>
                    <a:pt x="6722665" y="2570163"/>
                  </a:lnTo>
                  <a:lnTo>
                    <a:pt x="0" y="25701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6722665" cy="2655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8016" lvl="1" indent="-164008" algn="l">
                <a:lnSpc>
                  <a:spcPts val="3479"/>
                </a:lnSpc>
                <a:buFont typeface="Arial"/>
                <a:buChar char="•"/>
              </a:pPr>
              <a:r>
                <a:rPr lang="en-US" sz="21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Allows the user to type something in response to a prompt, and the program will wait for them to submit it.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271027" y="7271891"/>
            <a:ext cx="5041999" cy="481905"/>
            <a:chOff x="0" y="0"/>
            <a:chExt cx="6722665" cy="6425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722665" cy="642540"/>
            </a:xfrm>
            <a:custGeom>
              <a:avLst/>
              <a:gdLst/>
              <a:ahLst/>
              <a:cxnLst/>
              <a:rect l="l" t="t" r="r" b="b"/>
              <a:pathLst>
                <a:path w="6722665" h="642540">
                  <a:moveTo>
                    <a:pt x="0" y="0"/>
                  </a:moveTo>
                  <a:lnTo>
                    <a:pt x="6722665" y="0"/>
                  </a:lnTo>
                  <a:lnTo>
                    <a:pt x="6722665" y="642540"/>
                  </a:lnTo>
                  <a:lnTo>
                    <a:pt x="0" y="6425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0"/>
              <a:ext cx="6722665" cy="737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Syntax:</a:t>
              </a:r>
              <a:r>
                <a:rPr lang="en-US" sz="231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271027" y="7970639"/>
            <a:ext cx="5041999" cy="1001911"/>
            <a:chOff x="0" y="0"/>
            <a:chExt cx="6722665" cy="133588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722665" cy="1335882"/>
            </a:xfrm>
            <a:custGeom>
              <a:avLst/>
              <a:gdLst/>
              <a:ahLst/>
              <a:cxnLst/>
              <a:rect l="l" t="t" r="r" b="b"/>
              <a:pathLst>
                <a:path w="6722665" h="1335882">
                  <a:moveTo>
                    <a:pt x="0" y="0"/>
                  </a:moveTo>
                  <a:lnTo>
                    <a:pt x="6722665" y="0"/>
                  </a:lnTo>
                  <a:lnTo>
                    <a:pt x="6722665" y="1335882"/>
                  </a:lnTo>
                  <a:lnTo>
                    <a:pt x="0" y="13358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42875"/>
              <a:ext cx="6722665" cy="14787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312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user_input = input("Please enter something: ")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976461"/>
            <a:ext cx="7070526" cy="883741"/>
            <a:chOff x="0" y="0"/>
            <a:chExt cx="9427368" cy="11783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27368" cy="1178322"/>
            </a:xfrm>
            <a:custGeom>
              <a:avLst/>
              <a:gdLst/>
              <a:ahLst/>
              <a:cxnLst/>
              <a:rect l="l" t="t" r="r" b="b"/>
              <a:pathLst>
                <a:path w="9427368" h="1178322">
                  <a:moveTo>
                    <a:pt x="0" y="0"/>
                  </a:moveTo>
                  <a:lnTo>
                    <a:pt x="9427368" y="0"/>
                  </a:lnTo>
                  <a:lnTo>
                    <a:pt x="9427368" y="1178322"/>
                  </a:lnTo>
                  <a:lnTo>
                    <a:pt x="0" y="1178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427368" cy="12068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Hands-on Activity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7" y="2398811"/>
            <a:ext cx="16303526" cy="538609"/>
            <a:chOff x="0" y="0"/>
            <a:chExt cx="21738035" cy="7181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718145"/>
            </a:xfrm>
            <a:custGeom>
              <a:avLst/>
              <a:gdLst/>
              <a:ahLst/>
              <a:cxnLst/>
              <a:rect l="l" t="t" r="r" b="b"/>
              <a:pathLst>
                <a:path w="21738034" h="718145">
                  <a:moveTo>
                    <a:pt x="0" y="0"/>
                  </a:moveTo>
                  <a:lnTo>
                    <a:pt x="21738034" y="0"/>
                  </a:lnTo>
                  <a:lnTo>
                    <a:pt x="21738034" y="718145"/>
                  </a:lnTo>
                  <a:lnTo>
                    <a:pt x="0" y="718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1738035" cy="8133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47"/>
                </a:lnSpc>
              </a:pPr>
              <a:r>
                <a:rPr lang="en-US" sz="2724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 interactive DevOps deployment script using input():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7" y="3240435"/>
            <a:ext cx="16303526" cy="1077218"/>
            <a:chOff x="0" y="0"/>
            <a:chExt cx="21738035" cy="14362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8034" cy="1436290"/>
            </a:xfrm>
            <a:custGeom>
              <a:avLst/>
              <a:gdLst/>
              <a:ahLst/>
              <a:cxnLst/>
              <a:rect l="l" t="t" r="r" b="b"/>
              <a:pathLst>
                <a:path w="21738034" h="1436290">
                  <a:moveTo>
                    <a:pt x="0" y="0"/>
                  </a:moveTo>
                  <a:lnTo>
                    <a:pt x="21738034" y="0"/>
                  </a:lnTo>
                  <a:lnTo>
                    <a:pt x="21738034" y="1436290"/>
                  </a:lnTo>
                  <a:lnTo>
                    <a:pt x="0" y="1436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1738035" cy="15315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6132" lvl="1" indent="-163066" algn="l">
                <a:lnSpc>
                  <a:spcPts val="3538"/>
                </a:lnSpc>
                <a:buFont typeface="Arial"/>
                <a:buChar char="•"/>
              </a:pP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Write the python code where it prompts the user for confirmation and environment selection before proceeding with deployment.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7" y="4738389"/>
            <a:ext cx="3535264" cy="441722"/>
            <a:chOff x="0" y="0"/>
            <a:chExt cx="4713685" cy="5889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13685" cy="588963"/>
            </a:xfrm>
            <a:custGeom>
              <a:avLst/>
              <a:gdLst/>
              <a:ahLst/>
              <a:cxnLst/>
              <a:rect l="l" t="t" r="r" b="b"/>
              <a:pathLst>
                <a:path w="4713685" h="588963">
                  <a:moveTo>
                    <a:pt x="0" y="0"/>
                  </a:moveTo>
                  <a:lnTo>
                    <a:pt x="4713685" y="0"/>
                  </a:lnTo>
                  <a:lnTo>
                    <a:pt x="4713685" y="588963"/>
                  </a:lnTo>
                  <a:lnTo>
                    <a:pt x="0" y="588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4713685" cy="6080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37"/>
                </a:lnSpc>
              </a:pPr>
              <a:r>
                <a:rPr lang="en-US" sz="2750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Goal: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7" y="5600849"/>
            <a:ext cx="7823150" cy="538609"/>
            <a:chOff x="0" y="0"/>
            <a:chExt cx="10430867" cy="71814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30866" cy="718145"/>
            </a:xfrm>
            <a:custGeom>
              <a:avLst/>
              <a:gdLst/>
              <a:ahLst/>
              <a:cxnLst/>
              <a:rect l="l" t="t" r="r" b="b"/>
              <a:pathLst>
                <a:path w="10430866" h="718145">
                  <a:moveTo>
                    <a:pt x="0" y="0"/>
                  </a:moveTo>
                  <a:lnTo>
                    <a:pt x="10430866" y="0"/>
                  </a:lnTo>
                  <a:lnTo>
                    <a:pt x="10430866" y="718145"/>
                  </a:lnTo>
                  <a:lnTo>
                    <a:pt x="0" y="718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10430867" cy="8133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88473" lvl="1" indent="-244236" algn="l">
                <a:lnSpc>
                  <a:spcPts val="3702"/>
                </a:lnSpc>
                <a:buFont typeface="Arial"/>
                <a:buChar char="•"/>
              </a:pPr>
              <a:r>
                <a:rPr lang="en-US" sz="22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Ask for confirmation to start the deployment.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2237" y="6233666"/>
            <a:ext cx="7823150" cy="1077217"/>
            <a:chOff x="0" y="0"/>
            <a:chExt cx="10430867" cy="14362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30866" cy="1436290"/>
            </a:xfrm>
            <a:custGeom>
              <a:avLst/>
              <a:gdLst/>
              <a:ahLst/>
              <a:cxnLst/>
              <a:rect l="l" t="t" r="r" b="b"/>
              <a:pathLst>
                <a:path w="10430866" h="1436290">
                  <a:moveTo>
                    <a:pt x="0" y="0"/>
                  </a:moveTo>
                  <a:lnTo>
                    <a:pt x="10430866" y="0"/>
                  </a:lnTo>
                  <a:lnTo>
                    <a:pt x="10430866" y="1436290"/>
                  </a:lnTo>
                  <a:lnTo>
                    <a:pt x="0" y="1436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10430867" cy="15315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88473" lvl="1" indent="-244236" algn="l">
                <a:lnSpc>
                  <a:spcPts val="3702"/>
                </a:lnSpc>
                <a:buFont typeface="Arial"/>
                <a:buChar char="•"/>
              </a:pPr>
              <a:r>
                <a:rPr lang="en-US" sz="22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Prompt for the environment (production/staging).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2237" y="6993611"/>
            <a:ext cx="7823150" cy="1077217"/>
            <a:chOff x="0" y="0"/>
            <a:chExt cx="10430867" cy="14362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30866" cy="1436290"/>
            </a:xfrm>
            <a:custGeom>
              <a:avLst/>
              <a:gdLst/>
              <a:ahLst/>
              <a:cxnLst/>
              <a:rect l="l" t="t" r="r" b="b"/>
              <a:pathLst>
                <a:path w="10430866" h="1436290">
                  <a:moveTo>
                    <a:pt x="0" y="0"/>
                  </a:moveTo>
                  <a:lnTo>
                    <a:pt x="10430866" y="0"/>
                  </a:lnTo>
                  <a:lnTo>
                    <a:pt x="10430866" y="1436290"/>
                  </a:lnTo>
                  <a:lnTo>
                    <a:pt x="0" y="1436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0"/>
              <a:ext cx="10430867" cy="15315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488473" lvl="1" indent="-244236" algn="l">
                <a:lnSpc>
                  <a:spcPts val="3702"/>
                </a:lnSpc>
                <a:buFont typeface="Arial"/>
                <a:buChar char="•"/>
              </a:pPr>
              <a:r>
                <a:rPr lang="en-US" sz="22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Simulate a deployment based on the selected environment.</a:t>
              </a:r>
            </a:p>
          </p:txBody>
        </p:sp>
      </p:grpSp>
      <p:sp>
        <p:nvSpPr>
          <p:cNvPr id="27" name="Freeform 27" descr="preencoded.png"/>
          <p:cNvSpPr/>
          <p:nvPr/>
        </p:nvSpPr>
        <p:spPr>
          <a:xfrm>
            <a:off x="11373594" y="4876651"/>
            <a:ext cx="4040238" cy="3030141"/>
          </a:xfrm>
          <a:custGeom>
            <a:avLst/>
            <a:gdLst/>
            <a:ahLst/>
            <a:cxnLst/>
            <a:rect l="l" t="t" r="r" b="b"/>
            <a:pathLst>
              <a:path w="4040238" h="3030141">
                <a:moveTo>
                  <a:pt x="0" y="0"/>
                </a:moveTo>
                <a:lnTo>
                  <a:pt x="4040237" y="0"/>
                </a:lnTo>
                <a:lnTo>
                  <a:pt x="4040237" y="3030141"/>
                </a:lnTo>
                <a:lnTo>
                  <a:pt x="0" y="3030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120974"/>
            <a:ext cx="9031189" cy="790724"/>
            <a:chOff x="0" y="0"/>
            <a:chExt cx="12041585" cy="105429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41585" cy="1054298"/>
            </a:xfrm>
            <a:custGeom>
              <a:avLst/>
              <a:gdLst/>
              <a:ahLst/>
              <a:cxnLst/>
              <a:rect l="l" t="t" r="r" b="b"/>
              <a:pathLst>
                <a:path w="12041585" h="1054298">
                  <a:moveTo>
                    <a:pt x="0" y="0"/>
                  </a:moveTo>
                  <a:lnTo>
                    <a:pt x="12041585" y="0"/>
                  </a:lnTo>
                  <a:lnTo>
                    <a:pt x="12041585" y="1054298"/>
                  </a:lnTo>
                  <a:lnTo>
                    <a:pt x="0" y="1054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2041585" cy="10733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87"/>
                </a:lnSpc>
              </a:pPr>
              <a:r>
                <a:rPr lang="en-US" sz="493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Package Management in Python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7" y="2273201"/>
            <a:ext cx="16303526" cy="990530"/>
            <a:chOff x="0" y="0"/>
            <a:chExt cx="21738035" cy="13207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1320707"/>
            </a:xfrm>
            <a:custGeom>
              <a:avLst/>
              <a:gdLst/>
              <a:ahLst/>
              <a:cxnLst/>
              <a:rect l="l" t="t" r="r" b="b"/>
              <a:pathLst>
                <a:path w="21738034" h="1320707">
                  <a:moveTo>
                    <a:pt x="0" y="0"/>
                  </a:moveTo>
                  <a:lnTo>
                    <a:pt x="21738034" y="0"/>
                  </a:lnTo>
                  <a:lnTo>
                    <a:pt x="21738034" y="1320707"/>
                  </a:lnTo>
                  <a:lnTo>
                    <a:pt x="0" y="13207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1738035" cy="1425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4"/>
                </a:lnSpc>
              </a:pPr>
              <a:r>
                <a:rPr lang="en-US" sz="251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pip is Python's default package manager, used to install, upgrade, and remove Python packages from the Python Package Index (PyPI).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7" y="3527077"/>
            <a:ext cx="16303526" cy="481905"/>
            <a:chOff x="0" y="0"/>
            <a:chExt cx="21738035" cy="6425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8034" cy="642540"/>
            </a:xfrm>
            <a:custGeom>
              <a:avLst/>
              <a:gdLst/>
              <a:ahLst/>
              <a:cxnLst/>
              <a:rect l="l" t="t" r="r" b="b"/>
              <a:pathLst>
                <a:path w="21738034" h="642540">
                  <a:moveTo>
                    <a:pt x="0" y="0"/>
                  </a:moveTo>
                  <a:lnTo>
                    <a:pt x="21738034" y="0"/>
                  </a:lnTo>
                  <a:lnTo>
                    <a:pt x="21738034" y="642540"/>
                  </a:lnTo>
                  <a:lnTo>
                    <a:pt x="0" y="6425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21738035" cy="747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4"/>
                </a:lnSpc>
              </a:pPr>
              <a:r>
                <a:rPr lang="en-US" sz="2512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Basic </a:t>
              </a:r>
              <a:r>
                <a:rPr lang="en-US" sz="251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pip</a:t>
              </a:r>
              <a:r>
                <a:rPr lang="en-US" sz="2512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Commands</a:t>
              </a:r>
              <a:r>
                <a:rPr lang="en-US" sz="251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7" y="4279999"/>
            <a:ext cx="16303526" cy="500955"/>
            <a:chOff x="0" y="0"/>
            <a:chExt cx="21738035" cy="6679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38034" cy="667940"/>
            </a:xfrm>
            <a:custGeom>
              <a:avLst/>
              <a:gdLst/>
              <a:ahLst/>
              <a:cxnLst/>
              <a:rect l="l" t="t" r="r" b="b"/>
              <a:pathLst>
                <a:path w="21738034" h="667940">
                  <a:moveTo>
                    <a:pt x="0" y="0"/>
                  </a:moveTo>
                  <a:lnTo>
                    <a:pt x="21738034" y="0"/>
                  </a:lnTo>
                  <a:lnTo>
                    <a:pt x="21738034" y="667940"/>
                  </a:lnTo>
                  <a:lnTo>
                    <a:pt x="0" y="6679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21738035" cy="753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3097" lvl="1" indent="-171548" algn="l">
                <a:lnSpc>
                  <a:spcPts val="3639"/>
                </a:lnSpc>
                <a:buFont typeface="Arial"/>
                <a:buChar char="•"/>
              </a:pPr>
              <a:r>
                <a:rPr lang="en-US" sz="2274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Install packages</a:t>
              </a:r>
              <a:r>
                <a:rPr lang="en-US" sz="22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Use pip to install libraries or packages.  [pipx for MAC users]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7" y="4865191"/>
            <a:ext cx="16303526" cy="982861"/>
            <a:chOff x="0" y="0"/>
            <a:chExt cx="21738035" cy="131048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738034" cy="1310482"/>
            </a:xfrm>
            <a:custGeom>
              <a:avLst/>
              <a:gdLst/>
              <a:ahLst/>
              <a:cxnLst/>
              <a:rect l="l" t="t" r="r" b="b"/>
              <a:pathLst>
                <a:path w="21738034" h="1310482">
                  <a:moveTo>
                    <a:pt x="0" y="0"/>
                  </a:moveTo>
                  <a:lnTo>
                    <a:pt x="21738034" y="0"/>
                  </a:lnTo>
                  <a:lnTo>
                    <a:pt x="21738034" y="1310482"/>
                  </a:lnTo>
                  <a:lnTo>
                    <a:pt x="0" y="13104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21738035" cy="13962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3097" lvl="1" indent="-171548" algn="l">
                <a:lnSpc>
                  <a:spcPts val="3639"/>
                </a:lnSpc>
                <a:buFont typeface="Arial"/>
                <a:buChar char="•"/>
              </a:pPr>
              <a:r>
                <a:rPr lang="en-US" sz="2274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Freeze dependencies</a:t>
              </a:r>
              <a:r>
                <a:rPr lang="en-US" sz="227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Generate a requirements.txt file with all the installed dependencies, which can be used to recreate the environment on another system.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2238" y="7137052"/>
            <a:ext cx="16303526" cy="28575"/>
            <a:chOff x="0" y="0"/>
            <a:chExt cx="21738035" cy="381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38082" cy="38100"/>
            </a:xfrm>
            <a:custGeom>
              <a:avLst/>
              <a:gdLst/>
              <a:ahLst/>
              <a:cxnLst/>
              <a:rect l="l" t="t" r="r" b="b"/>
              <a:pathLst>
                <a:path w="2173808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19032" y="0"/>
                  </a:lnTo>
                  <a:cubicBezTo>
                    <a:pt x="21729573" y="0"/>
                    <a:pt x="21738082" y="8509"/>
                    <a:pt x="21738082" y="19050"/>
                  </a:cubicBezTo>
                  <a:cubicBezTo>
                    <a:pt x="21738082" y="29591"/>
                    <a:pt x="21729573" y="38100"/>
                    <a:pt x="217190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614737" y="7136979"/>
            <a:ext cx="28575" cy="843409"/>
            <a:chOff x="0" y="0"/>
            <a:chExt cx="38100" cy="112454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8100" cy="1124585"/>
            </a:xfrm>
            <a:custGeom>
              <a:avLst/>
              <a:gdLst/>
              <a:ahLst/>
              <a:cxnLst/>
              <a:rect l="l" t="t" r="r" b="b"/>
              <a:pathLst>
                <a:path w="38100" h="112458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105535"/>
                  </a:lnTo>
                  <a:cubicBezTo>
                    <a:pt x="38100" y="1116076"/>
                    <a:pt x="29591" y="1124585"/>
                    <a:pt x="19050" y="1124585"/>
                  </a:cubicBezTo>
                  <a:cubicBezTo>
                    <a:pt x="8509" y="1124585"/>
                    <a:pt x="0" y="1116076"/>
                    <a:pt x="0" y="1105535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358009" y="6865962"/>
            <a:ext cx="542181" cy="542181"/>
            <a:chOff x="0" y="0"/>
            <a:chExt cx="722908" cy="72290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674751" y="0"/>
                  </a:lnTo>
                  <a:cubicBezTo>
                    <a:pt x="701421" y="0"/>
                    <a:pt x="723011" y="21590"/>
                    <a:pt x="723011" y="48260"/>
                  </a:cubicBezTo>
                  <a:lnTo>
                    <a:pt x="723011" y="674751"/>
                  </a:lnTo>
                  <a:cubicBezTo>
                    <a:pt x="723011" y="701421"/>
                    <a:pt x="701421" y="723011"/>
                    <a:pt x="674751" y="723011"/>
                  </a:cubicBezTo>
                  <a:lnTo>
                    <a:pt x="48260" y="723011"/>
                  </a:lnTo>
                  <a:cubicBezTo>
                    <a:pt x="21590" y="723011"/>
                    <a:pt x="0" y="701421"/>
                    <a:pt x="0" y="674751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527822" y="6947222"/>
            <a:ext cx="202406" cy="379511"/>
            <a:chOff x="0" y="0"/>
            <a:chExt cx="269875" cy="50601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69875" cy="506015"/>
            </a:xfrm>
            <a:custGeom>
              <a:avLst/>
              <a:gdLst/>
              <a:ahLst/>
              <a:cxnLst/>
              <a:rect l="l" t="t" r="r" b="b"/>
              <a:pathLst>
                <a:path w="269875" h="506015">
                  <a:moveTo>
                    <a:pt x="0" y="0"/>
                  </a:moveTo>
                  <a:lnTo>
                    <a:pt x="269875" y="0"/>
                  </a:lnTo>
                  <a:lnTo>
                    <a:pt x="269875" y="506015"/>
                  </a:lnTo>
                  <a:lnTo>
                    <a:pt x="0" y="506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57150"/>
              <a:ext cx="269875" cy="448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1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82800" y="8221564"/>
            <a:ext cx="3892600" cy="395288"/>
            <a:chOff x="0" y="0"/>
            <a:chExt cx="5190133" cy="5270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190133" cy="527050"/>
            </a:xfrm>
            <a:custGeom>
              <a:avLst/>
              <a:gdLst/>
              <a:ahLst/>
              <a:cxnLst/>
              <a:rect l="l" t="t" r="r" b="b"/>
              <a:pathLst>
                <a:path w="5190133" h="527050">
                  <a:moveTo>
                    <a:pt x="0" y="0"/>
                  </a:moveTo>
                  <a:lnTo>
                    <a:pt x="5190133" y="0"/>
                  </a:lnTo>
                  <a:lnTo>
                    <a:pt x="5190133" y="527050"/>
                  </a:lnTo>
                  <a:lnTo>
                    <a:pt x="0" y="5270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5190133" cy="546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2437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Install Packages with pip: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33190" y="8761362"/>
            <a:ext cx="4791968" cy="409810"/>
            <a:chOff x="0" y="0"/>
            <a:chExt cx="6389290" cy="54641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389290" cy="546413"/>
            </a:xfrm>
            <a:custGeom>
              <a:avLst/>
              <a:gdLst/>
              <a:ahLst/>
              <a:cxnLst/>
              <a:rect l="l" t="t" r="r" b="b"/>
              <a:pathLst>
                <a:path w="6389290" h="546413">
                  <a:moveTo>
                    <a:pt x="0" y="0"/>
                  </a:moveTo>
                  <a:lnTo>
                    <a:pt x="6389290" y="0"/>
                  </a:lnTo>
                  <a:lnTo>
                    <a:pt x="6389290" y="546413"/>
                  </a:lnTo>
                  <a:lnTo>
                    <a:pt x="0" y="5464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23825"/>
              <a:ext cx="6389290" cy="6702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9"/>
                </a:lnSpc>
              </a:pPr>
              <a:r>
                <a:rPr lang="en-US" sz="207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pip install requests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29564" y="7136979"/>
            <a:ext cx="28575" cy="843409"/>
            <a:chOff x="0" y="0"/>
            <a:chExt cx="38100" cy="112454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8100" cy="1124585"/>
            </a:xfrm>
            <a:custGeom>
              <a:avLst/>
              <a:gdLst/>
              <a:ahLst/>
              <a:cxnLst/>
              <a:rect l="l" t="t" r="r" b="b"/>
              <a:pathLst>
                <a:path w="38100" h="112458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105535"/>
                  </a:lnTo>
                  <a:cubicBezTo>
                    <a:pt x="38100" y="1116076"/>
                    <a:pt x="29591" y="1124585"/>
                    <a:pt x="19050" y="1124585"/>
                  </a:cubicBezTo>
                  <a:cubicBezTo>
                    <a:pt x="8509" y="1124585"/>
                    <a:pt x="0" y="1116076"/>
                    <a:pt x="0" y="1105535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872835" y="6865962"/>
            <a:ext cx="542181" cy="542181"/>
            <a:chOff x="0" y="0"/>
            <a:chExt cx="722908" cy="72290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674751" y="0"/>
                  </a:lnTo>
                  <a:cubicBezTo>
                    <a:pt x="701421" y="0"/>
                    <a:pt x="723011" y="21590"/>
                    <a:pt x="723011" y="48260"/>
                  </a:cubicBezTo>
                  <a:lnTo>
                    <a:pt x="723011" y="674751"/>
                  </a:lnTo>
                  <a:cubicBezTo>
                    <a:pt x="723011" y="701421"/>
                    <a:pt x="701421" y="723011"/>
                    <a:pt x="674751" y="723011"/>
                  </a:cubicBezTo>
                  <a:lnTo>
                    <a:pt x="48260" y="723011"/>
                  </a:lnTo>
                  <a:cubicBezTo>
                    <a:pt x="21590" y="723011"/>
                    <a:pt x="0" y="701421"/>
                    <a:pt x="0" y="674751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042648" y="6947222"/>
            <a:ext cx="202406" cy="379511"/>
            <a:chOff x="0" y="0"/>
            <a:chExt cx="269875" cy="50601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69875" cy="506015"/>
            </a:xfrm>
            <a:custGeom>
              <a:avLst/>
              <a:gdLst/>
              <a:ahLst/>
              <a:cxnLst/>
              <a:rect l="l" t="t" r="r" b="b"/>
              <a:pathLst>
                <a:path w="269875" h="506015">
                  <a:moveTo>
                    <a:pt x="0" y="0"/>
                  </a:moveTo>
                  <a:lnTo>
                    <a:pt x="269875" y="0"/>
                  </a:lnTo>
                  <a:lnTo>
                    <a:pt x="269875" y="506015"/>
                  </a:lnTo>
                  <a:lnTo>
                    <a:pt x="0" y="506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57150"/>
              <a:ext cx="269875" cy="448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2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343477" y="8221564"/>
            <a:ext cx="3600896" cy="395288"/>
            <a:chOff x="0" y="0"/>
            <a:chExt cx="4801195" cy="5270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801195" cy="527050"/>
            </a:xfrm>
            <a:custGeom>
              <a:avLst/>
              <a:gdLst/>
              <a:ahLst/>
              <a:cxnLst/>
              <a:rect l="l" t="t" r="r" b="b"/>
              <a:pathLst>
                <a:path w="4801195" h="527050">
                  <a:moveTo>
                    <a:pt x="0" y="0"/>
                  </a:moveTo>
                  <a:lnTo>
                    <a:pt x="4801195" y="0"/>
                  </a:lnTo>
                  <a:lnTo>
                    <a:pt x="4801195" y="527050"/>
                  </a:lnTo>
                  <a:lnTo>
                    <a:pt x="0" y="5270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4801195" cy="546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2437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Freezing Dependencies: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48016" y="8761362"/>
            <a:ext cx="4791968" cy="409810"/>
            <a:chOff x="0" y="0"/>
            <a:chExt cx="6389290" cy="54641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389290" cy="546413"/>
            </a:xfrm>
            <a:custGeom>
              <a:avLst/>
              <a:gdLst/>
              <a:ahLst/>
              <a:cxnLst/>
              <a:rect l="l" t="t" r="r" b="b"/>
              <a:pathLst>
                <a:path w="6389290" h="546413">
                  <a:moveTo>
                    <a:pt x="0" y="0"/>
                  </a:moveTo>
                  <a:lnTo>
                    <a:pt x="6389290" y="0"/>
                  </a:lnTo>
                  <a:lnTo>
                    <a:pt x="6389290" y="546413"/>
                  </a:lnTo>
                  <a:lnTo>
                    <a:pt x="0" y="5464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23825"/>
              <a:ext cx="6389290" cy="6702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9"/>
                </a:lnSpc>
              </a:pPr>
              <a:r>
                <a:rPr lang="en-US" sz="207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pip freeze &gt; requirements.txt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644390" y="7136979"/>
            <a:ext cx="28575" cy="843409"/>
            <a:chOff x="0" y="0"/>
            <a:chExt cx="38100" cy="112454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8100" cy="1124585"/>
            </a:xfrm>
            <a:custGeom>
              <a:avLst/>
              <a:gdLst/>
              <a:ahLst/>
              <a:cxnLst/>
              <a:rect l="l" t="t" r="r" b="b"/>
              <a:pathLst>
                <a:path w="38100" h="1124585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105535"/>
                  </a:lnTo>
                  <a:cubicBezTo>
                    <a:pt x="38100" y="1116076"/>
                    <a:pt x="29591" y="1124585"/>
                    <a:pt x="19050" y="1124585"/>
                  </a:cubicBezTo>
                  <a:cubicBezTo>
                    <a:pt x="8509" y="1124585"/>
                    <a:pt x="0" y="1116076"/>
                    <a:pt x="0" y="1105535"/>
                  </a:cubicBezTo>
                  <a:close/>
                </a:path>
              </a:pathLst>
            </a:custGeom>
            <a:solidFill>
              <a:srgbClr val="D8D4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387661" y="6865962"/>
            <a:ext cx="542181" cy="542181"/>
            <a:chOff x="0" y="0"/>
            <a:chExt cx="722908" cy="72290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48260"/>
                  </a:moveTo>
                  <a:cubicBezTo>
                    <a:pt x="0" y="21590"/>
                    <a:pt x="21590" y="0"/>
                    <a:pt x="48260" y="0"/>
                  </a:cubicBezTo>
                  <a:lnTo>
                    <a:pt x="674751" y="0"/>
                  </a:lnTo>
                  <a:cubicBezTo>
                    <a:pt x="701421" y="0"/>
                    <a:pt x="723011" y="21590"/>
                    <a:pt x="723011" y="48260"/>
                  </a:cubicBezTo>
                  <a:lnTo>
                    <a:pt x="723011" y="674751"/>
                  </a:lnTo>
                  <a:cubicBezTo>
                    <a:pt x="723011" y="701421"/>
                    <a:pt x="701421" y="723011"/>
                    <a:pt x="674751" y="723011"/>
                  </a:cubicBezTo>
                  <a:lnTo>
                    <a:pt x="48260" y="723011"/>
                  </a:lnTo>
                  <a:cubicBezTo>
                    <a:pt x="21590" y="723011"/>
                    <a:pt x="0" y="701421"/>
                    <a:pt x="0" y="674751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557474" y="6947222"/>
            <a:ext cx="202406" cy="379511"/>
            <a:chOff x="0" y="0"/>
            <a:chExt cx="269875" cy="50601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69875" cy="506015"/>
            </a:xfrm>
            <a:custGeom>
              <a:avLst/>
              <a:gdLst/>
              <a:ahLst/>
              <a:cxnLst/>
              <a:rect l="l" t="t" r="r" b="b"/>
              <a:pathLst>
                <a:path w="269875" h="506015">
                  <a:moveTo>
                    <a:pt x="0" y="0"/>
                  </a:moveTo>
                  <a:lnTo>
                    <a:pt x="269875" y="0"/>
                  </a:lnTo>
                  <a:lnTo>
                    <a:pt x="269875" y="506015"/>
                  </a:lnTo>
                  <a:lnTo>
                    <a:pt x="0" y="506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57150"/>
              <a:ext cx="269875" cy="448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3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386816" y="8221564"/>
            <a:ext cx="4543871" cy="395288"/>
            <a:chOff x="0" y="0"/>
            <a:chExt cx="6058495" cy="52705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058495" cy="527050"/>
            </a:xfrm>
            <a:custGeom>
              <a:avLst/>
              <a:gdLst/>
              <a:ahLst/>
              <a:cxnLst/>
              <a:rect l="l" t="t" r="r" b="b"/>
              <a:pathLst>
                <a:path w="6058495" h="527050">
                  <a:moveTo>
                    <a:pt x="0" y="0"/>
                  </a:moveTo>
                  <a:lnTo>
                    <a:pt x="6058495" y="0"/>
                  </a:lnTo>
                  <a:lnTo>
                    <a:pt x="6058495" y="527050"/>
                  </a:lnTo>
                  <a:lnTo>
                    <a:pt x="0" y="5270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6058495" cy="546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2437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Install from requirements.txt: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262842" y="8761362"/>
            <a:ext cx="4791968" cy="409810"/>
            <a:chOff x="0" y="0"/>
            <a:chExt cx="6389290" cy="54641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389290" cy="546413"/>
            </a:xfrm>
            <a:custGeom>
              <a:avLst/>
              <a:gdLst/>
              <a:ahLst/>
              <a:cxnLst/>
              <a:rect l="l" t="t" r="r" b="b"/>
              <a:pathLst>
                <a:path w="6389290" h="546413">
                  <a:moveTo>
                    <a:pt x="0" y="0"/>
                  </a:moveTo>
                  <a:lnTo>
                    <a:pt x="6389290" y="0"/>
                  </a:lnTo>
                  <a:lnTo>
                    <a:pt x="6389290" y="546413"/>
                  </a:lnTo>
                  <a:lnTo>
                    <a:pt x="0" y="5464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123825"/>
              <a:ext cx="6389290" cy="6702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9"/>
                </a:lnSpc>
              </a:pPr>
              <a:r>
                <a:rPr lang="en-US" sz="207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pip install -r requirements.txt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4945" y="774650"/>
            <a:ext cx="6649194" cy="831205"/>
            <a:chOff x="0" y="0"/>
            <a:chExt cx="8865592" cy="1108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865591" cy="1108273"/>
            </a:xfrm>
            <a:custGeom>
              <a:avLst/>
              <a:gdLst/>
              <a:ahLst/>
              <a:cxnLst/>
              <a:rect l="l" t="t" r="r" b="b"/>
              <a:pathLst>
                <a:path w="8865591" h="1108273">
                  <a:moveTo>
                    <a:pt x="0" y="0"/>
                  </a:moveTo>
                  <a:lnTo>
                    <a:pt x="8865591" y="0"/>
                  </a:lnTo>
                  <a:lnTo>
                    <a:pt x="8865591" y="1108273"/>
                  </a:lnTo>
                  <a:lnTo>
                    <a:pt x="0" y="1108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865592" cy="114637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500"/>
                </a:lnSpc>
              </a:pPr>
              <a:r>
                <a:rPr lang="en-US" sz="518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Virtual Environments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4945" y="1985665"/>
            <a:ext cx="16318111" cy="405259"/>
            <a:chOff x="0" y="0"/>
            <a:chExt cx="21757482" cy="5403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7481" cy="540345"/>
            </a:xfrm>
            <a:custGeom>
              <a:avLst/>
              <a:gdLst/>
              <a:ahLst/>
              <a:cxnLst/>
              <a:rect l="l" t="t" r="r" b="b"/>
              <a:pathLst>
                <a:path w="21757481" h="540345">
                  <a:moveTo>
                    <a:pt x="0" y="0"/>
                  </a:moveTo>
                  <a:lnTo>
                    <a:pt x="21757481" y="0"/>
                  </a:lnTo>
                  <a:lnTo>
                    <a:pt x="21757481" y="540345"/>
                  </a:lnTo>
                  <a:lnTo>
                    <a:pt x="0" y="540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1757482" cy="6260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7281" lvl="1" indent="-153640" algn="l">
                <a:lnSpc>
                  <a:spcPts val="3352"/>
                </a:lnSpc>
                <a:buFont typeface="Arial"/>
                <a:buChar char="•"/>
              </a:pPr>
              <a:r>
                <a:rPr lang="en-US" sz="203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Global Python environment</a:t>
              </a:r>
              <a:r>
                <a:rPr lang="en-US" sz="20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is the default Python setup on your system, where libraries are installed and available for all projects.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4945" y="2479476"/>
            <a:ext cx="16318111" cy="405259"/>
            <a:chOff x="0" y="0"/>
            <a:chExt cx="21757482" cy="5403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57481" cy="540345"/>
            </a:xfrm>
            <a:custGeom>
              <a:avLst/>
              <a:gdLst/>
              <a:ahLst/>
              <a:cxnLst/>
              <a:rect l="l" t="t" r="r" b="b"/>
              <a:pathLst>
                <a:path w="21757481" h="540345">
                  <a:moveTo>
                    <a:pt x="0" y="0"/>
                  </a:moveTo>
                  <a:lnTo>
                    <a:pt x="21757481" y="0"/>
                  </a:lnTo>
                  <a:lnTo>
                    <a:pt x="21757481" y="540345"/>
                  </a:lnTo>
                  <a:lnTo>
                    <a:pt x="0" y="540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1757482" cy="6260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7281" lvl="1" indent="-153640" algn="l">
                <a:lnSpc>
                  <a:spcPts val="3352"/>
                </a:lnSpc>
                <a:buFont typeface="Arial"/>
                <a:buChar char="•"/>
              </a:pPr>
              <a:r>
                <a:rPr lang="en-US" sz="20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 </a:t>
              </a:r>
              <a:r>
                <a:rPr lang="en-US" sz="2037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virtual environment</a:t>
              </a:r>
              <a:r>
                <a:rPr lang="en-US" sz="20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in Python is like a self-contained workspace for your project.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4945" y="2973289"/>
            <a:ext cx="16318111" cy="810518"/>
            <a:chOff x="0" y="0"/>
            <a:chExt cx="21757482" cy="10806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57481" cy="1080690"/>
            </a:xfrm>
            <a:custGeom>
              <a:avLst/>
              <a:gdLst/>
              <a:ahLst/>
              <a:cxnLst/>
              <a:rect l="l" t="t" r="r" b="b"/>
              <a:pathLst>
                <a:path w="21757481" h="1080690">
                  <a:moveTo>
                    <a:pt x="0" y="0"/>
                  </a:moveTo>
                  <a:lnTo>
                    <a:pt x="21757481" y="0"/>
                  </a:lnTo>
                  <a:lnTo>
                    <a:pt x="21757481" y="1080690"/>
                  </a:lnTo>
                  <a:lnTo>
                    <a:pt x="0" y="1080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21757482" cy="11664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07281" lvl="1" indent="-153640" algn="l">
                <a:lnSpc>
                  <a:spcPts val="3352"/>
                </a:lnSpc>
                <a:buFont typeface="Arial"/>
                <a:buChar char="•"/>
              </a:pPr>
              <a:r>
                <a:rPr lang="en-US" sz="20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It allows you to install and manage specific versions of libraries (or dependencies) without affecting other projects or the system-wide Python installation.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984945" y="4068664"/>
            <a:ext cx="633115" cy="633115"/>
          </a:xfrm>
          <a:custGeom>
            <a:avLst/>
            <a:gdLst/>
            <a:ahLst/>
            <a:cxnLst/>
            <a:rect l="l" t="t" r="r" b="b"/>
            <a:pathLst>
              <a:path w="633115" h="633115">
                <a:moveTo>
                  <a:pt x="0" y="0"/>
                </a:moveTo>
                <a:lnTo>
                  <a:pt x="633115" y="0"/>
                </a:lnTo>
                <a:lnTo>
                  <a:pt x="633115" y="633115"/>
                </a:lnTo>
                <a:lnTo>
                  <a:pt x="0" y="633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984945" y="4954935"/>
            <a:ext cx="3989486" cy="498722"/>
            <a:chOff x="0" y="0"/>
            <a:chExt cx="5319315" cy="66496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19315" cy="664963"/>
            </a:xfrm>
            <a:custGeom>
              <a:avLst/>
              <a:gdLst/>
              <a:ahLst/>
              <a:cxnLst/>
              <a:rect l="l" t="t" r="r" b="b"/>
              <a:pathLst>
                <a:path w="5319315" h="664963">
                  <a:moveTo>
                    <a:pt x="0" y="0"/>
                  </a:moveTo>
                  <a:lnTo>
                    <a:pt x="5319315" y="0"/>
                  </a:lnTo>
                  <a:lnTo>
                    <a:pt x="5319315" y="664963"/>
                  </a:lnTo>
                  <a:lnTo>
                    <a:pt x="0" y="664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5319315" cy="6744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5"/>
                </a:lnSpc>
              </a:pPr>
              <a:r>
                <a:rPr lang="en-US" sz="3125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Project Isolation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84945" y="5605611"/>
            <a:ext cx="5186065" cy="2026295"/>
            <a:chOff x="0" y="0"/>
            <a:chExt cx="6914753" cy="27017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914753" cy="2701727"/>
            </a:xfrm>
            <a:custGeom>
              <a:avLst/>
              <a:gdLst/>
              <a:ahLst/>
              <a:cxnLst/>
              <a:rect l="l" t="t" r="r" b="b"/>
              <a:pathLst>
                <a:path w="6914753" h="2701727">
                  <a:moveTo>
                    <a:pt x="0" y="0"/>
                  </a:moveTo>
                  <a:lnTo>
                    <a:pt x="6914753" y="0"/>
                  </a:lnTo>
                  <a:lnTo>
                    <a:pt x="6914753" y="2701727"/>
                  </a:lnTo>
                  <a:lnTo>
                    <a:pt x="0" y="27017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6914753" cy="276840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19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Virtual environments help isolate the dependencies of a project to avoid conflicts with other projects or the global Python environment. Each project can have its own set of packages with specific versions.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6550819" y="4068664"/>
            <a:ext cx="633115" cy="633115"/>
          </a:xfrm>
          <a:custGeom>
            <a:avLst/>
            <a:gdLst/>
            <a:ahLst/>
            <a:cxnLst/>
            <a:rect l="l" t="t" r="r" b="b"/>
            <a:pathLst>
              <a:path w="633115" h="633115">
                <a:moveTo>
                  <a:pt x="0" y="0"/>
                </a:moveTo>
                <a:lnTo>
                  <a:pt x="633115" y="0"/>
                </a:lnTo>
                <a:lnTo>
                  <a:pt x="633115" y="633115"/>
                </a:lnTo>
                <a:lnTo>
                  <a:pt x="0" y="633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6550819" y="4954935"/>
            <a:ext cx="3989486" cy="498722"/>
            <a:chOff x="0" y="0"/>
            <a:chExt cx="5319315" cy="66496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19315" cy="664963"/>
            </a:xfrm>
            <a:custGeom>
              <a:avLst/>
              <a:gdLst/>
              <a:ahLst/>
              <a:cxnLst/>
              <a:rect l="l" t="t" r="r" b="b"/>
              <a:pathLst>
                <a:path w="5319315" h="664963">
                  <a:moveTo>
                    <a:pt x="0" y="0"/>
                  </a:moveTo>
                  <a:lnTo>
                    <a:pt x="5319315" y="0"/>
                  </a:lnTo>
                  <a:lnTo>
                    <a:pt x="5319315" y="664963"/>
                  </a:lnTo>
                  <a:lnTo>
                    <a:pt x="0" y="664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319315" cy="6744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5"/>
                </a:lnSpc>
              </a:pPr>
              <a:r>
                <a:rPr lang="en-US" sz="3125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Environment Creation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550819" y="5605611"/>
            <a:ext cx="5186214" cy="1621036"/>
            <a:chOff x="0" y="0"/>
            <a:chExt cx="6914952" cy="216138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914952" cy="2161382"/>
            </a:xfrm>
            <a:custGeom>
              <a:avLst/>
              <a:gdLst/>
              <a:ahLst/>
              <a:cxnLst/>
              <a:rect l="l" t="t" r="r" b="b"/>
              <a:pathLst>
                <a:path w="6914952" h="2161382">
                  <a:moveTo>
                    <a:pt x="0" y="0"/>
                  </a:moveTo>
                  <a:lnTo>
                    <a:pt x="6914952" y="0"/>
                  </a:lnTo>
                  <a:lnTo>
                    <a:pt x="6914952" y="2161382"/>
                  </a:lnTo>
                  <a:lnTo>
                    <a:pt x="0" y="21613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6914952" cy="222805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19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Create a new virtual environment using the venv module included with Python. This creates a directory containing a copy of the Python interpreter and pip.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50819" y="7511504"/>
            <a:ext cx="5186214" cy="785069"/>
            <a:chOff x="0" y="0"/>
            <a:chExt cx="6914952" cy="104675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15023" cy="1046734"/>
            </a:xfrm>
            <a:custGeom>
              <a:avLst/>
              <a:gdLst/>
              <a:ahLst/>
              <a:cxnLst/>
              <a:rect l="l" t="t" r="r" b="b"/>
              <a:pathLst>
                <a:path w="6915023" h="1046734">
                  <a:moveTo>
                    <a:pt x="0" y="50673"/>
                  </a:moveTo>
                  <a:cubicBezTo>
                    <a:pt x="0" y="22733"/>
                    <a:pt x="22733" y="0"/>
                    <a:pt x="50673" y="0"/>
                  </a:cubicBezTo>
                  <a:lnTo>
                    <a:pt x="6864350" y="0"/>
                  </a:lnTo>
                  <a:cubicBezTo>
                    <a:pt x="6892290" y="0"/>
                    <a:pt x="6915023" y="22733"/>
                    <a:pt x="6915023" y="50673"/>
                  </a:cubicBezTo>
                  <a:lnTo>
                    <a:pt x="6915023" y="996061"/>
                  </a:lnTo>
                  <a:cubicBezTo>
                    <a:pt x="6915023" y="1024001"/>
                    <a:pt x="6892290" y="1046734"/>
                    <a:pt x="6864350" y="1046734"/>
                  </a:cubicBezTo>
                  <a:lnTo>
                    <a:pt x="50673" y="1046734"/>
                  </a:lnTo>
                  <a:cubicBezTo>
                    <a:pt x="22733" y="1046734"/>
                    <a:pt x="0" y="1024128"/>
                    <a:pt x="0" y="996061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538169" y="7511504"/>
            <a:ext cx="5211515" cy="785069"/>
            <a:chOff x="0" y="0"/>
            <a:chExt cx="6948687" cy="104675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948678" cy="1046734"/>
            </a:xfrm>
            <a:custGeom>
              <a:avLst/>
              <a:gdLst/>
              <a:ahLst/>
              <a:cxnLst/>
              <a:rect l="l" t="t" r="r" b="b"/>
              <a:pathLst>
                <a:path w="6948678" h="1046734">
                  <a:moveTo>
                    <a:pt x="0" y="50673"/>
                  </a:moveTo>
                  <a:cubicBezTo>
                    <a:pt x="0" y="22733"/>
                    <a:pt x="22733" y="0"/>
                    <a:pt x="50673" y="0"/>
                  </a:cubicBezTo>
                  <a:lnTo>
                    <a:pt x="6898005" y="0"/>
                  </a:lnTo>
                  <a:cubicBezTo>
                    <a:pt x="6925945" y="0"/>
                    <a:pt x="6948678" y="22733"/>
                    <a:pt x="6948678" y="50673"/>
                  </a:cubicBezTo>
                  <a:lnTo>
                    <a:pt x="6948678" y="996061"/>
                  </a:lnTo>
                  <a:cubicBezTo>
                    <a:pt x="6948678" y="1024001"/>
                    <a:pt x="6925945" y="1046734"/>
                    <a:pt x="6898005" y="1046734"/>
                  </a:cubicBezTo>
                  <a:lnTo>
                    <a:pt x="50673" y="1046734"/>
                  </a:lnTo>
                  <a:cubicBezTo>
                    <a:pt x="22733" y="1046734"/>
                    <a:pt x="0" y="1024128"/>
                    <a:pt x="0" y="996061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91325" y="7701409"/>
            <a:ext cx="4705201" cy="405259"/>
            <a:chOff x="0" y="0"/>
            <a:chExt cx="6273602" cy="54034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273602" cy="540345"/>
            </a:xfrm>
            <a:custGeom>
              <a:avLst/>
              <a:gdLst/>
              <a:ahLst/>
              <a:cxnLst/>
              <a:rect l="l" t="t" r="r" b="b"/>
              <a:pathLst>
                <a:path w="6273602" h="540345">
                  <a:moveTo>
                    <a:pt x="0" y="0"/>
                  </a:moveTo>
                  <a:lnTo>
                    <a:pt x="6273602" y="0"/>
                  </a:lnTo>
                  <a:lnTo>
                    <a:pt x="6273602" y="540345"/>
                  </a:lnTo>
                  <a:lnTo>
                    <a:pt x="0" y="5403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23825"/>
              <a:ext cx="6273602" cy="6641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193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python3 -m venv myenv</a:t>
              </a:r>
            </a:p>
          </p:txBody>
        </p:sp>
      </p:grpSp>
      <p:sp>
        <p:nvSpPr>
          <p:cNvPr id="39" name="Freeform 39" descr="preencoded.png"/>
          <p:cNvSpPr/>
          <p:nvPr/>
        </p:nvSpPr>
        <p:spPr>
          <a:xfrm>
            <a:off x="12116841" y="4068664"/>
            <a:ext cx="633115" cy="633115"/>
          </a:xfrm>
          <a:custGeom>
            <a:avLst/>
            <a:gdLst/>
            <a:ahLst/>
            <a:cxnLst/>
            <a:rect l="l" t="t" r="r" b="b"/>
            <a:pathLst>
              <a:path w="633115" h="633115">
                <a:moveTo>
                  <a:pt x="0" y="0"/>
                </a:moveTo>
                <a:lnTo>
                  <a:pt x="633115" y="0"/>
                </a:lnTo>
                <a:lnTo>
                  <a:pt x="633115" y="633115"/>
                </a:lnTo>
                <a:lnTo>
                  <a:pt x="0" y="6331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12116841" y="4954935"/>
            <a:ext cx="3989486" cy="498722"/>
            <a:chOff x="0" y="0"/>
            <a:chExt cx="5319315" cy="66496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319315" cy="664963"/>
            </a:xfrm>
            <a:custGeom>
              <a:avLst/>
              <a:gdLst/>
              <a:ahLst/>
              <a:cxnLst/>
              <a:rect l="l" t="t" r="r" b="b"/>
              <a:pathLst>
                <a:path w="5319315" h="664963">
                  <a:moveTo>
                    <a:pt x="0" y="0"/>
                  </a:moveTo>
                  <a:lnTo>
                    <a:pt x="5319315" y="0"/>
                  </a:lnTo>
                  <a:lnTo>
                    <a:pt x="5319315" y="664963"/>
                  </a:lnTo>
                  <a:lnTo>
                    <a:pt x="0" y="6649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5319315" cy="6744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5"/>
                </a:lnSpc>
              </a:pPr>
              <a:r>
                <a:rPr lang="en-US" sz="3125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Activation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116841" y="5605611"/>
            <a:ext cx="5186065" cy="1215778"/>
            <a:chOff x="0" y="0"/>
            <a:chExt cx="6914753" cy="162103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914753" cy="1621037"/>
            </a:xfrm>
            <a:custGeom>
              <a:avLst/>
              <a:gdLst/>
              <a:ahLst/>
              <a:cxnLst/>
              <a:rect l="l" t="t" r="r" b="b"/>
              <a:pathLst>
                <a:path w="6914753" h="1621037">
                  <a:moveTo>
                    <a:pt x="0" y="0"/>
                  </a:moveTo>
                  <a:lnTo>
                    <a:pt x="6914753" y="0"/>
                  </a:lnTo>
                  <a:lnTo>
                    <a:pt x="6914753" y="1621037"/>
                  </a:lnTo>
                  <a:lnTo>
                    <a:pt x="0" y="1621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6914753" cy="168771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19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Before using a virtual environment, you need to activate it. The activation process varies by operating system.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116841" y="7106245"/>
            <a:ext cx="5186065" cy="2406104"/>
            <a:chOff x="0" y="0"/>
            <a:chExt cx="6914753" cy="320813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914769" cy="3208147"/>
            </a:xfrm>
            <a:custGeom>
              <a:avLst/>
              <a:gdLst/>
              <a:ahLst/>
              <a:cxnLst/>
              <a:rect l="l" t="t" r="r" b="b"/>
              <a:pathLst>
                <a:path w="6914769" h="3208147">
                  <a:moveTo>
                    <a:pt x="0" y="50673"/>
                  </a:moveTo>
                  <a:cubicBezTo>
                    <a:pt x="0" y="22733"/>
                    <a:pt x="22733" y="0"/>
                    <a:pt x="50673" y="0"/>
                  </a:cubicBezTo>
                  <a:lnTo>
                    <a:pt x="6864096" y="0"/>
                  </a:lnTo>
                  <a:cubicBezTo>
                    <a:pt x="6892036" y="0"/>
                    <a:pt x="6914769" y="22733"/>
                    <a:pt x="6914769" y="50673"/>
                  </a:cubicBezTo>
                  <a:lnTo>
                    <a:pt x="6914769" y="3157474"/>
                  </a:lnTo>
                  <a:cubicBezTo>
                    <a:pt x="6914769" y="3185414"/>
                    <a:pt x="6892036" y="3208147"/>
                    <a:pt x="6864096" y="3208147"/>
                  </a:cubicBezTo>
                  <a:lnTo>
                    <a:pt x="50673" y="3208147"/>
                  </a:lnTo>
                  <a:cubicBezTo>
                    <a:pt x="22733" y="3208147"/>
                    <a:pt x="0" y="3185414"/>
                    <a:pt x="0" y="3157474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104191" y="7106245"/>
            <a:ext cx="5211366" cy="2406104"/>
            <a:chOff x="0" y="0"/>
            <a:chExt cx="6948488" cy="320813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948551" cy="3208147"/>
            </a:xfrm>
            <a:custGeom>
              <a:avLst/>
              <a:gdLst/>
              <a:ahLst/>
              <a:cxnLst/>
              <a:rect l="l" t="t" r="r" b="b"/>
              <a:pathLst>
                <a:path w="6948551" h="3208147">
                  <a:moveTo>
                    <a:pt x="0" y="50673"/>
                  </a:moveTo>
                  <a:cubicBezTo>
                    <a:pt x="0" y="22733"/>
                    <a:pt x="22733" y="0"/>
                    <a:pt x="50673" y="0"/>
                  </a:cubicBezTo>
                  <a:lnTo>
                    <a:pt x="6897878" y="0"/>
                  </a:lnTo>
                  <a:cubicBezTo>
                    <a:pt x="6925818" y="0"/>
                    <a:pt x="6948551" y="22733"/>
                    <a:pt x="6948551" y="50673"/>
                  </a:cubicBezTo>
                  <a:lnTo>
                    <a:pt x="6948551" y="3157474"/>
                  </a:lnTo>
                  <a:cubicBezTo>
                    <a:pt x="6948551" y="3185414"/>
                    <a:pt x="6925818" y="3208147"/>
                    <a:pt x="6897878" y="3208147"/>
                  </a:cubicBezTo>
                  <a:lnTo>
                    <a:pt x="50673" y="3208147"/>
                  </a:lnTo>
                  <a:cubicBezTo>
                    <a:pt x="22733" y="3208147"/>
                    <a:pt x="0" y="3185414"/>
                    <a:pt x="0" y="3157474"/>
                  </a:cubicBezTo>
                  <a:close/>
                </a:path>
              </a:pathLst>
            </a:custGeom>
            <a:solidFill>
              <a:srgbClr val="FFDEC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357348" y="7296150"/>
            <a:ext cx="4705052" cy="2026295"/>
            <a:chOff x="0" y="0"/>
            <a:chExt cx="6273403" cy="2701727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273404" cy="2701727"/>
            </a:xfrm>
            <a:custGeom>
              <a:avLst/>
              <a:gdLst/>
              <a:ahLst/>
              <a:cxnLst/>
              <a:rect l="l" t="t" r="r" b="b"/>
              <a:pathLst>
                <a:path w="6273404" h="2701727">
                  <a:moveTo>
                    <a:pt x="0" y="0"/>
                  </a:moveTo>
                  <a:lnTo>
                    <a:pt x="6273404" y="0"/>
                  </a:lnTo>
                  <a:lnTo>
                    <a:pt x="6273404" y="2701727"/>
                  </a:lnTo>
                  <a:lnTo>
                    <a:pt x="0" y="27017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23825"/>
              <a:ext cx="6273403" cy="282555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7"/>
                </a:lnSpc>
              </a:pPr>
              <a:r>
                <a:rPr lang="en-US" sz="193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# Linux/Mac</a:t>
              </a:r>
            </a:p>
            <a:p>
              <a:pPr algn="l">
                <a:lnSpc>
                  <a:spcPts val="3187"/>
                </a:lnSpc>
              </a:pPr>
              <a:r>
                <a:rPr lang="en-US" sz="193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source myenv/bin/activate</a:t>
              </a:r>
            </a:p>
            <a:p>
              <a:pPr algn="l">
                <a:lnSpc>
                  <a:spcPts val="3187"/>
                </a:lnSpc>
              </a:pPr>
              <a:endParaRPr lang="en-US" sz="1937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187"/>
                </a:lnSpc>
              </a:pPr>
              <a:r>
                <a:rPr lang="en-US" sz="193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# Windows</a:t>
              </a:r>
            </a:p>
            <a:p>
              <a:pPr algn="l">
                <a:lnSpc>
                  <a:spcPts val="3187"/>
                </a:lnSpc>
              </a:pPr>
              <a:r>
                <a:rPr lang="en-US" sz="193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myenv\Scripts\activate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962322"/>
            <a:ext cx="8829972" cy="753815"/>
            <a:chOff x="0" y="0"/>
            <a:chExt cx="11773297" cy="10050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73297" cy="1005087"/>
            </a:xfrm>
            <a:custGeom>
              <a:avLst/>
              <a:gdLst/>
              <a:ahLst/>
              <a:cxnLst/>
              <a:rect l="l" t="t" r="r" b="b"/>
              <a:pathLst>
                <a:path w="11773297" h="1005087">
                  <a:moveTo>
                    <a:pt x="0" y="0"/>
                  </a:moveTo>
                  <a:lnTo>
                    <a:pt x="11773297" y="0"/>
                  </a:lnTo>
                  <a:lnTo>
                    <a:pt x="11773297" y="1005087"/>
                  </a:lnTo>
                  <a:lnTo>
                    <a:pt x="0" y="10050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1773297" cy="10241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12"/>
                </a:lnSpc>
              </a:pPr>
              <a:r>
                <a:rPr lang="en-US" sz="4687" dirty="0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Virtual Environment with </a:t>
              </a:r>
              <a:r>
                <a:rPr lang="en-US" sz="46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pipenv</a:t>
              </a:r>
              <a:endParaRPr lang="en-US" sz="4687" dirty="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7" y="2169765"/>
            <a:ext cx="16303526" cy="916781"/>
            <a:chOff x="0" y="0"/>
            <a:chExt cx="21738035" cy="12223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1222375"/>
            </a:xfrm>
            <a:custGeom>
              <a:avLst/>
              <a:gdLst/>
              <a:ahLst/>
              <a:cxnLst/>
              <a:rect l="l" t="t" r="r" b="b"/>
              <a:pathLst>
                <a:path w="21738034" h="1222375">
                  <a:moveTo>
                    <a:pt x="0" y="0"/>
                  </a:moveTo>
                  <a:lnTo>
                    <a:pt x="21738034" y="0"/>
                  </a:lnTo>
                  <a:lnTo>
                    <a:pt x="21738034" y="1222375"/>
                  </a:lnTo>
                  <a:lnTo>
                    <a:pt x="0" y="12223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21738035" cy="1317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9327" lvl="1" indent="-169663" algn="l">
                <a:lnSpc>
                  <a:spcPts val="3616"/>
                </a:lnSpc>
                <a:buFont typeface="Arial"/>
                <a:buChar char="•"/>
              </a:pP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Pip is a package manager for Python, used to install and manage Python libraries and dependencies.  [pipx for MAC users]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7" y="3165872"/>
            <a:ext cx="16303526" cy="916781"/>
            <a:chOff x="0" y="0"/>
            <a:chExt cx="21738035" cy="12223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38034" cy="1222375"/>
            </a:xfrm>
            <a:custGeom>
              <a:avLst/>
              <a:gdLst/>
              <a:ahLst/>
              <a:cxnLst/>
              <a:rect l="l" t="t" r="r" b="b"/>
              <a:pathLst>
                <a:path w="21738034" h="1222375">
                  <a:moveTo>
                    <a:pt x="0" y="0"/>
                  </a:moveTo>
                  <a:lnTo>
                    <a:pt x="21738034" y="0"/>
                  </a:lnTo>
                  <a:lnTo>
                    <a:pt x="21738034" y="1222375"/>
                  </a:lnTo>
                  <a:lnTo>
                    <a:pt x="0" y="12223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21738035" cy="1317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9327" lvl="1" indent="-169663" algn="l">
                <a:lnSpc>
                  <a:spcPts val="3616"/>
                </a:lnSpc>
                <a:buFont typeface="Arial"/>
                <a:buChar char="•"/>
              </a:pP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pipenv is a tool that combines pip and virtualenv into a single interface. It helps with dependency management and simplifies the creation of virtual environments.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7" y="4337745"/>
            <a:ext cx="16303526" cy="509250"/>
            <a:chOff x="0" y="0"/>
            <a:chExt cx="21738035" cy="679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38034" cy="679000"/>
            </a:xfrm>
            <a:custGeom>
              <a:avLst/>
              <a:gdLst/>
              <a:ahLst/>
              <a:cxnLst/>
              <a:rect l="l" t="t" r="r" b="b"/>
              <a:pathLst>
                <a:path w="21738034" h="679000">
                  <a:moveTo>
                    <a:pt x="0" y="0"/>
                  </a:moveTo>
                  <a:lnTo>
                    <a:pt x="21738034" y="0"/>
                  </a:lnTo>
                  <a:lnTo>
                    <a:pt x="21738034" y="679000"/>
                  </a:lnTo>
                  <a:lnTo>
                    <a:pt x="0" y="679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21738035" cy="783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6"/>
                </a:lnSpc>
              </a:pPr>
              <a:r>
                <a:rPr lang="en-US" sz="2687" b="1" dirty="0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Why use </a:t>
              </a:r>
              <a:r>
                <a:rPr lang="en-US" sz="2687" dirty="0" err="1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pipenv</a:t>
              </a:r>
              <a:r>
                <a:rPr lang="en-US" sz="2687" b="1" dirty="0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?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7" y="5055989"/>
            <a:ext cx="16303526" cy="453629"/>
            <a:chOff x="0" y="0"/>
            <a:chExt cx="21738035" cy="6048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738034" cy="604838"/>
            </a:xfrm>
            <a:custGeom>
              <a:avLst/>
              <a:gdLst/>
              <a:ahLst/>
              <a:cxnLst/>
              <a:rect l="l" t="t" r="r" b="b"/>
              <a:pathLst>
                <a:path w="21738034" h="604838">
                  <a:moveTo>
                    <a:pt x="0" y="0"/>
                  </a:moveTo>
                  <a:lnTo>
                    <a:pt x="21738034" y="0"/>
                  </a:lnTo>
                  <a:lnTo>
                    <a:pt x="21738034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1738035" cy="7000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9327" lvl="1" indent="-169663" algn="l">
                <a:lnSpc>
                  <a:spcPts val="3616"/>
                </a:lnSpc>
                <a:buFont typeface="Arial"/>
                <a:buChar char="•"/>
              </a:pP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It automatically creates and manages a virtual environment for your project.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2237" y="5588942"/>
            <a:ext cx="16303526" cy="916781"/>
            <a:chOff x="0" y="0"/>
            <a:chExt cx="21738035" cy="12223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38034" cy="1222375"/>
            </a:xfrm>
            <a:custGeom>
              <a:avLst/>
              <a:gdLst/>
              <a:ahLst/>
              <a:cxnLst/>
              <a:rect l="l" t="t" r="r" b="b"/>
              <a:pathLst>
                <a:path w="21738034" h="1222375">
                  <a:moveTo>
                    <a:pt x="0" y="0"/>
                  </a:moveTo>
                  <a:lnTo>
                    <a:pt x="21738034" y="0"/>
                  </a:lnTo>
                  <a:lnTo>
                    <a:pt x="21738034" y="1222375"/>
                  </a:lnTo>
                  <a:lnTo>
                    <a:pt x="0" y="12223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1738035" cy="1317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9327" lvl="1" indent="-169663" algn="l">
                <a:lnSpc>
                  <a:spcPts val="3616"/>
                </a:lnSpc>
                <a:buFont typeface="Arial"/>
                <a:buChar char="•"/>
              </a:pP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It generates a Pipfile to specify dependencies and a Pipfile.lock to lock the versions of those dependencies, ensuring consistency across environments.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2238" y="7378750"/>
            <a:ext cx="3905845" cy="1945779"/>
            <a:chOff x="0" y="0"/>
            <a:chExt cx="5207793" cy="25943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207762" cy="2594356"/>
            </a:xfrm>
            <a:custGeom>
              <a:avLst/>
              <a:gdLst/>
              <a:ahLst/>
              <a:cxnLst/>
              <a:rect l="l" t="t" r="r" b="b"/>
              <a:pathLst>
                <a:path w="5207762" h="2594356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162423" y="0"/>
                  </a:lnTo>
                  <a:cubicBezTo>
                    <a:pt x="5187442" y="0"/>
                    <a:pt x="5207762" y="20320"/>
                    <a:pt x="5207762" y="45339"/>
                  </a:cubicBezTo>
                  <a:lnTo>
                    <a:pt x="5207762" y="2549017"/>
                  </a:lnTo>
                  <a:cubicBezTo>
                    <a:pt x="5207762" y="2574036"/>
                    <a:pt x="5187442" y="2594356"/>
                    <a:pt x="5162423" y="2594356"/>
                  </a:cubicBezTo>
                  <a:lnTo>
                    <a:pt x="45339" y="2594356"/>
                  </a:lnTo>
                  <a:cubicBezTo>
                    <a:pt x="20320" y="2594356"/>
                    <a:pt x="0" y="2574036"/>
                    <a:pt x="0" y="254901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9051" y="7605564"/>
            <a:ext cx="3452218" cy="446485"/>
            <a:chOff x="0" y="0"/>
            <a:chExt cx="4602957" cy="59531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02957" cy="595313"/>
            </a:xfrm>
            <a:custGeom>
              <a:avLst/>
              <a:gdLst/>
              <a:ahLst/>
              <a:cxnLst/>
              <a:rect l="l" t="t" r="r" b="b"/>
              <a:pathLst>
                <a:path w="4602957" h="595313">
                  <a:moveTo>
                    <a:pt x="0" y="0"/>
                  </a:moveTo>
                  <a:lnTo>
                    <a:pt x="4602957" y="0"/>
                  </a:lnTo>
                  <a:lnTo>
                    <a:pt x="4602957" y="595313"/>
                  </a:lnTo>
                  <a:lnTo>
                    <a:pt x="0" y="5953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4602957" cy="5953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81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To install pipenv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15479" y="8261599"/>
            <a:ext cx="3452218" cy="463154"/>
            <a:chOff x="0" y="0"/>
            <a:chExt cx="4602957" cy="61753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602957" cy="617538"/>
            </a:xfrm>
            <a:custGeom>
              <a:avLst/>
              <a:gdLst/>
              <a:ahLst/>
              <a:cxnLst/>
              <a:rect l="l" t="t" r="r" b="b"/>
              <a:pathLst>
                <a:path w="4602957" h="617538">
                  <a:moveTo>
                    <a:pt x="0" y="0"/>
                  </a:moveTo>
                  <a:lnTo>
                    <a:pt x="4602957" y="0"/>
                  </a:lnTo>
                  <a:lnTo>
                    <a:pt x="4602957" y="617538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33350"/>
              <a:ext cx="4602957" cy="750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pip install pipenv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124896" y="7378750"/>
            <a:ext cx="3905845" cy="1945779"/>
            <a:chOff x="0" y="0"/>
            <a:chExt cx="5207793" cy="25943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207762" cy="2594356"/>
            </a:xfrm>
            <a:custGeom>
              <a:avLst/>
              <a:gdLst/>
              <a:ahLst/>
              <a:cxnLst/>
              <a:rect l="l" t="t" r="r" b="b"/>
              <a:pathLst>
                <a:path w="5207762" h="2594356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162423" y="0"/>
                  </a:lnTo>
                  <a:cubicBezTo>
                    <a:pt x="5187442" y="0"/>
                    <a:pt x="5207762" y="20320"/>
                    <a:pt x="5207762" y="45339"/>
                  </a:cubicBezTo>
                  <a:lnTo>
                    <a:pt x="5207762" y="2549017"/>
                  </a:lnTo>
                  <a:cubicBezTo>
                    <a:pt x="5207762" y="2574036"/>
                    <a:pt x="5187442" y="2594356"/>
                    <a:pt x="5162423" y="2594356"/>
                  </a:cubicBezTo>
                  <a:lnTo>
                    <a:pt x="45339" y="2594356"/>
                  </a:lnTo>
                  <a:cubicBezTo>
                    <a:pt x="20320" y="2594356"/>
                    <a:pt x="0" y="2574036"/>
                    <a:pt x="0" y="254901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51710" y="7605564"/>
            <a:ext cx="3452218" cy="892969"/>
            <a:chOff x="0" y="0"/>
            <a:chExt cx="4602957" cy="119062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602957" cy="1190625"/>
            </a:xfrm>
            <a:custGeom>
              <a:avLst/>
              <a:gdLst/>
              <a:ahLst/>
              <a:cxnLst/>
              <a:rect l="l" t="t" r="r" b="b"/>
              <a:pathLst>
                <a:path w="4602957" h="1190625">
                  <a:moveTo>
                    <a:pt x="0" y="0"/>
                  </a:moveTo>
                  <a:lnTo>
                    <a:pt x="4602957" y="0"/>
                  </a:lnTo>
                  <a:lnTo>
                    <a:pt x="4602957" y="1190625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4602957" cy="1190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81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Create &amp; activate for project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51710" y="8634561"/>
            <a:ext cx="3452218" cy="463154"/>
            <a:chOff x="0" y="0"/>
            <a:chExt cx="4602957" cy="61753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602957" cy="617538"/>
            </a:xfrm>
            <a:custGeom>
              <a:avLst/>
              <a:gdLst/>
              <a:ahLst/>
              <a:cxnLst/>
              <a:rect l="l" t="t" r="r" b="b"/>
              <a:pathLst>
                <a:path w="4602957" h="617538">
                  <a:moveTo>
                    <a:pt x="0" y="0"/>
                  </a:moveTo>
                  <a:lnTo>
                    <a:pt x="4602957" y="0"/>
                  </a:lnTo>
                  <a:lnTo>
                    <a:pt x="4602957" y="617538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33350"/>
              <a:ext cx="4602957" cy="750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pipenv install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257556" y="7378750"/>
            <a:ext cx="3905845" cy="1945779"/>
            <a:chOff x="0" y="0"/>
            <a:chExt cx="5207793" cy="259437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207762" cy="2594356"/>
            </a:xfrm>
            <a:custGeom>
              <a:avLst/>
              <a:gdLst/>
              <a:ahLst/>
              <a:cxnLst/>
              <a:rect l="l" t="t" r="r" b="b"/>
              <a:pathLst>
                <a:path w="5207762" h="2594356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162423" y="0"/>
                  </a:lnTo>
                  <a:cubicBezTo>
                    <a:pt x="5187442" y="0"/>
                    <a:pt x="5207762" y="20320"/>
                    <a:pt x="5207762" y="45339"/>
                  </a:cubicBezTo>
                  <a:lnTo>
                    <a:pt x="5207762" y="2549017"/>
                  </a:lnTo>
                  <a:cubicBezTo>
                    <a:pt x="5207762" y="2574036"/>
                    <a:pt x="5187442" y="2594356"/>
                    <a:pt x="5162423" y="2594356"/>
                  </a:cubicBezTo>
                  <a:lnTo>
                    <a:pt x="45339" y="2594356"/>
                  </a:lnTo>
                  <a:cubicBezTo>
                    <a:pt x="20320" y="2594356"/>
                    <a:pt x="0" y="2574036"/>
                    <a:pt x="0" y="254901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484370" y="7605564"/>
            <a:ext cx="3452217" cy="892969"/>
            <a:chOff x="0" y="0"/>
            <a:chExt cx="4602957" cy="119062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602957" cy="1190625"/>
            </a:xfrm>
            <a:custGeom>
              <a:avLst/>
              <a:gdLst/>
              <a:ahLst/>
              <a:cxnLst/>
              <a:rect l="l" t="t" r="r" b="b"/>
              <a:pathLst>
                <a:path w="4602957" h="1190625">
                  <a:moveTo>
                    <a:pt x="0" y="0"/>
                  </a:moveTo>
                  <a:lnTo>
                    <a:pt x="4602957" y="0"/>
                  </a:lnTo>
                  <a:lnTo>
                    <a:pt x="4602957" y="1190625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4602957" cy="1190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81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Installing a desired package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484370" y="8477399"/>
            <a:ext cx="3679031" cy="877619"/>
            <a:chOff x="0" y="0"/>
            <a:chExt cx="4905375" cy="117015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905375" cy="1170158"/>
            </a:xfrm>
            <a:custGeom>
              <a:avLst/>
              <a:gdLst/>
              <a:ahLst/>
              <a:cxnLst/>
              <a:rect l="l" t="t" r="r" b="b"/>
              <a:pathLst>
                <a:path w="4905375" h="1170158">
                  <a:moveTo>
                    <a:pt x="0" y="0"/>
                  </a:moveTo>
                  <a:lnTo>
                    <a:pt x="4905375" y="0"/>
                  </a:lnTo>
                  <a:lnTo>
                    <a:pt x="4905375" y="1170158"/>
                  </a:lnTo>
                  <a:lnTo>
                    <a:pt x="0" y="11701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33350"/>
              <a:ext cx="4905375" cy="13035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pipenv install requests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390215" y="7378750"/>
            <a:ext cx="3905845" cy="1945779"/>
            <a:chOff x="0" y="0"/>
            <a:chExt cx="5207793" cy="259437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207762" cy="2594356"/>
            </a:xfrm>
            <a:custGeom>
              <a:avLst/>
              <a:gdLst/>
              <a:ahLst/>
              <a:cxnLst/>
              <a:rect l="l" t="t" r="r" b="b"/>
              <a:pathLst>
                <a:path w="5207762" h="2594356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5162423" y="0"/>
                  </a:lnTo>
                  <a:cubicBezTo>
                    <a:pt x="5187442" y="0"/>
                    <a:pt x="5207762" y="20320"/>
                    <a:pt x="5207762" y="45339"/>
                  </a:cubicBezTo>
                  <a:lnTo>
                    <a:pt x="5207762" y="2549017"/>
                  </a:lnTo>
                  <a:cubicBezTo>
                    <a:pt x="5207762" y="2574036"/>
                    <a:pt x="5187442" y="2594356"/>
                    <a:pt x="5162423" y="2594356"/>
                  </a:cubicBezTo>
                  <a:lnTo>
                    <a:pt x="45339" y="2594356"/>
                  </a:lnTo>
                  <a:cubicBezTo>
                    <a:pt x="20320" y="2594356"/>
                    <a:pt x="0" y="2574036"/>
                    <a:pt x="0" y="2549017"/>
                  </a:cubicBezTo>
                  <a:close/>
                </a:path>
              </a:pathLst>
            </a:custGeom>
            <a:solidFill>
              <a:srgbClr val="F2EE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617029" y="7605564"/>
            <a:ext cx="3452217" cy="892969"/>
            <a:chOff x="0" y="0"/>
            <a:chExt cx="4602957" cy="119062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602957" cy="1190625"/>
            </a:xfrm>
            <a:custGeom>
              <a:avLst/>
              <a:gdLst/>
              <a:ahLst/>
              <a:cxnLst/>
              <a:rect l="l" t="t" r="r" b="b"/>
              <a:pathLst>
                <a:path w="4602957" h="1190625">
                  <a:moveTo>
                    <a:pt x="0" y="0"/>
                  </a:moveTo>
                  <a:lnTo>
                    <a:pt x="4602957" y="0"/>
                  </a:lnTo>
                  <a:lnTo>
                    <a:pt x="4602957" y="1190625"/>
                  </a:lnTo>
                  <a:lnTo>
                    <a:pt x="0" y="1190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4602957" cy="1190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81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Removing the virtual env.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617029" y="8634561"/>
            <a:ext cx="3452217" cy="463154"/>
            <a:chOff x="0" y="0"/>
            <a:chExt cx="4602957" cy="61753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602957" cy="617538"/>
            </a:xfrm>
            <a:custGeom>
              <a:avLst/>
              <a:gdLst/>
              <a:ahLst/>
              <a:cxnLst/>
              <a:rect l="l" t="t" r="r" b="b"/>
              <a:pathLst>
                <a:path w="4602957" h="617538">
                  <a:moveTo>
                    <a:pt x="0" y="0"/>
                  </a:moveTo>
                  <a:lnTo>
                    <a:pt x="4602957" y="0"/>
                  </a:lnTo>
                  <a:lnTo>
                    <a:pt x="4602957" y="617538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33350"/>
              <a:ext cx="4602957" cy="7508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pipenv --rm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541710"/>
            <a:ext cx="8186291" cy="930325"/>
            <a:chOff x="0" y="0"/>
            <a:chExt cx="10915055" cy="12404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15055" cy="1240433"/>
            </a:xfrm>
            <a:custGeom>
              <a:avLst/>
              <a:gdLst/>
              <a:ahLst/>
              <a:cxnLst/>
              <a:rect l="l" t="t" r="r" b="b"/>
              <a:pathLst>
                <a:path w="10915055" h="1240433">
                  <a:moveTo>
                    <a:pt x="0" y="0"/>
                  </a:moveTo>
                  <a:lnTo>
                    <a:pt x="10915055" y="0"/>
                  </a:lnTo>
                  <a:lnTo>
                    <a:pt x="10915055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915055" cy="12785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Libraries for Automation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44316" y="3361284"/>
            <a:ext cx="3721299" cy="465087"/>
            <a:chOff x="0" y="0"/>
            <a:chExt cx="4961732" cy="6201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625"/>
                </a:lnSpc>
              </a:pPr>
              <a:r>
                <a:rPr lang="en-US" sz="2874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os Module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3996481"/>
            <a:ext cx="4873378" cy="1360885"/>
            <a:chOff x="0" y="0"/>
            <a:chExt cx="6497837" cy="181451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97837" cy="1814513"/>
            </a:xfrm>
            <a:custGeom>
              <a:avLst/>
              <a:gdLst/>
              <a:ahLst/>
              <a:cxnLst/>
              <a:rect l="l" t="t" r="r" b="b"/>
              <a:pathLst>
                <a:path w="6497837" h="1814513">
                  <a:moveTo>
                    <a:pt x="0" y="0"/>
                  </a:moveTo>
                  <a:lnTo>
                    <a:pt x="6497837" y="0"/>
                  </a:lnTo>
                  <a:lnTo>
                    <a:pt x="649783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6497837" cy="19097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Interact with the operating system, create directories, manipulate files, and get environment variables.</a:t>
              </a:r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6290816" y="3039070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7900987" y="3974604"/>
            <a:ext cx="188863" cy="566886"/>
            <a:chOff x="0" y="0"/>
            <a:chExt cx="251817" cy="7558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1817" cy="755848"/>
            </a:xfrm>
            <a:custGeom>
              <a:avLst/>
              <a:gdLst/>
              <a:ahLst/>
              <a:cxnLst/>
              <a:rect l="l" t="t" r="r" b="b"/>
              <a:pathLst>
                <a:path w="251817" h="755848">
                  <a:moveTo>
                    <a:pt x="0" y="0"/>
                  </a:moveTo>
                  <a:lnTo>
                    <a:pt x="251817" y="0"/>
                  </a:lnTo>
                  <a:lnTo>
                    <a:pt x="25181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14300"/>
              <a:ext cx="251817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422237" y="3361284"/>
            <a:ext cx="3721299" cy="465087"/>
            <a:chOff x="0" y="0"/>
            <a:chExt cx="4961732" cy="62011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5"/>
                </a:lnSpc>
              </a:pPr>
              <a:r>
                <a:rPr lang="en-US" sz="2874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sys Module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422237" y="3996481"/>
            <a:ext cx="4873526" cy="1360885"/>
            <a:chOff x="0" y="0"/>
            <a:chExt cx="6498035" cy="181451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498035" cy="1814513"/>
            </a:xfrm>
            <a:custGeom>
              <a:avLst/>
              <a:gdLst/>
              <a:ahLst/>
              <a:cxnLst/>
              <a:rect l="l" t="t" r="r" b="b"/>
              <a:pathLst>
                <a:path w="6498035" h="1814513">
                  <a:moveTo>
                    <a:pt x="0" y="0"/>
                  </a:moveTo>
                  <a:lnTo>
                    <a:pt x="6498035" y="0"/>
                  </a:lnTo>
                  <a:lnTo>
                    <a:pt x="6498035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0"/>
              <a:ext cx="6498035" cy="19097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Access command-line arguments and interpreter-specific functionality.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6290816" y="3039070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10683329" y="4460230"/>
            <a:ext cx="188862" cy="566886"/>
            <a:chOff x="0" y="0"/>
            <a:chExt cx="251817" cy="7558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1817" cy="755848"/>
            </a:xfrm>
            <a:custGeom>
              <a:avLst/>
              <a:gdLst/>
              <a:ahLst/>
              <a:cxnLst/>
              <a:rect l="l" t="t" r="r" b="b"/>
              <a:pathLst>
                <a:path w="251817" h="755848">
                  <a:moveTo>
                    <a:pt x="0" y="0"/>
                  </a:moveTo>
                  <a:lnTo>
                    <a:pt x="251817" y="0"/>
                  </a:lnTo>
                  <a:lnTo>
                    <a:pt x="25181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14300"/>
              <a:ext cx="251817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422237" y="6653807"/>
            <a:ext cx="3721299" cy="465088"/>
            <a:chOff x="0" y="0"/>
            <a:chExt cx="4961732" cy="62011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5"/>
                </a:lnSpc>
              </a:pPr>
              <a:r>
                <a:rPr lang="en-US" sz="2874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subprocess Module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422237" y="7289006"/>
            <a:ext cx="4873526" cy="907256"/>
            <a:chOff x="0" y="0"/>
            <a:chExt cx="6498035" cy="120967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498035" cy="1209675"/>
            </a:xfrm>
            <a:custGeom>
              <a:avLst/>
              <a:gdLst/>
              <a:ahLst/>
              <a:cxnLst/>
              <a:rect l="l" t="t" r="r" b="b"/>
              <a:pathLst>
                <a:path w="6498035" h="1209675">
                  <a:moveTo>
                    <a:pt x="0" y="0"/>
                  </a:moveTo>
                  <a:lnTo>
                    <a:pt x="6498035" y="0"/>
                  </a:lnTo>
                  <a:lnTo>
                    <a:pt x="6498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6498035" cy="13049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Run external commands and capture their output from Python.</a:t>
              </a:r>
            </a:p>
          </p:txBody>
        </p:sp>
      </p:grpSp>
      <p:sp>
        <p:nvSpPr>
          <p:cNvPr id="35" name="Freeform 35" descr="preencoded.png"/>
          <p:cNvSpPr/>
          <p:nvPr/>
        </p:nvSpPr>
        <p:spPr>
          <a:xfrm>
            <a:off x="6290816" y="3039070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36"/>
          <p:cNvGrpSpPr/>
          <p:nvPr/>
        </p:nvGrpSpPr>
        <p:grpSpPr>
          <a:xfrm>
            <a:off x="10197704" y="7242572"/>
            <a:ext cx="188862" cy="566886"/>
            <a:chOff x="0" y="0"/>
            <a:chExt cx="251817" cy="7558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51817" cy="755848"/>
            </a:xfrm>
            <a:custGeom>
              <a:avLst/>
              <a:gdLst/>
              <a:ahLst/>
              <a:cxnLst/>
              <a:rect l="l" t="t" r="r" b="b"/>
              <a:pathLst>
                <a:path w="251817" h="755848">
                  <a:moveTo>
                    <a:pt x="0" y="0"/>
                  </a:moveTo>
                  <a:lnTo>
                    <a:pt x="251817" y="0"/>
                  </a:lnTo>
                  <a:lnTo>
                    <a:pt x="25181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14300"/>
              <a:ext cx="251817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3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144316" y="6426994"/>
            <a:ext cx="3721299" cy="465088"/>
            <a:chOff x="0" y="0"/>
            <a:chExt cx="4961732" cy="62011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961732" cy="620117"/>
            </a:xfrm>
            <a:custGeom>
              <a:avLst/>
              <a:gdLst/>
              <a:ahLst/>
              <a:cxnLst/>
              <a:rect l="l" t="t" r="r" b="b"/>
              <a:pathLst>
                <a:path w="4961732" h="620117">
                  <a:moveTo>
                    <a:pt x="0" y="0"/>
                  </a:moveTo>
                  <a:lnTo>
                    <a:pt x="4961732" y="0"/>
                  </a:lnTo>
                  <a:lnTo>
                    <a:pt x="4961732" y="620117"/>
                  </a:lnTo>
                  <a:lnTo>
                    <a:pt x="0" y="6201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4961732" cy="63916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625"/>
                </a:lnSpc>
              </a:pPr>
              <a:r>
                <a:rPr lang="en-US" sz="2874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shutil Module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2238" y="7062192"/>
            <a:ext cx="4873378" cy="1360885"/>
            <a:chOff x="0" y="0"/>
            <a:chExt cx="6497837" cy="181451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497837" cy="1814513"/>
            </a:xfrm>
            <a:custGeom>
              <a:avLst/>
              <a:gdLst/>
              <a:ahLst/>
              <a:cxnLst/>
              <a:rect l="l" t="t" r="r" b="b"/>
              <a:pathLst>
                <a:path w="6497837" h="1814513">
                  <a:moveTo>
                    <a:pt x="0" y="0"/>
                  </a:moveTo>
                  <a:lnTo>
                    <a:pt x="6497837" y="0"/>
                  </a:lnTo>
                  <a:lnTo>
                    <a:pt x="6497837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0"/>
              <a:ext cx="6497837" cy="19097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3562"/>
                </a:lnSpc>
              </a:pPr>
              <a:r>
                <a:rPr lang="en-US" sz="21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High-level file operations like copying and moving files or directories.</a:t>
              </a:r>
            </a:p>
          </p:txBody>
        </p:sp>
      </p:grpSp>
      <p:sp>
        <p:nvSpPr>
          <p:cNvPr id="45" name="Freeform 45" descr="preencoded.png"/>
          <p:cNvSpPr/>
          <p:nvPr/>
        </p:nvSpPr>
        <p:spPr>
          <a:xfrm>
            <a:off x="6290816" y="3039070"/>
            <a:ext cx="5706219" cy="5706219"/>
          </a:xfrm>
          <a:custGeom>
            <a:avLst/>
            <a:gdLst/>
            <a:ahLst/>
            <a:cxnLst/>
            <a:rect l="l" t="t" r="r" b="b"/>
            <a:pathLst>
              <a:path w="5706219" h="5706219">
                <a:moveTo>
                  <a:pt x="0" y="0"/>
                </a:moveTo>
                <a:lnTo>
                  <a:pt x="5706219" y="0"/>
                </a:lnTo>
                <a:lnTo>
                  <a:pt x="5706219" y="5706219"/>
                </a:lnTo>
                <a:lnTo>
                  <a:pt x="0" y="5706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6" name="Group 46"/>
          <p:cNvGrpSpPr/>
          <p:nvPr/>
        </p:nvGrpSpPr>
        <p:grpSpPr>
          <a:xfrm>
            <a:off x="7415361" y="6756946"/>
            <a:ext cx="188863" cy="566886"/>
            <a:chOff x="0" y="0"/>
            <a:chExt cx="251817" cy="75584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51817" cy="755848"/>
            </a:xfrm>
            <a:custGeom>
              <a:avLst/>
              <a:gdLst/>
              <a:ahLst/>
              <a:cxnLst/>
              <a:rect l="l" t="t" r="r" b="b"/>
              <a:pathLst>
                <a:path w="251817" h="755848">
                  <a:moveTo>
                    <a:pt x="0" y="0"/>
                  </a:moveTo>
                  <a:lnTo>
                    <a:pt x="251817" y="0"/>
                  </a:lnTo>
                  <a:lnTo>
                    <a:pt x="251817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14300"/>
              <a:ext cx="251817" cy="87014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437"/>
                </a:lnSpc>
              </a:pPr>
              <a:r>
                <a:rPr lang="en-US" sz="27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4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837754"/>
            <a:ext cx="10043369" cy="669875"/>
            <a:chOff x="0" y="0"/>
            <a:chExt cx="13391158" cy="8931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91158" cy="893167"/>
            </a:xfrm>
            <a:custGeom>
              <a:avLst/>
              <a:gdLst/>
              <a:ahLst/>
              <a:cxnLst/>
              <a:rect l="l" t="t" r="r" b="b"/>
              <a:pathLst>
                <a:path w="13391158" h="893167">
                  <a:moveTo>
                    <a:pt x="0" y="0"/>
                  </a:moveTo>
                  <a:lnTo>
                    <a:pt x="13391158" y="0"/>
                  </a:lnTo>
                  <a:lnTo>
                    <a:pt x="13391158" y="893167"/>
                  </a:lnTo>
                  <a:lnTo>
                    <a:pt x="0" y="8931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3391158" cy="9217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50"/>
                </a:lnSpc>
              </a:pPr>
              <a:r>
                <a:rPr lang="en-US" sz="418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All-in-one script: Log Aggregation System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7" y="2017960"/>
            <a:ext cx="16303526" cy="1020366"/>
            <a:chOff x="0" y="0"/>
            <a:chExt cx="21738035" cy="1360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1360488"/>
            </a:xfrm>
            <a:custGeom>
              <a:avLst/>
              <a:gdLst/>
              <a:ahLst/>
              <a:cxnLst/>
              <a:rect l="l" t="t" r="r" b="b"/>
              <a:pathLst>
                <a:path w="21738034" h="1360488">
                  <a:moveTo>
                    <a:pt x="0" y="0"/>
                  </a:moveTo>
                  <a:lnTo>
                    <a:pt x="21738034" y="0"/>
                  </a:lnTo>
                  <a:lnTo>
                    <a:pt x="21738034" y="1360488"/>
                  </a:lnTo>
                  <a:lnTo>
                    <a:pt x="0" y="1360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1738035" cy="14462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6868" lvl="1" indent="-173434" algn="l">
                <a:lnSpc>
                  <a:spcPts val="3665"/>
                </a:lnSpc>
                <a:buFont typeface="Arial"/>
                <a:buChar char="•"/>
              </a:pPr>
              <a:r>
                <a:rPr lang="en-US" sz="229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This python code involves - string formatting, file handling, datetime operations, and system command execution.</a:t>
              </a:r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992238" y="3325266"/>
            <a:ext cx="1275904" cy="1530995"/>
          </a:xfrm>
          <a:custGeom>
            <a:avLst/>
            <a:gdLst/>
            <a:ahLst/>
            <a:cxnLst/>
            <a:rect l="l" t="t" r="r" b="b"/>
            <a:pathLst>
              <a:path w="1275904" h="1530995">
                <a:moveTo>
                  <a:pt x="0" y="0"/>
                </a:moveTo>
                <a:lnTo>
                  <a:pt x="1275903" y="0"/>
                </a:lnTo>
                <a:lnTo>
                  <a:pt x="1275903" y="1530995"/>
                </a:lnTo>
                <a:lnTo>
                  <a:pt x="0" y="1530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" b="-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2650778" y="3580359"/>
            <a:ext cx="4045149" cy="418505"/>
            <a:chOff x="0" y="0"/>
            <a:chExt cx="5393532" cy="5580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393532" cy="558007"/>
            </a:xfrm>
            <a:custGeom>
              <a:avLst/>
              <a:gdLst/>
              <a:ahLst/>
              <a:cxnLst/>
              <a:rect l="l" t="t" r="r" b="b"/>
              <a:pathLst>
                <a:path w="5393532" h="558007">
                  <a:moveTo>
                    <a:pt x="0" y="0"/>
                  </a:moveTo>
                  <a:lnTo>
                    <a:pt x="5393532" y="0"/>
                  </a:lnTo>
                  <a:lnTo>
                    <a:pt x="5393532" y="558007"/>
                  </a:lnTo>
                  <a:lnTo>
                    <a:pt x="0" y="5580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393532" cy="5675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9"/>
                </a:lnSpc>
              </a:pPr>
              <a:r>
                <a:rPr lang="en-US" sz="2625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Command-Line Arguments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650778" y="4151859"/>
            <a:ext cx="14644985" cy="408385"/>
            <a:chOff x="0" y="0"/>
            <a:chExt cx="19526647" cy="5445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526647" cy="544513"/>
            </a:xfrm>
            <a:custGeom>
              <a:avLst/>
              <a:gdLst/>
              <a:ahLst/>
              <a:cxnLst/>
              <a:rect l="l" t="t" r="r" b="b"/>
              <a:pathLst>
                <a:path w="19526647" h="544513">
                  <a:moveTo>
                    <a:pt x="0" y="0"/>
                  </a:moveTo>
                  <a:lnTo>
                    <a:pt x="19526647" y="0"/>
                  </a:lnTo>
                  <a:lnTo>
                    <a:pt x="19526647" y="544513"/>
                  </a:lnTo>
                  <a:lnTo>
                    <a:pt x="0" y="54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19526647" cy="6207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Parse user input for status messages.</a:t>
              </a:r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992238" y="4856261"/>
            <a:ext cx="1275904" cy="1530995"/>
          </a:xfrm>
          <a:custGeom>
            <a:avLst/>
            <a:gdLst/>
            <a:ahLst/>
            <a:cxnLst/>
            <a:rect l="l" t="t" r="r" b="b"/>
            <a:pathLst>
              <a:path w="1275904" h="1530995">
                <a:moveTo>
                  <a:pt x="0" y="0"/>
                </a:moveTo>
                <a:lnTo>
                  <a:pt x="1275903" y="0"/>
                </a:lnTo>
                <a:lnTo>
                  <a:pt x="1275903" y="1530995"/>
                </a:lnTo>
                <a:lnTo>
                  <a:pt x="0" y="1530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5" b="-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2650778" y="5111354"/>
            <a:ext cx="3349229" cy="418505"/>
            <a:chOff x="0" y="0"/>
            <a:chExt cx="4465638" cy="55800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65638" cy="558007"/>
            </a:xfrm>
            <a:custGeom>
              <a:avLst/>
              <a:gdLst/>
              <a:ahLst/>
              <a:cxnLst/>
              <a:rect l="l" t="t" r="r" b="b"/>
              <a:pathLst>
                <a:path w="4465638" h="558007">
                  <a:moveTo>
                    <a:pt x="0" y="0"/>
                  </a:moveTo>
                  <a:lnTo>
                    <a:pt x="4465638" y="0"/>
                  </a:lnTo>
                  <a:lnTo>
                    <a:pt x="4465638" y="558007"/>
                  </a:lnTo>
                  <a:lnTo>
                    <a:pt x="0" y="5580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4465638" cy="5675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9"/>
                </a:lnSpc>
              </a:pPr>
              <a:r>
                <a:rPr lang="en-US" sz="2625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Timestamp Logging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50778" y="5682854"/>
            <a:ext cx="14644985" cy="408385"/>
            <a:chOff x="0" y="0"/>
            <a:chExt cx="19526647" cy="54451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526647" cy="544513"/>
            </a:xfrm>
            <a:custGeom>
              <a:avLst/>
              <a:gdLst/>
              <a:ahLst/>
              <a:cxnLst/>
              <a:rect l="l" t="t" r="r" b="b"/>
              <a:pathLst>
                <a:path w="19526647" h="544513">
                  <a:moveTo>
                    <a:pt x="0" y="0"/>
                  </a:moveTo>
                  <a:lnTo>
                    <a:pt x="19526647" y="0"/>
                  </a:lnTo>
                  <a:lnTo>
                    <a:pt x="19526647" y="544513"/>
                  </a:lnTo>
                  <a:lnTo>
                    <a:pt x="0" y="54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19526647" cy="6207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Add datetime to messages.</a:t>
              </a:r>
            </a:p>
          </p:txBody>
        </p:sp>
      </p:grpSp>
      <p:sp>
        <p:nvSpPr>
          <p:cNvPr id="26" name="Freeform 26" descr="preencoded.png"/>
          <p:cNvSpPr/>
          <p:nvPr/>
        </p:nvSpPr>
        <p:spPr>
          <a:xfrm>
            <a:off x="992238" y="6387256"/>
            <a:ext cx="1275904" cy="1530995"/>
          </a:xfrm>
          <a:custGeom>
            <a:avLst/>
            <a:gdLst/>
            <a:ahLst/>
            <a:cxnLst/>
            <a:rect l="l" t="t" r="r" b="b"/>
            <a:pathLst>
              <a:path w="1275904" h="1530995">
                <a:moveTo>
                  <a:pt x="0" y="0"/>
                </a:moveTo>
                <a:lnTo>
                  <a:pt x="1275903" y="0"/>
                </a:lnTo>
                <a:lnTo>
                  <a:pt x="1275903" y="1530995"/>
                </a:lnTo>
                <a:lnTo>
                  <a:pt x="0" y="15309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5" b="-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2650778" y="6642347"/>
            <a:ext cx="3349229" cy="418505"/>
            <a:chOff x="0" y="0"/>
            <a:chExt cx="4465638" cy="55800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465638" cy="558007"/>
            </a:xfrm>
            <a:custGeom>
              <a:avLst/>
              <a:gdLst/>
              <a:ahLst/>
              <a:cxnLst/>
              <a:rect l="l" t="t" r="r" b="b"/>
              <a:pathLst>
                <a:path w="4465638" h="558007">
                  <a:moveTo>
                    <a:pt x="0" y="0"/>
                  </a:moveTo>
                  <a:lnTo>
                    <a:pt x="4465638" y="0"/>
                  </a:lnTo>
                  <a:lnTo>
                    <a:pt x="4465638" y="558007"/>
                  </a:lnTo>
                  <a:lnTo>
                    <a:pt x="0" y="5580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4465638" cy="5675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9"/>
                </a:lnSpc>
              </a:pPr>
              <a:r>
                <a:rPr lang="en-US" sz="2625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File Operations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650778" y="7213847"/>
            <a:ext cx="14644985" cy="408385"/>
            <a:chOff x="0" y="0"/>
            <a:chExt cx="19526647" cy="54451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526647" cy="544513"/>
            </a:xfrm>
            <a:custGeom>
              <a:avLst/>
              <a:gdLst/>
              <a:ahLst/>
              <a:cxnLst/>
              <a:rect l="l" t="t" r="r" b="b"/>
              <a:pathLst>
                <a:path w="19526647" h="544513">
                  <a:moveTo>
                    <a:pt x="0" y="0"/>
                  </a:moveTo>
                  <a:lnTo>
                    <a:pt x="19526647" y="0"/>
                  </a:lnTo>
                  <a:lnTo>
                    <a:pt x="19526647" y="544513"/>
                  </a:lnTo>
                  <a:lnTo>
                    <a:pt x="0" y="54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19526647" cy="6207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Write logs and create backups.</a:t>
              </a:r>
            </a:p>
          </p:txBody>
        </p:sp>
      </p:grpSp>
      <p:sp>
        <p:nvSpPr>
          <p:cNvPr id="33" name="Freeform 33" descr="preencoded.png"/>
          <p:cNvSpPr/>
          <p:nvPr/>
        </p:nvSpPr>
        <p:spPr>
          <a:xfrm>
            <a:off x="992238" y="7918251"/>
            <a:ext cx="1275904" cy="1530995"/>
          </a:xfrm>
          <a:custGeom>
            <a:avLst/>
            <a:gdLst/>
            <a:ahLst/>
            <a:cxnLst/>
            <a:rect l="l" t="t" r="r" b="b"/>
            <a:pathLst>
              <a:path w="1275904" h="1530995">
                <a:moveTo>
                  <a:pt x="0" y="0"/>
                </a:moveTo>
                <a:lnTo>
                  <a:pt x="1275903" y="0"/>
                </a:lnTo>
                <a:lnTo>
                  <a:pt x="1275903" y="1530995"/>
                </a:lnTo>
                <a:lnTo>
                  <a:pt x="0" y="1530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5" b="-6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2650778" y="8173342"/>
            <a:ext cx="3349229" cy="418505"/>
            <a:chOff x="0" y="0"/>
            <a:chExt cx="4465638" cy="55800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465638" cy="558007"/>
            </a:xfrm>
            <a:custGeom>
              <a:avLst/>
              <a:gdLst/>
              <a:ahLst/>
              <a:cxnLst/>
              <a:rect l="l" t="t" r="r" b="b"/>
              <a:pathLst>
                <a:path w="4465638" h="558007">
                  <a:moveTo>
                    <a:pt x="0" y="0"/>
                  </a:moveTo>
                  <a:lnTo>
                    <a:pt x="4465638" y="0"/>
                  </a:lnTo>
                  <a:lnTo>
                    <a:pt x="4465638" y="558007"/>
                  </a:lnTo>
                  <a:lnTo>
                    <a:pt x="0" y="5580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4465638" cy="5675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9"/>
                </a:lnSpc>
              </a:pPr>
              <a:r>
                <a:rPr lang="en-US" sz="2625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Compression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650778" y="8744842"/>
            <a:ext cx="14644985" cy="408385"/>
            <a:chOff x="0" y="0"/>
            <a:chExt cx="19526647" cy="54451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526647" cy="544513"/>
            </a:xfrm>
            <a:custGeom>
              <a:avLst/>
              <a:gdLst/>
              <a:ahLst/>
              <a:cxnLst/>
              <a:rect l="l" t="t" r="r" b="b"/>
              <a:pathLst>
                <a:path w="19526647" h="544513">
                  <a:moveTo>
                    <a:pt x="0" y="0"/>
                  </a:moveTo>
                  <a:lnTo>
                    <a:pt x="19526647" y="0"/>
                  </a:lnTo>
                  <a:lnTo>
                    <a:pt x="19526647" y="544513"/>
                  </a:lnTo>
                  <a:lnTo>
                    <a:pt x="0" y="54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19526647" cy="6207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87"/>
                </a:lnSpc>
              </a:pPr>
              <a:r>
                <a:rPr lang="en-US" sz="20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Archive logs with tar.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1610</Words>
  <Application>Microsoft Macintosh PowerPoint</Application>
  <PresentationFormat>Custom</PresentationFormat>
  <Paragraphs>251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DM Sans</vt:lpstr>
      <vt:lpstr>Calibri</vt:lpstr>
      <vt:lpstr>PT Serif</vt:lpstr>
      <vt:lpstr>Arial</vt:lpstr>
      <vt:lpstr>Consolas</vt:lpstr>
      <vt:lpstr>PT Serif Bold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Python-for-Automation.pptx</dc:title>
  <cp:lastModifiedBy>Mohammad Anees Alam</cp:lastModifiedBy>
  <cp:revision>2</cp:revision>
  <dcterms:created xsi:type="dcterms:W3CDTF">2006-08-16T00:00:00Z</dcterms:created>
  <dcterms:modified xsi:type="dcterms:W3CDTF">2025-10-12T07:36:31Z</dcterms:modified>
  <dc:identifier>DAGgjdDYFZA</dc:identifier>
</cp:coreProperties>
</file>