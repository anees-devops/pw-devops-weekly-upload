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nva Sans Bold" panose="020B0803030501040103" pitchFamily="34" charset="0"/>
      <p:regular r:id="rId23"/>
      <p:bold r:id="rId24"/>
    </p:embeddedFont>
    <p:embeddedFont>
      <p:font typeface="Lora" pitchFamily="2" charset="77"/>
      <p:regular r:id="rId25"/>
      <p:bold r:id="rId26"/>
      <p:italic r:id="rId27"/>
      <p:boldItalic r:id="rId28"/>
    </p:embeddedFont>
    <p:embeddedFont>
      <p:font typeface="Lora Bold" pitchFamily="2" charset="77"/>
      <p:regular r:id="rId29"/>
      <p:bold r:id="rId30"/>
    </p:embeddedFont>
    <p:embeddedFont>
      <p:font typeface="Source Sans Pro" panose="020B0503030403020204" pitchFamily="34" charset="0"/>
      <p:regular r:id="rId31"/>
      <p:bold r:id="rId32"/>
      <p:italic r:id="rId33"/>
      <p:boldItalic r:id="rId34"/>
    </p:embeddedFont>
    <p:embeddedFont>
      <p:font typeface="Source Sans Pro Bold" panose="020B0703030403020204" pitchFamily="34" charset="0"/>
      <p:regular r:id="rId35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 autoAdjust="0"/>
    <p:restoredTop sz="94618" autoAdjust="0"/>
  </p:normalViewPr>
  <p:slideViewPr>
    <p:cSldViewPr>
      <p:cViewPr varScale="1">
        <p:scale>
          <a:sx n="77" d="100"/>
          <a:sy n="77" d="100"/>
        </p:scale>
        <p:origin x="6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37701" y="3795650"/>
            <a:ext cx="10746487" cy="15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6"/>
              </a:lnSpc>
            </a:pPr>
            <a:r>
              <a:rPr lang="en-US" sz="4800" b="1">
                <a:solidFill>
                  <a:srgbClr val="F98AC7"/>
                </a:solidFill>
                <a:latin typeface="Lora Bold"/>
                <a:ea typeface="Lora Bold"/>
                <a:cs typeface="Lora Bold"/>
                <a:sym typeface="Lora Bold"/>
              </a:rPr>
              <a:t>Code, Commit, Collaborate, Conquer</a:t>
            </a:r>
          </a:p>
          <a:p>
            <a:pPr algn="ctr">
              <a:lnSpc>
                <a:spcPts val="4864"/>
              </a:lnSpc>
            </a:pPr>
            <a:r>
              <a:rPr lang="en-US" sz="32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Understanding the Git 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7701" y="8632867"/>
            <a:ext cx="1510247" cy="49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</a:pPr>
            <a:r>
              <a:rPr lang="en-US" sz="2611">
                <a:solidFill>
                  <a:srgbClr val="D9D9D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Presenter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701" y="9143999"/>
            <a:ext cx="3725720" cy="49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</a:pPr>
            <a:r>
              <a:rPr lang="en-US" sz="261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155" y="1349416"/>
            <a:ext cx="7040612" cy="130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5798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Topics for Today!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155" y="3636020"/>
            <a:ext cx="673132" cy="673132"/>
            <a:chOff x="0" y="0"/>
            <a:chExt cx="897509" cy="8975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6711" y="3811340"/>
            <a:ext cx="153889" cy="372368"/>
            <a:chOff x="0" y="0"/>
            <a:chExt cx="205185" cy="496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185" cy="496490"/>
            </a:xfrm>
            <a:custGeom>
              <a:avLst/>
              <a:gdLst/>
              <a:ahLst/>
              <a:cxnLst/>
              <a:rect l="l" t="t" r="r" b="b"/>
              <a:pathLst>
                <a:path w="205185" h="496490">
                  <a:moveTo>
                    <a:pt x="0" y="0"/>
                  </a:moveTo>
                  <a:lnTo>
                    <a:pt x="205185" y="0"/>
                  </a:lnTo>
                  <a:lnTo>
                    <a:pt x="205185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75"/>
              <a:ext cx="205185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19449" y="3615056"/>
            <a:ext cx="5762459" cy="715061"/>
            <a:chOff x="0" y="0"/>
            <a:chExt cx="7683279" cy="9534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3279" cy="953414"/>
            </a:xfrm>
            <a:custGeom>
              <a:avLst/>
              <a:gdLst/>
              <a:ahLst/>
              <a:cxnLst/>
              <a:rect l="l" t="t" r="r" b="b"/>
              <a:pathLst>
                <a:path w="7683279" h="953414">
                  <a:moveTo>
                    <a:pt x="0" y="0"/>
                  </a:moveTo>
                  <a:lnTo>
                    <a:pt x="7683279" y="0"/>
                  </a:lnTo>
                  <a:lnTo>
                    <a:pt x="7683279" y="953414"/>
                  </a:lnTo>
                  <a:lnTo>
                    <a:pt x="0" y="95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683279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Recap of GIT fundamentals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3572" y="3636020"/>
            <a:ext cx="673132" cy="673132"/>
            <a:chOff x="0" y="0"/>
            <a:chExt cx="897509" cy="8975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6666" y="3811340"/>
            <a:ext cx="226963" cy="372368"/>
            <a:chOff x="0" y="0"/>
            <a:chExt cx="302617" cy="4964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2617" cy="496490"/>
            </a:xfrm>
            <a:custGeom>
              <a:avLst/>
              <a:gdLst/>
              <a:ahLst/>
              <a:cxnLst/>
              <a:rect l="l" t="t" r="r" b="b"/>
              <a:pathLst>
                <a:path w="302617" h="496490">
                  <a:moveTo>
                    <a:pt x="0" y="0"/>
                  </a:moveTo>
                  <a:lnTo>
                    <a:pt x="302617" y="0"/>
                  </a:lnTo>
                  <a:lnTo>
                    <a:pt x="302617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6675"/>
              <a:ext cx="302617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65866" y="3628876"/>
            <a:ext cx="5493098" cy="715061"/>
            <a:chOff x="0" y="0"/>
            <a:chExt cx="7324131" cy="9534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24130" cy="953414"/>
            </a:xfrm>
            <a:custGeom>
              <a:avLst/>
              <a:gdLst/>
              <a:ahLst/>
              <a:cxnLst/>
              <a:rect l="l" t="t" r="r" b="b"/>
              <a:pathLst>
                <a:path w="7324130" h="953414">
                  <a:moveTo>
                    <a:pt x="0" y="0"/>
                  </a:moveTo>
                  <a:lnTo>
                    <a:pt x="7324130" y="0"/>
                  </a:lnTo>
                  <a:lnTo>
                    <a:pt x="7324130" y="953414"/>
                  </a:lnTo>
                  <a:lnTo>
                    <a:pt x="0" y="95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7324131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Managing GIT as DevOps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47155" y="5457825"/>
            <a:ext cx="673132" cy="673132"/>
            <a:chOff x="0" y="0"/>
            <a:chExt cx="897509" cy="89750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66081" y="5633145"/>
            <a:ext cx="235297" cy="372368"/>
            <a:chOff x="0" y="0"/>
            <a:chExt cx="313729" cy="4964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3729" cy="496490"/>
            </a:xfrm>
            <a:custGeom>
              <a:avLst/>
              <a:gdLst/>
              <a:ahLst/>
              <a:cxnLst/>
              <a:rect l="l" t="t" r="r" b="b"/>
              <a:pathLst>
                <a:path w="313729" h="496490">
                  <a:moveTo>
                    <a:pt x="0" y="0"/>
                  </a:moveTo>
                  <a:lnTo>
                    <a:pt x="313729" y="0"/>
                  </a:lnTo>
                  <a:lnTo>
                    <a:pt x="313729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66675"/>
              <a:ext cx="313729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019449" y="5436861"/>
            <a:ext cx="5380407" cy="715061"/>
            <a:chOff x="0" y="0"/>
            <a:chExt cx="7173876" cy="95341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173877" cy="953414"/>
            </a:xfrm>
            <a:custGeom>
              <a:avLst/>
              <a:gdLst/>
              <a:ahLst/>
              <a:cxnLst/>
              <a:rect l="l" t="t" r="r" b="b"/>
              <a:pathLst>
                <a:path w="7173877" h="953414">
                  <a:moveTo>
                    <a:pt x="0" y="0"/>
                  </a:moveTo>
                  <a:lnTo>
                    <a:pt x="7173877" y="0"/>
                  </a:lnTo>
                  <a:lnTo>
                    <a:pt x="7173877" y="953414"/>
                  </a:lnTo>
                  <a:lnTo>
                    <a:pt x="0" y="95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7173876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Necessary GIT Commands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93572" y="5457825"/>
            <a:ext cx="673132" cy="673132"/>
            <a:chOff x="0" y="0"/>
            <a:chExt cx="897509" cy="89750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15624" y="5633145"/>
            <a:ext cx="229046" cy="372368"/>
            <a:chOff x="0" y="0"/>
            <a:chExt cx="305395" cy="49649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5395" cy="496490"/>
            </a:xfrm>
            <a:custGeom>
              <a:avLst/>
              <a:gdLst/>
              <a:ahLst/>
              <a:cxnLst/>
              <a:rect l="l" t="t" r="r" b="b"/>
              <a:pathLst>
                <a:path w="305395" h="496490">
                  <a:moveTo>
                    <a:pt x="0" y="0"/>
                  </a:moveTo>
                  <a:lnTo>
                    <a:pt x="305395" y="0"/>
                  </a:lnTo>
                  <a:lnTo>
                    <a:pt x="305395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66675"/>
              <a:ext cx="305395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4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265866" y="5457825"/>
            <a:ext cx="5832069" cy="715061"/>
            <a:chOff x="0" y="0"/>
            <a:chExt cx="7776092" cy="95341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776092" cy="953414"/>
            </a:xfrm>
            <a:custGeom>
              <a:avLst/>
              <a:gdLst/>
              <a:ahLst/>
              <a:cxnLst/>
              <a:rect l="l" t="t" r="r" b="b"/>
              <a:pathLst>
                <a:path w="7776092" h="953414">
                  <a:moveTo>
                    <a:pt x="0" y="0"/>
                  </a:moveTo>
                  <a:lnTo>
                    <a:pt x="7776092" y="0"/>
                  </a:lnTo>
                  <a:lnTo>
                    <a:pt x="7776092" y="953414"/>
                  </a:lnTo>
                  <a:lnTo>
                    <a:pt x="0" y="95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7776092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Different hosting services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47155" y="7279630"/>
            <a:ext cx="673132" cy="673132"/>
            <a:chOff x="0" y="0"/>
            <a:chExt cx="897509" cy="89750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68611" y="7454950"/>
            <a:ext cx="230237" cy="372368"/>
            <a:chOff x="0" y="0"/>
            <a:chExt cx="306983" cy="49649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06983" cy="496490"/>
            </a:xfrm>
            <a:custGeom>
              <a:avLst/>
              <a:gdLst/>
              <a:ahLst/>
              <a:cxnLst/>
              <a:rect l="l" t="t" r="r" b="b"/>
              <a:pathLst>
                <a:path w="306983" h="496490">
                  <a:moveTo>
                    <a:pt x="0" y="0"/>
                  </a:moveTo>
                  <a:lnTo>
                    <a:pt x="306983" y="0"/>
                  </a:lnTo>
                  <a:lnTo>
                    <a:pt x="306983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66675"/>
              <a:ext cx="306983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5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019449" y="7258666"/>
            <a:ext cx="6641350" cy="715061"/>
            <a:chOff x="0" y="0"/>
            <a:chExt cx="8855133" cy="95341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855134" cy="953414"/>
            </a:xfrm>
            <a:custGeom>
              <a:avLst/>
              <a:gdLst/>
              <a:ahLst/>
              <a:cxnLst/>
              <a:rect l="l" t="t" r="r" b="b"/>
              <a:pathLst>
                <a:path w="8855134" h="953414">
                  <a:moveTo>
                    <a:pt x="0" y="0"/>
                  </a:moveTo>
                  <a:lnTo>
                    <a:pt x="8855134" y="0"/>
                  </a:lnTo>
                  <a:lnTo>
                    <a:pt x="8855134" y="953414"/>
                  </a:lnTo>
                  <a:lnTo>
                    <a:pt x="0" y="95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8855133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Githooks, Submodules, Subtrees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293572" y="7279630"/>
            <a:ext cx="673132" cy="673132"/>
            <a:chOff x="0" y="0"/>
            <a:chExt cx="897509" cy="89750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435488" y="7469804"/>
            <a:ext cx="316773" cy="482976"/>
            <a:chOff x="0" y="0"/>
            <a:chExt cx="422364" cy="64396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22364" cy="643968"/>
            </a:xfrm>
            <a:custGeom>
              <a:avLst/>
              <a:gdLst/>
              <a:ahLst/>
              <a:cxnLst/>
              <a:rect l="l" t="t" r="r" b="b"/>
              <a:pathLst>
                <a:path w="422364" h="643968">
                  <a:moveTo>
                    <a:pt x="0" y="0"/>
                  </a:moveTo>
                  <a:lnTo>
                    <a:pt x="422364" y="0"/>
                  </a:lnTo>
                  <a:lnTo>
                    <a:pt x="422364" y="643968"/>
                  </a:lnTo>
                  <a:lnTo>
                    <a:pt x="0" y="643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66675"/>
              <a:ext cx="422364" cy="5772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6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265866" y="7272486"/>
            <a:ext cx="5287715" cy="712788"/>
            <a:chOff x="0" y="0"/>
            <a:chExt cx="7050287" cy="95038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050287" cy="950384"/>
            </a:xfrm>
            <a:custGeom>
              <a:avLst/>
              <a:gdLst/>
              <a:ahLst/>
              <a:cxnLst/>
              <a:rect l="l" t="t" r="r" b="b"/>
              <a:pathLst>
                <a:path w="7050287" h="950384">
                  <a:moveTo>
                    <a:pt x="0" y="0"/>
                  </a:moveTo>
                  <a:lnTo>
                    <a:pt x="7050287" y="0"/>
                  </a:lnTo>
                  <a:lnTo>
                    <a:pt x="7050287" y="950384"/>
                  </a:lnTo>
                  <a:lnTo>
                    <a:pt x="0" y="9503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7050287" cy="9599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Open source contributions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155" y="1686583"/>
            <a:ext cx="7040612" cy="833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5299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Pre-requisites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155" y="3636020"/>
            <a:ext cx="673132" cy="673132"/>
            <a:chOff x="0" y="0"/>
            <a:chExt cx="897509" cy="8975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6711" y="3811340"/>
            <a:ext cx="153889" cy="372368"/>
            <a:chOff x="0" y="0"/>
            <a:chExt cx="205185" cy="496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185" cy="496490"/>
            </a:xfrm>
            <a:custGeom>
              <a:avLst/>
              <a:gdLst/>
              <a:ahLst/>
              <a:cxnLst/>
              <a:rect l="l" t="t" r="r" b="b"/>
              <a:pathLst>
                <a:path w="205185" h="496490">
                  <a:moveTo>
                    <a:pt x="0" y="0"/>
                  </a:moveTo>
                  <a:lnTo>
                    <a:pt x="205185" y="0"/>
                  </a:lnTo>
                  <a:lnTo>
                    <a:pt x="205185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75"/>
              <a:ext cx="205185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19449" y="3615056"/>
            <a:ext cx="5762459" cy="715061"/>
            <a:chOff x="0" y="0"/>
            <a:chExt cx="7683279" cy="9534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3279" cy="953414"/>
            </a:xfrm>
            <a:custGeom>
              <a:avLst/>
              <a:gdLst/>
              <a:ahLst/>
              <a:cxnLst/>
              <a:rect l="l" t="t" r="r" b="b"/>
              <a:pathLst>
                <a:path w="7683279" h="953414">
                  <a:moveTo>
                    <a:pt x="0" y="0"/>
                  </a:moveTo>
                  <a:lnTo>
                    <a:pt x="7683279" y="0"/>
                  </a:lnTo>
                  <a:lnTo>
                    <a:pt x="7683279" y="953414"/>
                  </a:lnTo>
                  <a:lnTo>
                    <a:pt x="0" y="95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683279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GIT setup on your system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47155" y="5414850"/>
            <a:ext cx="673132" cy="673132"/>
            <a:chOff x="0" y="0"/>
            <a:chExt cx="897509" cy="8975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70249" y="5590170"/>
            <a:ext cx="226963" cy="372368"/>
            <a:chOff x="0" y="0"/>
            <a:chExt cx="302617" cy="4964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2617" cy="496490"/>
            </a:xfrm>
            <a:custGeom>
              <a:avLst/>
              <a:gdLst/>
              <a:ahLst/>
              <a:cxnLst/>
              <a:rect l="l" t="t" r="r" b="b"/>
              <a:pathLst>
                <a:path w="302617" h="496490">
                  <a:moveTo>
                    <a:pt x="0" y="0"/>
                  </a:moveTo>
                  <a:lnTo>
                    <a:pt x="302617" y="0"/>
                  </a:lnTo>
                  <a:lnTo>
                    <a:pt x="302617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6675"/>
              <a:ext cx="302617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19449" y="5407706"/>
            <a:ext cx="5493098" cy="715061"/>
            <a:chOff x="0" y="0"/>
            <a:chExt cx="7324131" cy="9534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24130" cy="953414"/>
            </a:xfrm>
            <a:custGeom>
              <a:avLst/>
              <a:gdLst/>
              <a:ahLst/>
              <a:cxnLst/>
              <a:rect l="l" t="t" r="r" b="b"/>
              <a:pathLst>
                <a:path w="7324130" h="953414">
                  <a:moveTo>
                    <a:pt x="0" y="0"/>
                  </a:moveTo>
                  <a:lnTo>
                    <a:pt x="7324130" y="0"/>
                  </a:lnTo>
                  <a:lnTo>
                    <a:pt x="7324130" y="953414"/>
                  </a:lnTo>
                  <a:lnTo>
                    <a:pt x="0" y="95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7324131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GitHub account signed up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7221321"/>
            <a:ext cx="673132" cy="673132"/>
            <a:chOff x="0" y="0"/>
            <a:chExt cx="897509" cy="89750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47626" y="7396641"/>
            <a:ext cx="235297" cy="372368"/>
            <a:chOff x="0" y="0"/>
            <a:chExt cx="313729" cy="4964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3729" cy="496490"/>
            </a:xfrm>
            <a:custGeom>
              <a:avLst/>
              <a:gdLst/>
              <a:ahLst/>
              <a:cxnLst/>
              <a:rect l="l" t="t" r="r" b="b"/>
              <a:pathLst>
                <a:path w="313729" h="496490">
                  <a:moveTo>
                    <a:pt x="0" y="0"/>
                  </a:moveTo>
                  <a:lnTo>
                    <a:pt x="313729" y="0"/>
                  </a:lnTo>
                  <a:lnTo>
                    <a:pt x="313729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66675"/>
              <a:ext cx="313729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000994" y="7200356"/>
            <a:ext cx="5380407" cy="715061"/>
            <a:chOff x="0" y="0"/>
            <a:chExt cx="7173876" cy="95341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173877" cy="953414"/>
            </a:xfrm>
            <a:custGeom>
              <a:avLst/>
              <a:gdLst/>
              <a:ahLst/>
              <a:cxnLst/>
              <a:rect l="l" t="t" r="r" b="b"/>
              <a:pathLst>
                <a:path w="7173877" h="953414">
                  <a:moveTo>
                    <a:pt x="0" y="0"/>
                  </a:moveTo>
                  <a:lnTo>
                    <a:pt x="7173877" y="0"/>
                  </a:lnTo>
                  <a:lnTo>
                    <a:pt x="7173877" y="953414"/>
                  </a:lnTo>
                  <a:lnTo>
                    <a:pt x="0" y="95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7173876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SSH connection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01148" y="1028700"/>
            <a:ext cx="5776688" cy="1165860"/>
            <a:chOff x="0" y="0"/>
            <a:chExt cx="7702251" cy="1554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02251" cy="1554480"/>
            </a:xfrm>
            <a:custGeom>
              <a:avLst/>
              <a:gdLst/>
              <a:ahLst/>
              <a:cxnLst/>
              <a:rect l="l" t="t" r="r" b="b"/>
              <a:pathLst>
                <a:path w="7702251" h="1554480">
                  <a:moveTo>
                    <a:pt x="0" y="0"/>
                  </a:moveTo>
                  <a:lnTo>
                    <a:pt x="7702251" y="0"/>
                  </a:lnTo>
                  <a:lnTo>
                    <a:pt x="7702251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702251" cy="158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50"/>
                </a:lnSpc>
              </a:pPr>
              <a:r>
                <a:rPr lang="en-US" sz="5400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Repository Setup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91495" y="5236381"/>
            <a:ext cx="3520231" cy="51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61"/>
              </a:lnSpc>
            </a:pPr>
            <a:r>
              <a:rPr lang="en-US" sz="32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git init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9746" y="5776763"/>
            <a:ext cx="4401980" cy="99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74"/>
              </a:lnSpc>
            </a:pPr>
            <a:r>
              <a:rPr lang="en-US" sz="25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When you want to build from scratch locally.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10164" y="3048892"/>
            <a:ext cx="5667672" cy="5667672"/>
            <a:chOff x="0" y="0"/>
            <a:chExt cx="7556896" cy="7556896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7556881" cy="7556881"/>
            </a:xfrm>
            <a:custGeom>
              <a:avLst/>
              <a:gdLst/>
              <a:ahLst/>
              <a:cxnLst/>
              <a:rect l="l" t="t" r="r" b="b"/>
              <a:pathLst>
                <a:path w="7556881" h="7556881">
                  <a:moveTo>
                    <a:pt x="0" y="0"/>
                  </a:moveTo>
                  <a:lnTo>
                    <a:pt x="7556881" y="0"/>
                  </a:lnTo>
                  <a:lnTo>
                    <a:pt x="7556881" y="7556881"/>
                  </a:lnTo>
                  <a:lnTo>
                    <a:pt x="0" y="7556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121575" y="5059115"/>
            <a:ext cx="136177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26554" y="3538835"/>
            <a:ext cx="3520231" cy="51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1"/>
              </a:lnSpc>
            </a:pPr>
            <a:r>
              <a:rPr lang="en-US" sz="32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Fork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26554" y="4008239"/>
            <a:ext cx="4814292" cy="99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5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Create a duplicate of other’s repo in your github account.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310164" y="3048892"/>
            <a:ext cx="5667672" cy="5667672"/>
            <a:chOff x="0" y="0"/>
            <a:chExt cx="7556896" cy="7556896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556881" cy="7556881"/>
            </a:xfrm>
            <a:custGeom>
              <a:avLst/>
              <a:gdLst/>
              <a:ahLst/>
              <a:cxnLst/>
              <a:rect l="l" t="t" r="r" b="b"/>
              <a:pathLst>
                <a:path w="7556881" h="7556881">
                  <a:moveTo>
                    <a:pt x="0" y="0"/>
                  </a:moveTo>
                  <a:lnTo>
                    <a:pt x="7556881" y="0"/>
                  </a:lnTo>
                  <a:lnTo>
                    <a:pt x="7556881" y="7556881"/>
                  </a:lnTo>
                  <a:lnTo>
                    <a:pt x="0" y="7556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315872" y="3878313"/>
            <a:ext cx="200769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44806" y="8025556"/>
            <a:ext cx="3520231" cy="51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1"/>
              </a:lnSpc>
            </a:pPr>
            <a:r>
              <a:rPr lang="en-US" sz="32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git clone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44806" y="8494961"/>
            <a:ext cx="4814292" cy="99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5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Replicate the remote repository in local.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310164" y="3048892"/>
            <a:ext cx="5667672" cy="5667672"/>
            <a:chOff x="0" y="0"/>
            <a:chExt cx="7556896" cy="7556896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7556881" cy="7556881"/>
            </a:xfrm>
            <a:custGeom>
              <a:avLst/>
              <a:gdLst/>
              <a:ahLst/>
              <a:cxnLst/>
              <a:rect l="l" t="t" r="r" b="b"/>
              <a:pathLst>
                <a:path w="7556881" h="7556881">
                  <a:moveTo>
                    <a:pt x="0" y="0"/>
                  </a:moveTo>
                  <a:lnTo>
                    <a:pt x="7556881" y="0"/>
                  </a:lnTo>
                  <a:lnTo>
                    <a:pt x="7556881" y="7556881"/>
                  </a:lnTo>
                  <a:lnTo>
                    <a:pt x="0" y="7556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721454" y="7262961"/>
            <a:ext cx="208360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80385" y="1028700"/>
            <a:ext cx="8191424" cy="1195388"/>
            <a:chOff x="0" y="0"/>
            <a:chExt cx="10921899" cy="1593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21899" cy="1593850"/>
            </a:xfrm>
            <a:custGeom>
              <a:avLst/>
              <a:gdLst/>
              <a:ahLst/>
              <a:cxnLst/>
              <a:rect l="l" t="t" r="r" b="b"/>
              <a:pathLst>
                <a:path w="10921899" h="1593850">
                  <a:moveTo>
                    <a:pt x="0" y="0"/>
                  </a:moveTo>
                  <a:lnTo>
                    <a:pt x="10921899" y="0"/>
                  </a:lnTo>
                  <a:lnTo>
                    <a:pt x="10921899" y="15938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0921899" cy="1622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375"/>
                </a:lnSpc>
              </a:pPr>
              <a:r>
                <a:rPr lang="en-US" sz="5100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Commit - Branch - Merge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47155" y="2779960"/>
            <a:ext cx="7728942" cy="3185071"/>
            <a:chOff x="0" y="0"/>
            <a:chExt cx="10305256" cy="4246761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305288" cy="4246753"/>
            </a:xfrm>
            <a:custGeom>
              <a:avLst/>
              <a:gdLst/>
              <a:ahLst/>
              <a:cxnLst/>
              <a:rect l="l" t="t" r="r" b="b"/>
              <a:pathLst>
                <a:path w="10305288" h="4246753">
                  <a:moveTo>
                    <a:pt x="0" y="0"/>
                  </a:moveTo>
                  <a:lnTo>
                    <a:pt x="10305288" y="0"/>
                  </a:lnTo>
                  <a:lnTo>
                    <a:pt x="10305288" y="4246753"/>
                  </a:lnTo>
                  <a:lnTo>
                    <a:pt x="0" y="4246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888" r="-58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51511" y="6214514"/>
            <a:ext cx="3520231" cy="624839"/>
            <a:chOff x="0" y="0"/>
            <a:chExt cx="4693641" cy="8331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93641" cy="833119"/>
            </a:xfrm>
            <a:custGeom>
              <a:avLst/>
              <a:gdLst/>
              <a:ahLst/>
              <a:cxnLst/>
              <a:rect l="l" t="t" r="r" b="b"/>
              <a:pathLst>
                <a:path w="4693641" h="833119">
                  <a:moveTo>
                    <a:pt x="0" y="0"/>
                  </a:moveTo>
                  <a:lnTo>
                    <a:pt x="4693641" y="0"/>
                  </a:lnTo>
                  <a:lnTo>
                    <a:pt x="4693641" y="833119"/>
                  </a:lnTo>
                  <a:lnTo>
                    <a:pt x="0" y="833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693641" cy="852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1"/>
                </a:lnSpc>
              </a:pPr>
              <a:r>
                <a:rPr lang="en-US" sz="2850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Commit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00048" y="2779960"/>
            <a:ext cx="4568578" cy="4568578"/>
            <a:chOff x="0" y="0"/>
            <a:chExt cx="6091437" cy="6091437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6091428" cy="6091428"/>
            </a:xfrm>
            <a:custGeom>
              <a:avLst/>
              <a:gdLst/>
              <a:ahLst/>
              <a:cxnLst/>
              <a:rect l="l" t="t" r="r" b="b"/>
              <a:pathLst>
                <a:path w="6091428" h="6091428">
                  <a:moveTo>
                    <a:pt x="0" y="0"/>
                  </a:moveTo>
                  <a:lnTo>
                    <a:pt x="6091428" y="0"/>
                  </a:lnTo>
                  <a:lnTo>
                    <a:pt x="6091428" y="6091428"/>
                  </a:lnTo>
                  <a:lnTo>
                    <a:pt x="0" y="609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24221" y="7670750"/>
            <a:ext cx="4044404" cy="624839"/>
            <a:chOff x="0" y="0"/>
            <a:chExt cx="5392539" cy="8331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92539" cy="833119"/>
            </a:xfrm>
            <a:custGeom>
              <a:avLst/>
              <a:gdLst/>
              <a:ahLst/>
              <a:cxnLst/>
              <a:rect l="l" t="t" r="r" b="b"/>
              <a:pathLst>
                <a:path w="5392539" h="833119">
                  <a:moveTo>
                    <a:pt x="0" y="0"/>
                  </a:moveTo>
                  <a:lnTo>
                    <a:pt x="5392539" y="0"/>
                  </a:lnTo>
                  <a:lnTo>
                    <a:pt x="5392539" y="833119"/>
                  </a:lnTo>
                  <a:lnTo>
                    <a:pt x="0" y="833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392539" cy="852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1"/>
                </a:lnSpc>
              </a:pPr>
              <a:r>
                <a:rPr lang="en-US" sz="2850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Branches &amp; Merge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05155" y="1910506"/>
            <a:ext cx="7040612" cy="1214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Git Fundamentals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905155" y="4039344"/>
            <a:ext cx="703064" cy="703064"/>
            <a:chOff x="0" y="0"/>
            <a:chExt cx="937419" cy="93741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937387" cy="937387"/>
            </a:xfrm>
            <a:custGeom>
              <a:avLst/>
              <a:gdLst/>
              <a:ahLst/>
              <a:cxnLst/>
              <a:rect l="l" t="t" r="r" b="b"/>
              <a:pathLst>
                <a:path w="937387" h="937387">
                  <a:moveTo>
                    <a:pt x="0" y="0"/>
                  </a:moveTo>
                  <a:lnTo>
                    <a:pt x="937387" y="0"/>
                  </a:lnTo>
                  <a:lnTo>
                    <a:pt x="937387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905155" y="5015358"/>
            <a:ext cx="2812703" cy="46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Commits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05155" y="5494288"/>
            <a:ext cx="2812703" cy="13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Finalize local changes for remote push. (Ready-to-Serve)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166574" y="4039344"/>
            <a:ext cx="703064" cy="703064"/>
            <a:chOff x="0" y="0"/>
            <a:chExt cx="937419" cy="937419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937387" cy="937387"/>
            </a:xfrm>
            <a:custGeom>
              <a:avLst/>
              <a:gdLst/>
              <a:ahLst/>
              <a:cxnLst/>
              <a:rect l="l" t="t" r="r" b="b"/>
              <a:pathLst>
                <a:path w="937387" h="937387">
                  <a:moveTo>
                    <a:pt x="0" y="0"/>
                  </a:moveTo>
                  <a:lnTo>
                    <a:pt x="937387" y="0"/>
                  </a:lnTo>
                  <a:lnTo>
                    <a:pt x="937387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166574" y="5015358"/>
            <a:ext cx="2812702" cy="46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Branches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66574" y="5494287"/>
            <a:ext cx="2812702" cy="160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Isolated workspaces for different features or fixes.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4427994" y="4039344"/>
            <a:ext cx="703212" cy="703212"/>
            <a:chOff x="0" y="0"/>
            <a:chExt cx="937616" cy="937616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37641" cy="937641"/>
            </a:xfrm>
            <a:custGeom>
              <a:avLst/>
              <a:gdLst/>
              <a:ahLst/>
              <a:cxnLst/>
              <a:rect l="l" t="t" r="r" b="b"/>
              <a:pathLst>
                <a:path w="937641" h="937641">
                  <a:moveTo>
                    <a:pt x="0" y="0"/>
                  </a:moveTo>
                  <a:lnTo>
                    <a:pt x="937641" y="0"/>
                  </a:lnTo>
                  <a:lnTo>
                    <a:pt x="937641" y="937641"/>
                  </a:lnTo>
                  <a:lnTo>
                    <a:pt x="0" y="937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427994" y="5034557"/>
            <a:ext cx="2812851" cy="447080"/>
            <a:chOff x="0" y="0"/>
            <a:chExt cx="3750468" cy="5961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50468" cy="596106"/>
            </a:xfrm>
            <a:custGeom>
              <a:avLst/>
              <a:gdLst/>
              <a:ahLst/>
              <a:cxnLst/>
              <a:rect l="l" t="t" r="r" b="b"/>
              <a:pathLst>
                <a:path w="3750468" h="596106">
                  <a:moveTo>
                    <a:pt x="0" y="0"/>
                  </a:moveTo>
                  <a:lnTo>
                    <a:pt x="3750468" y="0"/>
                  </a:lnTo>
                  <a:lnTo>
                    <a:pt x="3750468" y="596106"/>
                  </a:lnTo>
                  <a:lnTo>
                    <a:pt x="0" y="596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750468" cy="615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50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Merging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427994" y="5494436"/>
            <a:ext cx="2812851" cy="208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Combining changes from different branches into the main codebase.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155" y="797570"/>
            <a:ext cx="7040612" cy="91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Git Commands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155" y="2496145"/>
            <a:ext cx="673132" cy="673132"/>
            <a:chOff x="0" y="0"/>
            <a:chExt cx="897509" cy="8975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6711" y="2671465"/>
            <a:ext cx="153889" cy="372368"/>
            <a:chOff x="0" y="0"/>
            <a:chExt cx="205185" cy="496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185" cy="496490"/>
            </a:xfrm>
            <a:custGeom>
              <a:avLst/>
              <a:gdLst/>
              <a:ahLst/>
              <a:cxnLst/>
              <a:rect l="l" t="t" r="r" b="b"/>
              <a:pathLst>
                <a:path w="205185" h="496490">
                  <a:moveTo>
                    <a:pt x="0" y="0"/>
                  </a:moveTo>
                  <a:lnTo>
                    <a:pt x="205185" y="0"/>
                  </a:lnTo>
                  <a:lnTo>
                    <a:pt x="205185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75"/>
              <a:ext cx="205185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19449" y="2489001"/>
            <a:ext cx="2851845" cy="447080"/>
            <a:chOff x="0" y="0"/>
            <a:chExt cx="3802460" cy="5961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02460" cy="596106"/>
            </a:xfrm>
            <a:custGeom>
              <a:avLst/>
              <a:gdLst/>
              <a:ahLst/>
              <a:cxnLst/>
              <a:rect l="l" t="t" r="r" b="b"/>
              <a:pathLst>
                <a:path w="3802460" h="596106">
                  <a:moveTo>
                    <a:pt x="0" y="0"/>
                  </a:moveTo>
                  <a:lnTo>
                    <a:pt x="3802460" y="0"/>
                  </a:lnTo>
                  <a:lnTo>
                    <a:pt x="3802460" y="596106"/>
                  </a:lnTo>
                  <a:lnTo>
                    <a:pt x="0" y="596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802460" cy="615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50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git init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19449" y="3044131"/>
            <a:ext cx="2851845" cy="1028997"/>
            <a:chOff x="0" y="0"/>
            <a:chExt cx="3802460" cy="13719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02460" cy="1371997"/>
            </a:xfrm>
            <a:custGeom>
              <a:avLst/>
              <a:gdLst/>
              <a:ahLst/>
              <a:cxnLst/>
              <a:rect l="l" t="t" r="r" b="b"/>
              <a:pathLst>
                <a:path w="3802460" h="1371997">
                  <a:moveTo>
                    <a:pt x="0" y="0"/>
                  </a:moveTo>
                  <a:lnTo>
                    <a:pt x="3802460" y="0"/>
                  </a:lnTo>
                  <a:lnTo>
                    <a:pt x="3802460" y="1371997"/>
                  </a:lnTo>
                  <a:lnTo>
                    <a:pt x="0" y="1371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3802460" cy="1467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Initializes a new Git repository.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70437" y="2496145"/>
            <a:ext cx="673132" cy="673132"/>
            <a:chOff x="0" y="0"/>
            <a:chExt cx="897509" cy="8975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93531" y="2671465"/>
            <a:ext cx="226963" cy="372368"/>
            <a:chOff x="0" y="0"/>
            <a:chExt cx="302617" cy="4964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2617" cy="496490"/>
            </a:xfrm>
            <a:custGeom>
              <a:avLst/>
              <a:gdLst/>
              <a:ahLst/>
              <a:cxnLst/>
              <a:rect l="l" t="t" r="r" b="b"/>
              <a:pathLst>
                <a:path w="302617" h="496490">
                  <a:moveTo>
                    <a:pt x="0" y="0"/>
                  </a:moveTo>
                  <a:lnTo>
                    <a:pt x="302617" y="0"/>
                  </a:lnTo>
                  <a:lnTo>
                    <a:pt x="302617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6675"/>
              <a:ext cx="302617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37076" y="7878961"/>
            <a:ext cx="2851845" cy="1926537"/>
            <a:chOff x="0" y="0"/>
            <a:chExt cx="3802460" cy="2568716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3802460" cy="790574"/>
              <a:chOff x="0" y="0"/>
              <a:chExt cx="3802460" cy="79057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802460" cy="790574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790574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790574"/>
                    </a:lnTo>
                    <a:lnTo>
                      <a:pt x="0" y="7905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3802460" cy="80962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36"/>
                  </a:lnSpc>
                </a:pPr>
                <a:r>
                  <a:rPr lang="en-US" sz="2750" b="1">
                    <a:solidFill>
                      <a:srgbClr val="F2F0EF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git branch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740172"/>
              <a:ext cx="3802460" cy="1828544"/>
              <a:chOff x="0" y="0"/>
              <a:chExt cx="3802460" cy="182854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802460" cy="1828544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1828544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1828544"/>
                    </a:lnTo>
                    <a:lnTo>
                      <a:pt x="0" y="182854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95250"/>
                <a:ext cx="3802460" cy="192379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50"/>
                  </a:lnSpc>
                </a:pP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Displays available </a:t>
                </a:r>
                <a:r>
                  <a:rPr lang="en-US" sz="2312" b="1">
                    <a:solidFill>
                      <a:srgbClr val="F2F0EF"/>
                    </a:solidFill>
                    <a:latin typeface="Source Sans Pro Bold"/>
                    <a:ea typeface="Source Sans Pro Bold"/>
                    <a:cs typeface="Source Sans Pro Bold"/>
                    <a:sym typeface="Source Sans Pro Bold"/>
                  </a:rPr>
                  <a:t>branch</a:t>
                </a: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 in your Git repository.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9293721" y="2496145"/>
            <a:ext cx="673132" cy="673132"/>
            <a:chOff x="0" y="0"/>
            <a:chExt cx="897509" cy="89750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12647" y="2671465"/>
            <a:ext cx="235298" cy="372368"/>
            <a:chOff x="0" y="0"/>
            <a:chExt cx="313731" cy="4964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3731" cy="496490"/>
            </a:xfrm>
            <a:custGeom>
              <a:avLst/>
              <a:gdLst/>
              <a:ahLst/>
              <a:cxnLst/>
              <a:rect l="l" t="t" r="r" b="b"/>
              <a:pathLst>
                <a:path w="313731" h="496490">
                  <a:moveTo>
                    <a:pt x="0" y="0"/>
                  </a:moveTo>
                  <a:lnTo>
                    <a:pt x="313731" y="0"/>
                  </a:lnTo>
                  <a:lnTo>
                    <a:pt x="313731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66675"/>
              <a:ext cx="313731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266015" y="2489001"/>
            <a:ext cx="2851845" cy="447080"/>
            <a:chOff x="0" y="0"/>
            <a:chExt cx="3802460" cy="59610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802460" cy="596106"/>
            </a:xfrm>
            <a:custGeom>
              <a:avLst/>
              <a:gdLst/>
              <a:ahLst/>
              <a:cxnLst/>
              <a:rect l="l" t="t" r="r" b="b"/>
              <a:pathLst>
                <a:path w="3802460" h="596106">
                  <a:moveTo>
                    <a:pt x="0" y="0"/>
                  </a:moveTo>
                  <a:lnTo>
                    <a:pt x="3802460" y="0"/>
                  </a:lnTo>
                  <a:lnTo>
                    <a:pt x="3802460" y="596106"/>
                  </a:lnTo>
                  <a:lnTo>
                    <a:pt x="0" y="596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3802460" cy="615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50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git add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266015" y="3044131"/>
            <a:ext cx="2851845" cy="1028997"/>
            <a:chOff x="0" y="0"/>
            <a:chExt cx="3802460" cy="137199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802460" cy="1371997"/>
            </a:xfrm>
            <a:custGeom>
              <a:avLst/>
              <a:gdLst/>
              <a:ahLst/>
              <a:cxnLst/>
              <a:rect l="l" t="t" r="r" b="b"/>
              <a:pathLst>
                <a:path w="3802460" h="1371997">
                  <a:moveTo>
                    <a:pt x="0" y="0"/>
                  </a:moveTo>
                  <a:lnTo>
                    <a:pt x="3802460" y="0"/>
                  </a:lnTo>
                  <a:lnTo>
                    <a:pt x="3802460" y="1371997"/>
                  </a:lnTo>
                  <a:lnTo>
                    <a:pt x="0" y="1371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3802460" cy="1467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Adds files to the staging area.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417004" y="2496145"/>
            <a:ext cx="673132" cy="673132"/>
            <a:chOff x="0" y="0"/>
            <a:chExt cx="897509" cy="89750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639056" y="2671465"/>
            <a:ext cx="229046" cy="372368"/>
            <a:chOff x="0" y="0"/>
            <a:chExt cx="305395" cy="49649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05395" cy="496490"/>
            </a:xfrm>
            <a:custGeom>
              <a:avLst/>
              <a:gdLst/>
              <a:ahLst/>
              <a:cxnLst/>
              <a:rect l="l" t="t" r="r" b="b"/>
              <a:pathLst>
                <a:path w="305395" h="496490">
                  <a:moveTo>
                    <a:pt x="0" y="0"/>
                  </a:moveTo>
                  <a:lnTo>
                    <a:pt x="305395" y="0"/>
                  </a:lnTo>
                  <a:lnTo>
                    <a:pt x="305395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66675"/>
              <a:ext cx="305395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389299" y="2489001"/>
            <a:ext cx="2851845" cy="447080"/>
            <a:chOff x="0" y="0"/>
            <a:chExt cx="3802460" cy="59610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802460" cy="596106"/>
            </a:xfrm>
            <a:custGeom>
              <a:avLst/>
              <a:gdLst/>
              <a:ahLst/>
              <a:cxnLst/>
              <a:rect l="l" t="t" r="r" b="b"/>
              <a:pathLst>
                <a:path w="3802460" h="596106">
                  <a:moveTo>
                    <a:pt x="0" y="0"/>
                  </a:moveTo>
                  <a:lnTo>
                    <a:pt x="3802460" y="0"/>
                  </a:lnTo>
                  <a:lnTo>
                    <a:pt x="3802460" y="596106"/>
                  </a:lnTo>
                  <a:lnTo>
                    <a:pt x="0" y="596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3802460" cy="615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50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git commit -m</a:t>
              </a:r>
              <a:r>
                <a:rPr lang="en-US" sz="2750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 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389299" y="3044130"/>
            <a:ext cx="2851845" cy="1507777"/>
            <a:chOff x="0" y="0"/>
            <a:chExt cx="3802460" cy="201037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02460" cy="2010370"/>
            </a:xfrm>
            <a:custGeom>
              <a:avLst/>
              <a:gdLst/>
              <a:ahLst/>
              <a:cxnLst/>
              <a:rect l="l" t="t" r="r" b="b"/>
              <a:pathLst>
                <a:path w="3802460" h="2010370">
                  <a:moveTo>
                    <a:pt x="0" y="0"/>
                  </a:moveTo>
                  <a:lnTo>
                    <a:pt x="3802460" y="0"/>
                  </a:lnTo>
                  <a:lnTo>
                    <a:pt x="3802460" y="2010370"/>
                  </a:lnTo>
                  <a:lnTo>
                    <a:pt x="0" y="20103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0"/>
              <a:ext cx="3802460" cy="2105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Adds code changes to the branch with message (-m).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47155" y="5187552"/>
            <a:ext cx="673132" cy="673132"/>
            <a:chOff x="0" y="0"/>
            <a:chExt cx="897509" cy="89750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68611" y="5362872"/>
            <a:ext cx="230237" cy="372368"/>
            <a:chOff x="0" y="0"/>
            <a:chExt cx="306983" cy="49649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06983" cy="496490"/>
            </a:xfrm>
            <a:custGeom>
              <a:avLst/>
              <a:gdLst/>
              <a:ahLst/>
              <a:cxnLst/>
              <a:rect l="l" t="t" r="r" b="b"/>
              <a:pathLst>
                <a:path w="306983" h="496490">
                  <a:moveTo>
                    <a:pt x="0" y="0"/>
                  </a:moveTo>
                  <a:lnTo>
                    <a:pt x="306983" y="0"/>
                  </a:lnTo>
                  <a:lnTo>
                    <a:pt x="306983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66675"/>
              <a:ext cx="306983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5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138844" y="5143500"/>
            <a:ext cx="2851845" cy="2062908"/>
            <a:chOff x="0" y="0"/>
            <a:chExt cx="3802460" cy="2750544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3802460" cy="596106"/>
              <a:chOff x="0" y="0"/>
              <a:chExt cx="3802460" cy="59610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802460" cy="596106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596106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596106"/>
                    </a:lnTo>
                    <a:lnTo>
                      <a:pt x="0" y="59610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19050"/>
                <a:ext cx="3802460" cy="615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36"/>
                  </a:lnSpc>
                </a:pPr>
                <a:r>
                  <a:rPr lang="en-US" sz="2750" b="1">
                    <a:solidFill>
                      <a:srgbClr val="F2F0EF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git status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0" y="740174"/>
              <a:ext cx="3802460" cy="2010370"/>
              <a:chOff x="0" y="0"/>
              <a:chExt cx="3802460" cy="201037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3802460" cy="2010370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2010370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2010370"/>
                    </a:lnTo>
                    <a:lnTo>
                      <a:pt x="0" y="20103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95250"/>
                <a:ext cx="3802460" cy="21056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50"/>
                  </a:lnSpc>
                </a:pP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Shows the current state of your working directory.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5170437" y="5187552"/>
            <a:ext cx="673132" cy="673132"/>
            <a:chOff x="0" y="0"/>
            <a:chExt cx="897509" cy="89750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384899" y="5362872"/>
            <a:ext cx="244228" cy="372368"/>
            <a:chOff x="0" y="0"/>
            <a:chExt cx="325637" cy="49649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25637" cy="496490"/>
            </a:xfrm>
            <a:custGeom>
              <a:avLst/>
              <a:gdLst/>
              <a:ahLst/>
              <a:cxnLst/>
              <a:rect l="l" t="t" r="r" b="b"/>
              <a:pathLst>
                <a:path w="325637" h="496490">
                  <a:moveTo>
                    <a:pt x="0" y="0"/>
                  </a:moveTo>
                  <a:lnTo>
                    <a:pt x="325637" y="0"/>
                  </a:lnTo>
                  <a:lnTo>
                    <a:pt x="325637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66675"/>
              <a:ext cx="325637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6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266015" y="5187552"/>
            <a:ext cx="2851845" cy="1584128"/>
            <a:chOff x="0" y="0"/>
            <a:chExt cx="3802460" cy="2112170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0"/>
              <a:ext cx="3802460" cy="596106"/>
              <a:chOff x="0" y="0"/>
              <a:chExt cx="3802460" cy="59610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3802460" cy="596106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596106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596106"/>
                    </a:lnTo>
                    <a:lnTo>
                      <a:pt x="0" y="59610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19050"/>
                <a:ext cx="3802460" cy="615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36"/>
                  </a:lnSpc>
                </a:pPr>
                <a:r>
                  <a:rPr lang="en-US" sz="2750" b="1">
                    <a:solidFill>
                      <a:srgbClr val="F2F0EF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git log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0" y="740174"/>
              <a:ext cx="3802460" cy="1371997"/>
              <a:chOff x="0" y="0"/>
              <a:chExt cx="3802460" cy="1371997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3802460" cy="1371997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1371997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1371997"/>
                    </a:lnTo>
                    <a:lnTo>
                      <a:pt x="0" y="13719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-95250"/>
                <a:ext cx="3802460" cy="14672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50"/>
                  </a:lnSpc>
                </a:pP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Displays the commit history.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293721" y="5187552"/>
            <a:ext cx="673132" cy="673132"/>
            <a:chOff x="0" y="0"/>
            <a:chExt cx="897509" cy="89750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532887" y="5362872"/>
            <a:ext cx="194816" cy="372368"/>
            <a:chOff x="0" y="0"/>
            <a:chExt cx="259755" cy="49649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59755" cy="496490"/>
            </a:xfrm>
            <a:custGeom>
              <a:avLst/>
              <a:gdLst/>
              <a:ahLst/>
              <a:cxnLst/>
              <a:rect l="l" t="t" r="r" b="b"/>
              <a:pathLst>
                <a:path w="259755" h="496490">
                  <a:moveTo>
                    <a:pt x="0" y="0"/>
                  </a:moveTo>
                  <a:lnTo>
                    <a:pt x="259755" y="0"/>
                  </a:lnTo>
                  <a:lnTo>
                    <a:pt x="259755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66675"/>
              <a:ext cx="259755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7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4407455" y="5187552"/>
            <a:ext cx="2851845" cy="1584128"/>
            <a:chOff x="0" y="0"/>
            <a:chExt cx="3802460" cy="2112170"/>
          </a:xfrm>
        </p:grpSpPr>
        <p:grpSp>
          <p:nvGrpSpPr>
            <p:cNvPr id="82" name="Group 82"/>
            <p:cNvGrpSpPr/>
            <p:nvPr/>
          </p:nvGrpSpPr>
          <p:grpSpPr>
            <a:xfrm>
              <a:off x="0" y="0"/>
              <a:ext cx="3802460" cy="596106"/>
              <a:chOff x="0" y="0"/>
              <a:chExt cx="3802460" cy="59610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3802460" cy="596106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596106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596106"/>
                    </a:lnTo>
                    <a:lnTo>
                      <a:pt x="0" y="59610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19050"/>
                <a:ext cx="3802460" cy="615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36"/>
                  </a:lnSpc>
                </a:pPr>
                <a:r>
                  <a:rPr lang="en-US" sz="2750" b="1">
                    <a:solidFill>
                      <a:srgbClr val="F2F0EF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git diff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0" y="740174"/>
              <a:ext cx="3802460" cy="1371997"/>
              <a:chOff x="0" y="0"/>
              <a:chExt cx="3802460" cy="1371997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3802460" cy="1371997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1371997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1371997"/>
                    </a:lnTo>
                    <a:lnTo>
                      <a:pt x="0" y="13719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0" y="-95250"/>
                <a:ext cx="3802460" cy="14672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50"/>
                  </a:lnSpc>
                </a:pP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To compare old &amp; new versions.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13417004" y="5187552"/>
            <a:ext cx="673132" cy="673132"/>
            <a:chOff x="0" y="0"/>
            <a:chExt cx="897509" cy="897509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3634889" y="5362872"/>
            <a:ext cx="237381" cy="372368"/>
            <a:chOff x="0" y="0"/>
            <a:chExt cx="316508" cy="49649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16508" cy="496490"/>
            </a:xfrm>
            <a:custGeom>
              <a:avLst/>
              <a:gdLst/>
              <a:ahLst/>
              <a:cxnLst/>
              <a:rect l="l" t="t" r="r" b="b"/>
              <a:pathLst>
                <a:path w="316508" h="496490">
                  <a:moveTo>
                    <a:pt x="0" y="0"/>
                  </a:moveTo>
                  <a:lnTo>
                    <a:pt x="316508" y="0"/>
                  </a:lnTo>
                  <a:lnTo>
                    <a:pt x="316508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66675"/>
              <a:ext cx="316508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8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4385411" y="7871817"/>
            <a:ext cx="2851845" cy="2062908"/>
            <a:chOff x="0" y="0"/>
            <a:chExt cx="3802460" cy="2750544"/>
          </a:xfrm>
        </p:grpSpPr>
        <p:grpSp>
          <p:nvGrpSpPr>
            <p:cNvPr id="94" name="Group 94"/>
            <p:cNvGrpSpPr/>
            <p:nvPr/>
          </p:nvGrpSpPr>
          <p:grpSpPr>
            <a:xfrm>
              <a:off x="0" y="0"/>
              <a:ext cx="3802460" cy="596106"/>
              <a:chOff x="0" y="0"/>
              <a:chExt cx="3802460" cy="596106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3802460" cy="596106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596106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596106"/>
                    </a:lnTo>
                    <a:lnTo>
                      <a:pt x="0" y="59610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0" y="-19050"/>
                <a:ext cx="3802460" cy="615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36"/>
                  </a:lnSpc>
                </a:pPr>
                <a:r>
                  <a:rPr lang="en-US" sz="2750" b="1">
                    <a:solidFill>
                      <a:srgbClr val="F2F0EF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git  --rebase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0" y="740174"/>
              <a:ext cx="3802460" cy="2010370"/>
              <a:chOff x="0" y="0"/>
              <a:chExt cx="3802460" cy="201037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3802460" cy="2010370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2010370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2010370"/>
                    </a:lnTo>
                    <a:lnTo>
                      <a:pt x="0" y="20103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0" y="-95250"/>
                <a:ext cx="3802460" cy="21056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50"/>
                  </a:lnSpc>
                </a:pP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To update the local repository with online changes.</a:t>
                </a: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1047155" y="7878961"/>
            <a:ext cx="673132" cy="673132"/>
            <a:chOff x="0" y="0"/>
            <a:chExt cx="897509" cy="897509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61616" y="8054280"/>
            <a:ext cx="244227" cy="372368"/>
            <a:chOff x="0" y="0"/>
            <a:chExt cx="325636" cy="49649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25636" cy="496490"/>
            </a:xfrm>
            <a:custGeom>
              <a:avLst/>
              <a:gdLst/>
              <a:ahLst/>
              <a:cxnLst/>
              <a:rect l="l" t="t" r="r" b="b"/>
              <a:pathLst>
                <a:path w="325636" h="496490">
                  <a:moveTo>
                    <a:pt x="0" y="0"/>
                  </a:moveTo>
                  <a:lnTo>
                    <a:pt x="325636" y="0"/>
                  </a:lnTo>
                  <a:lnTo>
                    <a:pt x="325636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66675"/>
              <a:ext cx="325636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9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2019449" y="7871817"/>
            <a:ext cx="2851845" cy="447080"/>
            <a:chOff x="0" y="0"/>
            <a:chExt cx="3802460" cy="596106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802460" cy="596106"/>
            </a:xfrm>
            <a:custGeom>
              <a:avLst/>
              <a:gdLst/>
              <a:ahLst/>
              <a:cxnLst/>
              <a:rect l="l" t="t" r="r" b="b"/>
              <a:pathLst>
                <a:path w="3802460" h="596106">
                  <a:moveTo>
                    <a:pt x="0" y="0"/>
                  </a:moveTo>
                  <a:lnTo>
                    <a:pt x="3802460" y="0"/>
                  </a:lnTo>
                  <a:lnTo>
                    <a:pt x="3802460" y="596106"/>
                  </a:lnTo>
                  <a:lnTo>
                    <a:pt x="0" y="596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19050"/>
              <a:ext cx="3802460" cy="615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50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git checkout -b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2019449" y="8426947"/>
            <a:ext cx="2851845" cy="1028997"/>
            <a:chOff x="0" y="0"/>
            <a:chExt cx="3802460" cy="1371997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802460" cy="1371997"/>
            </a:xfrm>
            <a:custGeom>
              <a:avLst/>
              <a:gdLst/>
              <a:ahLst/>
              <a:cxnLst/>
              <a:rect l="l" t="t" r="r" b="b"/>
              <a:pathLst>
                <a:path w="3802460" h="1371997">
                  <a:moveTo>
                    <a:pt x="0" y="0"/>
                  </a:moveTo>
                  <a:lnTo>
                    <a:pt x="3802460" y="0"/>
                  </a:lnTo>
                  <a:lnTo>
                    <a:pt x="3802460" y="1371997"/>
                  </a:lnTo>
                  <a:lnTo>
                    <a:pt x="0" y="1371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95250"/>
              <a:ext cx="3802460" cy="1467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Create (-b) and switch to a branch.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5170437" y="7878961"/>
            <a:ext cx="673132" cy="673132"/>
            <a:chOff x="0" y="0"/>
            <a:chExt cx="897509" cy="897509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298876" y="8054280"/>
            <a:ext cx="416124" cy="372368"/>
            <a:chOff x="0" y="0"/>
            <a:chExt cx="554832" cy="49649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554832" cy="496490"/>
            </a:xfrm>
            <a:custGeom>
              <a:avLst/>
              <a:gdLst/>
              <a:ahLst/>
              <a:cxnLst/>
              <a:rect l="l" t="t" r="r" b="b"/>
              <a:pathLst>
                <a:path w="554832" h="496490">
                  <a:moveTo>
                    <a:pt x="0" y="0"/>
                  </a:moveTo>
                  <a:lnTo>
                    <a:pt x="554832" y="0"/>
                  </a:lnTo>
                  <a:lnTo>
                    <a:pt x="554832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66675"/>
              <a:ext cx="554832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10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0269884" y="7886105"/>
            <a:ext cx="2851845" cy="1584127"/>
            <a:chOff x="0" y="0"/>
            <a:chExt cx="3802460" cy="2112169"/>
          </a:xfrm>
        </p:grpSpPr>
        <p:grpSp>
          <p:nvGrpSpPr>
            <p:cNvPr id="117" name="Group 117"/>
            <p:cNvGrpSpPr/>
            <p:nvPr/>
          </p:nvGrpSpPr>
          <p:grpSpPr>
            <a:xfrm>
              <a:off x="0" y="0"/>
              <a:ext cx="3802460" cy="596106"/>
              <a:chOff x="0" y="0"/>
              <a:chExt cx="3802460" cy="596106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3802460" cy="596106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596106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596106"/>
                    </a:lnTo>
                    <a:lnTo>
                      <a:pt x="0" y="59610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0" y="-19050"/>
                <a:ext cx="3802460" cy="615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36"/>
                  </a:lnSpc>
                </a:pPr>
                <a:r>
                  <a:rPr lang="en-US" sz="2750" b="1">
                    <a:solidFill>
                      <a:srgbClr val="F2F0EF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git merge</a:t>
                </a: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0" y="740172"/>
              <a:ext cx="3802460" cy="1371997"/>
              <a:chOff x="0" y="0"/>
              <a:chExt cx="3802460" cy="1371997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3802460" cy="1371997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1371997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1371997"/>
                    </a:lnTo>
                    <a:lnTo>
                      <a:pt x="0" y="13719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0" y="-95250"/>
                <a:ext cx="3802460" cy="14672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50"/>
                  </a:lnSpc>
                </a:pP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Merge 'A' branch into your 'B' branch.</a:t>
                </a:r>
              </a:p>
            </p:txBody>
          </p:sp>
        </p:grpSp>
      </p:grpSp>
      <p:grpSp>
        <p:nvGrpSpPr>
          <p:cNvPr id="123" name="Group 123"/>
          <p:cNvGrpSpPr/>
          <p:nvPr/>
        </p:nvGrpSpPr>
        <p:grpSpPr>
          <a:xfrm>
            <a:off x="9293721" y="7878961"/>
            <a:ext cx="673132" cy="673132"/>
            <a:chOff x="0" y="0"/>
            <a:chExt cx="897509" cy="897509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6482" y="8054280"/>
            <a:ext cx="307627" cy="372368"/>
            <a:chOff x="0" y="0"/>
            <a:chExt cx="410169" cy="49649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410169" cy="496490"/>
            </a:xfrm>
            <a:custGeom>
              <a:avLst/>
              <a:gdLst/>
              <a:ahLst/>
              <a:cxnLst/>
              <a:rect l="l" t="t" r="r" b="b"/>
              <a:pathLst>
                <a:path w="410169" h="496490">
                  <a:moveTo>
                    <a:pt x="0" y="0"/>
                  </a:moveTo>
                  <a:lnTo>
                    <a:pt x="410169" y="0"/>
                  </a:lnTo>
                  <a:lnTo>
                    <a:pt x="410169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0" y="66675"/>
              <a:ext cx="410169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11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146601" y="2496145"/>
            <a:ext cx="2851845" cy="1584127"/>
            <a:chOff x="0" y="0"/>
            <a:chExt cx="3802460" cy="2112169"/>
          </a:xfrm>
        </p:grpSpPr>
        <p:grpSp>
          <p:nvGrpSpPr>
            <p:cNvPr id="129" name="Group 129"/>
            <p:cNvGrpSpPr/>
            <p:nvPr/>
          </p:nvGrpSpPr>
          <p:grpSpPr>
            <a:xfrm>
              <a:off x="0" y="0"/>
              <a:ext cx="3802460" cy="596106"/>
              <a:chOff x="0" y="0"/>
              <a:chExt cx="3802460" cy="596106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3802460" cy="596106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596106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596106"/>
                    </a:lnTo>
                    <a:lnTo>
                      <a:pt x="0" y="59610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0" y="-19050"/>
                <a:ext cx="3802460" cy="615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36"/>
                  </a:lnSpc>
                </a:pPr>
                <a:r>
                  <a:rPr lang="en-US" sz="2750" b="1">
                    <a:solidFill>
                      <a:srgbClr val="F2F0EF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git clone</a:t>
                </a: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0" y="740172"/>
              <a:ext cx="3802460" cy="1371997"/>
              <a:chOff x="0" y="0"/>
              <a:chExt cx="3802460" cy="1371997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3802460" cy="1371997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1371997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1371997"/>
                    </a:lnTo>
                    <a:lnTo>
                      <a:pt x="0" y="13719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0" y="-95250"/>
                <a:ext cx="3802460" cy="14672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50"/>
                  </a:lnSpc>
                </a:pP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Clone a remote repository to local.</a:t>
                </a:r>
              </a:p>
            </p:txBody>
          </p:sp>
        </p:grpSp>
      </p:grpSp>
      <p:grpSp>
        <p:nvGrpSpPr>
          <p:cNvPr id="135" name="Group 135"/>
          <p:cNvGrpSpPr/>
          <p:nvPr/>
        </p:nvGrpSpPr>
        <p:grpSpPr>
          <a:xfrm>
            <a:off x="13417004" y="7878961"/>
            <a:ext cx="673132" cy="673132"/>
            <a:chOff x="0" y="0"/>
            <a:chExt cx="897509" cy="897509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3563154" y="8054280"/>
            <a:ext cx="380702" cy="372368"/>
            <a:chOff x="0" y="0"/>
            <a:chExt cx="507603" cy="49649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507603" cy="496490"/>
            </a:xfrm>
            <a:custGeom>
              <a:avLst/>
              <a:gdLst/>
              <a:ahLst/>
              <a:cxnLst/>
              <a:rect l="l" t="t" r="r" b="b"/>
              <a:pathLst>
                <a:path w="507603" h="496490">
                  <a:moveTo>
                    <a:pt x="0" y="0"/>
                  </a:moveTo>
                  <a:lnTo>
                    <a:pt x="507603" y="0"/>
                  </a:lnTo>
                  <a:lnTo>
                    <a:pt x="507603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0" y="66675"/>
              <a:ext cx="507603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12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2019439" y="5143500"/>
            <a:ext cx="2851845" cy="1584127"/>
            <a:chOff x="0" y="0"/>
            <a:chExt cx="3802460" cy="2112169"/>
          </a:xfrm>
        </p:grpSpPr>
        <p:grpSp>
          <p:nvGrpSpPr>
            <p:cNvPr id="141" name="Group 141"/>
            <p:cNvGrpSpPr/>
            <p:nvPr/>
          </p:nvGrpSpPr>
          <p:grpSpPr>
            <a:xfrm>
              <a:off x="0" y="0"/>
              <a:ext cx="3802460" cy="596106"/>
              <a:chOff x="0" y="0"/>
              <a:chExt cx="3802460" cy="596106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3802460" cy="596106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596106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596106"/>
                    </a:lnTo>
                    <a:lnTo>
                      <a:pt x="0" y="59610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TextBox 143"/>
              <p:cNvSpPr txBox="1"/>
              <p:nvPr/>
            </p:nvSpPr>
            <p:spPr>
              <a:xfrm>
                <a:off x="0" y="-19050"/>
                <a:ext cx="3802460" cy="615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36"/>
                  </a:lnSpc>
                </a:pPr>
                <a:r>
                  <a:rPr lang="en-US" sz="2750" b="1">
                    <a:solidFill>
                      <a:srgbClr val="F2F0EF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git push</a:t>
                </a:r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0" y="740172"/>
              <a:ext cx="3802460" cy="1371997"/>
              <a:chOff x="0" y="0"/>
              <a:chExt cx="3802460" cy="1371997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3802460" cy="1371997"/>
              </a:xfrm>
              <a:custGeom>
                <a:avLst/>
                <a:gdLst/>
                <a:ahLst/>
                <a:cxnLst/>
                <a:rect l="l" t="t" r="r" b="b"/>
                <a:pathLst>
                  <a:path w="3802460" h="1371997">
                    <a:moveTo>
                      <a:pt x="0" y="0"/>
                    </a:moveTo>
                    <a:lnTo>
                      <a:pt x="3802460" y="0"/>
                    </a:lnTo>
                    <a:lnTo>
                      <a:pt x="3802460" y="1371997"/>
                    </a:lnTo>
                    <a:lnTo>
                      <a:pt x="0" y="13719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0" y="-95250"/>
                <a:ext cx="3802460" cy="14672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50"/>
                  </a:lnSpc>
                </a:pPr>
                <a:r>
                  <a:rPr lang="en-US" sz="2312">
                    <a:solidFill>
                      <a:srgbClr val="F2F0EF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Push local commits to remote repository.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028700"/>
            <a:ext cx="6411218" cy="1076236"/>
            <a:chOff x="0" y="0"/>
            <a:chExt cx="8548291" cy="14349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48291" cy="1434981"/>
            </a:xfrm>
            <a:custGeom>
              <a:avLst/>
              <a:gdLst/>
              <a:ahLst/>
              <a:cxnLst/>
              <a:rect l="l" t="t" r="r" b="b"/>
              <a:pathLst>
                <a:path w="8548291" h="1434981">
                  <a:moveTo>
                    <a:pt x="0" y="0"/>
                  </a:moveTo>
                  <a:lnTo>
                    <a:pt x="8548291" y="0"/>
                  </a:lnTo>
                  <a:lnTo>
                    <a:pt x="8548291" y="1434981"/>
                  </a:lnTo>
                  <a:lnTo>
                    <a:pt x="0" y="1434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548291" cy="1454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9"/>
                </a:lnSpc>
              </a:pPr>
              <a:r>
                <a:rPr lang="en-US" sz="4999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Merging Strategies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2104936"/>
            <a:ext cx="16340344" cy="941493"/>
            <a:chOff x="0" y="0"/>
            <a:chExt cx="21787125" cy="12553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87124" cy="1255324"/>
            </a:xfrm>
            <a:custGeom>
              <a:avLst/>
              <a:gdLst/>
              <a:ahLst/>
              <a:cxnLst/>
              <a:rect l="l" t="t" r="r" b="b"/>
              <a:pathLst>
                <a:path w="21787124" h="1255324">
                  <a:moveTo>
                    <a:pt x="0" y="0"/>
                  </a:moveTo>
                  <a:lnTo>
                    <a:pt x="21787124" y="0"/>
                  </a:lnTo>
                  <a:lnTo>
                    <a:pt x="21787124" y="1255324"/>
                  </a:lnTo>
                  <a:lnTo>
                    <a:pt x="0" y="12553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21787125" cy="13696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3"/>
                </a:lnSpc>
              </a:pPr>
              <a:r>
                <a:rPr lang="en-US" sz="30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When you merge, Git decides how to bring changes from one branch into another.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3564997"/>
            <a:ext cx="6840737" cy="4996720"/>
            <a:chOff x="0" y="0"/>
            <a:chExt cx="9120983" cy="66622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20984" cy="6662293"/>
            </a:xfrm>
            <a:custGeom>
              <a:avLst/>
              <a:gdLst/>
              <a:ahLst/>
              <a:cxnLst/>
              <a:rect l="l" t="t" r="r" b="b"/>
              <a:pathLst>
                <a:path w="9120984" h="6662293">
                  <a:moveTo>
                    <a:pt x="0" y="54483"/>
                  </a:moveTo>
                  <a:cubicBezTo>
                    <a:pt x="0" y="24384"/>
                    <a:pt x="55736" y="0"/>
                    <a:pt x="124535" y="0"/>
                  </a:cubicBezTo>
                  <a:lnTo>
                    <a:pt x="8996448" y="0"/>
                  </a:lnTo>
                  <a:cubicBezTo>
                    <a:pt x="9065247" y="0"/>
                    <a:pt x="9120984" y="24384"/>
                    <a:pt x="9120984" y="54483"/>
                  </a:cubicBezTo>
                  <a:lnTo>
                    <a:pt x="9120984" y="6607810"/>
                  </a:lnTo>
                  <a:cubicBezTo>
                    <a:pt x="9120984" y="6637909"/>
                    <a:pt x="9065247" y="6662293"/>
                    <a:pt x="8996448" y="6662293"/>
                  </a:cubicBezTo>
                  <a:lnTo>
                    <a:pt x="124535" y="6662293"/>
                  </a:lnTo>
                  <a:cubicBezTo>
                    <a:pt x="55736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05723" y="3957012"/>
            <a:ext cx="4086692" cy="687606"/>
            <a:chOff x="0" y="0"/>
            <a:chExt cx="5448923" cy="916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48922" cy="916808"/>
            </a:xfrm>
            <a:custGeom>
              <a:avLst/>
              <a:gdLst/>
              <a:ahLst/>
              <a:cxnLst/>
              <a:rect l="l" t="t" r="r" b="b"/>
              <a:pathLst>
                <a:path w="5448922" h="916808">
                  <a:moveTo>
                    <a:pt x="0" y="0"/>
                  </a:moveTo>
                  <a:lnTo>
                    <a:pt x="5448922" y="0"/>
                  </a:lnTo>
                  <a:lnTo>
                    <a:pt x="5448922" y="916808"/>
                  </a:lnTo>
                  <a:lnTo>
                    <a:pt x="0" y="916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448923" cy="926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99"/>
                </a:lnSpc>
              </a:pPr>
              <a:r>
                <a:rPr lang="en-US" sz="3198" b="1" u="sng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Fast-Forward Merge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7696" y="5066411"/>
            <a:ext cx="6102222" cy="3326810"/>
            <a:chOff x="0" y="0"/>
            <a:chExt cx="8136296" cy="44357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36296" cy="4435747"/>
            </a:xfrm>
            <a:custGeom>
              <a:avLst/>
              <a:gdLst/>
              <a:ahLst/>
              <a:cxnLst/>
              <a:rect l="l" t="t" r="r" b="b"/>
              <a:pathLst>
                <a:path w="8136296" h="4435747">
                  <a:moveTo>
                    <a:pt x="0" y="0"/>
                  </a:moveTo>
                  <a:lnTo>
                    <a:pt x="8136296" y="0"/>
                  </a:lnTo>
                  <a:lnTo>
                    <a:pt x="8136296" y="4435747"/>
                  </a:lnTo>
                  <a:lnTo>
                    <a:pt x="0" y="4435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71450"/>
              <a:ext cx="8136296" cy="4607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14"/>
                </a:lnSpc>
              </a:pPr>
              <a:r>
                <a:rPr lang="en-US" sz="30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 fast-forward merge happens when the branch you’re merging into (usually main) has no new changes ahead since you created your feature branch.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492048" y="3564997"/>
            <a:ext cx="6840737" cy="4996720"/>
            <a:chOff x="0" y="0"/>
            <a:chExt cx="9120983" cy="66622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20984" cy="6662293"/>
            </a:xfrm>
            <a:custGeom>
              <a:avLst/>
              <a:gdLst/>
              <a:ahLst/>
              <a:cxnLst/>
              <a:rect l="l" t="t" r="r" b="b"/>
              <a:pathLst>
                <a:path w="9120984" h="6662293">
                  <a:moveTo>
                    <a:pt x="0" y="54483"/>
                  </a:moveTo>
                  <a:cubicBezTo>
                    <a:pt x="0" y="24384"/>
                    <a:pt x="55736" y="0"/>
                    <a:pt x="124535" y="0"/>
                  </a:cubicBezTo>
                  <a:lnTo>
                    <a:pt x="8996448" y="0"/>
                  </a:lnTo>
                  <a:cubicBezTo>
                    <a:pt x="9065247" y="0"/>
                    <a:pt x="9120984" y="24384"/>
                    <a:pt x="9120984" y="54483"/>
                  </a:cubicBezTo>
                  <a:lnTo>
                    <a:pt x="9120984" y="6607810"/>
                  </a:lnTo>
                  <a:cubicBezTo>
                    <a:pt x="9120984" y="6637909"/>
                    <a:pt x="9065247" y="6662293"/>
                    <a:pt x="8996448" y="6662293"/>
                  </a:cubicBezTo>
                  <a:lnTo>
                    <a:pt x="124535" y="6662293"/>
                  </a:lnTo>
                  <a:cubicBezTo>
                    <a:pt x="55736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32040" y="3823066"/>
            <a:ext cx="3553397" cy="815579"/>
            <a:chOff x="0" y="0"/>
            <a:chExt cx="4737863" cy="10874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37863" cy="1087438"/>
            </a:xfrm>
            <a:custGeom>
              <a:avLst/>
              <a:gdLst/>
              <a:ahLst/>
              <a:cxnLst/>
              <a:rect l="l" t="t" r="r" b="b"/>
              <a:pathLst>
                <a:path w="4737863" h="1087438">
                  <a:moveTo>
                    <a:pt x="0" y="0"/>
                  </a:moveTo>
                  <a:lnTo>
                    <a:pt x="4737863" y="0"/>
                  </a:lnTo>
                  <a:lnTo>
                    <a:pt x="4737863" y="1087438"/>
                  </a:lnTo>
                  <a:lnTo>
                    <a:pt x="0" y="108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737863" cy="1096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99"/>
                </a:lnSpc>
              </a:pPr>
              <a:r>
                <a:rPr lang="en-US" sz="3198" b="1" u="sng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Three-Way Merge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14555" y="4954144"/>
            <a:ext cx="5595724" cy="3248037"/>
            <a:chOff x="0" y="0"/>
            <a:chExt cx="7460965" cy="43307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60966" cy="4330716"/>
            </a:xfrm>
            <a:custGeom>
              <a:avLst/>
              <a:gdLst/>
              <a:ahLst/>
              <a:cxnLst/>
              <a:rect l="l" t="t" r="r" b="b"/>
              <a:pathLst>
                <a:path w="7460966" h="4330716">
                  <a:moveTo>
                    <a:pt x="0" y="0"/>
                  </a:moveTo>
                  <a:lnTo>
                    <a:pt x="7460966" y="0"/>
                  </a:lnTo>
                  <a:lnTo>
                    <a:pt x="7460966" y="4330716"/>
                  </a:lnTo>
                  <a:lnTo>
                    <a:pt x="0" y="43307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7460965" cy="4387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34"/>
                </a:lnSpc>
              </a:pPr>
              <a:r>
                <a:rPr lang="en-US" sz="30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Happens when </a:t>
              </a:r>
              <a:r>
                <a:rPr lang="en-US" sz="3024" b="1">
                  <a:solidFill>
                    <a:srgbClr val="F2F0E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both branches diverged</a:t>
              </a:r>
              <a:r>
                <a:rPr lang="en-US" sz="30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(each has new commits).</a:t>
              </a:r>
            </a:p>
            <a:p>
              <a:pPr algn="ctr">
                <a:lnSpc>
                  <a:spcPts val="4234"/>
                </a:lnSpc>
              </a:pPr>
              <a:endParaRPr lang="en-US" sz="30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ctr">
                <a:lnSpc>
                  <a:spcPts val="4234"/>
                </a:lnSpc>
              </a:pPr>
              <a:r>
                <a:rPr lang="en-US" sz="30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Git creates a new </a:t>
              </a:r>
              <a:r>
                <a:rPr lang="en-US" sz="3024" b="1">
                  <a:solidFill>
                    <a:srgbClr val="F2F0E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merge commit</a:t>
              </a:r>
              <a:r>
                <a:rPr lang="en-US" sz="30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</a:p>
            <a:p>
              <a:pPr algn="ctr">
                <a:lnSpc>
                  <a:spcPts val="4234"/>
                </a:lnSpc>
              </a:pPr>
              <a:endParaRPr lang="en-US" sz="30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ctr">
                <a:lnSpc>
                  <a:spcPts val="4234"/>
                </a:lnSpc>
              </a:pPr>
              <a:r>
                <a:rPr lang="en-US" sz="30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Keeps history of parallel work.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899992" y="7814491"/>
            <a:ext cx="4200643" cy="1807964"/>
            <a:chOff x="0" y="0"/>
            <a:chExt cx="5600857" cy="24106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600857" cy="2410618"/>
            </a:xfrm>
            <a:custGeom>
              <a:avLst/>
              <a:gdLst/>
              <a:ahLst/>
              <a:cxnLst/>
              <a:rect l="l" t="t" r="r" b="b"/>
              <a:pathLst>
                <a:path w="5600857" h="2410618">
                  <a:moveTo>
                    <a:pt x="0" y="0"/>
                  </a:moveTo>
                  <a:lnTo>
                    <a:pt x="5600857" y="0"/>
                  </a:lnTo>
                  <a:lnTo>
                    <a:pt x="5600857" y="2410618"/>
                  </a:lnTo>
                  <a:lnTo>
                    <a:pt x="0" y="2410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5600857" cy="2496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7033" y="609600"/>
            <a:ext cx="9938209" cy="986704"/>
            <a:chOff x="0" y="0"/>
            <a:chExt cx="13250945" cy="13156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50945" cy="1315605"/>
            </a:xfrm>
            <a:custGeom>
              <a:avLst/>
              <a:gdLst/>
              <a:ahLst/>
              <a:cxnLst/>
              <a:rect l="l" t="t" r="r" b="b"/>
              <a:pathLst>
                <a:path w="13250945" h="1315605">
                  <a:moveTo>
                    <a:pt x="0" y="0"/>
                  </a:moveTo>
                  <a:lnTo>
                    <a:pt x="13250945" y="0"/>
                  </a:lnTo>
                  <a:lnTo>
                    <a:pt x="13250945" y="1315605"/>
                  </a:lnTo>
                  <a:lnTo>
                    <a:pt x="0" y="13156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250945" cy="1334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48"/>
                </a:lnSpc>
              </a:pPr>
              <a:r>
                <a:rPr lang="en-US" sz="4599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Let’s visualize Forward merge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7033" y="1847106"/>
            <a:ext cx="16340344" cy="1804431"/>
            <a:chOff x="0" y="0"/>
            <a:chExt cx="21787125" cy="24059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87124" cy="2405908"/>
            </a:xfrm>
            <a:custGeom>
              <a:avLst/>
              <a:gdLst/>
              <a:ahLst/>
              <a:cxnLst/>
              <a:rect l="l" t="t" r="r" b="b"/>
              <a:pathLst>
                <a:path w="21787124" h="2405908">
                  <a:moveTo>
                    <a:pt x="0" y="0"/>
                  </a:moveTo>
                  <a:lnTo>
                    <a:pt x="21787124" y="0"/>
                  </a:lnTo>
                  <a:lnTo>
                    <a:pt x="21787124" y="2405908"/>
                  </a:lnTo>
                  <a:lnTo>
                    <a:pt x="0" y="24059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787125" cy="2501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68"/>
                </a:lnSpc>
              </a:pPr>
              <a:r>
                <a:rPr lang="en-US" sz="26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Divergence means that when two branches (e.g., main and your private) have different commits that don’t exist in each other.</a:t>
              </a:r>
            </a:p>
            <a:p>
              <a:pPr algn="l">
                <a:lnSpc>
                  <a:spcPts val="4165"/>
                </a:lnSpc>
              </a:pPr>
              <a:endParaRPr lang="en-US" sz="26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3486620"/>
            <a:ext cx="5135260" cy="4996720"/>
            <a:chOff x="0" y="0"/>
            <a:chExt cx="6847013" cy="66622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47013" cy="6662293"/>
            </a:xfrm>
            <a:custGeom>
              <a:avLst/>
              <a:gdLst/>
              <a:ahLst/>
              <a:cxnLst/>
              <a:rect l="l" t="t" r="r" b="b"/>
              <a:pathLst>
                <a:path w="6847013" h="6662293">
                  <a:moveTo>
                    <a:pt x="0" y="54483"/>
                  </a:moveTo>
                  <a:cubicBezTo>
                    <a:pt x="0" y="24384"/>
                    <a:pt x="41840" y="0"/>
                    <a:pt x="93487" y="0"/>
                  </a:cubicBezTo>
                  <a:lnTo>
                    <a:pt x="6753526" y="0"/>
                  </a:lnTo>
                  <a:cubicBezTo>
                    <a:pt x="6805172" y="0"/>
                    <a:pt x="6847013" y="24384"/>
                    <a:pt x="6847013" y="54483"/>
                  </a:cubicBezTo>
                  <a:lnTo>
                    <a:pt x="6847013" y="6607810"/>
                  </a:lnTo>
                  <a:cubicBezTo>
                    <a:pt x="6847013" y="6637909"/>
                    <a:pt x="6805172" y="6662293"/>
                    <a:pt x="6753526" y="6662293"/>
                  </a:cubicBezTo>
                  <a:lnTo>
                    <a:pt x="93487" y="6662293"/>
                  </a:lnTo>
                  <a:cubicBezTo>
                    <a:pt x="41840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6817" y="3636430"/>
            <a:ext cx="4465212" cy="946065"/>
            <a:chOff x="0" y="0"/>
            <a:chExt cx="5953616" cy="12614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53616" cy="1261420"/>
            </a:xfrm>
            <a:custGeom>
              <a:avLst/>
              <a:gdLst/>
              <a:ahLst/>
              <a:cxnLst/>
              <a:rect l="l" t="t" r="r" b="b"/>
              <a:pathLst>
                <a:path w="5953616" h="1261420">
                  <a:moveTo>
                    <a:pt x="0" y="0"/>
                  </a:moveTo>
                  <a:lnTo>
                    <a:pt x="5953616" y="0"/>
                  </a:lnTo>
                  <a:lnTo>
                    <a:pt x="5953616" y="1261420"/>
                  </a:lnTo>
                  <a:lnTo>
                    <a:pt x="0" y="1261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5953616" cy="1337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23"/>
                </a:lnSpc>
              </a:pPr>
              <a:r>
                <a:rPr lang="en-US" sz="2499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Case 1 – No Divergence </a:t>
              </a:r>
            </a:p>
            <a:p>
              <a:pPr algn="ctr">
                <a:lnSpc>
                  <a:spcPts val="3364"/>
                </a:lnSpc>
              </a:pPr>
              <a:r>
                <a:rPr lang="en-US" sz="2199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(Fast-Forward possible)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2707" y="4783491"/>
            <a:ext cx="4753431" cy="4011165"/>
            <a:chOff x="0" y="0"/>
            <a:chExt cx="6337907" cy="53482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7908" cy="5348220"/>
            </a:xfrm>
            <a:custGeom>
              <a:avLst/>
              <a:gdLst/>
              <a:ahLst/>
              <a:cxnLst/>
              <a:rect l="l" t="t" r="r" b="b"/>
              <a:pathLst>
                <a:path w="6337908" h="5348220">
                  <a:moveTo>
                    <a:pt x="0" y="0"/>
                  </a:moveTo>
                  <a:lnTo>
                    <a:pt x="6337908" y="0"/>
                  </a:lnTo>
                  <a:lnTo>
                    <a:pt x="6337908" y="5348220"/>
                  </a:lnTo>
                  <a:lnTo>
                    <a:pt x="0" y="5348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6337907" cy="5433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31"/>
                </a:lnSpc>
              </a:pPr>
              <a:r>
                <a:rPr lang="en-US" sz="22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 --- B (main)</a:t>
              </a:r>
            </a:p>
            <a:p>
              <a:pPr algn="l">
                <a:lnSpc>
                  <a:spcPts val="3531"/>
                </a:lnSpc>
              </a:pPr>
              <a:r>
                <a:rPr lang="en-US" sz="22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      \</a:t>
              </a:r>
            </a:p>
            <a:p>
              <a:pPr algn="l">
                <a:lnSpc>
                  <a:spcPts val="3531"/>
                </a:lnSpc>
              </a:pPr>
              <a:r>
                <a:rPr lang="en-US" sz="22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       C --- D (feature)</a:t>
              </a:r>
            </a:p>
            <a:p>
              <a:pPr algn="l">
                <a:lnSpc>
                  <a:spcPts val="3531"/>
                </a:lnSpc>
              </a:pPr>
              <a:endParaRPr lang="en-US" sz="22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l">
                <a:lnSpc>
                  <a:spcPts val="3531"/>
                </a:lnSpc>
              </a:pPr>
              <a:r>
                <a:rPr lang="en-US" sz="22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Here:</a:t>
              </a:r>
            </a:p>
            <a:p>
              <a:pPr marL="480376" lvl="1" indent="-240188" algn="l">
                <a:lnSpc>
                  <a:spcPts val="3531"/>
                </a:lnSpc>
                <a:buFont typeface="Arial"/>
                <a:buChar char="•"/>
              </a:pPr>
              <a:r>
                <a:rPr lang="en-US" sz="22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main stopped at B.</a:t>
              </a:r>
            </a:p>
            <a:p>
              <a:pPr marL="480376" lvl="1" indent="-240188" algn="l">
                <a:lnSpc>
                  <a:spcPts val="3531"/>
                </a:lnSpc>
                <a:buFont typeface="Arial"/>
                <a:buChar char="•"/>
              </a:pPr>
              <a:r>
                <a:rPr lang="en-US" sz="22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feature moved forward with               C and D.</a:t>
              </a:r>
            </a:p>
            <a:p>
              <a:pPr algn="l">
                <a:lnSpc>
                  <a:spcPts val="3532"/>
                </a:lnSpc>
              </a:pPr>
              <a:endParaRPr lang="en-US" sz="22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31346" y="3486620"/>
            <a:ext cx="5135260" cy="4996720"/>
            <a:chOff x="0" y="0"/>
            <a:chExt cx="6847013" cy="66622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47013" cy="6662293"/>
            </a:xfrm>
            <a:custGeom>
              <a:avLst/>
              <a:gdLst/>
              <a:ahLst/>
              <a:cxnLst/>
              <a:rect l="l" t="t" r="r" b="b"/>
              <a:pathLst>
                <a:path w="6847013" h="6662293">
                  <a:moveTo>
                    <a:pt x="0" y="54483"/>
                  </a:moveTo>
                  <a:cubicBezTo>
                    <a:pt x="0" y="24384"/>
                    <a:pt x="41840" y="0"/>
                    <a:pt x="93487" y="0"/>
                  </a:cubicBezTo>
                  <a:lnTo>
                    <a:pt x="6753526" y="0"/>
                  </a:lnTo>
                  <a:cubicBezTo>
                    <a:pt x="6805172" y="0"/>
                    <a:pt x="6847013" y="24384"/>
                    <a:pt x="6847013" y="54483"/>
                  </a:cubicBezTo>
                  <a:lnTo>
                    <a:pt x="6847013" y="6607810"/>
                  </a:lnTo>
                  <a:cubicBezTo>
                    <a:pt x="6847013" y="6637909"/>
                    <a:pt x="6805172" y="6662293"/>
                    <a:pt x="6753526" y="6662293"/>
                  </a:cubicBezTo>
                  <a:lnTo>
                    <a:pt x="93487" y="6662293"/>
                  </a:lnTo>
                  <a:cubicBezTo>
                    <a:pt x="41840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72378" y="3636430"/>
            <a:ext cx="4653245" cy="925936"/>
            <a:chOff x="0" y="0"/>
            <a:chExt cx="6204327" cy="123458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04327" cy="1234581"/>
            </a:xfrm>
            <a:custGeom>
              <a:avLst/>
              <a:gdLst/>
              <a:ahLst/>
              <a:cxnLst/>
              <a:rect l="l" t="t" r="r" b="b"/>
              <a:pathLst>
                <a:path w="6204327" h="1234581">
                  <a:moveTo>
                    <a:pt x="0" y="0"/>
                  </a:moveTo>
                  <a:lnTo>
                    <a:pt x="6204327" y="0"/>
                  </a:lnTo>
                  <a:lnTo>
                    <a:pt x="6204327" y="1234581"/>
                  </a:lnTo>
                  <a:lnTo>
                    <a:pt x="0" y="1234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6204327" cy="13107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23"/>
                </a:lnSpc>
              </a:pPr>
              <a:r>
                <a:rPr lang="en-US" sz="2499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Case 2 – Diverged </a:t>
              </a:r>
            </a:p>
            <a:p>
              <a:pPr algn="ctr">
                <a:lnSpc>
                  <a:spcPts val="3211"/>
                </a:lnSpc>
              </a:pPr>
              <a:r>
                <a:rPr lang="en-US" sz="2099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(Fast-Forward not possible)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72378" y="4659386"/>
            <a:ext cx="4894227" cy="3754795"/>
            <a:chOff x="0" y="0"/>
            <a:chExt cx="6525637" cy="500639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25637" cy="5006393"/>
            </a:xfrm>
            <a:custGeom>
              <a:avLst/>
              <a:gdLst/>
              <a:ahLst/>
              <a:cxnLst/>
              <a:rect l="l" t="t" r="r" b="b"/>
              <a:pathLst>
                <a:path w="6525637" h="5006393">
                  <a:moveTo>
                    <a:pt x="0" y="0"/>
                  </a:moveTo>
                  <a:lnTo>
                    <a:pt x="6525637" y="0"/>
                  </a:lnTo>
                  <a:lnTo>
                    <a:pt x="6525637" y="5006393"/>
                  </a:lnTo>
                  <a:lnTo>
                    <a:pt x="0" y="50063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6525637" cy="5092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2"/>
                </a:lnSpc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 --- B --- C (main)</a:t>
              </a:r>
            </a:p>
            <a:p>
              <a:pPr algn="l">
                <a:lnSpc>
                  <a:spcPts val="3372"/>
                </a:lnSpc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      \</a:t>
              </a:r>
            </a:p>
            <a:p>
              <a:pPr algn="l">
                <a:lnSpc>
                  <a:spcPts val="3372"/>
                </a:lnSpc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       D --- E (feature)</a:t>
              </a:r>
            </a:p>
            <a:p>
              <a:pPr algn="l">
                <a:lnSpc>
                  <a:spcPts val="3372"/>
                </a:lnSpc>
              </a:pPr>
              <a:endParaRPr lang="en-US" sz="21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l">
                <a:lnSpc>
                  <a:spcPts val="3372"/>
                </a:lnSpc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Here:</a:t>
              </a:r>
            </a:p>
            <a:p>
              <a:pPr marL="458787" lvl="1" indent="-229393" algn="l">
                <a:lnSpc>
                  <a:spcPts val="3372"/>
                </a:lnSpc>
                <a:buFont typeface="Arial"/>
                <a:buChar char="•"/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main got commit C.</a:t>
              </a:r>
            </a:p>
            <a:p>
              <a:pPr marL="458787" lvl="1" indent="-229393" algn="l">
                <a:lnSpc>
                  <a:spcPts val="3372"/>
                </a:lnSpc>
                <a:buFont typeface="Arial"/>
                <a:buChar char="•"/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feature got commits D and E.</a:t>
              </a:r>
            </a:p>
            <a:p>
              <a:pPr algn="l">
                <a:lnSpc>
                  <a:spcPts val="3372"/>
                </a:lnSpc>
              </a:pPr>
              <a:endParaRPr lang="en-US" sz="21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Now both branches have </a:t>
              </a:r>
              <a:r>
                <a:rPr lang="en-US" sz="2125" b="1">
                  <a:solidFill>
                    <a:srgbClr val="F2F0E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unique commits</a:t>
              </a:r>
              <a:r>
                <a:rPr lang="en-US" sz="2125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 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31346" y="8673840"/>
            <a:ext cx="5744315" cy="1807964"/>
            <a:chOff x="0" y="0"/>
            <a:chExt cx="7659087" cy="24106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659087" cy="2410618"/>
            </a:xfrm>
            <a:custGeom>
              <a:avLst/>
              <a:gdLst/>
              <a:ahLst/>
              <a:cxnLst/>
              <a:rect l="l" t="t" r="r" b="b"/>
              <a:pathLst>
                <a:path w="7659087" h="2410618">
                  <a:moveTo>
                    <a:pt x="0" y="0"/>
                  </a:moveTo>
                  <a:lnTo>
                    <a:pt x="7659087" y="0"/>
                  </a:lnTo>
                  <a:lnTo>
                    <a:pt x="7659087" y="2410618"/>
                  </a:lnTo>
                  <a:lnTo>
                    <a:pt x="0" y="2410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7659087" cy="2496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2"/>
                </a:lnSpc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To bring them back together, Git must:</a:t>
              </a:r>
            </a:p>
            <a:p>
              <a:pPr marL="458787" lvl="1" indent="-229393" algn="l">
                <a:lnSpc>
                  <a:spcPts val="3372"/>
                </a:lnSpc>
                <a:buFont typeface="Arial"/>
                <a:buChar char="•"/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Create a </a:t>
              </a:r>
              <a:r>
                <a:rPr lang="en-US" sz="2124" b="1">
                  <a:solidFill>
                    <a:srgbClr val="F2F0E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merge commit</a:t>
              </a: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(normal merge), or</a:t>
              </a:r>
            </a:p>
            <a:p>
              <a:pPr marL="458787" lvl="1" indent="-229393" algn="l">
                <a:lnSpc>
                  <a:spcPts val="3372"/>
                </a:lnSpc>
                <a:buFont typeface="Arial"/>
                <a:buChar char="•"/>
              </a:pPr>
              <a:r>
                <a:rPr lang="en-US" sz="21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Rebase feature onto main.</a:t>
              </a:r>
            </a:p>
            <a:p>
              <a:pPr algn="l">
                <a:lnSpc>
                  <a:spcPts val="3374"/>
                </a:lnSpc>
              </a:pPr>
              <a:endParaRPr lang="en-US" sz="21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233990" y="3486620"/>
            <a:ext cx="5135260" cy="4996720"/>
            <a:chOff x="0" y="0"/>
            <a:chExt cx="6847013" cy="666229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847013" cy="6662293"/>
            </a:xfrm>
            <a:custGeom>
              <a:avLst/>
              <a:gdLst/>
              <a:ahLst/>
              <a:cxnLst/>
              <a:rect l="l" t="t" r="r" b="b"/>
              <a:pathLst>
                <a:path w="6847013" h="6662293">
                  <a:moveTo>
                    <a:pt x="0" y="54483"/>
                  </a:moveTo>
                  <a:cubicBezTo>
                    <a:pt x="0" y="24384"/>
                    <a:pt x="41840" y="0"/>
                    <a:pt x="93487" y="0"/>
                  </a:cubicBezTo>
                  <a:lnTo>
                    <a:pt x="6753526" y="0"/>
                  </a:lnTo>
                  <a:cubicBezTo>
                    <a:pt x="6805172" y="0"/>
                    <a:pt x="6847013" y="24384"/>
                    <a:pt x="6847013" y="54483"/>
                  </a:cubicBezTo>
                  <a:lnTo>
                    <a:pt x="6847013" y="6607810"/>
                  </a:lnTo>
                  <a:cubicBezTo>
                    <a:pt x="6847013" y="6637909"/>
                    <a:pt x="6805172" y="6662293"/>
                    <a:pt x="6753526" y="6662293"/>
                  </a:cubicBezTo>
                  <a:lnTo>
                    <a:pt x="93487" y="6662293"/>
                  </a:lnTo>
                  <a:cubicBezTo>
                    <a:pt x="41840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233330" y="3651537"/>
            <a:ext cx="5225751" cy="815579"/>
            <a:chOff x="0" y="0"/>
            <a:chExt cx="6967668" cy="10874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967668" cy="1087438"/>
            </a:xfrm>
            <a:custGeom>
              <a:avLst/>
              <a:gdLst/>
              <a:ahLst/>
              <a:cxnLst/>
              <a:rect l="l" t="t" r="r" b="b"/>
              <a:pathLst>
                <a:path w="6967668" h="1087438">
                  <a:moveTo>
                    <a:pt x="0" y="0"/>
                  </a:moveTo>
                  <a:lnTo>
                    <a:pt x="6967668" y="0"/>
                  </a:lnTo>
                  <a:lnTo>
                    <a:pt x="6967668" y="1087438"/>
                  </a:lnTo>
                  <a:lnTo>
                    <a:pt x="0" y="108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6967668" cy="1096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98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Rule of Thumb: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701298" y="4562365"/>
            <a:ext cx="4200643" cy="3551635"/>
            <a:chOff x="0" y="0"/>
            <a:chExt cx="5600857" cy="473551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00857" cy="4735513"/>
            </a:xfrm>
            <a:custGeom>
              <a:avLst/>
              <a:gdLst/>
              <a:ahLst/>
              <a:cxnLst/>
              <a:rect l="l" t="t" r="r" b="b"/>
              <a:pathLst>
                <a:path w="5600857" h="4735513">
                  <a:moveTo>
                    <a:pt x="0" y="0"/>
                  </a:moveTo>
                  <a:lnTo>
                    <a:pt x="5600857" y="0"/>
                  </a:lnTo>
                  <a:lnTo>
                    <a:pt x="5600857" y="4735513"/>
                  </a:lnTo>
                  <a:lnTo>
                    <a:pt x="0" y="473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14300"/>
              <a:ext cx="5600857" cy="484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5608" lvl="1" indent="-227804" algn="l">
                <a:lnSpc>
                  <a:spcPts val="3998"/>
                </a:lnSpc>
                <a:buFont typeface="Arial"/>
                <a:buChar char="•"/>
              </a:pPr>
              <a:r>
                <a:rPr lang="en-US" sz="23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No divergence: Git performs a fast-forward (moves branch pointer).</a:t>
              </a:r>
            </a:p>
            <a:p>
              <a:pPr marL="455608" lvl="1" indent="-227804" algn="l">
                <a:lnSpc>
                  <a:spcPts val="3998"/>
                </a:lnSpc>
                <a:buFont typeface="Arial"/>
                <a:buChar char="•"/>
              </a:pPr>
              <a:r>
                <a:rPr lang="en-US" sz="23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Divergence: Merge commit or rebase needed to combine histories.</a:t>
              </a:r>
            </a:p>
            <a:p>
              <a:pPr marL="455832" lvl="2" indent="-151944" algn="l">
                <a:lnSpc>
                  <a:spcPts val="3999"/>
                </a:lnSpc>
              </a:pPr>
              <a:endParaRPr lang="en-US" sz="2324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28700" y="8782425"/>
            <a:ext cx="5135260" cy="67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12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“Fast-forward merge: main updated as no new commits were added after branching.”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11541" y="1429494"/>
            <a:ext cx="6411218" cy="822871"/>
            <a:chOff x="0" y="0"/>
            <a:chExt cx="8548291" cy="10971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48291" cy="1097162"/>
            </a:xfrm>
            <a:custGeom>
              <a:avLst/>
              <a:gdLst/>
              <a:ahLst/>
              <a:cxnLst/>
              <a:rect l="l" t="t" r="r" b="b"/>
              <a:pathLst>
                <a:path w="8548291" h="1097162">
                  <a:moveTo>
                    <a:pt x="0" y="0"/>
                  </a:moveTo>
                  <a:lnTo>
                    <a:pt x="8548291" y="0"/>
                  </a:lnTo>
                  <a:lnTo>
                    <a:pt x="8548291" y="1097162"/>
                  </a:lnTo>
                  <a:lnTo>
                    <a:pt x="0" y="1097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548291" cy="111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9"/>
                </a:lnSpc>
              </a:pPr>
              <a:r>
                <a:rPr lang="en-US" sz="4999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Handling Conflicts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11541" y="2541240"/>
            <a:ext cx="9522916" cy="951881"/>
            <a:chOff x="0" y="0"/>
            <a:chExt cx="12697221" cy="12691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97221" cy="1269175"/>
            </a:xfrm>
            <a:custGeom>
              <a:avLst/>
              <a:gdLst/>
              <a:ahLst/>
              <a:cxnLst/>
              <a:rect l="l" t="t" r="r" b="b"/>
              <a:pathLst>
                <a:path w="12697221" h="1269175">
                  <a:moveTo>
                    <a:pt x="0" y="0"/>
                  </a:moveTo>
                  <a:lnTo>
                    <a:pt x="12697221" y="0"/>
                  </a:lnTo>
                  <a:lnTo>
                    <a:pt x="12697221" y="1269175"/>
                  </a:lnTo>
                  <a:lnTo>
                    <a:pt x="0" y="1269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2697221" cy="1364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50"/>
                </a:lnSpc>
              </a:pPr>
              <a:r>
                <a:rPr lang="en-US" sz="2424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Conflicts in Git occur when changes to the same part of a file are made in different branches or during a merge.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811541" y="3839319"/>
            <a:ext cx="2992755" cy="4996720"/>
            <a:chOff x="0" y="0"/>
            <a:chExt cx="3990340" cy="66622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90340" cy="6662293"/>
            </a:xfrm>
            <a:custGeom>
              <a:avLst/>
              <a:gdLst/>
              <a:ahLst/>
              <a:cxnLst/>
              <a:rect l="l" t="t" r="r" b="b"/>
              <a:pathLst>
                <a:path w="3990340" h="6662293">
                  <a:moveTo>
                    <a:pt x="0" y="54483"/>
                  </a:moveTo>
                  <a:cubicBezTo>
                    <a:pt x="0" y="24384"/>
                    <a:pt x="24384" y="0"/>
                    <a:pt x="54483" y="0"/>
                  </a:cubicBezTo>
                  <a:lnTo>
                    <a:pt x="3935857" y="0"/>
                  </a:lnTo>
                  <a:cubicBezTo>
                    <a:pt x="3965956" y="0"/>
                    <a:pt x="3990340" y="24384"/>
                    <a:pt x="3990340" y="54483"/>
                  </a:cubicBezTo>
                  <a:lnTo>
                    <a:pt x="3990340" y="6607810"/>
                  </a:lnTo>
                  <a:cubicBezTo>
                    <a:pt x="3990340" y="6637909"/>
                    <a:pt x="3965956" y="6662293"/>
                    <a:pt x="3935857" y="6662293"/>
                  </a:cubicBezTo>
                  <a:lnTo>
                    <a:pt x="54483" y="6662293"/>
                  </a:lnTo>
                  <a:cubicBezTo>
                    <a:pt x="24384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83897" y="4231334"/>
            <a:ext cx="2602261" cy="547688"/>
            <a:chOff x="0" y="0"/>
            <a:chExt cx="3469681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69681" cy="730250"/>
            </a:xfrm>
            <a:custGeom>
              <a:avLst/>
              <a:gdLst/>
              <a:ahLst/>
              <a:cxnLst/>
              <a:rect l="l" t="t" r="r" b="b"/>
              <a:pathLst>
                <a:path w="3469681" h="730250">
                  <a:moveTo>
                    <a:pt x="0" y="0"/>
                  </a:moveTo>
                  <a:lnTo>
                    <a:pt x="3469681" y="0"/>
                  </a:lnTo>
                  <a:lnTo>
                    <a:pt x="346968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3469681" cy="739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Identify Conflict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085684" y="5079206"/>
            <a:ext cx="2448074" cy="1848072"/>
            <a:chOff x="0" y="0"/>
            <a:chExt cx="3264099" cy="24640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264099" cy="2464096"/>
            </a:xfrm>
            <a:custGeom>
              <a:avLst/>
              <a:gdLst/>
              <a:ahLst/>
              <a:cxnLst/>
              <a:rect l="l" t="t" r="r" b="b"/>
              <a:pathLst>
                <a:path w="3264099" h="2464096">
                  <a:moveTo>
                    <a:pt x="0" y="0"/>
                  </a:moveTo>
                  <a:lnTo>
                    <a:pt x="3264099" y="0"/>
                  </a:lnTo>
                  <a:lnTo>
                    <a:pt x="3264099" y="2464096"/>
                  </a:lnTo>
                  <a:lnTo>
                    <a:pt x="0" y="24640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3264099" cy="25498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5832" lvl="2" indent="-151944" algn="l">
                <a:lnSpc>
                  <a:spcPts val="3691"/>
                </a:lnSpc>
                <a:buFont typeface="Arial"/>
                <a:buChar char="⚬"/>
              </a:pPr>
              <a:r>
                <a:rPr lang="en-US" sz="2325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Git notifies of conflicting changes during merge.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076682" y="3839319"/>
            <a:ext cx="2992755" cy="4996720"/>
            <a:chOff x="0" y="0"/>
            <a:chExt cx="3990340" cy="66622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990340" cy="6662293"/>
            </a:xfrm>
            <a:custGeom>
              <a:avLst/>
              <a:gdLst/>
              <a:ahLst/>
              <a:cxnLst/>
              <a:rect l="l" t="t" r="r" b="b"/>
              <a:pathLst>
                <a:path w="3990340" h="6662293">
                  <a:moveTo>
                    <a:pt x="0" y="54483"/>
                  </a:moveTo>
                  <a:cubicBezTo>
                    <a:pt x="0" y="24384"/>
                    <a:pt x="24384" y="0"/>
                    <a:pt x="54483" y="0"/>
                  </a:cubicBezTo>
                  <a:lnTo>
                    <a:pt x="3935857" y="0"/>
                  </a:lnTo>
                  <a:cubicBezTo>
                    <a:pt x="3965956" y="0"/>
                    <a:pt x="3990340" y="24384"/>
                    <a:pt x="3990340" y="54483"/>
                  </a:cubicBezTo>
                  <a:lnTo>
                    <a:pt x="3990340" y="6607810"/>
                  </a:lnTo>
                  <a:cubicBezTo>
                    <a:pt x="3990340" y="6637909"/>
                    <a:pt x="3965956" y="6662293"/>
                    <a:pt x="3935857" y="6662293"/>
                  </a:cubicBezTo>
                  <a:lnTo>
                    <a:pt x="54483" y="6662293"/>
                  </a:lnTo>
                  <a:cubicBezTo>
                    <a:pt x="24384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217153" y="4097386"/>
            <a:ext cx="2711844" cy="815579"/>
            <a:chOff x="0" y="0"/>
            <a:chExt cx="3615792" cy="10874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15792" cy="1087438"/>
            </a:xfrm>
            <a:custGeom>
              <a:avLst/>
              <a:gdLst/>
              <a:ahLst/>
              <a:cxnLst/>
              <a:rect l="l" t="t" r="r" b="b"/>
              <a:pathLst>
                <a:path w="3615792" h="1087438">
                  <a:moveTo>
                    <a:pt x="0" y="0"/>
                  </a:moveTo>
                  <a:lnTo>
                    <a:pt x="3615792" y="0"/>
                  </a:lnTo>
                  <a:lnTo>
                    <a:pt x="3615792" y="1087438"/>
                  </a:lnTo>
                  <a:lnTo>
                    <a:pt x="0" y="108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615792" cy="1096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Resolve Manually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349037" y="5012085"/>
            <a:ext cx="2448074" cy="1372046"/>
            <a:chOff x="0" y="0"/>
            <a:chExt cx="3264099" cy="182939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264099" cy="1829394"/>
            </a:xfrm>
            <a:custGeom>
              <a:avLst/>
              <a:gdLst/>
              <a:ahLst/>
              <a:cxnLst/>
              <a:rect l="l" t="t" r="r" b="b"/>
              <a:pathLst>
                <a:path w="3264099" h="1829394">
                  <a:moveTo>
                    <a:pt x="0" y="0"/>
                  </a:moveTo>
                  <a:lnTo>
                    <a:pt x="3264099" y="0"/>
                  </a:lnTo>
                  <a:lnTo>
                    <a:pt x="3264099" y="1829394"/>
                  </a:lnTo>
                  <a:lnTo>
                    <a:pt x="0" y="18293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3264099" cy="1915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6226" lvl="2" indent="-145409" algn="l">
                <a:lnSpc>
                  <a:spcPts val="3532"/>
                </a:lnSpc>
                <a:buFont typeface="Arial"/>
                <a:buChar char="⚬"/>
              </a:pPr>
              <a:r>
                <a:rPr lang="en-US" sz="2225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Edit conflicting files to choose desired changes.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349037" y="6415087"/>
            <a:ext cx="2448074" cy="2314797"/>
            <a:chOff x="0" y="0"/>
            <a:chExt cx="3264099" cy="30863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64099" cy="3086396"/>
            </a:xfrm>
            <a:custGeom>
              <a:avLst/>
              <a:gdLst/>
              <a:ahLst/>
              <a:cxnLst/>
              <a:rect l="l" t="t" r="r" b="b"/>
              <a:pathLst>
                <a:path w="3264099" h="3086396">
                  <a:moveTo>
                    <a:pt x="0" y="0"/>
                  </a:moveTo>
                  <a:lnTo>
                    <a:pt x="3264099" y="0"/>
                  </a:lnTo>
                  <a:lnTo>
                    <a:pt x="3264099" y="3086396"/>
                  </a:lnTo>
                  <a:lnTo>
                    <a:pt x="0" y="3086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3264099" cy="31721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5832" lvl="2" indent="-151944" algn="l">
                <a:lnSpc>
                  <a:spcPts val="3691"/>
                </a:lnSpc>
                <a:buFont typeface="Arial"/>
                <a:buChar char="⚬"/>
              </a:pPr>
              <a:r>
                <a:rPr lang="en-US" sz="2325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Collaborate with change owners and decide which one to consider.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341822" y="3839319"/>
            <a:ext cx="2992755" cy="4996720"/>
            <a:chOff x="0" y="0"/>
            <a:chExt cx="3990340" cy="666229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990340" cy="6662293"/>
            </a:xfrm>
            <a:custGeom>
              <a:avLst/>
              <a:gdLst/>
              <a:ahLst/>
              <a:cxnLst/>
              <a:rect l="l" t="t" r="r" b="b"/>
              <a:pathLst>
                <a:path w="3990340" h="6662293">
                  <a:moveTo>
                    <a:pt x="0" y="54483"/>
                  </a:moveTo>
                  <a:cubicBezTo>
                    <a:pt x="0" y="24384"/>
                    <a:pt x="24384" y="0"/>
                    <a:pt x="54483" y="0"/>
                  </a:cubicBezTo>
                  <a:lnTo>
                    <a:pt x="3935857" y="0"/>
                  </a:lnTo>
                  <a:cubicBezTo>
                    <a:pt x="3965956" y="0"/>
                    <a:pt x="3990340" y="24384"/>
                    <a:pt x="3990340" y="54483"/>
                  </a:cubicBezTo>
                  <a:lnTo>
                    <a:pt x="3990340" y="6607810"/>
                  </a:lnTo>
                  <a:cubicBezTo>
                    <a:pt x="3990340" y="6637909"/>
                    <a:pt x="3965956" y="6662293"/>
                    <a:pt x="3935857" y="6662293"/>
                  </a:cubicBezTo>
                  <a:lnTo>
                    <a:pt x="54483" y="6662293"/>
                  </a:lnTo>
                  <a:cubicBezTo>
                    <a:pt x="24384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345692" y="4097386"/>
            <a:ext cx="3045492" cy="815579"/>
            <a:chOff x="0" y="0"/>
            <a:chExt cx="4060656" cy="10874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060656" cy="1087438"/>
            </a:xfrm>
            <a:custGeom>
              <a:avLst/>
              <a:gdLst/>
              <a:ahLst/>
              <a:cxnLst/>
              <a:rect l="l" t="t" r="r" b="b"/>
              <a:pathLst>
                <a:path w="4060656" h="1087438">
                  <a:moveTo>
                    <a:pt x="0" y="0"/>
                  </a:moveTo>
                  <a:lnTo>
                    <a:pt x="4060656" y="0"/>
                  </a:lnTo>
                  <a:lnTo>
                    <a:pt x="4060656" y="1087438"/>
                  </a:lnTo>
                  <a:lnTo>
                    <a:pt x="0" y="108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4060656" cy="1096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Commit Resolution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614177" y="5012085"/>
            <a:ext cx="2448074" cy="4011057"/>
            <a:chOff x="0" y="0"/>
            <a:chExt cx="3264099" cy="53480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264099" cy="5348075"/>
            </a:xfrm>
            <a:custGeom>
              <a:avLst/>
              <a:gdLst/>
              <a:ahLst/>
              <a:cxnLst/>
              <a:rect l="l" t="t" r="r" b="b"/>
              <a:pathLst>
                <a:path w="3264099" h="5348075">
                  <a:moveTo>
                    <a:pt x="0" y="0"/>
                  </a:moveTo>
                  <a:lnTo>
                    <a:pt x="3264099" y="0"/>
                  </a:lnTo>
                  <a:lnTo>
                    <a:pt x="3264099" y="5348075"/>
                  </a:lnTo>
                  <a:lnTo>
                    <a:pt x="0" y="53480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3264099" cy="5433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6226" lvl="2" indent="-145409" algn="l">
                <a:lnSpc>
                  <a:spcPts val="3532"/>
                </a:lnSpc>
                <a:buFont typeface="Arial"/>
                <a:buChar char="⚬"/>
              </a:pPr>
              <a:r>
                <a:rPr lang="en-US" sz="2225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Once all conflicts are resolved and the files are staged, commit the changes and push to remote repository.</a:t>
              </a:r>
            </a:p>
            <a:p>
              <a:pPr marL="436226" lvl="2" indent="-145409" algn="l">
                <a:lnSpc>
                  <a:spcPts val="3532"/>
                </a:lnSpc>
              </a:pPr>
              <a:endParaRPr lang="en-US" sz="2225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4736" y="410944"/>
            <a:ext cx="12278711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solidFill>
                  <a:srgbClr val="E2586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force a conflict : Hands-on Activity 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4736" y="2280069"/>
            <a:ext cx="7256356" cy="7419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endParaRPr dirty="0"/>
          </a:p>
          <a:p>
            <a:pPr algn="l">
              <a:lnSpc>
                <a:spcPct val="150000"/>
              </a:lnSpc>
            </a:pPr>
            <a:r>
              <a:rPr lang="en-US" sz="2499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#1 On main branch</a:t>
            </a:r>
          </a:p>
          <a:p>
            <a:pPr marL="539534" lvl="1" indent="-269767" algn="l">
              <a:lnSpc>
                <a:spcPct val="150000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echo "Hello from main" &gt; </a:t>
            </a:r>
            <a:r>
              <a:rPr lang="en-US" sz="2499" dirty="0" err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conflict.txt</a:t>
            </a: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539534" lvl="1" indent="-269767" algn="l">
              <a:lnSpc>
                <a:spcPts val="3123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add </a:t>
            </a:r>
            <a:r>
              <a:rPr lang="en-US" sz="2499" dirty="0" err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conflict.txt</a:t>
            </a: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539534" lvl="1" indent="-269767" algn="l">
              <a:lnSpc>
                <a:spcPts val="3123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commit -m "main edit"</a:t>
            </a: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ct val="150000"/>
              </a:lnSpc>
            </a:pPr>
            <a:r>
              <a:rPr lang="en-US" sz="2499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#2 Switch to private branch</a:t>
            </a:r>
          </a:p>
          <a:p>
            <a:pPr marL="539534" lvl="1" indent="-269767" algn="l">
              <a:lnSpc>
                <a:spcPct val="150000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checkout -b private</a:t>
            </a: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ct val="150000"/>
              </a:lnSpc>
            </a:pPr>
            <a:r>
              <a:rPr lang="en-US" sz="2499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#3 Edit the same file, same line differently</a:t>
            </a:r>
          </a:p>
          <a:p>
            <a:pPr marL="539534" lvl="1" indent="-269767" algn="l">
              <a:lnSpc>
                <a:spcPct val="150000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echo "Hello from private" &gt; </a:t>
            </a:r>
            <a:r>
              <a:rPr lang="en-US" sz="2499" dirty="0" err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conflict.txt</a:t>
            </a: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539534" lvl="1" indent="-269767" algn="l">
              <a:lnSpc>
                <a:spcPts val="3123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add </a:t>
            </a:r>
            <a:r>
              <a:rPr lang="en-US" sz="2499" dirty="0" err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conflict.txt</a:t>
            </a: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539534" lvl="1" indent="-269767" algn="l">
              <a:lnSpc>
                <a:spcPts val="3123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commit -m "private edit"</a:t>
            </a: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84736" y="1498136"/>
            <a:ext cx="13436277" cy="79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07"/>
              </a:lnSpc>
            </a:pPr>
            <a:r>
              <a:rPr lang="en-US" sz="276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You need to edit the same file, same line in both branches and merge them. </a:t>
            </a:r>
          </a:p>
          <a:p>
            <a:pPr algn="just">
              <a:lnSpc>
                <a:spcPts val="2765"/>
              </a:lnSpc>
              <a:spcBef>
                <a:spcPct val="0"/>
              </a:spcBef>
            </a:pPr>
            <a:endParaRPr lang="en-US" sz="2765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359277" y="7256673"/>
            <a:ext cx="8351506" cy="2596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8"/>
              </a:lnSpc>
            </a:pPr>
            <a:endParaRPr dirty="0"/>
          </a:p>
          <a:p>
            <a:pPr algn="just">
              <a:lnSpc>
                <a:spcPts val="2978"/>
              </a:lnSpc>
              <a:spcBef>
                <a:spcPct val="0"/>
              </a:spcBef>
            </a:pPr>
            <a:r>
              <a:rPr lang="en-US" sz="2384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This time, both branches modified </a:t>
            </a:r>
            <a:r>
              <a:rPr lang="en-US" sz="2384" dirty="0" err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conflict.txt</a:t>
            </a:r>
            <a:r>
              <a:rPr lang="en-US" sz="2384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differently, so Git won’t know which line to keep → you’ll get a merge conflict.</a:t>
            </a:r>
          </a:p>
          <a:p>
            <a:pPr algn="just">
              <a:lnSpc>
                <a:spcPts val="2978"/>
              </a:lnSpc>
              <a:spcBef>
                <a:spcPct val="0"/>
              </a:spcBef>
            </a:pPr>
            <a:endParaRPr lang="en-US" sz="2384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2980"/>
              </a:lnSpc>
              <a:spcBef>
                <a:spcPct val="0"/>
              </a:spcBef>
            </a:pPr>
            <a:r>
              <a:rPr lang="en-US" sz="2384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Remove the formatting lines from the file and save it before merging again to resolve the conflict.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59277" y="2715775"/>
            <a:ext cx="7393516" cy="467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99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#4 Switch back to main and edit again</a:t>
            </a:r>
          </a:p>
          <a:p>
            <a:pPr marL="539749" lvl="1" indent="-269875" algn="l">
              <a:lnSpc>
                <a:spcPct val="150000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checkout main</a:t>
            </a:r>
          </a:p>
          <a:p>
            <a:pPr marL="539749" lvl="1" indent="-269875" algn="l">
              <a:lnSpc>
                <a:spcPts val="3122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echo "Another main change" &gt; </a:t>
            </a:r>
            <a:r>
              <a:rPr lang="en-US" sz="2499" dirty="0" err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conflict.txt</a:t>
            </a: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539749" lvl="1" indent="-269875" algn="l">
              <a:lnSpc>
                <a:spcPts val="3122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add </a:t>
            </a:r>
            <a:r>
              <a:rPr lang="en-US" sz="2499" dirty="0" err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conflict.txt</a:t>
            </a: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539749" lvl="1" indent="-269875" algn="l">
              <a:lnSpc>
                <a:spcPts val="3122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commit -m "another main edit"</a:t>
            </a:r>
          </a:p>
          <a:p>
            <a:pPr algn="l">
              <a:lnSpc>
                <a:spcPts val="3122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3122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#5 Now try merging private into main</a:t>
            </a:r>
          </a:p>
          <a:p>
            <a:pPr marL="539749" lvl="1" indent="-269875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merge private</a:t>
            </a:r>
          </a:p>
          <a:p>
            <a:pPr algn="l">
              <a:lnSpc>
                <a:spcPts val="3124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Grp="1" noUngrp="1" noRot="1" noMove="1" noResize="1"/>
          </p:cNvGrpSpPr>
          <p:nvPr/>
        </p:nvGrpSpPr>
        <p:grpSpPr>
          <a:xfrm>
            <a:off x="118881" y="484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087639" y="1124842"/>
            <a:ext cx="9717030" cy="1613807"/>
            <a:chOff x="-844605" y="0"/>
            <a:chExt cx="12956039" cy="2151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11434" cy="1640840"/>
            </a:xfrm>
            <a:custGeom>
              <a:avLst/>
              <a:gdLst/>
              <a:ahLst/>
              <a:cxnLst/>
              <a:rect l="l" t="t" r="r" b="b"/>
              <a:pathLst>
                <a:path w="12111434" h="1640840">
                  <a:moveTo>
                    <a:pt x="0" y="0"/>
                  </a:moveTo>
                  <a:lnTo>
                    <a:pt x="12111434" y="0"/>
                  </a:lnTo>
                  <a:lnTo>
                    <a:pt x="12111434" y="1640840"/>
                  </a:lnTo>
                  <a:lnTo>
                    <a:pt x="0" y="1640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844605" y="482328"/>
              <a:ext cx="12111433" cy="1669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5"/>
                </a:lnSpc>
              </a:pPr>
              <a:r>
                <a:rPr lang="en-US" sz="5700" dirty="0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Code management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73127" y="5279025"/>
            <a:ext cx="3520231" cy="51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87"/>
              </a:lnSpc>
            </a:pPr>
            <a:r>
              <a:rPr lang="en-US" sz="3348" b="1" dirty="0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git fetch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0687" y="5757269"/>
            <a:ext cx="5231309" cy="99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74"/>
              </a:lnSpc>
            </a:pPr>
            <a:r>
              <a:rPr lang="en-US" sz="2511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Downloads changes from remote → doesn’t merge automatically.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76901" y="3615630"/>
            <a:ext cx="4534198" cy="4534197"/>
            <a:chOff x="0" y="0"/>
            <a:chExt cx="6045597" cy="6045596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6045581" cy="6045581"/>
            </a:xfrm>
            <a:custGeom>
              <a:avLst/>
              <a:gdLst/>
              <a:ahLst/>
              <a:cxnLst/>
              <a:rect l="l" t="t" r="r" b="b"/>
              <a:pathLst>
                <a:path w="6045581" h="6045581">
                  <a:moveTo>
                    <a:pt x="0" y="0"/>
                  </a:moveTo>
                  <a:lnTo>
                    <a:pt x="6045581" y="0"/>
                  </a:lnTo>
                  <a:lnTo>
                    <a:pt x="6045581" y="6045581"/>
                  </a:lnTo>
                  <a:lnTo>
                    <a:pt x="0" y="6045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587877" y="5508724"/>
            <a:ext cx="747998" cy="747998"/>
            <a:chOff x="0" y="0"/>
            <a:chExt cx="997331" cy="9973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7331" cy="997331"/>
            </a:xfrm>
            <a:custGeom>
              <a:avLst/>
              <a:gdLst/>
              <a:ahLst/>
              <a:cxnLst/>
              <a:rect l="l" t="t" r="r" b="b"/>
              <a:pathLst>
                <a:path w="997331" h="997331">
                  <a:moveTo>
                    <a:pt x="0" y="498729"/>
                  </a:moveTo>
                  <a:cubicBezTo>
                    <a:pt x="0" y="223266"/>
                    <a:pt x="223266" y="0"/>
                    <a:pt x="498729" y="0"/>
                  </a:cubicBezTo>
                  <a:cubicBezTo>
                    <a:pt x="774192" y="0"/>
                    <a:pt x="997331" y="223266"/>
                    <a:pt x="997331" y="498729"/>
                  </a:cubicBezTo>
                  <a:cubicBezTo>
                    <a:pt x="997331" y="774192"/>
                    <a:pt x="774065" y="997331"/>
                    <a:pt x="498729" y="997331"/>
                  </a:cubicBezTo>
                  <a:cubicBezTo>
                    <a:pt x="223393" y="997331"/>
                    <a:pt x="0" y="774065"/>
                    <a:pt x="0" y="498729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93719" y="5400229"/>
            <a:ext cx="136177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59816" y="3951535"/>
            <a:ext cx="3520231" cy="51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48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git pull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59816" y="4404271"/>
            <a:ext cx="5381030" cy="99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511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 changes from the remote and merge them into your branch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876901" y="3615630"/>
            <a:ext cx="4534198" cy="4534197"/>
            <a:chOff x="0" y="0"/>
            <a:chExt cx="6045597" cy="6045596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6045581" cy="6045581"/>
            </a:xfrm>
            <a:custGeom>
              <a:avLst/>
              <a:gdLst/>
              <a:ahLst/>
              <a:cxnLst/>
              <a:rect l="l" t="t" r="r" b="b"/>
              <a:pathLst>
                <a:path w="6045581" h="6045581">
                  <a:moveTo>
                    <a:pt x="0" y="0"/>
                  </a:moveTo>
                  <a:lnTo>
                    <a:pt x="6045581" y="0"/>
                  </a:lnTo>
                  <a:lnTo>
                    <a:pt x="6045581" y="6045581"/>
                  </a:lnTo>
                  <a:lnTo>
                    <a:pt x="0" y="6045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60905" y="3618905"/>
            <a:ext cx="747998" cy="747998"/>
            <a:chOff x="0" y="0"/>
            <a:chExt cx="997331" cy="9973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7331" cy="997331"/>
            </a:xfrm>
            <a:custGeom>
              <a:avLst/>
              <a:gdLst/>
              <a:ahLst/>
              <a:cxnLst/>
              <a:rect l="l" t="t" r="r" b="b"/>
              <a:pathLst>
                <a:path w="997331" h="997331">
                  <a:moveTo>
                    <a:pt x="0" y="498729"/>
                  </a:moveTo>
                  <a:cubicBezTo>
                    <a:pt x="0" y="223266"/>
                    <a:pt x="223266" y="0"/>
                    <a:pt x="498729" y="0"/>
                  </a:cubicBezTo>
                  <a:cubicBezTo>
                    <a:pt x="774192" y="0"/>
                    <a:pt x="997331" y="223266"/>
                    <a:pt x="997331" y="498729"/>
                  </a:cubicBezTo>
                  <a:cubicBezTo>
                    <a:pt x="997331" y="774192"/>
                    <a:pt x="774065" y="997331"/>
                    <a:pt x="498729" y="997331"/>
                  </a:cubicBezTo>
                  <a:cubicBezTo>
                    <a:pt x="223393" y="997331"/>
                    <a:pt x="0" y="774065"/>
                    <a:pt x="0" y="498729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134451" y="3510409"/>
            <a:ext cx="200769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11099" y="7608763"/>
            <a:ext cx="3520231" cy="51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48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git rebase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11099" y="8077394"/>
            <a:ext cx="5381030" cy="151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5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reapply your commits on top of updated branch history. Keeps history linear &amp; clean!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861822" y="3598259"/>
            <a:ext cx="4530775" cy="4530775"/>
            <a:chOff x="0" y="0"/>
            <a:chExt cx="6041033" cy="6041033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6041009" cy="6041009"/>
            </a:xfrm>
            <a:custGeom>
              <a:avLst/>
              <a:gdLst/>
              <a:ahLst/>
              <a:cxnLst/>
              <a:rect l="l" t="t" r="r" b="b"/>
              <a:pathLst>
                <a:path w="6041009" h="6041009">
                  <a:moveTo>
                    <a:pt x="0" y="0"/>
                  </a:moveTo>
                  <a:lnTo>
                    <a:pt x="6041009" y="0"/>
                  </a:lnTo>
                  <a:lnTo>
                    <a:pt x="6041009" y="6041009"/>
                  </a:lnTo>
                  <a:lnTo>
                    <a:pt x="0" y="604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60905" y="7398395"/>
            <a:ext cx="747998" cy="747998"/>
            <a:chOff x="0" y="0"/>
            <a:chExt cx="997331" cy="9973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7331" cy="997331"/>
            </a:xfrm>
            <a:custGeom>
              <a:avLst/>
              <a:gdLst/>
              <a:ahLst/>
              <a:cxnLst/>
              <a:rect l="l" t="t" r="r" b="b"/>
              <a:pathLst>
                <a:path w="997331" h="997331">
                  <a:moveTo>
                    <a:pt x="0" y="498729"/>
                  </a:moveTo>
                  <a:cubicBezTo>
                    <a:pt x="0" y="223266"/>
                    <a:pt x="223266" y="0"/>
                    <a:pt x="498729" y="0"/>
                  </a:cubicBezTo>
                  <a:cubicBezTo>
                    <a:pt x="774192" y="0"/>
                    <a:pt x="997331" y="223266"/>
                    <a:pt x="997331" y="498729"/>
                  </a:cubicBezTo>
                  <a:cubicBezTo>
                    <a:pt x="997331" y="774192"/>
                    <a:pt x="774065" y="997331"/>
                    <a:pt x="498729" y="997331"/>
                  </a:cubicBezTo>
                  <a:cubicBezTo>
                    <a:pt x="223393" y="997331"/>
                    <a:pt x="0" y="774065"/>
                    <a:pt x="0" y="498729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130730" y="7289899"/>
            <a:ext cx="208360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412081" y="672464"/>
            <a:ext cx="8853694" cy="1020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5"/>
              </a:lnSpc>
              <a:spcBef>
                <a:spcPct val="0"/>
              </a:spcBef>
            </a:pPr>
            <a:r>
              <a:rPr lang="en-US" sz="531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Merge - Fetch - Pull - Rebase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456A2-01F2-A31E-8577-3FBEC2321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9300"/>
            <a:ext cx="16687800" cy="739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3740200"/>
            <a:chOff x="0" y="0"/>
            <a:chExt cx="24384000" cy="498693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986909"/>
            </a:xfrm>
            <a:custGeom>
              <a:avLst/>
              <a:gdLst/>
              <a:ahLst/>
              <a:cxnLst/>
              <a:rect l="l" t="t" r="r" b="b"/>
              <a:pathLst>
                <a:path w="24384000" h="4986909">
                  <a:moveTo>
                    <a:pt x="0" y="0"/>
                  </a:moveTo>
                  <a:lnTo>
                    <a:pt x="24384000" y="0"/>
                  </a:lnTo>
                  <a:lnTo>
                    <a:pt x="24384000" y="4986909"/>
                  </a:lnTo>
                  <a:lnTo>
                    <a:pt x="0" y="4986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1" b="-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709964"/>
            <a:ext cx="10863746" cy="1195388"/>
            <a:chOff x="0" y="0"/>
            <a:chExt cx="14484995" cy="1593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84995" cy="1593850"/>
            </a:xfrm>
            <a:custGeom>
              <a:avLst/>
              <a:gdLst/>
              <a:ahLst/>
              <a:cxnLst/>
              <a:rect l="l" t="t" r="r" b="b"/>
              <a:pathLst>
                <a:path w="14484995" h="1593850">
                  <a:moveTo>
                    <a:pt x="0" y="0"/>
                  </a:moveTo>
                  <a:lnTo>
                    <a:pt x="14484995" y="0"/>
                  </a:lnTo>
                  <a:lnTo>
                    <a:pt x="14484995" y="15938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4484995" cy="161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50"/>
                </a:lnSpc>
              </a:pPr>
              <a:r>
                <a:rPr lang="en-US" sz="5000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Git Repository Hosting Services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7155" y="6590259"/>
            <a:ext cx="5198364" cy="2175224"/>
            <a:chOff x="0" y="0"/>
            <a:chExt cx="6931152" cy="29002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31152" cy="2900299"/>
            </a:xfrm>
            <a:custGeom>
              <a:avLst/>
              <a:gdLst/>
              <a:ahLst/>
              <a:cxnLst/>
              <a:rect l="l" t="t" r="r" b="b"/>
              <a:pathLst>
                <a:path w="6931152" h="290029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2840482"/>
                  </a:lnTo>
                  <a:cubicBezTo>
                    <a:pt x="6931152" y="2873502"/>
                    <a:pt x="6904355" y="2900299"/>
                    <a:pt x="6871335" y="2900299"/>
                  </a:cubicBezTo>
                  <a:lnTo>
                    <a:pt x="59817" y="2900299"/>
                  </a:lnTo>
                  <a:cubicBezTo>
                    <a:pt x="26797" y="2900299"/>
                    <a:pt x="0" y="2873502"/>
                    <a:pt x="0" y="284048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46299" y="6863208"/>
            <a:ext cx="3520231" cy="47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1"/>
              </a:lnSpc>
            </a:pPr>
            <a:r>
              <a:rPr lang="en-US" sz="30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GitHub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6299" y="7332613"/>
            <a:ext cx="4600129" cy="103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6"/>
              </a:lnSpc>
            </a:pPr>
            <a:r>
              <a:rPr lang="en-US" sz="2611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Most popular for open-source projects.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44716" y="6590259"/>
            <a:ext cx="5198364" cy="2175224"/>
            <a:chOff x="0" y="0"/>
            <a:chExt cx="6931152" cy="29002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31152" cy="2900299"/>
            </a:xfrm>
            <a:custGeom>
              <a:avLst/>
              <a:gdLst/>
              <a:ahLst/>
              <a:cxnLst/>
              <a:rect l="l" t="t" r="r" b="b"/>
              <a:pathLst>
                <a:path w="6931152" h="290029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2840482"/>
                  </a:lnTo>
                  <a:cubicBezTo>
                    <a:pt x="6931152" y="2873502"/>
                    <a:pt x="6904355" y="2900299"/>
                    <a:pt x="6871335" y="2900299"/>
                  </a:cubicBezTo>
                  <a:lnTo>
                    <a:pt x="59817" y="2900299"/>
                  </a:lnTo>
                  <a:cubicBezTo>
                    <a:pt x="26797" y="2900299"/>
                    <a:pt x="0" y="2873502"/>
                    <a:pt x="0" y="284048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43861" y="6863208"/>
            <a:ext cx="3520231" cy="47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1"/>
              </a:lnSpc>
            </a:pPr>
            <a:r>
              <a:rPr lang="en-US" sz="30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GitLab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43861" y="7332613"/>
            <a:ext cx="4600129" cy="103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6"/>
              </a:lnSpc>
            </a:pPr>
            <a:r>
              <a:rPr lang="en-US" sz="26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Integrated CI/CD, useful for DevOps workflows.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42279" y="6590259"/>
            <a:ext cx="5198364" cy="2175224"/>
            <a:chOff x="0" y="0"/>
            <a:chExt cx="6931152" cy="29002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31152" cy="2900299"/>
            </a:xfrm>
            <a:custGeom>
              <a:avLst/>
              <a:gdLst/>
              <a:ahLst/>
              <a:cxnLst/>
              <a:rect l="l" t="t" r="r" b="b"/>
              <a:pathLst>
                <a:path w="6931152" h="290029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2840482"/>
                  </a:lnTo>
                  <a:cubicBezTo>
                    <a:pt x="6931152" y="2873502"/>
                    <a:pt x="6904355" y="2900299"/>
                    <a:pt x="6871335" y="2900299"/>
                  </a:cubicBezTo>
                  <a:lnTo>
                    <a:pt x="59817" y="2900299"/>
                  </a:lnTo>
                  <a:cubicBezTo>
                    <a:pt x="26797" y="2900299"/>
                    <a:pt x="0" y="2873502"/>
                    <a:pt x="0" y="284048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341424" y="6863208"/>
            <a:ext cx="3520231" cy="47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1"/>
              </a:lnSpc>
            </a:pPr>
            <a:r>
              <a:rPr lang="en-US" sz="30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Bitbucket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41424" y="7332613"/>
            <a:ext cx="4600129" cy="103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6"/>
              </a:lnSpc>
            </a:pPr>
            <a:r>
              <a:rPr lang="en-US" sz="26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Integrates well with Jira and Atlassian tools.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2708" y="547052"/>
            <a:ext cx="9986167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Creating a Pull Request (PR)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4264" y="1831154"/>
            <a:ext cx="12856415" cy="429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Pull Request is how you propose changes to someone else’s project.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4264" y="3020572"/>
            <a:ext cx="16798826" cy="389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Pull Request means:</a:t>
            </a: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539534" lvl="1" indent="-269767" algn="l">
              <a:lnSpc>
                <a:spcPts val="3123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“I made changes in my branch (maybe in my fork), and I’m requesting that you pull those changes into your branch (usually main).”</a:t>
            </a: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3123"/>
              </a:lnSpc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It’s </a:t>
            </a:r>
            <a:r>
              <a:rPr lang="en-US" sz="2499" u="sng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not the same</a:t>
            </a: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as the </a:t>
            </a:r>
            <a:r>
              <a:rPr lang="en-US" sz="2499" u="sng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pull </a:t>
            </a: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command.</a:t>
            </a: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3123"/>
              </a:lnSpc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You can review code, discuss changes, and merge only when approved.</a:t>
            </a:r>
          </a:p>
          <a:p>
            <a:pPr algn="l">
              <a:lnSpc>
                <a:spcPts val="31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04264" y="7681462"/>
            <a:ext cx="15858271" cy="200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3"/>
              </a:lnSpc>
            </a:pPr>
            <a:r>
              <a:rPr lang="en-US" sz="2698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How to observe this?</a:t>
            </a:r>
          </a:p>
          <a:p>
            <a:pPr algn="just">
              <a:lnSpc>
                <a:spcPts val="3373"/>
              </a:lnSpc>
            </a:pPr>
            <a:endParaRPr lang="en-US" sz="2698" b="1">
              <a:solidFill>
                <a:srgbClr val="FFFFFF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marL="539534" lvl="1" indent="-269767" algn="just">
              <a:lnSpc>
                <a:spcPts val="3123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If you clone a public repo, make changes in your new branch (private), and push them, GitHub will prompt  a “Compare &amp; Pull Request” option in the original repository.</a:t>
            </a:r>
          </a:p>
          <a:p>
            <a:pPr algn="just">
              <a:lnSpc>
                <a:spcPts val="3123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21093" y="1124842"/>
            <a:ext cx="9083575" cy="1195388"/>
            <a:chOff x="0" y="0"/>
            <a:chExt cx="12111433" cy="1593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11434" cy="1593850"/>
            </a:xfrm>
            <a:custGeom>
              <a:avLst/>
              <a:gdLst/>
              <a:ahLst/>
              <a:cxnLst/>
              <a:rect l="l" t="t" r="r" b="b"/>
              <a:pathLst>
                <a:path w="12111434" h="1593850">
                  <a:moveTo>
                    <a:pt x="0" y="0"/>
                  </a:moveTo>
                  <a:lnTo>
                    <a:pt x="12111434" y="0"/>
                  </a:lnTo>
                  <a:lnTo>
                    <a:pt x="12111434" y="15938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111433" cy="161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875"/>
                </a:lnSpc>
              </a:pPr>
              <a:r>
                <a:rPr lang="en-US" sz="5500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Repository management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58231" y="5316885"/>
            <a:ext cx="3520231" cy="65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87"/>
              </a:lnSpc>
            </a:pPr>
            <a:r>
              <a:rPr lang="en-US" sz="29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Git Hooks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5" y="5769620"/>
            <a:ext cx="5231309" cy="48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74"/>
              </a:lnSpc>
            </a:pPr>
            <a:r>
              <a:rPr lang="en-US" sz="25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Gets triggered based on events in git.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76901" y="3615630"/>
            <a:ext cx="4534198" cy="4534197"/>
            <a:chOff x="0" y="0"/>
            <a:chExt cx="6045597" cy="6045596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6045581" cy="6045581"/>
            </a:xfrm>
            <a:custGeom>
              <a:avLst/>
              <a:gdLst/>
              <a:ahLst/>
              <a:cxnLst/>
              <a:rect l="l" t="t" r="r" b="b"/>
              <a:pathLst>
                <a:path w="6045581" h="6045581">
                  <a:moveTo>
                    <a:pt x="0" y="0"/>
                  </a:moveTo>
                  <a:lnTo>
                    <a:pt x="6045581" y="0"/>
                  </a:lnTo>
                  <a:lnTo>
                    <a:pt x="6045581" y="6045581"/>
                  </a:lnTo>
                  <a:lnTo>
                    <a:pt x="0" y="6045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587877" y="5508724"/>
            <a:ext cx="747998" cy="747998"/>
            <a:chOff x="0" y="0"/>
            <a:chExt cx="997331" cy="9973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7331" cy="997331"/>
            </a:xfrm>
            <a:custGeom>
              <a:avLst/>
              <a:gdLst/>
              <a:ahLst/>
              <a:cxnLst/>
              <a:rect l="l" t="t" r="r" b="b"/>
              <a:pathLst>
                <a:path w="997331" h="997331">
                  <a:moveTo>
                    <a:pt x="0" y="498729"/>
                  </a:moveTo>
                  <a:cubicBezTo>
                    <a:pt x="0" y="223266"/>
                    <a:pt x="223266" y="0"/>
                    <a:pt x="498729" y="0"/>
                  </a:cubicBezTo>
                  <a:cubicBezTo>
                    <a:pt x="774192" y="0"/>
                    <a:pt x="997331" y="223266"/>
                    <a:pt x="997331" y="498729"/>
                  </a:cubicBezTo>
                  <a:cubicBezTo>
                    <a:pt x="997331" y="774192"/>
                    <a:pt x="774065" y="997331"/>
                    <a:pt x="498729" y="997331"/>
                  </a:cubicBezTo>
                  <a:cubicBezTo>
                    <a:pt x="223393" y="997331"/>
                    <a:pt x="0" y="774065"/>
                    <a:pt x="0" y="498729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93719" y="5400229"/>
            <a:ext cx="136177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59816" y="3951535"/>
            <a:ext cx="3520231" cy="65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Submodules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59816" y="4404271"/>
            <a:ext cx="5381030" cy="666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5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Repository inside a main repository.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876901" y="3615630"/>
            <a:ext cx="4534198" cy="4534197"/>
            <a:chOff x="0" y="0"/>
            <a:chExt cx="6045597" cy="6045596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6045581" cy="6045581"/>
            </a:xfrm>
            <a:custGeom>
              <a:avLst/>
              <a:gdLst/>
              <a:ahLst/>
              <a:cxnLst/>
              <a:rect l="l" t="t" r="r" b="b"/>
              <a:pathLst>
                <a:path w="6045581" h="6045581">
                  <a:moveTo>
                    <a:pt x="0" y="0"/>
                  </a:moveTo>
                  <a:lnTo>
                    <a:pt x="6045581" y="0"/>
                  </a:lnTo>
                  <a:lnTo>
                    <a:pt x="6045581" y="6045581"/>
                  </a:lnTo>
                  <a:lnTo>
                    <a:pt x="0" y="6045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60905" y="3618905"/>
            <a:ext cx="747998" cy="747998"/>
            <a:chOff x="0" y="0"/>
            <a:chExt cx="997331" cy="9973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7331" cy="997331"/>
            </a:xfrm>
            <a:custGeom>
              <a:avLst/>
              <a:gdLst/>
              <a:ahLst/>
              <a:cxnLst/>
              <a:rect l="l" t="t" r="r" b="b"/>
              <a:pathLst>
                <a:path w="997331" h="997331">
                  <a:moveTo>
                    <a:pt x="0" y="498729"/>
                  </a:moveTo>
                  <a:cubicBezTo>
                    <a:pt x="0" y="223266"/>
                    <a:pt x="223266" y="0"/>
                    <a:pt x="498729" y="0"/>
                  </a:cubicBezTo>
                  <a:cubicBezTo>
                    <a:pt x="774192" y="0"/>
                    <a:pt x="997331" y="223266"/>
                    <a:pt x="997331" y="498729"/>
                  </a:cubicBezTo>
                  <a:cubicBezTo>
                    <a:pt x="997331" y="774192"/>
                    <a:pt x="774065" y="997331"/>
                    <a:pt x="498729" y="997331"/>
                  </a:cubicBezTo>
                  <a:cubicBezTo>
                    <a:pt x="223393" y="997331"/>
                    <a:pt x="0" y="774065"/>
                    <a:pt x="0" y="498729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134451" y="3510409"/>
            <a:ext cx="200769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11099" y="7608763"/>
            <a:ext cx="3520231" cy="65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 b="1">
                <a:solidFill>
                  <a:srgbClr val="F2F0EF"/>
                </a:solidFill>
                <a:latin typeface="Lora Bold"/>
                <a:ea typeface="Lora Bold"/>
                <a:cs typeface="Lora Bold"/>
                <a:sym typeface="Lora Bold"/>
              </a:rPr>
              <a:t>Subtrees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11099" y="8077394"/>
            <a:ext cx="5381030" cy="118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511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Merge different repositories without managing sub-repositories.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876901" y="3615630"/>
            <a:ext cx="4530775" cy="4530775"/>
            <a:chOff x="0" y="0"/>
            <a:chExt cx="6041033" cy="6041033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6041009" cy="6041009"/>
            </a:xfrm>
            <a:custGeom>
              <a:avLst/>
              <a:gdLst/>
              <a:ahLst/>
              <a:cxnLst/>
              <a:rect l="l" t="t" r="r" b="b"/>
              <a:pathLst>
                <a:path w="6041009" h="6041009">
                  <a:moveTo>
                    <a:pt x="0" y="0"/>
                  </a:moveTo>
                  <a:lnTo>
                    <a:pt x="6041009" y="0"/>
                  </a:lnTo>
                  <a:lnTo>
                    <a:pt x="6041009" y="6041009"/>
                  </a:lnTo>
                  <a:lnTo>
                    <a:pt x="0" y="604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60905" y="7398395"/>
            <a:ext cx="747998" cy="747998"/>
            <a:chOff x="0" y="0"/>
            <a:chExt cx="997331" cy="9973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7331" cy="997331"/>
            </a:xfrm>
            <a:custGeom>
              <a:avLst/>
              <a:gdLst/>
              <a:ahLst/>
              <a:cxnLst/>
              <a:rect l="l" t="t" r="r" b="b"/>
              <a:pathLst>
                <a:path w="997331" h="997331">
                  <a:moveTo>
                    <a:pt x="0" y="498729"/>
                  </a:moveTo>
                  <a:cubicBezTo>
                    <a:pt x="0" y="223266"/>
                    <a:pt x="223266" y="0"/>
                    <a:pt x="498729" y="0"/>
                  </a:cubicBezTo>
                  <a:cubicBezTo>
                    <a:pt x="774192" y="0"/>
                    <a:pt x="997331" y="223266"/>
                    <a:pt x="997331" y="498729"/>
                  </a:cubicBezTo>
                  <a:cubicBezTo>
                    <a:pt x="997331" y="774192"/>
                    <a:pt x="774065" y="997331"/>
                    <a:pt x="498729" y="997331"/>
                  </a:cubicBezTo>
                  <a:cubicBezTo>
                    <a:pt x="223393" y="997331"/>
                    <a:pt x="0" y="774065"/>
                    <a:pt x="0" y="498729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130730" y="7289899"/>
            <a:ext cx="208360" cy="78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6">
                <a:solidFill>
                  <a:srgbClr val="F2F0EF"/>
                </a:solidFill>
                <a:latin typeface="Lora"/>
                <a:ea typeface="Lora"/>
                <a:cs typeface="Lora"/>
                <a:sym typeface="Lora"/>
              </a:rPr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7727" y="413656"/>
            <a:ext cx="9938209" cy="986704"/>
            <a:chOff x="0" y="0"/>
            <a:chExt cx="13250945" cy="13156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50945" cy="1315605"/>
            </a:xfrm>
            <a:custGeom>
              <a:avLst/>
              <a:gdLst/>
              <a:ahLst/>
              <a:cxnLst/>
              <a:rect l="l" t="t" r="r" b="b"/>
              <a:pathLst>
                <a:path w="13250945" h="1315605">
                  <a:moveTo>
                    <a:pt x="0" y="0"/>
                  </a:moveTo>
                  <a:lnTo>
                    <a:pt x="13250945" y="0"/>
                  </a:lnTo>
                  <a:lnTo>
                    <a:pt x="13250945" y="1315605"/>
                  </a:lnTo>
                  <a:lnTo>
                    <a:pt x="0" y="13156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250945" cy="1334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48"/>
                </a:lnSpc>
              </a:pPr>
              <a:r>
                <a:rPr lang="en-US" sz="4599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Hands-on Activity : Git Hooks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6812" y="4986797"/>
            <a:ext cx="6022172" cy="4849331"/>
            <a:chOff x="0" y="0"/>
            <a:chExt cx="8029563" cy="66622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29563" cy="6662293"/>
            </a:xfrm>
            <a:custGeom>
              <a:avLst/>
              <a:gdLst/>
              <a:ahLst/>
              <a:cxnLst/>
              <a:rect l="l" t="t" r="r" b="b"/>
              <a:pathLst>
                <a:path w="8029563" h="6662293">
                  <a:moveTo>
                    <a:pt x="0" y="54483"/>
                  </a:moveTo>
                  <a:cubicBezTo>
                    <a:pt x="0" y="24384"/>
                    <a:pt x="49067" y="0"/>
                    <a:pt x="109633" y="0"/>
                  </a:cubicBezTo>
                  <a:lnTo>
                    <a:pt x="7919930" y="0"/>
                  </a:lnTo>
                  <a:cubicBezTo>
                    <a:pt x="7980497" y="0"/>
                    <a:pt x="8029563" y="24384"/>
                    <a:pt x="8029563" y="54483"/>
                  </a:cubicBezTo>
                  <a:lnTo>
                    <a:pt x="8029563" y="6607810"/>
                  </a:lnTo>
                  <a:cubicBezTo>
                    <a:pt x="8029563" y="6637909"/>
                    <a:pt x="7980497" y="6662293"/>
                    <a:pt x="7919930" y="6662293"/>
                  </a:cubicBezTo>
                  <a:lnTo>
                    <a:pt x="109633" y="6662293"/>
                  </a:lnTo>
                  <a:cubicBezTo>
                    <a:pt x="49067" y="6662293"/>
                    <a:pt x="0" y="6637909"/>
                    <a:pt x="0" y="6607810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9739312"/>
            <a:ext cx="4465212" cy="547688"/>
            <a:chOff x="0" y="0"/>
            <a:chExt cx="5953616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53616" cy="730250"/>
            </a:xfrm>
            <a:custGeom>
              <a:avLst/>
              <a:gdLst/>
              <a:ahLst/>
              <a:cxnLst/>
              <a:rect l="l" t="t" r="r" b="b"/>
              <a:pathLst>
                <a:path w="5953616" h="730250">
                  <a:moveTo>
                    <a:pt x="0" y="0"/>
                  </a:moveTo>
                  <a:lnTo>
                    <a:pt x="5953616" y="0"/>
                  </a:lnTo>
                  <a:lnTo>
                    <a:pt x="59536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5953616" cy="806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23"/>
                </a:lnSpc>
              </a:pPr>
              <a:r>
                <a:rPr lang="en-US" sz="2499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STEP - 1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3985" y="4836549"/>
            <a:ext cx="5865000" cy="6102364"/>
            <a:chOff x="-44989" y="-200333"/>
            <a:chExt cx="7820000" cy="81364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75011" cy="7735820"/>
            </a:xfrm>
            <a:custGeom>
              <a:avLst/>
              <a:gdLst/>
              <a:ahLst/>
              <a:cxnLst/>
              <a:rect l="l" t="t" r="r" b="b"/>
              <a:pathLst>
                <a:path w="7775011" h="7735820">
                  <a:moveTo>
                    <a:pt x="0" y="0"/>
                  </a:moveTo>
                  <a:lnTo>
                    <a:pt x="7775011" y="0"/>
                  </a:lnTo>
                  <a:lnTo>
                    <a:pt x="7775011" y="7735820"/>
                  </a:lnTo>
                  <a:lnTo>
                    <a:pt x="0" y="77358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44989" y="-200333"/>
              <a:ext cx="7775011" cy="8136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9"/>
                </a:lnSpc>
              </a:pPr>
              <a:r>
                <a:rPr lang="en-US" sz="2324" b="1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# Create hook</a:t>
              </a:r>
            </a:p>
            <a:p>
              <a:pPr algn="l">
                <a:lnSpc>
                  <a:spcPts val="3689"/>
                </a:lnSpc>
              </a:pPr>
              <a:r>
                <a:rPr lang="en-US" sz="23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cd .git/hooks</a:t>
              </a:r>
            </a:p>
            <a:p>
              <a:pPr algn="l">
                <a:lnSpc>
                  <a:spcPts val="3689"/>
                </a:lnSpc>
              </a:pPr>
              <a:endParaRPr lang="en-US" sz="2324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l">
                <a:lnSpc>
                  <a:spcPts val="3689"/>
                </a:lnSpc>
              </a:pPr>
              <a:r>
                <a:rPr lang="en-US" sz="23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vim pre-commit</a:t>
              </a:r>
            </a:p>
            <a:p>
              <a:pPr algn="l">
                <a:lnSpc>
                  <a:spcPts val="3689"/>
                </a:lnSpc>
              </a:pPr>
              <a:endParaRPr lang="en-US" sz="2324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l">
                <a:lnSpc>
                  <a:spcPts val="3689"/>
                </a:lnSpc>
              </a:pPr>
              <a:r>
                <a:rPr lang="en-US" sz="23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#!/bin/bash</a:t>
              </a:r>
            </a:p>
            <a:p>
              <a:pPr algn="l">
                <a:lnSpc>
                  <a:spcPts val="3689"/>
                </a:lnSpc>
              </a:pPr>
              <a:r>
                <a:rPr lang="en-US" sz="23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if grep -q "TODO" *.txt; then</a:t>
              </a:r>
            </a:p>
            <a:p>
              <a:pPr algn="l">
                <a:lnSpc>
                  <a:spcPts val="3689"/>
                </a:lnSpc>
              </a:pPr>
              <a:r>
                <a:rPr lang="en-US" sz="23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 echo " Commit blocked! Remove TODOs first."</a:t>
              </a:r>
            </a:p>
            <a:p>
              <a:pPr algn="l">
                <a:lnSpc>
                  <a:spcPts val="3689"/>
                </a:lnSpc>
              </a:pPr>
              <a:r>
                <a:rPr lang="en-US" sz="23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 exit 1</a:t>
              </a:r>
            </a:p>
            <a:p>
              <a:pPr algn="l">
                <a:lnSpc>
                  <a:spcPts val="3689"/>
                </a:lnSpc>
              </a:pPr>
              <a:r>
                <a:rPr lang="en-US" sz="23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fi</a:t>
              </a:r>
            </a:p>
            <a:p>
              <a:pPr algn="l">
                <a:lnSpc>
                  <a:spcPts val="3689"/>
                </a:lnSpc>
              </a:pPr>
              <a:endParaRPr lang="en-US" sz="2324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l">
                <a:lnSpc>
                  <a:spcPts val="3691"/>
                </a:lnSpc>
              </a:pPr>
              <a:endParaRPr lang="en-US" sz="2324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86072" y="4986799"/>
            <a:ext cx="5831258" cy="1939994"/>
            <a:chOff x="0" y="0"/>
            <a:chExt cx="6525670" cy="21094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25670" cy="2109447"/>
            </a:xfrm>
            <a:custGeom>
              <a:avLst/>
              <a:gdLst/>
              <a:ahLst/>
              <a:cxnLst/>
              <a:rect l="l" t="t" r="r" b="b"/>
              <a:pathLst>
                <a:path w="6525670" h="2109447">
                  <a:moveTo>
                    <a:pt x="0" y="17251"/>
                  </a:moveTo>
                  <a:cubicBezTo>
                    <a:pt x="0" y="7721"/>
                    <a:pt x="39877" y="0"/>
                    <a:pt x="89100" y="0"/>
                  </a:cubicBezTo>
                  <a:lnTo>
                    <a:pt x="6436570" y="0"/>
                  </a:lnTo>
                  <a:cubicBezTo>
                    <a:pt x="6485793" y="0"/>
                    <a:pt x="6525670" y="7721"/>
                    <a:pt x="6525670" y="17251"/>
                  </a:cubicBezTo>
                  <a:lnTo>
                    <a:pt x="6525670" y="2092196"/>
                  </a:lnTo>
                  <a:cubicBezTo>
                    <a:pt x="6525670" y="2101726"/>
                    <a:pt x="6485793" y="2109447"/>
                    <a:pt x="6436570" y="2109447"/>
                  </a:cubicBezTo>
                  <a:lnTo>
                    <a:pt x="89100" y="2109447"/>
                  </a:lnTo>
                  <a:cubicBezTo>
                    <a:pt x="39877" y="2109447"/>
                    <a:pt x="0" y="2101726"/>
                    <a:pt x="0" y="2092196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06576" y="6764170"/>
            <a:ext cx="5072022" cy="889829"/>
            <a:chOff x="0" y="-99000"/>
            <a:chExt cx="6762696" cy="11864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04327" cy="1087438"/>
            </a:xfrm>
            <a:custGeom>
              <a:avLst/>
              <a:gdLst/>
              <a:ahLst/>
              <a:cxnLst/>
              <a:rect l="l" t="t" r="r" b="b"/>
              <a:pathLst>
                <a:path w="6204327" h="1087438">
                  <a:moveTo>
                    <a:pt x="0" y="0"/>
                  </a:moveTo>
                  <a:lnTo>
                    <a:pt x="6204327" y="0"/>
                  </a:lnTo>
                  <a:lnTo>
                    <a:pt x="6204327" y="1087438"/>
                  </a:lnTo>
                  <a:lnTo>
                    <a:pt x="0" y="108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8369" y="-99000"/>
              <a:ext cx="6204327" cy="1163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23"/>
                </a:lnSpc>
              </a:pPr>
              <a:r>
                <a:rPr lang="en-US" sz="2499" b="1" dirty="0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STEP - 2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05190" y="5277988"/>
            <a:ext cx="5847268" cy="1635019"/>
            <a:chOff x="-120649" y="0"/>
            <a:chExt cx="4436162" cy="21800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15513" cy="2055638"/>
            </a:xfrm>
            <a:custGeom>
              <a:avLst/>
              <a:gdLst/>
              <a:ahLst/>
              <a:cxnLst/>
              <a:rect l="l" t="t" r="r" b="b"/>
              <a:pathLst>
                <a:path w="4043680" h="2055638">
                  <a:moveTo>
                    <a:pt x="0" y="0"/>
                  </a:moveTo>
                  <a:lnTo>
                    <a:pt x="4043680" y="0"/>
                  </a:lnTo>
                  <a:lnTo>
                    <a:pt x="4043680" y="2055638"/>
                  </a:lnTo>
                  <a:lnTo>
                    <a:pt x="0" y="2055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20649" y="38663"/>
              <a:ext cx="4268012" cy="2141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31"/>
                </a:lnSpc>
              </a:pPr>
              <a:r>
                <a:rPr lang="en-US" sz="2224" b="1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# Make it executable</a:t>
              </a:r>
            </a:p>
            <a:p>
              <a:pPr algn="l">
                <a:lnSpc>
                  <a:spcPts val="3531"/>
                </a:lnSpc>
              </a:pPr>
              <a:r>
                <a:rPr lang="en-US" sz="2224" dirty="0" err="1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chmod</a:t>
              </a:r>
              <a:r>
                <a:rPr lang="en-US" sz="22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+x pre-commit</a:t>
              </a:r>
            </a:p>
            <a:p>
              <a:pPr algn="l">
                <a:lnSpc>
                  <a:spcPts val="3531"/>
                </a:lnSpc>
              </a:pPr>
              <a:endParaRPr lang="en-US" sz="2224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algn="l">
                <a:lnSpc>
                  <a:spcPts val="3531"/>
                </a:lnSpc>
              </a:pPr>
              <a:r>
                <a:rPr lang="en-US" sz="22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Navigate back to  your repo before committing. </a:t>
              </a:r>
            </a:p>
            <a:p>
              <a:pPr algn="l">
                <a:lnSpc>
                  <a:spcPts val="3532"/>
                </a:lnSpc>
              </a:pPr>
              <a:endParaRPr lang="en-US" sz="2224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886200" y="4986799"/>
            <a:ext cx="4502644" cy="1939994"/>
            <a:chOff x="0" y="0"/>
            <a:chExt cx="6533502" cy="258665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33503" cy="2586659"/>
            </a:xfrm>
            <a:custGeom>
              <a:avLst/>
              <a:gdLst/>
              <a:ahLst/>
              <a:cxnLst/>
              <a:rect l="l" t="t" r="r" b="b"/>
              <a:pathLst>
                <a:path w="6533503" h="2586659">
                  <a:moveTo>
                    <a:pt x="0" y="21153"/>
                  </a:moveTo>
                  <a:cubicBezTo>
                    <a:pt x="0" y="9467"/>
                    <a:pt x="39925" y="0"/>
                    <a:pt x="89207" y="0"/>
                  </a:cubicBezTo>
                  <a:lnTo>
                    <a:pt x="6444296" y="0"/>
                  </a:lnTo>
                  <a:cubicBezTo>
                    <a:pt x="6493578" y="0"/>
                    <a:pt x="6533503" y="9467"/>
                    <a:pt x="6533503" y="21153"/>
                  </a:cubicBezTo>
                  <a:lnTo>
                    <a:pt x="6533503" y="2565506"/>
                  </a:lnTo>
                  <a:cubicBezTo>
                    <a:pt x="6533503" y="2577192"/>
                    <a:pt x="6493578" y="2586659"/>
                    <a:pt x="6444296" y="2586659"/>
                  </a:cubicBezTo>
                  <a:lnTo>
                    <a:pt x="89207" y="2586659"/>
                  </a:lnTo>
                  <a:cubicBezTo>
                    <a:pt x="39925" y="2586659"/>
                    <a:pt x="0" y="2577192"/>
                    <a:pt x="0" y="2565506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562204" y="6926794"/>
            <a:ext cx="5225751" cy="815579"/>
            <a:chOff x="0" y="0"/>
            <a:chExt cx="6967668" cy="10874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67668" cy="1087438"/>
            </a:xfrm>
            <a:custGeom>
              <a:avLst/>
              <a:gdLst/>
              <a:ahLst/>
              <a:cxnLst/>
              <a:rect l="l" t="t" r="r" b="b"/>
              <a:pathLst>
                <a:path w="6967668" h="1087438">
                  <a:moveTo>
                    <a:pt x="0" y="0"/>
                  </a:moveTo>
                  <a:lnTo>
                    <a:pt x="6967668" y="0"/>
                  </a:lnTo>
                  <a:lnTo>
                    <a:pt x="6967668" y="1087438"/>
                  </a:lnTo>
                  <a:lnTo>
                    <a:pt x="0" y="108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6967668" cy="1096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98" b="1">
                  <a:solidFill>
                    <a:srgbClr val="F2F0EF"/>
                  </a:solidFill>
                  <a:latin typeface="Lora Bold"/>
                  <a:ea typeface="Lora Bold"/>
                  <a:cs typeface="Lora Bold"/>
                  <a:sym typeface="Lora Bold"/>
                </a:rPr>
                <a:t>STEP - 3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121332" y="5120403"/>
            <a:ext cx="4897794" cy="1792604"/>
            <a:chOff x="0" y="0"/>
            <a:chExt cx="6530392" cy="23901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530392" cy="2390138"/>
            </a:xfrm>
            <a:custGeom>
              <a:avLst/>
              <a:gdLst/>
              <a:ahLst/>
              <a:cxnLst/>
              <a:rect l="l" t="t" r="r" b="b"/>
              <a:pathLst>
                <a:path w="6530392" h="2390138">
                  <a:moveTo>
                    <a:pt x="0" y="0"/>
                  </a:moveTo>
                  <a:lnTo>
                    <a:pt x="6530392" y="0"/>
                  </a:lnTo>
                  <a:lnTo>
                    <a:pt x="6530392" y="2390138"/>
                  </a:lnTo>
                  <a:lnTo>
                    <a:pt x="0" y="2390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14300"/>
              <a:ext cx="6530392" cy="2504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4"/>
                </a:lnSpc>
              </a:pPr>
              <a:r>
                <a:rPr lang="en-US" sz="2124" b="1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# Test</a:t>
              </a:r>
            </a:p>
            <a:p>
              <a:pPr algn="l">
                <a:lnSpc>
                  <a:spcPts val="3654"/>
                </a:lnSpc>
              </a:pPr>
              <a:r>
                <a:rPr lang="en-US" sz="21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Commit with TODO in a .txt → blocked</a:t>
              </a:r>
            </a:p>
            <a:p>
              <a:pPr algn="l">
                <a:lnSpc>
                  <a:spcPts val="3654"/>
                </a:lnSpc>
              </a:pPr>
              <a:r>
                <a:rPr lang="en-US" sz="2124" dirty="0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Remove TODO →  succeeds</a:t>
              </a:r>
            </a:p>
            <a:p>
              <a:pPr algn="l">
                <a:lnSpc>
                  <a:spcPts val="3655"/>
                </a:lnSpc>
              </a:pPr>
              <a:endParaRPr lang="en-US" sz="2124" dirty="0">
                <a:solidFill>
                  <a:srgbClr val="F2F0E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28700" y="1628623"/>
            <a:ext cx="12399888" cy="335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9"/>
              </a:lnSpc>
            </a:pPr>
            <a:r>
              <a:rPr lang="en-US" sz="2698" u="sng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Common Git Hooks:</a:t>
            </a:r>
          </a:p>
          <a:p>
            <a:pPr algn="just">
              <a:lnSpc>
                <a:spcPts val="3823"/>
              </a:lnSpc>
            </a:pPr>
            <a:r>
              <a:rPr lang="en-US" sz="2499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Pre-commit</a:t>
            </a: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→ Runs before a commit.</a:t>
            </a:r>
          </a:p>
          <a:p>
            <a:pPr algn="just">
              <a:lnSpc>
                <a:spcPts val="3823"/>
              </a:lnSpc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Use for code linting, formatting checks, or blocking bad commits.</a:t>
            </a:r>
          </a:p>
          <a:p>
            <a:pPr algn="just">
              <a:lnSpc>
                <a:spcPts val="38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3823"/>
              </a:lnSpc>
            </a:pPr>
            <a:r>
              <a:rPr lang="en-US" sz="2499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Post-merge</a:t>
            </a: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→ Runs after a merge.</a:t>
            </a:r>
          </a:p>
          <a:p>
            <a:pPr algn="just">
              <a:lnSpc>
                <a:spcPts val="3823"/>
              </a:lnSpc>
            </a:pPr>
            <a:r>
              <a:rPr lang="en-US" sz="2499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Use for updating dependencies or triggering build/test scripts.</a:t>
            </a:r>
          </a:p>
          <a:p>
            <a:pPr algn="just">
              <a:lnSpc>
                <a:spcPts val="3823"/>
              </a:lnSpc>
            </a:pPr>
            <a:endParaRPr lang="en-US" sz="2499" dirty="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7727" y="413656"/>
            <a:ext cx="9938209" cy="986704"/>
            <a:chOff x="0" y="0"/>
            <a:chExt cx="13250945" cy="13156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50945" cy="1315605"/>
            </a:xfrm>
            <a:custGeom>
              <a:avLst/>
              <a:gdLst/>
              <a:ahLst/>
              <a:cxnLst/>
              <a:rect l="l" t="t" r="r" b="b"/>
              <a:pathLst>
                <a:path w="13250945" h="1315605">
                  <a:moveTo>
                    <a:pt x="0" y="0"/>
                  </a:moveTo>
                  <a:lnTo>
                    <a:pt x="13250945" y="0"/>
                  </a:lnTo>
                  <a:lnTo>
                    <a:pt x="13250945" y="1315605"/>
                  </a:lnTo>
                  <a:lnTo>
                    <a:pt x="0" y="13156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250945" cy="1334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48"/>
                </a:lnSpc>
              </a:pPr>
              <a:r>
                <a:rPr lang="en-US" sz="4599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Hands-on Activity : SubModules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27727" y="1574432"/>
            <a:ext cx="15574180" cy="8929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4"/>
              </a:lnSpc>
            </a:pPr>
            <a:r>
              <a:rPr lang="en-US" sz="3198" b="1" u="sng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Adding a Submodule:</a:t>
            </a:r>
          </a:p>
          <a:p>
            <a:pPr algn="just">
              <a:lnSpc>
                <a:spcPts val="4129"/>
              </a:lnSpc>
            </a:pPr>
            <a:endParaRPr lang="en-US" sz="3198" b="1" u="sng">
              <a:solidFill>
                <a:srgbClr val="FFFFFF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algn="just">
              <a:lnSpc>
                <a:spcPts val="4129"/>
              </a:lnSpc>
            </a:pPr>
            <a:r>
              <a:rPr lang="en-US" sz="2698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 Start a new repo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mkdir superproject &amp;&amp; cd superproject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init</a:t>
            </a:r>
          </a:p>
          <a:p>
            <a:pPr algn="just">
              <a:lnSpc>
                <a:spcPts val="4129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4129"/>
              </a:lnSpc>
            </a:pPr>
            <a:r>
              <a:rPr lang="en-US" sz="2698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 Add a submodule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submodule add &lt;Your-desired-Repo&gt;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commit -m "Added submodule"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push -u origin main</a:t>
            </a:r>
          </a:p>
          <a:p>
            <a:pPr algn="just">
              <a:lnSpc>
                <a:spcPts val="4129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4129"/>
              </a:lnSpc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Creates a libs/hello folder → linked to external repo.</a:t>
            </a:r>
          </a:p>
          <a:p>
            <a:pPr algn="just">
              <a:lnSpc>
                <a:spcPts val="4129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4129"/>
              </a:lnSpc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#</a:t>
            </a:r>
            <a:r>
              <a:rPr lang="en-US" sz="2698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To clone a repository with submodules, use: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git clone --recurse-submodules https://github.com/your/repository.git</a:t>
            </a:r>
          </a:p>
          <a:p>
            <a:pPr algn="just">
              <a:lnSpc>
                <a:spcPts val="4129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3823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7727" y="296090"/>
            <a:ext cx="9938209" cy="986704"/>
            <a:chOff x="0" y="0"/>
            <a:chExt cx="13250945" cy="13156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50945" cy="1315605"/>
            </a:xfrm>
            <a:custGeom>
              <a:avLst/>
              <a:gdLst/>
              <a:ahLst/>
              <a:cxnLst/>
              <a:rect l="l" t="t" r="r" b="b"/>
              <a:pathLst>
                <a:path w="13250945" h="1315605">
                  <a:moveTo>
                    <a:pt x="0" y="0"/>
                  </a:moveTo>
                  <a:lnTo>
                    <a:pt x="13250945" y="0"/>
                  </a:lnTo>
                  <a:lnTo>
                    <a:pt x="13250945" y="1315605"/>
                  </a:lnTo>
                  <a:lnTo>
                    <a:pt x="0" y="13156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250945" cy="1334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48"/>
                </a:lnSpc>
              </a:pPr>
              <a:r>
                <a:rPr lang="en-US" sz="4599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Hands-on Activity : SubTrees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27727" y="1352735"/>
            <a:ext cx="8853303" cy="925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82"/>
              </a:lnSpc>
            </a:pPr>
            <a:r>
              <a:rPr lang="en-US" sz="3198" b="1" u="sng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Adding a Subtrees:</a:t>
            </a:r>
          </a:p>
          <a:p>
            <a:pPr algn="just">
              <a:lnSpc>
                <a:spcPts val="3697"/>
              </a:lnSpc>
            </a:pPr>
            <a:endParaRPr lang="en-US" sz="3198" b="1" u="sng">
              <a:solidFill>
                <a:srgbClr val="FFFFFF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algn="just">
              <a:lnSpc>
                <a:spcPts val="3697"/>
              </a:lnSpc>
            </a:pPr>
            <a:r>
              <a:rPr lang="en-US" sz="2698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#1 Create main repo</a:t>
            </a:r>
          </a:p>
          <a:p>
            <a:pPr algn="just">
              <a:lnSpc>
                <a:spcPts val="4129"/>
              </a:lnSpc>
            </a:pPr>
            <a:endParaRPr lang="en-US" sz="2698" b="1">
              <a:solidFill>
                <a:srgbClr val="FFFFFF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mkdir main-repo &amp;&amp; cd main-repo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init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echo "Main project file" &gt; main.txt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add . &amp;&amp; git commit -m "Initial commit in main"</a:t>
            </a:r>
          </a:p>
          <a:p>
            <a:pPr algn="just">
              <a:lnSpc>
                <a:spcPts val="4129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4129"/>
              </a:lnSpc>
            </a:pPr>
            <a:r>
              <a:rPr lang="en-US" sz="2698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#2 Create library repo</a:t>
            </a:r>
          </a:p>
          <a:p>
            <a:pPr algn="just">
              <a:lnSpc>
                <a:spcPts val="4129"/>
              </a:lnSpc>
            </a:pPr>
            <a:endParaRPr lang="en-US" sz="2698" b="1">
              <a:solidFill>
                <a:srgbClr val="FFFFFF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cd ..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mkdir lib-repo &amp;&amp; cd lib-repo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init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echo "Library file" &gt; lib.txt</a:t>
            </a:r>
          </a:p>
          <a:p>
            <a:pPr marL="582713" lvl="1" indent="-291357" algn="just">
              <a:lnSpc>
                <a:spcPts val="4129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add . &amp;&amp; git commit -m "Initial commit in lib"</a:t>
            </a:r>
          </a:p>
          <a:p>
            <a:pPr algn="just">
              <a:lnSpc>
                <a:spcPts val="4129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3823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81030" y="2498735"/>
            <a:ext cx="8253091" cy="48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7"/>
              </a:lnSpc>
            </a:pPr>
            <a:r>
              <a:rPr lang="en-US" sz="2698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#3 Add subtree</a:t>
            </a:r>
          </a:p>
          <a:p>
            <a:pPr algn="just">
              <a:lnSpc>
                <a:spcPts val="4382"/>
              </a:lnSpc>
            </a:pPr>
            <a:endParaRPr lang="en-US" sz="2698" b="1">
              <a:solidFill>
                <a:srgbClr val="FFFFFF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marL="582713" lvl="1" indent="-291357" algn="just">
              <a:lnSpc>
                <a:spcPts val="3697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cd ../main-repo</a:t>
            </a:r>
          </a:p>
          <a:p>
            <a:pPr marL="582713" lvl="1" indent="-291357" algn="just">
              <a:lnSpc>
                <a:spcPts val="3697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remote add lib ../lib-repo</a:t>
            </a:r>
          </a:p>
          <a:p>
            <a:pPr marL="582713" lvl="1" indent="-291357" algn="just">
              <a:lnSpc>
                <a:spcPts val="3697"/>
              </a:lnSpc>
              <a:buFont typeface="Arial"/>
              <a:buChar char="•"/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git subtree add --prefix=lib lib master --squash</a:t>
            </a:r>
          </a:p>
          <a:p>
            <a:pPr algn="just">
              <a:lnSpc>
                <a:spcPts val="3697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3697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3697"/>
              </a:lnSpc>
            </a:pPr>
            <a:r>
              <a:rPr lang="en-US" sz="269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lib/ folder from lib-repo now appears inside   main-repo.</a:t>
            </a:r>
          </a:p>
          <a:p>
            <a:pPr algn="just">
              <a:lnSpc>
                <a:spcPts val="4382"/>
              </a:lnSpc>
            </a:pPr>
            <a:endParaRPr lang="en-US" sz="2698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155" y="1620888"/>
            <a:ext cx="9007228" cy="894308"/>
            <a:chOff x="0" y="0"/>
            <a:chExt cx="12009637" cy="11924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009637" cy="1192411"/>
            </a:xfrm>
            <a:custGeom>
              <a:avLst/>
              <a:gdLst/>
              <a:ahLst/>
              <a:cxnLst/>
              <a:rect l="l" t="t" r="r" b="b"/>
              <a:pathLst>
                <a:path w="12009637" h="1192411">
                  <a:moveTo>
                    <a:pt x="0" y="0"/>
                  </a:moveTo>
                  <a:lnTo>
                    <a:pt x="12009637" y="0"/>
                  </a:lnTo>
                  <a:lnTo>
                    <a:pt x="12009637" y="1192411"/>
                  </a:lnTo>
                  <a:lnTo>
                    <a:pt x="0" y="11924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2009637" cy="12114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875"/>
                </a:lnSpc>
              </a:pPr>
              <a:r>
                <a:rPr lang="en-US" sz="5500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Open Source Contributions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6821" y="2963912"/>
            <a:ext cx="38100" cy="5687758"/>
            <a:chOff x="0" y="0"/>
            <a:chExt cx="50800" cy="75836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800" cy="7583678"/>
            </a:xfrm>
            <a:custGeom>
              <a:avLst/>
              <a:gdLst/>
              <a:ahLst/>
              <a:cxnLst/>
              <a:rect l="l" t="t" r="r" b="b"/>
              <a:pathLst>
                <a:path w="50800" h="758367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558278"/>
                  </a:lnTo>
                  <a:cubicBezTo>
                    <a:pt x="50800" y="7572248"/>
                    <a:pt x="39370" y="7583678"/>
                    <a:pt x="25400" y="7583678"/>
                  </a:cubicBezTo>
                  <a:cubicBezTo>
                    <a:pt x="11430" y="7583678"/>
                    <a:pt x="0" y="7572248"/>
                    <a:pt x="0" y="7558278"/>
                  </a:cubicBezTo>
                  <a:close/>
                </a:path>
              </a:pathLst>
            </a:custGeom>
            <a:solidFill>
              <a:srgbClr val="5D60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94346" y="3617862"/>
            <a:ext cx="1047178" cy="38100"/>
            <a:chOff x="0" y="0"/>
            <a:chExt cx="1396238" cy="50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6238" cy="50800"/>
            </a:xfrm>
            <a:custGeom>
              <a:avLst/>
              <a:gdLst/>
              <a:ahLst/>
              <a:cxnLst/>
              <a:rect l="l" t="t" r="r" b="b"/>
              <a:pathLst>
                <a:path w="1396238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370838" y="0"/>
                  </a:lnTo>
                  <a:cubicBezTo>
                    <a:pt x="1384808" y="0"/>
                    <a:pt x="1396238" y="11430"/>
                    <a:pt x="1396238" y="25400"/>
                  </a:cubicBezTo>
                  <a:cubicBezTo>
                    <a:pt x="1396238" y="39370"/>
                    <a:pt x="1384808" y="50800"/>
                    <a:pt x="1370838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D60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59296" y="3300412"/>
            <a:ext cx="673132" cy="673132"/>
            <a:chOff x="0" y="0"/>
            <a:chExt cx="897509" cy="89750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18852" y="3475732"/>
            <a:ext cx="153889" cy="372368"/>
            <a:chOff x="0" y="0"/>
            <a:chExt cx="205185" cy="496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5185" cy="496490"/>
            </a:xfrm>
            <a:custGeom>
              <a:avLst/>
              <a:gdLst/>
              <a:ahLst/>
              <a:cxnLst/>
              <a:rect l="l" t="t" r="r" b="b"/>
              <a:pathLst>
                <a:path w="205185" h="496490">
                  <a:moveTo>
                    <a:pt x="0" y="0"/>
                  </a:moveTo>
                  <a:lnTo>
                    <a:pt x="205185" y="0"/>
                  </a:lnTo>
                  <a:lnTo>
                    <a:pt x="205185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6675"/>
              <a:ext cx="205185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141612" y="3255912"/>
            <a:ext cx="3520231" cy="447080"/>
            <a:chOff x="0" y="0"/>
            <a:chExt cx="4693641" cy="5961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93641" cy="596106"/>
            </a:xfrm>
            <a:custGeom>
              <a:avLst/>
              <a:gdLst/>
              <a:ahLst/>
              <a:cxnLst/>
              <a:rect l="l" t="t" r="r" b="b"/>
              <a:pathLst>
                <a:path w="4693641" h="596106">
                  <a:moveTo>
                    <a:pt x="0" y="0"/>
                  </a:moveTo>
                  <a:lnTo>
                    <a:pt x="4693641" y="0"/>
                  </a:lnTo>
                  <a:lnTo>
                    <a:pt x="4693641" y="596106"/>
                  </a:lnTo>
                  <a:lnTo>
                    <a:pt x="0" y="596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693641" cy="615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50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Fork Repository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141612" y="3811041"/>
            <a:ext cx="7241232" cy="550218"/>
            <a:chOff x="0" y="0"/>
            <a:chExt cx="9654976" cy="73362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654976" cy="733623"/>
            </a:xfrm>
            <a:custGeom>
              <a:avLst/>
              <a:gdLst/>
              <a:ahLst/>
              <a:cxnLst/>
              <a:rect l="l" t="t" r="r" b="b"/>
              <a:pathLst>
                <a:path w="9654976" h="733623">
                  <a:moveTo>
                    <a:pt x="0" y="0"/>
                  </a:moveTo>
                  <a:lnTo>
                    <a:pt x="9654976" y="0"/>
                  </a:lnTo>
                  <a:lnTo>
                    <a:pt x="9654976" y="733623"/>
                  </a:lnTo>
                  <a:lnTo>
                    <a:pt x="0" y="733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0"/>
              <a:ext cx="9654976" cy="82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Create a personal copy of the project.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94346" y="5613499"/>
            <a:ext cx="1047178" cy="38100"/>
            <a:chOff x="0" y="0"/>
            <a:chExt cx="1396238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96238" cy="50800"/>
            </a:xfrm>
            <a:custGeom>
              <a:avLst/>
              <a:gdLst/>
              <a:ahLst/>
              <a:cxnLst/>
              <a:rect l="l" t="t" r="r" b="b"/>
              <a:pathLst>
                <a:path w="1396238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370838" y="0"/>
                  </a:lnTo>
                  <a:cubicBezTo>
                    <a:pt x="1384808" y="0"/>
                    <a:pt x="1396238" y="11430"/>
                    <a:pt x="1396238" y="25400"/>
                  </a:cubicBezTo>
                  <a:cubicBezTo>
                    <a:pt x="1396238" y="39370"/>
                    <a:pt x="1384808" y="50800"/>
                    <a:pt x="1370838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D60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59296" y="5296049"/>
            <a:ext cx="673132" cy="673132"/>
            <a:chOff x="0" y="0"/>
            <a:chExt cx="897509" cy="89750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82390" y="5471368"/>
            <a:ext cx="226963" cy="372368"/>
            <a:chOff x="0" y="0"/>
            <a:chExt cx="302617" cy="4964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02617" cy="496490"/>
            </a:xfrm>
            <a:custGeom>
              <a:avLst/>
              <a:gdLst/>
              <a:ahLst/>
              <a:cxnLst/>
              <a:rect l="l" t="t" r="r" b="b"/>
              <a:pathLst>
                <a:path w="302617" h="496490">
                  <a:moveTo>
                    <a:pt x="0" y="0"/>
                  </a:moveTo>
                  <a:lnTo>
                    <a:pt x="302617" y="0"/>
                  </a:lnTo>
                  <a:lnTo>
                    <a:pt x="302617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66675"/>
              <a:ext cx="302617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141612" y="5251548"/>
            <a:ext cx="3520231" cy="447080"/>
            <a:chOff x="0" y="0"/>
            <a:chExt cx="4693641" cy="59610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93641" cy="596106"/>
            </a:xfrm>
            <a:custGeom>
              <a:avLst/>
              <a:gdLst/>
              <a:ahLst/>
              <a:cxnLst/>
              <a:rect l="l" t="t" r="r" b="b"/>
              <a:pathLst>
                <a:path w="4693641" h="596106">
                  <a:moveTo>
                    <a:pt x="0" y="0"/>
                  </a:moveTo>
                  <a:lnTo>
                    <a:pt x="4693641" y="0"/>
                  </a:lnTo>
                  <a:lnTo>
                    <a:pt x="4693641" y="596106"/>
                  </a:lnTo>
                  <a:lnTo>
                    <a:pt x="0" y="596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4693641" cy="615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50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Make Changes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141612" y="5806678"/>
            <a:ext cx="7241232" cy="550218"/>
            <a:chOff x="0" y="0"/>
            <a:chExt cx="9654976" cy="73362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654976" cy="733623"/>
            </a:xfrm>
            <a:custGeom>
              <a:avLst/>
              <a:gdLst/>
              <a:ahLst/>
              <a:cxnLst/>
              <a:rect l="l" t="t" r="r" b="b"/>
              <a:pathLst>
                <a:path w="9654976" h="733623">
                  <a:moveTo>
                    <a:pt x="0" y="0"/>
                  </a:moveTo>
                  <a:lnTo>
                    <a:pt x="9654976" y="0"/>
                  </a:lnTo>
                  <a:lnTo>
                    <a:pt x="9654976" y="733623"/>
                  </a:lnTo>
                  <a:lnTo>
                    <a:pt x="0" y="733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9654976" cy="82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Implement your contribution locally.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94346" y="7609135"/>
            <a:ext cx="1047178" cy="38100"/>
            <a:chOff x="0" y="0"/>
            <a:chExt cx="1396238" cy="50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96238" cy="50800"/>
            </a:xfrm>
            <a:custGeom>
              <a:avLst/>
              <a:gdLst/>
              <a:ahLst/>
              <a:cxnLst/>
              <a:rect l="l" t="t" r="r" b="b"/>
              <a:pathLst>
                <a:path w="1396238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370838" y="0"/>
                  </a:lnTo>
                  <a:cubicBezTo>
                    <a:pt x="1384808" y="0"/>
                    <a:pt x="1396238" y="11430"/>
                    <a:pt x="1396238" y="25400"/>
                  </a:cubicBezTo>
                  <a:cubicBezTo>
                    <a:pt x="1396238" y="39370"/>
                    <a:pt x="1384808" y="50800"/>
                    <a:pt x="1370838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D60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59296" y="7291685"/>
            <a:ext cx="673132" cy="673132"/>
            <a:chOff x="0" y="0"/>
            <a:chExt cx="897509" cy="89750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97509" cy="897509"/>
            </a:xfrm>
            <a:custGeom>
              <a:avLst/>
              <a:gdLst/>
              <a:ahLst/>
              <a:cxnLst/>
              <a:rect l="l" t="t" r="r" b="b"/>
              <a:pathLst>
                <a:path w="897509" h="89750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837692" y="0"/>
                  </a:lnTo>
                  <a:cubicBezTo>
                    <a:pt x="870712" y="0"/>
                    <a:pt x="897509" y="26797"/>
                    <a:pt x="897509" y="59817"/>
                  </a:cubicBezTo>
                  <a:lnTo>
                    <a:pt x="897509" y="837692"/>
                  </a:lnTo>
                  <a:cubicBezTo>
                    <a:pt x="897509" y="870712"/>
                    <a:pt x="870712" y="897509"/>
                    <a:pt x="837692" y="897509"/>
                  </a:cubicBezTo>
                  <a:lnTo>
                    <a:pt x="59817" y="897509"/>
                  </a:lnTo>
                  <a:cubicBezTo>
                    <a:pt x="26797" y="897509"/>
                    <a:pt x="0" y="870712"/>
                    <a:pt x="0" y="837692"/>
                  </a:cubicBezTo>
                  <a:close/>
                </a:path>
              </a:pathLst>
            </a:custGeom>
            <a:solidFill>
              <a:srgbClr val="4447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78222" y="7467005"/>
            <a:ext cx="235297" cy="372368"/>
            <a:chOff x="0" y="0"/>
            <a:chExt cx="313729" cy="49649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13729" cy="496490"/>
            </a:xfrm>
            <a:custGeom>
              <a:avLst/>
              <a:gdLst/>
              <a:ahLst/>
              <a:cxnLst/>
              <a:rect l="l" t="t" r="r" b="b"/>
              <a:pathLst>
                <a:path w="313729" h="496490">
                  <a:moveTo>
                    <a:pt x="0" y="0"/>
                  </a:moveTo>
                  <a:lnTo>
                    <a:pt x="313729" y="0"/>
                  </a:lnTo>
                  <a:lnTo>
                    <a:pt x="313729" y="496490"/>
                  </a:lnTo>
                  <a:lnTo>
                    <a:pt x="0" y="4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66675"/>
              <a:ext cx="313729" cy="429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41612" y="7247185"/>
            <a:ext cx="3520231" cy="447080"/>
            <a:chOff x="0" y="0"/>
            <a:chExt cx="4693641" cy="5961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693641" cy="596106"/>
            </a:xfrm>
            <a:custGeom>
              <a:avLst/>
              <a:gdLst/>
              <a:ahLst/>
              <a:cxnLst/>
              <a:rect l="l" t="t" r="r" b="b"/>
              <a:pathLst>
                <a:path w="4693641" h="596106">
                  <a:moveTo>
                    <a:pt x="0" y="0"/>
                  </a:moveTo>
                  <a:lnTo>
                    <a:pt x="4693641" y="0"/>
                  </a:lnTo>
                  <a:lnTo>
                    <a:pt x="4693641" y="596106"/>
                  </a:lnTo>
                  <a:lnTo>
                    <a:pt x="0" y="596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4693641" cy="615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50">
                  <a:solidFill>
                    <a:srgbClr val="F2F0EF"/>
                  </a:solidFill>
                  <a:latin typeface="Lora"/>
                  <a:ea typeface="Lora"/>
                  <a:cs typeface="Lora"/>
                  <a:sym typeface="Lora"/>
                </a:rPr>
                <a:t>Submit Pull Request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141612" y="7802314"/>
            <a:ext cx="7241232" cy="550218"/>
            <a:chOff x="0" y="0"/>
            <a:chExt cx="9654976" cy="73362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654976" cy="733623"/>
            </a:xfrm>
            <a:custGeom>
              <a:avLst/>
              <a:gdLst/>
              <a:ahLst/>
              <a:cxnLst/>
              <a:rect l="l" t="t" r="r" b="b"/>
              <a:pathLst>
                <a:path w="9654976" h="733623">
                  <a:moveTo>
                    <a:pt x="0" y="0"/>
                  </a:moveTo>
                  <a:lnTo>
                    <a:pt x="9654976" y="0"/>
                  </a:lnTo>
                  <a:lnTo>
                    <a:pt x="9654976" y="733623"/>
                  </a:lnTo>
                  <a:lnTo>
                    <a:pt x="0" y="733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95250"/>
              <a:ext cx="9654976" cy="828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2F0E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Propose your changes to the original project.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1475</Words>
  <Application>Microsoft Macintosh PowerPoint</Application>
  <PresentationFormat>Custom</PresentationFormat>
  <Paragraphs>397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Source Sans Pro</vt:lpstr>
      <vt:lpstr>Calibri</vt:lpstr>
      <vt:lpstr>Canva Sans Bold</vt:lpstr>
      <vt:lpstr>Source Sans Pro Bold</vt:lpstr>
      <vt:lpstr>Lora Bold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Code-Commit-Collaborate-Conquer-Understanding-the-Git-Flow.pptx.pptx</dc:title>
  <cp:lastModifiedBy>Mohammad Anees Alam</cp:lastModifiedBy>
  <cp:revision>5</cp:revision>
  <dcterms:created xsi:type="dcterms:W3CDTF">2006-08-16T00:00:00Z</dcterms:created>
  <dcterms:modified xsi:type="dcterms:W3CDTF">2025-09-14T08:33:16Z</dcterms:modified>
  <dc:identifier>DAGy0w-uot0</dc:identifier>
</cp:coreProperties>
</file>