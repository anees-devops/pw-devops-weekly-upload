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8288000" cy="10287000"/>
  <p:notesSz cx="6858000" cy="9144000"/>
  <p:embeddedFontLst>
    <p:embeddedFont>
      <p:font typeface="Arimo" panose="020B0604020202020204" charset="0"/>
      <p:regular r:id="rId14"/>
    </p:embeddedFont>
    <p:embeddedFont>
      <p:font typeface="Martel Sans" panose="020B0604020202020204" charset="0"/>
      <p:regular r:id="rId15"/>
    </p:embeddedFont>
    <p:embeddedFont>
      <p:font typeface="Martel Sans Bold" panose="020B0604020202020204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 autoAdjust="0"/>
    <p:restoredTop sz="94618" autoAdjust="0"/>
  </p:normalViewPr>
  <p:slideViewPr>
    <p:cSldViewPr>
      <p:cViewPr varScale="1">
        <p:scale>
          <a:sx n="58" d="100"/>
          <a:sy n="58" d="100"/>
        </p:scale>
        <p:origin x="475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AneeS" userId="f3b6a096eeb08a08" providerId="LiveId" clId="{C00BBC87-BCBD-46CD-B560-F109FE98DAD6}"/>
    <pc:docChg chg="modSld">
      <pc:chgData name="MohammaD AneeS" userId="f3b6a096eeb08a08" providerId="LiveId" clId="{C00BBC87-BCBD-46CD-B560-F109FE98DAD6}" dt="2026-10-10T06:23:27.312" v="1"/>
      <pc:docMkLst>
        <pc:docMk/>
      </pc:docMkLst>
      <pc:sldChg chg="modSp mod">
        <pc:chgData name="MohammaD AneeS" userId="f3b6a096eeb08a08" providerId="LiveId" clId="{C00BBC87-BCBD-46CD-B560-F109FE98DAD6}" dt="2026-10-10T06:23:27.312" v="1"/>
        <pc:sldMkLst>
          <pc:docMk/>
          <pc:sldMk cId="124488541" sldId="266"/>
        </pc:sldMkLst>
        <pc:spChg chg="mod">
          <ac:chgData name="MohammaD AneeS" userId="f3b6a096eeb08a08" providerId="LiveId" clId="{C00BBC87-BCBD-46CD-B560-F109FE98DAD6}" dt="2026-10-10T06:23:27.312" v="1"/>
          <ac:spMkLst>
            <pc:docMk/>
            <pc:sldMk cId="124488541" sldId="266"/>
            <ac:spMk id="27" creationId="{4166D490-4C17-A29D-4296-D6EECA26509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118E1-3945-03DE-A35C-4127979B9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4F97BF-796C-F1D4-EC39-0DCCA6386C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8E4D5E-2F05-85E7-B963-D0FFF504CC6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3035BB7-FF25-89D4-D343-C41230F1CF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DE8D0A8-A8B1-DAB7-6A3B-6E2FA8EF54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8297A-2245-8A12-0931-432D5EDEDEF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784E2-DB75-D9D1-87F1-1E1FFE811B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877691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ees-DevOps/CI-CDel-CDep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ees-DevOps/CI-CDel-CDep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hyperlink" Target="https://github.com/Anees-DevOps/Setup-C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992238" y="3442246"/>
            <a:ext cx="10190113" cy="2445544"/>
            <a:chOff x="0" y="0"/>
            <a:chExt cx="13586818" cy="32607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586817" cy="3260725"/>
            </a:xfrm>
            <a:custGeom>
              <a:avLst/>
              <a:gdLst/>
              <a:ahLst/>
              <a:cxnLst/>
              <a:rect l="l" t="t" r="r" b="b"/>
              <a:pathLst>
                <a:path w="13586817" h="3260725">
                  <a:moveTo>
                    <a:pt x="0" y="0"/>
                  </a:moveTo>
                  <a:lnTo>
                    <a:pt x="13586817" y="0"/>
                  </a:lnTo>
                  <a:lnTo>
                    <a:pt x="13586817" y="3260725"/>
                  </a:lnTo>
                  <a:lnTo>
                    <a:pt x="0" y="3260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3586818" cy="33178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8373"/>
                </a:lnSpc>
              </a:pPr>
              <a:r>
                <a:rPr lang="en-US" sz="6687" dirty="0">
                  <a:solidFill>
                    <a:srgbClr val="272D45"/>
                  </a:solidFill>
                  <a:latin typeface="Arimo"/>
                  <a:ea typeface="Arimo"/>
                  <a:cs typeface="Arimo"/>
                  <a:sym typeface="Arimo"/>
                </a:rPr>
                <a:t>Continuous Delivery/Deployment 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960838" y="5887790"/>
            <a:ext cx="4252912" cy="667642"/>
            <a:chOff x="0" y="0"/>
            <a:chExt cx="5670550" cy="8901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670550" cy="890190"/>
            </a:xfrm>
            <a:custGeom>
              <a:avLst/>
              <a:gdLst/>
              <a:ahLst/>
              <a:cxnLst/>
              <a:rect l="l" t="t" r="r" b="b"/>
              <a:pathLst>
                <a:path w="5670550" h="890190">
                  <a:moveTo>
                    <a:pt x="0" y="0"/>
                  </a:moveTo>
                  <a:lnTo>
                    <a:pt x="5670550" y="0"/>
                  </a:lnTo>
                  <a:lnTo>
                    <a:pt x="5670550" y="890190"/>
                  </a:lnTo>
                  <a:lnTo>
                    <a:pt x="0" y="8901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5670550" cy="91876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875"/>
                </a:lnSpc>
              </a:pPr>
              <a:r>
                <a:rPr lang="en-US" sz="3112">
                  <a:solidFill>
                    <a:srgbClr val="272D45"/>
                  </a:solidFill>
                  <a:latin typeface="Arimo"/>
                  <a:ea typeface="Arimo"/>
                  <a:cs typeface="Arimo"/>
                  <a:sym typeface="Arimo"/>
                </a:rPr>
                <a:t>The final stage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79389" y="9006681"/>
            <a:ext cx="2283599" cy="410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  <a:spcBef>
                <a:spcPct val="0"/>
              </a:spcBef>
            </a:pPr>
            <a:r>
              <a:rPr lang="en-US" sz="253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Presenter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9389" y="9469438"/>
            <a:ext cx="4707905" cy="410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  <a:spcBef>
                <a:spcPct val="0"/>
              </a:spcBef>
            </a:pPr>
            <a:r>
              <a:rPr lang="en-US" sz="2537">
                <a:solidFill>
                  <a:srgbClr val="E9827D"/>
                </a:solidFill>
                <a:latin typeface="Arimo"/>
                <a:ea typeface="Arimo"/>
                <a:cs typeface="Arimo"/>
                <a:sym typeface="Arimo"/>
              </a:rPr>
              <a:t>Mohammad Anees Alam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86420" y="483384"/>
            <a:ext cx="6332041" cy="1004600"/>
            <a:chOff x="0" y="0"/>
            <a:chExt cx="8442722" cy="1339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442722" cy="1339467"/>
            </a:xfrm>
            <a:custGeom>
              <a:avLst/>
              <a:gdLst/>
              <a:ahLst/>
              <a:cxnLst/>
              <a:rect l="l" t="t" r="r" b="b"/>
              <a:pathLst>
                <a:path w="8442722" h="1339467">
                  <a:moveTo>
                    <a:pt x="0" y="0"/>
                  </a:moveTo>
                  <a:lnTo>
                    <a:pt x="8442722" y="0"/>
                  </a:lnTo>
                  <a:lnTo>
                    <a:pt x="8442722" y="1339467"/>
                  </a:lnTo>
                  <a:lnTo>
                    <a:pt x="0" y="1339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442722" cy="13870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87"/>
                </a:lnSpc>
              </a:pPr>
              <a:r>
                <a:rPr lang="en-US" sz="4937">
                  <a:solidFill>
                    <a:srgbClr val="272D45"/>
                  </a:solidFill>
                  <a:latin typeface="Arimo"/>
                  <a:ea typeface="Arimo"/>
                  <a:cs typeface="Arimo"/>
                  <a:sym typeface="Arimo"/>
                </a:rPr>
                <a:t>Topics for today!</a:t>
              </a:r>
            </a:p>
          </p:txBody>
        </p:sp>
      </p:grpSp>
      <p:sp>
        <p:nvSpPr>
          <p:cNvPr id="9" name="Freeform 9" descr="preencoded.png"/>
          <p:cNvSpPr/>
          <p:nvPr/>
        </p:nvSpPr>
        <p:spPr>
          <a:xfrm>
            <a:off x="886420" y="1994446"/>
            <a:ext cx="1266379" cy="1519684"/>
          </a:xfrm>
          <a:custGeom>
            <a:avLst/>
            <a:gdLst/>
            <a:ahLst/>
            <a:cxnLst/>
            <a:rect l="l" t="t" r="r" b="b"/>
            <a:pathLst>
              <a:path w="1266379" h="1519684">
                <a:moveTo>
                  <a:pt x="0" y="0"/>
                </a:moveTo>
                <a:lnTo>
                  <a:pt x="1266379" y="0"/>
                </a:lnTo>
                <a:lnTo>
                  <a:pt x="1266379" y="1519684"/>
                </a:lnTo>
                <a:lnTo>
                  <a:pt x="0" y="15196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4" b="-12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2532609" y="2185598"/>
            <a:ext cx="6933397" cy="636495"/>
            <a:chOff x="0" y="0"/>
            <a:chExt cx="9244529" cy="84865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244529" cy="848659"/>
            </a:xfrm>
            <a:custGeom>
              <a:avLst/>
              <a:gdLst/>
              <a:ahLst/>
              <a:cxnLst/>
              <a:rect l="l" t="t" r="r" b="b"/>
              <a:pathLst>
                <a:path w="9244529" h="848659">
                  <a:moveTo>
                    <a:pt x="0" y="0"/>
                  </a:moveTo>
                  <a:lnTo>
                    <a:pt x="9244529" y="0"/>
                  </a:lnTo>
                  <a:lnTo>
                    <a:pt x="9244529" y="848659"/>
                  </a:lnTo>
                  <a:lnTo>
                    <a:pt x="0" y="8486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9244529" cy="8867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38"/>
                </a:lnSpc>
              </a:pPr>
              <a:r>
                <a:rPr lang="en-US" sz="3137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Recap: Continuous deployment</a:t>
              </a:r>
            </a:p>
          </p:txBody>
        </p:sp>
      </p:grpSp>
      <p:sp>
        <p:nvSpPr>
          <p:cNvPr id="13" name="Freeform 13" descr="preencoded.png"/>
          <p:cNvSpPr/>
          <p:nvPr/>
        </p:nvSpPr>
        <p:spPr>
          <a:xfrm>
            <a:off x="886420" y="3514130"/>
            <a:ext cx="1266379" cy="1519684"/>
          </a:xfrm>
          <a:custGeom>
            <a:avLst/>
            <a:gdLst/>
            <a:ahLst/>
            <a:cxnLst/>
            <a:rect l="l" t="t" r="r" b="b"/>
            <a:pathLst>
              <a:path w="1266379" h="1519684">
                <a:moveTo>
                  <a:pt x="0" y="0"/>
                </a:moveTo>
                <a:lnTo>
                  <a:pt x="1266379" y="0"/>
                </a:lnTo>
                <a:lnTo>
                  <a:pt x="1266379" y="1519684"/>
                </a:lnTo>
                <a:lnTo>
                  <a:pt x="0" y="1519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24" b="-12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2532609" y="3705282"/>
            <a:ext cx="5584126" cy="636495"/>
            <a:chOff x="0" y="0"/>
            <a:chExt cx="7445502" cy="84865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445502" cy="848659"/>
            </a:xfrm>
            <a:custGeom>
              <a:avLst/>
              <a:gdLst/>
              <a:ahLst/>
              <a:cxnLst/>
              <a:rect l="l" t="t" r="r" b="b"/>
              <a:pathLst>
                <a:path w="7445502" h="848659">
                  <a:moveTo>
                    <a:pt x="0" y="0"/>
                  </a:moveTo>
                  <a:lnTo>
                    <a:pt x="7445502" y="0"/>
                  </a:lnTo>
                  <a:lnTo>
                    <a:pt x="7445502" y="848659"/>
                  </a:lnTo>
                  <a:lnTo>
                    <a:pt x="0" y="8486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7445502" cy="8867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38"/>
                </a:lnSpc>
              </a:pPr>
              <a:r>
                <a:rPr lang="en-US" sz="3137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Deployment Vs Delivery</a:t>
              </a:r>
            </a:p>
          </p:txBody>
        </p:sp>
      </p:grpSp>
      <p:sp>
        <p:nvSpPr>
          <p:cNvPr id="17" name="Freeform 17" descr="preencoded.png"/>
          <p:cNvSpPr/>
          <p:nvPr/>
        </p:nvSpPr>
        <p:spPr>
          <a:xfrm>
            <a:off x="886420" y="5033814"/>
            <a:ext cx="1266379" cy="1519684"/>
          </a:xfrm>
          <a:custGeom>
            <a:avLst/>
            <a:gdLst/>
            <a:ahLst/>
            <a:cxnLst/>
            <a:rect l="l" t="t" r="r" b="b"/>
            <a:pathLst>
              <a:path w="1266379" h="1519684">
                <a:moveTo>
                  <a:pt x="0" y="0"/>
                </a:moveTo>
                <a:lnTo>
                  <a:pt x="1266379" y="0"/>
                </a:lnTo>
                <a:lnTo>
                  <a:pt x="1266379" y="1519683"/>
                </a:lnTo>
                <a:lnTo>
                  <a:pt x="0" y="15196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24" b="-12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2532609" y="5224965"/>
            <a:ext cx="4130278" cy="636495"/>
            <a:chOff x="0" y="0"/>
            <a:chExt cx="5507037" cy="84865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507037" cy="848659"/>
            </a:xfrm>
            <a:custGeom>
              <a:avLst/>
              <a:gdLst/>
              <a:ahLst/>
              <a:cxnLst/>
              <a:rect l="l" t="t" r="r" b="b"/>
              <a:pathLst>
                <a:path w="5507037" h="848659">
                  <a:moveTo>
                    <a:pt x="0" y="0"/>
                  </a:moveTo>
                  <a:lnTo>
                    <a:pt x="5507037" y="0"/>
                  </a:lnTo>
                  <a:lnTo>
                    <a:pt x="5507037" y="848659"/>
                  </a:lnTo>
                  <a:lnTo>
                    <a:pt x="0" y="8486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5507037" cy="8867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38"/>
                </a:lnSpc>
              </a:pPr>
              <a:r>
                <a:rPr lang="en-US" sz="3137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Common CD tools</a:t>
              </a:r>
            </a:p>
          </p:txBody>
        </p:sp>
      </p:grpSp>
      <p:sp>
        <p:nvSpPr>
          <p:cNvPr id="21" name="Freeform 21" descr="preencoded.png"/>
          <p:cNvSpPr/>
          <p:nvPr/>
        </p:nvSpPr>
        <p:spPr>
          <a:xfrm>
            <a:off x="886420" y="6553497"/>
            <a:ext cx="1266379" cy="1519684"/>
          </a:xfrm>
          <a:custGeom>
            <a:avLst/>
            <a:gdLst/>
            <a:ahLst/>
            <a:cxnLst/>
            <a:rect l="l" t="t" r="r" b="b"/>
            <a:pathLst>
              <a:path w="1266379" h="1519684">
                <a:moveTo>
                  <a:pt x="0" y="0"/>
                </a:moveTo>
                <a:lnTo>
                  <a:pt x="1266379" y="0"/>
                </a:lnTo>
                <a:lnTo>
                  <a:pt x="1266379" y="1519684"/>
                </a:lnTo>
                <a:lnTo>
                  <a:pt x="0" y="1519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24" b="-12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>
            <a:off x="2532609" y="6744649"/>
            <a:ext cx="5070809" cy="636495"/>
            <a:chOff x="0" y="0"/>
            <a:chExt cx="6761078" cy="84865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761079" cy="848659"/>
            </a:xfrm>
            <a:custGeom>
              <a:avLst/>
              <a:gdLst/>
              <a:ahLst/>
              <a:cxnLst/>
              <a:rect l="l" t="t" r="r" b="b"/>
              <a:pathLst>
                <a:path w="6761079" h="848659">
                  <a:moveTo>
                    <a:pt x="0" y="0"/>
                  </a:moveTo>
                  <a:lnTo>
                    <a:pt x="6761079" y="0"/>
                  </a:lnTo>
                  <a:lnTo>
                    <a:pt x="6761079" y="848659"/>
                  </a:lnTo>
                  <a:lnTo>
                    <a:pt x="0" y="8486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6761078" cy="8867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38"/>
                </a:lnSpc>
              </a:pPr>
              <a:r>
                <a:rPr lang="en-US" sz="3137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Deployment Pipelines</a:t>
              </a:r>
            </a:p>
          </p:txBody>
        </p:sp>
      </p:grpSp>
      <p:sp>
        <p:nvSpPr>
          <p:cNvPr id="25" name="Freeform 25" descr="preencoded.png"/>
          <p:cNvSpPr/>
          <p:nvPr/>
        </p:nvSpPr>
        <p:spPr>
          <a:xfrm>
            <a:off x="886420" y="8073181"/>
            <a:ext cx="1266379" cy="1519684"/>
          </a:xfrm>
          <a:custGeom>
            <a:avLst/>
            <a:gdLst/>
            <a:ahLst/>
            <a:cxnLst/>
            <a:rect l="l" t="t" r="r" b="b"/>
            <a:pathLst>
              <a:path w="1266379" h="1519684">
                <a:moveTo>
                  <a:pt x="0" y="0"/>
                </a:moveTo>
                <a:lnTo>
                  <a:pt x="1266379" y="0"/>
                </a:lnTo>
                <a:lnTo>
                  <a:pt x="1266379" y="1519684"/>
                </a:lnTo>
                <a:lnTo>
                  <a:pt x="0" y="15196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24" b="-12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6" name="Group 26"/>
          <p:cNvGrpSpPr/>
          <p:nvPr/>
        </p:nvGrpSpPr>
        <p:grpSpPr>
          <a:xfrm>
            <a:off x="2532609" y="8264334"/>
            <a:ext cx="8262108" cy="636495"/>
            <a:chOff x="0" y="0"/>
            <a:chExt cx="11016143" cy="84865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016144" cy="848659"/>
            </a:xfrm>
            <a:custGeom>
              <a:avLst/>
              <a:gdLst/>
              <a:ahLst/>
              <a:cxnLst/>
              <a:rect l="l" t="t" r="r" b="b"/>
              <a:pathLst>
                <a:path w="11016144" h="848659">
                  <a:moveTo>
                    <a:pt x="0" y="0"/>
                  </a:moveTo>
                  <a:lnTo>
                    <a:pt x="11016144" y="0"/>
                  </a:lnTo>
                  <a:lnTo>
                    <a:pt x="11016144" y="848659"/>
                  </a:lnTo>
                  <a:lnTo>
                    <a:pt x="0" y="8486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1016143" cy="8867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38"/>
                </a:lnSpc>
              </a:pPr>
              <a:r>
                <a:rPr lang="en-US" sz="3137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Hands-on activity: Setup CD for flask app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810071" y="468993"/>
            <a:ext cx="9966613" cy="1107932"/>
            <a:chOff x="0" y="0"/>
            <a:chExt cx="13288817" cy="147724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288817" cy="1477242"/>
            </a:xfrm>
            <a:custGeom>
              <a:avLst/>
              <a:gdLst/>
              <a:ahLst/>
              <a:cxnLst/>
              <a:rect l="l" t="t" r="r" b="b"/>
              <a:pathLst>
                <a:path w="13288817" h="1477242">
                  <a:moveTo>
                    <a:pt x="0" y="0"/>
                  </a:moveTo>
                  <a:lnTo>
                    <a:pt x="13288817" y="0"/>
                  </a:lnTo>
                  <a:lnTo>
                    <a:pt x="13288817" y="1477242"/>
                  </a:lnTo>
                  <a:lnTo>
                    <a:pt x="0" y="14772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3288817" cy="15343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13"/>
                </a:lnSpc>
              </a:pPr>
              <a:r>
                <a:rPr lang="en-US" sz="4599">
                  <a:solidFill>
                    <a:srgbClr val="272D45"/>
                  </a:solidFill>
                  <a:latin typeface="Arimo"/>
                  <a:ea typeface="Arimo"/>
                  <a:cs typeface="Arimo"/>
                  <a:sym typeface="Arimo"/>
                </a:rPr>
                <a:t>Why Continuous Deployment Matters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05309" y="1640654"/>
            <a:ext cx="9966613" cy="1591459"/>
            <a:chOff x="0" y="0"/>
            <a:chExt cx="13288817" cy="212194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288817" cy="2121945"/>
            </a:xfrm>
            <a:custGeom>
              <a:avLst/>
              <a:gdLst/>
              <a:ahLst/>
              <a:cxnLst/>
              <a:rect l="l" t="t" r="r" b="b"/>
              <a:pathLst>
                <a:path w="13288817" h="2121945">
                  <a:moveTo>
                    <a:pt x="0" y="0"/>
                  </a:moveTo>
                  <a:lnTo>
                    <a:pt x="13288817" y="0"/>
                  </a:lnTo>
                  <a:lnTo>
                    <a:pt x="13288817" y="2121945"/>
                  </a:lnTo>
                  <a:lnTo>
                    <a:pt x="0" y="21219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13288817" cy="22171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26"/>
                </a:lnSpc>
              </a:pPr>
              <a:r>
                <a:rPr lang="en-US" sz="2412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Continuous Deployment is a DevOps practice in which every code change that successfully passes all stages of the production pipeline is automatically released to users, without any manual steps. 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05309" y="3290622"/>
            <a:ext cx="9966613" cy="619909"/>
            <a:chOff x="0" y="0"/>
            <a:chExt cx="13288817" cy="82654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288817" cy="826545"/>
            </a:xfrm>
            <a:custGeom>
              <a:avLst/>
              <a:gdLst/>
              <a:ahLst/>
              <a:cxnLst/>
              <a:rect l="l" t="t" r="r" b="b"/>
              <a:pathLst>
                <a:path w="13288817" h="826545">
                  <a:moveTo>
                    <a:pt x="0" y="0"/>
                  </a:moveTo>
                  <a:lnTo>
                    <a:pt x="13288817" y="0"/>
                  </a:lnTo>
                  <a:lnTo>
                    <a:pt x="13288817" y="826545"/>
                  </a:lnTo>
                  <a:lnTo>
                    <a:pt x="0" y="826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0"/>
              <a:ext cx="13288817" cy="9217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26"/>
                </a:lnSpc>
              </a:pPr>
              <a:r>
                <a:rPr lang="en-US" sz="2412" b="1">
                  <a:solidFill>
                    <a:srgbClr val="2C3249"/>
                  </a:solidFill>
                  <a:latin typeface="Martel Sans Bold"/>
                  <a:ea typeface="Martel Sans Bold"/>
                  <a:cs typeface="Martel Sans Bold"/>
                  <a:sym typeface="Martel Sans Bold"/>
                </a:rPr>
                <a:t>It represents the final phase of the CI/CD pipeline.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05309" y="4325690"/>
            <a:ext cx="530275" cy="530275"/>
            <a:chOff x="0" y="0"/>
            <a:chExt cx="707033" cy="707033"/>
          </a:xfrm>
        </p:grpSpPr>
        <p:sp>
          <p:nvSpPr>
            <p:cNvPr id="18" name="Freeform 18"/>
            <p:cNvSpPr/>
            <p:nvPr/>
          </p:nvSpPr>
          <p:spPr>
            <a:xfrm>
              <a:off x="6350" y="6350"/>
              <a:ext cx="694309" cy="694436"/>
            </a:xfrm>
            <a:custGeom>
              <a:avLst/>
              <a:gdLst/>
              <a:ahLst/>
              <a:cxnLst/>
              <a:rect l="l" t="t" r="r" b="b"/>
              <a:pathLst>
                <a:path w="694309" h="694436">
                  <a:moveTo>
                    <a:pt x="0" y="129667"/>
                  </a:moveTo>
                  <a:cubicBezTo>
                    <a:pt x="0" y="58039"/>
                    <a:pt x="58039" y="0"/>
                    <a:pt x="129667" y="0"/>
                  </a:cubicBezTo>
                  <a:lnTo>
                    <a:pt x="564769" y="0"/>
                  </a:lnTo>
                  <a:cubicBezTo>
                    <a:pt x="636270" y="0"/>
                    <a:pt x="694309" y="58039"/>
                    <a:pt x="694309" y="129667"/>
                  </a:cubicBezTo>
                  <a:lnTo>
                    <a:pt x="694309" y="564769"/>
                  </a:lnTo>
                  <a:cubicBezTo>
                    <a:pt x="694309" y="636397"/>
                    <a:pt x="636270" y="694436"/>
                    <a:pt x="564642" y="694436"/>
                  </a:cubicBezTo>
                  <a:lnTo>
                    <a:pt x="129667" y="694436"/>
                  </a:lnTo>
                  <a:cubicBezTo>
                    <a:pt x="58039" y="694309"/>
                    <a:pt x="0" y="636270"/>
                    <a:pt x="0" y="564769"/>
                  </a:cubicBezTo>
                  <a:close/>
                </a:path>
              </a:pathLst>
            </a:custGeom>
            <a:solidFill>
              <a:srgbClr val="DFEC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707136" cy="707136"/>
            </a:xfrm>
            <a:custGeom>
              <a:avLst/>
              <a:gdLst/>
              <a:ahLst/>
              <a:cxnLst/>
              <a:rect l="l" t="t" r="r" b="b"/>
              <a:pathLst>
                <a:path w="707136" h="707136">
                  <a:moveTo>
                    <a:pt x="0" y="136017"/>
                  </a:moveTo>
                  <a:cubicBezTo>
                    <a:pt x="0" y="60833"/>
                    <a:pt x="60833" y="0"/>
                    <a:pt x="136017" y="0"/>
                  </a:cubicBezTo>
                  <a:lnTo>
                    <a:pt x="571119" y="0"/>
                  </a:lnTo>
                  <a:lnTo>
                    <a:pt x="571119" y="6350"/>
                  </a:lnTo>
                  <a:lnTo>
                    <a:pt x="571119" y="0"/>
                  </a:lnTo>
                  <a:cubicBezTo>
                    <a:pt x="646176" y="0"/>
                    <a:pt x="707136" y="60833"/>
                    <a:pt x="707136" y="136017"/>
                  </a:cubicBezTo>
                  <a:lnTo>
                    <a:pt x="700786" y="136017"/>
                  </a:lnTo>
                  <a:lnTo>
                    <a:pt x="707136" y="136017"/>
                  </a:lnTo>
                  <a:lnTo>
                    <a:pt x="707136" y="571119"/>
                  </a:lnTo>
                  <a:lnTo>
                    <a:pt x="700786" y="571119"/>
                  </a:lnTo>
                  <a:lnTo>
                    <a:pt x="707136" y="571119"/>
                  </a:lnTo>
                  <a:cubicBezTo>
                    <a:pt x="707136" y="646176"/>
                    <a:pt x="646303" y="707136"/>
                    <a:pt x="571119" y="707136"/>
                  </a:cubicBezTo>
                  <a:lnTo>
                    <a:pt x="571119" y="700786"/>
                  </a:lnTo>
                  <a:lnTo>
                    <a:pt x="571119" y="707136"/>
                  </a:lnTo>
                  <a:lnTo>
                    <a:pt x="136017" y="707136"/>
                  </a:lnTo>
                  <a:lnTo>
                    <a:pt x="136017" y="700786"/>
                  </a:lnTo>
                  <a:lnTo>
                    <a:pt x="136017" y="707136"/>
                  </a:lnTo>
                  <a:cubicBezTo>
                    <a:pt x="60833" y="707009"/>
                    <a:pt x="0" y="646176"/>
                    <a:pt x="0" y="571119"/>
                  </a:cubicBezTo>
                  <a:lnTo>
                    <a:pt x="0" y="136017"/>
                  </a:lnTo>
                  <a:lnTo>
                    <a:pt x="6350" y="136017"/>
                  </a:lnTo>
                  <a:lnTo>
                    <a:pt x="0" y="136017"/>
                  </a:lnTo>
                  <a:moveTo>
                    <a:pt x="12700" y="136017"/>
                  </a:moveTo>
                  <a:lnTo>
                    <a:pt x="12700" y="571119"/>
                  </a:lnTo>
                  <a:lnTo>
                    <a:pt x="6350" y="571119"/>
                  </a:lnTo>
                  <a:lnTo>
                    <a:pt x="12700" y="571119"/>
                  </a:lnTo>
                  <a:cubicBezTo>
                    <a:pt x="12700" y="639191"/>
                    <a:pt x="67945" y="694436"/>
                    <a:pt x="136017" y="694436"/>
                  </a:cubicBezTo>
                  <a:lnTo>
                    <a:pt x="571119" y="694436"/>
                  </a:lnTo>
                  <a:cubicBezTo>
                    <a:pt x="639191" y="694436"/>
                    <a:pt x="694436" y="639191"/>
                    <a:pt x="694436" y="571119"/>
                  </a:cubicBezTo>
                  <a:lnTo>
                    <a:pt x="694436" y="136017"/>
                  </a:lnTo>
                  <a:cubicBezTo>
                    <a:pt x="694309" y="67945"/>
                    <a:pt x="639191" y="12700"/>
                    <a:pt x="571119" y="12700"/>
                  </a:cubicBezTo>
                  <a:lnTo>
                    <a:pt x="136017" y="12700"/>
                  </a:lnTo>
                  <a:lnTo>
                    <a:pt x="136017" y="6350"/>
                  </a:lnTo>
                  <a:lnTo>
                    <a:pt x="136017" y="12700"/>
                  </a:lnTo>
                  <a:cubicBezTo>
                    <a:pt x="67945" y="12700"/>
                    <a:pt x="12700" y="67945"/>
                    <a:pt x="12700" y="136017"/>
                  </a:cubicBezTo>
                  <a:close/>
                </a:path>
              </a:pathLst>
            </a:custGeom>
            <a:solidFill>
              <a:srgbClr val="C5D2C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Freeform 20" descr="preencoded.png"/>
          <p:cNvSpPr/>
          <p:nvPr/>
        </p:nvSpPr>
        <p:spPr>
          <a:xfrm>
            <a:off x="896839" y="4373835"/>
            <a:ext cx="347067" cy="433834"/>
          </a:xfrm>
          <a:custGeom>
            <a:avLst/>
            <a:gdLst/>
            <a:ahLst/>
            <a:cxnLst/>
            <a:rect l="l" t="t" r="r" b="b"/>
            <a:pathLst>
              <a:path w="347067" h="433834">
                <a:moveTo>
                  <a:pt x="0" y="0"/>
                </a:moveTo>
                <a:lnTo>
                  <a:pt x="347067" y="0"/>
                </a:lnTo>
                <a:lnTo>
                  <a:pt x="347067" y="433834"/>
                </a:lnTo>
                <a:lnTo>
                  <a:pt x="0" y="4338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111" b="-111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1574268" y="4253430"/>
            <a:ext cx="3958208" cy="554238"/>
            <a:chOff x="0" y="0"/>
            <a:chExt cx="5277611" cy="73898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277610" cy="738985"/>
            </a:xfrm>
            <a:custGeom>
              <a:avLst/>
              <a:gdLst/>
              <a:ahLst/>
              <a:cxnLst/>
              <a:rect l="l" t="t" r="r" b="b"/>
              <a:pathLst>
                <a:path w="5277610" h="738985">
                  <a:moveTo>
                    <a:pt x="0" y="0"/>
                  </a:moveTo>
                  <a:lnTo>
                    <a:pt x="5277610" y="0"/>
                  </a:lnTo>
                  <a:lnTo>
                    <a:pt x="5277610" y="738985"/>
                  </a:lnTo>
                  <a:lnTo>
                    <a:pt x="0" y="7389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5277611" cy="7770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37"/>
                </a:lnSpc>
              </a:pPr>
              <a:r>
                <a:rPr lang="en-US" sz="2749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Faster Time-to-Market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74268" y="4807669"/>
            <a:ext cx="9202416" cy="585774"/>
            <a:chOff x="0" y="0"/>
            <a:chExt cx="12269888" cy="78103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269888" cy="781032"/>
            </a:xfrm>
            <a:custGeom>
              <a:avLst/>
              <a:gdLst/>
              <a:ahLst/>
              <a:cxnLst/>
              <a:rect l="l" t="t" r="r" b="b"/>
              <a:pathLst>
                <a:path w="12269888" h="781032">
                  <a:moveTo>
                    <a:pt x="0" y="0"/>
                  </a:moveTo>
                  <a:lnTo>
                    <a:pt x="12269888" y="0"/>
                  </a:lnTo>
                  <a:lnTo>
                    <a:pt x="12269888" y="781032"/>
                  </a:lnTo>
                  <a:lnTo>
                    <a:pt x="0" y="7810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85725"/>
              <a:ext cx="12269888" cy="8667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68"/>
                </a:lnSpc>
              </a:pPr>
              <a:r>
                <a:rPr lang="en-US" sz="2312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Enables rapid feature delivery to users.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05309" y="5688211"/>
            <a:ext cx="530275" cy="530275"/>
            <a:chOff x="0" y="0"/>
            <a:chExt cx="707033" cy="707033"/>
          </a:xfrm>
        </p:grpSpPr>
        <p:sp>
          <p:nvSpPr>
            <p:cNvPr id="28" name="Freeform 28"/>
            <p:cNvSpPr/>
            <p:nvPr/>
          </p:nvSpPr>
          <p:spPr>
            <a:xfrm>
              <a:off x="6350" y="6350"/>
              <a:ext cx="694309" cy="694436"/>
            </a:xfrm>
            <a:custGeom>
              <a:avLst/>
              <a:gdLst/>
              <a:ahLst/>
              <a:cxnLst/>
              <a:rect l="l" t="t" r="r" b="b"/>
              <a:pathLst>
                <a:path w="694309" h="694436">
                  <a:moveTo>
                    <a:pt x="0" y="129667"/>
                  </a:moveTo>
                  <a:cubicBezTo>
                    <a:pt x="0" y="58039"/>
                    <a:pt x="58039" y="0"/>
                    <a:pt x="129667" y="0"/>
                  </a:cubicBezTo>
                  <a:lnTo>
                    <a:pt x="564769" y="0"/>
                  </a:lnTo>
                  <a:cubicBezTo>
                    <a:pt x="636270" y="0"/>
                    <a:pt x="694309" y="58039"/>
                    <a:pt x="694309" y="129667"/>
                  </a:cubicBezTo>
                  <a:lnTo>
                    <a:pt x="694309" y="564769"/>
                  </a:lnTo>
                  <a:cubicBezTo>
                    <a:pt x="694309" y="636397"/>
                    <a:pt x="636270" y="694436"/>
                    <a:pt x="564642" y="694436"/>
                  </a:cubicBezTo>
                  <a:lnTo>
                    <a:pt x="129667" y="694436"/>
                  </a:lnTo>
                  <a:cubicBezTo>
                    <a:pt x="58039" y="694309"/>
                    <a:pt x="0" y="636270"/>
                    <a:pt x="0" y="564769"/>
                  </a:cubicBezTo>
                  <a:close/>
                </a:path>
              </a:pathLst>
            </a:custGeom>
            <a:solidFill>
              <a:srgbClr val="DFEC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0"/>
              <a:ext cx="707136" cy="707136"/>
            </a:xfrm>
            <a:custGeom>
              <a:avLst/>
              <a:gdLst/>
              <a:ahLst/>
              <a:cxnLst/>
              <a:rect l="l" t="t" r="r" b="b"/>
              <a:pathLst>
                <a:path w="707136" h="707136">
                  <a:moveTo>
                    <a:pt x="0" y="136017"/>
                  </a:moveTo>
                  <a:cubicBezTo>
                    <a:pt x="0" y="60833"/>
                    <a:pt x="60833" y="0"/>
                    <a:pt x="136017" y="0"/>
                  </a:cubicBezTo>
                  <a:lnTo>
                    <a:pt x="571119" y="0"/>
                  </a:lnTo>
                  <a:lnTo>
                    <a:pt x="571119" y="6350"/>
                  </a:lnTo>
                  <a:lnTo>
                    <a:pt x="571119" y="0"/>
                  </a:lnTo>
                  <a:cubicBezTo>
                    <a:pt x="646176" y="0"/>
                    <a:pt x="707136" y="60833"/>
                    <a:pt x="707136" y="136017"/>
                  </a:cubicBezTo>
                  <a:lnTo>
                    <a:pt x="700786" y="136017"/>
                  </a:lnTo>
                  <a:lnTo>
                    <a:pt x="707136" y="136017"/>
                  </a:lnTo>
                  <a:lnTo>
                    <a:pt x="707136" y="571119"/>
                  </a:lnTo>
                  <a:lnTo>
                    <a:pt x="700786" y="571119"/>
                  </a:lnTo>
                  <a:lnTo>
                    <a:pt x="707136" y="571119"/>
                  </a:lnTo>
                  <a:cubicBezTo>
                    <a:pt x="707136" y="646176"/>
                    <a:pt x="646303" y="707136"/>
                    <a:pt x="571119" y="707136"/>
                  </a:cubicBezTo>
                  <a:lnTo>
                    <a:pt x="571119" y="700786"/>
                  </a:lnTo>
                  <a:lnTo>
                    <a:pt x="571119" y="707136"/>
                  </a:lnTo>
                  <a:lnTo>
                    <a:pt x="136017" y="707136"/>
                  </a:lnTo>
                  <a:lnTo>
                    <a:pt x="136017" y="700786"/>
                  </a:lnTo>
                  <a:lnTo>
                    <a:pt x="136017" y="707136"/>
                  </a:lnTo>
                  <a:cubicBezTo>
                    <a:pt x="60833" y="707009"/>
                    <a:pt x="0" y="646176"/>
                    <a:pt x="0" y="571119"/>
                  </a:cubicBezTo>
                  <a:lnTo>
                    <a:pt x="0" y="136017"/>
                  </a:lnTo>
                  <a:lnTo>
                    <a:pt x="6350" y="136017"/>
                  </a:lnTo>
                  <a:lnTo>
                    <a:pt x="0" y="136017"/>
                  </a:lnTo>
                  <a:moveTo>
                    <a:pt x="12700" y="136017"/>
                  </a:moveTo>
                  <a:lnTo>
                    <a:pt x="12700" y="571119"/>
                  </a:lnTo>
                  <a:lnTo>
                    <a:pt x="6350" y="571119"/>
                  </a:lnTo>
                  <a:lnTo>
                    <a:pt x="12700" y="571119"/>
                  </a:lnTo>
                  <a:cubicBezTo>
                    <a:pt x="12700" y="639191"/>
                    <a:pt x="67945" y="694436"/>
                    <a:pt x="136017" y="694436"/>
                  </a:cubicBezTo>
                  <a:lnTo>
                    <a:pt x="571119" y="694436"/>
                  </a:lnTo>
                  <a:cubicBezTo>
                    <a:pt x="639191" y="694436"/>
                    <a:pt x="694436" y="639191"/>
                    <a:pt x="694436" y="571119"/>
                  </a:cubicBezTo>
                  <a:lnTo>
                    <a:pt x="694436" y="136017"/>
                  </a:lnTo>
                  <a:cubicBezTo>
                    <a:pt x="694309" y="67945"/>
                    <a:pt x="639191" y="12700"/>
                    <a:pt x="571119" y="12700"/>
                  </a:cubicBezTo>
                  <a:lnTo>
                    <a:pt x="136017" y="12700"/>
                  </a:lnTo>
                  <a:lnTo>
                    <a:pt x="136017" y="6350"/>
                  </a:lnTo>
                  <a:lnTo>
                    <a:pt x="136017" y="12700"/>
                  </a:lnTo>
                  <a:cubicBezTo>
                    <a:pt x="67945" y="12700"/>
                    <a:pt x="12700" y="67945"/>
                    <a:pt x="12700" y="136017"/>
                  </a:cubicBezTo>
                  <a:close/>
                </a:path>
              </a:pathLst>
            </a:custGeom>
            <a:solidFill>
              <a:srgbClr val="C5D2C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Freeform 30" descr="preencoded.png"/>
          <p:cNvSpPr/>
          <p:nvPr/>
        </p:nvSpPr>
        <p:spPr>
          <a:xfrm>
            <a:off x="896839" y="5736356"/>
            <a:ext cx="347067" cy="433834"/>
          </a:xfrm>
          <a:custGeom>
            <a:avLst/>
            <a:gdLst/>
            <a:ahLst/>
            <a:cxnLst/>
            <a:rect l="l" t="t" r="r" b="b"/>
            <a:pathLst>
              <a:path w="347067" h="433834">
                <a:moveTo>
                  <a:pt x="0" y="0"/>
                </a:moveTo>
                <a:lnTo>
                  <a:pt x="347067" y="0"/>
                </a:lnTo>
                <a:lnTo>
                  <a:pt x="347067" y="433834"/>
                </a:lnTo>
                <a:lnTo>
                  <a:pt x="0" y="4338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111" b="-111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1" name="Group 31"/>
          <p:cNvGrpSpPr/>
          <p:nvPr/>
        </p:nvGrpSpPr>
        <p:grpSpPr>
          <a:xfrm>
            <a:off x="1574268" y="5548501"/>
            <a:ext cx="2939299" cy="554238"/>
            <a:chOff x="0" y="0"/>
            <a:chExt cx="3919066" cy="73898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919066" cy="738985"/>
            </a:xfrm>
            <a:custGeom>
              <a:avLst/>
              <a:gdLst/>
              <a:ahLst/>
              <a:cxnLst/>
              <a:rect l="l" t="t" r="r" b="b"/>
              <a:pathLst>
                <a:path w="3919066" h="738985">
                  <a:moveTo>
                    <a:pt x="0" y="0"/>
                  </a:moveTo>
                  <a:lnTo>
                    <a:pt x="3919066" y="0"/>
                  </a:lnTo>
                  <a:lnTo>
                    <a:pt x="3919066" y="738985"/>
                  </a:lnTo>
                  <a:lnTo>
                    <a:pt x="0" y="7389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3919066" cy="7770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37"/>
                </a:lnSpc>
              </a:pPr>
              <a:r>
                <a:rPr lang="en-US" sz="2749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Automation-Driven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574268" y="6069119"/>
            <a:ext cx="9202416" cy="585774"/>
            <a:chOff x="0" y="0"/>
            <a:chExt cx="12269888" cy="78103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269888" cy="781032"/>
            </a:xfrm>
            <a:custGeom>
              <a:avLst/>
              <a:gdLst/>
              <a:ahLst/>
              <a:cxnLst/>
              <a:rect l="l" t="t" r="r" b="b"/>
              <a:pathLst>
                <a:path w="12269888" h="781032">
                  <a:moveTo>
                    <a:pt x="0" y="0"/>
                  </a:moveTo>
                  <a:lnTo>
                    <a:pt x="12269888" y="0"/>
                  </a:lnTo>
                  <a:lnTo>
                    <a:pt x="12269888" y="781032"/>
                  </a:lnTo>
                  <a:lnTo>
                    <a:pt x="0" y="7810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85725"/>
              <a:ext cx="12269888" cy="8667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68"/>
                </a:lnSpc>
              </a:pPr>
              <a:r>
                <a:rPr lang="en-US" sz="2312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Reduces human errors and delays in deployment.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05309" y="7050732"/>
            <a:ext cx="530275" cy="530275"/>
            <a:chOff x="0" y="0"/>
            <a:chExt cx="707033" cy="707033"/>
          </a:xfrm>
        </p:grpSpPr>
        <p:sp>
          <p:nvSpPr>
            <p:cNvPr id="38" name="Freeform 38"/>
            <p:cNvSpPr/>
            <p:nvPr/>
          </p:nvSpPr>
          <p:spPr>
            <a:xfrm>
              <a:off x="6350" y="6350"/>
              <a:ext cx="694309" cy="694436"/>
            </a:xfrm>
            <a:custGeom>
              <a:avLst/>
              <a:gdLst/>
              <a:ahLst/>
              <a:cxnLst/>
              <a:rect l="l" t="t" r="r" b="b"/>
              <a:pathLst>
                <a:path w="694309" h="694436">
                  <a:moveTo>
                    <a:pt x="0" y="129667"/>
                  </a:moveTo>
                  <a:cubicBezTo>
                    <a:pt x="0" y="58039"/>
                    <a:pt x="58039" y="0"/>
                    <a:pt x="129667" y="0"/>
                  </a:cubicBezTo>
                  <a:lnTo>
                    <a:pt x="564769" y="0"/>
                  </a:lnTo>
                  <a:cubicBezTo>
                    <a:pt x="636270" y="0"/>
                    <a:pt x="694309" y="58039"/>
                    <a:pt x="694309" y="129667"/>
                  </a:cubicBezTo>
                  <a:lnTo>
                    <a:pt x="694309" y="564769"/>
                  </a:lnTo>
                  <a:cubicBezTo>
                    <a:pt x="694309" y="636397"/>
                    <a:pt x="636270" y="694436"/>
                    <a:pt x="564642" y="694436"/>
                  </a:cubicBezTo>
                  <a:lnTo>
                    <a:pt x="129667" y="694436"/>
                  </a:lnTo>
                  <a:cubicBezTo>
                    <a:pt x="58039" y="694309"/>
                    <a:pt x="0" y="636270"/>
                    <a:pt x="0" y="564769"/>
                  </a:cubicBezTo>
                  <a:close/>
                </a:path>
              </a:pathLst>
            </a:custGeom>
            <a:solidFill>
              <a:srgbClr val="DFEC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0" y="0"/>
              <a:ext cx="707136" cy="707136"/>
            </a:xfrm>
            <a:custGeom>
              <a:avLst/>
              <a:gdLst/>
              <a:ahLst/>
              <a:cxnLst/>
              <a:rect l="l" t="t" r="r" b="b"/>
              <a:pathLst>
                <a:path w="707136" h="707136">
                  <a:moveTo>
                    <a:pt x="0" y="136017"/>
                  </a:moveTo>
                  <a:cubicBezTo>
                    <a:pt x="0" y="60833"/>
                    <a:pt x="60833" y="0"/>
                    <a:pt x="136017" y="0"/>
                  </a:cubicBezTo>
                  <a:lnTo>
                    <a:pt x="571119" y="0"/>
                  </a:lnTo>
                  <a:lnTo>
                    <a:pt x="571119" y="6350"/>
                  </a:lnTo>
                  <a:lnTo>
                    <a:pt x="571119" y="0"/>
                  </a:lnTo>
                  <a:cubicBezTo>
                    <a:pt x="646176" y="0"/>
                    <a:pt x="707136" y="60833"/>
                    <a:pt x="707136" y="136017"/>
                  </a:cubicBezTo>
                  <a:lnTo>
                    <a:pt x="700786" y="136017"/>
                  </a:lnTo>
                  <a:lnTo>
                    <a:pt x="707136" y="136017"/>
                  </a:lnTo>
                  <a:lnTo>
                    <a:pt x="707136" y="571119"/>
                  </a:lnTo>
                  <a:lnTo>
                    <a:pt x="700786" y="571119"/>
                  </a:lnTo>
                  <a:lnTo>
                    <a:pt x="707136" y="571119"/>
                  </a:lnTo>
                  <a:cubicBezTo>
                    <a:pt x="707136" y="646176"/>
                    <a:pt x="646303" y="707136"/>
                    <a:pt x="571119" y="707136"/>
                  </a:cubicBezTo>
                  <a:lnTo>
                    <a:pt x="571119" y="700786"/>
                  </a:lnTo>
                  <a:lnTo>
                    <a:pt x="571119" y="707136"/>
                  </a:lnTo>
                  <a:lnTo>
                    <a:pt x="136017" y="707136"/>
                  </a:lnTo>
                  <a:lnTo>
                    <a:pt x="136017" y="700786"/>
                  </a:lnTo>
                  <a:lnTo>
                    <a:pt x="136017" y="707136"/>
                  </a:lnTo>
                  <a:cubicBezTo>
                    <a:pt x="60833" y="707009"/>
                    <a:pt x="0" y="646176"/>
                    <a:pt x="0" y="571119"/>
                  </a:cubicBezTo>
                  <a:lnTo>
                    <a:pt x="0" y="136017"/>
                  </a:lnTo>
                  <a:lnTo>
                    <a:pt x="6350" y="136017"/>
                  </a:lnTo>
                  <a:lnTo>
                    <a:pt x="0" y="136017"/>
                  </a:lnTo>
                  <a:moveTo>
                    <a:pt x="12700" y="136017"/>
                  </a:moveTo>
                  <a:lnTo>
                    <a:pt x="12700" y="571119"/>
                  </a:lnTo>
                  <a:lnTo>
                    <a:pt x="6350" y="571119"/>
                  </a:lnTo>
                  <a:lnTo>
                    <a:pt x="12700" y="571119"/>
                  </a:lnTo>
                  <a:cubicBezTo>
                    <a:pt x="12700" y="639191"/>
                    <a:pt x="67945" y="694436"/>
                    <a:pt x="136017" y="694436"/>
                  </a:cubicBezTo>
                  <a:lnTo>
                    <a:pt x="571119" y="694436"/>
                  </a:lnTo>
                  <a:cubicBezTo>
                    <a:pt x="639191" y="694436"/>
                    <a:pt x="694436" y="639191"/>
                    <a:pt x="694436" y="571119"/>
                  </a:cubicBezTo>
                  <a:lnTo>
                    <a:pt x="694436" y="136017"/>
                  </a:lnTo>
                  <a:cubicBezTo>
                    <a:pt x="694309" y="67945"/>
                    <a:pt x="639191" y="12700"/>
                    <a:pt x="571119" y="12700"/>
                  </a:cubicBezTo>
                  <a:lnTo>
                    <a:pt x="136017" y="12700"/>
                  </a:lnTo>
                  <a:lnTo>
                    <a:pt x="136017" y="6350"/>
                  </a:lnTo>
                  <a:lnTo>
                    <a:pt x="136017" y="12700"/>
                  </a:lnTo>
                  <a:cubicBezTo>
                    <a:pt x="67945" y="12700"/>
                    <a:pt x="12700" y="67945"/>
                    <a:pt x="12700" y="136017"/>
                  </a:cubicBezTo>
                  <a:close/>
                </a:path>
              </a:pathLst>
            </a:custGeom>
            <a:solidFill>
              <a:srgbClr val="C5D2C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" name="Freeform 40" descr="preencoded.png"/>
          <p:cNvSpPr/>
          <p:nvPr/>
        </p:nvSpPr>
        <p:spPr>
          <a:xfrm>
            <a:off x="896839" y="7098879"/>
            <a:ext cx="347067" cy="433834"/>
          </a:xfrm>
          <a:custGeom>
            <a:avLst/>
            <a:gdLst/>
            <a:ahLst/>
            <a:cxnLst/>
            <a:rect l="l" t="t" r="r" b="b"/>
            <a:pathLst>
              <a:path w="347067" h="433834">
                <a:moveTo>
                  <a:pt x="0" y="0"/>
                </a:moveTo>
                <a:lnTo>
                  <a:pt x="347067" y="0"/>
                </a:lnTo>
                <a:lnTo>
                  <a:pt x="347067" y="433833"/>
                </a:lnTo>
                <a:lnTo>
                  <a:pt x="0" y="4338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1111" b="-111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1" name="Group 41"/>
          <p:cNvGrpSpPr/>
          <p:nvPr/>
        </p:nvGrpSpPr>
        <p:grpSpPr>
          <a:xfrm>
            <a:off x="1574268" y="6965765"/>
            <a:ext cx="2939299" cy="554238"/>
            <a:chOff x="0" y="0"/>
            <a:chExt cx="3919066" cy="738985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919066" cy="738985"/>
            </a:xfrm>
            <a:custGeom>
              <a:avLst/>
              <a:gdLst/>
              <a:ahLst/>
              <a:cxnLst/>
              <a:rect l="l" t="t" r="r" b="b"/>
              <a:pathLst>
                <a:path w="3919066" h="738985">
                  <a:moveTo>
                    <a:pt x="0" y="0"/>
                  </a:moveTo>
                  <a:lnTo>
                    <a:pt x="3919066" y="0"/>
                  </a:lnTo>
                  <a:lnTo>
                    <a:pt x="3919066" y="738985"/>
                  </a:lnTo>
                  <a:lnTo>
                    <a:pt x="0" y="7389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3919066" cy="7770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37"/>
                </a:lnSpc>
              </a:pPr>
              <a:r>
                <a:rPr lang="en-US" sz="2749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Improved Stability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574268" y="7486383"/>
            <a:ext cx="9202416" cy="585774"/>
            <a:chOff x="0" y="0"/>
            <a:chExt cx="12269888" cy="78103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269888" cy="781032"/>
            </a:xfrm>
            <a:custGeom>
              <a:avLst/>
              <a:gdLst/>
              <a:ahLst/>
              <a:cxnLst/>
              <a:rect l="l" t="t" r="r" b="b"/>
              <a:pathLst>
                <a:path w="12269888" h="781032">
                  <a:moveTo>
                    <a:pt x="0" y="0"/>
                  </a:moveTo>
                  <a:lnTo>
                    <a:pt x="12269888" y="0"/>
                  </a:lnTo>
                  <a:lnTo>
                    <a:pt x="12269888" y="781032"/>
                  </a:lnTo>
                  <a:lnTo>
                    <a:pt x="0" y="7810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85725"/>
              <a:ext cx="12269888" cy="8667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68"/>
                </a:lnSpc>
              </a:pPr>
              <a:r>
                <a:rPr lang="en-US" sz="2312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Code is thoroughly tested before reaching users.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05309" y="8413254"/>
            <a:ext cx="530275" cy="530275"/>
            <a:chOff x="0" y="0"/>
            <a:chExt cx="707033" cy="707033"/>
          </a:xfrm>
        </p:grpSpPr>
        <p:sp>
          <p:nvSpPr>
            <p:cNvPr id="48" name="Freeform 48"/>
            <p:cNvSpPr/>
            <p:nvPr/>
          </p:nvSpPr>
          <p:spPr>
            <a:xfrm>
              <a:off x="6350" y="6350"/>
              <a:ext cx="694309" cy="694436"/>
            </a:xfrm>
            <a:custGeom>
              <a:avLst/>
              <a:gdLst/>
              <a:ahLst/>
              <a:cxnLst/>
              <a:rect l="l" t="t" r="r" b="b"/>
              <a:pathLst>
                <a:path w="694309" h="694436">
                  <a:moveTo>
                    <a:pt x="0" y="129667"/>
                  </a:moveTo>
                  <a:cubicBezTo>
                    <a:pt x="0" y="58039"/>
                    <a:pt x="58039" y="0"/>
                    <a:pt x="129667" y="0"/>
                  </a:cubicBezTo>
                  <a:lnTo>
                    <a:pt x="564769" y="0"/>
                  </a:lnTo>
                  <a:cubicBezTo>
                    <a:pt x="636270" y="0"/>
                    <a:pt x="694309" y="58039"/>
                    <a:pt x="694309" y="129667"/>
                  </a:cubicBezTo>
                  <a:lnTo>
                    <a:pt x="694309" y="564769"/>
                  </a:lnTo>
                  <a:cubicBezTo>
                    <a:pt x="694309" y="636397"/>
                    <a:pt x="636270" y="694436"/>
                    <a:pt x="564642" y="694436"/>
                  </a:cubicBezTo>
                  <a:lnTo>
                    <a:pt x="129667" y="694436"/>
                  </a:lnTo>
                  <a:cubicBezTo>
                    <a:pt x="58039" y="694309"/>
                    <a:pt x="0" y="636270"/>
                    <a:pt x="0" y="564769"/>
                  </a:cubicBezTo>
                  <a:close/>
                </a:path>
              </a:pathLst>
            </a:custGeom>
            <a:solidFill>
              <a:srgbClr val="DFEC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9"/>
            <p:cNvSpPr/>
            <p:nvPr/>
          </p:nvSpPr>
          <p:spPr>
            <a:xfrm>
              <a:off x="0" y="0"/>
              <a:ext cx="707136" cy="707136"/>
            </a:xfrm>
            <a:custGeom>
              <a:avLst/>
              <a:gdLst/>
              <a:ahLst/>
              <a:cxnLst/>
              <a:rect l="l" t="t" r="r" b="b"/>
              <a:pathLst>
                <a:path w="707136" h="707136">
                  <a:moveTo>
                    <a:pt x="0" y="136017"/>
                  </a:moveTo>
                  <a:cubicBezTo>
                    <a:pt x="0" y="60833"/>
                    <a:pt x="60833" y="0"/>
                    <a:pt x="136017" y="0"/>
                  </a:cubicBezTo>
                  <a:lnTo>
                    <a:pt x="571119" y="0"/>
                  </a:lnTo>
                  <a:lnTo>
                    <a:pt x="571119" y="6350"/>
                  </a:lnTo>
                  <a:lnTo>
                    <a:pt x="571119" y="0"/>
                  </a:lnTo>
                  <a:cubicBezTo>
                    <a:pt x="646176" y="0"/>
                    <a:pt x="707136" y="60833"/>
                    <a:pt x="707136" y="136017"/>
                  </a:cubicBezTo>
                  <a:lnTo>
                    <a:pt x="700786" y="136017"/>
                  </a:lnTo>
                  <a:lnTo>
                    <a:pt x="707136" y="136017"/>
                  </a:lnTo>
                  <a:lnTo>
                    <a:pt x="707136" y="571119"/>
                  </a:lnTo>
                  <a:lnTo>
                    <a:pt x="700786" y="571119"/>
                  </a:lnTo>
                  <a:lnTo>
                    <a:pt x="707136" y="571119"/>
                  </a:lnTo>
                  <a:cubicBezTo>
                    <a:pt x="707136" y="646176"/>
                    <a:pt x="646303" y="707136"/>
                    <a:pt x="571119" y="707136"/>
                  </a:cubicBezTo>
                  <a:lnTo>
                    <a:pt x="571119" y="700786"/>
                  </a:lnTo>
                  <a:lnTo>
                    <a:pt x="571119" y="707136"/>
                  </a:lnTo>
                  <a:lnTo>
                    <a:pt x="136017" y="707136"/>
                  </a:lnTo>
                  <a:lnTo>
                    <a:pt x="136017" y="700786"/>
                  </a:lnTo>
                  <a:lnTo>
                    <a:pt x="136017" y="707136"/>
                  </a:lnTo>
                  <a:cubicBezTo>
                    <a:pt x="60833" y="707009"/>
                    <a:pt x="0" y="646176"/>
                    <a:pt x="0" y="571119"/>
                  </a:cubicBezTo>
                  <a:lnTo>
                    <a:pt x="0" y="136017"/>
                  </a:lnTo>
                  <a:lnTo>
                    <a:pt x="6350" y="136017"/>
                  </a:lnTo>
                  <a:lnTo>
                    <a:pt x="0" y="136017"/>
                  </a:lnTo>
                  <a:moveTo>
                    <a:pt x="12700" y="136017"/>
                  </a:moveTo>
                  <a:lnTo>
                    <a:pt x="12700" y="571119"/>
                  </a:lnTo>
                  <a:lnTo>
                    <a:pt x="6350" y="571119"/>
                  </a:lnTo>
                  <a:lnTo>
                    <a:pt x="12700" y="571119"/>
                  </a:lnTo>
                  <a:cubicBezTo>
                    <a:pt x="12700" y="639191"/>
                    <a:pt x="67945" y="694436"/>
                    <a:pt x="136017" y="694436"/>
                  </a:cubicBezTo>
                  <a:lnTo>
                    <a:pt x="571119" y="694436"/>
                  </a:lnTo>
                  <a:cubicBezTo>
                    <a:pt x="639191" y="694436"/>
                    <a:pt x="694436" y="639191"/>
                    <a:pt x="694436" y="571119"/>
                  </a:cubicBezTo>
                  <a:lnTo>
                    <a:pt x="694436" y="136017"/>
                  </a:lnTo>
                  <a:cubicBezTo>
                    <a:pt x="694309" y="67945"/>
                    <a:pt x="639191" y="12700"/>
                    <a:pt x="571119" y="12700"/>
                  </a:cubicBezTo>
                  <a:lnTo>
                    <a:pt x="136017" y="12700"/>
                  </a:lnTo>
                  <a:lnTo>
                    <a:pt x="136017" y="6350"/>
                  </a:lnTo>
                  <a:lnTo>
                    <a:pt x="136017" y="12700"/>
                  </a:lnTo>
                  <a:cubicBezTo>
                    <a:pt x="67945" y="12700"/>
                    <a:pt x="12700" y="67945"/>
                    <a:pt x="12700" y="136017"/>
                  </a:cubicBezTo>
                  <a:close/>
                </a:path>
              </a:pathLst>
            </a:custGeom>
            <a:solidFill>
              <a:srgbClr val="C5D2C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0" name="Freeform 50" descr="preencoded.png"/>
          <p:cNvSpPr/>
          <p:nvPr/>
        </p:nvSpPr>
        <p:spPr>
          <a:xfrm>
            <a:off x="896839" y="8461400"/>
            <a:ext cx="347067" cy="433834"/>
          </a:xfrm>
          <a:custGeom>
            <a:avLst/>
            <a:gdLst/>
            <a:ahLst/>
            <a:cxnLst/>
            <a:rect l="l" t="t" r="r" b="b"/>
            <a:pathLst>
              <a:path w="347067" h="433834">
                <a:moveTo>
                  <a:pt x="0" y="0"/>
                </a:moveTo>
                <a:lnTo>
                  <a:pt x="347067" y="0"/>
                </a:lnTo>
                <a:lnTo>
                  <a:pt x="347067" y="433834"/>
                </a:lnTo>
                <a:lnTo>
                  <a:pt x="0" y="4338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1111" b="-111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1" name="Group 51"/>
          <p:cNvGrpSpPr/>
          <p:nvPr/>
        </p:nvGrpSpPr>
        <p:grpSpPr>
          <a:xfrm>
            <a:off x="1574268" y="8229470"/>
            <a:ext cx="2939299" cy="554238"/>
            <a:chOff x="0" y="0"/>
            <a:chExt cx="3919066" cy="738985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919066" cy="738985"/>
            </a:xfrm>
            <a:custGeom>
              <a:avLst/>
              <a:gdLst/>
              <a:ahLst/>
              <a:cxnLst/>
              <a:rect l="l" t="t" r="r" b="b"/>
              <a:pathLst>
                <a:path w="3919066" h="738985">
                  <a:moveTo>
                    <a:pt x="0" y="0"/>
                  </a:moveTo>
                  <a:lnTo>
                    <a:pt x="3919066" y="0"/>
                  </a:lnTo>
                  <a:lnTo>
                    <a:pt x="3919066" y="738985"/>
                  </a:lnTo>
                  <a:lnTo>
                    <a:pt x="0" y="7389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3919066" cy="7770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37"/>
                </a:lnSpc>
              </a:pPr>
              <a:r>
                <a:rPr lang="en-US" sz="2749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Faster Feedback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574268" y="8672526"/>
            <a:ext cx="9202416" cy="585774"/>
            <a:chOff x="0" y="0"/>
            <a:chExt cx="12269888" cy="78103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2269888" cy="781032"/>
            </a:xfrm>
            <a:custGeom>
              <a:avLst/>
              <a:gdLst/>
              <a:ahLst/>
              <a:cxnLst/>
              <a:rect l="l" t="t" r="r" b="b"/>
              <a:pathLst>
                <a:path w="12269888" h="781032">
                  <a:moveTo>
                    <a:pt x="0" y="0"/>
                  </a:moveTo>
                  <a:lnTo>
                    <a:pt x="12269888" y="0"/>
                  </a:lnTo>
                  <a:lnTo>
                    <a:pt x="12269888" y="781032"/>
                  </a:lnTo>
                  <a:lnTo>
                    <a:pt x="0" y="7810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85725"/>
              <a:ext cx="12269888" cy="8667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68"/>
                </a:lnSpc>
              </a:pPr>
              <a:r>
                <a:rPr lang="en-US" sz="2312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Bugs are identified and resolved quickly.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preencoded.png"/>
          <p:cNvSpPr/>
          <p:nvPr/>
        </p:nvSpPr>
        <p:spPr>
          <a:xfrm>
            <a:off x="0" y="0"/>
            <a:ext cx="18288000" cy="3544044"/>
          </a:xfrm>
          <a:custGeom>
            <a:avLst/>
            <a:gdLst/>
            <a:ahLst/>
            <a:cxnLst/>
            <a:rect l="l" t="t" r="r" b="b"/>
            <a:pathLst>
              <a:path w="18288000" h="3544044">
                <a:moveTo>
                  <a:pt x="0" y="0"/>
                </a:moveTo>
                <a:lnTo>
                  <a:pt x="18288000" y="0"/>
                </a:lnTo>
                <a:lnTo>
                  <a:pt x="18288000" y="3544044"/>
                </a:lnTo>
                <a:lnTo>
                  <a:pt x="0" y="35440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" r="-1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992237" y="3972391"/>
            <a:ext cx="10518607" cy="2008667"/>
            <a:chOff x="0" y="0"/>
            <a:chExt cx="14024810" cy="267822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024809" cy="2678223"/>
            </a:xfrm>
            <a:custGeom>
              <a:avLst/>
              <a:gdLst/>
              <a:ahLst/>
              <a:cxnLst/>
              <a:rect l="l" t="t" r="r" b="b"/>
              <a:pathLst>
                <a:path w="14024809" h="2678223">
                  <a:moveTo>
                    <a:pt x="0" y="0"/>
                  </a:moveTo>
                  <a:lnTo>
                    <a:pt x="14024809" y="0"/>
                  </a:lnTo>
                  <a:lnTo>
                    <a:pt x="14024809" y="2678223"/>
                  </a:lnTo>
                  <a:lnTo>
                    <a:pt x="0" y="26782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4024810" cy="27353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272D45"/>
                  </a:solidFill>
                  <a:latin typeface="Arimo"/>
                  <a:ea typeface="Arimo"/>
                  <a:cs typeface="Arimo"/>
                  <a:sym typeface="Arimo"/>
                </a:rPr>
                <a:t>Real-World CD Success Stories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92238" y="5821338"/>
            <a:ext cx="5150941" cy="1490116"/>
            <a:chOff x="0" y="0"/>
            <a:chExt cx="6867922" cy="198682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867922" cy="1986821"/>
            </a:xfrm>
            <a:custGeom>
              <a:avLst/>
              <a:gdLst/>
              <a:ahLst/>
              <a:cxnLst/>
              <a:rect l="l" t="t" r="r" b="b"/>
              <a:pathLst>
                <a:path w="6867922" h="1986821">
                  <a:moveTo>
                    <a:pt x="0" y="0"/>
                  </a:moveTo>
                  <a:lnTo>
                    <a:pt x="6867922" y="0"/>
                  </a:lnTo>
                  <a:lnTo>
                    <a:pt x="6867922" y="1986821"/>
                  </a:lnTo>
                  <a:lnTo>
                    <a:pt x="0" y="19868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04775"/>
              <a:ext cx="6867922" cy="18820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312"/>
                </a:lnSpc>
              </a:pPr>
              <a:r>
                <a:rPr lang="en-US" sz="7312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1000s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95611" y="7462701"/>
            <a:ext cx="3544044" cy="639185"/>
            <a:chOff x="0" y="0"/>
            <a:chExt cx="4725392" cy="85224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725392" cy="852246"/>
            </a:xfrm>
            <a:custGeom>
              <a:avLst/>
              <a:gdLst/>
              <a:ahLst/>
              <a:cxnLst/>
              <a:rect l="l" t="t" r="r" b="b"/>
              <a:pathLst>
                <a:path w="4725392" h="852246">
                  <a:moveTo>
                    <a:pt x="0" y="0"/>
                  </a:moveTo>
                  <a:lnTo>
                    <a:pt x="4725392" y="0"/>
                  </a:lnTo>
                  <a:lnTo>
                    <a:pt x="4725392" y="852246"/>
                  </a:lnTo>
                  <a:lnTo>
                    <a:pt x="0" y="8522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725392" cy="8903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37"/>
                </a:lnSpc>
              </a:pPr>
              <a:r>
                <a:rPr lang="en-US" sz="3149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Netflix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92238" y="8242851"/>
            <a:ext cx="5150941" cy="1153621"/>
            <a:chOff x="0" y="0"/>
            <a:chExt cx="6867922" cy="153816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867922" cy="1538161"/>
            </a:xfrm>
            <a:custGeom>
              <a:avLst/>
              <a:gdLst/>
              <a:ahLst/>
              <a:cxnLst/>
              <a:rect l="l" t="t" r="r" b="b"/>
              <a:pathLst>
                <a:path w="6867922" h="1538161">
                  <a:moveTo>
                    <a:pt x="0" y="0"/>
                  </a:moveTo>
                  <a:lnTo>
                    <a:pt x="6867922" y="0"/>
                  </a:lnTo>
                  <a:lnTo>
                    <a:pt x="6867922" y="1538161"/>
                  </a:lnTo>
                  <a:lnTo>
                    <a:pt x="0" y="15381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04775"/>
              <a:ext cx="6867922" cy="16429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51"/>
                </a:lnSpc>
              </a:pPr>
              <a:r>
                <a:rPr lang="en-US" sz="2487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Daily deployments using Spinnaker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568380" y="5821338"/>
            <a:ext cx="5151090" cy="1490116"/>
            <a:chOff x="0" y="0"/>
            <a:chExt cx="6868120" cy="198682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868120" cy="1986821"/>
            </a:xfrm>
            <a:custGeom>
              <a:avLst/>
              <a:gdLst/>
              <a:ahLst/>
              <a:cxnLst/>
              <a:rect l="l" t="t" r="r" b="b"/>
              <a:pathLst>
                <a:path w="6868120" h="1986821">
                  <a:moveTo>
                    <a:pt x="0" y="0"/>
                  </a:moveTo>
                  <a:lnTo>
                    <a:pt x="6868120" y="0"/>
                  </a:lnTo>
                  <a:lnTo>
                    <a:pt x="6868120" y="1986821"/>
                  </a:lnTo>
                  <a:lnTo>
                    <a:pt x="0" y="19868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104775"/>
              <a:ext cx="6868120" cy="18820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312"/>
                </a:lnSpc>
              </a:pPr>
              <a:r>
                <a:rPr lang="en-US" sz="7312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11.7s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371904" y="7462701"/>
            <a:ext cx="3544044" cy="639185"/>
            <a:chOff x="0" y="0"/>
            <a:chExt cx="4725392" cy="85224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725392" cy="852246"/>
            </a:xfrm>
            <a:custGeom>
              <a:avLst/>
              <a:gdLst/>
              <a:ahLst/>
              <a:cxnLst/>
              <a:rect l="l" t="t" r="r" b="b"/>
              <a:pathLst>
                <a:path w="4725392" h="852246">
                  <a:moveTo>
                    <a:pt x="0" y="0"/>
                  </a:moveTo>
                  <a:lnTo>
                    <a:pt x="4725392" y="0"/>
                  </a:lnTo>
                  <a:lnTo>
                    <a:pt x="4725392" y="852246"/>
                  </a:lnTo>
                  <a:lnTo>
                    <a:pt x="0" y="8522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4725392" cy="8903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37"/>
                </a:lnSpc>
              </a:pPr>
              <a:r>
                <a:rPr lang="en-US" sz="3149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Amazon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568380" y="8242851"/>
            <a:ext cx="5151090" cy="1153621"/>
            <a:chOff x="0" y="0"/>
            <a:chExt cx="6868120" cy="153816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868120" cy="1538161"/>
            </a:xfrm>
            <a:custGeom>
              <a:avLst/>
              <a:gdLst/>
              <a:ahLst/>
              <a:cxnLst/>
              <a:rect l="l" t="t" r="r" b="b"/>
              <a:pathLst>
                <a:path w="6868120" h="1538161">
                  <a:moveTo>
                    <a:pt x="0" y="0"/>
                  </a:moveTo>
                  <a:lnTo>
                    <a:pt x="6868120" y="0"/>
                  </a:lnTo>
                  <a:lnTo>
                    <a:pt x="6868120" y="1538161"/>
                  </a:lnTo>
                  <a:lnTo>
                    <a:pt x="0" y="15381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04775"/>
              <a:ext cx="6868120" cy="16429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51"/>
                </a:lnSpc>
              </a:pPr>
              <a:r>
                <a:rPr lang="en-US" sz="2487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Average time between deployments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144672" y="5821338"/>
            <a:ext cx="5150941" cy="1490116"/>
            <a:chOff x="0" y="0"/>
            <a:chExt cx="6867922" cy="198682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867922" cy="1986821"/>
            </a:xfrm>
            <a:custGeom>
              <a:avLst/>
              <a:gdLst/>
              <a:ahLst/>
              <a:cxnLst/>
              <a:rect l="l" t="t" r="r" b="b"/>
              <a:pathLst>
                <a:path w="6867922" h="1986821">
                  <a:moveTo>
                    <a:pt x="0" y="0"/>
                  </a:moveTo>
                  <a:lnTo>
                    <a:pt x="6867922" y="0"/>
                  </a:lnTo>
                  <a:lnTo>
                    <a:pt x="6867922" y="1986821"/>
                  </a:lnTo>
                  <a:lnTo>
                    <a:pt x="0" y="19868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104775"/>
              <a:ext cx="6867922" cy="18820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312"/>
                </a:lnSpc>
              </a:pPr>
              <a:r>
                <a:rPr lang="en-US" sz="7312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24/7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948047" y="7462701"/>
            <a:ext cx="3544044" cy="639185"/>
            <a:chOff x="0" y="0"/>
            <a:chExt cx="4725392" cy="85224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725392" cy="852246"/>
            </a:xfrm>
            <a:custGeom>
              <a:avLst/>
              <a:gdLst/>
              <a:ahLst/>
              <a:cxnLst/>
              <a:rect l="l" t="t" r="r" b="b"/>
              <a:pathLst>
                <a:path w="4725392" h="852246">
                  <a:moveTo>
                    <a:pt x="0" y="0"/>
                  </a:moveTo>
                  <a:lnTo>
                    <a:pt x="4725392" y="0"/>
                  </a:lnTo>
                  <a:lnTo>
                    <a:pt x="4725392" y="852246"/>
                  </a:lnTo>
                  <a:lnTo>
                    <a:pt x="0" y="8522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4725392" cy="8903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37"/>
                </a:lnSpc>
              </a:pPr>
              <a:r>
                <a:rPr lang="en-US" sz="3149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Facebook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144672" y="8242851"/>
            <a:ext cx="5150941" cy="639271"/>
            <a:chOff x="0" y="0"/>
            <a:chExt cx="6867922" cy="85236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867922" cy="852361"/>
            </a:xfrm>
            <a:custGeom>
              <a:avLst/>
              <a:gdLst/>
              <a:ahLst/>
              <a:cxnLst/>
              <a:rect l="l" t="t" r="r" b="b"/>
              <a:pathLst>
                <a:path w="6867922" h="852361">
                  <a:moveTo>
                    <a:pt x="0" y="0"/>
                  </a:moveTo>
                  <a:lnTo>
                    <a:pt x="6867922" y="0"/>
                  </a:lnTo>
                  <a:lnTo>
                    <a:pt x="6867922" y="852361"/>
                  </a:lnTo>
                  <a:lnTo>
                    <a:pt x="0" y="8523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104775"/>
              <a:ext cx="6867922" cy="9571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51"/>
                </a:lnSpc>
              </a:pPr>
              <a:r>
                <a:rPr lang="en-US" sz="2487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Continuous incremental changes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992238" y="1300162"/>
            <a:ext cx="7088237" cy="885974"/>
            <a:chOff x="0" y="0"/>
            <a:chExt cx="9450983" cy="11812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450984" cy="1181298"/>
            </a:xfrm>
            <a:custGeom>
              <a:avLst/>
              <a:gdLst/>
              <a:ahLst/>
              <a:cxnLst/>
              <a:rect l="l" t="t" r="r" b="b"/>
              <a:pathLst>
                <a:path w="9450984" h="1181298">
                  <a:moveTo>
                    <a:pt x="0" y="0"/>
                  </a:moveTo>
                  <a:lnTo>
                    <a:pt x="9450984" y="0"/>
                  </a:lnTo>
                  <a:lnTo>
                    <a:pt x="9450984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9450983" cy="12384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272D45"/>
                  </a:solidFill>
                  <a:latin typeface="Arimo"/>
                  <a:ea typeface="Arimo"/>
                  <a:cs typeface="Arimo"/>
                  <a:sym typeface="Arimo"/>
                </a:rPr>
                <a:t>CI vs. CDel vs. CDep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11176" y="2611339"/>
            <a:ext cx="38100" cy="6375350"/>
            <a:chOff x="0" y="0"/>
            <a:chExt cx="50800" cy="85004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0800" cy="8500491"/>
            </a:xfrm>
            <a:custGeom>
              <a:avLst/>
              <a:gdLst/>
              <a:ahLst/>
              <a:cxnLst/>
              <a:rect l="l" t="t" r="r" b="b"/>
              <a:pathLst>
                <a:path w="50800" h="8500491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8475091"/>
                  </a:lnTo>
                  <a:cubicBezTo>
                    <a:pt x="50800" y="8489061"/>
                    <a:pt x="39370" y="8500491"/>
                    <a:pt x="25400" y="8500491"/>
                  </a:cubicBezTo>
                  <a:cubicBezTo>
                    <a:pt x="11430" y="8500491"/>
                    <a:pt x="0" y="8489061"/>
                    <a:pt x="0" y="8475091"/>
                  </a:cubicBezTo>
                  <a:close/>
                </a:path>
              </a:pathLst>
            </a:custGeom>
            <a:solidFill>
              <a:srgbClr val="C5D2C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92015" y="3230166"/>
            <a:ext cx="850553" cy="38100"/>
            <a:chOff x="0" y="0"/>
            <a:chExt cx="1134070" cy="50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34110" cy="50800"/>
            </a:xfrm>
            <a:custGeom>
              <a:avLst/>
              <a:gdLst/>
              <a:ahLst/>
              <a:cxnLst/>
              <a:rect l="l" t="t" r="r" b="b"/>
              <a:pathLst>
                <a:path w="1134110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C5D2C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87475" y="2925515"/>
            <a:ext cx="647402" cy="647402"/>
            <a:chOff x="0" y="0"/>
            <a:chExt cx="863203" cy="863203"/>
          </a:xfrm>
        </p:grpSpPr>
        <p:sp>
          <p:nvSpPr>
            <p:cNvPr id="16" name="Freeform 16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DFEC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5D2C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 descr="preencoded.png"/>
          <p:cNvSpPr/>
          <p:nvPr/>
        </p:nvSpPr>
        <p:spPr>
          <a:xfrm>
            <a:off x="1098575" y="2983409"/>
            <a:ext cx="425202" cy="531614"/>
          </a:xfrm>
          <a:custGeom>
            <a:avLst/>
            <a:gdLst/>
            <a:ahLst/>
            <a:cxnLst/>
            <a:rect l="l" t="t" r="r" b="b"/>
            <a:pathLst>
              <a:path w="425202" h="531614">
                <a:moveTo>
                  <a:pt x="0" y="0"/>
                </a:moveTo>
                <a:lnTo>
                  <a:pt x="425203" y="0"/>
                </a:lnTo>
                <a:lnTo>
                  <a:pt x="425203" y="531614"/>
                </a:lnTo>
                <a:lnTo>
                  <a:pt x="0" y="531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33" r="-23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2728764" y="2839193"/>
            <a:ext cx="5471580" cy="601474"/>
            <a:chOff x="0" y="0"/>
            <a:chExt cx="7295440" cy="80196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295440" cy="801966"/>
            </a:xfrm>
            <a:custGeom>
              <a:avLst/>
              <a:gdLst/>
              <a:ahLst/>
              <a:cxnLst/>
              <a:rect l="l" t="t" r="r" b="b"/>
              <a:pathLst>
                <a:path w="7295440" h="801966">
                  <a:moveTo>
                    <a:pt x="0" y="0"/>
                  </a:moveTo>
                  <a:lnTo>
                    <a:pt x="7295440" y="0"/>
                  </a:lnTo>
                  <a:lnTo>
                    <a:pt x="7295440" y="801966"/>
                  </a:lnTo>
                  <a:lnTo>
                    <a:pt x="0" y="8019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7295440" cy="8305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87"/>
                </a:lnSpc>
              </a:pPr>
              <a:r>
                <a:rPr lang="en-US" sz="2949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Continuous Integration (CI)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728764" y="3507879"/>
            <a:ext cx="7708999" cy="605674"/>
            <a:chOff x="0" y="0"/>
            <a:chExt cx="10278665" cy="80756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278665" cy="807565"/>
            </a:xfrm>
            <a:custGeom>
              <a:avLst/>
              <a:gdLst/>
              <a:ahLst/>
              <a:cxnLst/>
              <a:rect l="l" t="t" r="r" b="b"/>
              <a:pathLst>
                <a:path w="10278665" h="807565">
                  <a:moveTo>
                    <a:pt x="0" y="0"/>
                  </a:moveTo>
                  <a:lnTo>
                    <a:pt x="10278665" y="0"/>
                  </a:lnTo>
                  <a:lnTo>
                    <a:pt x="10278665" y="807565"/>
                  </a:lnTo>
                  <a:lnTo>
                    <a:pt x="0" y="8075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85725"/>
              <a:ext cx="10278665" cy="8932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88"/>
                </a:lnSpc>
              </a:pPr>
              <a:r>
                <a:rPr lang="en-US" sz="2387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Automates testing and code merging only.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592015" y="5147370"/>
            <a:ext cx="850553" cy="38100"/>
            <a:chOff x="0" y="0"/>
            <a:chExt cx="1134070" cy="50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34110" cy="50800"/>
            </a:xfrm>
            <a:custGeom>
              <a:avLst/>
              <a:gdLst/>
              <a:ahLst/>
              <a:cxnLst/>
              <a:rect l="l" t="t" r="r" b="b"/>
              <a:pathLst>
                <a:path w="1134110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C5D2C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87475" y="4842719"/>
            <a:ext cx="647402" cy="647403"/>
            <a:chOff x="0" y="0"/>
            <a:chExt cx="863203" cy="863203"/>
          </a:xfrm>
        </p:grpSpPr>
        <p:sp>
          <p:nvSpPr>
            <p:cNvPr id="28" name="Freeform 28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DFEC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5D2C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Freeform 30" descr="preencoded.png"/>
          <p:cNvSpPr/>
          <p:nvPr/>
        </p:nvSpPr>
        <p:spPr>
          <a:xfrm>
            <a:off x="1098575" y="4900612"/>
            <a:ext cx="425202" cy="531614"/>
          </a:xfrm>
          <a:custGeom>
            <a:avLst/>
            <a:gdLst/>
            <a:ahLst/>
            <a:cxnLst/>
            <a:rect l="l" t="t" r="r" b="b"/>
            <a:pathLst>
              <a:path w="425202" h="531614">
                <a:moveTo>
                  <a:pt x="0" y="0"/>
                </a:moveTo>
                <a:lnTo>
                  <a:pt x="425203" y="0"/>
                </a:lnTo>
                <a:lnTo>
                  <a:pt x="425203" y="531614"/>
                </a:lnTo>
                <a:lnTo>
                  <a:pt x="0" y="531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33" r="-23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1" name="Group 31"/>
          <p:cNvGrpSpPr/>
          <p:nvPr/>
        </p:nvGrpSpPr>
        <p:grpSpPr>
          <a:xfrm>
            <a:off x="2728764" y="4756397"/>
            <a:ext cx="5471580" cy="601474"/>
            <a:chOff x="0" y="0"/>
            <a:chExt cx="7295440" cy="80196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295440" cy="801966"/>
            </a:xfrm>
            <a:custGeom>
              <a:avLst/>
              <a:gdLst/>
              <a:ahLst/>
              <a:cxnLst/>
              <a:rect l="l" t="t" r="r" b="b"/>
              <a:pathLst>
                <a:path w="7295440" h="801966">
                  <a:moveTo>
                    <a:pt x="0" y="0"/>
                  </a:moveTo>
                  <a:lnTo>
                    <a:pt x="7295440" y="0"/>
                  </a:lnTo>
                  <a:lnTo>
                    <a:pt x="7295440" y="801966"/>
                  </a:lnTo>
                  <a:lnTo>
                    <a:pt x="0" y="8019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7295440" cy="8305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87"/>
                </a:lnSpc>
              </a:pPr>
              <a:r>
                <a:rPr lang="en-US" sz="2949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Continuous Delivery (CDel)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2728764" y="5425082"/>
            <a:ext cx="7708999" cy="1091449"/>
            <a:chOff x="0" y="0"/>
            <a:chExt cx="10278665" cy="145526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278665" cy="1455265"/>
            </a:xfrm>
            <a:custGeom>
              <a:avLst/>
              <a:gdLst/>
              <a:ahLst/>
              <a:cxnLst/>
              <a:rect l="l" t="t" r="r" b="b"/>
              <a:pathLst>
                <a:path w="10278665" h="1455265">
                  <a:moveTo>
                    <a:pt x="0" y="0"/>
                  </a:moveTo>
                  <a:lnTo>
                    <a:pt x="10278665" y="0"/>
                  </a:lnTo>
                  <a:lnTo>
                    <a:pt x="10278665" y="1455265"/>
                  </a:lnTo>
                  <a:lnTo>
                    <a:pt x="0" y="14552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85725"/>
              <a:ext cx="10278665" cy="1540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88"/>
                </a:lnSpc>
              </a:pPr>
              <a:r>
                <a:rPr lang="en-US" sz="2387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Automates testing and packaging. Requires manual deployment approval.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592015" y="7518201"/>
            <a:ext cx="850553" cy="38100"/>
            <a:chOff x="0" y="0"/>
            <a:chExt cx="1134070" cy="50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134110" cy="50800"/>
            </a:xfrm>
            <a:custGeom>
              <a:avLst/>
              <a:gdLst/>
              <a:ahLst/>
              <a:cxnLst/>
              <a:rect l="l" t="t" r="r" b="b"/>
              <a:pathLst>
                <a:path w="1134110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C5D2C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87475" y="7213550"/>
            <a:ext cx="647402" cy="647402"/>
            <a:chOff x="0" y="0"/>
            <a:chExt cx="863203" cy="863203"/>
          </a:xfrm>
        </p:grpSpPr>
        <p:sp>
          <p:nvSpPr>
            <p:cNvPr id="40" name="Freeform 40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DFEC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5D2C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2" name="Freeform 42" descr="preencoded.png"/>
          <p:cNvSpPr/>
          <p:nvPr/>
        </p:nvSpPr>
        <p:spPr>
          <a:xfrm>
            <a:off x="1098575" y="7271445"/>
            <a:ext cx="425202" cy="531614"/>
          </a:xfrm>
          <a:custGeom>
            <a:avLst/>
            <a:gdLst/>
            <a:ahLst/>
            <a:cxnLst/>
            <a:rect l="l" t="t" r="r" b="b"/>
            <a:pathLst>
              <a:path w="425202" h="531614">
                <a:moveTo>
                  <a:pt x="0" y="0"/>
                </a:moveTo>
                <a:lnTo>
                  <a:pt x="425203" y="0"/>
                </a:lnTo>
                <a:lnTo>
                  <a:pt x="425203" y="531614"/>
                </a:lnTo>
                <a:lnTo>
                  <a:pt x="0" y="5316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33" r="-23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3" name="Group 43"/>
          <p:cNvGrpSpPr/>
          <p:nvPr/>
        </p:nvGrpSpPr>
        <p:grpSpPr>
          <a:xfrm>
            <a:off x="2728764" y="7127228"/>
            <a:ext cx="5912181" cy="601474"/>
            <a:chOff x="0" y="0"/>
            <a:chExt cx="7882908" cy="80196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882908" cy="801966"/>
            </a:xfrm>
            <a:custGeom>
              <a:avLst/>
              <a:gdLst/>
              <a:ahLst/>
              <a:cxnLst/>
              <a:rect l="l" t="t" r="r" b="b"/>
              <a:pathLst>
                <a:path w="7882908" h="801966">
                  <a:moveTo>
                    <a:pt x="0" y="0"/>
                  </a:moveTo>
                  <a:lnTo>
                    <a:pt x="7882908" y="0"/>
                  </a:lnTo>
                  <a:lnTo>
                    <a:pt x="7882908" y="801966"/>
                  </a:lnTo>
                  <a:lnTo>
                    <a:pt x="0" y="8019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28575"/>
              <a:ext cx="7882908" cy="8305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87"/>
                </a:lnSpc>
              </a:pPr>
              <a:r>
                <a:rPr lang="en-US" sz="2949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Continuous Deployment (CDep)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2728764" y="7795915"/>
            <a:ext cx="7708999" cy="1091449"/>
            <a:chOff x="0" y="0"/>
            <a:chExt cx="10278665" cy="1455265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278665" cy="1455265"/>
            </a:xfrm>
            <a:custGeom>
              <a:avLst/>
              <a:gdLst/>
              <a:ahLst/>
              <a:cxnLst/>
              <a:rect l="l" t="t" r="r" b="b"/>
              <a:pathLst>
                <a:path w="10278665" h="1455265">
                  <a:moveTo>
                    <a:pt x="0" y="0"/>
                  </a:moveTo>
                  <a:lnTo>
                    <a:pt x="10278665" y="0"/>
                  </a:lnTo>
                  <a:lnTo>
                    <a:pt x="10278665" y="1455265"/>
                  </a:lnTo>
                  <a:lnTo>
                    <a:pt x="0" y="14552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85725"/>
              <a:ext cx="10278665" cy="1540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88"/>
                </a:lnSpc>
              </a:pPr>
              <a:r>
                <a:rPr lang="en-US" sz="2387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Fully automated process including production deployment.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87475" y="1724329"/>
            <a:ext cx="12433411" cy="1249934"/>
            <a:chOff x="0" y="0"/>
            <a:chExt cx="16577881" cy="16665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577881" cy="1666578"/>
            </a:xfrm>
            <a:custGeom>
              <a:avLst/>
              <a:gdLst/>
              <a:ahLst/>
              <a:cxnLst/>
              <a:rect l="l" t="t" r="r" b="b"/>
              <a:pathLst>
                <a:path w="16577881" h="1666578">
                  <a:moveTo>
                    <a:pt x="0" y="0"/>
                  </a:moveTo>
                  <a:lnTo>
                    <a:pt x="16577881" y="0"/>
                  </a:lnTo>
                  <a:lnTo>
                    <a:pt x="16577881" y="1666578"/>
                  </a:lnTo>
                  <a:lnTo>
                    <a:pt x="0" y="16665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6577881" cy="17237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272D45"/>
                  </a:solidFill>
                  <a:latin typeface="Arimo"/>
                  <a:ea typeface="Arimo"/>
                  <a:cs typeface="Arimo"/>
                  <a:sym typeface="Arimo"/>
                </a:rPr>
                <a:t>Comparing Delivery vs. Deployment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87475" y="3487042"/>
            <a:ext cx="16313051" cy="4624090"/>
            <a:chOff x="0" y="0"/>
            <a:chExt cx="21750735" cy="616545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50655" cy="6165342"/>
            </a:xfrm>
            <a:custGeom>
              <a:avLst/>
              <a:gdLst/>
              <a:ahLst/>
              <a:cxnLst/>
              <a:rect l="l" t="t" r="r" b="b"/>
              <a:pathLst>
                <a:path w="21750655" h="6165342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21585301" y="0"/>
                  </a:lnTo>
                  <a:lnTo>
                    <a:pt x="21585301" y="6350"/>
                  </a:lnTo>
                  <a:lnTo>
                    <a:pt x="21585301" y="0"/>
                  </a:lnTo>
                  <a:cubicBezTo>
                    <a:pt x="21676615" y="0"/>
                    <a:pt x="21750655" y="73914"/>
                    <a:pt x="21750655" y="165100"/>
                  </a:cubicBezTo>
                  <a:lnTo>
                    <a:pt x="21744305" y="165100"/>
                  </a:lnTo>
                  <a:lnTo>
                    <a:pt x="21750655" y="165100"/>
                  </a:lnTo>
                  <a:lnTo>
                    <a:pt x="21750655" y="6000242"/>
                  </a:lnTo>
                  <a:lnTo>
                    <a:pt x="21744305" y="6000242"/>
                  </a:lnTo>
                  <a:lnTo>
                    <a:pt x="21750655" y="6000242"/>
                  </a:lnTo>
                  <a:cubicBezTo>
                    <a:pt x="21750655" y="6091428"/>
                    <a:pt x="21676615" y="6165342"/>
                    <a:pt x="21585301" y="6165342"/>
                  </a:cubicBezTo>
                  <a:lnTo>
                    <a:pt x="21585301" y="6158992"/>
                  </a:lnTo>
                  <a:lnTo>
                    <a:pt x="21585301" y="6165342"/>
                  </a:lnTo>
                  <a:lnTo>
                    <a:pt x="165354" y="6165342"/>
                  </a:lnTo>
                  <a:lnTo>
                    <a:pt x="165354" y="6158992"/>
                  </a:lnTo>
                  <a:lnTo>
                    <a:pt x="165354" y="6165342"/>
                  </a:lnTo>
                  <a:cubicBezTo>
                    <a:pt x="74041" y="6165342"/>
                    <a:pt x="0" y="6091428"/>
                    <a:pt x="0" y="6000242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000242"/>
                  </a:lnTo>
                  <a:lnTo>
                    <a:pt x="6350" y="6000242"/>
                  </a:lnTo>
                  <a:lnTo>
                    <a:pt x="12700" y="6000242"/>
                  </a:lnTo>
                  <a:cubicBezTo>
                    <a:pt x="12700" y="6084443"/>
                    <a:pt x="81026" y="6152642"/>
                    <a:pt x="165354" y="6152642"/>
                  </a:cubicBezTo>
                  <a:lnTo>
                    <a:pt x="21585301" y="6152642"/>
                  </a:lnTo>
                  <a:cubicBezTo>
                    <a:pt x="21669629" y="6152642"/>
                    <a:pt x="21737955" y="6084316"/>
                    <a:pt x="21737955" y="6000242"/>
                  </a:cubicBezTo>
                  <a:lnTo>
                    <a:pt x="21737955" y="165100"/>
                  </a:lnTo>
                  <a:cubicBezTo>
                    <a:pt x="21737955" y="80899"/>
                    <a:pt x="21669629" y="12700"/>
                    <a:pt x="21585301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01762" y="3501330"/>
            <a:ext cx="16284476" cy="890885"/>
            <a:chOff x="0" y="0"/>
            <a:chExt cx="21712635" cy="118784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712682" cy="1187831"/>
            </a:xfrm>
            <a:custGeom>
              <a:avLst/>
              <a:gdLst/>
              <a:ahLst/>
              <a:cxnLst/>
              <a:rect l="l" t="t" r="r" b="b"/>
              <a:pathLst>
                <a:path w="21712682" h="1187831">
                  <a:moveTo>
                    <a:pt x="0" y="0"/>
                  </a:moveTo>
                  <a:lnTo>
                    <a:pt x="21712682" y="0"/>
                  </a:lnTo>
                  <a:lnTo>
                    <a:pt x="21712682" y="1187831"/>
                  </a:lnTo>
                  <a:lnTo>
                    <a:pt x="0" y="118783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85429" y="3680966"/>
            <a:ext cx="4163616" cy="531614"/>
            <a:chOff x="0" y="0"/>
            <a:chExt cx="5551488" cy="70881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551488" cy="708818"/>
            </a:xfrm>
            <a:custGeom>
              <a:avLst/>
              <a:gdLst/>
              <a:ahLst/>
              <a:cxnLst/>
              <a:rect l="l" t="t" r="r" b="b"/>
              <a:pathLst>
                <a:path w="5551488" h="708818">
                  <a:moveTo>
                    <a:pt x="0" y="0"/>
                  </a:moveTo>
                  <a:lnTo>
                    <a:pt x="5551488" y="0"/>
                  </a:lnTo>
                  <a:lnTo>
                    <a:pt x="5551488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5551488" cy="7469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2">
                  <a:solidFill>
                    <a:srgbClr val="272D45"/>
                  </a:solidFill>
                  <a:latin typeface="Arimo"/>
                  <a:ea typeface="Arimo"/>
                  <a:cs typeface="Arimo"/>
                  <a:sym typeface="Arimo"/>
                </a:rPr>
                <a:t>Feature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025604" y="3680966"/>
            <a:ext cx="4252912" cy="531614"/>
            <a:chOff x="0" y="0"/>
            <a:chExt cx="5670550" cy="70881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5670550" cy="7469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2">
                  <a:solidFill>
                    <a:srgbClr val="272D45"/>
                  </a:solidFill>
                  <a:latin typeface="Arimo"/>
                  <a:ea typeface="Arimo"/>
                  <a:cs typeface="Arimo"/>
                  <a:sym typeface="Arimo"/>
                </a:rPr>
                <a:t>Continuous Delivery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531352" y="3680966"/>
            <a:ext cx="4562475" cy="531614"/>
            <a:chOff x="0" y="0"/>
            <a:chExt cx="6083300" cy="70881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083300" cy="708818"/>
            </a:xfrm>
            <a:custGeom>
              <a:avLst/>
              <a:gdLst/>
              <a:ahLst/>
              <a:cxnLst/>
              <a:rect l="l" t="t" r="r" b="b"/>
              <a:pathLst>
                <a:path w="6083300" h="708818">
                  <a:moveTo>
                    <a:pt x="0" y="0"/>
                  </a:moveTo>
                  <a:lnTo>
                    <a:pt x="6083300" y="0"/>
                  </a:lnTo>
                  <a:lnTo>
                    <a:pt x="608330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6083300" cy="7469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2">
                  <a:solidFill>
                    <a:srgbClr val="272D45"/>
                  </a:solidFill>
                  <a:latin typeface="Arimo"/>
                  <a:ea typeface="Arimo"/>
                  <a:cs typeface="Arimo"/>
                  <a:sym typeface="Arimo"/>
                </a:rPr>
                <a:t>Continuous Deployment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01762" y="4392216"/>
            <a:ext cx="16284476" cy="926157"/>
            <a:chOff x="0" y="0"/>
            <a:chExt cx="21712635" cy="123487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712682" cy="1234821"/>
            </a:xfrm>
            <a:custGeom>
              <a:avLst/>
              <a:gdLst/>
              <a:ahLst/>
              <a:cxnLst/>
              <a:rect l="l" t="t" r="r" b="b"/>
              <a:pathLst>
                <a:path w="21712682" h="1234821">
                  <a:moveTo>
                    <a:pt x="0" y="0"/>
                  </a:moveTo>
                  <a:lnTo>
                    <a:pt x="21712682" y="0"/>
                  </a:lnTo>
                  <a:lnTo>
                    <a:pt x="21712682" y="1234821"/>
                  </a:lnTo>
                  <a:lnTo>
                    <a:pt x="0" y="12348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85429" y="4571851"/>
            <a:ext cx="4163616" cy="566886"/>
            <a:chOff x="0" y="0"/>
            <a:chExt cx="5551488" cy="75584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551488" cy="755848"/>
            </a:xfrm>
            <a:custGeom>
              <a:avLst/>
              <a:gdLst/>
              <a:ahLst/>
              <a:cxnLst/>
              <a:rect l="l" t="t" r="r" b="b"/>
              <a:pathLst>
                <a:path w="5551488" h="755848">
                  <a:moveTo>
                    <a:pt x="0" y="0"/>
                  </a:moveTo>
                  <a:lnTo>
                    <a:pt x="5551488" y="0"/>
                  </a:lnTo>
                  <a:lnTo>
                    <a:pt x="5551488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14300"/>
              <a:ext cx="5551488" cy="8701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Production Deployment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25604" y="4571851"/>
            <a:ext cx="4929188" cy="566886"/>
            <a:chOff x="0" y="0"/>
            <a:chExt cx="6572250" cy="75584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572250" cy="755848"/>
            </a:xfrm>
            <a:custGeom>
              <a:avLst/>
              <a:gdLst/>
              <a:ahLst/>
              <a:cxnLst/>
              <a:rect l="l" t="t" r="r" b="b"/>
              <a:pathLst>
                <a:path w="6572250" h="755848">
                  <a:moveTo>
                    <a:pt x="0" y="0"/>
                  </a:moveTo>
                  <a:lnTo>
                    <a:pt x="6572250" y="0"/>
                  </a:lnTo>
                  <a:lnTo>
                    <a:pt x="6572250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14300"/>
              <a:ext cx="6572250" cy="8701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Manual Trigger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531352" y="4571851"/>
            <a:ext cx="5471369" cy="566886"/>
            <a:chOff x="0" y="0"/>
            <a:chExt cx="7295158" cy="75584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295159" cy="755848"/>
            </a:xfrm>
            <a:custGeom>
              <a:avLst/>
              <a:gdLst/>
              <a:ahLst/>
              <a:cxnLst/>
              <a:rect l="l" t="t" r="r" b="b"/>
              <a:pathLst>
                <a:path w="7295159" h="755848">
                  <a:moveTo>
                    <a:pt x="0" y="0"/>
                  </a:moveTo>
                  <a:lnTo>
                    <a:pt x="7295159" y="0"/>
                  </a:lnTo>
                  <a:lnTo>
                    <a:pt x="7295159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14300"/>
              <a:ext cx="7295158" cy="8701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Fully Automated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01762" y="5318372"/>
            <a:ext cx="16284476" cy="926157"/>
            <a:chOff x="0" y="0"/>
            <a:chExt cx="21712635" cy="123487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712682" cy="1234821"/>
            </a:xfrm>
            <a:custGeom>
              <a:avLst/>
              <a:gdLst/>
              <a:ahLst/>
              <a:cxnLst/>
              <a:rect l="l" t="t" r="r" b="b"/>
              <a:pathLst>
                <a:path w="21712682" h="1234821">
                  <a:moveTo>
                    <a:pt x="0" y="0"/>
                  </a:moveTo>
                  <a:lnTo>
                    <a:pt x="21712682" y="0"/>
                  </a:lnTo>
                  <a:lnTo>
                    <a:pt x="21712682" y="1234821"/>
                  </a:lnTo>
                  <a:lnTo>
                    <a:pt x="0" y="123482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85429" y="5498009"/>
            <a:ext cx="4163616" cy="566886"/>
            <a:chOff x="0" y="0"/>
            <a:chExt cx="5551488" cy="75584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551488" cy="755848"/>
            </a:xfrm>
            <a:custGeom>
              <a:avLst/>
              <a:gdLst/>
              <a:ahLst/>
              <a:cxnLst/>
              <a:rect l="l" t="t" r="r" b="b"/>
              <a:pathLst>
                <a:path w="5551488" h="755848">
                  <a:moveTo>
                    <a:pt x="0" y="0"/>
                  </a:moveTo>
                  <a:lnTo>
                    <a:pt x="5551488" y="0"/>
                  </a:lnTo>
                  <a:lnTo>
                    <a:pt x="5551488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114300"/>
              <a:ext cx="5551488" cy="8701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Risk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25604" y="5498009"/>
            <a:ext cx="4929188" cy="566886"/>
            <a:chOff x="0" y="0"/>
            <a:chExt cx="6572250" cy="75584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572250" cy="755848"/>
            </a:xfrm>
            <a:custGeom>
              <a:avLst/>
              <a:gdLst/>
              <a:ahLst/>
              <a:cxnLst/>
              <a:rect l="l" t="t" r="r" b="b"/>
              <a:pathLst>
                <a:path w="6572250" h="755848">
                  <a:moveTo>
                    <a:pt x="0" y="0"/>
                  </a:moveTo>
                  <a:lnTo>
                    <a:pt x="6572250" y="0"/>
                  </a:lnTo>
                  <a:lnTo>
                    <a:pt x="6572250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114300"/>
              <a:ext cx="6572250" cy="8701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Moderate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531352" y="5498009"/>
            <a:ext cx="5471369" cy="566886"/>
            <a:chOff x="0" y="0"/>
            <a:chExt cx="7295158" cy="75584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295159" cy="755848"/>
            </a:xfrm>
            <a:custGeom>
              <a:avLst/>
              <a:gdLst/>
              <a:ahLst/>
              <a:cxnLst/>
              <a:rect l="l" t="t" r="r" b="b"/>
              <a:pathLst>
                <a:path w="7295159" h="755848">
                  <a:moveTo>
                    <a:pt x="0" y="0"/>
                  </a:moveTo>
                  <a:lnTo>
                    <a:pt x="7295159" y="0"/>
                  </a:lnTo>
                  <a:lnTo>
                    <a:pt x="7295159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14300"/>
              <a:ext cx="7295158" cy="8701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Low (with robust automation)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01762" y="6244530"/>
            <a:ext cx="16284476" cy="926157"/>
            <a:chOff x="0" y="0"/>
            <a:chExt cx="21712635" cy="1234877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1712682" cy="1234821"/>
            </a:xfrm>
            <a:custGeom>
              <a:avLst/>
              <a:gdLst/>
              <a:ahLst/>
              <a:cxnLst/>
              <a:rect l="l" t="t" r="r" b="b"/>
              <a:pathLst>
                <a:path w="21712682" h="1234821">
                  <a:moveTo>
                    <a:pt x="0" y="0"/>
                  </a:moveTo>
                  <a:lnTo>
                    <a:pt x="21712682" y="0"/>
                  </a:lnTo>
                  <a:lnTo>
                    <a:pt x="21712682" y="1234821"/>
                  </a:lnTo>
                  <a:lnTo>
                    <a:pt x="0" y="12348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285429" y="6424166"/>
            <a:ext cx="4163616" cy="566886"/>
            <a:chOff x="0" y="0"/>
            <a:chExt cx="5551488" cy="75584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551488" cy="755848"/>
            </a:xfrm>
            <a:custGeom>
              <a:avLst/>
              <a:gdLst/>
              <a:ahLst/>
              <a:cxnLst/>
              <a:rect l="l" t="t" r="r" b="b"/>
              <a:pathLst>
                <a:path w="5551488" h="755848">
                  <a:moveTo>
                    <a:pt x="0" y="0"/>
                  </a:moveTo>
                  <a:lnTo>
                    <a:pt x="5551488" y="0"/>
                  </a:lnTo>
                  <a:lnTo>
                    <a:pt x="5551488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114300"/>
              <a:ext cx="5551488" cy="8701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Feedback Speed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25604" y="6424166"/>
            <a:ext cx="4929188" cy="566886"/>
            <a:chOff x="0" y="0"/>
            <a:chExt cx="6572250" cy="75584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572250" cy="755848"/>
            </a:xfrm>
            <a:custGeom>
              <a:avLst/>
              <a:gdLst/>
              <a:ahLst/>
              <a:cxnLst/>
              <a:rect l="l" t="t" r="r" b="b"/>
              <a:pathLst>
                <a:path w="6572250" h="755848">
                  <a:moveTo>
                    <a:pt x="0" y="0"/>
                  </a:moveTo>
                  <a:lnTo>
                    <a:pt x="6572250" y="0"/>
                  </a:lnTo>
                  <a:lnTo>
                    <a:pt x="6572250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114300"/>
              <a:ext cx="6572250" cy="8701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Slower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1531352" y="6424166"/>
            <a:ext cx="5471369" cy="566886"/>
            <a:chOff x="0" y="0"/>
            <a:chExt cx="7295158" cy="755848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7295159" cy="755848"/>
            </a:xfrm>
            <a:custGeom>
              <a:avLst/>
              <a:gdLst/>
              <a:ahLst/>
              <a:cxnLst/>
              <a:rect l="l" t="t" r="r" b="b"/>
              <a:pathLst>
                <a:path w="7295159" h="755848">
                  <a:moveTo>
                    <a:pt x="0" y="0"/>
                  </a:moveTo>
                  <a:lnTo>
                    <a:pt x="7295159" y="0"/>
                  </a:lnTo>
                  <a:lnTo>
                    <a:pt x="7295159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114300"/>
              <a:ext cx="7295158" cy="8701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Instant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001762" y="7170687"/>
            <a:ext cx="16284476" cy="926157"/>
            <a:chOff x="0" y="0"/>
            <a:chExt cx="21712635" cy="1234877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1712682" cy="1234821"/>
            </a:xfrm>
            <a:custGeom>
              <a:avLst/>
              <a:gdLst/>
              <a:ahLst/>
              <a:cxnLst/>
              <a:rect l="l" t="t" r="r" b="b"/>
              <a:pathLst>
                <a:path w="21712682" h="1234821">
                  <a:moveTo>
                    <a:pt x="0" y="0"/>
                  </a:moveTo>
                  <a:lnTo>
                    <a:pt x="21712682" y="0"/>
                  </a:lnTo>
                  <a:lnTo>
                    <a:pt x="21712682" y="1234821"/>
                  </a:lnTo>
                  <a:lnTo>
                    <a:pt x="0" y="123482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285429" y="7350324"/>
            <a:ext cx="4163616" cy="566886"/>
            <a:chOff x="0" y="0"/>
            <a:chExt cx="5551488" cy="755848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5551488" cy="755848"/>
            </a:xfrm>
            <a:custGeom>
              <a:avLst/>
              <a:gdLst/>
              <a:ahLst/>
              <a:cxnLst/>
              <a:rect l="l" t="t" r="r" b="b"/>
              <a:pathLst>
                <a:path w="5551488" h="755848">
                  <a:moveTo>
                    <a:pt x="0" y="0"/>
                  </a:moveTo>
                  <a:lnTo>
                    <a:pt x="5551488" y="0"/>
                  </a:lnTo>
                  <a:lnTo>
                    <a:pt x="5551488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114300"/>
              <a:ext cx="5551488" cy="8701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Best For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025604" y="7350324"/>
            <a:ext cx="4929188" cy="566886"/>
            <a:chOff x="0" y="0"/>
            <a:chExt cx="6572250" cy="755848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572250" cy="755848"/>
            </a:xfrm>
            <a:custGeom>
              <a:avLst/>
              <a:gdLst/>
              <a:ahLst/>
              <a:cxnLst/>
              <a:rect l="l" t="t" r="r" b="b"/>
              <a:pathLst>
                <a:path w="6572250" h="755848">
                  <a:moveTo>
                    <a:pt x="0" y="0"/>
                  </a:moveTo>
                  <a:lnTo>
                    <a:pt x="6572250" y="0"/>
                  </a:lnTo>
                  <a:lnTo>
                    <a:pt x="6572250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114300"/>
              <a:ext cx="6572250" cy="8701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Regulated Industries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1531352" y="7350324"/>
            <a:ext cx="5471369" cy="566886"/>
            <a:chOff x="0" y="0"/>
            <a:chExt cx="7295158" cy="755848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7295159" cy="755848"/>
            </a:xfrm>
            <a:custGeom>
              <a:avLst/>
              <a:gdLst/>
              <a:ahLst/>
              <a:cxnLst/>
              <a:rect l="l" t="t" r="r" b="b"/>
              <a:pathLst>
                <a:path w="7295159" h="755848">
                  <a:moveTo>
                    <a:pt x="0" y="0"/>
                  </a:moveTo>
                  <a:lnTo>
                    <a:pt x="7295159" y="0"/>
                  </a:lnTo>
                  <a:lnTo>
                    <a:pt x="7295159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114300"/>
              <a:ext cx="7295158" cy="8701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SaaS, startups, agile teams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1106984"/>
            <a:ext cx="7088237" cy="885974"/>
            <a:chOff x="0" y="0"/>
            <a:chExt cx="9450983" cy="11812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450984" cy="1181298"/>
            </a:xfrm>
            <a:custGeom>
              <a:avLst/>
              <a:gdLst/>
              <a:ahLst/>
              <a:cxnLst/>
              <a:rect l="l" t="t" r="r" b="b"/>
              <a:pathLst>
                <a:path w="9450984" h="1181298">
                  <a:moveTo>
                    <a:pt x="0" y="0"/>
                  </a:moveTo>
                  <a:lnTo>
                    <a:pt x="9450984" y="0"/>
                  </a:lnTo>
                  <a:lnTo>
                    <a:pt x="9450984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9450983" cy="12384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272D45"/>
                  </a:solidFill>
                  <a:latin typeface="Arimo"/>
                  <a:ea typeface="Arimo"/>
                  <a:cs typeface="Arimo"/>
                  <a:sym typeface="Arimo"/>
                </a:rPr>
                <a:t>Hands-on Activity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87475" y="2226888"/>
            <a:ext cx="16303526" cy="729556"/>
            <a:chOff x="0" y="0"/>
            <a:chExt cx="21738035" cy="9727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38034" cy="972741"/>
            </a:xfrm>
            <a:custGeom>
              <a:avLst/>
              <a:gdLst/>
              <a:ahLst/>
              <a:cxnLst/>
              <a:rect l="l" t="t" r="r" b="b"/>
              <a:pathLst>
                <a:path w="21738034" h="972741">
                  <a:moveTo>
                    <a:pt x="0" y="0"/>
                  </a:moveTo>
                  <a:lnTo>
                    <a:pt x="21738034" y="0"/>
                  </a:lnTo>
                  <a:lnTo>
                    <a:pt x="21738034" y="972741"/>
                  </a:lnTo>
                  <a:lnTo>
                    <a:pt x="0" y="9727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21738035" cy="10775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98"/>
                </a:lnSpc>
              </a:pPr>
              <a:r>
                <a:rPr lang="en-US" sz="2850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Let's analyze the code differences between continuous delivery and continuos deployment.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11176" y="3445817"/>
            <a:ext cx="38100" cy="5734199"/>
            <a:chOff x="0" y="0"/>
            <a:chExt cx="50800" cy="764559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800" cy="7645654"/>
            </a:xfrm>
            <a:custGeom>
              <a:avLst/>
              <a:gdLst/>
              <a:ahLst/>
              <a:cxnLst/>
              <a:rect l="l" t="t" r="r" b="b"/>
              <a:pathLst>
                <a:path w="50800" h="7645654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7620254"/>
                  </a:lnTo>
                  <a:cubicBezTo>
                    <a:pt x="50800" y="7634224"/>
                    <a:pt x="39370" y="7645654"/>
                    <a:pt x="25400" y="7645654"/>
                  </a:cubicBezTo>
                  <a:cubicBezTo>
                    <a:pt x="11430" y="7645654"/>
                    <a:pt x="0" y="7634224"/>
                    <a:pt x="0" y="7620254"/>
                  </a:cubicBezTo>
                  <a:close/>
                </a:path>
              </a:pathLst>
            </a:custGeom>
            <a:solidFill>
              <a:srgbClr val="C5D2C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92015" y="4064645"/>
            <a:ext cx="850553" cy="38100"/>
            <a:chOff x="0" y="0"/>
            <a:chExt cx="1134070" cy="50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34110" cy="50800"/>
            </a:xfrm>
            <a:custGeom>
              <a:avLst/>
              <a:gdLst/>
              <a:ahLst/>
              <a:cxnLst/>
              <a:rect l="l" t="t" r="r" b="b"/>
              <a:pathLst>
                <a:path w="1134110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C5D2C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87475" y="3759994"/>
            <a:ext cx="647402" cy="647402"/>
            <a:chOff x="0" y="0"/>
            <a:chExt cx="863203" cy="863203"/>
          </a:xfrm>
        </p:grpSpPr>
        <p:sp>
          <p:nvSpPr>
            <p:cNvPr id="17" name="Freeform 17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DFEC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5D2C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98575" y="3817888"/>
            <a:ext cx="425202" cy="531614"/>
            <a:chOff x="0" y="0"/>
            <a:chExt cx="566937" cy="70881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66937" cy="708818"/>
            </a:xfrm>
            <a:custGeom>
              <a:avLst/>
              <a:gdLst/>
              <a:ahLst/>
              <a:cxnLst/>
              <a:rect l="l" t="t" r="r" b="b"/>
              <a:pathLst>
                <a:path w="566937" h="708818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38100"/>
              <a:ext cx="566937" cy="67071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728764" y="3729335"/>
            <a:ext cx="4252912" cy="531614"/>
            <a:chOff x="0" y="0"/>
            <a:chExt cx="5670550" cy="70881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5670550" cy="7469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2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Clone this Repository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728764" y="4431060"/>
            <a:ext cx="14566999" cy="453629"/>
            <a:chOff x="0" y="0"/>
            <a:chExt cx="19422665" cy="60483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9422666" cy="604838"/>
            </a:xfrm>
            <a:custGeom>
              <a:avLst/>
              <a:gdLst/>
              <a:ahLst/>
              <a:cxnLst/>
              <a:rect l="l" t="t" r="r" b="b"/>
              <a:pathLst>
                <a:path w="19422666" h="604838">
                  <a:moveTo>
                    <a:pt x="0" y="0"/>
                  </a:moveTo>
                  <a:lnTo>
                    <a:pt x="19422666" y="0"/>
                  </a:lnTo>
                  <a:lnTo>
                    <a:pt x="19422666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85725"/>
              <a:ext cx="19422665" cy="6905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 u="sng">
                  <a:solidFill>
                    <a:srgbClr val="437066"/>
                  </a:solidFill>
                  <a:latin typeface="Martel Sans"/>
                  <a:ea typeface="Martel Sans"/>
                  <a:cs typeface="Martel Sans"/>
                  <a:sym typeface="Martel Sans"/>
                  <a:hlinkClick r:id="rId3" tooltip="https://github.com/Anees-DevOps/CI-CDel-CDep"/>
                </a:rPr>
                <a:t>GitHub - Anees-DevOps/CI-CDel-CDep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92015" y="6070550"/>
            <a:ext cx="850553" cy="38100"/>
            <a:chOff x="0" y="0"/>
            <a:chExt cx="1134070" cy="50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34110" cy="50800"/>
            </a:xfrm>
            <a:custGeom>
              <a:avLst/>
              <a:gdLst/>
              <a:ahLst/>
              <a:cxnLst/>
              <a:rect l="l" t="t" r="r" b="b"/>
              <a:pathLst>
                <a:path w="1134110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C5D2C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87475" y="5765899"/>
            <a:ext cx="647402" cy="647402"/>
            <a:chOff x="0" y="0"/>
            <a:chExt cx="863203" cy="863203"/>
          </a:xfrm>
        </p:grpSpPr>
        <p:sp>
          <p:nvSpPr>
            <p:cNvPr id="31" name="Freeform 31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DFEC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5D2C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98575" y="5823794"/>
            <a:ext cx="425202" cy="531614"/>
            <a:chOff x="0" y="0"/>
            <a:chExt cx="566937" cy="70881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66937" cy="708818"/>
            </a:xfrm>
            <a:custGeom>
              <a:avLst/>
              <a:gdLst/>
              <a:ahLst/>
              <a:cxnLst/>
              <a:rect l="l" t="t" r="r" b="b"/>
              <a:pathLst>
                <a:path w="566937" h="708818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38100"/>
              <a:ext cx="566937" cy="67071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728764" y="5667227"/>
            <a:ext cx="9902197" cy="667642"/>
            <a:chOff x="0" y="0"/>
            <a:chExt cx="13202929" cy="89019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3202929" cy="890190"/>
            </a:xfrm>
            <a:custGeom>
              <a:avLst/>
              <a:gdLst/>
              <a:ahLst/>
              <a:cxnLst/>
              <a:rect l="l" t="t" r="r" b="b"/>
              <a:pathLst>
                <a:path w="13202929" h="890190">
                  <a:moveTo>
                    <a:pt x="0" y="0"/>
                  </a:moveTo>
                  <a:lnTo>
                    <a:pt x="13202929" y="0"/>
                  </a:lnTo>
                  <a:lnTo>
                    <a:pt x="13202929" y="890190"/>
                  </a:lnTo>
                  <a:lnTo>
                    <a:pt x="0" y="8901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13202929" cy="9282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2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Analyze the sample GitHub Actions YAML files.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728764" y="6436965"/>
            <a:ext cx="14566999" cy="453629"/>
            <a:chOff x="0" y="0"/>
            <a:chExt cx="19422665" cy="60483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9422666" cy="604838"/>
            </a:xfrm>
            <a:custGeom>
              <a:avLst/>
              <a:gdLst/>
              <a:ahLst/>
              <a:cxnLst/>
              <a:rect l="l" t="t" r="r" b="b"/>
              <a:pathLst>
                <a:path w="19422666" h="604838">
                  <a:moveTo>
                    <a:pt x="0" y="0"/>
                  </a:moveTo>
                  <a:lnTo>
                    <a:pt x="19422666" y="0"/>
                  </a:lnTo>
                  <a:lnTo>
                    <a:pt x="19422666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85725"/>
              <a:ext cx="19422665" cy="6905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You will find different folders for each type within the repository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592015" y="8076456"/>
            <a:ext cx="850553" cy="38100"/>
            <a:chOff x="0" y="0"/>
            <a:chExt cx="1134070" cy="50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134110" cy="50800"/>
            </a:xfrm>
            <a:custGeom>
              <a:avLst/>
              <a:gdLst/>
              <a:ahLst/>
              <a:cxnLst/>
              <a:rect l="l" t="t" r="r" b="b"/>
              <a:pathLst>
                <a:path w="1134110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C5D2C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87475" y="7771805"/>
            <a:ext cx="647402" cy="647403"/>
            <a:chOff x="0" y="0"/>
            <a:chExt cx="863203" cy="863203"/>
          </a:xfrm>
        </p:grpSpPr>
        <p:sp>
          <p:nvSpPr>
            <p:cNvPr id="45" name="Freeform 45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DFEC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5D2C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98575" y="7829699"/>
            <a:ext cx="425202" cy="531614"/>
            <a:chOff x="0" y="0"/>
            <a:chExt cx="566937" cy="70881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66937" cy="708818"/>
            </a:xfrm>
            <a:custGeom>
              <a:avLst/>
              <a:gdLst/>
              <a:ahLst/>
              <a:cxnLst/>
              <a:rect l="l" t="t" r="r" b="b"/>
              <a:pathLst>
                <a:path w="566937" h="708818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38100"/>
              <a:ext cx="566937" cy="67071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2728764" y="7673132"/>
            <a:ext cx="12597795" cy="667642"/>
            <a:chOff x="0" y="0"/>
            <a:chExt cx="16797060" cy="89019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6797060" cy="890190"/>
            </a:xfrm>
            <a:custGeom>
              <a:avLst/>
              <a:gdLst/>
              <a:ahLst/>
              <a:cxnLst/>
              <a:rect l="l" t="t" r="r" b="b"/>
              <a:pathLst>
                <a:path w="16797060" h="890190">
                  <a:moveTo>
                    <a:pt x="0" y="0"/>
                  </a:moveTo>
                  <a:lnTo>
                    <a:pt x="16797060" y="0"/>
                  </a:lnTo>
                  <a:lnTo>
                    <a:pt x="16797060" y="890190"/>
                  </a:lnTo>
                  <a:lnTo>
                    <a:pt x="0" y="8901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16797060" cy="9282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2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Identify whether each pipeline represents CI, CDel, or CDep.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728764" y="8442871"/>
            <a:ext cx="14566999" cy="453629"/>
            <a:chOff x="0" y="0"/>
            <a:chExt cx="19422665" cy="604838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9422666" cy="604838"/>
            </a:xfrm>
            <a:custGeom>
              <a:avLst/>
              <a:gdLst/>
              <a:ahLst/>
              <a:cxnLst/>
              <a:rect l="l" t="t" r="r" b="b"/>
              <a:pathLst>
                <a:path w="19422666" h="604838">
                  <a:moveTo>
                    <a:pt x="0" y="0"/>
                  </a:moveTo>
                  <a:lnTo>
                    <a:pt x="19422666" y="0"/>
                  </a:lnTo>
                  <a:lnTo>
                    <a:pt x="19422666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85725"/>
              <a:ext cx="19422665" cy="6905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Understand the flow of steps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87475" y="1822318"/>
            <a:ext cx="7717036" cy="1132367"/>
            <a:chOff x="0" y="0"/>
            <a:chExt cx="10289382" cy="150982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289382" cy="1509823"/>
            </a:xfrm>
            <a:custGeom>
              <a:avLst/>
              <a:gdLst/>
              <a:ahLst/>
              <a:cxnLst/>
              <a:rect l="l" t="t" r="r" b="b"/>
              <a:pathLst>
                <a:path w="10289382" h="1509823">
                  <a:moveTo>
                    <a:pt x="0" y="0"/>
                  </a:moveTo>
                  <a:lnTo>
                    <a:pt x="10289382" y="0"/>
                  </a:lnTo>
                  <a:lnTo>
                    <a:pt x="10289382" y="1509823"/>
                  </a:lnTo>
                  <a:lnTo>
                    <a:pt x="0" y="15098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0289382" cy="156697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272D45"/>
                  </a:solidFill>
                  <a:latin typeface="Arimo"/>
                  <a:ea typeface="Arimo"/>
                  <a:cs typeface="Arimo"/>
                  <a:sym typeface="Arimo"/>
                </a:rPr>
                <a:t>CD Tools Overview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87475" y="3230910"/>
            <a:ext cx="8019604" cy="2431107"/>
            <a:chOff x="0" y="0"/>
            <a:chExt cx="10692805" cy="3241477"/>
          </a:xfrm>
        </p:grpSpPr>
        <p:sp>
          <p:nvSpPr>
            <p:cNvPr id="10" name="Freeform 10"/>
            <p:cNvSpPr/>
            <p:nvPr/>
          </p:nvSpPr>
          <p:spPr>
            <a:xfrm>
              <a:off x="6350" y="6350"/>
              <a:ext cx="10680192" cy="3228721"/>
            </a:xfrm>
            <a:custGeom>
              <a:avLst/>
              <a:gdLst/>
              <a:ahLst/>
              <a:cxnLst/>
              <a:rect l="l" t="t" r="r" b="b"/>
              <a:pathLst>
                <a:path w="10680192" h="3228721">
                  <a:moveTo>
                    <a:pt x="0" y="158750"/>
                  </a:moveTo>
                  <a:cubicBezTo>
                    <a:pt x="0" y="71120"/>
                    <a:pt x="71247" y="0"/>
                    <a:pt x="159258" y="0"/>
                  </a:cubicBezTo>
                  <a:lnTo>
                    <a:pt x="10520934" y="0"/>
                  </a:lnTo>
                  <a:cubicBezTo>
                    <a:pt x="10608818" y="0"/>
                    <a:pt x="10680192" y="71120"/>
                    <a:pt x="10680192" y="158750"/>
                  </a:cubicBezTo>
                  <a:lnTo>
                    <a:pt x="10680192" y="3069971"/>
                  </a:lnTo>
                  <a:cubicBezTo>
                    <a:pt x="10680192" y="3157728"/>
                    <a:pt x="10608945" y="3228721"/>
                    <a:pt x="10520934" y="3228721"/>
                  </a:cubicBezTo>
                  <a:lnTo>
                    <a:pt x="159258" y="3228721"/>
                  </a:lnTo>
                  <a:cubicBezTo>
                    <a:pt x="71374" y="3228721"/>
                    <a:pt x="0" y="3157601"/>
                    <a:pt x="0" y="3069971"/>
                  </a:cubicBezTo>
                  <a:close/>
                </a:path>
              </a:pathLst>
            </a:custGeom>
            <a:solidFill>
              <a:srgbClr val="DFEC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10692892" cy="3241421"/>
            </a:xfrm>
            <a:custGeom>
              <a:avLst/>
              <a:gdLst/>
              <a:ahLst/>
              <a:cxnLst/>
              <a:rect l="l" t="t" r="r" b="b"/>
              <a:pathLst>
                <a:path w="10692892" h="3241421">
                  <a:moveTo>
                    <a:pt x="0" y="165100"/>
                  </a:moveTo>
                  <a:cubicBezTo>
                    <a:pt x="0" y="73914"/>
                    <a:pt x="74168" y="0"/>
                    <a:pt x="165608" y="0"/>
                  </a:cubicBezTo>
                  <a:lnTo>
                    <a:pt x="10527284" y="0"/>
                  </a:lnTo>
                  <a:lnTo>
                    <a:pt x="10527284" y="6350"/>
                  </a:lnTo>
                  <a:lnTo>
                    <a:pt x="10527284" y="0"/>
                  </a:lnTo>
                  <a:cubicBezTo>
                    <a:pt x="10618724" y="0"/>
                    <a:pt x="10692892" y="73914"/>
                    <a:pt x="10692892" y="165100"/>
                  </a:cubicBezTo>
                  <a:lnTo>
                    <a:pt x="10686542" y="165100"/>
                  </a:lnTo>
                  <a:lnTo>
                    <a:pt x="10692892" y="165100"/>
                  </a:lnTo>
                  <a:lnTo>
                    <a:pt x="10692892" y="3076321"/>
                  </a:lnTo>
                  <a:lnTo>
                    <a:pt x="10686542" y="3076321"/>
                  </a:lnTo>
                  <a:lnTo>
                    <a:pt x="10692892" y="3076321"/>
                  </a:lnTo>
                  <a:cubicBezTo>
                    <a:pt x="10692892" y="3167507"/>
                    <a:pt x="10618724" y="3241421"/>
                    <a:pt x="10527284" y="3241421"/>
                  </a:cubicBezTo>
                  <a:lnTo>
                    <a:pt x="10527284" y="3235071"/>
                  </a:lnTo>
                  <a:lnTo>
                    <a:pt x="10527284" y="3241421"/>
                  </a:lnTo>
                  <a:lnTo>
                    <a:pt x="165608" y="3241421"/>
                  </a:lnTo>
                  <a:lnTo>
                    <a:pt x="165608" y="3235071"/>
                  </a:lnTo>
                  <a:lnTo>
                    <a:pt x="165608" y="3241421"/>
                  </a:lnTo>
                  <a:cubicBezTo>
                    <a:pt x="74168" y="3241421"/>
                    <a:pt x="0" y="3167507"/>
                    <a:pt x="0" y="3076321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076321"/>
                  </a:lnTo>
                  <a:lnTo>
                    <a:pt x="6350" y="3076321"/>
                  </a:lnTo>
                  <a:lnTo>
                    <a:pt x="12700" y="3076321"/>
                  </a:lnTo>
                  <a:cubicBezTo>
                    <a:pt x="12700" y="3160522"/>
                    <a:pt x="81153" y="3228721"/>
                    <a:pt x="165608" y="3228721"/>
                  </a:cubicBezTo>
                  <a:lnTo>
                    <a:pt x="10527284" y="3228721"/>
                  </a:lnTo>
                  <a:cubicBezTo>
                    <a:pt x="10611739" y="3228721"/>
                    <a:pt x="10680192" y="3160395"/>
                    <a:pt x="10680192" y="3076321"/>
                  </a:cubicBezTo>
                  <a:lnTo>
                    <a:pt x="10680192" y="165100"/>
                  </a:lnTo>
                  <a:cubicBezTo>
                    <a:pt x="10680192" y="80899"/>
                    <a:pt x="10611739" y="12700"/>
                    <a:pt x="10527284" y="12700"/>
                  </a:cubicBezTo>
                  <a:lnTo>
                    <a:pt x="165608" y="12700"/>
                  </a:lnTo>
                  <a:lnTo>
                    <a:pt x="165608" y="6350"/>
                  </a:lnTo>
                  <a:lnTo>
                    <a:pt x="165608" y="12700"/>
                  </a:lnTo>
                  <a:cubicBezTo>
                    <a:pt x="81153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C5D2C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85280" y="3528715"/>
            <a:ext cx="4252912" cy="531614"/>
            <a:chOff x="0" y="0"/>
            <a:chExt cx="5670550" cy="70881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670550" cy="74691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25"/>
                </a:lnSpc>
              </a:pPr>
              <a:r>
                <a:rPr lang="en-US" sz="3312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Jenkins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85280" y="4230440"/>
            <a:ext cx="7423994" cy="1133772"/>
            <a:chOff x="0" y="0"/>
            <a:chExt cx="9898658" cy="151169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898659" cy="1511697"/>
            </a:xfrm>
            <a:custGeom>
              <a:avLst/>
              <a:gdLst/>
              <a:ahLst/>
              <a:cxnLst/>
              <a:rect l="l" t="t" r="r" b="b"/>
              <a:pathLst>
                <a:path w="9898659" h="1511697">
                  <a:moveTo>
                    <a:pt x="0" y="0"/>
                  </a:moveTo>
                  <a:lnTo>
                    <a:pt x="9898659" y="0"/>
                  </a:lnTo>
                  <a:lnTo>
                    <a:pt x="9898659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14300"/>
              <a:ext cx="9898658" cy="162599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Open-source automation server best for custom enterprise solutions.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281071" y="3230910"/>
            <a:ext cx="8019604" cy="2431107"/>
            <a:chOff x="0" y="0"/>
            <a:chExt cx="10692805" cy="3241477"/>
          </a:xfrm>
        </p:grpSpPr>
        <p:sp>
          <p:nvSpPr>
            <p:cNvPr id="19" name="Freeform 19"/>
            <p:cNvSpPr/>
            <p:nvPr/>
          </p:nvSpPr>
          <p:spPr>
            <a:xfrm>
              <a:off x="6350" y="6350"/>
              <a:ext cx="10680192" cy="3228721"/>
            </a:xfrm>
            <a:custGeom>
              <a:avLst/>
              <a:gdLst/>
              <a:ahLst/>
              <a:cxnLst/>
              <a:rect l="l" t="t" r="r" b="b"/>
              <a:pathLst>
                <a:path w="10680192" h="3228721">
                  <a:moveTo>
                    <a:pt x="0" y="158750"/>
                  </a:moveTo>
                  <a:cubicBezTo>
                    <a:pt x="0" y="71120"/>
                    <a:pt x="71247" y="0"/>
                    <a:pt x="159258" y="0"/>
                  </a:cubicBezTo>
                  <a:lnTo>
                    <a:pt x="10520934" y="0"/>
                  </a:lnTo>
                  <a:cubicBezTo>
                    <a:pt x="10608818" y="0"/>
                    <a:pt x="10680192" y="71120"/>
                    <a:pt x="10680192" y="158750"/>
                  </a:cubicBezTo>
                  <a:lnTo>
                    <a:pt x="10680192" y="3069971"/>
                  </a:lnTo>
                  <a:cubicBezTo>
                    <a:pt x="10680192" y="3157728"/>
                    <a:pt x="10608945" y="3228721"/>
                    <a:pt x="10520934" y="3228721"/>
                  </a:cubicBezTo>
                  <a:lnTo>
                    <a:pt x="159258" y="3228721"/>
                  </a:lnTo>
                  <a:cubicBezTo>
                    <a:pt x="71374" y="3228721"/>
                    <a:pt x="0" y="3157601"/>
                    <a:pt x="0" y="3069971"/>
                  </a:cubicBezTo>
                  <a:close/>
                </a:path>
              </a:pathLst>
            </a:custGeom>
            <a:solidFill>
              <a:srgbClr val="DFEC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10692892" cy="3241421"/>
            </a:xfrm>
            <a:custGeom>
              <a:avLst/>
              <a:gdLst/>
              <a:ahLst/>
              <a:cxnLst/>
              <a:rect l="l" t="t" r="r" b="b"/>
              <a:pathLst>
                <a:path w="10692892" h="3241421">
                  <a:moveTo>
                    <a:pt x="0" y="165100"/>
                  </a:moveTo>
                  <a:cubicBezTo>
                    <a:pt x="0" y="73914"/>
                    <a:pt x="74168" y="0"/>
                    <a:pt x="165608" y="0"/>
                  </a:cubicBezTo>
                  <a:lnTo>
                    <a:pt x="10527284" y="0"/>
                  </a:lnTo>
                  <a:lnTo>
                    <a:pt x="10527284" y="6350"/>
                  </a:lnTo>
                  <a:lnTo>
                    <a:pt x="10527284" y="0"/>
                  </a:lnTo>
                  <a:cubicBezTo>
                    <a:pt x="10618724" y="0"/>
                    <a:pt x="10692892" y="73914"/>
                    <a:pt x="10692892" y="165100"/>
                  </a:cubicBezTo>
                  <a:lnTo>
                    <a:pt x="10686542" y="165100"/>
                  </a:lnTo>
                  <a:lnTo>
                    <a:pt x="10692892" y="165100"/>
                  </a:lnTo>
                  <a:lnTo>
                    <a:pt x="10692892" y="3076321"/>
                  </a:lnTo>
                  <a:lnTo>
                    <a:pt x="10686542" y="3076321"/>
                  </a:lnTo>
                  <a:lnTo>
                    <a:pt x="10692892" y="3076321"/>
                  </a:lnTo>
                  <a:cubicBezTo>
                    <a:pt x="10692892" y="3167507"/>
                    <a:pt x="10618724" y="3241421"/>
                    <a:pt x="10527284" y="3241421"/>
                  </a:cubicBezTo>
                  <a:lnTo>
                    <a:pt x="10527284" y="3235071"/>
                  </a:lnTo>
                  <a:lnTo>
                    <a:pt x="10527284" y="3241421"/>
                  </a:lnTo>
                  <a:lnTo>
                    <a:pt x="165608" y="3241421"/>
                  </a:lnTo>
                  <a:lnTo>
                    <a:pt x="165608" y="3235071"/>
                  </a:lnTo>
                  <a:lnTo>
                    <a:pt x="165608" y="3241421"/>
                  </a:lnTo>
                  <a:cubicBezTo>
                    <a:pt x="74168" y="3241421"/>
                    <a:pt x="0" y="3167507"/>
                    <a:pt x="0" y="3076321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076321"/>
                  </a:lnTo>
                  <a:lnTo>
                    <a:pt x="6350" y="3076321"/>
                  </a:lnTo>
                  <a:lnTo>
                    <a:pt x="12700" y="3076321"/>
                  </a:lnTo>
                  <a:cubicBezTo>
                    <a:pt x="12700" y="3160522"/>
                    <a:pt x="81153" y="3228721"/>
                    <a:pt x="165608" y="3228721"/>
                  </a:cubicBezTo>
                  <a:lnTo>
                    <a:pt x="10527284" y="3228721"/>
                  </a:lnTo>
                  <a:cubicBezTo>
                    <a:pt x="10611739" y="3228721"/>
                    <a:pt x="10680192" y="3160395"/>
                    <a:pt x="10680192" y="3076321"/>
                  </a:cubicBezTo>
                  <a:lnTo>
                    <a:pt x="10680192" y="165100"/>
                  </a:lnTo>
                  <a:cubicBezTo>
                    <a:pt x="10680192" y="80899"/>
                    <a:pt x="10611739" y="12700"/>
                    <a:pt x="10527284" y="12700"/>
                  </a:cubicBezTo>
                  <a:lnTo>
                    <a:pt x="165608" y="12700"/>
                  </a:lnTo>
                  <a:lnTo>
                    <a:pt x="165608" y="6350"/>
                  </a:lnTo>
                  <a:lnTo>
                    <a:pt x="165608" y="12700"/>
                  </a:lnTo>
                  <a:cubicBezTo>
                    <a:pt x="81153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C5D2C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578876" y="3528715"/>
            <a:ext cx="4252912" cy="531614"/>
            <a:chOff x="0" y="0"/>
            <a:chExt cx="5670550" cy="70881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5670550" cy="74691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25"/>
                </a:lnSpc>
              </a:pPr>
              <a:r>
                <a:rPr lang="en-US" sz="3312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GitLab CI/CD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578876" y="4230440"/>
            <a:ext cx="7423994" cy="1133772"/>
            <a:chOff x="0" y="0"/>
            <a:chExt cx="9898658" cy="151169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898659" cy="1511697"/>
            </a:xfrm>
            <a:custGeom>
              <a:avLst/>
              <a:gdLst/>
              <a:ahLst/>
              <a:cxnLst/>
              <a:rect l="l" t="t" r="r" b="b"/>
              <a:pathLst>
                <a:path w="9898659" h="1511697">
                  <a:moveTo>
                    <a:pt x="0" y="0"/>
                  </a:moveTo>
                  <a:lnTo>
                    <a:pt x="9898659" y="0"/>
                  </a:lnTo>
                  <a:lnTo>
                    <a:pt x="9898659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14300"/>
              <a:ext cx="9898658" cy="162599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Built into GitLab, offering seamless Git integration.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87475" y="5936010"/>
            <a:ext cx="8019604" cy="2431107"/>
            <a:chOff x="0" y="0"/>
            <a:chExt cx="10692805" cy="3241477"/>
          </a:xfrm>
        </p:grpSpPr>
        <p:sp>
          <p:nvSpPr>
            <p:cNvPr id="28" name="Freeform 28"/>
            <p:cNvSpPr/>
            <p:nvPr/>
          </p:nvSpPr>
          <p:spPr>
            <a:xfrm>
              <a:off x="6350" y="6350"/>
              <a:ext cx="10680192" cy="3228721"/>
            </a:xfrm>
            <a:custGeom>
              <a:avLst/>
              <a:gdLst/>
              <a:ahLst/>
              <a:cxnLst/>
              <a:rect l="l" t="t" r="r" b="b"/>
              <a:pathLst>
                <a:path w="10680192" h="3228721">
                  <a:moveTo>
                    <a:pt x="0" y="158750"/>
                  </a:moveTo>
                  <a:cubicBezTo>
                    <a:pt x="0" y="71120"/>
                    <a:pt x="71247" y="0"/>
                    <a:pt x="159258" y="0"/>
                  </a:cubicBezTo>
                  <a:lnTo>
                    <a:pt x="10520934" y="0"/>
                  </a:lnTo>
                  <a:cubicBezTo>
                    <a:pt x="10608818" y="0"/>
                    <a:pt x="10680192" y="71120"/>
                    <a:pt x="10680192" y="158750"/>
                  </a:cubicBezTo>
                  <a:lnTo>
                    <a:pt x="10680192" y="3069971"/>
                  </a:lnTo>
                  <a:cubicBezTo>
                    <a:pt x="10680192" y="3157728"/>
                    <a:pt x="10608945" y="3228721"/>
                    <a:pt x="10520934" y="3228721"/>
                  </a:cubicBezTo>
                  <a:lnTo>
                    <a:pt x="159258" y="3228721"/>
                  </a:lnTo>
                  <a:cubicBezTo>
                    <a:pt x="71374" y="3228721"/>
                    <a:pt x="0" y="3157601"/>
                    <a:pt x="0" y="3069971"/>
                  </a:cubicBezTo>
                  <a:close/>
                </a:path>
              </a:pathLst>
            </a:custGeom>
            <a:solidFill>
              <a:srgbClr val="DFEC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0"/>
              <a:ext cx="10692892" cy="3241421"/>
            </a:xfrm>
            <a:custGeom>
              <a:avLst/>
              <a:gdLst/>
              <a:ahLst/>
              <a:cxnLst/>
              <a:rect l="l" t="t" r="r" b="b"/>
              <a:pathLst>
                <a:path w="10692892" h="3241421">
                  <a:moveTo>
                    <a:pt x="0" y="165100"/>
                  </a:moveTo>
                  <a:cubicBezTo>
                    <a:pt x="0" y="73914"/>
                    <a:pt x="74168" y="0"/>
                    <a:pt x="165608" y="0"/>
                  </a:cubicBezTo>
                  <a:lnTo>
                    <a:pt x="10527284" y="0"/>
                  </a:lnTo>
                  <a:lnTo>
                    <a:pt x="10527284" y="6350"/>
                  </a:lnTo>
                  <a:lnTo>
                    <a:pt x="10527284" y="0"/>
                  </a:lnTo>
                  <a:cubicBezTo>
                    <a:pt x="10618724" y="0"/>
                    <a:pt x="10692892" y="73914"/>
                    <a:pt x="10692892" y="165100"/>
                  </a:cubicBezTo>
                  <a:lnTo>
                    <a:pt x="10686542" y="165100"/>
                  </a:lnTo>
                  <a:lnTo>
                    <a:pt x="10692892" y="165100"/>
                  </a:lnTo>
                  <a:lnTo>
                    <a:pt x="10692892" y="3076321"/>
                  </a:lnTo>
                  <a:lnTo>
                    <a:pt x="10686542" y="3076321"/>
                  </a:lnTo>
                  <a:lnTo>
                    <a:pt x="10692892" y="3076321"/>
                  </a:lnTo>
                  <a:cubicBezTo>
                    <a:pt x="10692892" y="3167507"/>
                    <a:pt x="10618724" y="3241421"/>
                    <a:pt x="10527284" y="3241421"/>
                  </a:cubicBezTo>
                  <a:lnTo>
                    <a:pt x="10527284" y="3235071"/>
                  </a:lnTo>
                  <a:lnTo>
                    <a:pt x="10527284" y="3241421"/>
                  </a:lnTo>
                  <a:lnTo>
                    <a:pt x="165608" y="3241421"/>
                  </a:lnTo>
                  <a:lnTo>
                    <a:pt x="165608" y="3235071"/>
                  </a:lnTo>
                  <a:lnTo>
                    <a:pt x="165608" y="3241421"/>
                  </a:lnTo>
                  <a:cubicBezTo>
                    <a:pt x="74168" y="3241421"/>
                    <a:pt x="0" y="3167507"/>
                    <a:pt x="0" y="3076321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076321"/>
                  </a:lnTo>
                  <a:lnTo>
                    <a:pt x="6350" y="3076321"/>
                  </a:lnTo>
                  <a:lnTo>
                    <a:pt x="12700" y="3076321"/>
                  </a:lnTo>
                  <a:cubicBezTo>
                    <a:pt x="12700" y="3160522"/>
                    <a:pt x="81153" y="3228721"/>
                    <a:pt x="165608" y="3228721"/>
                  </a:cubicBezTo>
                  <a:lnTo>
                    <a:pt x="10527284" y="3228721"/>
                  </a:lnTo>
                  <a:cubicBezTo>
                    <a:pt x="10611739" y="3228721"/>
                    <a:pt x="10680192" y="3160395"/>
                    <a:pt x="10680192" y="3076321"/>
                  </a:cubicBezTo>
                  <a:lnTo>
                    <a:pt x="10680192" y="165100"/>
                  </a:lnTo>
                  <a:cubicBezTo>
                    <a:pt x="10680192" y="80899"/>
                    <a:pt x="10611739" y="12700"/>
                    <a:pt x="10527284" y="12700"/>
                  </a:cubicBezTo>
                  <a:lnTo>
                    <a:pt x="165608" y="12700"/>
                  </a:lnTo>
                  <a:lnTo>
                    <a:pt x="165608" y="6350"/>
                  </a:lnTo>
                  <a:lnTo>
                    <a:pt x="165608" y="12700"/>
                  </a:lnTo>
                  <a:cubicBezTo>
                    <a:pt x="81153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C5D2C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85280" y="6233815"/>
            <a:ext cx="4252912" cy="531614"/>
            <a:chOff x="0" y="0"/>
            <a:chExt cx="5670550" cy="70881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5670550" cy="74691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25"/>
                </a:lnSpc>
              </a:pPr>
              <a:r>
                <a:rPr lang="en-US" sz="3312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GitHub Actions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85280" y="6935540"/>
            <a:ext cx="7423994" cy="1133772"/>
            <a:chOff x="0" y="0"/>
            <a:chExt cx="9898658" cy="151169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898659" cy="1511697"/>
            </a:xfrm>
            <a:custGeom>
              <a:avLst/>
              <a:gdLst/>
              <a:ahLst/>
              <a:cxnLst/>
              <a:rect l="l" t="t" r="r" b="b"/>
              <a:pathLst>
                <a:path w="9898659" h="1511697">
                  <a:moveTo>
                    <a:pt x="0" y="0"/>
                  </a:moveTo>
                  <a:lnTo>
                    <a:pt x="9898659" y="0"/>
                  </a:lnTo>
                  <a:lnTo>
                    <a:pt x="9898659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14300"/>
              <a:ext cx="9898658" cy="162599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GitHub-native automation ideal for open-source/student projects.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281071" y="5936010"/>
            <a:ext cx="8019604" cy="2431107"/>
            <a:chOff x="0" y="0"/>
            <a:chExt cx="10692805" cy="3241477"/>
          </a:xfrm>
        </p:grpSpPr>
        <p:sp>
          <p:nvSpPr>
            <p:cNvPr id="37" name="Freeform 37"/>
            <p:cNvSpPr/>
            <p:nvPr/>
          </p:nvSpPr>
          <p:spPr>
            <a:xfrm>
              <a:off x="6350" y="6350"/>
              <a:ext cx="10680192" cy="3228721"/>
            </a:xfrm>
            <a:custGeom>
              <a:avLst/>
              <a:gdLst/>
              <a:ahLst/>
              <a:cxnLst/>
              <a:rect l="l" t="t" r="r" b="b"/>
              <a:pathLst>
                <a:path w="10680192" h="3228721">
                  <a:moveTo>
                    <a:pt x="0" y="158750"/>
                  </a:moveTo>
                  <a:cubicBezTo>
                    <a:pt x="0" y="71120"/>
                    <a:pt x="71247" y="0"/>
                    <a:pt x="159258" y="0"/>
                  </a:cubicBezTo>
                  <a:lnTo>
                    <a:pt x="10520934" y="0"/>
                  </a:lnTo>
                  <a:cubicBezTo>
                    <a:pt x="10608818" y="0"/>
                    <a:pt x="10680192" y="71120"/>
                    <a:pt x="10680192" y="158750"/>
                  </a:cubicBezTo>
                  <a:lnTo>
                    <a:pt x="10680192" y="3069971"/>
                  </a:lnTo>
                  <a:cubicBezTo>
                    <a:pt x="10680192" y="3157728"/>
                    <a:pt x="10608945" y="3228721"/>
                    <a:pt x="10520934" y="3228721"/>
                  </a:cubicBezTo>
                  <a:lnTo>
                    <a:pt x="159258" y="3228721"/>
                  </a:lnTo>
                  <a:cubicBezTo>
                    <a:pt x="71374" y="3228721"/>
                    <a:pt x="0" y="3157601"/>
                    <a:pt x="0" y="3069971"/>
                  </a:cubicBezTo>
                  <a:close/>
                </a:path>
              </a:pathLst>
            </a:custGeom>
            <a:solidFill>
              <a:srgbClr val="DFEC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0" y="0"/>
              <a:ext cx="10692892" cy="3241421"/>
            </a:xfrm>
            <a:custGeom>
              <a:avLst/>
              <a:gdLst/>
              <a:ahLst/>
              <a:cxnLst/>
              <a:rect l="l" t="t" r="r" b="b"/>
              <a:pathLst>
                <a:path w="10692892" h="3241421">
                  <a:moveTo>
                    <a:pt x="0" y="165100"/>
                  </a:moveTo>
                  <a:cubicBezTo>
                    <a:pt x="0" y="73914"/>
                    <a:pt x="74168" y="0"/>
                    <a:pt x="165608" y="0"/>
                  </a:cubicBezTo>
                  <a:lnTo>
                    <a:pt x="10527284" y="0"/>
                  </a:lnTo>
                  <a:lnTo>
                    <a:pt x="10527284" y="6350"/>
                  </a:lnTo>
                  <a:lnTo>
                    <a:pt x="10527284" y="0"/>
                  </a:lnTo>
                  <a:cubicBezTo>
                    <a:pt x="10618724" y="0"/>
                    <a:pt x="10692892" y="73914"/>
                    <a:pt x="10692892" y="165100"/>
                  </a:cubicBezTo>
                  <a:lnTo>
                    <a:pt x="10686542" y="165100"/>
                  </a:lnTo>
                  <a:lnTo>
                    <a:pt x="10692892" y="165100"/>
                  </a:lnTo>
                  <a:lnTo>
                    <a:pt x="10692892" y="3076321"/>
                  </a:lnTo>
                  <a:lnTo>
                    <a:pt x="10686542" y="3076321"/>
                  </a:lnTo>
                  <a:lnTo>
                    <a:pt x="10692892" y="3076321"/>
                  </a:lnTo>
                  <a:cubicBezTo>
                    <a:pt x="10692892" y="3167507"/>
                    <a:pt x="10618724" y="3241421"/>
                    <a:pt x="10527284" y="3241421"/>
                  </a:cubicBezTo>
                  <a:lnTo>
                    <a:pt x="10527284" y="3235071"/>
                  </a:lnTo>
                  <a:lnTo>
                    <a:pt x="10527284" y="3241421"/>
                  </a:lnTo>
                  <a:lnTo>
                    <a:pt x="165608" y="3241421"/>
                  </a:lnTo>
                  <a:lnTo>
                    <a:pt x="165608" y="3235071"/>
                  </a:lnTo>
                  <a:lnTo>
                    <a:pt x="165608" y="3241421"/>
                  </a:lnTo>
                  <a:cubicBezTo>
                    <a:pt x="74168" y="3241421"/>
                    <a:pt x="0" y="3167507"/>
                    <a:pt x="0" y="3076321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076321"/>
                  </a:lnTo>
                  <a:lnTo>
                    <a:pt x="6350" y="3076321"/>
                  </a:lnTo>
                  <a:lnTo>
                    <a:pt x="12700" y="3076321"/>
                  </a:lnTo>
                  <a:cubicBezTo>
                    <a:pt x="12700" y="3160522"/>
                    <a:pt x="81153" y="3228721"/>
                    <a:pt x="165608" y="3228721"/>
                  </a:cubicBezTo>
                  <a:lnTo>
                    <a:pt x="10527284" y="3228721"/>
                  </a:lnTo>
                  <a:cubicBezTo>
                    <a:pt x="10611739" y="3228721"/>
                    <a:pt x="10680192" y="3160395"/>
                    <a:pt x="10680192" y="3076321"/>
                  </a:cubicBezTo>
                  <a:lnTo>
                    <a:pt x="10680192" y="165100"/>
                  </a:lnTo>
                  <a:cubicBezTo>
                    <a:pt x="10680192" y="80899"/>
                    <a:pt x="10611739" y="12700"/>
                    <a:pt x="10527284" y="12700"/>
                  </a:cubicBezTo>
                  <a:lnTo>
                    <a:pt x="165608" y="12700"/>
                  </a:lnTo>
                  <a:lnTo>
                    <a:pt x="165608" y="6350"/>
                  </a:lnTo>
                  <a:lnTo>
                    <a:pt x="165608" y="12700"/>
                  </a:lnTo>
                  <a:cubicBezTo>
                    <a:pt x="81153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C5D2C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78876" y="6233815"/>
            <a:ext cx="4252912" cy="531614"/>
            <a:chOff x="0" y="0"/>
            <a:chExt cx="5670550" cy="70881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5670550" cy="74691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25"/>
                </a:lnSpc>
              </a:pPr>
              <a:r>
                <a:rPr lang="en-US" sz="3312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Spinnaker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578876" y="6935540"/>
            <a:ext cx="7423994" cy="1133772"/>
            <a:chOff x="0" y="0"/>
            <a:chExt cx="9898658" cy="1511697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898659" cy="1511697"/>
            </a:xfrm>
            <a:custGeom>
              <a:avLst/>
              <a:gdLst/>
              <a:ahLst/>
              <a:cxnLst/>
              <a:rect l="l" t="t" r="r" b="b"/>
              <a:pathLst>
                <a:path w="9898659" h="1511697">
                  <a:moveTo>
                    <a:pt x="0" y="0"/>
                  </a:moveTo>
                  <a:lnTo>
                    <a:pt x="9898659" y="0"/>
                  </a:lnTo>
                  <a:lnTo>
                    <a:pt x="9898659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114300"/>
              <a:ext cx="9898658" cy="162599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Multi-cloud deployment tool for advanced CD in large organizations.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78086" y="691009"/>
            <a:ext cx="9351510" cy="1003012"/>
            <a:chOff x="0" y="0"/>
            <a:chExt cx="12468680" cy="13373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468680" cy="1337350"/>
            </a:xfrm>
            <a:custGeom>
              <a:avLst/>
              <a:gdLst/>
              <a:ahLst/>
              <a:cxnLst/>
              <a:rect l="l" t="t" r="r" b="b"/>
              <a:pathLst>
                <a:path w="12468680" h="1337350">
                  <a:moveTo>
                    <a:pt x="0" y="0"/>
                  </a:moveTo>
                  <a:lnTo>
                    <a:pt x="12468680" y="0"/>
                  </a:lnTo>
                  <a:lnTo>
                    <a:pt x="12468680" y="1337350"/>
                  </a:lnTo>
                  <a:lnTo>
                    <a:pt x="0" y="1337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2468680" cy="1384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5"/>
                </a:lnSpc>
              </a:pPr>
              <a:r>
                <a:rPr lang="en-US" sz="4937">
                  <a:solidFill>
                    <a:srgbClr val="272D45"/>
                  </a:solidFill>
                  <a:latin typeface="Arimo"/>
                  <a:ea typeface="Arimo"/>
                  <a:cs typeface="Arimo"/>
                  <a:sym typeface="Arimo"/>
                </a:rPr>
                <a:t>Deployment Pipeline Stages</a:t>
              </a:r>
            </a:p>
          </p:txBody>
        </p:sp>
      </p:grpSp>
      <p:sp>
        <p:nvSpPr>
          <p:cNvPr id="9" name="Freeform 9" descr="preencoded.png"/>
          <p:cNvSpPr/>
          <p:nvPr/>
        </p:nvSpPr>
        <p:spPr>
          <a:xfrm>
            <a:off x="878086" y="1976735"/>
            <a:ext cx="1254472" cy="1523851"/>
          </a:xfrm>
          <a:custGeom>
            <a:avLst/>
            <a:gdLst/>
            <a:ahLst/>
            <a:cxnLst/>
            <a:rect l="l" t="t" r="r" b="b"/>
            <a:pathLst>
              <a:path w="1254472" h="1523851">
                <a:moveTo>
                  <a:pt x="0" y="0"/>
                </a:moveTo>
                <a:lnTo>
                  <a:pt x="1254473" y="0"/>
                </a:lnTo>
                <a:lnTo>
                  <a:pt x="1254473" y="1523851"/>
                </a:lnTo>
                <a:lnTo>
                  <a:pt x="0" y="15238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7" r="-10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2489202" y="2141196"/>
            <a:ext cx="3763715" cy="660045"/>
            <a:chOff x="0" y="0"/>
            <a:chExt cx="5018287" cy="8800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18287" cy="880060"/>
            </a:xfrm>
            <a:custGeom>
              <a:avLst/>
              <a:gdLst/>
              <a:ahLst/>
              <a:cxnLst/>
              <a:rect l="l" t="t" r="r" b="b"/>
              <a:pathLst>
                <a:path w="5018287" h="880060">
                  <a:moveTo>
                    <a:pt x="0" y="0"/>
                  </a:moveTo>
                  <a:lnTo>
                    <a:pt x="5018287" y="0"/>
                  </a:lnTo>
                  <a:lnTo>
                    <a:pt x="5018287" y="880060"/>
                  </a:lnTo>
                  <a:lnTo>
                    <a:pt x="0" y="8800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5018287" cy="918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64"/>
                </a:lnSpc>
              </a:pPr>
              <a:r>
                <a:rPr lang="en-US" sz="3237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Code Commit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489202" y="2762107"/>
            <a:ext cx="14901119" cy="574018"/>
            <a:chOff x="0" y="0"/>
            <a:chExt cx="19868158" cy="76535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868158" cy="765358"/>
            </a:xfrm>
            <a:custGeom>
              <a:avLst/>
              <a:gdLst/>
              <a:ahLst/>
              <a:cxnLst/>
              <a:rect l="l" t="t" r="r" b="b"/>
              <a:pathLst>
                <a:path w="19868158" h="765358">
                  <a:moveTo>
                    <a:pt x="0" y="0"/>
                  </a:moveTo>
                  <a:lnTo>
                    <a:pt x="19868158" y="0"/>
                  </a:lnTo>
                  <a:lnTo>
                    <a:pt x="19868158" y="765358"/>
                  </a:lnTo>
                  <a:lnTo>
                    <a:pt x="0" y="7653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85725"/>
              <a:ext cx="19868158" cy="8510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8"/>
                </a:lnSpc>
              </a:pPr>
              <a:r>
                <a:rPr lang="en-US" sz="2237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Developer pushes code to repository.</a:t>
              </a:r>
            </a:p>
          </p:txBody>
        </p:sp>
      </p:grpSp>
      <p:sp>
        <p:nvSpPr>
          <p:cNvPr id="16" name="Freeform 16" descr="preencoded.png"/>
          <p:cNvSpPr/>
          <p:nvPr/>
        </p:nvSpPr>
        <p:spPr>
          <a:xfrm>
            <a:off x="878086" y="3500586"/>
            <a:ext cx="1254472" cy="1523851"/>
          </a:xfrm>
          <a:custGeom>
            <a:avLst/>
            <a:gdLst/>
            <a:ahLst/>
            <a:cxnLst/>
            <a:rect l="l" t="t" r="r" b="b"/>
            <a:pathLst>
              <a:path w="1254472" h="1523851">
                <a:moveTo>
                  <a:pt x="0" y="0"/>
                </a:moveTo>
                <a:lnTo>
                  <a:pt x="1254473" y="0"/>
                </a:lnTo>
                <a:lnTo>
                  <a:pt x="1254473" y="1523852"/>
                </a:lnTo>
                <a:lnTo>
                  <a:pt x="0" y="15238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7" r="-10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2489202" y="3665047"/>
            <a:ext cx="3763715" cy="660045"/>
            <a:chOff x="0" y="0"/>
            <a:chExt cx="5018287" cy="8800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018287" cy="880060"/>
            </a:xfrm>
            <a:custGeom>
              <a:avLst/>
              <a:gdLst/>
              <a:ahLst/>
              <a:cxnLst/>
              <a:rect l="l" t="t" r="r" b="b"/>
              <a:pathLst>
                <a:path w="5018287" h="880060">
                  <a:moveTo>
                    <a:pt x="0" y="0"/>
                  </a:moveTo>
                  <a:lnTo>
                    <a:pt x="5018287" y="0"/>
                  </a:lnTo>
                  <a:lnTo>
                    <a:pt x="5018287" y="880060"/>
                  </a:lnTo>
                  <a:lnTo>
                    <a:pt x="0" y="8800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5018287" cy="918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64"/>
                </a:lnSpc>
              </a:pPr>
              <a:r>
                <a:rPr lang="en-US" sz="3237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Build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489202" y="4285958"/>
            <a:ext cx="14901119" cy="574018"/>
            <a:chOff x="0" y="0"/>
            <a:chExt cx="19868158" cy="76535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868158" cy="765358"/>
            </a:xfrm>
            <a:custGeom>
              <a:avLst/>
              <a:gdLst/>
              <a:ahLst/>
              <a:cxnLst/>
              <a:rect l="l" t="t" r="r" b="b"/>
              <a:pathLst>
                <a:path w="19868158" h="765358">
                  <a:moveTo>
                    <a:pt x="0" y="0"/>
                  </a:moveTo>
                  <a:lnTo>
                    <a:pt x="19868158" y="0"/>
                  </a:lnTo>
                  <a:lnTo>
                    <a:pt x="19868158" y="765358"/>
                  </a:lnTo>
                  <a:lnTo>
                    <a:pt x="0" y="7653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19868158" cy="8510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8"/>
                </a:lnSpc>
              </a:pPr>
              <a:r>
                <a:rPr lang="en-US" sz="2237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Code is compiled and packaged.</a:t>
              </a:r>
            </a:p>
          </p:txBody>
        </p:sp>
      </p:grpSp>
      <p:sp>
        <p:nvSpPr>
          <p:cNvPr id="23" name="Freeform 23" descr="preencoded.png"/>
          <p:cNvSpPr/>
          <p:nvPr/>
        </p:nvSpPr>
        <p:spPr>
          <a:xfrm>
            <a:off x="878086" y="5024438"/>
            <a:ext cx="1254472" cy="1523851"/>
          </a:xfrm>
          <a:custGeom>
            <a:avLst/>
            <a:gdLst/>
            <a:ahLst/>
            <a:cxnLst/>
            <a:rect l="l" t="t" r="r" b="b"/>
            <a:pathLst>
              <a:path w="1254472" h="1523851">
                <a:moveTo>
                  <a:pt x="0" y="0"/>
                </a:moveTo>
                <a:lnTo>
                  <a:pt x="1254473" y="0"/>
                </a:lnTo>
                <a:lnTo>
                  <a:pt x="1254473" y="1523851"/>
                </a:lnTo>
                <a:lnTo>
                  <a:pt x="0" y="15238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7" r="-10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2489202" y="5188898"/>
            <a:ext cx="3763715" cy="660045"/>
            <a:chOff x="0" y="0"/>
            <a:chExt cx="5018287" cy="88006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018287" cy="880060"/>
            </a:xfrm>
            <a:custGeom>
              <a:avLst/>
              <a:gdLst/>
              <a:ahLst/>
              <a:cxnLst/>
              <a:rect l="l" t="t" r="r" b="b"/>
              <a:pathLst>
                <a:path w="5018287" h="880060">
                  <a:moveTo>
                    <a:pt x="0" y="0"/>
                  </a:moveTo>
                  <a:lnTo>
                    <a:pt x="5018287" y="0"/>
                  </a:lnTo>
                  <a:lnTo>
                    <a:pt x="5018287" y="880060"/>
                  </a:lnTo>
                  <a:lnTo>
                    <a:pt x="0" y="8800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5018287" cy="918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64"/>
                </a:lnSpc>
              </a:pPr>
              <a:r>
                <a:rPr lang="en-US" sz="3237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Testing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489202" y="5809810"/>
            <a:ext cx="14901119" cy="574018"/>
            <a:chOff x="0" y="0"/>
            <a:chExt cx="19868158" cy="76535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868158" cy="765358"/>
            </a:xfrm>
            <a:custGeom>
              <a:avLst/>
              <a:gdLst/>
              <a:ahLst/>
              <a:cxnLst/>
              <a:rect l="l" t="t" r="r" b="b"/>
              <a:pathLst>
                <a:path w="19868158" h="765358">
                  <a:moveTo>
                    <a:pt x="0" y="0"/>
                  </a:moveTo>
                  <a:lnTo>
                    <a:pt x="19868158" y="0"/>
                  </a:lnTo>
                  <a:lnTo>
                    <a:pt x="19868158" y="765358"/>
                  </a:lnTo>
                  <a:lnTo>
                    <a:pt x="0" y="7653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85725"/>
              <a:ext cx="19868158" cy="8510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8"/>
                </a:lnSpc>
              </a:pPr>
              <a:r>
                <a:rPr lang="en-US" sz="2237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Unit and integration tests run.</a:t>
              </a:r>
            </a:p>
          </p:txBody>
        </p:sp>
      </p:grpSp>
      <p:sp>
        <p:nvSpPr>
          <p:cNvPr id="30" name="Freeform 30" descr="preencoded.png"/>
          <p:cNvSpPr/>
          <p:nvPr/>
        </p:nvSpPr>
        <p:spPr>
          <a:xfrm>
            <a:off x="878086" y="6548289"/>
            <a:ext cx="1254472" cy="1523851"/>
          </a:xfrm>
          <a:custGeom>
            <a:avLst/>
            <a:gdLst/>
            <a:ahLst/>
            <a:cxnLst/>
            <a:rect l="l" t="t" r="r" b="b"/>
            <a:pathLst>
              <a:path w="1254472" h="1523851">
                <a:moveTo>
                  <a:pt x="0" y="0"/>
                </a:moveTo>
                <a:lnTo>
                  <a:pt x="1254473" y="0"/>
                </a:lnTo>
                <a:lnTo>
                  <a:pt x="1254473" y="1523851"/>
                </a:lnTo>
                <a:lnTo>
                  <a:pt x="0" y="15238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7" r="-10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1" name="Group 31"/>
          <p:cNvGrpSpPr/>
          <p:nvPr/>
        </p:nvGrpSpPr>
        <p:grpSpPr>
          <a:xfrm>
            <a:off x="2489202" y="6712750"/>
            <a:ext cx="3763715" cy="660045"/>
            <a:chOff x="0" y="0"/>
            <a:chExt cx="5018287" cy="88006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018287" cy="880060"/>
            </a:xfrm>
            <a:custGeom>
              <a:avLst/>
              <a:gdLst/>
              <a:ahLst/>
              <a:cxnLst/>
              <a:rect l="l" t="t" r="r" b="b"/>
              <a:pathLst>
                <a:path w="5018287" h="880060">
                  <a:moveTo>
                    <a:pt x="0" y="0"/>
                  </a:moveTo>
                  <a:lnTo>
                    <a:pt x="5018287" y="0"/>
                  </a:lnTo>
                  <a:lnTo>
                    <a:pt x="5018287" y="880060"/>
                  </a:lnTo>
                  <a:lnTo>
                    <a:pt x="0" y="8800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5018287" cy="918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64"/>
                </a:lnSpc>
              </a:pPr>
              <a:r>
                <a:rPr lang="en-US" sz="3237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Staging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2489202" y="7333661"/>
            <a:ext cx="14901119" cy="574018"/>
            <a:chOff x="0" y="0"/>
            <a:chExt cx="19868158" cy="76535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9868158" cy="765358"/>
            </a:xfrm>
            <a:custGeom>
              <a:avLst/>
              <a:gdLst/>
              <a:ahLst/>
              <a:cxnLst/>
              <a:rect l="l" t="t" r="r" b="b"/>
              <a:pathLst>
                <a:path w="19868158" h="765358">
                  <a:moveTo>
                    <a:pt x="0" y="0"/>
                  </a:moveTo>
                  <a:lnTo>
                    <a:pt x="19868158" y="0"/>
                  </a:lnTo>
                  <a:lnTo>
                    <a:pt x="19868158" y="765358"/>
                  </a:lnTo>
                  <a:lnTo>
                    <a:pt x="0" y="7653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85725"/>
              <a:ext cx="19868158" cy="8510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8"/>
                </a:lnSpc>
              </a:pPr>
              <a:r>
                <a:rPr lang="en-US" sz="2237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Deploy to staging environment.</a:t>
              </a:r>
            </a:p>
          </p:txBody>
        </p:sp>
      </p:grpSp>
      <p:sp>
        <p:nvSpPr>
          <p:cNvPr id="37" name="Freeform 37" descr="preencoded.png"/>
          <p:cNvSpPr/>
          <p:nvPr/>
        </p:nvSpPr>
        <p:spPr>
          <a:xfrm>
            <a:off x="878086" y="8072140"/>
            <a:ext cx="1254472" cy="1523851"/>
          </a:xfrm>
          <a:custGeom>
            <a:avLst/>
            <a:gdLst/>
            <a:ahLst/>
            <a:cxnLst/>
            <a:rect l="l" t="t" r="r" b="b"/>
            <a:pathLst>
              <a:path w="1254472" h="1523851">
                <a:moveTo>
                  <a:pt x="0" y="0"/>
                </a:moveTo>
                <a:lnTo>
                  <a:pt x="1254473" y="0"/>
                </a:lnTo>
                <a:lnTo>
                  <a:pt x="1254473" y="1523851"/>
                </a:lnTo>
                <a:lnTo>
                  <a:pt x="0" y="15238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7" r="-10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8" name="Group 38"/>
          <p:cNvGrpSpPr/>
          <p:nvPr/>
        </p:nvGrpSpPr>
        <p:grpSpPr>
          <a:xfrm>
            <a:off x="2489202" y="8236601"/>
            <a:ext cx="3763715" cy="660045"/>
            <a:chOff x="0" y="0"/>
            <a:chExt cx="5018287" cy="88006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018287" cy="880060"/>
            </a:xfrm>
            <a:custGeom>
              <a:avLst/>
              <a:gdLst/>
              <a:ahLst/>
              <a:cxnLst/>
              <a:rect l="l" t="t" r="r" b="b"/>
              <a:pathLst>
                <a:path w="5018287" h="880060">
                  <a:moveTo>
                    <a:pt x="0" y="0"/>
                  </a:moveTo>
                  <a:lnTo>
                    <a:pt x="5018287" y="0"/>
                  </a:lnTo>
                  <a:lnTo>
                    <a:pt x="5018287" y="880060"/>
                  </a:lnTo>
                  <a:lnTo>
                    <a:pt x="0" y="8800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5018287" cy="918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64"/>
                </a:lnSpc>
              </a:pPr>
              <a:r>
                <a:rPr lang="en-US" sz="3237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Production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2489202" y="8857512"/>
            <a:ext cx="14901119" cy="574018"/>
            <a:chOff x="0" y="0"/>
            <a:chExt cx="19868158" cy="76535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9868158" cy="765358"/>
            </a:xfrm>
            <a:custGeom>
              <a:avLst/>
              <a:gdLst/>
              <a:ahLst/>
              <a:cxnLst/>
              <a:rect l="l" t="t" r="r" b="b"/>
              <a:pathLst>
                <a:path w="19868158" h="765358">
                  <a:moveTo>
                    <a:pt x="0" y="0"/>
                  </a:moveTo>
                  <a:lnTo>
                    <a:pt x="19868158" y="0"/>
                  </a:lnTo>
                  <a:lnTo>
                    <a:pt x="19868158" y="765358"/>
                  </a:lnTo>
                  <a:lnTo>
                    <a:pt x="0" y="7653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85725"/>
              <a:ext cx="19868158" cy="8510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8"/>
                </a:lnSpc>
              </a:pPr>
              <a:r>
                <a:rPr lang="en-US" sz="2237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Final deployment to users.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2087816" y="9073035"/>
            <a:ext cx="5302505" cy="779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3"/>
              </a:lnSpc>
              <a:spcBef>
                <a:spcPct val="0"/>
              </a:spcBef>
            </a:pPr>
            <a:r>
              <a:rPr lang="en-US" sz="241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What are the tools used in each of these stages..?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1349A-051E-7D41-FEBD-6F79CF1D3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EC9C4D4-D738-994B-C625-1A0B0D846A65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A7167CE-6EC6-A5D8-BE98-129364E5A82F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255934A6-9BEF-C429-2ADB-D0069C647FD2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F15215E-B2DB-E5A6-5276-71AC92A4F8AC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E523D8A-A853-B4A3-3E81-4C4930BDF5F8}"/>
              </a:ext>
            </a:extLst>
          </p:cNvPr>
          <p:cNvGrpSpPr/>
          <p:nvPr/>
        </p:nvGrpSpPr>
        <p:grpSpPr>
          <a:xfrm>
            <a:off x="976391" y="847839"/>
            <a:ext cx="7104084" cy="1145119"/>
            <a:chOff x="-21129" y="-345526"/>
            <a:chExt cx="9472113" cy="152682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C252F63-0F16-588F-DBE8-17CF49579855}"/>
                </a:ext>
              </a:extLst>
            </p:cNvPr>
            <p:cNvSpPr/>
            <p:nvPr/>
          </p:nvSpPr>
          <p:spPr>
            <a:xfrm>
              <a:off x="0" y="0"/>
              <a:ext cx="9450984" cy="1181298"/>
            </a:xfrm>
            <a:custGeom>
              <a:avLst/>
              <a:gdLst/>
              <a:ahLst/>
              <a:cxnLst/>
              <a:rect l="l" t="t" r="r" b="b"/>
              <a:pathLst>
                <a:path w="9450984" h="1181298">
                  <a:moveTo>
                    <a:pt x="0" y="0"/>
                  </a:moveTo>
                  <a:lnTo>
                    <a:pt x="9450984" y="0"/>
                  </a:lnTo>
                  <a:lnTo>
                    <a:pt x="9450984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7EB9656-F7C3-EAAC-0BED-69D0584A2AAD}"/>
                </a:ext>
              </a:extLst>
            </p:cNvPr>
            <p:cNvSpPr txBox="1"/>
            <p:nvPr/>
          </p:nvSpPr>
          <p:spPr>
            <a:xfrm>
              <a:off x="-21129" y="-345526"/>
              <a:ext cx="9450983" cy="12384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937"/>
                </a:lnSpc>
              </a:pPr>
              <a:r>
                <a:rPr lang="en-US" sz="5562" dirty="0">
                  <a:solidFill>
                    <a:srgbClr val="272D45"/>
                  </a:solidFill>
                  <a:latin typeface="Arimo"/>
                  <a:ea typeface="Arimo"/>
                  <a:cs typeface="Arimo"/>
                  <a:sym typeface="Arimo"/>
                </a:rPr>
                <a:t>Practical Exposure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544F7A02-6F1D-66F7-B9BC-BAEB16FC8DAC}"/>
              </a:ext>
            </a:extLst>
          </p:cNvPr>
          <p:cNvGrpSpPr/>
          <p:nvPr/>
        </p:nvGrpSpPr>
        <p:grpSpPr>
          <a:xfrm>
            <a:off x="987475" y="2226888"/>
            <a:ext cx="16303526" cy="729556"/>
            <a:chOff x="0" y="0"/>
            <a:chExt cx="21738035" cy="972741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668D8FC-E881-664F-D311-EA3CF814AD8E}"/>
                </a:ext>
              </a:extLst>
            </p:cNvPr>
            <p:cNvSpPr/>
            <p:nvPr/>
          </p:nvSpPr>
          <p:spPr>
            <a:xfrm>
              <a:off x="0" y="0"/>
              <a:ext cx="21738034" cy="972741"/>
            </a:xfrm>
            <a:custGeom>
              <a:avLst/>
              <a:gdLst/>
              <a:ahLst/>
              <a:cxnLst/>
              <a:rect l="l" t="t" r="r" b="b"/>
              <a:pathLst>
                <a:path w="21738034" h="972741">
                  <a:moveTo>
                    <a:pt x="0" y="0"/>
                  </a:moveTo>
                  <a:lnTo>
                    <a:pt x="21738034" y="0"/>
                  </a:lnTo>
                  <a:lnTo>
                    <a:pt x="21738034" y="972741"/>
                  </a:lnTo>
                  <a:lnTo>
                    <a:pt x="0" y="9727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CDC0C5F1-E4C1-B2D0-4475-4684CEEE9780}"/>
                </a:ext>
              </a:extLst>
            </p:cNvPr>
            <p:cNvSpPr txBox="1"/>
            <p:nvPr/>
          </p:nvSpPr>
          <p:spPr>
            <a:xfrm>
              <a:off x="0" y="-104775"/>
              <a:ext cx="21738035" cy="10775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98"/>
                </a:lnSpc>
              </a:pPr>
              <a:r>
                <a:rPr lang="en-US" sz="2850" dirty="0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Let’s practically understand and observe how continuous deployment works by deploying a website onto GitHub pages.</a:t>
              </a:r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F6192700-3A6F-876A-CF82-25C07DCB9BA0}"/>
              </a:ext>
            </a:extLst>
          </p:cNvPr>
          <p:cNvGrpSpPr/>
          <p:nvPr/>
        </p:nvGrpSpPr>
        <p:grpSpPr>
          <a:xfrm>
            <a:off x="1311176" y="3445817"/>
            <a:ext cx="38100" cy="5734199"/>
            <a:chOff x="0" y="0"/>
            <a:chExt cx="50800" cy="764559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099D9C2F-8985-AC95-7BDB-022A6B588F6B}"/>
                </a:ext>
              </a:extLst>
            </p:cNvPr>
            <p:cNvSpPr/>
            <p:nvPr/>
          </p:nvSpPr>
          <p:spPr>
            <a:xfrm>
              <a:off x="0" y="0"/>
              <a:ext cx="50800" cy="7645654"/>
            </a:xfrm>
            <a:custGeom>
              <a:avLst/>
              <a:gdLst/>
              <a:ahLst/>
              <a:cxnLst/>
              <a:rect l="l" t="t" r="r" b="b"/>
              <a:pathLst>
                <a:path w="50800" h="7645654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7620254"/>
                  </a:lnTo>
                  <a:cubicBezTo>
                    <a:pt x="50800" y="7634224"/>
                    <a:pt x="39370" y="7645654"/>
                    <a:pt x="25400" y="7645654"/>
                  </a:cubicBezTo>
                  <a:cubicBezTo>
                    <a:pt x="11430" y="7645654"/>
                    <a:pt x="0" y="7634224"/>
                    <a:pt x="0" y="7620254"/>
                  </a:cubicBezTo>
                  <a:close/>
                </a:path>
              </a:pathLst>
            </a:custGeom>
            <a:solidFill>
              <a:srgbClr val="C5D2C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1D5076E7-8DEF-9626-41D7-593CE2F1FCC0}"/>
              </a:ext>
            </a:extLst>
          </p:cNvPr>
          <p:cNvGrpSpPr/>
          <p:nvPr/>
        </p:nvGrpSpPr>
        <p:grpSpPr>
          <a:xfrm>
            <a:off x="1592015" y="4064645"/>
            <a:ext cx="850553" cy="38100"/>
            <a:chOff x="0" y="0"/>
            <a:chExt cx="1134070" cy="50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598B4F4E-F7E2-D271-660C-675AA4B57C16}"/>
                </a:ext>
              </a:extLst>
            </p:cNvPr>
            <p:cNvSpPr/>
            <p:nvPr/>
          </p:nvSpPr>
          <p:spPr>
            <a:xfrm>
              <a:off x="0" y="0"/>
              <a:ext cx="1134110" cy="50800"/>
            </a:xfrm>
            <a:custGeom>
              <a:avLst/>
              <a:gdLst/>
              <a:ahLst/>
              <a:cxnLst/>
              <a:rect l="l" t="t" r="r" b="b"/>
              <a:pathLst>
                <a:path w="1134110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C5D2C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414EC281-AFF8-5345-D93D-905E1CA41D66}"/>
              </a:ext>
            </a:extLst>
          </p:cNvPr>
          <p:cNvGrpSpPr/>
          <p:nvPr/>
        </p:nvGrpSpPr>
        <p:grpSpPr>
          <a:xfrm>
            <a:off x="987475" y="3759994"/>
            <a:ext cx="647402" cy="647402"/>
            <a:chOff x="0" y="0"/>
            <a:chExt cx="863203" cy="86320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0E02373-C599-09A0-97CD-390D41DF6A86}"/>
                </a:ext>
              </a:extLst>
            </p:cNvPr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DFEC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45DE0ABE-BD01-09D3-D368-F9034E6A4C33}"/>
                </a:ext>
              </a:extLst>
            </p:cNvPr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5D2C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5AC82512-A4D9-03A2-6AFF-28F41FDDDC69}"/>
              </a:ext>
            </a:extLst>
          </p:cNvPr>
          <p:cNvGrpSpPr/>
          <p:nvPr/>
        </p:nvGrpSpPr>
        <p:grpSpPr>
          <a:xfrm>
            <a:off x="1098575" y="3817888"/>
            <a:ext cx="425202" cy="531614"/>
            <a:chOff x="0" y="0"/>
            <a:chExt cx="566937" cy="708818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719F7AB8-53AE-3C5E-DCFB-9632AE75DA7D}"/>
                </a:ext>
              </a:extLst>
            </p:cNvPr>
            <p:cNvSpPr/>
            <p:nvPr/>
          </p:nvSpPr>
          <p:spPr>
            <a:xfrm>
              <a:off x="0" y="0"/>
              <a:ext cx="566937" cy="708818"/>
            </a:xfrm>
            <a:custGeom>
              <a:avLst/>
              <a:gdLst/>
              <a:ahLst/>
              <a:cxnLst/>
              <a:rect l="l" t="t" r="r" b="b"/>
              <a:pathLst>
                <a:path w="566937" h="708818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5CA43F2F-2888-CBAC-F84A-56DB7C9E8600}"/>
                </a:ext>
              </a:extLst>
            </p:cNvPr>
            <p:cNvSpPr txBox="1"/>
            <p:nvPr/>
          </p:nvSpPr>
          <p:spPr>
            <a:xfrm>
              <a:off x="0" y="38100"/>
              <a:ext cx="566937" cy="67071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0B6B0EB-F0D9-4171-5C66-5A309F29221C}"/>
              </a:ext>
            </a:extLst>
          </p:cNvPr>
          <p:cNvGrpSpPr/>
          <p:nvPr/>
        </p:nvGrpSpPr>
        <p:grpSpPr>
          <a:xfrm>
            <a:off x="2728764" y="3729335"/>
            <a:ext cx="4252912" cy="531614"/>
            <a:chOff x="0" y="0"/>
            <a:chExt cx="5670550" cy="708818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FC6AB56-8239-969D-4FEC-7F45240CB968}"/>
                </a:ext>
              </a:extLst>
            </p:cNvPr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4D0C9A3-1AC1-F918-249C-5219324754D8}"/>
                </a:ext>
              </a:extLst>
            </p:cNvPr>
            <p:cNvSpPr txBox="1"/>
            <p:nvPr/>
          </p:nvSpPr>
          <p:spPr>
            <a:xfrm>
              <a:off x="0" y="-38100"/>
              <a:ext cx="5670550" cy="7469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2" dirty="0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Clone this Repository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70464118-43E9-F3B4-76C1-A9E663AFA017}"/>
              </a:ext>
            </a:extLst>
          </p:cNvPr>
          <p:cNvGrpSpPr/>
          <p:nvPr/>
        </p:nvGrpSpPr>
        <p:grpSpPr>
          <a:xfrm>
            <a:off x="2728764" y="4366766"/>
            <a:ext cx="14567000" cy="517923"/>
            <a:chOff x="0" y="-85725"/>
            <a:chExt cx="19422666" cy="69056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B01B964B-42D3-5A0F-0789-A7EC85BBBAA9}"/>
                </a:ext>
              </a:extLst>
            </p:cNvPr>
            <p:cNvSpPr/>
            <p:nvPr/>
          </p:nvSpPr>
          <p:spPr>
            <a:xfrm>
              <a:off x="0" y="0"/>
              <a:ext cx="19422666" cy="604838"/>
            </a:xfrm>
            <a:custGeom>
              <a:avLst/>
              <a:gdLst/>
              <a:ahLst/>
              <a:cxnLst/>
              <a:rect l="l" t="t" r="r" b="b"/>
              <a:pathLst>
                <a:path w="19422666" h="604838">
                  <a:moveTo>
                    <a:pt x="0" y="0"/>
                  </a:moveTo>
                  <a:lnTo>
                    <a:pt x="19422666" y="0"/>
                  </a:lnTo>
                  <a:lnTo>
                    <a:pt x="19422666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4166D490-4C17-A29D-4296-D6EECA26509B}"/>
                </a:ext>
              </a:extLst>
            </p:cNvPr>
            <p:cNvSpPr txBox="1"/>
            <p:nvPr/>
          </p:nvSpPr>
          <p:spPr>
            <a:xfrm>
              <a:off x="0" y="-85725"/>
              <a:ext cx="19422665" cy="6905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3562"/>
                </a:lnSpc>
              </a:pPr>
              <a:r>
                <a:rPr lang="en-US" sz="2187" u="sng" dirty="0">
                  <a:solidFill>
                    <a:srgbClr val="437066"/>
                  </a:solidFill>
                  <a:latin typeface="Martel Sans"/>
                  <a:ea typeface="Martel Sans"/>
                  <a:cs typeface="Martel Sans"/>
                  <a:sym typeface="Martel Sans"/>
                  <a:hlinkClick r:id="rId3" tooltip="https://github.com/Anees-DevOps/CI-CDel-CDep"/>
                </a:rPr>
                <a:t>https://github.com/Anees-DevOps/CD-Demo_test.git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02843668-5F5A-315F-55AF-D8853FDA7A7D}"/>
              </a:ext>
            </a:extLst>
          </p:cNvPr>
          <p:cNvGrpSpPr/>
          <p:nvPr/>
        </p:nvGrpSpPr>
        <p:grpSpPr>
          <a:xfrm>
            <a:off x="1592015" y="6070550"/>
            <a:ext cx="850553" cy="38100"/>
            <a:chOff x="0" y="0"/>
            <a:chExt cx="1134070" cy="50800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30DE83A3-FBA1-E8DD-AC5F-12B164FFC81F}"/>
                </a:ext>
              </a:extLst>
            </p:cNvPr>
            <p:cNvSpPr/>
            <p:nvPr/>
          </p:nvSpPr>
          <p:spPr>
            <a:xfrm>
              <a:off x="0" y="0"/>
              <a:ext cx="1134110" cy="50800"/>
            </a:xfrm>
            <a:custGeom>
              <a:avLst/>
              <a:gdLst/>
              <a:ahLst/>
              <a:cxnLst/>
              <a:rect l="l" t="t" r="r" b="b"/>
              <a:pathLst>
                <a:path w="1134110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C5D2C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>
            <a:extLst>
              <a:ext uri="{FF2B5EF4-FFF2-40B4-BE49-F238E27FC236}">
                <a16:creationId xmlns:a16="http://schemas.microsoft.com/office/drawing/2014/main" id="{BDF9D0E6-CF60-3C22-4AB6-F4A3850DB931}"/>
              </a:ext>
            </a:extLst>
          </p:cNvPr>
          <p:cNvGrpSpPr/>
          <p:nvPr/>
        </p:nvGrpSpPr>
        <p:grpSpPr>
          <a:xfrm>
            <a:off x="987475" y="5765899"/>
            <a:ext cx="647402" cy="647402"/>
            <a:chOff x="0" y="0"/>
            <a:chExt cx="863203" cy="863203"/>
          </a:xfrm>
        </p:grpSpPr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FD08CC0A-DDAC-E7BF-E493-3BDDFEA792C4}"/>
                </a:ext>
              </a:extLst>
            </p:cNvPr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DFEC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FBE01EAE-0E66-834E-E63D-A21487CC9405}"/>
                </a:ext>
              </a:extLst>
            </p:cNvPr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5D2C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350C25B0-9F42-5FC4-8ECA-0951417B1AF0}"/>
              </a:ext>
            </a:extLst>
          </p:cNvPr>
          <p:cNvGrpSpPr/>
          <p:nvPr/>
        </p:nvGrpSpPr>
        <p:grpSpPr>
          <a:xfrm>
            <a:off x="1098575" y="5823794"/>
            <a:ext cx="425202" cy="531614"/>
            <a:chOff x="0" y="0"/>
            <a:chExt cx="566937" cy="708818"/>
          </a:xfrm>
        </p:grpSpPr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0E1CD9C0-3165-9349-A654-A5EB0EE5FA70}"/>
                </a:ext>
              </a:extLst>
            </p:cNvPr>
            <p:cNvSpPr/>
            <p:nvPr/>
          </p:nvSpPr>
          <p:spPr>
            <a:xfrm>
              <a:off x="0" y="0"/>
              <a:ext cx="566937" cy="708818"/>
            </a:xfrm>
            <a:custGeom>
              <a:avLst/>
              <a:gdLst/>
              <a:ahLst/>
              <a:cxnLst/>
              <a:rect l="l" t="t" r="r" b="b"/>
              <a:pathLst>
                <a:path w="566937" h="708818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>
              <a:extLst>
                <a:ext uri="{FF2B5EF4-FFF2-40B4-BE49-F238E27FC236}">
                  <a16:creationId xmlns:a16="http://schemas.microsoft.com/office/drawing/2014/main" id="{99980A06-43EC-1F19-A8D5-ADE38755CCFE}"/>
                </a:ext>
              </a:extLst>
            </p:cNvPr>
            <p:cNvSpPr txBox="1"/>
            <p:nvPr/>
          </p:nvSpPr>
          <p:spPr>
            <a:xfrm>
              <a:off x="0" y="38100"/>
              <a:ext cx="566937" cy="67071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grpSp>
        <p:nvGrpSpPr>
          <p:cNvPr id="36" name="Group 36">
            <a:extLst>
              <a:ext uri="{FF2B5EF4-FFF2-40B4-BE49-F238E27FC236}">
                <a16:creationId xmlns:a16="http://schemas.microsoft.com/office/drawing/2014/main" id="{167ED322-10F2-E78A-5E8E-91A87D07ED2E}"/>
              </a:ext>
            </a:extLst>
          </p:cNvPr>
          <p:cNvGrpSpPr/>
          <p:nvPr/>
        </p:nvGrpSpPr>
        <p:grpSpPr>
          <a:xfrm>
            <a:off x="2728764" y="5667227"/>
            <a:ext cx="9902197" cy="667642"/>
            <a:chOff x="0" y="0"/>
            <a:chExt cx="13202929" cy="890190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EC75E328-2FDC-9C1B-3E2C-5E31C32CAC30}"/>
                </a:ext>
              </a:extLst>
            </p:cNvPr>
            <p:cNvSpPr/>
            <p:nvPr/>
          </p:nvSpPr>
          <p:spPr>
            <a:xfrm>
              <a:off x="0" y="0"/>
              <a:ext cx="13202929" cy="890190"/>
            </a:xfrm>
            <a:custGeom>
              <a:avLst/>
              <a:gdLst/>
              <a:ahLst/>
              <a:cxnLst/>
              <a:rect l="l" t="t" r="r" b="b"/>
              <a:pathLst>
                <a:path w="13202929" h="890190">
                  <a:moveTo>
                    <a:pt x="0" y="0"/>
                  </a:moveTo>
                  <a:lnTo>
                    <a:pt x="13202929" y="0"/>
                  </a:lnTo>
                  <a:lnTo>
                    <a:pt x="13202929" y="890190"/>
                  </a:lnTo>
                  <a:lnTo>
                    <a:pt x="0" y="8901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029DF2E8-47BA-7A1B-23A8-34B17BB8FA6E}"/>
                </a:ext>
              </a:extLst>
            </p:cNvPr>
            <p:cNvSpPr txBox="1"/>
            <p:nvPr/>
          </p:nvSpPr>
          <p:spPr>
            <a:xfrm>
              <a:off x="0" y="-38100"/>
              <a:ext cx="13202929" cy="9282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2" dirty="0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Analyze the GitHub Actions YAML files.</a:t>
              </a:r>
            </a:p>
          </p:txBody>
        </p:sp>
      </p:grpSp>
      <p:grpSp>
        <p:nvGrpSpPr>
          <p:cNvPr id="39" name="Group 39">
            <a:extLst>
              <a:ext uri="{FF2B5EF4-FFF2-40B4-BE49-F238E27FC236}">
                <a16:creationId xmlns:a16="http://schemas.microsoft.com/office/drawing/2014/main" id="{237340FB-2317-237E-C9F6-AC591CB6CB26}"/>
              </a:ext>
            </a:extLst>
          </p:cNvPr>
          <p:cNvGrpSpPr/>
          <p:nvPr/>
        </p:nvGrpSpPr>
        <p:grpSpPr>
          <a:xfrm>
            <a:off x="2728764" y="6436965"/>
            <a:ext cx="14566999" cy="453629"/>
            <a:chOff x="0" y="0"/>
            <a:chExt cx="19422665" cy="604838"/>
          </a:xfrm>
        </p:grpSpPr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7BCEAF9E-E2C4-72C5-E50B-8F5A16149082}"/>
                </a:ext>
              </a:extLst>
            </p:cNvPr>
            <p:cNvSpPr/>
            <p:nvPr/>
          </p:nvSpPr>
          <p:spPr>
            <a:xfrm>
              <a:off x="0" y="0"/>
              <a:ext cx="19422666" cy="604838"/>
            </a:xfrm>
            <a:custGeom>
              <a:avLst/>
              <a:gdLst/>
              <a:ahLst/>
              <a:cxnLst/>
              <a:rect l="l" t="t" r="r" b="b"/>
              <a:pathLst>
                <a:path w="19422666" h="604838">
                  <a:moveTo>
                    <a:pt x="0" y="0"/>
                  </a:moveTo>
                  <a:lnTo>
                    <a:pt x="19422666" y="0"/>
                  </a:lnTo>
                  <a:lnTo>
                    <a:pt x="19422666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>
              <a:extLst>
                <a:ext uri="{FF2B5EF4-FFF2-40B4-BE49-F238E27FC236}">
                  <a16:creationId xmlns:a16="http://schemas.microsoft.com/office/drawing/2014/main" id="{6CA2133D-D5FC-C7E0-ACE3-8B06B4C1C0E3}"/>
                </a:ext>
              </a:extLst>
            </p:cNvPr>
            <p:cNvSpPr txBox="1"/>
            <p:nvPr/>
          </p:nvSpPr>
          <p:spPr>
            <a:xfrm>
              <a:off x="0" y="-85725"/>
              <a:ext cx="19422665" cy="6905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 dirty="0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You will find different files for each type within the repository</a:t>
              </a:r>
            </a:p>
          </p:txBody>
        </p:sp>
      </p:grpSp>
      <p:grpSp>
        <p:nvGrpSpPr>
          <p:cNvPr id="42" name="Group 42">
            <a:extLst>
              <a:ext uri="{FF2B5EF4-FFF2-40B4-BE49-F238E27FC236}">
                <a16:creationId xmlns:a16="http://schemas.microsoft.com/office/drawing/2014/main" id="{7D6DC03D-0025-EF63-E0D5-D659329D67A5}"/>
              </a:ext>
            </a:extLst>
          </p:cNvPr>
          <p:cNvGrpSpPr/>
          <p:nvPr/>
        </p:nvGrpSpPr>
        <p:grpSpPr>
          <a:xfrm>
            <a:off x="1592015" y="8076456"/>
            <a:ext cx="850553" cy="38100"/>
            <a:chOff x="0" y="0"/>
            <a:chExt cx="1134070" cy="50800"/>
          </a:xfrm>
        </p:grpSpPr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891E2B78-F029-9018-D643-F09E8DBCF0DE}"/>
                </a:ext>
              </a:extLst>
            </p:cNvPr>
            <p:cNvSpPr/>
            <p:nvPr/>
          </p:nvSpPr>
          <p:spPr>
            <a:xfrm>
              <a:off x="0" y="0"/>
              <a:ext cx="1134110" cy="50800"/>
            </a:xfrm>
            <a:custGeom>
              <a:avLst/>
              <a:gdLst/>
              <a:ahLst/>
              <a:cxnLst/>
              <a:rect l="l" t="t" r="r" b="b"/>
              <a:pathLst>
                <a:path w="1134110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C5D2C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roup 44">
            <a:extLst>
              <a:ext uri="{FF2B5EF4-FFF2-40B4-BE49-F238E27FC236}">
                <a16:creationId xmlns:a16="http://schemas.microsoft.com/office/drawing/2014/main" id="{954BA386-652F-FF38-801E-158838088371}"/>
              </a:ext>
            </a:extLst>
          </p:cNvPr>
          <p:cNvGrpSpPr/>
          <p:nvPr/>
        </p:nvGrpSpPr>
        <p:grpSpPr>
          <a:xfrm>
            <a:off x="987475" y="7771805"/>
            <a:ext cx="647402" cy="647403"/>
            <a:chOff x="0" y="0"/>
            <a:chExt cx="863203" cy="863203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07BE4F90-3370-4E71-8FAF-B8063468B3C9}"/>
                </a:ext>
              </a:extLst>
            </p:cNvPr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DFEC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CC23C655-A04F-D9C6-C351-595A29F3A89D}"/>
                </a:ext>
              </a:extLst>
            </p:cNvPr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5D2C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7">
            <a:extLst>
              <a:ext uri="{FF2B5EF4-FFF2-40B4-BE49-F238E27FC236}">
                <a16:creationId xmlns:a16="http://schemas.microsoft.com/office/drawing/2014/main" id="{E95E1093-E7B0-9EE1-A667-832D8228F7FC}"/>
              </a:ext>
            </a:extLst>
          </p:cNvPr>
          <p:cNvGrpSpPr/>
          <p:nvPr/>
        </p:nvGrpSpPr>
        <p:grpSpPr>
          <a:xfrm>
            <a:off x="1098575" y="7829699"/>
            <a:ext cx="425202" cy="531614"/>
            <a:chOff x="0" y="0"/>
            <a:chExt cx="566937" cy="708818"/>
          </a:xfrm>
        </p:grpSpPr>
        <p:sp>
          <p:nvSpPr>
            <p:cNvPr id="48" name="Freeform 48">
              <a:extLst>
                <a:ext uri="{FF2B5EF4-FFF2-40B4-BE49-F238E27FC236}">
                  <a16:creationId xmlns:a16="http://schemas.microsoft.com/office/drawing/2014/main" id="{02387252-D26C-F966-F26C-BF1BBA83E30D}"/>
                </a:ext>
              </a:extLst>
            </p:cNvPr>
            <p:cNvSpPr/>
            <p:nvPr/>
          </p:nvSpPr>
          <p:spPr>
            <a:xfrm>
              <a:off x="0" y="0"/>
              <a:ext cx="566937" cy="708818"/>
            </a:xfrm>
            <a:custGeom>
              <a:avLst/>
              <a:gdLst/>
              <a:ahLst/>
              <a:cxnLst/>
              <a:rect l="l" t="t" r="r" b="b"/>
              <a:pathLst>
                <a:path w="566937" h="708818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>
              <a:extLst>
                <a:ext uri="{FF2B5EF4-FFF2-40B4-BE49-F238E27FC236}">
                  <a16:creationId xmlns:a16="http://schemas.microsoft.com/office/drawing/2014/main" id="{48140DED-79FD-81FE-A22A-B9D01CDA44C4}"/>
                </a:ext>
              </a:extLst>
            </p:cNvPr>
            <p:cNvSpPr txBox="1"/>
            <p:nvPr/>
          </p:nvSpPr>
          <p:spPr>
            <a:xfrm>
              <a:off x="0" y="38100"/>
              <a:ext cx="566937" cy="67071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grpSp>
        <p:nvGrpSpPr>
          <p:cNvPr id="50" name="Group 50">
            <a:extLst>
              <a:ext uri="{FF2B5EF4-FFF2-40B4-BE49-F238E27FC236}">
                <a16:creationId xmlns:a16="http://schemas.microsoft.com/office/drawing/2014/main" id="{F7C3D7B6-40D9-8F6F-F04B-39F72C5AD4B2}"/>
              </a:ext>
            </a:extLst>
          </p:cNvPr>
          <p:cNvGrpSpPr/>
          <p:nvPr/>
        </p:nvGrpSpPr>
        <p:grpSpPr>
          <a:xfrm>
            <a:off x="2728764" y="7673132"/>
            <a:ext cx="12597795" cy="667642"/>
            <a:chOff x="0" y="0"/>
            <a:chExt cx="16797060" cy="890190"/>
          </a:xfrm>
        </p:grpSpPr>
        <p:sp>
          <p:nvSpPr>
            <p:cNvPr id="51" name="Freeform 51">
              <a:extLst>
                <a:ext uri="{FF2B5EF4-FFF2-40B4-BE49-F238E27FC236}">
                  <a16:creationId xmlns:a16="http://schemas.microsoft.com/office/drawing/2014/main" id="{DCD15D3F-7D79-DA6D-14E5-BC477817A38C}"/>
                </a:ext>
              </a:extLst>
            </p:cNvPr>
            <p:cNvSpPr/>
            <p:nvPr/>
          </p:nvSpPr>
          <p:spPr>
            <a:xfrm>
              <a:off x="0" y="0"/>
              <a:ext cx="16797060" cy="890190"/>
            </a:xfrm>
            <a:custGeom>
              <a:avLst/>
              <a:gdLst/>
              <a:ahLst/>
              <a:cxnLst/>
              <a:rect l="l" t="t" r="r" b="b"/>
              <a:pathLst>
                <a:path w="16797060" h="890190">
                  <a:moveTo>
                    <a:pt x="0" y="0"/>
                  </a:moveTo>
                  <a:lnTo>
                    <a:pt x="16797060" y="0"/>
                  </a:lnTo>
                  <a:lnTo>
                    <a:pt x="16797060" y="890190"/>
                  </a:lnTo>
                  <a:lnTo>
                    <a:pt x="0" y="8901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>
              <a:extLst>
                <a:ext uri="{FF2B5EF4-FFF2-40B4-BE49-F238E27FC236}">
                  <a16:creationId xmlns:a16="http://schemas.microsoft.com/office/drawing/2014/main" id="{A01C2036-E1F2-F406-F79D-B32DD40297BD}"/>
                </a:ext>
              </a:extLst>
            </p:cNvPr>
            <p:cNvSpPr txBox="1"/>
            <p:nvPr/>
          </p:nvSpPr>
          <p:spPr>
            <a:xfrm>
              <a:off x="0" y="-38100"/>
              <a:ext cx="16797060" cy="9282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2" dirty="0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Understand the entire workflow and execute it</a:t>
              </a:r>
            </a:p>
          </p:txBody>
        </p:sp>
      </p:grpSp>
      <p:grpSp>
        <p:nvGrpSpPr>
          <p:cNvPr id="53" name="Group 53">
            <a:extLst>
              <a:ext uri="{FF2B5EF4-FFF2-40B4-BE49-F238E27FC236}">
                <a16:creationId xmlns:a16="http://schemas.microsoft.com/office/drawing/2014/main" id="{C6FCC342-F0A2-387B-16FF-BB962F236B71}"/>
              </a:ext>
            </a:extLst>
          </p:cNvPr>
          <p:cNvGrpSpPr/>
          <p:nvPr/>
        </p:nvGrpSpPr>
        <p:grpSpPr>
          <a:xfrm>
            <a:off x="2728764" y="8442871"/>
            <a:ext cx="14566999" cy="453629"/>
            <a:chOff x="0" y="0"/>
            <a:chExt cx="19422665" cy="604838"/>
          </a:xfrm>
        </p:grpSpPr>
        <p:sp>
          <p:nvSpPr>
            <p:cNvPr id="54" name="Freeform 54">
              <a:extLst>
                <a:ext uri="{FF2B5EF4-FFF2-40B4-BE49-F238E27FC236}">
                  <a16:creationId xmlns:a16="http://schemas.microsoft.com/office/drawing/2014/main" id="{6E5DE8D1-A814-622E-4DDC-6B29A7E91F59}"/>
                </a:ext>
              </a:extLst>
            </p:cNvPr>
            <p:cNvSpPr/>
            <p:nvPr/>
          </p:nvSpPr>
          <p:spPr>
            <a:xfrm>
              <a:off x="0" y="0"/>
              <a:ext cx="19422666" cy="604838"/>
            </a:xfrm>
            <a:custGeom>
              <a:avLst/>
              <a:gdLst/>
              <a:ahLst/>
              <a:cxnLst/>
              <a:rect l="l" t="t" r="r" b="b"/>
              <a:pathLst>
                <a:path w="19422666" h="604838">
                  <a:moveTo>
                    <a:pt x="0" y="0"/>
                  </a:moveTo>
                  <a:lnTo>
                    <a:pt x="19422666" y="0"/>
                  </a:lnTo>
                  <a:lnTo>
                    <a:pt x="19422666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>
              <a:extLst>
                <a:ext uri="{FF2B5EF4-FFF2-40B4-BE49-F238E27FC236}">
                  <a16:creationId xmlns:a16="http://schemas.microsoft.com/office/drawing/2014/main" id="{179F785B-502B-E572-29E6-F44DADCE5E2C}"/>
                </a:ext>
              </a:extLst>
            </p:cNvPr>
            <p:cNvSpPr txBox="1"/>
            <p:nvPr/>
          </p:nvSpPr>
          <p:spPr>
            <a:xfrm>
              <a:off x="0" y="-85725"/>
              <a:ext cx="19422665" cy="6905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Understand the flow of steps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488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94160" y="702618"/>
            <a:ext cx="11617606" cy="1018964"/>
            <a:chOff x="0" y="0"/>
            <a:chExt cx="15490141" cy="13586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490141" cy="1358619"/>
            </a:xfrm>
            <a:custGeom>
              <a:avLst/>
              <a:gdLst/>
              <a:ahLst/>
              <a:cxnLst/>
              <a:rect l="l" t="t" r="r" b="b"/>
              <a:pathLst>
                <a:path w="15490141" h="1358619">
                  <a:moveTo>
                    <a:pt x="0" y="0"/>
                  </a:moveTo>
                  <a:lnTo>
                    <a:pt x="15490141" y="0"/>
                  </a:lnTo>
                  <a:lnTo>
                    <a:pt x="15490141" y="1358619"/>
                  </a:lnTo>
                  <a:lnTo>
                    <a:pt x="0" y="13586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5490141" cy="14062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9"/>
                </a:lnSpc>
              </a:pPr>
              <a:r>
                <a:rPr lang="en-US" sz="4999" dirty="0">
                  <a:solidFill>
                    <a:srgbClr val="272D45"/>
                  </a:solidFill>
                  <a:latin typeface="Arimo"/>
                  <a:ea typeface="Arimo"/>
                  <a:cs typeface="Arimo"/>
                  <a:sym typeface="Arimo"/>
                </a:rPr>
                <a:t>Assignment: Setup CD for Flask App</a:t>
              </a:r>
            </a:p>
          </p:txBody>
        </p:sp>
      </p:grpSp>
      <p:sp>
        <p:nvSpPr>
          <p:cNvPr id="9" name="Freeform 9" descr="preencoded.png"/>
          <p:cNvSpPr/>
          <p:nvPr/>
        </p:nvSpPr>
        <p:spPr>
          <a:xfrm>
            <a:off x="894160" y="1884312"/>
            <a:ext cx="1277541" cy="1551831"/>
          </a:xfrm>
          <a:custGeom>
            <a:avLst/>
            <a:gdLst/>
            <a:ahLst/>
            <a:cxnLst/>
            <a:rect l="l" t="t" r="r" b="b"/>
            <a:pathLst>
              <a:path w="1277541" h="1551831">
                <a:moveTo>
                  <a:pt x="0" y="0"/>
                </a:moveTo>
                <a:lnTo>
                  <a:pt x="1277541" y="0"/>
                </a:lnTo>
                <a:lnTo>
                  <a:pt x="1277541" y="1551832"/>
                </a:lnTo>
                <a:lnTo>
                  <a:pt x="0" y="15518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0" b="-7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2554933" y="2077288"/>
            <a:ext cx="4933585" cy="603758"/>
            <a:chOff x="0" y="0"/>
            <a:chExt cx="6578114" cy="80501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578114" cy="805011"/>
            </a:xfrm>
            <a:custGeom>
              <a:avLst/>
              <a:gdLst/>
              <a:ahLst/>
              <a:cxnLst/>
              <a:rect l="l" t="t" r="r" b="b"/>
              <a:pathLst>
                <a:path w="6578114" h="805011">
                  <a:moveTo>
                    <a:pt x="0" y="0"/>
                  </a:moveTo>
                  <a:lnTo>
                    <a:pt x="6578114" y="0"/>
                  </a:lnTo>
                  <a:lnTo>
                    <a:pt x="6578114" y="805011"/>
                  </a:lnTo>
                  <a:lnTo>
                    <a:pt x="0" y="8050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6578114" cy="8335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49"/>
                </a:lnSpc>
              </a:pPr>
              <a:r>
                <a:rPr lang="en-US" sz="3000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Setup Flask App locally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554932" y="2771924"/>
            <a:ext cx="14838909" cy="533848"/>
            <a:chOff x="0" y="0"/>
            <a:chExt cx="19785212" cy="71179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785212" cy="711797"/>
            </a:xfrm>
            <a:custGeom>
              <a:avLst/>
              <a:gdLst/>
              <a:ahLst/>
              <a:cxnLst/>
              <a:rect l="l" t="t" r="r" b="b"/>
              <a:pathLst>
                <a:path w="19785212" h="711797">
                  <a:moveTo>
                    <a:pt x="0" y="0"/>
                  </a:moveTo>
                  <a:lnTo>
                    <a:pt x="19785212" y="0"/>
                  </a:lnTo>
                  <a:lnTo>
                    <a:pt x="19785212" y="711797"/>
                  </a:lnTo>
                  <a:lnTo>
                    <a:pt x="0" y="7117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76200"/>
              <a:ext cx="19785212" cy="7879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46"/>
                </a:lnSpc>
              </a:pPr>
              <a:r>
                <a:rPr lang="en-US" sz="2100" dirty="0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Create a simple Flask application with basic tests -or- clone from here - </a:t>
              </a:r>
              <a:r>
                <a:rPr lang="en-US" sz="2100" u="sng" dirty="0">
                  <a:solidFill>
                    <a:srgbClr val="437066"/>
                  </a:solidFill>
                  <a:latin typeface="Martel Sans"/>
                  <a:ea typeface="Martel Sans"/>
                  <a:cs typeface="Martel Sans"/>
                  <a:sym typeface="Martel Sans"/>
                  <a:hlinkClick r:id="rId4" tooltip="https://github.com/Anees-DevOps/Setup-CD"/>
                </a:rPr>
                <a:t>https://github.com/Anees-DevOps/Setup-CD</a:t>
              </a:r>
              <a:r>
                <a:rPr lang="en-US" sz="2100" dirty="0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.</a:t>
              </a:r>
            </a:p>
          </p:txBody>
        </p:sp>
      </p:grpSp>
      <p:sp>
        <p:nvSpPr>
          <p:cNvPr id="16" name="Freeform 16" descr="preencoded.png"/>
          <p:cNvSpPr/>
          <p:nvPr/>
        </p:nvSpPr>
        <p:spPr>
          <a:xfrm>
            <a:off x="894160" y="3436144"/>
            <a:ext cx="1277541" cy="1551831"/>
          </a:xfrm>
          <a:custGeom>
            <a:avLst/>
            <a:gdLst/>
            <a:ahLst/>
            <a:cxnLst/>
            <a:rect l="l" t="t" r="r" b="b"/>
            <a:pathLst>
              <a:path w="1277541" h="1551831">
                <a:moveTo>
                  <a:pt x="0" y="0"/>
                </a:moveTo>
                <a:lnTo>
                  <a:pt x="1277541" y="0"/>
                </a:lnTo>
                <a:lnTo>
                  <a:pt x="1277541" y="1551831"/>
                </a:lnTo>
                <a:lnTo>
                  <a:pt x="0" y="15518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0" b="-7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2554932" y="3691532"/>
            <a:ext cx="7449442" cy="478929"/>
            <a:chOff x="0" y="0"/>
            <a:chExt cx="9932590" cy="6385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932590" cy="638572"/>
            </a:xfrm>
            <a:custGeom>
              <a:avLst/>
              <a:gdLst/>
              <a:ahLst/>
              <a:cxnLst/>
              <a:rect l="l" t="t" r="r" b="b"/>
              <a:pathLst>
                <a:path w="9932590" h="638572">
                  <a:moveTo>
                    <a:pt x="0" y="0"/>
                  </a:moveTo>
                  <a:lnTo>
                    <a:pt x="9932590" y="0"/>
                  </a:lnTo>
                  <a:lnTo>
                    <a:pt x="9932590" y="638572"/>
                  </a:lnTo>
                  <a:lnTo>
                    <a:pt x="0" y="6385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9932590" cy="6671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49"/>
                </a:lnSpc>
              </a:pPr>
              <a:r>
                <a:rPr lang="en-US" sz="3000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Configure continuous delivery in deploy.yml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554932" y="4323755"/>
            <a:ext cx="14838909" cy="533848"/>
            <a:chOff x="0" y="0"/>
            <a:chExt cx="19785212" cy="71179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785212" cy="711797"/>
            </a:xfrm>
            <a:custGeom>
              <a:avLst/>
              <a:gdLst/>
              <a:ahLst/>
              <a:cxnLst/>
              <a:rect l="l" t="t" r="r" b="b"/>
              <a:pathLst>
                <a:path w="19785212" h="711797">
                  <a:moveTo>
                    <a:pt x="0" y="0"/>
                  </a:moveTo>
                  <a:lnTo>
                    <a:pt x="19785212" y="0"/>
                  </a:lnTo>
                  <a:lnTo>
                    <a:pt x="19785212" y="711797"/>
                  </a:lnTo>
                  <a:lnTo>
                    <a:pt x="0" y="7117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76200"/>
              <a:ext cx="19785212" cy="7879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46"/>
                </a:lnSpc>
              </a:pPr>
              <a:r>
                <a:rPr lang="en-US" sz="2100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Create workflow file for CI/CD pipeline.</a:t>
              </a:r>
            </a:p>
          </p:txBody>
        </p:sp>
      </p:grpSp>
      <p:sp>
        <p:nvSpPr>
          <p:cNvPr id="23" name="Freeform 23" descr="preencoded.png"/>
          <p:cNvSpPr/>
          <p:nvPr/>
        </p:nvSpPr>
        <p:spPr>
          <a:xfrm>
            <a:off x="894160" y="4987975"/>
            <a:ext cx="1277541" cy="3046214"/>
          </a:xfrm>
          <a:custGeom>
            <a:avLst/>
            <a:gdLst/>
            <a:ahLst/>
            <a:cxnLst/>
            <a:rect l="l" t="t" r="r" b="b"/>
            <a:pathLst>
              <a:path w="1277541" h="3046214">
                <a:moveTo>
                  <a:pt x="0" y="0"/>
                </a:moveTo>
                <a:lnTo>
                  <a:pt x="1277541" y="0"/>
                </a:lnTo>
                <a:lnTo>
                  <a:pt x="1277541" y="3046214"/>
                </a:lnTo>
                <a:lnTo>
                  <a:pt x="0" y="30462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76" b="-7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2554932" y="5180949"/>
            <a:ext cx="5446126" cy="603758"/>
            <a:chOff x="0" y="0"/>
            <a:chExt cx="7261501" cy="80501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261501" cy="805011"/>
            </a:xfrm>
            <a:custGeom>
              <a:avLst/>
              <a:gdLst/>
              <a:ahLst/>
              <a:cxnLst/>
              <a:rect l="l" t="t" r="r" b="b"/>
              <a:pathLst>
                <a:path w="7261501" h="805011">
                  <a:moveTo>
                    <a:pt x="0" y="0"/>
                  </a:moveTo>
                  <a:lnTo>
                    <a:pt x="7261501" y="0"/>
                  </a:lnTo>
                  <a:lnTo>
                    <a:pt x="7261501" y="805011"/>
                  </a:lnTo>
                  <a:lnTo>
                    <a:pt x="0" y="8050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7261501" cy="8335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49"/>
                </a:lnSpc>
              </a:pPr>
              <a:r>
                <a:rPr lang="en-US" sz="3000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Enable Manual Approval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554932" y="5875585"/>
            <a:ext cx="14838909" cy="533848"/>
            <a:chOff x="0" y="0"/>
            <a:chExt cx="19785212" cy="71179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785212" cy="711797"/>
            </a:xfrm>
            <a:custGeom>
              <a:avLst/>
              <a:gdLst/>
              <a:ahLst/>
              <a:cxnLst/>
              <a:rect l="l" t="t" r="r" b="b"/>
              <a:pathLst>
                <a:path w="19785212" h="711797">
                  <a:moveTo>
                    <a:pt x="0" y="0"/>
                  </a:moveTo>
                  <a:lnTo>
                    <a:pt x="19785212" y="0"/>
                  </a:lnTo>
                  <a:lnTo>
                    <a:pt x="19785212" y="711797"/>
                  </a:lnTo>
                  <a:lnTo>
                    <a:pt x="0" y="7117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76200"/>
              <a:ext cx="19785212" cy="7879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16706" lvl="1" indent="-158353" algn="l">
                <a:lnSpc>
                  <a:spcPts val="3346"/>
                </a:lnSpc>
                <a:buFont typeface="Arial"/>
                <a:buChar char="•"/>
              </a:pPr>
              <a:r>
                <a:rPr lang="en-US" sz="2100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Go to your repo → </a:t>
              </a:r>
              <a:r>
                <a:rPr lang="en-US" sz="2100" b="1">
                  <a:solidFill>
                    <a:srgbClr val="2C3249"/>
                  </a:solidFill>
                  <a:latin typeface="Martel Sans Bold"/>
                  <a:ea typeface="Martel Sans Bold"/>
                  <a:cs typeface="Martel Sans Bold"/>
                  <a:sym typeface="Martel Sans Bold"/>
                </a:rPr>
                <a:t>Settings</a:t>
              </a:r>
              <a:r>
                <a:rPr lang="en-US" sz="2100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 → </a:t>
              </a:r>
              <a:r>
                <a:rPr lang="en-US" sz="2100" b="1">
                  <a:solidFill>
                    <a:srgbClr val="2C3249"/>
                  </a:solidFill>
                  <a:latin typeface="Martel Sans Bold"/>
                  <a:ea typeface="Martel Sans Bold"/>
                  <a:cs typeface="Martel Sans Bold"/>
                  <a:sym typeface="Martel Sans Bold"/>
                </a:rPr>
                <a:t>Environments</a:t>
              </a:r>
              <a:r>
                <a:rPr lang="en-US" sz="2100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 → New environment: production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2554932" y="6373714"/>
            <a:ext cx="14838909" cy="533848"/>
            <a:chOff x="0" y="0"/>
            <a:chExt cx="19785212" cy="71179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9785212" cy="711797"/>
            </a:xfrm>
            <a:custGeom>
              <a:avLst/>
              <a:gdLst/>
              <a:ahLst/>
              <a:cxnLst/>
              <a:rect l="l" t="t" r="r" b="b"/>
              <a:pathLst>
                <a:path w="19785212" h="711797">
                  <a:moveTo>
                    <a:pt x="0" y="0"/>
                  </a:moveTo>
                  <a:lnTo>
                    <a:pt x="19785212" y="0"/>
                  </a:lnTo>
                  <a:lnTo>
                    <a:pt x="19785212" y="711797"/>
                  </a:lnTo>
                  <a:lnTo>
                    <a:pt x="0" y="7117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76200"/>
              <a:ext cx="19785212" cy="7879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16706" lvl="1" indent="-158353" algn="l">
                <a:lnSpc>
                  <a:spcPts val="3346"/>
                </a:lnSpc>
                <a:buFont typeface="Arial"/>
                <a:buChar char="•"/>
              </a:pPr>
              <a:r>
                <a:rPr lang="en-US" sz="2100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In production, enable: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554932" y="6871841"/>
            <a:ext cx="14838909" cy="533848"/>
            <a:chOff x="0" y="0"/>
            <a:chExt cx="19785212" cy="71179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9785212" cy="711797"/>
            </a:xfrm>
            <a:custGeom>
              <a:avLst/>
              <a:gdLst/>
              <a:ahLst/>
              <a:cxnLst/>
              <a:rect l="l" t="t" r="r" b="b"/>
              <a:pathLst>
                <a:path w="19785212" h="711797">
                  <a:moveTo>
                    <a:pt x="0" y="0"/>
                  </a:moveTo>
                  <a:lnTo>
                    <a:pt x="19785212" y="0"/>
                  </a:lnTo>
                  <a:lnTo>
                    <a:pt x="19785212" y="711797"/>
                  </a:lnTo>
                  <a:lnTo>
                    <a:pt x="0" y="7117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76200"/>
              <a:ext cx="19785212" cy="7879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766762" lvl="2" indent="-255587" algn="l">
                <a:lnSpc>
                  <a:spcPts val="3346"/>
                </a:lnSpc>
                <a:buFont typeface="Arial"/>
                <a:buChar char="⚬"/>
              </a:pPr>
              <a:r>
                <a:rPr lang="en-US" sz="2100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Required reviewers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554932" y="7369969"/>
            <a:ext cx="14838909" cy="533848"/>
            <a:chOff x="0" y="0"/>
            <a:chExt cx="19785212" cy="711797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9785212" cy="711797"/>
            </a:xfrm>
            <a:custGeom>
              <a:avLst/>
              <a:gdLst/>
              <a:ahLst/>
              <a:cxnLst/>
              <a:rect l="l" t="t" r="r" b="b"/>
              <a:pathLst>
                <a:path w="19785212" h="711797">
                  <a:moveTo>
                    <a:pt x="0" y="0"/>
                  </a:moveTo>
                  <a:lnTo>
                    <a:pt x="19785212" y="0"/>
                  </a:lnTo>
                  <a:lnTo>
                    <a:pt x="19785212" y="711797"/>
                  </a:lnTo>
                  <a:lnTo>
                    <a:pt x="0" y="7117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76200"/>
              <a:ext cx="19785212" cy="7879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766762" lvl="2" indent="-255587" algn="l">
                <a:lnSpc>
                  <a:spcPts val="3346"/>
                </a:lnSpc>
                <a:buFont typeface="Arial"/>
                <a:buChar char="⚬"/>
              </a:pPr>
              <a:r>
                <a:rPr lang="en-US" sz="2100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Add yourself or fellow mates for approval</a:t>
              </a:r>
            </a:p>
          </p:txBody>
        </p:sp>
      </p:grpSp>
      <p:sp>
        <p:nvSpPr>
          <p:cNvPr id="39" name="Freeform 39" descr="preencoded.png"/>
          <p:cNvSpPr/>
          <p:nvPr/>
        </p:nvSpPr>
        <p:spPr>
          <a:xfrm>
            <a:off x="894160" y="8034189"/>
            <a:ext cx="1277541" cy="1551831"/>
          </a:xfrm>
          <a:custGeom>
            <a:avLst/>
            <a:gdLst/>
            <a:ahLst/>
            <a:cxnLst/>
            <a:rect l="l" t="t" r="r" b="b"/>
            <a:pathLst>
              <a:path w="1277541" h="1551831">
                <a:moveTo>
                  <a:pt x="0" y="0"/>
                </a:moveTo>
                <a:lnTo>
                  <a:pt x="1277541" y="0"/>
                </a:lnTo>
                <a:lnTo>
                  <a:pt x="1277541" y="1551831"/>
                </a:lnTo>
                <a:lnTo>
                  <a:pt x="0" y="15518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70" b="-7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0" name="Group 40"/>
          <p:cNvGrpSpPr/>
          <p:nvPr/>
        </p:nvGrpSpPr>
        <p:grpSpPr>
          <a:xfrm>
            <a:off x="2554932" y="8289577"/>
            <a:ext cx="6068169" cy="478929"/>
            <a:chOff x="0" y="0"/>
            <a:chExt cx="8090892" cy="63857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090891" cy="638572"/>
            </a:xfrm>
            <a:custGeom>
              <a:avLst/>
              <a:gdLst/>
              <a:ahLst/>
              <a:cxnLst/>
              <a:rect l="l" t="t" r="r" b="b"/>
              <a:pathLst>
                <a:path w="8090891" h="638572">
                  <a:moveTo>
                    <a:pt x="0" y="0"/>
                  </a:moveTo>
                  <a:lnTo>
                    <a:pt x="8090891" y="0"/>
                  </a:lnTo>
                  <a:lnTo>
                    <a:pt x="8090891" y="638572"/>
                  </a:lnTo>
                  <a:lnTo>
                    <a:pt x="0" y="6385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8090892" cy="6671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49"/>
                </a:lnSpc>
              </a:pPr>
              <a:r>
                <a:rPr lang="en-US" sz="3000">
                  <a:solidFill>
                    <a:srgbClr val="2C3249"/>
                  </a:solidFill>
                  <a:latin typeface="Arimo"/>
                  <a:ea typeface="Arimo"/>
                  <a:cs typeface="Arimo"/>
                  <a:sym typeface="Arimo"/>
                </a:rPr>
                <a:t>Upgrade to Continuous Deployment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554932" y="8921800"/>
            <a:ext cx="14838909" cy="533848"/>
            <a:chOff x="0" y="0"/>
            <a:chExt cx="19785212" cy="711797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9785212" cy="711797"/>
            </a:xfrm>
            <a:custGeom>
              <a:avLst/>
              <a:gdLst/>
              <a:ahLst/>
              <a:cxnLst/>
              <a:rect l="l" t="t" r="r" b="b"/>
              <a:pathLst>
                <a:path w="19785212" h="711797">
                  <a:moveTo>
                    <a:pt x="0" y="0"/>
                  </a:moveTo>
                  <a:lnTo>
                    <a:pt x="19785212" y="0"/>
                  </a:lnTo>
                  <a:lnTo>
                    <a:pt x="19785212" y="711797"/>
                  </a:lnTo>
                  <a:lnTo>
                    <a:pt x="0" y="7117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76200"/>
              <a:ext cx="19785212" cy="7879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46"/>
                </a:lnSpc>
              </a:pPr>
              <a:r>
                <a:rPr lang="en-US" sz="2100">
                  <a:solidFill>
                    <a:srgbClr val="2C3249"/>
                  </a:solidFill>
                  <a:latin typeface="Martel Sans"/>
                  <a:ea typeface="Martel Sans"/>
                  <a:cs typeface="Martel Sans"/>
                  <a:sym typeface="Martel Sans"/>
                </a:rPr>
                <a:t>Remove manual approval for fully automated deployment.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979</TotalTime>
  <Words>575</Words>
  <Application>Microsoft Office PowerPoint</Application>
  <PresentationFormat>Custom</PresentationFormat>
  <Paragraphs>142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Martel Sans Bold</vt:lpstr>
      <vt:lpstr>Calibri</vt:lpstr>
      <vt:lpstr>Arial</vt:lpstr>
      <vt:lpstr>Arimo</vt:lpstr>
      <vt:lpstr>Martel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Continuous-DeliveryDeployment.pptx</dc:title>
  <cp:lastModifiedBy>MohammaD AneeS</cp:lastModifiedBy>
  <cp:revision>3</cp:revision>
  <dcterms:created xsi:type="dcterms:W3CDTF">2006-08-16T00:00:00Z</dcterms:created>
  <dcterms:modified xsi:type="dcterms:W3CDTF">2026-10-10T06:23:34Z</dcterms:modified>
  <dc:identifier>DAGkY0zLtF4</dc:identifier>
</cp:coreProperties>
</file>