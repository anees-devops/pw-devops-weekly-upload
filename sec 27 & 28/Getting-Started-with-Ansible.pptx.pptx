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8288000" cy="10287000"/>
  <p:notesSz cx="6858000" cy="9144000"/>
  <p:embeddedFontLst>
    <p:embeddedFont>
      <p:font typeface="Consolas" panose="020B0609020204030204" pitchFamily="49" charset="0"/>
      <p:regular r:id="rId22"/>
      <p:bold r:id="rId23"/>
      <p:italic r:id="rId24"/>
      <p:boldItalic r:id="rId25"/>
    </p:embeddedFont>
    <p:embeddedFont>
      <p:font typeface="DM Sans" pitchFamily="2" charset="77"/>
      <p:regular r:id="rId26"/>
      <p:bold r:id="rId27"/>
      <p:italic r:id="rId28"/>
      <p:boldItalic r:id="rId29"/>
    </p:embeddedFont>
    <p:embeddedFont>
      <p:font typeface="DM Sans Bold" pitchFamily="2" charset="77"/>
      <p:regular r:id="rId30"/>
      <p:bold r:id="rId31"/>
    </p:embeddedFont>
    <p:embeddedFont>
      <p:font typeface="PT Serif" panose="020A0603040505020204" pitchFamily="18" charset="77"/>
      <p:regular r:id="rId32"/>
    </p:embeddedFont>
    <p:embeddedFont>
      <p:font typeface="PT Serif Bold" panose="020A0603040505020204" pitchFamily="18" charset="77"/>
      <p:regular r:id="rId33"/>
      <p:boldItalic r:id="rId3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 autoAdjust="0"/>
    <p:restoredTop sz="94649" autoAdjust="0"/>
  </p:normalViewPr>
  <p:slideViewPr>
    <p:cSldViewPr>
      <p:cViewPr>
        <p:scale>
          <a:sx n="70" d="100"/>
          <a:sy n="70" d="100"/>
        </p:scale>
        <p:origin x="424" y="1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21" Type="http://schemas.openxmlformats.org/officeDocument/2006/relationships/notesMaster" Target="notesMasters/notesMaster1.xml"/><Relationship Id="rId34" Type="http://schemas.openxmlformats.org/officeDocument/2006/relationships/font" Target="fonts/font1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font" Target="fonts/font12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font" Target="fonts/font11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14.12.2025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hyperlink" Target="https://gamma.app/?utm_source=made-with-gamma" TargetMode="External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1.png"/><Relationship Id="rId9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AFA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Freeform 6" descr="preencoded.png">
            <a:hlinkClick r:id="rId3" tooltip="https://gamma.app/?utm_source=made-with-gamma"/>
          </p:cNvPr>
          <p:cNvSpPr/>
          <p:nvPr/>
        </p:nvSpPr>
        <p:spPr>
          <a:xfrm>
            <a:off x="16049019" y="9686925"/>
            <a:ext cx="2153256" cy="514350"/>
          </a:xfrm>
          <a:custGeom>
            <a:avLst/>
            <a:gdLst/>
            <a:ahLst/>
            <a:cxnLst/>
            <a:rect l="l" t="t" r="r" b="b"/>
            <a:pathLst>
              <a:path w="2153256" h="514350">
                <a:moveTo>
                  <a:pt x="0" y="0"/>
                </a:moveTo>
                <a:lnTo>
                  <a:pt x="2153256" y="0"/>
                </a:lnTo>
                <a:lnTo>
                  <a:pt x="2153256" y="514350"/>
                </a:lnTo>
                <a:lnTo>
                  <a:pt x="0" y="5143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 descr="preencoded.png"/>
          <p:cNvSpPr/>
          <p:nvPr/>
        </p:nvSpPr>
        <p:spPr>
          <a:xfrm>
            <a:off x="11430000" y="0"/>
            <a:ext cx="6858000" cy="10287000"/>
          </a:xfrm>
          <a:custGeom>
            <a:avLst/>
            <a:gdLst/>
            <a:ahLst/>
            <a:cxnLst/>
            <a:rect l="l" t="t" r="r" b="b"/>
            <a:pathLst>
              <a:path w="6858000" h="10287000">
                <a:moveTo>
                  <a:pt x="0" y="0"/>
                </a:moveTo>
                <a:lnTo>
                  <a:pt x="6858000" y="0"/>
                </a:lnTo>
                <a:lnTo>
                  <a:pt x="685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8" name="Group 8"/>
          <p:cNvGrpSpPr/>
          <p:nvPr/>
        </p:nvGrpSpPr>
        <p:grpSpPr>
          <a:xfrm>
            <a:off x="992238" y="4678264"/>
            <a:ext cx="9402216" cy="930325"/>
            <a:chOff x="0" y="0"/>
            <a:chExt cx="12536288" cy="124043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536288" cy="1240433"/>
            </a:xfrm>
            <a:custGeom>
              <a:avLst/>
              <a:gdLst/>
              <a:ahLst/>
              <a:cxnLst/>
              <a:rect l="l" t="t" r="r" b="b"/>
              <a:pathLst>
                <a:path w="12536288" h="1240433">
                  <a:moveTo>
                    <a:pt x="0" y="0"/>
                  </a:moveTo>
                  <a:lnTo>
                    <a:pt x="12536288" y="0"/>
                  </a:lnTo>
                  <a:lnTo>
                    <a:pt x="12536288" y="1240433"/>
                  </a:lnTo>
                  <a:lnTo>
                    <a:pt x="0" y="124043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2536288" cy="127853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312"/>
                </a:lnSpc>
              </a:pPr>
              <a:r>
                <a:rPr lang="en-US" sz="5812">
                  <a:solidFill>
                    <a:srgbClr val="020202"/>
                  </a:solidFill>
                  <a:latin typeface="PT Serif"/>
                  <a:ea typeface="PT Serif"/>
                  <a:cs typeface="PT Serif"/>
                  <a:sym typeface="PT Serif"/>
                </a:rPr>
                <a:t>Getting Started with Ansible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AFA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78979" y="690562"/>
            <a:ext cx="5274022" cy="659309"/>
            <a:chOff x="0" y="0"/>
            <a:chExt cx="7032030" cy="87907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032030" cy="879078"/>
            </a:xfrm>
            <a:custGeom>
              <a:avLst/>
              <a:gdLst/>
              <a:ahLst/>
              <a:cxnLst/>
              <a:rect l="l" t="t" r="r" b="b"/>
              <a:pathLst>
                <a:path w="7032030" h="879078">
                  <a:moveTo>
                    <a:pt x="0" y="0"/>
                  </a:moveTo>
                  <a:lnTo>
                    <a:pt x="7032030" y="0"/>
                  </a:lnTo>
                  <a:lnTo>
                    <a:pt x="7032030" y="879078"/>
                  </a:lnTo>
                  <a:lnTo>
                    <a:pt x="0" y="87907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7032030" cy="90765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187"/>
                </a:lnSpc>
              </a:pPr>
              <a:r>
                <a:rPr lang="en-US" sz="4124">
                  <a:solidFill>
                    <a:srgbClr val="020202"/>
                  </a:solidFill>
                  <a:latin typeface="PT Serif"/>
                  <a:ea typeface="PT Serif"/>
                  <a:cs typeface="PT Serif"/>
                  <a:sym typeface="PT Serif"/>
                </a:rPr>
                <a:t>Topics for Today!</a:t>
              </a:r>
            </a:p>
          </p:txBody>
        </p:sp>
      </p:grpSp>
      <p:sp>
        <p:nvSpPr>
          <p:cNvPr id="9" name="Freeform 9" descr="preencoded.png"/>
          <p:cNvSpPr/>
          <p:nvPr/>
        </p:nvSpPr>
        <p:spPr>
          <a:xfrm>
            <a:off x="878979" y="1852018"/>
            <a:ext cx="1255662" cy="1548854"/>
          </a:xfrm>
          <a:custGeom>
            <a:avLst/>
            <a:gdLst/>
            <a:ahLst/>
            <a:cxnLst/>
            <a:rect l="l" t="t" r="r" b="b"/>
            <a:pathLst>
              <a:path w="1255662" h="1548854">
                <a:moveTo>
                  <a:pt x="0" y="0"/>
                </a:moveTo>
                <a:lnTo>
                  <a:pt x="1255662" y="0"/>
                </a:lnTo>
                <a:lnTo>
                  <a:pt x="1255662" y="1548853"/>
                </a:lnTo>
                <a:lnTo>
                  <a:pt x="0" y="15488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54" b="-54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0" name="Group 10"/>
          <p:cNvGrpSpPr/>
          <p:nvPr/>
        </p:nvGrpSpPr>
        <p:grpSpPr>
          <a:xfrm>
            <a:off x="2511326" y="2103090"/>
            <a:ext cx="3955554" cy="494408"/>
            <a:chOff x="0" y="0"/>
            <a:chExt cx="5274072" cy="65921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274072" cy="659210"/>
            </a:xfrm>
            <a:custGeom>
              <a:avLst/>
              <a:gdLst/>
              <a:ahLst/>
              <a:cxnLst/>
              <a:rect l="l" t="t" r="r" b="b"/>
              <a:pathLst>
                <a:path w="5274072" h="659210">
                  <a:moveTo>
                    <a:pt x="0" y="0"/>
                  </a:moveTo>
                  <a:lnTo>
                    <a:pt x="5274072" y="0"/>
                  </a:lnTo>
                  <a:lnTo>
                    <a:pt x="5274072" y="659210"/>
                  </a:lnTo>
                  <a:lnTo>
                    <a:pt x="0" y="65921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5274072" cy="6782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875"/>
                </a:lnSpc>
              </a:pPr>
              <a:r>
                <a:rPr lang="en-US" sz="3062">
                  <a:solidFill>
                    <a:srgbClr val="383838"/>
                  </a:solidFill>
                  <a:latin typeface="PT Serif"/>
                  <a:ea typeface="PT Serif"/>
                  <a:cs typeface="PT Serif"/>
                  <a:sym typeface="PT Serif"/>
                </a:rPr>
                <a:t>Ansible's Architecture</a:t>
              </a:r>
            </a:p>
          </p:txBody>
        </p:sp>
      </p:grpSp>
      <p:sp>
        <p:nvSpPr>
          <p:cNvPr id="13" name="Freeform 13" descr="preencoded.png"/>
          <p:cNvSpPr/>
          <p:nvPr/>
        </p:nvSpPr>
        <p:spPr>
          <a:xfrm>
            <a:off x="878979" y="3400871"/>
            <a:ext cx="1255662" cy="1548854"/>
          </a:xfrm>
          <a:custGeom>
            <a:avLst/>
            <a:gdLst/>
            <a:ahLst/>
            <a:cxnLst/>
            <a:rect l="l" t="t" r="r" b="b"/>
            <a:pathLst>
              <a:path w="1255662" h="1548854">
                <a:moveTo>
                  <a:pt x="0" y="0"/>
                </a:moveTo>
                <a:lnTo>
                  <a:pt x="1255662" y="0"/>
                </a:lnTo>
                <a:lnTo>
                  <a:pt x="1255662" y="1548854"/>
                </a:lnTo>
                <a:lnTo>
                  <a:pt x="0" y="15488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54" b="-54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4" name="Group 14"/>
          <p:cNvGrpSpPr/>
          <p:nvPr/>
        </p:nvGrpSpPr>
        <p:grpSpPr>
          <a:xfrm>
            <a:off x="2511326" y="3651945"/>
            <a:ext cx="5928866" cy="494407"/>
            <a:chOff x="0" y="0"/>
            <a:chExt cx="7905155" cy="65921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7905155" cy="659210"/>
            </a:xfrm>
            <a:custGeom>
              <a:avLst/>
              <a:gdLst/>
              <a:ahLst/>
              <a:cxnLst/>
              <a:rect l="l" t="t" r="r" b="b"/>
              <a:pathLst>
                <a:path w="7905155" h="659210">
                  <a:moveTo>
                    <a:pt x="0" y="0"/>
                  </a:moveTo>
                  <a:lnTo>
                    <a:pt x="7905155" y="0"/>
                  </a:lnTo>
                  <a:lnTo>
                    <a:pt x="7905155" y="659210"/>
                  </a:lnTo>
                  <a:lnTo>
                    <a:pt x="0" y="65921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19050"/>
              <a:ext cx="7905155" cy="6782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875"/>
                </a:lnSpc>
              </a:pPr>
              <a:r>
                <a:rPr lang="en-US" sz="3062">
                  <a:solidFill>
                    <a:srgbClr val="383838"/>
                  </a:solidFill>
                  <a:latin typeface="PT Serif"/>
                  <a:ea typeface="PT Serif"/>
                  <a:cs typeface="PT Serif"/>
                  <a:sym typeface="PT Serif"/>
                </a:rPr>
                <a:t>Declarative vs. Imperative Models</a:t>
              </a:r>
            </a:p>
          </p:txBody>
        </p:sp>
      </p:grpSp>
      <p:sp>
        <p:nvSpPr>
          <p:cNvPr id="17" name="Freeform 17" descr="preencoded.png"/>
          <p:cNvSpPr/>
          <p:nvPr/>
        </p:nvSpPr>
        <p:spPr>
          <a:xfrm>
            <a:off x="878979" y="4949726"/>
            <a:ext cx="1255662" cy="1548854"/>
          </a:xfrm>
          <a:custGeom>
            <a:avLst/>
            <a:gdLst/>
            <a:ahLst/>
            <a:cxnLst/>
            <a:rect l="l" t="t" r="r" b="b"/>
            <a:pathLst>
              <a:path w="1255662" h="1548854">
                <a:moveTo>
                  <a:pt x="0" y="0"/>
                </a:moveTo>
                <a:lnTo>
                  <a:pt x="1255662" y="0"/>
                </a:lnTo>
                <a:lnTo>
                  <a:pt x="1255662" y="1548854"/>
                </a:lnTo>
                <a:lnTo>
                  <a:pt x="0" y="154885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54" b="-54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8" name="Group 18"/>
          <p:cNvGrpSpPr/>
          <p:nvPr/>
        </p:nvGrpSpPr>
        <p:grpSpPr>
          <a:xfrm>
            <a:off x="2511326" y="5200799"/>
            <a:ext cx="3955554" cy="494408"/>
            <a:chOff x="0" y="0"/>
            <a:chExt cx="5274072" cy="65921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5274072" cy="659210"/>
            </a:xfrm>
            <a:custGeom>
              <a:avLst/>
              <a:gdLst/>
              <a:ahLst/>
              <a:cxnLst/>
              <a:rect l="l" t="t" r="r" b="b"/>
              <a:pathLst>
                <a:path w="5274072" h="659210">
                  <a:moveTo>
                    <a:pt x="0" y="0"/>
                  </a:moveTo>
                  <a:lnTo>
                    <a:pt x="5274072" y="0"/>
                  </a:lnTo>
                  <a:lnTo>
                    <a:pt x="5274072" y="659210"/>
                  </a:lnTo>
                  <a:lnTo>
                    <a:pt x="0" y="65921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19050"/>
              <a:ext cx="5274072" cy="6782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875"/>
                </a:lnSpc>
              </a:pPr>
              <a:r>
                <a:rPr lang="en-US" sz="3062">
                  <a:solidFill>
                    <a:srgbClr val="383838"/>
                  </a:solidFill>
                  <a:latin typeface="PT Serif"/>
                  <a:ea typeface="PT Serif"/>
                  <a:cs typeface="PT Serif"/>
                  <a:sym typeface="PT Serif"/>
                </a:rPr>
                <a:t>Ansible Components</a:t>
              </a:r>
            </a:p>
          </p:txBody>
        </p:sp>
      </p:grpSp>
      <p:sp>
        <p:nvSpPr>
          <p:cNvPr id="21" name="Freeform 21" descr="preencoded.png"/>
          <p:cNvSpPr/>
          <p:nvPr/>
        </p:nvSpPr>
        <p:spPr>
          <a:xfrm>
            <a:off x="878979" y="6498580"/>
            <a:ext cx="1255662" cy="1548854"/>
          </a:xfrm>
          <a:custGeom>
            <a:avLst/>
            <a:gdLst/>
            <a:ahLst/>
            <a:cxnLst/>
            <a:rect l="l" t="t" r="r" b="b"/>
            <a:pathLst>
              <a:path w="1255662" h="1548854">
                <a:moveTo>
                  <a:pt x="0" y="0"/>
                </a:moveTo>
                <a:lnTo>
                  <a:pt x="1255662" y="0"/>
                </a:lnTo>
                <a:lnTo>
                  <a:pt x="1255662" y="1548854"/>
                </a:lnTo>
                <a:lnTo>
                  <a:pt x="0" y="154885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54" b="-54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2" name="Group 22"/>
          <p:cNvGrpSpPr/>
          <p:nvPr/>
        </p:nvGrpSpPr>
        <p:grpSpPr>
          <a:xfrm>
            <a:off x="2511326" y="6749654"/>
            <a:ext cx="5393085" cy="494408"/>
            <a:chOff x="0" y="0"/>
            <a:chExt cx="7190780" cy="65921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7190780" cy="659210"/>
            </a:xfrm>
            <a:custGeom>
              <a:avLst/>
              <a:gdLst/>
              <a:ahLst/>
              <a:cxnLst/>
              <a:rect l="l" t="t" r="r" b="b"/>
              <a:pathLst>
                <a:path w="7190780" h="659210">
                  <a:moveTo>
                    <a:pt x="0" y="0"/>
                  </a:moveTo>
                  <a:lnTo>
                    <a:pt x="7190780" y="0"/>
                  </a:lnTo>
                  <a:lnTo>
                    <a:pt x="7190780" y="659210"/>
                  </a:lnTo>
                  <a:lnTo>
                    <a:pt x="0" y="65921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19050"/>
              <a:ext cx="7190780" cy="6782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875"/>
                </a:lnSpc>
              </a:pPr>
              <a:r>
                <a:rPr lang="en-US" sz="3062">
                  <a:solidFill>
                    <a:srgbClr val="383838"/>
                  </a:solidFill>
                  <a:latin typeface="PT Serif"/>
                  <a:ea typeface="PT Serif"/>
                  <a:cs typeface="PT Serif"/>
                  <a:sym typeface="PT Serif"/>
                </a:rPr>
                <a:t>Modules, Tasks, and Playbooks</a:t>
              </a:r>
            </a:p>
          </p:txBody>
        </p:sp>
      </p:grpSp>
      <p:sp>
        <p:nvSpPr>
          <p:cNvPr id="25" name="Freeform 25" descr="preencoded.png"/>
          <p:cNvSpPr/>
          <p:nvPr/>
        </p:nvSpPr>
        <p:spPr>
          <a:xfrm>
            <a:off x="878979" y="8047435"/>
            <a:ext cx="1255662" cy="1548854"/>
          </a:xfrm>
          <a:custGeom>
            <a:avLst/>
            <a:gdLst/>
            <a:ahLst/>
            <a:cxnLst/>
            <a:rect l="l" t="t" r="r" b="b"/>
            <a:pathLst>
              <a:path w="1255662" h="1548854">
                <a:moveTo>
                  <a:pt x="0" y="0"/>
                </a:moveTo>
                <a:lnTo>
                  <a:pt x="1255662" y="0"/>
                </a:lnTo>
                <a:lnTo>
                  <a:pt x="1255662" y="1548854"/>
                </a:lnTo>
                <a:lnTo>
                  <a:pt x="0" y="154885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54" b="-54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6" name="Group 26"/>
          <p:cNvGrpSpPr/>
          <p:nvPr/>
        </p:nvGrpSpPr>
        <p:grpSpPr>
          <a:xfrm>
            <a:off x="2511326" y="8298507"/>
            <a:ext cx="4253805" cy="494408"/>
            <a:chOff x="0" y="0"/>
            <a:chExt cx="5671740" cy="65921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5671740" cy="659210"/>
            </a:xfrm>
            <a:custGeom>
              <a:avLst/>
              <a:gdLst/>
              <a:ahLst/>
              <a:cxnLst/>
              <a:rect l="l" t="t" r="r" b="b"/>
              <a:pathLst>
                <a:path w="5671740" h="659210">
                  <a:moveTo>
                    <a:pt x="0" y="0"/>
                  </a:moveTo>
                  <a:lnTo>
                    <a:pt x="5671740" y="0"/>
                  </a:lnTo>
                  <a:lnTo>
                    <a:pt x="5671740" y="659210"/>
                  </a:lnTo>
                  <a:lnTo>
                    <a:pt x="0" y="65921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19050"/>
              <a:ext cx="5671740" cy="6782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875"/>
                </a:lnSpc>
              </a:pPr>
              <a:r>
                <a:rPr lang="en-US" sz="3062">
                  <a:solidFill>
                    <a:srgbClr val="383838"/>
                  </a:solidFill>
                  <a:latin typeface="PT Serif"/>
                  <a:ea typeface="PT Serif"/>
                  <a:cs typeface="PT Serif"/>
                  <a:sym typeface="PT Serif"/>
                </a:rPr>
                <a:t>Communication via SSH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AFA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68859" y="683121"/>
            <a:ext cx="7451526" cy="651570"/>
            <a:chOff x="0" y="0"/>
            <a:chExt cx="9935368" cy="86876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935368" cy="868760"/>
            </a:xfrm>
            <a:custGeom>
              <a:avLst/>
              <a:gdLst/>
              <a:ahLst/>
              <a:cxnLst/>
              <a:rect l="l" t="t" r="r" b="b"/>
              <a:pathLst>
                <a:path w="9935368" h="868760">
                  <a:moveTo>
                    <a:pt x="0" y="0"/>
                  </a:moveTo>
                  <a:lnTo>
                    <a:pt x="9935368" y="0"/>
                  </a:lnTo>
                  <a:lnTo>
                    <a:pt x="9935368" y="868760"/>
                  </a:lnTo>
                  <a:lnTo>
                    <a:pt x="0" y="86876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9935368" cy="89733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125"/>
                </a:lnSpc>
              </a:pPr>
              <a:r>
                <a:rPr lang="en-US" sz="4062">
                  <a:solidFill>
                    <a:srgbClr val="020202"/>
                  </a:solidFill>
                  <a:latin typeface="PT Serif"/>
                  <a:ea typeface="PT Serif"/>
                  <a:cs typeface="PT Serif"/>
                  <a:sym typeface="PT Serif"/>
                </a:rPr>
                <a:t>Ansible's Agentless Architecture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868859" y="1540768"/>
            <a:ext cx="6387256" cy="491530"/>
            <a:chOff x="0" y="0"/>
            <a:chExt cx="8516342" cy="65537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516341" cy="655373"/>
            </a:xfrm>
            <a:custGeom>
              <a:avLst/>
              <a:gdLst/>
              <a:ahLst/>
              <a:cxnLst/>
              <a:rect l="l" t="t" r="r" b="b"/>
              <a:pathLst>
                <a:path w="8516341" h="655373">
                  <a:moveTo>
                    <a:pt x="0" y="0"/>
                  </a:moveTo>
                  <a:lnTo>
                    <a:pt x="8516341" y="0"/>
                  </a:lnTo>
                  <a:lnTo>
                    <a:pt x="8516341" y="655373"/>
                  </a:lnTo>
                  <a:lnTo>
                    <a:pt x="0" y="65537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9525"/>
              <a:ext cx="8516342" cy="66489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87"/>
                </a:lnSpc>
              </a:pPr>
              <a:r>
                <a:rPr lang="en-US" sz="2562" b="1">
                  <a:solidFill>
                    <a:srgbClr val="020202"/>
                  </a:solidFill>
                  <a:latin typeface="PT Serif Bold"/>
                  <a:ea typeface="PT Serif Bold"/>
                  <a:cs typeface="PT Serif Bold"/>
                  <a:sym typeface="PT Serif Bold"/>
                </a:rPr>
                <a:t>What does "Agentless" Mean?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868859" y="2362498"/>
            <a:ext cx="16550282" cy="496491"/>
            <a:chOff x="0" y="0"/>
            <a:chExt cx="22067043" cy="66198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2067044" cy="661988"/>
            </a:xfrm>
            <a:custGeom>
              <a:avLst/>
              <a:gdLst/>
              <a:ahLst/>
              <a:cxnLst/>
              <a:rect l="l" t="t" r="r" b="b"/>
              <a:pathLst>
                <a:path w="22067044" h="661988">
                  <a:moveTo>
                    <a:pt x="0" y="0"/>
                  </a:moveTo>
                  <a:lnTo>
                    <a:pt x="22067044" y="0"/>
                  </a:lnTo>
                  <a:lnTo>
                    <a:pt x="22067044" y="661988"/>
                  </a:lnTo>
                  <a:lnTo>
                    <a:pt x="0" y="66198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85725"/>
              <a:ext cx="22067043" cy="74771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22362" lvl="1" indent="-161181" algn="l">
                <a:lnSpc>
                  <a:spcPts val="3447"/>
                </a:lnSpc>
                <a:buFont typeface="Arial"/>
                <a:buChar char="•"/>
              </a:pPr>
              <a:r>
                <a:rPr lang="en-US" sz="2137" b="1">
                  <a:solidFill>
                    <a:srgbClr val="383838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Agentless</a:t>
              </a:r>
              <a:r>
                <a:rPr lang="en-US" sz="2137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 means you don't need to install or run any software (agents) on the systems you're managing.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868859" y="3231356"/>
            <a:ext cx="4315271" cy="488602"/>
            <a:chOff x="0" y="0"/>
            <a:chExt cx="5753695" cy="65147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5753695" cy="651470"/>
            </a:xfrm>
            <a:custGeom>
              <a:avLst/>
              <a:gdLst/>
              <a:ahLst/>
              <a:cxnLst/>
              <a:rect l="l" t="t" r="r" b="b"/>
              <a:pathLst>
                <a:path w="5753695" h="651470">
                  <a:moveTo>
                    <a:pt x="0" y="0"/>
                  </a:moveTo>
                  <a:lnTo>
                    <a:pt x="5753695" y="0"/>
                  </a:lnTo>
                  <a:lnTo>
                    <a:pt x="5753695" y="651470"/>
                  </a:lnTo>
                  <a:lnTo>
                    <a:pt x="0" y="65147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19050"/>
              <a:ext cx="5753695" cy="670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812"/>
                </a:lnSpc>
              </a:pPr>
              <a:r>
                <a:rPr lang="en-US" sz="3062" b="1">
                  <a:solidFill>
                    <a:srgbClr val="020202"/>
                  </a:solidFill>
                  <a:latin typeface="PT Serif Bold"/>
                  <a:ea typeface="PT Serif Bold"/>
                  <a:cs typeface="PT Serif Bold"/>
                  <a:sym typeface="PT Serif Bold"/>
                </a:rPr>
                <a:t>Why Agentless Matters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868859" y="4092327"/>
            <a:ext cx="16550282" cy="903685"/>
            <a:chOff x="0" y="0"/>
            <a:chExt cx="22067043" cy="1204913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2067013" cy="1204976"/>
            </a:xfrm>
            <a:custGeom>
              <a:avLst/>
              <a:gdLst/>
              <a:ahLst/>
              <a:cxnLst/>
              <a:rect l="l" t="t" r="r" b="b"/>
              <a:pathLst>
                <a:path w="22067013" h="1204976">
                  <a:moveTo>
                    <a:pt x="0" y="49657"/>
                  </a:moveTo>
                  <a:cubicBezTo>
                    <a:pt x="0" y="22225"/>
                    <a:pt x="22225" y="0"/>
                    <a:pt x="49657" y="0"/>
                  </a:cubicBezTo>
                  <a:lnTo>
                    <a:pt x="22017355" y="0"/>
                  </a:lnTo>
                  <a:cubicBezTo>
                    <a:pt x="22044788" y="0"/>
                    <a:pt x="22067013" y="22225"/>
                    <a:pt x="22067013" y="49657"/>
                  </a:cubicBezTo>
                  <a:lnTo>
                    <a:pt x="22067013" y="1155319"/>
                  </a:lnTo>
                  <a:cubicBezTo>
                    <a:pt x="22067013" y="1182751"/>
                    <a:pt x="22044788" y="1204976"/>
                    <a:pt x="22017355" y="1204976"/>
                  </a:cubicBezTo>
                  <a:lnTo>
                    <a:pt x="49657" y="1204976"/>
                  </a:lnTo>
                  <a:cubicBezTo>
                    <a:pt x="22225" y="1204976"/>
                    <a:pt x="0" y="1182624"/>
                    <a:pt x="0" y="1155319"/>
                  </a:cubicBezTo>
                  <a:close/>
                </a:path>
              </a:pathLst>
            </a:custGeom>
            <a:solidFill>
              <a:srgbClr val="F2EEE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117104" y="4298405"/>
            <a:ext cx="6548010" cy="491530"/>
            <a:chOff x="0" y="0"/>
            <a:chExt cx="8730680" cy="655373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730680" cy="655373"/>
            </a:xfrm>
            <a:custGeom>
              <a:avLst/>
              <a:gdLst/>
              <a:ahLst/>
              <a:cxnLst/>
              <a:rect l="l" t="t" r="r" b="b"/>
              <a:pathLst>
                <a:path w="8730680" h="655373">
                  <a:moveTo>
                    <a:pt x="0" y="0"/>
                  </a:moveTo>
                  <a:lnTo>
                    <a:pt x="8730680" y="0"/>
                  </a:lnTo>
                  <a:lnTo>
                    <a:pt x="8730680" y="655373"/>
                  </a:lnTo>
                  <a:lnTo>
                    <a:pt x="0" y="65537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9525"/>
              <a:ext cx="8730680" cy="66489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87"/>
                </a:lnSpc>
              </a:pPr>
              <a:r>
                <a:rPr lang="en-US" sz="2562">
                  <a:solidFill>
                    <a:srgbClr val="383838"/>
                  </a:solidFill>
                  <a:latin typeface="PT Serif"/>
                  <a:ea typeface="PT Serif"/>
                  <a:cs typeface="PT Serif"/>
                  <a:sym typeface="PT Serif"/>
                </a:rPr>
                <a:t>No Agent Setup or Maintenance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868859" y="5244256"/>
            <a:ext cx="16550282" cy="903685"/>
            <a:chOff x="0" y="0"/>
            <a:chExt cx="22067043" cy="1204913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22067013" cy="1204976"/>
            </a:xfrm>
            <a:custGeom>
              <a:avLst/>
              <a:gdLst/>
              <a:ahLst/>
              <a:cxnLst/>
              <a:rect l="l" t="t" r="r" b="b"/>
              <a:pathLst>
                <a:path w="22067013" h="1204976">
                  <a:moveTo>
                    <a:pt x="0" y="49657"/>
                  </a:moveTo>
                  <a:cubicBezTo>
                    <a:pt x="0" y="22225"/>
                    <a:pt x="22225" y="0"/>
                    <a:pt x="49657" y="0"/>
                  </a:cubicBezTo>
                  <a:lnTo>
                    <a:pt x="22017355" y="0"/>
                  </a:lnTo>
                  <a:cubicBezTo>
                    <a:pt x="22044788" y="0"/>
                    <a:pt x="22067013" y="22225"/>
                    <a:pt x="22067013" y="49657"/>
                  </a:cubicBezTo>
                  <a:lnTo>
                    <a:pt x="22067013" y="1155319"/>
                  </a:lnTo>
                  <a:cubicBezTo>
                    <a:pt x="22067013" y="1182751"/>
                    <a:pt x="22044788" y="1204976"/>
                    <a:pt x="22017355" y="1204976"/>
                  </a:cubicBezTo>
                  <a:lnTo>
                    <a:pt x="49657" y="1204976"/>
                  </a:lnTo>
                  <a:cubicBezTo>
                    <a:pt x="22225" y="1204976"/>
                    <a:pt x="0" y="1182624"/>
                    <a:pt x="0" y="1155319"/>
                  </a:cubicBezTo>
                  <a:close/>
                </a:path>
              </a:pathLst>
            </a:custGeom>
            <a:solidFill>
              <a:srgbClr val="F2EEE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117104" y="5450335"/>
            <a:ext cx="5201492" cy="491530"/>
            <a:chOff x="0" y="0"/>
            <a:chExt cx="6935323" cy="655373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6935323" cy="655373"/>
            </a:xfrm>
            <a:custGeom>
              <a:avLst/>
              <a:gdLst/>
              <a:ahLst/>
              <a:cxnLst/>
              <a:rect l="l" t="t" r="r" b="b"/>
              <a:pathLst>
                <a:path w="6935323" h="655373">
                  <a:moveTo>
                    <a:pt x="0" y="0"/>
                  </a:moveTo>
                  <a:lnTo>
                    <a:pt x="6935323" y="0"/>
                  </a:lnTo>
                  <a:lnTo>
                    <a:pt x="6935323" y="655373"/>
                  </a:lnTo>
                  <a:lnTo>
                    <a:pt x="0" y="65537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9525"/>
              <a:ext cx="6935323" cy="66489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87"/>
                </a:lnSpc>
              </a:pPr>
              <a:r>
                <a:rPr lang="en-US" sz="2562">
                  <a:solidFill>
                    <a:srgbClr val="383838"/>
                  </a:solidFill>
                  <a:latin typeface="PT Serif"/>
                  <a:ea typeface="PT Serif"/>
                  <a:cs typeface="PT Serif"/>
                  <a:sym typeface="PT Serif"/>
                </a:rPr>
                <a:t>Quicker Host Onboarding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868859" y="6396186"/>
            <a:ext cx="16550282" cy="903685"/>
            <a:chOff x="0" y="0"/>
            <a:chExt cx="22067043" cy="1204913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22067013" cy="1204976"/>
            </a:xfrm>
            <a:custGeom>
              <a:avLst/>
              <a:gdLst/>
              <a:ahLst/>
              <a:cxnLst/>
              <a:rect l="l" t="t" r="r" b="b"/>
              <a:pathLst>
                <a:path w="22067013" h="1204976">
                  <a:moveTo>
                    <a:pt x="0" y="49657"/>
                  </a:moveTo>
                  <a:cubicBezTo>
                    <a:pt x="0" y="22225"/>
                    <a:pt x="22225" y="0"/>
                    <a:pt x="49657" y="0"/>
                  </a:cubicBezTo>
                  <a:lnTo>
                    <a:pt x="22017355" y="0"/>
                  </a:lnTo>
                  <a:cubicBezTo>
                    <a:pt x="22044788" y="0"/>
                    <a:pt x="22067013" y="22225"/>
                    <a:pt x="22067013" y="49657"/>
                  </a:cubicBezTo>
                  <a:lnTo>
                    <a:pt x="22067013" y="1155319"/>
                  </a:lnTo>
                  <a:cubicBezTo>
                    <a:pt x="22067013" y="1182751"/>
                    <a:pt x="22044788" y="1204976"/>
                    <a:pt x="22017355" y="1204976"/>
                  </a:cubicBezTo>
                  <a:lnTo>
                    <a:pt x="49657" y="1204976"/>
                  </a:lnTo>
                  <a:cubicBezTo>
                    <a:pt x="22225" y="1204976"/>
                    <a:pt x="0" y="1182624"/>
                    <a:pt x="0" y="1155319"/>
                  </a:cubicBezTo>
                  <a:close/>
                </a:path>
              </a:pathLst>
            </a:custGeom>
            <a:solidFill>
              <a:srgbClr val="F2EEE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117104" y="6637287"/>
            <a:ext cx="3835896" cy="414338"/>
            <a:chOff x="0" y="-9525"/>
            <a:chExt cx="5114528" cy="55245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4483100" cy="542925"/>
            </a:xfrm>
            <a:custGeom>
              <a:avLst/>
              <a:gdLst/>
              <a:ahLst/>
              <a:cxnLst/>
              <a:rect l="l" t="t" r="r" b="b"/>
              <a:pathLst>
                <a:path w="4483100" h="542925">
                  <a:moveTo>
                    <a:pt x="0" y="0"/>
                  </a:moveTo>
                  <a:lnTo>
                    <a:pt x="4483100" y="0"/>
                  </a:lnTo>
                  <a:lnTo>
                    <a:pt x="4483100" y="542925"/>
                  </a:lnTo>
                  <a:lnTo>
                    <a:pt x="0" y="54292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9525"/>
              <a:ext cx="5114528" cy="5524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87"/>
                </a:lnSpc>
              </a:pPr>
              <a:r>
                <a:rPr lang="en-US" sz="2562" dirty="0">
                  <a:solidFill>
                    <a:srgbClr val="383838"/>
                  </a:solidFill>
                  <a:latin typeface="PT Serif"/>
                  <a:ea typeface="PT Serif"/>
                  <a:cs typeface="PT Serif"/>
                  <a:sym typeface="PT Serif"/>
                </a:rPr>
                <a:t>Simpler &amp; More Secure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868859" y="7548116"/>
            <a:ext cx="16550282" cy="903685"/>
            <a:chOff x="0" y="0"/>
            <a:chExt cx="22067043" cy="1204913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22067013" cy="1204976"/>
            </a:xfrm>
            <a:custGeom>
              <a:avLst/>
              <a:gdLst/>
              <a:ahLst/>
              <a:cxnLst/>
              <a:rect l="l" t="t" r="r" b="b"/>
              <a:pathLst>
                <a:path w="22067013" h="1204976">
                  <a:moveTo>
                    <a:pt x="0" y="49657"/>
                  </a:moveTo>
                  <a:cubicBezTo>
                    <a:pt x="0" y="22225"/>
                    <a:pt x="22225" y="0"/>
                    <a:pt x="49657" y="0"/>
                  </a:cubicBezTo>
                  <a:lnTo>
                    <a:pt x="22017355" y="0"/>
                  </a:lnTo>
                  <a:cubicBezTo>
                    <a:pt x="22044788" y="0"/>
                    <a:pt x="22067013" y="22225"/>
                    <a:pt x="22067013" y="49657"/>
                  </a:cubicBezTo>
                  <a:lnTo>
                    <a:pt x="22067013" y="1155319"/>
                  </a:lnTo>
                  <a:cubicBezTo>
                    <a:pt x="22067013" y="1182751"/>
                    <a:pt x="22044788" y="1204976"/>
                    <a:pt x="22017355" y="1204976"/>
                  </a:cubicBezTo>
                  <a:lnTo>
                    <a:pt x="49657" y="1204976"/>
                  </a:lnTo>
                  <a:cubicBezTo>
                    <a:pt x="22225" y="1204976"/>
                    <a:pt x="0" y="1182624"/>
                    <a:pt x="0" y="1155319"/>
                  </a:cubicBezTo>
                  <a:close/>
                </a:path>
              </a:pathLst>
            </a:custGeom>
            <a:solidFill>
              <a:srgbClr val="F2EEE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117104" y="7754193"/>
            <a:ext cx="7451836" cy="491530"/>
            <a:chOff x="0" y="0"/>
            <a:chExt cx="9935781" cy="655373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9935781" cy="655373"/>
            </a:xfrm>
            <a:custGeom>
              <a:avLst/>
              <a:gdLst/>
              <a:ahLst/>
              <a:cxnLst/>
              <a:rect l="l" t="t" r="r" b="b"/>
              <a:pathLst>
                <a:path w="9935781" h="655373">
                  <a:moveTo>
                    <a:pt x="0" y="0"/>
                  </a:moveTo>
                  <a:lnTo>
                    <a:pt x="9935781" y="0"/>
                  </a:lnTo>
                  <a:lnTo>
                    <a:pt x="9935781" y="655373"/>
                  </a:lnTo>
                  <a:lnTo>
                    <a:pt x="0" y="65537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-9525"/>
              <a:ext cx="9935781" cy="66489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87"/>
                </a:lnSpc>
              </a:pPr>
              <a:r>
                <a:rPr lang="en-US" sz="2562">
                  <a:solidFill>
                    <a:srgbClr val="383838"/>
                  </a:solidFill>
                  <a:latin typeface="PT Serif"/>
                  <a:ea typeface="PT Serif"/>
                  <a:cs typeface="PT Serif"/>
                  <a:sym typeface="PT Serif"/>
                </a:rPr>
                <a:t>Minimal Resource Use on Target Machines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868859" y="8700046"/>
            <a:ext cx="16550282" cy="903685"/>
            <a:chOff x="0" y="0"/>
            <a:chExt cx="22067043" cy="1204913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22067013" cy="1204976"/>
            </a:xfrm>
            <a:custGeom>
              <a:avLst/>
              <a:gdLst/>
              <a:ahLst/>
              <a:cxnLst/>
              <a:rect l="l" t="t" r="r" b="b"/>
              <a:pathLst>
                <a:path w="22067013" h="1204976">
                  <a:moveTo>
                    <a:pt x="0" y="49657"/>
                  </a:moveTo>
                  <a:cubicBezTo>
                    <a:pt x="0" y="22225"/>
                    <a:pt x="22225" y="0"/>
                    <a:pt x="49657" y="0"/>
                  </a:cubicBezTo>
                  <a:lnTo>
                    <a:pt x="22017355" y="0"/>
                  </a:lnTo>
                  <a:cubicBezTo>
                    <a:pt x="22044788" y="0"/>
                    <a:pt x="22067013" y="22225"/>
                    <a:pt x="22067013" y="49657"/>
                  </a:cubicBezTo>
                  <a:lnTo>
                    <a:pt x="22067013" y="1155319"/>
                  </a:lnTo>
                  <a:cubicBezTo>
                    <a:pt x="22067013" y="1182751"/>
                    <a:pt x="22044788" y="1204976"/>
                    <a:pt x="22017355" y="1204976"/>
                  </a:cubicBezTo>
                  <a:lnTo>
                    <a:pt x="49657" y="1204976"/>
                  </a:lnTo>
                  <a:cubicBezTo>
                    <a:pt x="22225" y="1204976"/>
                    <a:pt x="0" y="1182624"/>
                    <a:pt x="0" y="1155319"/>
                  </a:cubicBezTo>
                  <a:close/>
                </a:path>
              </a:pathLst>
            </a:custGeom>
            <a:solidFill>
              <a:srgbClr val="F2EEE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1117104" y="8906123"/>
            <a:ext cx="5413783" cy="491530"/>
            <a:chOff x="0" y="0"/>
            <a:chExt cx="7218377" cy="655373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7218377" cy="655373"/>
            </a:xfrm>
            <a:custGeom>
              <a:avLst/>
              <a:gdLst/>
              <a:ahLst/>
              <a:cxnLst/>
              <a:rect l="l" t="t" r="r" b="b"/>
              <a:pathLst>
                <a:path w="7218377" h="655373">
                  <a:moveTo>
                    <a:pt x="0" y="0"/>
                  </a:moveTo>
                  <a:lnTo>
                    <a:pt x="7218377" y="0"/>
                  </a:lnTo>
                  <a:lnTo>
                    <a:pt x="7218377" y="655373"/>
                  </a:lnTo>
                  <a:lnTo>
                    <a:pt x="0" y="65537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0" y="-9525"/>
              <a:ext cx="7218377" cy="66489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87"/>
                </a:lnSpc>
              </a:pPr>
              <a:r>
                <a:rPr lang="en-US" sz="2562">
                  <a:solidFill>
                    <a:srgbClr val="383838"/>
                  </a:solidFill>
                  <a:latin typeface="PT Serif"/>
                  <a:ea typeface="PT Serif"/>
                  <a:cs typeface="PT Serif"/>
                  <a:sym typeface="PT Serif"/>
                </a:rPr>
                <a:t>Easier Troubleshooting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AFA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92238" y="1063526"/>
            <a:ext cx="7442746" cy="930325"/>
            <a:chOff x="0" y="0"/>
            <a:chExt cx="9923662" cy="124043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923662" cy="1240433"/>
            </a:xfrm>
            <a:custGeom>
              <a:avLst/>
              <a:gdLst/>
              <a:ahLst/>
              <a:cxnLst/>
              <a:rect l="l" t="t" r="r" b="b"/>
              <a:pathLst>
                <a:path w="9923662" h="1240433">
                  <a:moveTo>
                    <a:pt x="0" y="0"/>
                  </a:moveTo>
                  <a:lnTo>
                    <a:pt x="9923662" y="0"/>
                  </a:lnTo>
                  <a:lnTo>
                    <a:pt x="9923662" y="1240433"/>
                  </a:lnTo>
                  <a:lnTo>
                    <a:pt x="0" y="124043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9923662" cy="127853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312"/>
                </a:lnSpc>
              </a:pPr>
              <a:r>
                <a:rPr lang="en-US" sz="5812">
                  <a:solidFill>
                    <a:srgbClr val="020202"/>
                  </a:solidFill>
                  <a:latin typeface="PT Serif"/>
                  <a:ea typeface="PT Serif"/>
                  <a:cs typeface="PT Serif"/>
                  <a:sym typeface="PT Serif"/>
                </a:rPr>
                <a:t>How Ansible Works</a:t>
              </a:r>
            </a:p>
          </p:txBody>
        </p:sp>
      </p:grpSp>
      <p:sp>
        <p:nvSpPr>
          <p:cNvPr id="9" name="Freeform 9" descr="preencoded.png"/>
          <p:cNvSpPr/>
          <p:nvPr/>
        </p:nvSpPr>
        <p:spPr>
          <a:xfrm>
            <a:off x="992238" y="2419052"/>
            <a:ext cx="1417588" cy="1701105"/>
          </a:xfrm>
          <a:custGeom>
            <a:avLst/>
            <a:gdLst/>
            <a:ahLst/>
            <a:cxnLst/>
            <a:rect l="l" t="t" r="r" b="b"/>
            <a:pathLst>
              <a:path w="1417588" h="1701105">
                <a:moveTo>
                  <a:pt x="0" y="0"/>
                </a:moveTo>
                <a:lnTo>
                  <a:pt x="1417587" y="0"/>
                </a:lnTo>
                <a:lnTo>
                  <a:pt x="1417587" y="1701105"/>
                </a:lnTo>
                <a:lnTo>
                  <a:pt x="0" y="17011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55" b="-55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0" name="Group 10"/>
          <p:cNvGrpSpPr/>
          <p:nvPr/>
        </p:nvGrpSpPr>
        <p:grpSpPr>
          <a:xfrm>
            <a:off x="2835027" y="2702570"/>
            <a:ext cx="3721299" cy="465087"/>
            <a:chOff x="0" y="0"/>
            <a:chExt cx="4961732" cy="62011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961732" cy="620117"/>
            </a:xfrm>
            <a:custGeom>
              <a:avLst/>
              <a:gdLst/>
              <a:ahLst/>
              <a:cxnLst/>
              <a:rect l="l" t="t" r="r" b="b"/>
              <a:pathLst>
                <a:path w="4961732" h="620117">
                  <a:moveTo>
                    <a:pt x="0" y="0"/>
                  </a:moveTo>
                  <a:lnTo>
                    <a:pt x="4961732" y="0"/>
                  </a:lnTo>
                  <a:lnTo>
                    <a:pt x="4961732" y="620117"/>
                  </a:lnTo>
                  <a:lnTo>
                    <a:pt x="0" y="62011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4961732" cy="63916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25"/>
                </a:lnSpc>
              </a:pPr>
              <a:r>
                <a:rPr lang="en-US" sz="2874">
                  <a:solidFill>
                    <a:srgbClr val="383838"/>
                  </a:solidFill>
                  <a:latin typeface="PT Serif"/>
                  <a:ea typeface="PT Serif"/>
                  <a:cs typeface="PT Serif"/>
                  <a:sym typeface="PT Serif"/>
                </a:rPr>
                <a:t>Connect via SSH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2835027" y="3337769"/>
            <a:ext cx="14460736" cy="453629"/>
            <a:chOff x="0" y="0"/>
            <a:chExt cx="19280982" cy="604838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9280981" cy="604838"/>
            </a:xfrm>
            <a:custGeom>
              <a:avLst/>
              <a:gdLst/>
              <a:ahLst/>
              <a:cxnLst/>
              <a:rect l="l" t="t" r="r" b="b"/>
              <a:pathLst>
                <a:path w="19280981" h="604838">
                  <a:moveTo>
                    <a:pt x="0" y="0"/>
                  </a:moveTo>
                  <a:lnTo>
                    <a:pt x="19280981" y="0"/>
                  </a:lnTo>
                  <a:lnTo>
                    <a:pt x="19280981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95250"/>
              <a:ext cx="19280982" cy="7000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Ansible uses secure SSH protocol to connect to managed nodes.</a:t>
              </a:r>
            </a:p>
          </p:txBody>
        </p:sp>
      </p:grpSp>
      <p:sp>
        <p:nvSpPr>
          <p:cNvPr id="16" name="Freeform 16" descr="preencoded.png"/>
          <p:cNvSpPr/>
          <p:nvPr/>
        </p:nvSpPr>
        <p:spPr>
          <a:xfrm>
            <a:off x="992238" y="4120157"/>
            <a:ext cx="1417588" cy="1701105"/>
          </a:xfrm>
          <a:custGeom>
            <a:avLst/>
            <a:gdLst/>
            <a:ahLst/>
            <a:cxnLst/>
            <a:rect l="l" t="t" r="r" b="b"/>
            <a:pathLst>
              <a:path w="1417588" h="1701105">
                <a:moveTo>
                  <a:pt x="0" y="0"/>
                </a:moveTo>
                <a:lnTo>
                  <a:pt x="1417587" y="0"/>
                </a:lnTo>
                <a:lnTo>
                  <a:pt x="1417587" y="1701105"/>
                </a:lnTo>
                <a:lnTo>
                  <a:pt x="0" y="17011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55" b="-55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7" name="Group 17"/>
          <p:cNvGrpSpPr/>
          <p:nvPr/>
        </p:nvGrpSpPr>
        <p:grpSpPr>
          <a:xfrm>
            <a:off x="2835027" y="4403675"/>
            <a:ext cx="3721299" cy="465087"/>
            <a:chOff x="0" y="0"/>
            <a:chExt cx="4961732" cy="620117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961732" cy="620117"/>
            </a:xfrm>
            <a:custGeom>
              <a:avLst/>
              <a:gdLst/>
              <a:ahLst/>
              <a:cxnLst/>
              <a:rect l="l" t="t" r="r" b="b"/>
              <a:pathLst>
                <a:path w="4961732" h="620117">
                  <a:moveTo>
                    <a:pt x="0" y="0"/>
                  </a:moveTo>
                  <a:lnTo>
                    <a:pt x="4961732" y="0"/>
                  </a:lnTo>
                  <a:lnTo>
                    <a:pt x="4961732" y="620117"/>
                  </a:lnTo>
                  <a:lnTo>
                    <a:pt x="0" y="62011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19050"/>
              <a:ext cx="4961732" cy="63916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25"/>
                </a:lnSpc>
              </a:pPr>
              <a:r>
                <a:rPr lang="en-US" sz="2874">
                  <a:solidFill>
                    <a:srgbClr val="383838"/>
                  </a:solidFill>
                  <a:latin typeface="PT Serif"/>
                  <a:ea typeface="PT Serif"/>
                  <a:cs typeface="PT Serif"/>
                  <a:sym typeface="PT Serif"/>
                </a:rPr>
                <a:t>Copy Python Modules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2835027" y="5038874"/>
            <a:ext cx="14460736" cy="453629"/>
            <a:chOff x="0" y="0"/>
            <a:chExt cx="19280982" cy="604838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9280981" cy="604838"/>
            </a:xfrm>
            <a:custGeom>
              <a:avLst/>
              <a:gdLst/>
              <a:ahLst/>
              <a:cxnLst/>
              <a:rect l="l" t="t" r="r" b="b"/>
              <a:pathLst>
                <a:path w="19280981" h="604838">
                  <a:moveTo>
                    <a:pt x="0" y="0"/>
                  </a:moveTo>
                  <a:lnTo>
                    <a:pt x="19280981" y="0"/>
                  </a:lnTo>
                  <a:lnTo>
                    <a:pt x="19280981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95250"/>
              <a:ext cx="19280982" cy="7000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Temporary Python modules are copied to the target system.</a:t>
              </a:r>
            </a:p>
          </p:txBody>
        </p:sp>
      </p:grpSp>
      <p:sp>
        <p:nvSpPr>
          <p:cNvPr id="23" name="Freeform 23" descr="preencoded.png"/>
          <p:cNvSpPr/>
          <p:nvPr/>
        </p:nvSpPr>
        <p:spPr>
          <a:xfrm>
            <a:off x="992238" y="5821264"/>
            <a:ext cx="1417588" cy="1701105"/>
          </a:xfrm>
          <a:custGeom>
            <a:avLst/>
            <a:gdLst/>
            <a:ahLst/>
            <a:cxnLst/>
            <a:rect l="l" t="t" r="r" b="b"/>
            <a:pathLst>
              <a:path w="1417588" h="1701105">
                <a:moveTo>
                  <a:pt x="0" y="0"/>
                </a:moveTo>
                <a:lnTo>
                  <a:pt x="1417587" y="0"/>
                </a:lnTo>
                <a:lnTo>
                  <a:pt x="1417587" y="1701105"/>
                </a:lnTo>
                <a:lnTo>
                  <a:pt x="0" y="170110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55" b="-55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4" name="Group 24"/>
          <p:cNvGrpSpPr/>
          <p:nvPr/>
        </p:nvGrpSpPr>
        <p:grpSpPr>
          <a:xfrm>
            <a:off x="2835027" y="6104781"/>
            <a:ext cx="3721299" cy="465088"/>
            <a:chOff x="0" y="0"/>
            <a:chExt cx="4961732" cy="620117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4961732" cy="620117"/>
            </a:xfrm>
            <a:custGeom>
              <a:avLst/>
              <a:gdLst/>
              <a:ahLst/>
              <a:cxnLst/>
              <a:rect l="l" t="t" r="r" b="b"/>
              <a:pathLst>
                <a:path w="4961732" h="620117">
                  <a:moveTo>
                    <a:pt x="0" y="0"/>
                  </a:moveTo>
                  <a:lnTo>
                    <a:pt x="4961732" y="0"/>
                  </a:lnTo>
                  <a:lnTo>
                    <a:pt x="4961732" y="620117"/>
                  </a:lnTo>
                  <a:lnTo>
                    <a:pt x="0" y="62011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19050"/>
              <a:ext cx="4961732" cy="63916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25"/>
                </a:lnSpc>
              </a:pPr>
              <a:r>
                <a:rPr lang="en-US" sz="2874">
                  <a:solidFill>
                    <a:srgbClr val="383838"/>
                  </a:solidFill>
                  <a:latin typeface="PT Serif"/>
                  <a:ea typeface="PT Serif"/>
                  <a:cs typeface="PT Serif"/>
                  <a:sym typeface="PT Serif"/>
                </a:rPr>
                <a:t>Execute Tasks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2835027" y="6739979"/>
            <a:ext cx="14460736" cy="453629"/>
            <a:chOff x="0" y="0"/>
            <a:chExt cx="19280982" cy="604838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9280981" cy="604838"/>
            </a:xfrm>
            <a:custGeom>
              <a:avLst/>
              <a:gdLst/>
              <a:ahLst/>
              <a:cxnLst/>
              <a:rect l="l" t="t" r="r" b="b"/>
              <a:pathLst>
                <a:path w="19280981" h="604838">
                  <a:moveTo>
                    <a:pt x="0" y="0"/>
                  </a:moveTo>
                  <a:lnTo>
                    <a:pt x="19280981" y="0"/>
                  </a:lnTo>
                  <a:lnTo>
                    <a:pt x="19280981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95250"/>
              <a:ext cx="19280982" cy="7000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Tasks are executed on the managed node.</a:t>
              </a:r>
            </a:p>
          </p:txBody>
        </p:sp>
      </p:grpSp>
      <p:sp>
        <p:nvSpPr>
          <p:cNvPr id="30" name="Freeform 30" descr="preencoded.png"/>
          <p:cNvSpPr/>
          <p:nvPr/>
        </p:nvSpPr>
        <p:spPr>
          <a:xfrm>
            <a:off x="992238" y="7522369"/>
            <a:ext cx="1417588" cy="1701105"/>
          </a:xfrm>
          <a:custGeom>
            <a:avLst/>
            <a:gdLst/>
            <a:ahLst/>
            <a:cxnLst/>
            <a:rect l="l" t="t" r="r" b="b"/>
            <a:pathLst>
              <a:path w="1417588" h="1701105">
                <a:moveTo>
                  <a:pt x="0" y="0"/>
                </a:moveTo>
                <a:lnTo>
                  <a:pt x="1417587" y="0"/>
                </a:lnTo>
                <a:lnTo>
                  <a:pt x="1417587" y="1701105"/>
                </a:lnTo>
                <a:lnTo>
                  <a:pt x="0" y="170110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55" b="-55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1" name="Group 31"/>
          <p:cNvGrpSpPr/>
          <p:nvPr/>
        </p:nvGrpSpPr>
        <p:grpSpPr>
          <a:xfrm>
            <a:off x="2835027" y="7805886"/>
            <a:ext cx="3721299" cy="465088"/>
            <a:chOff x="0" y="0"/>
            <a:chExt cx="4961732" cy="620117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4961732" cy="620117"/>
            </a:xfrm>
            <a:custGeom>
              <a:avLst/>
              <a:gdLst/>
              <a:ahLst/>
              <a:cxnLst/>
              <a:rect l="l" t="t" r="r" b="b"/>
              <a:pathLst>
                <a:path w="4961732" h="620117">
                  <a:moveTo>
                    <a:pt x="0" y="0"/>
                  </a:moveTo>
                  <a:lnTo>
                    <a:pt x="4961732" y="0"/>
                  </a:lnTo>
                  <a:lnTo>
                    <a:pt x="4961732" y="620117"/>
                  </a:lnTo>
                  <a:lnTo>
                    <a:pt x="0" y="62011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-19050"/>
              <a:ext cx="4961732" cy="63916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25"/>
                </a:lnSpc>
              </a:pPr>
              <a:r>
                <a:rPr lang="en-US" sz="2874">
                  <a:solidFill>
                    <a:srgbClr val="383838"/>
                  </a:solidFill>
                  <a:latin typeface="PT Serif"/>
                  <a:ea typeface="PT Serif"/>
                  <a:cs typeface="PT Serif"/>
                  <a:sym typeface="PT Serif"/>
                </a:rPr>
                <a:t>Clean Up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2835027" y="8441085"/>
            <a:ext cx="14460736" cy="453629"/>
            <a:chOff x="0" y="0"/>
            <a:chExt cx="19280982" cy="604838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9280981" cy="604838"/>
            </a:xfrm>
            <a:custGeom>
              <a:avLst/>
              <a:gdLst/>
              <a:ahLst/>
              <a:cxnLst/>
              <a:rect l="l" t="t" r="r" b="b"/>
              <a:pathLst>
                <a:path w="19280981" h="604838">
                  <a:moveTo>
                    <a:pt x="0" y="0"/>
                  </a:moveTo>
                  <a:lnTo>
                    <a:pt x="19280981" y="0"/>
                  </a:lnTo>
                  <a:lnTo>
                    <a:pt x="19280981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-95250"/>
              <a:ext cx="19280982" cy="7000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Temporary files are removed, leaving no footprint.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AFA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92237" y="2214414"/>
            <a:ext cx="11512239" cy="1120973"/>
            <a:chOff x="0" y="0"/>
            <a:chExt cx="15349652" cy="149463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5349652" cy="1494631"/>
            </a:xfrm>
            <a:custGeom>
              <a:avLst/>
              <a:gdLst/>
              <a:ahLst/>
              <a:cxnLst/>
              <a:rect l="l" t="t" r="r" b="b"/>
              <a:pathLst>
                <a:path w="15349652" h="1494631">
                  <a:moveTo>
                    <a:pt x="0" y="0"/>
                  </a:moveTo>
                  <a:lnTo>
                    <a:pt x="15349652" y="0"/>
                  </a:lnTo>
                  <a:lnTo>
                    <a:pt x="15349652" y="1494631"/>
                  </a:lnTo>
                  <a:lnTo>
                    <a:pt x="0" y="149463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5349652" cy="1532731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7312"/>
                </a:lnSpc>
              </a:pPr>
              <a:r>
                <a:rPr lang="en-US" sz="5812">
                  <a:solidFill>
                    <a:srgbClr val="020202"/>
                  </a:solidFill>
                  <a:latin typeface="PT Serif"/>
                  <a:ea typeface="PT Serif"/>
                  <a:cs typeface="PT Serif"/>
                  <a:sym typeface="PT Serif"/>
                </a:rPr>
                <a:t>Key Characteristics of Ansible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92238" y="3569940"/>
            <a:ext cx="8010079" cy="2109490"/>
            <a:chOff x="0" y="0"/>
            <a:chExt cx="10680105" cy="281265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0680065" cy="2812669"/>
            </a:xfrm>
            <a:custGeom>
              <a:avLst/>
              <a:gdLst/>
              <a:ahLst/>
              <a:cxnLst/>
              <a:rect l="l" t="t" r="r" b="b"/>
              <a:pathLst>
                <a:path w="10680065" h="2812669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10623423" y="0"/>
                  </a:lnTo>
                  <a:cubicBezTo>
                    <a:pt x="10654792" y="0"/>
                    <a:pt x="10680065" y="25400"/>
                    <a:pt x="10680065" y="56642"/>
                  </a:cubicBezTo>
                  <a:lnTo>
                    <a:pt x="10680065" y="2755900"/>
                  </a:lnTo>
                  <a:cubicBezTo>
                    <a:pt x="10680065" y="2787269"/>
                    <a:pt x="10654665" y="2812542"/>
                    <a:pt x="10623423" y="2812542"/>
                  </a:cubicBezTo>
                  <a:lnTo>
                    <a:pt x="56642" y="2812542"/>
                  </a:lnTo>
                  <a:cubicBezTo>
                    <a:pt x="25400" y="2812669"/>
                    <a:pt x="0" y="2787269"/>
                    <a:pt x="0" y="2755900"/>
                  </a:cubicBezTo>
                  <a:close/>
                </a:path>
              </a:pathLst>
            </a:custGeom>
            <a:solidFill>
              <a:srgbClr val="F2EEE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275755" y="3853457"/>
            <a:ext cx="3721299" cy="465087"/>
            <a:chOff x="0" y="0"/>
            <a:chExt cx="4961732" cy="62011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961732" cy="620117"/>
            </a:xfrm>
            <a:custGeom>
              <a:avLst/>
              <a:gdLst/>
              <a:ahLst/>
              <a:cxnLst/>
              <a:rect l="l" t="t" r="r" b="b"/>
              <a:pathLst>
                <a:path w="4961732" h="620117">
                  <a:moveTo>
                    <a:pt x="0" y="0"/>
                  </a:moveTo>
                  <a:lnTo>
                    <a:pt x="4961732" y="0"/>
                  </a:lnTo>
                  <a:lnTo>
                    <a:pt x="4961732" y="620117"/>
                  </a:lnTo>
                  <a:lnTo>
                    <a:pt x="0" y="62011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19050"/>
              <a:ext cx="4961732" cy="639167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625"/>
                </a:lnSpc>
              </a:pPr>
              <a:r>
                <a:rPr lang="en-US" sz="2874">
                  <a:solidFill>
                    <a:srgbClr val="383838"/>
                  </a:solidFill>
                  <a:latin typeface="PT Serif"/>
                  <a:ea typeface="PT Serif"/>
                  <a:cs typeface="PT Serif"/>
                  <a:sym typeface="PT Serif"/>
                </a:rPr>
                <a:t>Agentless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275755" y="4488656"/>
            <a:ext cx="7443044" cy="907256"/>
            <a:chOff x="0" y="0"/>
            <a:chExt cx="9924058" cy="120967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9924059" cy="1209675"/>
            </a:xfrm>
            <a:custGeom>
              <a:avLst/>
              <a:gdLst/>
              <a:ahLst/>
              <a:cxnLst/>
              <a:rect l="l" t="t" r="r" b="b"/>
              <a:pathLst>
                <a:path w="9924059" h="1209675">
                  <a:moveTo>
                    <a:pt x="0" y="0"/>
                  </a:moveTo>
                  <a:lnTo>
                    <a:pt x="9924059" y="0"/>
                  </a:lnTo>
                  <a:lnTo>
                    <a:pt x="9924059" y="1209675"/>
                  </a:lnTo>
                  <a:lnTo>
                    <a:pt x="0" y="12096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95250"/>
              <a:ext cx="9924058" cy="130492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No software to install on nodes, reducing maintenance overhead.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285834" y="3569940"/>
            <a:ext cx="8010079" cy="2109490"/>
            <a:chOff x="0" y="0"/>
            <a:chExt cx="10680105" cy="2812653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0680065" cy="2812669"/>
            </a:xfrm>
            <a:custGeom>
              <a:avLst/>
              <a:gdLst/>
              <a:ahLst/>
              <a:cxnLst/>
              <a:rect l="l" t="t" r="r" b="b"/>
              <a:pathLst>
                <a:path w="10680065" h="2812669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10623423" y="0"/>
                  </a:lnTo>
                  <a:cubicBezTo>
                    <a:pt x="10654792" y="0"/>
                    <a:pt x="10680065" y="25400"/>
                    <a:pt x="10680065" y="56642"/>
                  </a:cubicBezTo>
                  <a:lnTo>
                    <a:pt x="10680065" y="2755900"/>
                  </a:lnTo>
                  <a:cubicBezTo>
                    <a:pt x="10680065" y="2787269"/>
                    <a:pt x="10654665" y="2812542"/>
                    <a:pt x="10623423" y="2812542"/>
                  </a:cubicBezTo>
                  <a:lnTo>
                    <a:pt x="56642" y="2812542"/>
                  </a:lnTo>
                  <a:cubicBezTo>
                    <a:pt x="25400" y="2812669"/>
                    <a:pt x="0" y="2787269"/>
                    <a:pt x="0" y="2755900"/>
                  </a:cubicBezTo>
                  <a:close/>
                </a:path>
              </a:pathLst>
            </a:custGeom>
            <a:solidFill>
              <a:srgbClr val="F2EEE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69351" y="3853457"/>
            <a:ext cx="3721299" cy="465087"/>
            <a:chOff x="0" y="0"/>
            <a:chExt cx="4961732" cy="620117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4961732" cy="620117"/>
            </a:xfrm>
            <a:custGeom>
              <a:avLst/>
              <a:gdLst/>
              <a:ahLst/>
              <a:cxnLst/>
              <a:rect l="l" t="t" r="r" b="b"/>
              <a:pathLst>
                <a:path w="4961732" h="620117">
                  <a:moveTo>
                    <a:pt x="0" y="0"/>
                  </a:moveTo>
                  <a:lnTo>
                    <a:pt x="4961732" y="0"/>
                  </a:lnTo>
                  <a:lnTo>
                    <a:pt x="4961732" y="620117"/>
                  </a:lnTo>
                  <a:lnTo>
                    <a:pt x="0" y="62011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19050"/>
              <a:ext cx="4961732" cy="639167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625"/>
                </a:lnSpc>
              </a:pPr>
              <a:r>
                <a:rPr lang="en-US" sz="2874">
                  <a:solidFill>
                    <a:srgbClr val="383838"/>
                  </a:solidFill>
                  <a:latin typeface="PT Serif"/>
                  <a:ea typeface="PT Serif"/>
                  <a:cs typeface="PT Serif"/>
                  <a:sym typeface="PT Serif"/>
                </a:rPr>
                <a:t>Push-based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69351" y="4488656"/>
            <a:ext cx="7443044" cy="453629"/>
            <a:chOff x="0" y="0"/>
            <a:chExt cx="9924058" cy="604838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9924059" cy="604838"/>
            </a:xfrm>
            <a:custGeom>
              <a:avLst/>
              <a:gdLst/>
              <a:ahLst/>
              <a:cxnLst/>
              <a:rect l="l" t="t" r="r" b="b"/>
              <a:pathLst>
                <a:path w="9924059" h="604838">
                  <a:moveTo>
                    <a:pt x="0" y="0"/>
                  </a:moveTo>
                  <a:lnTo>
                    <a:pt x="9924059" y="0"/>
                  </a:lnTo>
                  <a:lnTo>
                    <a:pt x="9924059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95250"/>
              <a:ext cx="9924058" cy="70008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Central node pushes configurations when needed.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92238" y="5962947"/>
            <a:ext cx="8010079" cy="2109490"/>
            <a:chOff x="0" y="0"/>
            <a:chExt cx="10680105" cy="2812653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0680065" cy="2812669"/>
            </a:xfrm>
            <a:custGeom>
              <a:avLst/>
              <a:gdLst/>
              <a:ahLst/>
              <a:cxnLst/>
              <a:rect l="l" t="t" r="r" b="b"/>
              <a:pathLst>
                <a:path w="10680065" h="2812669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10623423" y="0"/>
                  </a:lnTo>
                  <a:cubicBezTo>
                    <a:pt x="10654792" y="0"/>
                    <a:pt x="10680065" y="25400"/>
                    <a:pt x="10680065" y="56642"/>
                  </a:cubicBezTo>
                  <a:lnTo>
                    <a:pt x="10680065" y="2755900"/>
                  </a:lnTo>
                  <a:cubicBezTo>
                    <a:pt x="10680065" y="2787269"/>
                    <a:pt x="10654665" y="2812542"/>
                    <a:pt x="10623423" y="2812542"/>
                  </a:cubicBezTo>
                  <a:lnTo>
                    <a:pt x="56642" y="2812542"/>
                  </a:lnTo>
                  <a:cubicBezTo>
                    <a:pt x="25400" y="2812669"/>
                    <a:pt x="0" y="2787269"/>
                    <a:pt x="0" y="2755900"/>
                  </a:cubicBezTo>
                  <a:close/>
                </a:path>
              </a:pathLst>
            </a:custGeom>
            <a:solidFill>
              <a:srgbClr val="F2EEE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275755" y="6246465"/>
            <a:ext cx="3721299" cy="465088"/>
            <a:chOff x="0" y="0"/>
            <a:chExt cx="4961732" cy="620117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4961732" cy="620117"/>
            </a:xfrm>
            <a:custGeom>
              <a:avLst/>
              <a:gdLst/>
              <a:ahLst/>
              <a:cxnLst/>
              <a:rect l="l" t="t" r="r" b="b"/>
              <a:pathLst>
                <a:path w="4961732" h="620117">
                  <a:moveTo>
                    <a:pt x="0" y="0"/>
                  </a:moveTo>
                  <a:lnTo>
                    <a:pt x="4961732" y="0"/>
                  </a:lnTo>
                  <a:lnTo>
                    <a:pt x="4961732" y="620117"/>
                  </a:lnTo>
                  <a:lnTo>
                    <a:pt x="0" y="62011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19050"/>
              <a:ext cx="4961732" cy="639167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625"/>
                </a:lnSpc>
              </a:pPr>
              <a:r>
                <a:rPr lang="en-US" sz="2874">
                  <a:solidFill>
                    <a:srgbClr val="383838"/>
                  </a:solidFill>
                  <a:latin typeface="PT Serif"/>
                  <a:ea typeface="PT Serif"/>
                  <a:cs typeface="PT Serif"/>
                  <a:sym typeface="PT Serif"/>
                </a:rPr>
                <a:t>YAML Playbooks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275755" y="6881664"/>
            <a:ext cx="7443044" cy="907256"/>
            <a:chOff x="0" y="0"/>
            <a:chExt cx="9924058" cy="1209675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9924059" cy="1209675"/>
            </a:xfrm>
            <a:custGeom>
              <a:avLst/>
              <a:gdLst/>
              <a:ahLst/>
              <a:cxnLst/>
              <a:rect l="l" t="t" r="r" b="b"/>
              <a:pathLst>
                <a:path w="9924059" h="1209675">
                  <a:moveTo>
                    <a:pt x="0" y="0"/>
                  </a:moveTo>
                  <a:lnTo>
                    <a:pt x="9924059" y="0"/>
                  </a:lnTo>
                  <a:lnTo>
                    <a:pt x="9924059" y="1209675"/>
                  </a:lnTo>
                  <a:lnTo>
                    <a:pt x="0" y="12096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95250"/>
              <a:ext cx="9924058" cy="130492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Simple, readable configuration files that are easy to understand.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9285834" y="5962947"/>
            <a:ext cx="8010079" cy="2109490"/>
            <a:chOff x="0" y="0"/>
            <a:chExt cx="10680105" cy="2812653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0680065" cy="2812669"/>
            </a:xfrm>
            <a:custGeom>
              <a:avLst/>
              <a:gdLst/>
              <a:ahLst/>
              <a:cxnLst/>
              <a:rect l="l" t="t" r="r" b="b"/>
              <a:pathLst>
                <a:path w="10680065" h="2812669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10623423" y="0"/>
                  </a:lnTo>
                  <a:cubicBezTo>
                    <a:pt x="10654792" y="0"/>
                    <a:pt x="10680065" y="25400"/>
                    <a:pt x="10680065" y="56642"/>
                  </a:cubicBezTo>
                  <a:lnTo>
                    <a:pt x="10680065" y="2755900"/>
                  </a:lnTo>
                  <a:cubicBezTo>
                    <a:pt x="10680065" y="2787269"/>
                    <a:pt x="10654665" y="2812542"/>
                    <a:pt x="10623423" y="2812542"/>
                  </a:cubicBezTo>
                  <a:lnTo>
                    <a:pt x="56642" y="2812542"/>
                  </a:lnTo>
                  <a:cubicBezTo>
                    <a:pt x="25400" y="2812669"/>
                    <a:pt x="0" y="2787269"/>
                    <a:pt x="0" y="2755900"/>
                  </a:cubicBezTo>
                  <a:close/>
                </a:path>
              </a:pathLst>
            </a:custGeom>
            <a:solidFill>
              <a:srgbClr val="F2EEE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9569351" y="6246465"/>
            <a:ext cx="3721299" cy="465088"/>
            <a:chOff x="0" y="0"/>
            <a:chExt cx="4961732" cy="620117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4961732" cy="620117"/>
            </a:xfrm>
            <a:custGeom>
              <a:avLst/>
              <a:gdLst/>
              <a:ahLst/>
              <a:cxnLst/>
              <a:rect l="l" t="t" r="r" b="b"/>
              <a:pathLst>
                <a:path w="4961732" h="620117">
                  <a:moveTo>
                    <a:pt x="0" y="0"/>
                  </a:moveTo>
                  <a:lnTo>
                    <a:pt x="4961732" y="0"/>
                  </a:lnTo>
                  <a:lnTo>
                    <a:pt x="4961732" y="620117"/>
                  </a:lnTo>
                  <a:lnTo>
                    <a:pt x="0" y="62011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-19050"/>
              <a:ext cx="4961732" cy="639167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625"/>
                </a:lnSpc>
              </a:pPr>
              <a:r>
                <a:rPr lang="en-US" sz="2874">
                  <a:solidFill>
                    <a:srgbClr val="383838"/>
                  </a:solidFill>
                  <a:latin typeface="PT Serif"/>
                  <a:ea typeface="PT Serif"/>
                  <a:cs typeface="PT Serif"/>
                  <a:sym typeface="PT Serif"/>
                </a:rPr>
                <a:t>Idempotent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9569351" y="6881664"/>
            <a:ext cx="7443044" cy="907256"/>
            <a:chOff x="0" y="0"/>
            <a:chExt cx="9924058" cy="1209675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9924059" cy="1209675"/>
            </a:xfrm>
            <a:custGeom>
              <a:avLst/>
              <a:gdLst/>
              <a:ahLst/>
              <a:cxnLst/>
              <a:rect l="l" t="t" r="r" b="b"/>
              <a:pathLst>
                <a:path w="9924059" h="1209675">
                  <a:moveTo>
                    <a:pt x="0" y="0"/>
                  </a:moveTo>
                  <a:lnTo>
                    <a:pt x="9924059" y="0"/>
                  </a:lnTo>
                  <a:lnTo>
                    <a:pt x="9924059" y="1209675"/>
                  </a:lnTo>
                  <a:lnTo>
                    <a:pt x="0" y="12096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-95250"/>
              <a:ext cx="9924058" cy="130492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Running playbooks repeatedly won't change results if system is already configured.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AFA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78694" y="675506"/>
            <a:ext cx="15921320" cy="1105694"/>
            <a:chOff x="0" y="0"/>
            <a:chExt cx="21228426" cy="147425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228425" cy="1474258"/>
            </a:xfrm>
            <a:custGeom>
              <a:avLst/>
              <a:gdLst/>
              <a:ahLst/>
              <a:cxnLst/>
              <a:rect l="l" t="t" r="r" b="b"/>
              <a:pathLst>
                <a:path w="21228425" h="1474258">
                  <a:moveTo>
                    <a:pt x="0" y="0"/>
                  </a:moveTo>
                  <a:lnTo>
                    <a:pt x="21228425" y="0"/>
                  </a:lnTo>
                  <a:lnTo>
                    <a:pt x="21228425" y="1474258"/>
                  </a:lnTo>
                  <a:lnTo>
                    <a:pt x="0" y="147425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21228426" cy="150283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187"/>
                </a:lnSpc>
              </a:pPr>
              <a:r>
                <a:rPr lang="en-US" sz="5749">
                  <a:solidFill>
                    <a:srgbClr val="020202"/>
                  </a:solidFill>
                  <a:latin typeface="PT Serif"/>
                  <a:ea typeface="PT Serif"/>
                  <a:cs typeface="PT Serif"/>
                  <a:sym typeface="PT Serif"/>
                </a:rPr>
                <a:t>Real-World Benefits of Agentless Architecture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124950" y="2106514"/>
            <a:ext cx="38100" cy="7410896"/>
            <a:chOff x="0" y="0"/>
            <a:chExt cx="50800" cy="988119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0800" cy="9881235"/>
            </a:xfrm>
            <a:custGeom>
              <a:avLst/>
              <a:gdLst/>
              <a:ahLst/>
              <a:cxnLst/>
              <a:rect l="l" t="t" r="r" b="b"/>
              <a:pathLst>
                <a:path w="50800" h="9881235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cubicBezTo>
                    <a:pt x="39370" y="0"/>
                    <a:pt x="50800" y="11430"/>
                    <a:pt x="50800" y="25400"/>
                  </a:cubicBezTo>
                  <a:lnTo>
                    <a:pt x="50800" y="9855835"/>
                  </a:lnTo>
                  <a:cubicBezTo>
                    <a:pt x="50800" y="9869805"/>
                    <a:pt x="39370" y="9881235"/>
                    <a:pt x="25400" y="9881235"/>
                  </a:cubicBezTo>
                  <a:cubicBezTo>
                    <a:pt x="11430" y="9881235"/>
                    <a:pt x="0" y="9869805"/>
                    <a:pt x="0" y="9855835"/>
                  </a:cubicBezTo>
                  <a:close/>
                </a:path>
              </a:pathLst>
            </a:custGeom>
            <a:solidFill>
              <a:srgbClr val="D8D4D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8028607" y="2716411"/>
            <a:ext cx="838944" cy="38100"/>
            <a:chOff x="0" y="0"/>
            <a:chExt cx="1118592" cy="50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118616" cy="50800"/>
            </a:xfrm>
            <a:custGeom>
              <a:avLst/>
              <a:gdLst/>
              <a:ahLst/>
              <a:cxnLst/>
              <a:rect l="l" t="t" r="r" b="b"/>
              <a:pathLst>
                <a:path w="1118616" h="5080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lnTo>
                    <a:pt x="1093216" y="0"/>
                  </a:lnTo>
                  <a:cubicBezTo>
                    <a:pt x="1107186" y="0"/>
                    <a:pt x="1118616" y="11430"/>
                    <a:pt x="1118616" y="25400"/>
                  </a:cubicBezTo>
                  <a:cubicBezTo>
                    <a:pt x="1118616" y="39370"/>
                    <a:pt x="1107186" y="50800"/>
                    <a:pt x="1093216" y="50800"/>
                  </a:cubicBezTo>
                  <a:lnTo>
                    <a:pt x="25400" y="50800"/>
                  </a:lnTo>
                  <a:cubicBezTo>
                    <a:pt x="11430" y="50800"/>
                    <a:pt x="0" y="39370"/>
                    <a:pt x="0" y="25400"/>
                  </a:cubicBezTo>
                  <a:close/>
                </a:path>
              </a:pathLst>
            </a:custGeom>
            <a:solidFill>
              <a:srgbClr val="D8D4D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8829451" y="2420988"/>
            <a:ext cx="629096" cy="629096"/>
            <a:chOff x="0" y="0"/>
            <a:chExt cx="838795" cy="838795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38708" cy="838708"/>
            </a:xfrm>
            <a:custGeom>
              <a:avLst/>
              <a:gdLst/>
              <a:ahLst/>
              <a:cxnLst/>
              <a:rect l="l" t="t" r="r" b="b"/>
              <a:pathLst>
                <a:path w="838708" h="838708">
                  <a:moveTo>
                    <a:pt x="0" y="55880"/>
                  </a:moveTo>
                  <a:cubicBezTo>
                    <a:pt x="0" y="25019"/>
                    <a:pt x="25019" y="0"/>
                    <a:pt x="55880" y="0"/>
                  </a:cubicBezTo>
                  <a:lnTo>
                    <a:pt x="782828" y="0"/>
                  </a:lnTo>
                  <a:cubicBezTo>
                    <a:pt x="813689" y="0"/>
                    <a:pt x="838708" y="25019"/>
                    <a:pt x="838708" y="55880"/>
                  </a:cubicBezTo>
                  <a:lnTo>
                    <a:pt x="838708" y="782828"/>
                  </a:lnTo>
                  <a:cubicBezTo>
                    <a:pt x="838708" y="813689"/>
                    <a:pt x="813689" y="838708"/>
                    <a:pt x="782828" y="838708"/>
                  </a:cubicBezTo>
                  <a:lnTo>
                    <a:pt x="55880" y="838708"/>
                  </a:lnTo>
                  <a:cubicBezTo>
                    <a:pt x="25019" y="838708"/>
                    <a:pt x="0" y="813689"/>
                    <a:pt x="0" y="782828"/>
                  </a:cubicBezTo>
                  <a:close/>
                </a:path>
              </a:pathLst>
            </a:custGeom>
            <a:solidFill>
              <a:srgbClr val="F2EEEE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5" name="Freeform 15" descr="preencoded.png"/>
          <p:cNvSpPr/>
          <p:nvPr/>
        </p:nvSpPr>
        <p:spPr>
          <a:xfrm>
            <a:off x="8923734" y="2460204"/>
            <a:ext cx="440382" cy="550515"/>
          </a:xfrm>
          <a:custGeom>
            <a:avLst/>
            <a:gdLst/>
            <a:ahLst/>
            <a:cxnLst/>
            <a:rect l="l" t="t" r="r" b="b"/>
            <a:pathLst>
              <a:path w="440382" h="550515">
                <a:moveTo>
                  <a:pt x="0" y="0"/>
                </a:moveTo>
                <a:lnTo>
                  <a:pt x="440382" y="0"/>
                </a:lnTo>
                <a:lnTo>
                  <a:pt x="440382" y="550515"/>
                </a:lnTo>
                <a:lnTo>
                  <a:pt x="0" y="55051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431" b="-431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6" name="Group 16"/>
          <p:cNvGrpSpPr/>
          <p:nvPr/>
        </p:nvGrpSpPr>
        <p:grpSpPr>
          <a:xfrm>
            <a:off x="4075360" y="2386161"/>
            <a:ext cx="3670399" cy="458689"/>
            <a:chOff x="0" y="0"/>
            <a:chExt cx="4893865" cy="611585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893865" cy="611585"/>
            </a:xfrm>
            <a:custGeom>
              <a:avLst/>
              <a:gdLst/>
              <a:ahLst/>
              <a:cxnLst/>
              <a:rect l="l" t="t" r="r" b="b"/>
              <a:pathLst>
                <a:path w="4893865" h="611585">
                  <a:moveTo>
                    <a:pt x="0" y="0"/>
                  </a:moveTo>
                  <a:lnTo>
                    <a:pt x="4893865" y="0"/>
                  </a:lnTo>
                  <a:lnTo>
                    <a:pt x="4893865" y="611585"/>
                  </a:lnTo>
                  <a:lnTo>
                    <a:pt x="0" y="61158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9525"/>
              <a:ext cx="4893865" cy="6211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3562"/>
                </a:lnSpc>
              </a:pPr>
              <a:r>
                <a:rPr lang="en-US" sz="2874">
                  <a:solidFill>
                    <a:srgbClr val="383838"/>
                  </a:solidFill>
                  <a:latin typeface="PT Serif"/>
                  <a:ea typeface="PT Serif"/>
                  <a:cs typeface="PT Serif"/>
                  <a:sym typeface="PT Serif"/>
                </a:rPr>
                <a:t>Cloud Provisioning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420449" y="4114651"/>
            <a:ext cx="838944" cy="38100"/>
            <a:chOff x="0" y="0"/>
            <a:chExt cx="1118592" cy="50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118616" cy="50800"/>
            </a:xfrm>
            <a:custGeom>
              <a:avLst/>
              <a:gdLst/>
              <a:ahLst/>
              <a:cxnLst/>
              <a:rect l="l" t="t" r="r" b="b"/>
              <a:pathLst>
                <a:path w="1118616" h="5080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lnTo>
                    <a:pt x="1093216" y="0"/>
                  </a:lnTo>
                  <a:cubicBezTo>
                    <a:pt x="1107186" y="0"/>
                    <a:pt x="1118616" y="11430"/>
                    <a:pt x="1118616" y="25400"/>
                  </a:cubicBezTo>
                  <a:cubicBezTo>
                    <a:pt x="1118616" y="39370"/>
                    <a:pt x="1107186" y="50800"/>
                    <a:pt x="1093216" y="50800"/>
                  </a:cubicBezTo>
                  <a:lnTo>
                    <a:pt x="25400" y="50800"/>
                  </a:lnTo>
                  <a:cubicBezTo>
                    <a:pt x="11430" y="50800"/>
                    <a:pt x="0" y="39370"/>
                    <a:pt x="0" y="25400"/>
                  </a:cubicBezTo>
                  <a:close/>
                </a:path>
              </a:pathLst>
            </a:custGeom>
            <a:solidFill>
              <a:srgbClr val="D8D4D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8829451" y="3819227"/>
            <a:ext cx="629096" cy="629096"/>
            <a:chOff x="0" y="0"/>
            <a:chExt cx="838795" cy="838795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38708" cy="838708"/>
            </a:xfrm>
            <a:custGeom>
              <a:avLst/>
              <a:gdLst/>
              <a:ahLst/>
              <a:cxnLst/>
              <a:rect l="l" t="t" r="r" b="b"/>
              <a:pathLst>
                <a:path w="838708" h="838708">
                  <a:moveTo>
                    <a:pt x="0" y="55880"/>
                  </a:moveTo>
                  <a:cubicBezTo>
                    <a:pt x="0" y="25019"/>
                    <a:pt x="25019" y="0"/>
                    <a:pt x="55880" y="0"/>
                  </a:cubicBezTo>
                  <a:lnTo>
                    <a:pt x="782828" y="0"/>
                  </a:lnTo>
                  <a:cubicBezTo>
                    <a:pt x="813689" y="0"/>
                    <a:pt x="838708" y="25019"/>
                    <a:pt x="838708" y="55880"/>
                  </a:cubicBezTo>
                  <a:lnTo>
                    <a:pt x="838708" y="782828"/>
                  </a:lnTo>
                  <a:cubicBezTo>
                    <a:pt x="838708" y="813689"/>
                    <a:pt x="813689" y="838708"/>
                    <a:pt x="782828" y="838708"/>
                  </a:cubicBezTo>
                  <a:lnTo>
                    <a:pt x="55880" y="838708"/>
                  </a:lnTo>
                  <a:cubicBezTo>
                    <a:pt x="25019" y="838708"/>
                    <a:pt x="0" y="813689"/>
                    <a:pt x="0" y="782828"/>
                  </a:cubicBezTo>
                  <a:close/>
                </a:path>
              </a:pathLst>
            </a:custGeom>
            <a:solidFill>
              <a:srgbClr val="F2EEEE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3" name="Freeform 23" descr="preencoded.png"/>
          <p:cNvSpPr/>
          <p:nvPr/>
        </p:nvSpPr>
        <p:spPr>
          <a:xfrm>
            <a:off x="8923734" y="3858444"/>
            <a:ext cx="440382" cy="550515"/>
          </a:xfrm>
          <a:custGeom>
            <a:avLst/>
            <a:gdLst/>
            <a:ahLst/>
            <a:cxnLst/>
            <a:rect l="l" t="t" r="r" b="b"/>
            <a:pathLst>
              <a:path w="440382" h="550515">
                <a:moveTo>
                  <a:pt x="0" y="0"/>
                </a:moveTo>
                <a:lnTo>
                  <a:pt x="440382" y="0"/>
                </a:lnTo>
                <a:lnTo>
                  <a:pt x="440382" y="550515"/>
                </a:lnTo>
                <a:lnTo>
                  <a:pt x="0" y="55051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431" b="-431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4" name="Group 24"/>
          <p:cNvGrpSpPr/>
          <p:nvPr/>
        </p:nvGrpSpPr>
        <p:grpSpPr>
          <a:xfrm>
            <a:off x="10542240" y="3784401"/>
            <a:ext cx="3670399" cy="458689"/>
            <a:chOff x="0" y="0"/>
            <a:chExt cx="4893865" cy="611585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4893865" cy="611585"/>
            </a:xfrm>
            <a:custGeom>
              <a:avLst/>
              <a:gdLst/>
              <a:ahLst/>
              <a:cxnLst/>
              <a:rect l="l" t="t" r="r" b="b"/>
              <a:pathLst>
                <a:path w="4893865" h="611585">
                  <a:moveTo>
                    <a:pt x="0" y="0"/>
                  </a:moveTo>
                  <a:lnTo>
                    <a:pt x="4893865" y="0"/>
                  </a:lnTo>
                  <a:lnTo>
                    <a:pt x="4893865" y="611585"/>
                  </a:lnTo>
                  <a:lnTo>
                    <a:pt x="0" y="61158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9525"/>
              <a:ext cx="4893865" cy="6211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562"/>
                </a:lnSpc>
              </a:pPr>
              <a:r>
                <a:rPr lang="en-US" sz="2874">
                  <a:solidFill>
                    <a:srgbClr val="383838"/>
                  </a:solidFill>
                  <a:latin typeface="PT Serif"/>
                  <a:ea typeface="PT Serif"/>
                  <a:cs typeface="PT Serif"/>
                  <a:sym typeface="PT Serif"/>
                </a:rPr>
                <a:t>Infrastructure Audits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8028607" y="5372992"/>
            <a:ext cx="838944" cy="38100"/>
            <a:chOff x="0" y="0"/>
            <a:chExt cx="1118592" cy="508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118616" cy="50800"/>
            </a:xfrm>
            <a:custGeom>
              <a:avLst/>
              <a:gdLst/>
              <a:ahLst/>
              <a:cxnLst/>
              <a:rect l="l" t="t" r="r" b="b"/>
              <a:pathLst>
                <a:path w="1118616" h="5080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lnTo>
                    <a:pt x="1093216" y="0"/>
                  </a:lnTo>
                  <a:cubicBezTo>
                    <a:pt x="1107186" y="0"/>
                    <a:pt x="1118616" y="11430"/>
                    <a:pt x="1118616" y="25400"/>
                  </a:cubicBezTo>
                  <a:cubicBezTo>
                    <a:pt x="1118616" y="39370"/>
                    <a:pt x="1107186" y="50800"/>
                    <a:pt x="1093216" y="50800"/>
                  </a:cubicBezTo>
                  <a:lnTo>
                    <a:pt x="25400" y="50800"/>
                  </a:lnTo>
                  <a:cubicBezTo>
                    <a:pt x="11430" y="50800"/>
                    <a:pt x="0" y="39370"/>
                    <a:pt x="0" y="25400"/>
                  </a:cubicBezTo>
                  <a:close/>
                </a:path>
              </a:pathLst>
            </a:custGeom>
            <a:solidFill>
              <a:srgbClr val="D8D4D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8829451" y="5077569"/>
            <a:ext cx="629096" cy="629096"/>
            <a:chOff x="0" y="0"/>
            <a:chExt cx="838795" cy="838795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38708" cy="838708"/>
            </a:xfrm>
            <a:custGeom>
              <a:avLst/>
              <a:gdLst/>
              <a:ahLst/>
              <a:cxnLst/>
              <a:rect l="l" t="t" r="r" b="b"/>
              <a:pathLst>
                <a:path w="838708" h="838708">
                  <a:moveTo>
                    <a:pt x="0" y="55880"/>
                  </a:moveTo>
                  <a:cubicBezTo>
                    <a:pt x="0" y="25019"/>
                    <a:pt x="25019" y="0"/>
                    <a:pt x="55880" y="0"/>
                  </a:cubicBezTo>
                  <a:lnTo>
                    <a:pt x="782828" y="0"/>
                  </a:lnTo>
                  <a:cubicBezTo>
                    <a:pt x="813689" y="0"/>
                    <a:pt x="838708" y="25019"/>
                    <a:pt x="838708" y="55880"/>
                  </a:cubicBezTo>
                  <a:lnTo>
                    <a:pt x="838708" y="782828"/>
                  </a:lnTo>
                  <a:cubicBezTo>
                    <a:pt x="838708" y="813689"/>
                    <a:pt x="813689" y="838708"/>
                    <a:pt x="782828" y="838708"/>
                  </a:cubicBezTo>
                  <a:lnTo>
                    <a:pt x="55880" y="838708"/>
                  </a:lnTo>
                  <a:cubicBezTo>
                    <a:pt x="25019" y="838708"/>
                    <a:pt x="0" y="813689"/>
                    <a:pt x="0" y="782828"/>
                  </a:cubicBezTo>
                  <a:close/>
                </a:path>
              </a:pathLst>
            </a:custGeom>
            <a:solidFill>
              <a:srgbClr val="F2EEEE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1" name="Freeform 31" descr="preencoded.png"/>
          <p:cNvSpPr/>
          <p:nvPr/>
        </p:nvSpPr>
        <p:spPr>
          <a:xfrm>
            <a:off x="8923734" y="5116785"/>
            <a:ext cx="440382" cy="550515"/>
          </a:xfrm>
          <a:custGeom>
            <a:avLst/>
            <a:gdLst/>
            <a:ahLst/>
            <a:cxnLst/>
            <a:rect l="l" t="t" r="r" b="b"/>
            <a:pathLst>
              <a:path w="440382" h="550515">
                <a:moveTo>
                  <a:pt x="0" y="0"/>
                </a:moveTo>
                <a:lnTo>
                  <a:pt x="440382" y="0"/>
                </a:lnTo>
                <a:lnTo>
                  <a:pt x="440382" y="550515"/>
                </a:lnTo>
                <a:lnTo>
                  <a:pt x="0" y="55051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431" b="-431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2" name="Group 32"/>
          <p:cNvGrpSpPr/>
          <p:nvPr/>
        </p:nvGrpSpPr>
        <p:grpSpPr>
          <a:xfrm>
            <a:off x="4075360" y="5042744"/>
            <a:ext cx="3670399" cy="458689"/>
            <a:chOff x="0" y="0"/>
            <a:chExt cx="4893865" cy="611585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4893865" cy="611585"/>
            </a:xfrm>
            <a:custGeom>
              <a:avLst/>
              <a:gdLst/>
              <a:ahLst/>
              <a:cxnLst/>
              <a:rect l="l" t="t" r="r" b="b"/>
              <a:pathLst>
                <a:path w="4893865" h="611585">
                  <a:moveTo>
                    <a:pt x="0" y="0"/>
                  </a:moveTo>
                  <a:lnTo>
                    <a:pt x="4893865" y="0"/>
                  </a:lnTo>
                  <a:lnTo>
                    <a:pt x="4893865" y="611585"/>
                  </a:lnTo>
                  <a:lnTo>
                    <a:pt x="0" y="61158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-9525"/>
              <a:ext cx="4893865" cy="6211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3562"/>
                </a:lnSpc>
              </a:pPr>
              <a:r>
                <a:rPr lang="en-US" sz="2874">
                  <a:solidFill>
                    <a:srgbClr val="383838"/>
                  </a:solidFill>
                  <a:latin typeface="PT Serif"/>
                  <a:ea typeface="PT Serif"/>
                  <a:cs typeface="PT Serif"/>
                  <a:sym typeface="PT Serif"/>
                </a:rPr>
                <a:t>Temporary Instances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9420449" y="6631484"/>
            <a:ext cx="838944" cy="38100"/>
            <a:chOff x="0" y="0"/>
            <a:chExt cx="1118592" cy="50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118616" cy="50800"/>
            </a:xfrm>
            <a:custGeom>
              <a:avLst/>
              <a:gdLst/>
              <a:ahLst/>
              <a:cxnLst/>
              <a:rect l="l" t="t" r="r" b="b"/>
              <a:pathLst>
                <a:path w="1118616" h="5080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lnTo>
                    <a:pt x="1093216" y="0"/>
                  </a:lnTo>
                  <a:cubicBezTo>
                    <a:pt x="1107186" y="0"/>
                    <a:pt x="1118616" y="11430"/>
                    <a:pt x="1118616" y="25400"/>
                  </a:cubicBezTo>
                  <a:cubicBezTo>
                    <a:pt x="1118616" y="39370"/>
                    <a:pt x="1107186" y="50800"/>
                    <a:pt x="1093216" y="50800"/>
                  </a:cubicBezTo>
                  <a:lnTo>
                    <a:pt x="25400" y="50800"/>
                  </a:lnTo>
                  <a:cubicBezTo>
                    <a:pt x="11430" y="50800"/>
                    <a:pt x="0" y="39370"/>
                    <a:pt x="0" y="25400"/>
                  </a:cubicBezTo>
                  <a:close/>
                </a:path>
              </a:pathLst>
            </a:custGeom>
            <a:solidFill>
              <a:srgbClr val="D8D4D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8829451" y="6336060"/>
            <a:ext cx="629096" cy="629096"/>
            <a:chOff x="0" y="0"/>
            <a:chExt cx="838795" cy="838795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38708" cy="838708"/>
            </a:xfrm>
            <a:custGeom>
              <a:avLst/>
              <a:gdLst/>
              <a:ahLst/>
              <a:cxnLst/>
              <a:rect l="l" t="t" r="r" b="b"/>
              <a:pathLst>
                <a:path w="838708" h="838708">
                  <a:moveTo>
                    <a:pt x="0" y="55880"/>
                  </a:moveTo>
                  <a:cubicBezTo>
                    <a:pt x="0" y="25019"/>
                    <a:pt x="25019" y="0"/>
                    <a:pt x="55880" y="0"/>
                  </a:cubicBezTo>
                  <a:lnTo>
                    <a:pt x="782828" y="0"/>
                  </a:lnTo>
                  <a:cubicBezTo>
                    <a:pt x="813689" y="0"/>
                    <a:pt x="838708" y="25019"/>
                    <a:pt x="838708" y="55880"/>
                  </a:cubicBezTo>
                  <a:lnTo>
                    <a:pt x="838708" y="782828"/>
                  </a:lnTo>
                  <a:cubicBezTo>
                    <a:pt x="838708" y="813689"/>
                    <a:pt x="813689" y="838708"/>
                    <a:pt x="782828" y="838708"/>
                  </a:cubicBezTo>
                  <a:lnTo>
                    <a:pt x="55880" y="838708"/>
                  </a:lnTo>
                  <a:cubicBezTo>
                    <a:pt x="25019" y="838708"/>
                    <a:pt x="0" y="813689"/>
                    <a:pt x="0" y="782828"/>
                  </a:cubicBezTo>
                  <a:close/>
                </a:path>
              </a:pathLst>
            </a:custGeom>
            <a:solidFill>
              <a:srgbClr val="F2EEEE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9" name="Freeform 39" descr="preencoded.png"/>
          <p:cNvSpPr/>
          <p:nvPr/>
        </p:nvSpPr>
        <p:spPr>
          <a:xfrm>
            <a:off x="8923734" y="6375276"/>
            <a:ext cx="440382" cy="550515"/>
          </a:xfrm>
          <a:custGeom>
            <a:avLst/>
            <a:gdLst/>
            <a:ahLst/>
            <a:cxnLst/>
            <a:rect l="l" t="t" r="r" b="b"/>
            <a:pathLst>
              <a:path w="440382" h="550515">
                <a:moveTo>
                  <a:pt x="0" y="0"/>
                </a:moveTo>
                <a:lnTo>
                  <a:pt x="440382" y="0"/>
                </a:lnTo>
                <a:lnTo>
                  <a:pt x="440382" y="550515"/>
                </a:lnTo>
                <a:lnTo>
                  <a:pt x="0" y="55051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431" b="-431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0" name="Group 40"/>
          <p:cNvGrpSpPr/>
          <p:nvPr/>
        </p:nvGrpSpPr>
        <p:grpSpPr>
          <a:xfrm>
            <a:off x="10542240" y="6301234"/>
            <a:ext cx="3670399" cy="458689"/>
            <a:chOff x="0" y="0"/>
            <a:chExt cx="4893865" cy="611585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4893865" cy="611585"/>
            </a:xfrm>
            <a:custGeom>
              <a:avLst/>
              <a:gdLst/>
              <a:ahLst/>
              <a:cxnLst/>
              <a:rect l="l" t="t" r="r" b="b"/>
              <a:pathLst>
                <a:path w="4893865" h="611585">
                  <a:moveTo>
                    <a:pt x="0" y="0"/>
                  </a:moveTo>
                  <a:lnTo>
                    <a:pt x="4893865" y="0"/>
                  </a:lnTo>
                  <a:lnTo>
                    <a:pt x="4893865" y="611585"/>
                  </a:lnTo>
                  <a:lnTo>
                    <a:pt x="0" y="61158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0" y="-9525"/>
              <a:ext cx="4893865" cy="6211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562"/>
                </a:lnSpc>
              </a:pPr>
              <a:r>
                <a:rPr lang="en-US" sz="2874">
                  <a:solidFill>
                    <a:srgbClr val="383838"/>
                  </a:solidFill>
                  <a:latin typeface="PT Serif"/>
                  <a:ea typeface="PT Serif"/>
                  <a:cs typeface="PT Serif"/>
                  <a:sym typeface="PT Serif"/>
                </a:rPr>
                <a:t>Secure Environments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8028607" y="7889974"/>
            <a:ext cx="838944" cy="38100"/>
            <a:chOff x="0" y="0"/>
            <a:chExt cx="1118592" cy="5080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1118616" cy="50800"/>
            </a:xfrm>
            <a:custGeom>
              <a:avLst/>
              <a:gdLst/>
              <a:ahLst/>
              <a:cxnLst/>
              <a:rect l="l" t="t" r="r" b="b"/>
              <a:pathLst>
                <a:path w="1118616" h="5080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lnTo>
                    <a:pt x="1093216" y="0"/>
                  </a:lnTo>
                  <a:cubicBezTo>
                    <a:pt x="1107186" y="0"/>
                    <a:pt x="1118616" y="11430"/>
                    <a:pt x="1118616" y="25400"/>
                  </a:cubicBezTo>
                  <a:cubicBezTo>
                    <a:pt x="1118616" y="39370"/>
                    <a:pt x="1107186" y="50800"/>
                    <a:pt x="1093216" y="50800"/>
                  </a:cubicBezTo>
                  <a:lnTo>
                    <a:pt x="25400" y="50800"/>
                  </a:lnTo>
                  <a:cubicBezTo>
                    <a:pt x="11430" y="50800"/>
                    <a:pt x="0" y="39370"/>
                    <a:pt x="0" y="25400"/>
                  </a:cubicBezTo>
                  <a:close/>
                </a:path>
              </a:pathLst>
            </a:custGeom>
            <a:solidFill>
              <a:srgbClr val="D8D4D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8829451" y="7594550"/>
            <a:ext cx="629096" cy="629096"/>
            <a:chOff x="0" y="0"/>
            <a:chExt cx="838795" cy="838795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838708" cy="838708"/>
            </a:xfrm>
            <a:custGeom>
              <a:avLst/>
              <a:gdLst/>
              <a:ahLst/>
              <a:cxnLst/>
              <a:rect l="l" t="t" r="r" b="b"/>
              <a:pathLst>
                <a:path w="838708" h="838708">
                  <a:moveTo>
                    <a:pt x="0" y="55880"/>
                  </a:moveTo>
                  <a:cubicBezTo>
                    <a:pt x="0" y="25019"/>
                    <a:pt x="25019" y="0"/>
                    <a:pt x="55880" y="0"/>
                  </a:cubicBezTo>
                  <a:lnTo>
                    <a:pt x="782828" y="0"/>
                  </a:lnTo>
                  <a:cubicBezTo>
                    <a:pt x="813689" y="0"/>
                    <a:pt x="838708" y="25019"/>
                    <a:pt x="838708" y="55880"/>
                  </a:cubicBezTo>
                  <a:lnTo>
                    <a:pt x="838708" y="782828"/>
                  </a:lnTo>
                  <a:cubicBezTo>
                    <a:pt x="838708" y="813689"/>
                    <a:pt x="813689" y="838708"/>
                    <a:pt x="782828" y="838708"/>
                  </a:cubicBezTo>
                  <a:lnTo>
                    <a:pt x="55880" y="838708"/>
                  </a:lnTo>
                  <a:cubicBezTo>
                    <a:pt x="25019" y="838708"/>
                    <a:pt x="0" y="813689"/>
                    <a:pt x="0" y="782828"/>
                  </a:cubicBezTo>
                  <a:close/>
                </a:path>
              </a:pathLst>
            </a:custGeom>
            <a:solidFill>
              <a:srgbClr val="F2EEEE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7" name="Freeform 47" descr="preencoded.png"/>
          <p:cNvSpPr/>
          <p:nvPr/>
        </p:nvSpPr>
        <p:spPr>
          <a:xfrm>
            <a:off x="8923734" y="7633766"/>
            <a:ext cx="440382" cy="550515"/>
          </a:xfrm>
          <a:custGeom>
            <a:avLst/>
            <a:gdLst/>
            <a:ahLst/>
            <a:cxnLst/>
            <a:rect l="l" t="t" r="r" b="b"/>
            <a:pathLst>
              <a:path w="440382" h="550515">
                <a:moveTo>
                  <a:pt x="0" y="0"/>
                </a:moveTo>
                <a:lnTo>
                  <a:pt x="440382" y="0"/>
                </a:lnTo>
                <a:lnTo>
                  <a:pt x="440382" y="550515"/>
                </a:lnTo>
                <a:lnTo>
                  <a:pt x="0" y="55051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431" b="-431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8" name="Group 48"/>
          <p:cNvGrpSpPr/>
          <p:nvPr/>
        </p:nvGrpSpPr>
        <p:grpSpPr>
          <a:xfrm>
            <a:off x="3185220" y="7559725"/>
            <a:ext cx="4560540" cy="458689"/>
            <a:chOff x="0" y="0"/>
            <a:chExt cx="6080720" cy="611585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6080720" cy="611585"/>
            </a:xfrm>
            <a:custGeom>
              <a:avLst/>
              <a:gdLst/>
              <a:ahLst/>
              <a:cxnLst/>
              <a:rect l="l" t="t" r="r" b="b"/>
              <a:pathLst>
                <a:path w="6080720" h="611585">
                  <a:moveTo>
                    <a:pt x="0" y="0"/>
                  </a:moveTo>
                  <a:lnTo>
                    <a:pt x="6080720" y="0"/>
                  </a:lnTo>
                  <a:lnTo>
                    <a:pt x="6080720" y="611585"/>
                  </a:lnTo>
                  <a:lnTo>
                    <a:pt x="0" y="61158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0" y="-9525"/>
              <a:ext cx="6080720" cy="6211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3562"/>
                </a:lnSpc>
              </a:pPr>
              <a:r>
                <a:rPr lang="en-US" sz="2874">
                  <a:solidFill>
                    <a:srgbClr val="383838"/>
                  </a:solidFill>
                  <a:latin typeface="PT Serif"/>
                  <a:ea typeface="PT Serif"/>
                  <a:cs typeface="PT Serif"/>
                  <a:sym typeface="PT Serif"/>
                </a:rPr>
                <a:t>Cross-platform Deployment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AFA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92238" y="1896779"/>
            <a:ext cx="12822424" cy="1145863"/>
            <a:chOff x="0" y="0"/>
            <a:chExt cx="17096565" cy="152781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7096566" cy="1527818"/>
            </a:xfrm>
            <a:custGeom>
              <a:avLst/>
              <a:gdLst/>
              <a:ahLst/>
              <a:cxnLst/>
              <a:rect l="l" t="t" r="r" b="b"/>
              <a:pathLst>
                <a:path w="17096566" h="1527818">
                  <a:moveTo>
                    <a:pt x="0" y="0"/>
                  </a:moveTo>
                  <a:lnTo>
                    <a:pt x="17096566" y="0"/>
                  </a:lnTo>
                  <a:lnTo>
                    <a:pt x="17096566" y="1527818"/>
                  </a:lnTo>
                  <a:lnTo>
                    <a:pt x="0" y="15278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7096565" cy="156591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7312"/>
                </a:lnSpc>
              </a:pPr>
              <a:r>
                <a:rPr lang="en-US" sz="5812">
                  <a:solidFill>
                    <a:srgbClr val="020202"/>
                  </a:solidFill>
                  <a:latin typeface="PT Serif"/>
                  <a:ea typeface="PT Serif"/>
                  <a:cs typeface="PT Serif"/>
                  <a:sym typeface="PT Serif"/>
                </a:rPr>
                <a:t>Declarative vs. Imperative Models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782738" y="3689598"/>
            <a:ext cx="3721299" cy="465087"/>
            <a:chOff x="0" y="0"/>
            <a:chExt cx="4961732" cy="62011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961732" cy="620117"/>
            </a:xfrm>
            <a:custGeom>
              <a:avLst/>
              <a:gdLst/>
              <a:ahLst/>
              <a:cxnLst/>
              <a:rect l="l" t="t" r="r" b="b"/>
              <a:pathLst>
                <a:path w="4961732" h="620117">
                  <a:moveTo>
                    <a:pt x="0" y="0"/>
                  </a:moveTo>
                  <a:lnTo>
                    <a:pt x="4961732" y="0"/>
                  </a:lnTo>
                  <a:lnTo>
                    <a:pt x="4961732" y="620117"/>
                  </a:lnTo>
                  <a:lnTo>
                    <a:pt x="0" y="62011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19050"/>
              <a:ext cx="4961732" cy="639167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3625"/>
                </a:lnSpc>
              </a:pPr>
              <a:r>
                <a:rPr lang="en-US" sz="2874" b="1">
                  <a:solidFill>
                    <a:srgbClr val="383838"/>
                  </a:solidFill>
                  <a:latin typeface="PT Serif Bold"/>
                  <a:ea typeface="PT Serif Bold"/>
                  <a:cs typeface="PT Serif Bold"/>
                  <a:sym typeface="PT Serif Bold"/>
                </a:rPr>
                <a:t>Imperative Model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92238" y="4608314"/>
            <a:ext cx="5302300" cy="1133772"/>
            <a:chOff x="0" y="0"/>
            <a:chExt cx="7069733" cy="151169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7069734" cy="1511697"/>
            </a:xfrm>
            <a:custGeom>
              <a:avLst/>
              <a:gdLst/>
              <a:ahLst/>
              <a:cxnLst/>
              <a:rect l="l" t="t" r="r" b="b"/>
              <a:pathLst>
                <a:path w="7069734" h="1511697">
                  <a:moveTo>
                    <a:pt x="0" y="0"/>
                  </a:moveTo>
                  <a:lnTo>
                    <a:pt x="7069734" y="0"/>
                  </a:lnTo>
                  <a:lnTo>
                    <a:pt x="7069734" y="1511697"/>
                  </a:lnTo>
                  <a:lnTo>
                    <a:pt x="0" y="151169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104775"/>
              <a:ext cx="7069733" cy="1616472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4437"/>
                </a:lnSpc>
              </a:pPr>
              <a:r>
                <a:rPr lang="en-US" sz="2750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Focuses on how to achieve the result.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92238" y="5912197"/>
            <a:ext cx="5302300" cy="566886"/>
            <a:chOff x="0" y="0"/>
            <a:chExt cx="7069733" cy="755848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7069734" cy="755848"/>
            </a:xfrm>
            <a:custGeom>
              <a:avLst/>
              <a:gdLst/>
              <a:ahLst/>
              <a:cxnLst/>
              <a:rect l="l" t="t" r="r" b="b"/>
              <a:pathLst>
                <a:path w="7069734" h="755848">
                  <a:moveTo>
                    <a:pt x="0" y="0"/>
                  </a:moveTo>
                  <a:lnTo>
                    <a:pt x="7069734" y="0"/>
                  </a:lnTo>
                  <a:lnTo>
                    <a:pt x="7069734" y="755848"/>
                  </a:lnTo>
                  <a:lnTo>
                    <a:pt x="0" y="7558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95250"/>
              <a:ext cx="7069733" cy="85109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329902" lvl="1" indent="-164951" algn="l">
                <a:lnSpc>
                  <a:spcPts val="3562"/>
                </a:lnSpc>
                <a:buFont typeface="Arial"/>
                <a:buChar char="•"/>
              </a:pPr>
              <a:r>
                <a:rPr lang="en-US" sz="2187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Step-by-step instructions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92238" y="6578204"/>
            <a:ext cx="5302300" cy="566886"/>
            <a:chOff x="0" y="0"/>
            <a:chExt cx="7069733" cy="755848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7069734" cy="755848"/>
            </a:xfrm>
            <a:custGeom>
              <a:avLst/>
              <a:gdLst/>
              <a:ahLst/>
              <a:cxnLst/>
              <a:rect l="l" t="t" r="r" b="b"/>
              <a:pathLst>
                <a:path w="7069734" h="755848">
                  <a:moveTo>
                    <a:pt x="0" y="0"/>
                  </a:moveTo>
                  <a:lnTo>
                    <a:pt x="7069734" y="0"/>
                  </a:lnTo>
                  <a:lnTo>
                    <a:pt x="7069734" y="755848"/>
                  </a:lnTo>
                  <a:lnTo>
                    <a:pt x="0" y="7558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95250"/>
              <a:ext cx="7069733" cy="85109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329902" lvl="1" indent="-164951" algn="l">
                <a:lnSpc>
                  <a:spcPts val="3562"/>
                </a:lnSpc>
                <a:buFont typeface="Arial"/>
                <a:buChar char="•"/>
              </a:pPr>
              <a:r>
                <a:rPr lang="en-US" sz="2187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Procedural execution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92238" y="7244209"/>
            <a:ext cx="5302300" cy="566886"/>
            <a:chOff x="0" y="0"/>
            <a:chExt cx="7069733" cy="755848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7069734" cy="755848"/>
            </a:xfrm>
            <a:custGeom>
              <a:avLst/>
              <a:gdLst/>
              <a:ahLst/>
              <a:cxnLst/>
              <a:rect l="l" t="t" r="r" b="b"/>
              <a:pathLst>
                <a:path w="7069734" h="755848">
                  <a:moveTo>
                    <a:pt x="0" y="0"/>
                  </a:moveTo>
                  <a:lnTo>
                    <a:pt x="7069734" y="0"/>
                  </a:lnTo>
                  <a:lnTo>
                    <a:pt x="7069734" y="755848"/>
                  </a:lnTo>
                  <a:lnTo>
                    <a:pt x="0" y="7558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95250"/>
              <a:ext cx="7069733" cy="85109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329902" lvl="1" indent="-164951" algn="l">
                <a:lnSpc>
                  <a:spcPts val="3562"/>
                </a:lnSpc>
                <a:buFont typeface="Arial"/>
                <a:buChar char="•"/>
              </a:pPr>
              <a:r>
                <a:rPr lang="en-US" sz="2187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No automatic state checking</a:t>
              </a:r>
            </a:p>
          </p:txBody>
        </p:sp>
      </p:grpSp>
      <p:sp>
        <p:nvSpPr>
          <p:cNvPr id="24" name="Freeform 24" descr="preencoded.png"/>
          <p:cNvSpPr/>
          <p:nvPr/>
        </p:nvSpPr>
        <p:spPr>
          <a:xfrm>
            <a:off x="6861572" y="3609677"/>
            <a:ext cx="4564856" cy="4564856"/>
          </a:xfrm>
          <a:custGeom>
            <a:avLst/>
            <a:gdLst/>
            <a:ahLst/>
            <a:cxnLst/>
            <a:rect l="l" t="t" r="r" b="b"/>
            <a:pathLst>
              <a:path w="4564856" h="4564856">
                <a:moveTo>
                  <a:pt x="0" y="0"/>
                </a:moveTo>
                <a:lnTo>
                  <a:pt x="4564857" y="0"/>
                </a:lnTo>
                <a:lnTo>
                  <a:pt x="4564857" y="4564857"/>
                </a:lnTo>
                <a:lnTo>
                  <a:pt x="0" y="456485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5" name="Group 25"/>
          <p:cNvGrpSpPr/>
          <p:nvPr/>
        </p:nvGrpSpPr>
        <p:grpSpPr>
          <a:xfrm>
            <a:off x="6592789" y="5537746"/>
            <a:ext cx="708720" cy="708720"/>
            <a:chOff x="0" y="0"/>
            <a:chExt cx="944960" cy="94496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944880" cy="944880"/>
            </a:xfrm>
            <a:custGeom>
              <a:avLst/>
              <a:gdLst/>
              <a:ahLst/>
              <a:cxnLst/>
              <a:rect l="l" t="t" r="r" b="b"/>
              <a:pathLst>
                <a:path w="944880" h="944880">
                  <a:moveTo>
                    <a:pt x="0" y="472440"/>
                  </a:moveTo>
                  <a:cubicBezTo>
                    <a:pt x="0" y="211582"/>
                    <a:pt x="211582" y="0"/>
                    <a:pt x="472440" y="0"/>
                  </a:cubicBezTo>
                  <a:cubicBezTo>
                    <a:pt x="733298" y="0"/>
                    <a:pt x="944880" y="211582"/>
                    <a:pt x="944880" y="472440"/>
                  </a:cubicBezTo>
                  <a:cubicBezTo>
                    <a:pt x="944880" y="733298"/>
                    <a:pt x="733298" y="944880"/>
                    <a:pt x="472440" y="944880"/>
                  </a:cubicBezTo>
                  <a:cubicBezTo>
                    <a:pt x="211582" y="944880"/>
                    <a:pt x="0" y="733425"/>
                    <a:pt x="0" y="472440"/>
                  </a:cubicBezTo>
                  <a:close/>
                </a:path>
              </a:pathLst>
            </a:custGeom>
            <a:solidFill>
              <a:srgbClr val="F2EEEE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7" name="Freeform 27" descr="preencoded.png"/>
          <p:cNvSpPr/>
          <p:nvPr/>
        </p:nvSpPr>
        <p:spPr>
          <a:xfrm>
            <a:off x="6787604" y="5692676"/>
            <a:ext cx="318939" cy="398710"/>
          </a:xfrm>
          <a:custGeom>
            <a:avLst/>
            <a:gdLst/>
            <a:ahLst/>
            <a:cxnLst/>
            <a:rect l="l" t="t" r="r" b="b"/>
            <a:pathLst>
              <a:path w="318939" h="398710">
                <a:moveTo>
                  <a:pt x="0" y="0"/>
                </a:moveTo>
                <a:lnTo>
                  <a:pt x="318938" y="0"/>
                </a:lnTo>
                <a:lnTo>
                  <a:pt x="318938" y="398710"/>
                </a:lnTo>
                <a:lnTo>
                  <a:pt x="0" y="39871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904" b="-904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8" name="Group 28"/>
          <p:cNvGrpSpPr/>
          <p:nvPr/>
        </p:nvGrpSpPr>
        <p:grpSpPr>
          <a:xfrm>
            <a:off x="12568426" y="3688259"/>
            <a:ext cx="3721299" cy="465087"/>
            <a:chOff x="0" y="0"/>
            <a:chExt cx="4961732" cy="620117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4961732" cy="620117"/>
            </a:xfrm>
            <a:custGeom>
              <a:avLst/>
              <a:gdLst/>
              <a:ahLst/>
              <a:cxnLst/>
              <a:rect l="l" t="t" r="r" b="b"/>
              <a:pathLst>
                <a:path w="4961732" h="620117">
                  <a:moveTo>
                    <a:pt x="0" y="0"/>
                  </a:moveTo>
                  <a:lnTo>
                    <a:pt x="4961732" y="0"/>
                  </a:lnTo>
                  <a:lnTo>
                    <a:pt x="4961732" y="620117"/>
                  </a:lnTo>
                  <a:lnTo>
                    <a:pt x="0" y="62011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19050"/>
              <a:ext cx="4961732" cy="639167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3625"/>
                </a:lnSpc>
              </a:pPr>
              <a:r>
                <a:rPr lang="en-US" sz="2874" b="1">
                  <a:solidFill>
                    <a:srgbClr val="383838"/>
                  </a:solidFill>
                  <a:latin typeface="PT Serif Bold"/>
                  <a:ea typeface="PT Serif Bold"/>
                  <a:cs typeface="PT Serif Bold"/>
                  <a:sym typeface="PT Serif Bold"/>
                </a:rPr>
                <a:t>Declarative Model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1993464" y="4324796"/>
            <a:ext cx="5302300" cy="1133772"/>
            <a:chOff x="0" y="0"/>
            <a:chExt cx="7069733" cy="1511697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7069734" cy="1511697"/>
            </a:xfrm>
            <a:custGeom>
              <a:avLst/>
              <a:gdLst/>
              <a:ahLst/>
              <a:cxnLst/>
              <a:rect l="l" t="t" r="r" b="b"/>
              <a:pathLst>
                <a:path w="7069734" h="1511697">
                  <a:moveTo>
                    <a:pt x="0" y="0"/>
                  </a:moveTo>
                  <a:lnTo>
                    <a:pt x="7069734" y="0"/>
                  </a:lnTo>
                  <a:lnTo>
                    <a:pt x="7069734" y="1511697"/>
                  </a:lnTo>
                  <a:lnTo>
                    <a:pt x="0" y="151169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-104775"/>
              <a:ext cx="7069733" cy="1616472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4437"/>
                </a:lnSpc>
              </a:pPr>
              <a:r>
                <a:rPr lang="en-US" sz="2750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Focuses on what the final state should be.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1993464" y="5628680"/>
            <a:ext cx="5302300" cy="1133772"/>
            <a:chOff x="0" y="0"/>
            <a:chExt cx="7069733" cy="1511697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7069734" cy="1511697"/>
            </a:xfrm>
            <a:custGeom>
              <a:avLst/>
              <a:gdLst/>
              <a:ahLst/>
              <a:cxnLst/>
              <a:rect l="l" t="t" r="r" b="b"/>
              <a:pathLst>
                <a:path w="7069734" h="1511697">
                  <a:moveTo>
                    <a:pt x="0" y="0"/>
                  </a:moveTo>
                  <a:lnTo>
                    <a:pt x="7069734" y="0"/>
                  </a:lnTo>
                  <a:lnTo>
                    <a:pt x="7069734" y="1511697"/>
                  </a:lnTo>
                  <a:lnTo>
                    <a:pt x="0" y="151169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-95250"/>
              <a:ext cx="7069733" cy="1606947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329902" lvl="1" indent="-164951" algn="l">
                <a:lnSpc>
                  <a:spcPts val="3562"/>
                </a:lnSpc>
                <a:buFont typeface="Arial"/>
                <a:buChar char="•"/>
              </a:pPr>
              <a:r>
                <a:rPr lang="en-US" sz="2187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Desired end state description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1993464" y="6246466"/>
            <a:ext cx="5302300" cy="566886"/>
            <a:chOff x="0" y="0"/>
            <a:chExt cx="7069733" cy="755848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7069734" cy="755848"/>
            </a:xfrm>
            <a:custGeom>
              <a:avLst/>
              <a:gdLst/>
              <a:ahLst/>
              <a:cxnLst/>
              <a:rect l="l" t="t" r="r" b="b"/>
              <a:pathLst>
                <a:path w="7069734" h="755848">
                  <a:moveTo>
                    <a:pt x="0" y="0"/>
                  </a:moveTo>
                  <a:lnTo>
                    <a:pt x="7069734" y="0"/>
                  </a:lnTo>
                  <a:lnTo>
                    <a:pt x="7069734" y="755848"/>
                  </a:lnTo>
                  <a:lnTo>
                    <a:pt x="0" y="7558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0" y="-95250"/>
              <a:ext cx="7069733" cy="85109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329902" lvl="1" indent="-164951" algn="l">
                <a:lnSpc>
                  <a:spcPts val="3562"/>
                </a:lnSpc>
                <a:buFont typeface="Arial"/>
                <a:buChar char="•"/>
              </a:pPr>
              <a:r>
                <a:rPr lang="en-US" sz="2187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State-aware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11997929" y="6813353"/>
            <a:ext cx="5302300" cy="566886"/>
            <a:chOff x="0" y="0"/>
            <a:chExt cx="7069733" cy="755848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7069734" cy="755848"/>
            </a:xfrm>
            <a:custGeom>
              <a:avLst/>
              <a:gdLst/>
              <a:ahLst/>
              <a:cxnLst/>
              <a:rect l="l" t="t" r="r" b="b"/>
              <a:pathLst>
                <a:path w="7069734" h="755848">
                  <a:moveTo>
                    <a:pt x="0" y="0"/>
                  </a:moveTo>
                  <a:lnTo>
                    <a:pt x="7069734" y="0"/>
                  </a:lnTo>
                  <a:lnTo>
                    <a:pt x="7069734" y="755848"/>
                  </a:lnTo>
                  <a:lnTo>
                    <a:pt x="0" y="7558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0" y="-95250"/>
              <a:ext cx="7069733" cy="85109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329902" lvl="1" indent="-164951" algn="l">
                <a:lnSpc>
                  <a:spcPts val="3562"/>
                </a:lnSpc>
                <a:buFont typeface="Arial"/>
                <a:buChar char="•"/>
              </a:pPr>
              <a:r>
                <a:rPr lang="en-US" sz="2187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Idempotent execution</a:t>
              </a:r>
            </a:p>
          </p:txBody>
        </p:sp>
      </p:grpSp>
      <p:sp>
        <p:nvSpPr>
          <p:cNvPr id="43" name="Freeform 43" descr="preencoded.png"/>
          <p:cNvSpPr/>
          <p:nvPr/>
        </p:nvSpPr>
        <p:spPr>
          <a:xfrm>
            <a:off x="6861572" y="3609677"/>
            <a:ext cx="4564856" cy="4564856"/>
          </a:xfrm>
          <a:custGeom>
            <a:avLst/>
            <a:gdLst/>
            <a:ahLst/>
            <a:cxnLst/>
            <a:rect l="l" t="t" r="r" b="b"/>
            <a:pathLst>
              <a:path w="4564856" h="4564856">
                <a:moveTo>
                  <a:pt x="0" y="0"/>
                </a:moveTo>
                <a:lnTo>
                  <a:pt x="4564857" y="0"/>
                </a:lnTo>
                <a:lnTo>
                  <a:pt x="4564857" y="4564857"/>
                </a:lnTo>
                <a:lnTo>
                  <a:pt x="0" y="456485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4" name="Group 44"/>
          <p:cNvGrpSpPr/>
          <p:nvPr/>
        </p:nvGrpSpPr>
        <p:grpSpPr>
          <a:xfrm>
            <a:off x="10986344" y="5537746"/>
            <a:ext cx="708720" cy="708720"/>
            <a:chOff x="0" y="0"/>
            <a:chExt cx="944960" cy="94496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944880" cy="944880"/>
            </a:xfrm>
            <a:custGeom>
              <a:avLst/>
              <a:gdLst/>
              <a:ahLst/>
              <a:cxnLst/>
              <a:rect l="l" t="t" r="r" b="b"/>
              <a:pathLst>
                <a:path w="944880" h="944880">
                  <a:moveTo>
                    <a:pt x="0" y="472440"/>
                  </a:moveTo>
                  <a:cubicBezTo>
                    <a:pt x="0" y="211582"/>
                    <a:pt x="211582" y="0"/>
                    <a:pt x="472440" y="0"/>
                  </a:cubicBezTo>
                  <a:cubicBezTo>
                    <a:pt x="733298" y="0"/>
                    <a:pt x="944880" y="211582"/>
                    <a:pt x="944880" y="472440"/>
                  </a:cubicBezTo>
                  <a:cubicBezTo>
                    <a:pt x="944880" y="733298"/>
                    <a:pt x="733298" y="944880"/>
                    <a:pt x="472440" y="944880"/>
                  </a:cubicBezTo>
                  <a:cubicBezTo>
                    <a:pt x="211582" y="944880"/>
                    <a:pt x="0" y="733425"/>
                    <a:pt x="0" y="472440"/>
                  </a:cubicBezTo>
                  <a:close/>
                </a:path>
              </a:pathLst>
            </a:custGeom>
            <a:solidFill>
              <a:srgbClr val="F2EEEE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6" name="Freeform 46" descr="preencoded.png"/>
          <p:cNvSpPr/>
          <p:nvPr/>
        </p:nvSpPr>
        <p:spPr>
          <a:xfrm>
            <a:off x="11181160" y="5692676"/>
            <a:ext cx="318939" cy="398710"/>
          </a:xfrm>
          <a:custGeom>
            <a:avLst/>
            <a:gdLst/>
            <a:ahLst/>
            <a:cxnLst/>
            <a:rect l="l" t="t" r="r" b="b"/>
            <a:pathLst>
              <a:path w="318939" h="398710">
                <a:moveTo>
                  <a:pt x="0" y="0"/>
                </a:moveTo>
                <a:lnTo>
                  <a:pt x="318939" y="0"/>
                </a:lnTo>
                <a:lnTo>
                  <a:pt x="318939" y="398710"/>
                </a:lnTo>
                <a:lnTo>
                  <a:pt x="0" y="3987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904" b="-904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AFA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92238" y="880765"/>
            <a:ext cx="6553517" cy="674687"/>
            <a:chOff x="0" y="0"/>
            <a:chExt cx="8738022" cy="89958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738022" cy="899583"/>
            </a:xfrm>
            <a:custGeom>
              <a:avLst/>
              <a:gdLst/>
              <a:ahLst/>
              <a:cxnLst/>
              <a:rect l="l" t="t" r="r" b="b"/>
              <a:pathLst>
                <a:path w="8738022" h="899583">
                  <a:moveTo>
                    <a:pt x="0" y="0"/>
                  </a:moveTo>
                  <a:lnTo>
                    <a:pt x="8738022" y="0"/>
                  </a:lnTo>
                  <a:lnTo>
                    <a:pt x="8738022" y="899583"/>
                  </a:lnTo>
                  <a:lnTo>
                    <a:pt x="0" y="89958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9525"/>
              <a:ext cx="8738022" cy="90910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4375"/>
                </a:lnSpc>
              </a:pPr>
              <a:r>
                <a:rPr lang="en-US" sz="3500" b="1">
                  <a:solidFill>
                    <a:srgbClr val="020202"/>
                  </a:solidFill>
                  <a:latin typeface="PT Serif Bold"/>
                  <a:ea typeface="PT Serif Bold"/>
                  <a:cs typeface="PT Serif Bold"/>
                  <a:sym typeface="PT Serif Bold"/>
                </a:rPr>
                <a:t>Side-by-Side Comparison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87475" y="2001291"/>
            <a:ext cx="16313051" cy="7409558"/>
            <a:chOff x="0" y="0"/>
            <a:chExt cx="21750735" cy="987941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750781" cy="9879457"/>
            </a:xfrm>
            <a:custGeom>
              <a:avLst/>
              <a:gdLst/>
              <a:ahLst/>
              <a:cxnLst/>
              <a:rect l="l" t="t" r="r" b="b"/>
              <a:pathLst>
                <a:path w="21750781" h="9879457">
                  <a:moveTo>
                    <a:pt x="0" y="63119"/>
                  </a:moveTo>
                  <a:cubicBezTo>
                    <a:pt x="0" y="28194"/>
                    <a:pt x="28321" y="0"/>
                    <a:pt x="63119" y="0"/>
                  </a:cubicBezTo>
                  <a:lnTo>
                    <a:pt x="21687662" y="0"/>
                  </a:lnTo>
                  <a:lnTo>
                    <a:pt x="21687662" y="6350"/>
                  </a:lnTo>
                  <a:lnTo>
                    <a:pt x="21687662" y="0"/>
                  </a:lnTo>
                  <a:cubicBezTo>
                    <a:pt x="21722460" y="0"/>
                    <a:pt x="21750781" y="28194"/>
                    <a:pt x="21750781" y="63119"/>
                  </a:cubicBezTo>
                  <a:lnTo>
                    <a:pt x="21744431" y="63119"/>
                  </a:lnTo>
                  <a:lnTo>
                    <a:pt x="21750781" y="63119"/>
                  </a:lnTo>
                  <a:lnTo>
                    <a:pt x="21750781" y="9816338"/>
                  </a:lnTo>
                  <a:lnTo>
                    <a:pt x="21744431" y="9816338"/>
                  </a:lnTo>
                  <a:lnTo>
                    <a:pt x="21750781" y="9816338"/>
                  </a:lnTo>
                  <a:cubicBezTo>
                    <a:pt x="21750781" y="9851136"/>
                    <a:pt x="21722460" y="9879457"/>
                    <a:pt x="21687662" y="9879457"/>
                  </a:cubicBezTo>
                  <a:lnTo>
                    <a:pt x="21687662" y="9873107"/>
                  </a:lnTo>
                  <a:lnTo>
                    <a:pt x="21687662" y="9879457"/>
                  </a:lnTo>
                  <a:lnTo>
                    <a:pt x="63119" y="9879457"/>
                  </a:lnTo>
                  <a:lnTo>
                    <a:pt x="63119" y="9873107"/>
                  </a:lnTo>
                  <a:lnTo>
                    <a:pt x="63119" y="9879457"/>
                  </a:lnTo>
                  <a:cubicBezTo>
                    <a:pt x="28321" y="9879457"/>
                    <a:pt x="0" y="9851263"/>
                    <a:pt x="0" y="9816338"/>
                  </a:cubicBezTo>
                  <a:lnTo>
                    <a:pt x="0" y="63119"/>
                  </a:lnTo>
                  <a:lnTo>
                    <a:pt x="6350" y="63119"/>
                  </a:lnTo>
                  <a:lnTo>
                    <a:pt x="0" y="63119"/>
                  </a:lnTo>
                  <a:moveTo>
                    <a:pt x="12700" y="63119"/>
                  </a:moveTo>
                  <a:lnTo>
                    <a:pt x="12700" y="9816338"/>
                  </a:lnTo>
                  <a:lnTo>
                    <a:pt x="6350" y="9816338"/>
                  </a:lnTo>
                  <a:lnTo>
                    <a:pt x="12700" y="9816338"/>
                  </a:lnTo>
                  <a:cubicBezTo>
                    <a:pt x="12700" y="9844151"/>
                    <a:pt x="35306" y="9866757"/>
                    <a:pt x="63119" y="9866757"/>
                  </a:cubicBezTo>
                  <a:lnTo>
                    <a:pt x="21687662" y="9866757"/>
                  </a:lnTo>
                  <a:cubicBezTo>
                    <a:pt x="21715476" y="9866757"/>
                    <a:pt x="21738081" y="9844151"/>
                    <a:pt x="21738081" y="9816338"/>
                  </a:cubicBezTo>
                  <a:lnTo>
                    <a:pt x="21738081" y="63119"/>
                  </a:lnTo>
                  <a:cubicBezTo>
                    <a:pt x="21738081" y="35306"/>
                    <a:pt x="21715476" y="12700"/>
                    <a:pt x="21687662" y="12700"/>
                  </a:cubicBezTo>
                  <a:lnTo>
                    <a:pt x="63119" y="12700"/>
                  </a:lnTo>
                  <a:lnTo>
                    <a:pt x="63119" y="6350"/>
                  </a:lnTo>
                  <a:lnTo>
                    <a:pt x="63119" y="12700"/>
                  </a:lnTo>
                  <a:cubicBezTo>
                    <a:pt x="35306" y="12700"/>
                    <a:pt x="12700" y="35306"/>
                    <a:pt x="12700" y="63119"/>
                  </a:cubicBez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01762" y="2015579"/>
            <a:ext cx="16284476" cy="917525"/>
            <a:chOff x="0" y="0"/>
            <a:chExt cx="21712635" cy="122336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1712682" cy="1223391"/>
            </a:xfrm>
            <a:custGeom>
              <a:avLst/>
              <a:gdLst/>
              <a:ahLst/>
              <a:cxnLst/>
              <a:rect l="l" t="t" r="r" b="b"/>
              <a:pathLst>
                <a:path w="21712682" h="1223391">
                  <a:moveTo>
                    <a:pt x="0" y="0"/>
                  </a:moveTo>
                  <a:lnTo>
                    <a:pt x="21712682" y="0"/>
                  </a:lnTo>
                  <a:lnTo>
                    <a:pt x="21712682" y="1223391"/>
                  </a:lnTo>
                  <a:lnTo>
                    <a:pt x="0" y="1223391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285578" y="2195215"/>
            <a:ext cx="3940522" cy="558254"/>
            <a:chOff x="0" y="0"/>
            <a:chExt cx="5254030" cy="744338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5254030" cy="744338"/>
            </a:xfrm>
            <a:custGeom>
              <a:avLst/>
              <a:gdLst/>
              <a:ahLst/>
              <a:cxnLst/>
              <a:rect l="l" t="t" r="r" b="b"/>
              <a:pathLst>
                <a:path w="5254030" h="744338">
                  <a:moveTo>
                    <a:pt x="0" y="0"/>
                  </a:moveTo>
                  <a:lnTo>
                    <a:pt x="5254030" y="0"/>
                  </a:lnTo>
                  <a:lnTo>
                    <a:pt x="5254030" y="744338"/>
                  </a:lnTo>
                  <a:lnTo>
                    <a:pt x="0" y="7443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9525"/>
              <a:ext cx="5254030" cy="75386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4375"/>
                </a:lnSpc>
              </a:pPr>
              <a:r>
                <a:rPr lang="en-US" sz="3500" b="1">
                  <a:solidFill>
                    <a:srgbClr val="020202"/>
                  </a:solidFill>
                  <a:latin typeface="PT Serif Bold"/>
                  <a:ea typeface="PT Serif Bold"/>
                  <a:cs typeface="PT Serif Bold"/>
                  <a:sym typeface="PT Serif Bold"/>
                </a:rPr>
                <a:t>Task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347818" y="2195215"/>
            <a:ext cx="4465588" cy="558254"/>
            <a:chOff x="0" y="0"/>
            <a:chExt cx="5954117" cy="74433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5954117" cy="744338"/>
            </a:xfrm>
            <a:custGeom>
              <a:avLst/>
              <a:gdLst/>
              <a:ahLst/>
              <a:cxnLst/>
              <a:rect l="l" t="t" r="r" b="b"/>
              <a:pathLst>
                <a:path w="5954117" h="744338">
                  <a:moveTo>
                    <a:pt x="0" y="0"/>
                  </a:moveTo>
                  <a:lnTo>
                    <a:pt x="5954117" y="0"/>
                  </a:lnTo>
                  <a:lnTo>
                    <a:pt x="5954117" y="744338"/>
                  </a:lnTo>
                  <a:lnTo>
                    <a:pt x="0" y="7443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9525"/>
              <a:ext cx="5954117" cy="75386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4375"/>
                </a:lnSpc>
              </a:pPr>
              <a:r>
                <a:rPr lang="en-US" sz="3500" b="1">
                  <a:solidFill>
                    <a:srgbClr val="020202"/>
                  </a:solidFill>
                  <a:latin typeface="PT Serif Bold"/>
                  <a:ea typeface="PT Serif Bold"/>
                  <a:cs typeface="PT Serif Bold"/>
                  <a:sym typeface="PT Serif Bold"/>
                </a:rPr>
                <a:t>Imperative (Bash)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2223105" y="2195215"/>
            <a:ext cx="4491632" cy="558254"/>
            <a:chOff x="0" y="0"/>
            <a:chExt cx="5988843" cy="744338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5988843" cy="744338"/>
            </a:xfrm>
            <a:custGeom>
              <a:avLst/>
              <a:gdLst/>
              <a:ahLst/>
              <a:cxnLst/>
              <a:rect l="l" t="t" r="r" b="b"/>
              <a:pathLst>
                <a:path w="5988843" h="744338">
                  <a:moveTo>
                    <a:pt x="0" y="0"/>
                  </a:moveTo>
                  <a:lnTo>
                    <a:pt x="5988843" y="0"/>
                  </a:lnTo>
                  <a:lnTo>
                    <a:pt x="5988843" y="744338"/>
                  </a:lnTo>
                  <a:lnTo>
                    <a:pt x="0" y="7443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9525"/>
              <a:ext cx="5988843" cy="75386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4375"/>
                </a:lnSpc>
              </a:pPr>
              <a:r>
                <a:rPr lang="en-US" sz="3500" b="1">
                  <a:solidFill>
                    <a:srgbClr val="020202"/>
                  </a:solidFill>
                  <a:latin typeface="PT Serif Bold"/>
                  <a:ea typeface="PT Serif Bold"/>
                  <a:cs typeface="PT Serif Bold"/>
                  <a:sym typeface="PT Serif Bold"/>
                </a:rPr>
                <a:t>Declarative (Ansible)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001762" y="2933105"/>
            <a:ext cx="16284476" cy="2400151"/>
            <a:chOff x="0" y="0"/>
            <a:chExt cx="21712635" cy="3200202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21712682" cy="3200146"/>
            </a:xfrm>
            <a:custGeom>
              <a:avLst/>
              <a:gdLst/>
              <a:ahLst/>
              <a:cxnLst/>
              <a:rect l="l" t="t" r="r" b="b"/>
              <a:pathLst>
                <a:path w="21712682" h="3200146">
                  <a:moveTo>
                    <a:pt x="0" y="0"/>
                  </a:moveTo>
                  <a:lnTo>
                    <a:pt x="21712682" y="0"/>
                  </a:lnTo>
                  <a:lnTo>
                    <a:pt x="21712682" y="3200146"/>
                  </a:lnTo>
                  <a:lnTo>
                    <a:pt x="0" y="320014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285578" y="3112740"/>
            <a:ext cx="3940522" cy="566886"/>
            <a:chOff x="0" y="0"/>
            <a:chExt cx="5254030" cy="755848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5254030" cy="755848"/>
            </a:xfrm>
            <a:custGeom>
              <a:avLst/>
              <a:gdLst/>
              <a:ahLst/>
              <a:cxnLst/>
              <a:rect l="l" t="t" r="r" b="b"/>
              <a:pathLst>
                <a:path w="5254030" h="755848">
                  <a:moveTo>
                    <a:pt x="0" y="0"/>
                  </a:moveTo>
                  <a:lnTo>
                    <a:pt x="5254030" y="0"/>
                  </a:lnTo>
                  <a:lnTo>
                    <a:pt x="5254030" y="755848"/>
                  </a:lnTo>
                  <a:lnTo>
                    <a:pt x="0" y="7558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104775"/>
              <a:ext cx="5254030" cy="86062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4437"/>
                </a:lnSpc>
              </a:pPr>
              <a:r>
                <a:rPr lang="en-US" sz="2750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Install nginx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802660" y="3112740"/>
            <a:ext cx="5556051" cy="566886"/>
            <a:chOff x="0" y="0"/>
            <a:chExt cx="7408068" cy="755848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7408068" cy="755848"/>
            </a:xfrm>
            <a:custGeom>
              <a:avLst/>
              <a:gdLst/>
              <a:ahLst/>
              <a:cxnLst/>
              <a:rect l="l" t="t" r="r" b="b"/>
              <a:pathLst>
                <a:path w="7408068" h="755848">
                  <a:moveTo>
                    <a:pt x="0" y="0"/>
                  </a:moveTo>
                  <a:lnTo>
                    <a:pt x="7408068" y="0"/>
                  </a:lnTo>
                  <a:lnTo>
                    <a:pt x="7408068" y="755848"/>
                  </a:lnTo>
                  <a:lnTo>
                    <a:pt x="0" y="7558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104775"/>
              <a:ext cx="7408068" cy="86062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4437"/>
                </a:lnSpc>
              </a:pPr>
              <a:r>
                <a:rPr lang="en-US" sz="2750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sudo apt install nginx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1935271" y="3112740"/>
            <a:ext cx="5067449" cy="566886"/>
            <a:chOff x="0" y="0"/>
            <a:chExt cx="6756598" cy="755848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6756598" cy="755848"/>
            </a:xfrm>
            <a:custGeom>
              <a:avLst/>
              <a:gdLst/>
              <a:ahLst/>
              <a:cxnLst/>
              <a:rect l="l" t="t" r="r" b="b"/>
              <a:pathLst>
                <a:path w="6756598" h="755848">
                  <a:moveTo>
                    <a:pt x="0" y="0"/>
                  </a:moveTo>
                  <a:lnTo>
                    <a:pt x="6756598" y="0"/>
                  </a:lnTo>
                  <a:lnTo>
                    <a:pt x="6756598" y="755848"/>
                  </a:lnTo>
                  <a:lnTo>
                    <a:pt x="0" y="7558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104775"/>
              <a:ext cx="6756598" cy="86062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4437"/>
                </a:lnSpc>
              </a:pPr>
              <a:r>
                <a:rPr lang="en-US" sz="2750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apt: 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1935271" y="3849738"/>
            <a:ext cx="5067449" cy="566886"/>
            <a:chOff x="0" y="0"/>
            <a:chExt cx="6756598" cy="755848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6756598" cy="755848"/>
            </a:xfrm>
            <a:custGeom>
              <a:avLst/>
              <a:gdLst/>
              <a:ahLst/>
              <a:cxnLst/>
              <a:rect l="l" t="t" r="r" b="b"/>
              <a:pathLst>
                <a:path w="6756598" h="755848">
                  <a:moveTo>
                    <a:pt x="0" y="0"/>
                  </a:moveTo>
                  <a:lnTo>
                    <a:pt x="6756598" y="0"/>
                  </a:lnTo>
                  <a:lnTo>
                    <a:pt x="6756598" y="755848"/>
                  </a:lnTo>
                  <a:lnTo>
                    <a:pt x="0" y="7558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-104775"/>
              <a:ext cx="6756598" cy="86062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4437"/>
                </a:lnSpc>
              </a:pPr>
              <a:r>
                <a:rPr lang="en-US" sz="2750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  name=nginx 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1935271" y="4586734"/>
            <a:ext cx="5067449" cy="566886"/>
            <a:chOff x="0" y="0"/>
            <a:chExt cx="6756598" cy="755848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6756598" cy="755848"/>
            </a:xfrm>
            <a:custGeom>
              <a:avLst/>
              <a:gdLst/>
              <a:ahLst/>
              <a:cxnLst/>
              <a:rect l="l" t="t" r="r" b="b"/>
              <a:pathLst>
                <a:path w="6756598" h="755848">
                  <a:moveTo>
                    <a:pt x="0" y="0"/>
                  </a:moveTo>
                  <a:lnTo>
                    <a:pt x="6756598" y="0"/>
                  </a:lnTo>
                  <a:lnTo>
                    <a:pt x="6756598" y="755848"/>
                  </a:lnTo>
                  <a:lnTo>
                    <a:pt x="0" y="7558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-104775"/>
              <a:ext cx="6756598" cy="86062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4437"/>
                </a:lnSpc>
              </a:pPr>
              <a:r>
                <a:rPr lang="en-US" sz="2750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  state=present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001762" y="5333256"/>
            <a:ext cx="16284476" cy="2400151"/>
            <a:chOff x="0" y="0"/>
            <a:chExt cx="21712635" cy="3200202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21712682" cy="3200146"/>
            </a:xfrm>
            <a:custGeom>
              <a:avLst/>
              <a:gdLst/>
              <a:ahLst/>
              <a:cxnLst/>
              <a:rect l="l" t="t" r="r" b="b"/>
              <a:pathLst>
                <a:path w="21712682" h="3200146">
                  <a:moveTo>
                    <a:pt x="0" y="0"/>
                  </a:moveTo>
                  <a:lnTo>
                    <a:pt x="21712682" y="0"/>
                  </a:lnTo>
                  <a:lnTo>
                    <a:pt x="21712682" y="3200146"/>
                  </a:lnTo>
                  <a:lnTo>
                    <a:pt x="0" y="3200146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1285578" y="5512891"/>
            <a:ext cx="3940522" cy="566886"/>
            <a:chOff x="0" y="0"/>
            <a:chExt cx="5254030" cy="755848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5254030" cy="755848"/>
            </a:xfrm>
            <a:custGeom>
              <a:avLst/>
              <a:gdLst/>
              <a:ahLst/>
              <a:cxnLst/>
              <a:rect l="l" t="t" r="r" b="b"/>
              <a:pathLst>
                <a:path w="5254030" h="755848">
                  <a:moveTo>
                    <a:pt x="0" y="0"/>
                  </a:moveTo>
                  <a:lnTo>
                    <a:pt x="5254030" y="0"/>
                  </a:lnTo>
                  <a:lnTo>
                    <a:pt x="5254030" y="755848"/>
                  </a:lnTo>
                  <a:lnTo>
                    <a:pt x="0" y="7558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0" y="-104775"/>
              <a:ext cx="5254030" cy="86062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4437"/>
                </a:lnSpc>
              </a:pPr>
              <a:r>
                <a:rPr lang="en-US" sz="2750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Start nginx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5802660" y="5512891"/>
            <a:ext cx="5556051" cy="566886"/>
            <a:chOff x="0" y="0"/>
            <a:chExt cx="7408068" cy="755848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7408068" cy="755848"/>
            </a:xfrm>
            <a:custGeom>
              <a:avLst/>
              <a:gdLst/>
              <a:ahLst/>
              <a:cxnLst/>
              <a:rect l="l" t="t" r="r" b="b"/>
              <a:pathLst>
                <a:path w="7408068" h="755848">
                  <a:moveTo>
                    <a:pt x="0" y="0"/>
                  </a:moveTo>
                  <a:lnTo>
                    <a:pt x="7408068" y="0"/>
                  </a:lnTo>
                  <a:lnTo>
                    <a:pt x="7408068" y="755848"/>
                  </a:lnTo>
                  <a:lnTo>
                    <a:pt x="0" y="7558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0" y="-104775"/>
              <a:ext cx="7408068" cy="86062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4437"/>
                </a:lnSpc>
              </a:pPr>
              <a:r>
                <a:rPr lang="en-US" sz="2750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sudo systemctl start nginx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11935271" y="5512891"/>
            <a:ext cx="5067449" cy="566886"/>
            <a:chOff x="0" y="0"/>
            <a:chExt cx="6756598" cy="755848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6756598" cy="755848"/>
            </a:xfrm>
            <a:custGeom>
              <a:avLst/>
              <a:gdLst/>
              <a:ahLst/>
              <a:cxnLst/>
              <a:rect l="l" t="t" r="r" b="b"/>
              <a:pathLst>
                <a:path w="6756598" h="755848">
                  <a:moveTo>
                    <a:pt x="0" y="0"/>
                  </a:moveTo>
                  <a:lnTo>
                    <a:pt x="6756598" y="0"/>
                  </a:lnTo>
                  <a:lnTo>
                    <a:pt x="6756598" y="755848"/>
                  </a:lnTo>
                  <a:lnTo>
                    <a:pt x="0" y="7558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0" y="-104775"/>
              <a:ext cx="6756598" cy="86062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4437"/>
                </a:lnSpc>
              </a:pPr>
              <a:r>
                <a:rPr lang="en-US" sz="2750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service: 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1935271" y="6249889"/>
            <a:ext cx="5067449" cy="566886"/>
            <a:chOff x="0" y="0"/>
            <a:chExt cx="6756598" cy="755848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6756598" cy="755848"/>
            </a:xfrm>
            <a:custGeom>
              <a:avLst/>
              <a:gdLst/>
              <a:ahLst/>
              <a:cxnLst/>
              <a:rect l="l" t="t" r="r" b="b"/>
              <a:pathLst>
                <a:path w="6756598" h="755848">
                  <a:moveTo>
                    <a:pt x="0" y="0"/>
                  </a:moveTo>
                  <a:lnTo>
                    <a:pt x="6756598" y="0"/>
                  </a:lnTo>
                  <a:lnTo>
                    <a:pt x="6756598" y="755848"/>
                  </a:lnTo>
                  <a:lnTo>
                    <a:pt x="0" y="7558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0" y="-104775"/>
              <a:ext cx="6756598" cy="86062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4437"/>
                </a:lnSpc>
              </a:pPr>
              <a:r>
                <a:rPr lang="en-US" sz="2750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  name=nginx 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11935271" y="6986885"/>
            <a:ext cx="5067449" cy="566886"/>
            <a:chOff x="0" y="0"/>
            <a:chExt cx="6756598" cy="755848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6756598" cy="755848"/>
            </a:xfrm>
            <a:custGeom>
              <a:avLst/>
              <a:gdLst/>
              <a:ahLst/>
              <a:cxnLst/>
              <a:rect l="l" t="t" r="r" b="b"/>
              <a:pathLst>
                <a:path w="6756598" h="755848">
                  <a:moveTo>
                    <a:pt x="0" y="0"/>
                  </a:moveTo>
                  <a:lnTo>
                    <a:pt x="6756598" y="0"/>
                  </a:lnTo>
                  <a:lnTo>
                    <a:pt x="6756598" y="755848"/>
                  </a:lnTo>
                  <a:lnTo>
                    <a:pt x="0" y="7558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0" y="-104775"/>
              <a:ext cx="6756598" cy="86062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4437"/>
                </a:lnSpc>
              </a:pPr>
              <a:r>
                <a:rPr lang="en-US" sz="2750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  state=started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1001762" y="7733408"/>
            <a:ext cx="16284476" cy="1663154"/>
            <a:chOff x="0" y="0"/>
            <a:chExt cx="21712635" cy="2217538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21712682" cy="2217547"/>
            </a:xfrm>
            <a:custGeom>
              <a:avLst/>
              <a:gdLst/>
              <a:ahLst/>
              <a:cxnLst/>
              <a:rect l="l" t="t" r="r" b="b"/>
              <a:pathLst>
                <a:path w="21712682" h="2217547">
                  <a:moveTo>
                    <a:pt x="0" y="0"/>
                  </a:moveTo>
                  <a:lnTo>
                    <a:pt x="21712682" y="0"/>
                  </a:lnTo>
                  <a:lnTo>
                    <a:pt x="21712682" y="2217547"/>
                  </a:lnTo>
                  <a:lnTo>
                    <a:pt x="0" y="221754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1285578" y="7913042"/>
            <a:ext cx="3940522" cy="566886"/>
            <a:chOff x="0" y="0"/>
            <a:chExt cx="5254030" cy="755848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5254030" cy="755848"/>
            </a:xfrm>
            <a:custGeom>
              <a:avLst/>
              <a:gdLst/>
              <a:ahLst/>
              <a:cxnLst/>
              <a:rect l="l" t="t" r="r" b="b"/>
              <a:pathLst>
                <a:path w="5254030" h="755848">
                  <a:moveTo>
                    <a:pt x="0" y="0"/>
                  </a:moveTo>
                  <a:lnTo>
                    <a:pt x="5254030" y="0"/>
                  </a:lnTo>
                  <a:lnTo>
                    <a:pt x="5254030" y="755848"/>
                  </a:lnTo>
                  <a:lnTo>
                    <a:pt x="0" y="7558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0" y="-104775"/>
              <a:ext cx="5254030" cy="86062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4437"/>
                </a:lnSpc>
              </a:pPr>
              <a:r>
                <a:rPr lang="en-US" sz="2750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Enable service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5802660" y="7913042"/>
            <a:ext cx="5556051" cy="566886"/>
            <a:chOff x="0" y="0"/>
            <a:chExt cx="7408068" cy="755848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7408068" cy="755848"/>
            </a:xfrm>
            <a:custGeom>
              <a:avLst/>
              <a:gdLst/>
              <a:ahLst/>
              <a:cxnLst/>
              <a:rect l="l" t="t" r="r" b="b"/>
              <a:pathLst>
                <a:path w="7408068" h="755848">
                  <a:moveTo>
                    <a:pt x="0" y="0"/>
                  </a:moveTo>
                  <a:lnTo>
                    <a:pt x="7408068" y="0"/>
                  </a:lnTo>
                  <a:lnTo>
                    <a:pt x="7408068" y="755848"/>
                  </a:lnTo>
                  <a:lnTo>
                    <a:pt x="0" y="7558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0" y="-104775"/>
              <a:ext cx="7408068" cy="86062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4437"/>
                </a:lnSpc>
              </a:pPr>
              <a:r>
                <a:rPr lang="en-US" sz="2750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sudo systemctl enable nginx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11935271" y="7913042"/>
            <a:ext cx="5067449" cy="566886"/>
            <a:chOff x="0" y="0"/>
            <a:chExt cx="6756598" cy="755848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6756598" cy="755848"/>
            </a:xfrm>
            <a:custGeom>
              <a:avLst/>
              <a:gdLst/>
              <a:ahLst/>
              <a:cxnLst/>
              <a:rect l="l" t="t" r="r" b="b"/>
              <a:pathLst>
                <a:path w="6756598" h="755848">
                  <a:moveTo>
                    <a:pt x="0" y="0"/>
                  </a:moveTo>
                  <a:lnTo>
                    <a:pt x="6756598" y="0"/>
                  </a:lnTo>
                  <a:lnTo>
                    <a:pt x="6756598" y="755848"/>
                  </a:lnTo>
                  <a:lnTo>
                    <a:pt x="0" y="7558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0" y="-104775"/>
              <a:ext cx="6756598" cy="86062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4437"/>
                </a:lnSpc>
              </a:pPr>
              <a:r>
                <a:rPr lang="en-US" sz="2750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service: 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11935271" y="8650040"/>
            <a:ext cx="5067449" cy="566886"/>
            <a:chOff x="0" y="0"/>
            <a:chExt cx="6756598" cy="755848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6756598" cy="755848"/>
            </a:xfrm>
            <a:custGeom>
              <a:avLst/>
              <a:gdLst/>
              <a:ahLst/>
              <a:cxnLst/>
              <a:rect l="l" t="t" r="r" b="b"/>
              <a:pathLst>
                <a:path w="6756598" h="755848">
                  <a:moveTo>
                    <a:pt x="0" y="0"/>
                  </a:moveTo>
                  <a:lnTo>
                    <a:pt x="6756598" y="0"/>
                  </a:lnTo>
                  <a:lnTo>
                    <a:pt x="6756598" y="755848"/>
                  </a:lnTo>
                  <a:lnTo>
                    <a:pt x="0" y="7558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0" y="-104775"/>
              <a:ext cx="6756598" cy="86062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4437"/>
                </a:lnSpc>
              </a:pPr>
              <a:r>
                <a:rPr lang="en-US" sz="2750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 enabled=yes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AFA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Freeform 6" descr="preencoded.png">
            <a:hlinkClick r:id="rId3" tooltip="https://gamma.app/?utm_source=made-with-gamma"/>
          </p:cNvPr>
          <p:cNvSpPr/>
          <p:nvPr/>
        </p:nvSpPr>
        <p:spPr>
          <a:xfrm>
            <a:off x="16049019" y="9686925"/>
            <a:ext cx="2153256" cy="514350"/>
          </a:xfrm>
          <a:custGeom>
            <a:avLst/>
            <a:gdLst/>
            <a:ahLst/>
            <a:cxnLst/>
            <a:rect l="l" t="t" r="r" b="b"/>
            <a:pathLst>
              <a:path w="2153256" h="514350">
                <a:moveTo>
                  <a:pt x="0" y="0"/>
                </a:moveTo>
                <a:lnTo>
                  <a:pt x="2153256" y="0"/>
                </a:lnTo>
                <a:lnTo>
                  <a:pt x="2153256" y="514350"/>
                </a:lnTo>
                <a:lnTo>
                  <a:pt x="0" y="5143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 descr="preencoded.png"/>
          <p:cNvSpPr/>
          <p:nvPr/>
        </p:nvSpPr>
        <p:spPr>
          <a:xfrm>
            <a:off x="11430000" y="0"/>
            <a:ext cx="6858000" cy="10287000"/>
          </a:xfrm>
          <a:custGeom>
            <a:avLst/>
            <a:gdLst/>
            <a:ahLst/>
            <a:cxnLst/>
            <a:rect l="l" t="t" r="r" b="b"/>
            <a:pathLst>
              <a:path w="6858000" h="10287000">
                <a:moveTo>
                  <a:pt x="0" y="0"/>
                </a:moveTo>
                <a:lnTo>
                  <a:pt x="6858000" y="0"/>
                </a:lnTo>
                <a:lnTo>
                  <a:pt x="685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 descr="preencoded.png"/>
          <p:cNvSpPr/>
          <p:nvPr/>
        </p:nvSpPr>
        <p:spPr>
          <a:xfrm>
            <a:off x="11753999" y="3073450"/>
            <a:ext cx="6209854" cy="4139952"/>
          </a:xfrm>
          <a:custGeom>
            <a:avLst/>
            <a:gdLst/>
            <a:ahLst/>
            <a:cxnLst/>
            <a:rect l="l" t="t" r="r" b="b"/>
            <a:pathLst>
              <a:path w="6209854" h="4139952">
                <a:moveTo>
                  <a:pt x="0" y="0"/>
                </a:moveTo>
                <a:lnTo>
                  <a:pt x="6209853" y="0"/>
                </a:lnTo>
                <a:lnTo>
                  <a:pt x="6209853" y="4139952"/>
                </a:lnTo>
                <a:lnTo>
                  <a:pt x="0" y="413995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9" name="Group 9"/>
          <p:cNvGrpSpPr/>
          <p:nvPr/>
        </p:nvGrpSpPr>
        <p:grpSpPr>
          <a:xfrm>
            <a:off x="907405" y="714375"/>
            <a:ext cx="8466311" cy="1027311"/>
            <a:chOff x="0" y="0"/>
            <a:chExt cx="11288415" cy="136974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1288415" cy="1369748"/>
            </a:xfrm>
            <a:custGeom>
              <a:avLst/>
              <a:gdLst/>
              <a:ahLst/>
              <a:cxnLst/>
              <a:rect l="l" t="t" r="r" b="b"/>
              <a:pathLst>
                <a:path w="11288415" h="1369748">
                  <a:moveTo>
                    <a:pt x="0" y="0"/>
                  </a:moveTo>
                  <a:lnTo>
                    <a:pt x="11288415" y="0"/>
                  </a:lnTo>
                  <a:lnTo>
                    <a:pt x="11288415" y="1369748"/>
                  </a:lnTo>
                  <a:lnTo>
                    <a:pt x="0" y="13697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19050"/>
              <a:ext cx="11288415" cy="138879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6687"/>
                </a:lnSpc>
              </a:pPr>
              <a:r>
                <a:rPr lang="en-US" sz="5312">
                  <a:solidFill>
                    <a:srgbClr val="020202"/>
                  </a:solidFill>
                  <a:latin typeface="PT Serif"/>
                  <a:ea typeface="PT Serif"/>
                  <a:cs typeface="PT Serif"/>
                  <a:sym typeface="PT Serif"/>
                </a:rPr>
                <a:t>Ansible Components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07405" y="1953965"/>
            <a:ext cx="9615190" cy="1037035"/>
            <a:chOff x="0" y="0"/>
            <a:chExt cx="12820253" cy="1382713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2820253" cy="1382713"/>
            </a:xfrm>
            <a:custGeom>
              <a:avLst/>
              <a:gdLst/>
              <a:ahLst/>
              <a:cxnLst/>
              <a:rect l="l" t="t" r="r" b="b"/>
              <a:pathLst>
                <a:path w="12820253" h="1382713">
                  <a:moveTo>
                    <a:pt x="0" y="0"/>
                  </a:moveTo>
                  <a:lnTo>
                    <a:pt x="12820253" y="0"/>
                  </a:lnTo>
                  <a:lnTo>
                    <a:pt x="12820253" y="1382713"/>
                  </a:lnTo>
                  <a:lnTo>
                    <a:pt x="0" y="13827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104775"/>
              <a:ext cx="12820253" cy="148748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4062"/>
                </a:lnSpc>
              </a:pPr>
              <a:r>
                <a:rPr lang="en-US" sz="2499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The 3 main components of Ansible on which the entire configuration management in dependent on are:</a:t>
              </a:r>
            </a:p>
          </p:txBody>
        </p:sp>
      </p:grpSp>
      <p:sp>
        <p:nvSpPr>
          <p:cNvPr id="15" name="Freeform 15" descr="preencoded.png"/>
          <p:cNvSpPr/>
          <p:nvPr/>
        </p:nvSpPr>
        <p:spPr>
          <a:xfrm>
            <a:off x="907405" y="4034135"/>
            <a:ext cx="388888" cy="388888"/>
          </a:xfrm>
          <a:custGeom>
            <a:avLst/>
            <a:gdLst/>
            <a:ahLst/>
            <a:cxnLst/>
            <a:rect l="l" t="t" r="r" b="b"/>
            <a:pathLst>
              <a:path w="388888" h="388888">
                <a:moveTo>
                  <a:pt x="0" y="0"/>
                </a:moveTo>
                <a:lnTo>
                  <a:pt x="388887" y="0"/>
                </a:lnTo>
                <a:lnTo>
                  <a:pt x="388887" y="388887"/>
                </a:lnTo>
                <a:lnTo>
                  <a:pt x="0" y="38888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6" name="Group 16"/>
          <p:cNvGrpSpPr/>
          <p:nvPr/>
        </p:nvGrpSpPr>
        <p:grpSpPr>
          <a:xfrm>
            <a:off x="1555551" y="3988891"/>
            <a:ext cx="2297609" cy="1118989"/>
            <a:chOff x="0" y="0"/>
            <a:chExt cx="3063478" cy="1491985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3063478" cy="1491985"/>
            </a:xfrm>
            <a:custGeom>
              <a:avLst/>
              <a:gdLst/>
              <a:ahLst/>
              <a:cxnLst/>
              <a:rect l="l" t="t" r="r" b="b"/>
              <a:pathLst>
                <a:path w="3063478" h="1491985">
                  <a:moveTo>
                    <a:pt x="0" y="0"/>
                  </a:moveTo>
                  <a:lnTo>
                    <a:pt x="3063478" y="0"/>
                  </a:lnTo>
                  <a:lnTo>
                    <a:pt x="3063478" y="1491985"/>
                  </a:lnTo>
                  <a:lnTo>
                    <a:pt x="0" y="149198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0"/>
              <a:ext cx="3063478" cy="149198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999"/>
                </a:lnSpc>
              </a:pPr>
              <a:r>
                <a:rPr lang="en-US" sz="3187">
                  <a:solidFill>
                    <a:srgbClr val="383838"/>
                  </a:solidFill>
                  <a:latin typeface="PT Serif"/>
                  <a:ea typeface="PT Serif"/>
                  <a:cs typeface="PT Serif"/>
                  <a:sym typeface="PT Serif"/>
                </a:rPr>
                <a:t>Control/ Master Node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555551" y="5165377"/>
            <a:ext cx="2297609" cy="1555551"/>
            <a:chOff x="0" y="0"/>
            <a:chExt cx="3063478" cy="2074068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063478" cy="2074068"/>
            </a:xfrm>
            <a:custGeom>
              <a:avLst/>
              <a:gdLst/>
              <a:ahLst/>
              <a:cxnLst/>
              <a:rect l="l" t="t" r="r" b="b"/>
              <a:pathLst>
                <a:path w="3063478" h="2074068">
                  <a:moveTo>
                    <a:pt x="0" y="0"/>
                  </a:moveTo>
                  <a:lnTo>
                    <a:pt x="3063478" y="0"/>
                  </a:lnTo>
                  <a:lnTo>
                    <a:pt x="3063478" y="2074068"/>
                  </a:lnTo>
                  <a:lnTo>
                    <a:pt x="0" y="207406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104775"/>
              <a:ext cx="3063478" cy="217884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4062"/>
                </a:lnSpc>
              </a:pPr>
              <a:r>
                <a:rPr lang="en-US" sz="2499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The machine where Ansible is installed.</a:t>
              </a:r>
            </a:p>
          </p:txBody>
        </p:sp>
      </p:grpSp>
      <p:sp>
        <p:nvSpPr>
          <p:cNvPr id="22" name="Freeform 22" descr="preencoded.png"/>
          <p:cNvSpPr/>
          <p:nvPr/>
        </p:nvSpPr>
        <p:spPr>
          <a:xfrm>
            <a:off x="4242047" y="4034135"/>
            <a:ext cx="388888" cy="388888"/>
          </a:xfrm>
          <a:custGeom>
            <a:avLst/>
            <a:gdLst/>
            <a:ahLst/>
            <a:cxnLst/>
            <a:rect l="l" t="t" r="r" b="b"/>
            <a:pathLst>
              <a:path w="388888" h="388888">
                <a:moveTo>
                  <a:pt x="0" y="0"/>
                </a:moveTo>
                <a:lnTo>
                  <a:pt x="388888" y="0"/>
                </a:lnTo>
                <a:lnTo>
                  <a:pt x="388888" y="388887"/>
                </a:lnTo>
                <a:lnTo>
                  <a:pt x="0" y="38888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3" name="Group 23"/>
          <p:cNvGrpSpPr/>
          <p:nvPr/>
        </p:nvGrpSpPr>
        <p:grpSpPr>
          <a:xfrm>
            <a:off x="4890195" y="3988891"/>
            <a:ext cx="2297609" cy="1020961"/>
            <a:chOff x="0" y="0"/>
            <a:chExt cx="3063478" cy="1361282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3063478" cy="1361282"/>
            </a:xfrm>
            <a:custGeom>
              <a:avLst/>
              <a:gdLst/>
              <a:ahLst/>
              <a:cxnLst/>
              <a:rect l="l" t="t" r="r" b="b"/>
              <a:pathLst>
                <a:path w="3063478" h="1361282">
                  <a:moveTo>
                    <a:pt x="0" y="0"/>
                  </a:moveTo>
                  <a:lnTo>
                    <a:pt x="3063478" y="0"/>
                  </a:lnTo>
                  <a:lnTo>
                    <a:pt x="3063478" y="1361282"/>
                  </a:lnTo>
                  <a:lnTo>
                    <a:pt x="0" y="136128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0"/>
              <a:ext cx="3063478" cy="1361282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999"/>
                </a:lnSpc>
              </a:pPr>
              <a:r>
                <a:rPr lang="en-US" sz="3187">
                  <a:solidFill>
                    <a:srgbClr val="383838"/>
                  </a:solidFill>
                  <a:latin typeface="PT Serif"/>
                  <a:ea typeface="PT Serif"/>
                  <a:cs typeface="PT Serif"/>
                  <a:sym typeface="PT Serif"/>
                </a:rPr>
                <a:t>Managed Node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4890195" y="5165377"/>
            <a:ext cx="2297609" cy="2592586"/>
            <a:chOff x="0" y="0"/>
            <a:chExt cx="3063478" cy="3456782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3063478" cy="3456782"/>
            </a:xfrm>
            <a:custGeom>
              <a:avLst/>
              <a:gdLst/>
              <a:ahLst/>
              <a:cxnLst/>
              <a:rect l="l" t="t" r="r" b="b"/>
              <a:pathLst>
                <a:path w="3063478" h="3456782">
                  <a:moveTo>
                    <a:pt x="0" y="0"/>
                  </a:moveTo>
                  <a:lnTo>
                    <a:pt x="3063478" y="0"/>
                  </a:lnTo>
                  <a:lnTo>
                    <a:pt x="3063478" y="3456782"/>
                  </a:lnTo>
                  <a:lnTo>
                    <a:pt x="0" y="345678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104775"/>
              <a:ext cx="3063478" cy="3561557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4062"/>
                </a:lnSpc>
              </a:pPr>
              <a:r>
                <a:rPr lang="en-US" sz="2499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The remote machines on which Ansible connects &amp; configures.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4890195" y="7913489"/>
            <a:ext cx="2297609" cy="1659136"/>
            <a:chOff x="0" y="0"/>
            <a:chExt cx="3063478" cy="2212182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3063478" cy="2212182"/>
            </a:xfrm>
            <a:custGeom>
              <a:avLst/>
              <a:gdLst/>
              <a:ahLst/>
              <a:cxnLst/>
              <a:rect l="l" t="t" r="r" b="b"/>
              <a:pathLst>
                <a:path w="3063478" h="2212182">
                  <a:moveTo>
                    <a:pt x="0" y="0"/>
                  </a:moveTo>
                  <a:lnTo>
                    <a:pt x="3063478" y="0"/>
                  </a:lnTo>
                  <a:lnTo>
                    <a:pt x="3063478" y="2212182"/>
                  </a:lnTo>
                  <a:lnTo>
                    <a:pt x="0" y="221218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85725"/>
              <a:ext cx="3063478" cy="2297907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250"/>
                </a:lnSpc>
              </a:pPr>
              <a:r>
                <a:rPr lang="en-US" sz="2000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Ex: Web servers, database, load balancers, containers etc.</a:t>
              </a:r>
            </a:p>
          </p:txBody>
        </p:sp>
      </p:grpSp>
      <p:sp>
        <p:nvSpPr>
          <p:cNvPr id="32" name="Freeform 32" descr="preencoded.png"/>
          <p:cNvSpPr/>
          <p:nvPr/>
        </p:nvSpPr>
        <p:spPr>
          <a:xfrm>
            <a:off x="7576691" y="4034135"/>
            <a:ext cx="388888" cy="388888"/>
          </a:xfrm>
          <a:custGeom>
            <a:avLst/>
            <a:gdLst/>
            <a:ahLst/>
            <a:cxnLst/>
            <a:rect l="l" t="t" r="r" b="b"/>
            <a:pathLst>
              <a:path w="388888" h="388888">
                <a:moveTo>
                  <a:pt x="0" y="0"/>
                </a:moveTo>
                <a:lnTo>
                  <a:pt x="388888" y="0"/>
                </a:lnTo>
                <a:lnTo>
                  <a:pt x="388888" y="388887"/>
                </a:lnTo>
                <a:lnTo>
                  <a:pt x="0" y="38888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3" name="Group 33"/>
          <p:cNvGrpSpPr/>
          <p:nvPr/>
        </p:nvGrpSpPr>
        <p:grpSpPr>
          <a:xfrm>
            <a:off x="8224838" y="3988891"/>
            <a:ext cx="2297757" cy="1020961"/>
            <a:chOff x="0" y="0"/>
            <a:chExt cx="3063677" cy="1361282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3063677" cy="1361282"/>
            </a:xfrm>
            <a:custGeom>
              <a:avLst/>
              <a:gdLst/>
              <a:ahLst/>
              <a:cxnLst/>
              <a:rect l="l" t="t" r="r" b="b"/>
              <a:pathLst>
                <a:path w="3063677" h="1361282">
                  <a:moveTo>
                    <a:pt x="0" y="0"/>
                  </a:moveTo>
                  <a:lnTo>
                    <a:pt x="3063677" y="0"/>
                  </a:lnTo>
                  <a:lnTo>
                    <a:pt x="3063677" y="1361282"/>
                  </a:lnTo>
                  <a:lnTo>
                    <a:pt x="0" y="136128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0"/>
              <a:ext cx="3063677" cy="1361282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999"/>
                </a:lnSpc>
              </a:pPr>
              <a:r>
                <a:rPr lang="en-US" sz="3187">
                  <a:solidFill>
                    <a:srgbClr val="383838"/>
                  </a:solidFill>
                  <a:latin typeface="PT Serif"/>
                  <a:ea typeface="PT Serif"/>
                  <a:cs typeface="PT Serif"/>
                  <a:sym typeface="PT Serif"/>
                </a:rPr>
                <a:t>Inventory file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8224838" y="5165377"/>
            <a:ext cx="2297757" cy="3111104"/>
            <a:chOff x="0" y="0"/>
            <a:chExt cx="3063677" cy="4148138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3063677" cy="4148138"/>
            </a:xfrm>
            <a:custGeom>
              <a:avLst/>
              <a:gdLst/>
              <a:ahLst/>
              <a:cxnLst/>
              <a:rect l="l" t="t" r="r" b="b"/>
              <a:pathLst>
                <a:path w="3063677" h="4148138">
                  <a:moveTo>
                    <a:pt x="0" y="0"/>
                  </a:moveTo>
                  <a:lnTo>
                    <a:pt x="3063677" y="0"/>
                  </a:lnTo>
                  <a:lnTo>
                    <a:pt x="3063677" y="4148138"/>
                  </a:lnTo>
                  <a:lnTo>
                    <a:pt x="0" y="41481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-104775"/>
              <a:ext cx="3063677" cy="425291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4062"/>
                </a:lnSpc>
              </a:pPr>
              <a:r>
                <a:rPr lang="en-US" sz="2499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The file that contains all the details of the connected groups (resources).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AFA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92237" y="2471441"/>
            <a:ext cx="5954166" cy="903089"/>
            <a:chOff x="0" y="0"/>
            <a:chExt cx="7938888" cy="120411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938888" cy="1204119"/>
            </a:xfrm>
            <a:custGeom>
              <a:avLst/>
              <a:gdLst/>
              <a:ahLst/>
              <a:cxnLst/>
              <a:rect l="l" t="t" r="r" b="b"/>
              <a:pathLst>
                <a:path w="7938888" h="1204119">
                  <a:moveTo>
                    <a:pt x="0" y="0"/>
                  </a:moveTo>
                  <a:lnTo>
                    <a:pt x="7938888" y="0"/>
                  </a:lnTo>
                  <a:lnTo>
                    <a:pt x="7938888" y="1204119"/>
                  </a:lnTo>
                  <a:lnTo>
                    <a:pt x="0" y="120411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7938888" cy="1223169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5812"/>
                </a:lnSpc>
              </a:pPr>
              <a:r>
                <a:rPr lang="en-US" sz="4687">
                  <a:solidFill>
                    <a:srgbClr val="020202"/>
                  </a:solidFill>
                  <a:latin typeface="PT Serif"/>
                  <a:ea typeface="PT Serif"/>
                  <a:cs typeface="PT Serif"/>
                  <a:sym typeface="PT Serif"/>
                </a:rPr>
                <a:t>Quick Summary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87475" y="3936801"/>
            <a:ext cx="16313051" cy="3724572"/>
            <a:chOff x="0" y="0"/>
            <a:chExt cx="21750735" cy="496609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750655" cy="4966208"/>
            </a:xfrm>
            <a:custGeom>
              <a:avLst/>
              <a:gdLst/>
              <a:ahLst/>
              <a:cxnLst/>
              <a:rect l="l" t="t" r="r" b="b"/>
              <a:pathLst>
                <a:path w="21750655" h="4966208">
                  <a:moveTo>
                    <a:pt x="0" y="63119"/>
                  </a:moveTo>
                  <a:cubicBezTo>
                    <a:pt x="0" y="28194"/>
                    <a:pt x="28321" y="0"/>
                    <a:pt x="63119" y="0"/>
                  </a:cubicBezTo>
                  <a:lnTo>
                    <a:pt x="21687537" y="0"/>
                  </a:lnTo>
                  <a:lnTo>
                    <a:pt x="21687537" y="6350"/>
                  </a:lnTo>
                  <a:lnTo>
                    <a:pt x="21687537" y="0"/>
                  </a:lnTo>
                  <a:cubicBezTo>
                    <a:pt x="21722462" y="0"/>
                    <a:pt x="21750655" y="28194"/>
                    <a:pt x="21750655" y="63119"/>
                  </a:cubicBezTo>
                  <a:lnTo>
                    <a:pt x="21744305" y="63119"/>
                  </a:lnTo>
                  <a:lnTo>
                    <a:pt x="21750655" y="63119"/>
                  </a:lnTo>
                  <a:lnTo>
                    <a:pt x="21750655" y="4903089"/>
                  </a:lnTo>
                  <a:lnTo>
                    <a:pt x="21744305" y="4903089"/>
                  </a:lnTo>
                  <a:lnTo>
                    <a:pt x="21750655" y="4903089"/>
                  </a:lnTo>
                  <a:cubicBezTo>
                    <a:pt x="21750655" y="4937887"/>
                    <a:pt x="21722335" y="4966208"/>
                    <a:pt x="21687537" y="4966208"/>
                  </a:cubicBezTo>
                  <a:lnTo>
                    <a:pt x="21687537" y="4959858"/>
                  </a:lnTo>
                  <a:lnTo>
                    <a:pt x="21687537" y="4966208"/>
                  </a:lnTo>
                  <a:lnTo>
                    <a:pt x="63119" y="4966208"/>
                  </a:lnTo>
                  <a:lnTo>
                    <a:pt x="63119" y="4959858"/>
                  </a:lnTo>
                  <a:lnTo>
                    <a:pt x="63119" y="4966208"/>
                  </a:lnTo>
                  <a:cubicBezTo>
                    <a:pt x="28194" y="4966208"/>
                    <a:pt x="0" y="4938014"/>
                    <a:pt x="0" y="4903089"/>
                  </a:cubicBezTo>
                  <a:lnTo>
                    <a:pt x="0" y="63119"/>
                  </a:lnTo>
                  <a:lnTo>
                    <a:pt x="6350" y="63119"/>
                  </a:lnTo>
                  <a:lnTo>
                    <a:pt x="0" y="63119"/>
                  </a:lnTo>
                  <a:moveTo>
                    <a:pt x="12700" y="63119"/>
                  </a:moveTo>
                  <a:lnTo>
                    <a:pt x="12700" y="4903089"/>
                  </a:lnTo>
                  <a:lnTo>
                    <a:pt x="6350" y="4903089"/>
                  </a:lnTo>
                  <a:lnTo>
                    <a:pt x="12700" y="4903089"/>
                  </a:lnTo>
                  <a:cubicBezTo>
                    <a:pt x="12700" y="4930902"/>
                    <a:pt x="35306" y="4953508"/>
                    <a:pt x="63119" y="4953508"/>
                  </a:cubicBezTo>
                  <a:lnTo>
                    <a:pt x="21687537" y="4953508"/>
                  </a:lnTo>
                  <a:cubicBezTo>
                    <a:pt x="21715476" y="4953508"/>
                    <a:pt x="21737955" y="4930902"/>
                    <a:pt x="21737955" y="4903089"/>
                  </a:cubicBezTo>
                  <a:lnTo>
                    <a:pt x="21737955" y="63119"/>
                  </a:lnTo>
                  <a:cubicBezTo>
                    <a:pt x="21737955" y="35306"/>
                    <a:pt x="21715350" y="12700"/>
                    <a:pt x="21687537" y="12700"/>
                  </a:cubicBezTo>
                  <a:lnTo>
                    <a:pt x="63119" y="12700"/>
                  </a:lnTo>
                  <a:lnTo>
                    <a:pt x="63119" y="6350"/>
                  </a:lnTo>
                  <a:lnTo>
                    <a:pt x="63119" y="12700"/>
                  </a:lnTo>
                  <a:cubicBezTo>
                    <a:pt x="35306" y="12700"/>
                    <a:pt x="12700" y="35306"/>
                    <a:pt x="12700" y="63119"/>
                  </a:cubicBez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01762" y="3951089"/>
            <a:ext cx="16284476" cy="917525"/>
            <a:chOff x="0" y="0"/>
            <a:chExt cx="21712635" cy="122336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1712682" cy="1223391"/>
            </a:xfrm>
            <a:custGeom>
              <a:avLst/>
              <a:gdLst/>
              <a:ahLst/>
              <a:cxnLst/>
              <a:rect l="l" t="t" r="r" b="b"/>
              <a:pathLst>
                <a:path w="21712682" h="1223391">
                  <a:moveTo>
                    <a:pt x="0" y="0"/>
                  </a:moveTo>
                  <a:lnTo>
                    <a:pt x="21712682" y="0"/>
                  </a:lnTo>
                  <a:lnTo>
                    <a:pt x="21712682" y="1223391"/>
                  </a:lnTo>
                  <a:lnTo>
                    <a:pt x="0" y="1223391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285429" y="4130725"/>
            <a:ext cx="3359200" cy="558254"/>
            <a:chOff x="0" y="0"/>
            <a:chExt cx="4478933" cy="744338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478933" cy="744338"/>
            </a:xfrm>
            <a:custGeom>
              <a:avLst/>
              <a:gdLst/>
              <a:ahLst/>
              <a:cxnLst/>
              <a:rect l="l" t="t" r="r" b="b"/>
              <a:pathLst>
                <a:path w="4478933" h="744338">
                  <a:moveTo>
                    <a:pt x="0" y="0"/>
                  </a:moveTo>
                  <a:lnTo>
                    <a:pt x="4478933" y="0"/>
                  </a:lnTo>
                  <a:lnTo>
                    <a:pt x="4478933" y="744338"/>
                  </a:lnTo>
                  <a:lnTo>
                    <a:pt x="0" y="7443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9525"/>
              <a:ext cx="4478933" cy="75386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4375"/>
                </a:lnSpc>
              </a:pPr>
              <a:r>
                <a:rPr lang="en-US" sz="3500">
                  <a:solidFill>
                    <a:srgbClr val="020202"/>
                  </a:solidFill>
                  <a:latin typeface="PT Serif"/>
                  <a:ea typeface="PT Serif"/>
                  <a:cs typeface="PT Serif"/>
                  <a:sym typeface="PT Serif"/>
                </a:rPr>
                <a:t>Component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5606802" y="4130725"/>
            <a:ext cx="4465588" cy="558254"/>
            <a:chOff x="0" y="0"/>
            <a:chExt cx="5954117" cy="74433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5954117" cy="744338"/>
            </a:xfrm>
            <a:custGeom>
              <a:avLst/>
              <a:gdLst/>
              <a:ahLst/>
              <a:cxnLst/>
              <a:rect l="l" t="t" r="r" b="b"/>
              <a:pathLst>
                <a:path w="5954117" h="744338">
                  <a:moveTo>
                    <a:pt x="0" y="0"/>
                  </a:moveTo>
                  <a:lnTo>
                    <a:pt x="5954117" y="0"/>
                  </a:lnTo>
                  <a:lnTo>
                    <a:pt x="5954117" y="744338"/>
                  </a:lnTo>
                  <a:lnTo>
                    <a:pt x="0" y="7443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9525"/>
              <a:ext cx="5954117" cy="75386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4375"/>
                </a:lnSpc>
              </a:pPr>
              <a:r>
                <a:rPr lang="en-US" sz="3500">
                  <a:solidFill>
                    <a:srgbClr val="020202"/>
                  </a:solidFill>
                  <a:latin typeface="PT Serif"/>
                  <a:ea typeface="PT Serif"/>
                  <a:cs typeface="PT Serif"/>
                  <a:sym typeface="PT Serif"/>
                </a:rPr>
                <a:t>What it does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1785848" y="4130725"/>
            <a:ext cx="4465587" cy="558254"/>
            <a:chOff x="0" y="0"/>
            <a:chExt cx="5954117" cy="744338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5954117" cy="744338"/>
            </a:xfrm>
            <a:custGeom>
              <a:avLst/>
              <a:gdLst/>
              <a:ahLst/>
              <a:cxnLst/>
              <a:rect l="l" t="t" r="r" b="b"/>
              <a:pathLst>
                <a:path w="5954117" h="744338">
                  <a:moveTo>
                    <a:pt x="0" y="0"/>
                  </a:moveTo>
                  <a:lnTo>
                    <a:pt x="5954117" y="0"/>
                  </a:lnTo>
                  <a:lnTo>
                    <a:pt x="5954117" y="744338"/>
                  </a:lnTo>
                  <a:lnTo>
                    <a:pt x="0" y="7443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9525"/>
              <a:ext cx="5954117" cy="75386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4375"/>
                </a:lnSpc>
              </a:pPr>
              <a:r>
                <a:rPr lang="en-US" sz="3500">
                  <a:solidFill>
                    <a:srgbClr val="020202"/>
                  </a:solidFill>
                  <a:latin typeface="PT Serif"/>
                  <a:ea typeface="PT Serif"/>
                  <a:cs typeface="PT Serif"/>
                  <a:sym typeface="PT Serif"/>
                </a:rPr>
                <a:t>Practical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001762" y="4868615"/>
            <a:ext cx="16284476" cy="926158"/>
            <a:chOff x="0" y="0"/>
            <a:chExt cx="21712635" cy="1234877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21712682" cy="1234821"/>
            </a:xfrm>
            <a:custGeom>
              <a:avLst/>
              <a:gdLst/>
              <a:ahLst/>
              <a:cxnLst/>
              <a:rect l="l" t="t" r="r" b="b"/>
              <a:pathLst>
                <a:path w="21712682" h="1234821">
                  <a:moveTo>
                    <a:pt x="0" y="0"/>
                  </a:moveTo>
                  <a:lnTo>
                    <a:pt x="21712682" y="0"/>
                  </a:lnTo>
                  <a:lnTo>
                    <a:pt x="21712682" y="1234821"/>
                  </a:lnTo>
                  <a:lnTo>
                    <a:pt x="0" y="123482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285429" y="5048250"/>
            <a:ext cx="3359200" cy="566886"/>
            <a:chOff x="0" y="0"/>
            <a:chExt cx="4478933" cy="755848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4478933" cy="755848"/>
            </a:xfrm>
            <a:custGeom>
              <a:avLst/>
              <a:gdLst/>
              <a:ahLst/>
              <a:cxnLst/>
              <a:rect l="l" t="t" r="r" b="b"/>
              <a:pathLst>
                <a:path w="4478933" h="755848">
                  <a:moveTo>
                    <a:pt x="0" y="0"/>
                  </a:moveTo>
                  <a:lnTo>
                    <a:pt x="4478933" y="0"/>
                  </a:lnTo>
                  <a:lnTo>
                    <a:pt x="4478933" y="755848"/>
                  </a:lnTo>
                  <a:lnTo>
                    <a:pt x="0" y="7558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104775"/>
              <a:ext cx="4478933" cy="86062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4437"/>
                </a:lnSpc>
              </a:pPr>
              <a:r>
                <a:rPr lang="en-US" sz="2750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Control node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221189" y="5048250"/>
            <a:ext cx="5236964" cy="566886"/>
            <a:chOff x="0" y="0"/>
            <a:chExt cx="6982618" cy="755848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6982618" cy="755848"/>
            </a:xfrm>
            <a:custGeom>
              <a:avLst/>
              <a:gdLst/>
              <a:ahLst/>
              <a:cxnLst/>
              <a:rect l="l" t="t" r="r" b="b"/>
              <a:pathLst>
                <a:path w="6982618" h="755848">
                  <a:moveTo>
                    <a:pt x="0" y="0"/>
                  </a:moveTo>
                  <a:lnTo>
                    <a:pt x="6982618" y="0"/>
                  </a:lnTo>
                  <a:lnTo>
                    <a:pt x="6982618" y="755848"/>
                  </a:lnTo>
                  <a:lnTo>
                    <a:pt x="0" y="7558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104775"/>
              <a:ext cx="6982618" cy="86062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4437"/>
                </a:lnSpc>
              </a:pPr>
              <a:r>
                <a:rPr lang="en-US" sz="2750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Runs Ansible, holds playbooks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1034712" y="5048250"/>
            <a:ext cx="5968007" cy="566886"/>
            <a:chOff x="0" y="0"/>
            <a:chExt cx="7957343" cy="755848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7957343" cy="755848"/>
            </a:xfrm>
            <a:custGeom>
              <a:avLst/>
              <a:gdLst/>
              <a:ahLst/>
              <a:cxnLst/>
              <a:rect l="l" t="t" r="r" b="b"/>
              <a:pathLst>
                <a:path w="7957343" h="755848">
                  <a:moveTo>
                    <a:pt x="0" y="0"/>
                  </a:moveTo>
                  <a:lnTo>
                    <a:pt x="7957343" y="0"/>
                  </a:lnTo>
                  <a:lnTo>
                    <a:pt x="7957343" y="755848"/>
                  </a:lnTo>
                  <a:lnTo>
                    <a:pt x="0" y="7558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104775"/>
              <a:ext cx="7957343" cy="86062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4437"/>
                </a:lnSpc>
              </a:pPr>
              <a:r>
                <a:rPr lang="en-US" sz="2750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Needs Ansible &amp; SSH access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001762" y="5794772"/>
            <a:ext cx="16284476" cy="926157"/>
            <a:chOff x="0" y="0"/>
            <a:chExt cx="21712635" cy="1234877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21712682" cy="1234821"/>
            </a:xfrm>
            <a:custGeom>
              <a:avLst/>
              <a:gdLst/>
              <a:ahLst/>
              <a:cxnLst/>
              <a:rect l="l" t="t" r="r" b="b"/>
              <a:pathLst>
                <a:path w="21712682" h="1234821">
                  <a:moveTo>
                    <a:pt x="0" y="0"/>
                  </a:moveTo>
                  <a:lnTo>
                    <a:pt x="21712682" y="0"/>
                  </a:lnTo>
                  <a:lnTo>
                    <a:pt x="21712682" y="1234821"/>
                  </a:lnTo>
                  <a:lnTo>
                    <a:pt x="0" y="1234821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285429" y="5974408"/>
            <a:ext cx="3359200" cy="566886"/>
            <a:chOff x="0" y="0"/>
            <a:chExt cx="4478933" cy="755848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4478933" cy="755848"/>
            </a:xfrm>
            <a:custGeom>
              <a:avLst/>
              <a:gdLst/>
              <a:ahLst/>
              <a:cxnLst/>
              <a:rect l="l" t="t" r="r" b="b"/>
              <a:pathLst>
                <a:path w="4478933" h="755848">
                  <a:moveTo>
                    <a:pt x="0" y="0"/>
                  </a:moveTo>
                  <a:lnTo>
                    <a:pt x="4478933" y="0"/>
                  </a:lnTo>
                  <a:lnTo>
                    <a:pt x="4478933" y="755848"/>
                  </a:lnTo>
                  <a:lnTo>
                    <a:pt x="0" y="7558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-104775"/>
              <a:ext cx="4478933" cy="86062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4437"/>
                </a:lnSpc>
              </a:pPr>
              <a:r>
                <a:rPr lang="en-US" sz="2750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Managed node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5221189" y="5974408"/>
            <a:ext cx="5236964" cy="566886"/>
            <a:chOff x="0" y="0"/>
            <a:chExt cx="6982618" cy="755848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6982618" cy="755848"/>
            </a:xfrm>
            <a:custGeom>
              <a:avLst/>
              <a:gdLst/>
              <a:ahLst/>
              <a:cxnLst/>
              <a:rect l="l" t="t" r="r" b="b"/>
              <a:pathLst>
                <a:path w="6982618" h="755848">
                  <a:moveTo>
                    <a:pt x="0" y="0"/>
                  </a:moveTo>
                  <a:lnTo>
                    <a:pt x="6982618" y="0"/>
                  </a:lnTo>
                  <a:lnTo>
                    <a:pt x="6982618" y="755848"/>
                  </a:lnTo>
                  <a:lnTo>
                    <a:pt x="0" y="7558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-104775"/>
              <a:ext cx="6982618" cy="86062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4437"/>
                </a:lnSpc>
              </a:pPr>
              <a:r>
                <a:rPr lang="en-US" sz="2750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Gets configured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11034712" y="5974408"/>
            <a:ext cx="5968007" cy="566886"/>
            <a:chOff x="0" y="0"/>
            <a:chExt cx="7957343" cy="755848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7957343" cy="755848"/>
            </a:xfrm>
            <a:custGeom>
              <a:avLst/>
              <a:gdLst/>
              <a:ahLst/>
              <a:cxnLst/>
              <a:rect l="l" t="t" r="r" b="b"/>
              <a:pathLst>
                <a:path w="7957343" h="755848">
                  <a:moveTo>
                    <a:pt x="0" y="0"/>
                  </a:moveTo>
                  <a:lnTo>
                    <a:pt x="7957343" y="0"/>
                  </a:lnTo>
                  <a:lnTo>
                    <a:pt x="7957343" y="755848"/>
                  </a:lnTo>
                  <a:lnTo>
                    <a:pt x="0" y="7558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0" y="-104775"/>
              <a:ext cx="7957343" cy="86062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4437"/>
                </a:lnSpc>
              </a:pPr>
              <a:r>
                <a:rPr lang="en-US" sz="2750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Must allow SSH and have Python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001762" y="6720929"/>
            <a:ext cx="16284476" cy="926157"/>
            <a:chOff x="0" y="0"/>
            <a:chExt cx="21712635" cy="1234877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21712682" cy="1234821"/>
            </a:xfrm>
            <a:custGeom>
              <a:avLst/>
              <a:gdLst/>
              <a:ahLst/>
              <a:cxnLst/>
              <a:rect l="l" t="t" r="r" b="b"/>
              <a:pathLst>
                <a:path w="21712682" h="1234821">
                  <a:moveTo>
                    <a:pt x="0" y="0"/>
                  </a:moveTo>
                  <a:lnTo>
                    <a:pt x="21712682" y="0"/>
                  </a:lnTo>
                  <a:lnTo>
                    <a:pt x="21712682" y="1234821"/>
                  </a:lnTo>
                  <a:lnTo>
                    <a:pt x="0" y="123482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1285429" y="6900565"/>
            <a:ext cx="3359200" cy="566886"/>
            <a:chOff x="0" y="0"/>
            <a:chExt cx="4478933" cy="755848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4478933" cy="755848"/>
            </a:xfrm>
            <a:custGeom>
              <a:avLst/>
              <a:gdLst/>
              <a:ahLst/>
              <a:cxnLst/>
              <a:rect l="l" t="t" r="r" b="b"/>
              <a:pathLst>
                <a:path w="4478933" h="755848">
                  <a:moveTo>
                    <a:pt x="0" y="0"/>
                  </a:moveTo>
                  <a:lnTo>
                    <a:pt x="4478933" y="0"/>
                  </a:lnTo>
                  <a:lnTo>
                    <a:pt x="4478933" y="755848"/>
                  </a:lnTo>
                  <a:lnTo>
                    <a:pt x="0" y="7558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0" y="-104775"/>
              <a:ext cx="4478933" cy="86062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4437"/>
                </a:lnSpc>
              </a:pPr>
              <a:r>
                <a:rPr lang="en-US" sz="2750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Inventory file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5221189" y="6900565"/>
            <a:ext cx="5236964" cy="566886"/>
            <a:chOff x="0" y="0"/>
            <a:chExt cx="6982618" cy="755848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6982618" cy="755848"/>
            </a:xfrm>
            <a:custGeom>
              <a:avLst/>
              <a:gdLst/>
              <a:ahLst/>
              <a:cxnLst/>
              <a:rect l="l" t="t" r="r" b="b"/>
              <a:pathLst>
                <a:path w="6982618" h="755848">
                  <a:moveTo>
                    <a:pt x="0" y="0"/>
                  </a:moveTo>
                  <a:lnTo>
                    <a:pt x="6982618" y="0"/>
                  </a:lnTo>
                  <a:lnTo>
                    <a:pt x="6982618" y="755848"/>
                  </a:lnTo>
                  <a:lnTo>
                    <a:pt x="0" y="7558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0" y="-104775"/>
              <a:ext cx="6982618" cy="86062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4437"/>
                </a:lnSpc>
              </a:pPr>
              <a:r>
                <a:rPr lang="en-US" sz="2750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Tells Ansible about hosts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11034712" y="6900565"/>
            <a:ext cx="5968007" cy="566886"/>
            <a:chOff x="0" y="0"/>
            <a:chExt cx="7957343" cy="755848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7957343" cy="755848"/>
            </a:xfrm>
            <a:custGeom>
              <a:avLst/>
              <a:gdLst/>
              <a:ahLst/>
              <a:cxnLst/>
              <a:rect l="l" t="t" r="r" b="b"/>
              <a:pathLst>
                <a:path w="7957343" h="755848">
                  <a:moveTo>
                    <a:pt x="0" y="0"/>
                  </a:moveTo>
                  <a:lnTo>
                    <a:pt x="7957343" y="0"/>
                  </a:lnTo>
                  <a:lnTo>
                    <a:pt x="7957343" y="755848"/>
                  </a:lnTo>
                  <a:lnTo>
                    <a:pt x="0" y="7558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0" y="-104775"/>
              <a:ext cx="7957343" cy="86062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4437"/>
                </a:lnSpc>
              </a:pPr>
              <a:r>
                <a:rPr lang="en-US" sz="2750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Can be flat INI or structured YAML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AFA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92237" y="1554510"/>
            <a:ext cx="8457036" cy="903089"/>
            <a:chOff x="0" y="0"/>
            <a:chExt cx="11276048" cy="120411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276048" cy="1204119"/>
            </a:xfrm>
            <a:custGeom>
              <a:avLst/>
              <a:gdLst/>
              <a:ahLst/>
              <a:cxnLst/>
              <a:rect l="l" t="t" r="r" b="b"/>
              <a:pathLst>
                <a:path w="11276048" h="1204119">
                  <a:moveTo>
                    <a:pt x="0" y="0"/>
                  </a:moveTo>
                  <a:lnTo>
                    <a:pt x="11276048" y="0"/>
                  </a:lnTo>
                  <a:lnTo>
                    <a:pt x="11276048" y="1204119"/>
                  </a:lnTo>
                  <a:lnTo>
                    <a:pt x="0" y="120411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11276048" cy="1223169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5812"/>
                </a:lnSpc>
              </a:pPr>
              <a:r>
                <a:rPr lang="en-US" sz="4687">
                  <a:solidFill>
                    <a:srgbClr val="020202"/>
                  </a:solidFill>
                  <a:latin typeface="PT Serif"/>
                  <a:ea typeface="PT Serif"/>
                  <a:cs typeface="PT Serif"/>
                  <a:sym typeface="PT Serif"/>
                </a:rPr>
                <a:t>Ansible File Components</a:t>
              </a:r>
            </a:p>
          </p:txBody>
        </p:sp>
      </p:grpSp>
      <p:sp>
        <p:nvSpPr>
          <p:cNvPr id="9" name="Freeform 9" descr="preencoded.png"/>
          <p:cNvSpPr/>
          <p:nvPr/>
        </p:nvSpPr>
        <p:spPr>
          <a:xfrm>
            <a:off x="992238" y="2865835"/>
            <a:ext cx="708720" cy="708720"/>
          </a:xfrm>
          <a:custGeom>
            <a:avLst/>
            <a:gdLst/>
            <a:ahLst/>
            <a:cxnLst/>
            <a:rect l="l" t="t" r="r" b="b"/>
            <a:pathLst>
              <a:path w="708720" h="708720">
                <a:moveTo>
                  <a:pt x="0" y="0"/>
                </a:moveTo>
                <a:lnTo>
                  <a:pt x="708719" y="0"/>
                </a:lnTo>
                <a:lnTo>
                  <a:pt x="708719" y="708720"/>
                </a:lnTo>
                <a:lnTo>
                  <a:pt x="0" y="7087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0" name="Group 10"/>
          <p:cNvGrpSpPr/>
          <p:nvPr/>
        </p:nvGrpSpPr>
        <p:grpSpPr>
          <a:xfrm>
            <a:off x="992238" y="3858071"/>
            <a:ext cx="4465587" cy="558254"/>
            <a:chOff x="0" y="0"/>
            <a:chExt cx="5954117" cy="74433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954117" cy="744338"/>
            </a:xfrm>
            <a:custGeom>
              <a:avLst/>
              <a:gdLst/>
              <a:ahLst/>
              <a:cxnLst/>
              <a:rect l="l" t="t" r="r" b="b"/>
              <a:pathLst>
                <a:path w="5954117" h="744338">
                  <a:moveTo>
                    <a:pt x="0" y="0"/>
                  </a:moveTo>
                  <a:lnTo>
                    <a:pt x="5954117" y="0"/>
                  </a:lnTo>
                  <a:lnTo>
                    <a:pt x="5954117" y="744338"/>
                  </a:lnTo>
                  <a:lnTo>
                    <a:pt x="0" y="7443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9525"/>
              <a:ext cx="5954117" cy="75386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4375"/>
                </a:lnSpc>
              </a:pPr>
              <a:r>
                <a:rPr lang="en-US" sz="3500">
                  <a:solidFill>
                    <a:srgbClr val="383838"/>
                  </a:solidFill>
                  <a:latin typeface="PT Serif"/>
                  <a:ea typeface="PT Serif"/>
                  <a:cs typeface="PT Serif"/>
                  <a:sym typeface="PT Serif"/>
                </a:rPr>
                <a:t>Modules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92238" y="4586436"/>
            <a:ext cx="5150941" cy="1133772"/>
            <a:chOff x="0" y="0"/>
            <a:chExt cx="6867922" cy="1511697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867922" cy="1511697"/>
            </a:xfrm>
            <a:custGeom>
              <a:avLst/>
              <a:gdLst/>
              <a:ahLst/>
              <a:cxnLst/>
              <a:rect l="l" t="t" r="r" b="b"/>
              <a:pathLst>
                <a:path w="6867922" h="1511697">
                  <a:moveTo>
                    <a:pt x="0" y="0"/>
                  </a:moveTo>
                  <a:lnTo>
                    <a:pt x="6867922" y="0"/>
                  </a:lnTo>
                  <a:lnTo>
                    <a:pt x="6867922" y="1511697"/>
                  </a:lnTo>
                  <a:lnTo>
                    <a:pt x="0" y="151169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95250"/>
              <a:ext cx="6867922" cy="1606947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329902" lvl="1" indent="-164951" algn="l">
                <a:lnSpc>
                  <a:spcPts val="3562"/>
                </a:lnSpc>
                <a:buFont typeface="Arial"/>
                <a:buChar char="•"/>
              </a:pPr>
              <a:r>
                <a:rPr lang="en-US" sz="2187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Reusable code performing specific actions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92238" y="5819329"/>
            <a:ext cx="5150941" cy="1133772"/>
            <a:chOff x="0" y="0"/>
            <a:chExt cx="6867922" cy="1511697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6867922" cy="1511697"/>
            </a:xfrm>
            <a:custGeom>
              <a:avLst/>
              <a:gdLst/>
              <a:ahLst/>
              <a:cxnLst/>
              <a:rect l="l" t="t" r="r" b="b"/>
              <a:pathLst>
                <a:path w="6867922" h="1511697">
                  <a:moveTo>
                    <a:pt x="0" y="0"/>
                  </a:moveTo>
                  <a:lnTo>
                    <a:pt x="6867922" y="0"/>
                  </a:lnTo>
                  <a:lnTo>
                    <a:pt x="6867922" y="1511697"/>
                  </a:lnTo>
                  <a:lnTo>
                    <a:pt x="0" y="151169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95250"/>
              <a:ext cx="6867922" cy="1606947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329902" lvl="1" indent="-164951" algn="l">
                <a:lnSpc>
                  <a:spcPts val="3562"/>
                </a:lnSpc>
                <a:buFont typeface="Arial"/>
                <a:buChar char="•"/>
              </a:pPr>
              <a:r>
                <a:rPr lang="en-US" sz="2187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Ex: yum/apt, service, copy, file, user, ping, debug.</a:t>
              </a:r>
            </a:p>
          </p:txBody>
        </p:sp>
      </p:grpSp>
      <p:sp>
        <p:nvSpPr>
          <p:cNvPr id="19" name="Freeform 19" descr="preencoded.png"/>
          <p:cNvSpPr/>
          <p:nvPr/>
        </p:nvSpPr>
        <p:spPr>
          <a:xfrm>
            <a:off x="6568380" y="2865835"/>
            <a:ext cx="708720" cy="708720"/>
          </a:xfrm>
          <a:custGeom>
            <a:avLst/>
            <a:gdLst/>
            <a:ahLst/>
            <a:cxnLst/>
            <a:rect l="l" t="t" r="r" b="b"/>
            <a:pathLst>
              <a:path w="708720" h="708720">
                <a:moveTo>
                  <a:pt x="0" y="0"/>
                </a:moveTo>
                <a:lnTo>
                  <a:pt x="708720" y="0"/>
                </a:lnTo>
                <a:lnTo>
                  <a:pt x="708720" y="708720"/>
                </a:lnTo>
                <a:lnTo>
                  <a:pt x="0" y="7087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0" name="Group 20"/>
          <p:cNvGrpSpPr/>
          <p:nvPr/>
        </p:nvGrpSpPr>
        <p:grpSpPr>
          <a:xfrm>
            <a:off x="6568380" y="3858071"/>
            <a:ext cx="4465587" cy="558254"/>
            <a:chOff x="0" y="0"/>
            <a:chExt cx="5954117" cy="744338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5954117" cy="744338"/>
            </a:xfrm>
            <a:custGeom>
              <a:avLst/>
              <a:gdLst/>
              <a:ahLst/>
              <a:cxnLst/>
              <a:rect l="l" t="t" r="r" b="b"/>
              <a:pathLst>
                <a:path w="5954117" h="744338">
                  <a:moveTo>
                    <a:pt x="0" y="0"/>
                  </a:moveTo>
                  <a:lnTo>
                    <a:pt x="5954117" y="0"/>
                  </a:lnTo>
                  <a:lnTo>
                    <a:pt x="5954117" y="744338"/>
                  </a:lnTo>
                  <a:lnTo>
                    <a:pt x="0" y="7443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9525"/>
              <a:ext cx="5954117" cy="75386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4375"/>
                </a:lnSpc>
              </a:pPr>
              <a:r>
                <a:rPr lang="en-US" sz="3500">
                  <a:solidFill>
                    <a:srgbClr val="383838"/>
                  </a:solidFill>
                  <a:latin typeface="PT Serif"/>
                  <a:ea typeface="PT Serif"/>
                  <a:cs typeface="PT Serif"/>
                  <a:sym typeface="PT Serif"/>
                </a:rPr>
                <a:t>Tasks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568380" y="4586436"/>
            <a:ext cx="5151090" cy="1133772"/>
            <a:chOff x="0" y="0"/>
            <a:chExt cx="6868120" cy="1511697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6868120" cy="1511697"/>
            </a:xfrm>
            <a:custGeom>
              <a:avLst/>
              <a:gdLst/>
              <a:ahLst/>
              <a:cxnLst/>
              <a:rect l="l" t="t" r="r" b="b"/>
              <a:pathLst>
                <a:path w="6868120" h="1511697">
                  <a:moveTo>
                    <a:pt x="0" y="0"/>
                  </a:moveTo>
                  <a:lnTo>
                    <a:pt x="6868120" y="0"/>
                  </a:lnTo>
                  <a:lnTo>
                    <a:pt x="6868120" y="1511697"/>
                  </a:lnTo>
                  <a:lnTo>
                    <a:pt x="0" y="151169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95250"/>
              <a:ext cx="6868120" cy="1606947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329902" lvl="1" indent="-164951" algn="l">
                <a:lnSpc>
                  <a:spcPts val="3562"/>
                </a:lnSpc>
                <a:buFont typeface="Arial"/>
                <a:buChar char="•"/>
              </a:pPr>
              <a:r>
                <a:rPr lang="en-US" sz="2187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Single units of work calling modules with arguments.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568380" y="6039147"/>
            <a:ext cx="5151090" cy="2693194"/>
            <a:chOff x="0" y="0"/>
            <a:chExt cx="6868120" cy="3590925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6868033" cy="3590925"/>
            </a:xfrm>
            <a:custGeom>
              <a:avLst/>
              <a:gdLst/>
              <a:ahLst/>
              <a:cxnLst/>
              <a:rect l="l" t="t" r="r" b="b"/>
              <a:pathLst>
                <a:path w="6868033" h="3590925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6811391" y="0"/>
                  </a:lnTo>
                  <a:cubicBezTo>
                    <a:pt x="6842760" y="0"/>
                    <a:pt x="6868033" y="25400"/>
                    <a:pt x="6868033" y="56642"/>
                  </a:cubicBezTo>
                  <a:lnTo>
                    <a:pt x="6868033" y="3534283"/>
                  </a:lnTo>
                  <a:cubicBezTo>
                    <a:pt x="6868033" y="3565652"/>
                    <a:pt x="6842633" y="3590925"/>
                    <a:pt x="6811391" y="3590925"/>
                  </a:cubicBezTo>
                  <a:lnTo>
                    <a:pt x="56642" y="3590925"/>
                  </a:lnTo>
                  <a:cubicBezTo>
                    <a:pt x="25273" y="3590925"/>
                    <a:pt x="0" y="3565525"/>
                    <a:pt x="0" y="3534283"/>
                  </a:cubicBezTo>
                  <a:close/>
                </a:path>
              </a:pathLst>
            </a:custGeom>
            <a:solidFill>
              <a:srgbClr val="FFDEC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554241" y="6039147"/>
            <a:ext cx="5179368" cy="2693194"/>
            <a:chOff x="0" y="0"/>
            <a:chExt cx="6905823" cy="3590925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6905752" cy="3590925"/>
            </a:xfrm>
            <a:custGeom>
              <a:avLst/>
              <a:gdLst/>
              <a:ahLst/>
              <a:cxnLst/>
              <a:rect l="l" t="t" r="r" b="b"/>
              <a:pathLst>
                <a:path w="6905752" h="3590925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6849110" y="0"/>
                  </a:lnTo>
                  <a:cubicBezTo>
                    <a:pt x="6880478" y="0"/>
                    <a:pt x="6905752" y="25400"/>
                    <a:pt x="6905752" y="56642"/>
                  </a:cubicBezTo>
                  <a:lnTo>
                    <a:pt x="6905752" y="3534283"/>
                  </a:lnTo>
                  <a:cubicBezTo>
                    <a:pt x="6905752" y="3565652"/>
                    <a:pt x="6880352" y="3590925"/>
                    <a:pt x="6849110" y="3590925"/>
                  </a:cubicBezTo>
                  <a:lnTo>
                    <a:pt x="56642" y="3590925"/>
                  </a:lnTo>
                  <a:cubicBezTo>
                    <a:pt x="25273" y="3590925"/>
                    <a:pt x="0" y="3565525"/>
                    <a:pt x="0" y="3534283"/>
                  </a:cubicBezTo>
                  <a:close/>
                </a:path>
              </a:pathLst>
            </a:custGeom>
            <a:solidFill>
              <a:srgbClr val="FFDEC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837759" y="6251674"/>
            <a:ext cx="4612332" cy="2268141"/>
            <a:chOff x="0" y="0"/>
            <a:chExt cx="6149777" cy="3024188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6149777" cy="3024188"/>
            </a:xfrm>
            <a:custGeom>
              <a:avLst/>
              <a:gdLst/>
              <a:ahLst/>
              <a:cxnLst/>
              <a:rect l="l" t="t" r="r" b="b"/>
              <a:pathLst>
                <a:path w="6149777" h="3024188">
                  <a:moveTo>
                    <a:pt x="0" y="0"/>
                  </a:moveTo>
                  <a:lnTo>
                    <a:pt x="6149777" y="0"/>
                  </a:lnTo>
                  <a:lnTo>
                    <a:pt x="6149777" y="3024188"/>
                  </a:lnTo>
                  <a:lnTo>
                    <a:pt x="0" y="302418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133350"/>
              <a:ext cx="6149777" cy="315753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383838"/>
                  </a:solidFill>
                  <a:latin typeface="Consolas"/>
                  <a:ea typeface="Consolas"/>
                  <a:cs typeface="Consolas"/>
                  <a:sym typeface="Consolas"/>
                </a:rPr>
                <a:t>- name: Install nginx</a:t>
              </a:r>
            </a:p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383838"/>
                  </a:solidFill>
                  <a:latin typeface="Consolas"/>
                  <a:ea typeface="Consolas"/>
                  <a:cs typeface="Consolas"/>
                  <a:sym typeface="Consolas"/>
                </a:rPr>
                <a:t>  apt:</a:t>
              </a:r>
            </a:p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383838"/>
                  </a:solidFill>
                  <a:latin typeface="Consolas"/>
                  <a:ea typeface="Consolas"/>
                  <a:cs typeface="Consolas"/>
                  <a:sym typeface="Consolas"/>
                </a:rPr>
                <a:t>    name: nginx</a:t>
              </a:r>
            </a:p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383838"/>
                  </a:solidFill>
                  <a:latin typeface="Consolas"/>
                  <a:ea typeface="Consolas"/>
                  <a:cs typeface="Consolas"/>
                  <a:sym typeface="Consolas"/>
                </a:rPr>
                <a:t>    state: present</a:t>
              </a:r>
            </a:p>
            <a:p>
              <a:pPr algn="l">
                <a:lnSpc>
                  <a:spcPts val="3562"/>
                </a:lnSpc>
              </a:pPr>
              <a:endParaRPr lang="en-US" sz="2187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sp>
        <p:nvSpPr>
          <p:cNvPr id="33" name="Freeform 33" descr="preencoded.png"/>
          <p:cNvSpPr/>
          <p:nvPr/>
        </p:nvSpPr>
        <p:spPr>
          <a:xfrm>
            <a:off x="12144672" y="2865835"/>
            <a:ext cx="708720" cy="708720"/>
          </a:xfrm>
          <a:custGeom>
            <a:avLst/>
            <a:gdLst/>
            <a:ahLst/>
            <a:cxnLst/>
            <a:rect l="l" t="t" r="r" b="b"/>
            <a:pathLst>
              <a:path w="708720" h="708720">
                <a:moveTo>
                  <a:pt x="0" y="0"/>
                </a:moveTo>
                <a:lnTo>
                  <a:pt x="708721" y="0"/>
                </a:lnTo>
                <a:lnTo>
                  <a:pt x="708721" y="708720"/>
                </a:lnTo>
                <a:lnTo>
                  <a:pt x="0" y="7087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4" name="Group 34"/>
          <p:cNvGrpSpPr/>
          <p:nvPr/>
        </p:nvGrpSpPr>
        <p:grpSpPr>
          <a:xfrm>
            <a:off x="12144672" y="3858071"/>
            <a:ext cx="4465587" cy="558254"/>
            <a:chOff x="0" y="0"/>
            <a:chExt cx="5954117" cy="744338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5954117" cy="744338"/>
            </a:xfrm>
            <a:custGeom>
              <a:avLst/>
              <a:gdLst/>
              <a:ahLst/>
              <a:cxnLst/>
              <a:rect l="l" t="t" r="r" b="b"/>
              <a:pathLst>
                <a:path w="5954117" h="744338">
                  <a:moveTo>
                    <a:pt x="0" y="0"/>
                  </a:moveTo>
                  <a:lnTo>
                    <a:pt x="5954117" y="0"/>
                  </a:lnTo>
                  <a:lnTo>
                    <a:pt x="5954117" y="744338"/>
                  </a:lnTo>
                  <a:lnTo>
                    <a:pt x="0" y="7443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-9525"/>
              <a:ext cx="5954117" cy="75386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4375"/>
                </a:lnSpc>
              </a:pPr>
              <a:r>
                <a:rPr lang="en-US" sz="3500">
                  <a:solidFill>
                    <a:srgbClr val="383838"/>
                  </a:solidFill>
                  <a:latin typeface="PT Serif"/>
                  <a:ea typeface="PT Serif"/>
                  <a:cs typeface="PT Serif"/>
                  <a:sym typeface="PT Serif"/>
                </a:rPr>
                <a:t>Playbooks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2144672" y="4586436"/>
            <a:ext cx="5150941" cy="1133772"/>
            <a:chOff x="0" y="0"/>
            <a:chExt cx="6867922" cy="1511697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6867922" cy="1511697"/>
            </a:xfrm>
            <a:custGeom>
              <a:avLst/>
              <a:gdLst/>
              <a:ahLst/>
              <a:cxnLst/>
              <a:rect l="l" t="t" r="r" b="b"/>
              <a:pathLst>
                <a:path w="6867922" h="1511697">
                  <a:moveTo>
                    <a:pt x="0" y="0"/>
                  </a:moveTo>
                  <a:lnTo>
                    <a:pt x="6867922" y="0"/>
                  </a:lnTo>
                  <a:lnTo>
                    <a:pt x="6867922" y="1511697"/>
                  </a:lnTo>
                  <a:lnTo>
                    <a:pt x="0" y="151169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0" y="-95250"/>
              <a:ext cx="6867922" cy="1606947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329902" lvl="1" indent="-164951" algn="l">
                <a:lnSpc>
                  <a:spcPts val="3562"/>
                </a:lnSpc>
                <a:buFont typeface="Arial"/>
                <a:buChar char="•"/>
              </a:pPr>
              <a:r>
                <a:rPr lang="en-US" sz="2187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YAML files defining complete automation tasks.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12144672" y="5819329"/>
            <a:ext cx="5150941" cy="1700659"/>
            <a:chOff x="0" y="0"/>
            <a:chExt cx="6867922" cy="2267545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6867922" cy="2267545"/>
            </a:xfrm>
            <a:custGeom>
              <a:avLst/>
              <a:gdLst/>
              <a:ahLst/>
              <a:cxnLst/>
              <a:rect l="l" t="t" r="r" b="b"/>
              <a:pathLst>
                <a:path w="6867922" h="2267545">
                  <a:moveTo>
                    <a:pt x="0" y="0"/>
                  </a:moveTo>
                  <a:lnTo>
                    <a:pt x="6867922" y="0"/>
                  </a:lnTo>
                  <a:lnTo>
                    <a:pt x="6867922" y="2267545"/>
                  </a:lnTo>
                  <a:lnTo>
                    <a:pt x="0" y="226754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0" y="-95250"/>
              <a:ext cx="6867922" cy="236279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329902" lvl="1" indent="-164951" algn="l">
                <a:lnSpc>
                  <a:spcPts val="3562"/>
                </a:lnSpc>
                <a:buFont typeface="Arial"/>
                <a:buChar char="•"/>
              </a:pPr>
              <a:r>
                <a:rPr lang="en-US" sz="2187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Elements: name, hosts, become: true/false, tasks, apt &amp; service.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AFA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10369" y="510927"/>
            <a:ext cx="4862810" cy="735211"/>
            <a:chOff x="0" y="0"/>
            <a:chExt cx="6483747" cy="98028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483747" cy="980281"/>
            </a:xfrm>
            <a:custGeom>
              <a:avLst/>
              <a:gdLst/>
              <a:ahLst/>
              <a:cxnLst/>
              <a:rect l="l" t="t" r="r" b="b"/>
              <a:pathLst>
                <a:path w="6483747" h="980281">
                  <a:moveTo>
                    <a:pt x="0" y="0"/>
                  </a:moveTo>
                  <a:lnTo>
                    <a:pt x="6483747" y="0"/>
                  </a:lnTo>
                  <a:lnTo>
                    <a:pt x="6483747" y="980281"/>
                  </a:lnTo>
                  <a:lnTo>
                    <a:pt x="0" y="98028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6483747" cy="999331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4750"/>
                </a:lnSpc>
              </a:pPr>
              <a:r>
                <a:rPr lang="en-US" sz="3812">
                  <a:solidFill>
                    <a:srgbClr val="020202"/>
                  </a:solidFill>
                  <a:latin typeface="PT Serif"/>
                  <a:ea typeface="PT Serif"/>
                  <a:cs typeface="PT Serif"/>
                  <a:sym typeface="PT Serif"/>
                </a:rPr>
                <a:t>Challenging Activity: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810369" y="1709142"/>
            <a:ext cx="16667261" cy="463154"/>
            <a:chOff x="0" y="0"/>
            <a:chExt cx="22223015" cy="61753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2223016" cy="617538"/>
            </a:xfrm>
            <a:custGeom>
              <a:avLst/>
              <a:gdLst/>
              <a:ahLst/>
              <a:cxnLst/>
              <a:rect l="l" t="t" r="r" b="b"/>
              <a:pathLst>
                <a:path w="22223016" h="617538">
                  <a:moveTo>
                    <a:pt x="0" y="0"/>
                  </a:moveTo>
                  <a:lnTo>
                    <a:pt x="22223016" y="0"/>
                  </a:lnTo>
                  <a:lnTo>
                    <a:pt x="22223016" y="617538"/>
                  </a:lnTo>
                  <a:lnTo>
                    <a:pt x="0" y="6175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95250"/>
              <a:ext cx="22223015" cy="71278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624"/>
                </a:lnSpc>
              </a:pPr>
              <a:r>
                <a:rPr lang="en-US" sz="2249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Let's analyze the YAML Snippets to better understand the file components of Ansible.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810369" y="2519511"/>
            <a:ext cx="3647034" cy="455860"/>
            <a:chOff x="0" y="0"/>
            <a:chExt cx="4862712" cy="607813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4862712" cy="607813"/>
            </a:xfrm>
            <a:custGeom>
              <a:avLst/>
              <a:gdLst/>
              <a:ahLst/>
              <a:cxnLst/>
              <a:rect l="l" t="t" r="r" b="b"/>
              <a:pathLst>
                <a:path w="4862712" h="607813">
                  <a:moveTo>
                    <a:pt x="0" y="0"/>
                  </a:moveTo>
                  <a:lnTo>
                    <a:pt x="4862712" y="0"/>
                  </a:lnTo>
                  <a:lnTo>
                    <a:pt x="4862712" y="607813"/>
                  </a:lnTo>
                  <a:lnTo>
                    <a:pt x="0" y="6078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9525"/>
              <a:ext cx="4862712" cy="61733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562"/>
                </a:lnSpc>
              </a:pPr>
              <a:r>
                <a:rPr lang="en-US" sz="2812">
                  <a:solidFill>
                    <a:srgbClr val="020202"/>
                  </a:solidFill>
                  <a:latin typeface="PT Serif"/>
                  <a:ea typeface="PT Serif"/>
                  <a:cs typeface="PT Serif"/>
                  <a:sym typeface="PT Serif"/>
                </a:rPr>
                <a:t>Instructions: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810369" y="3322588"/>
            <a:ext cx="16667261" cy="463154"/>
            <a:chOff x="0" y="0"/>
            <a:chExt cx="22223015" cy="617538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2223016" cy="617538"/>
            </a:xfrm>
            <a:custGeom>
              <a:avLst/>
              <a:gdLst/>
              <a:ahLst/>
              <a:cxnLst/>
              <a:rect l="l" t="t" r="r" b="b"/>
              <a:pathLst>
                <a:path w="22223016" h="617538">
                  <a:moveTo>
                    <a:pt x="0" y="0"/>
                  </a:moveTo>
                  <a:lnTo>
                    <a:pt x="22223016" y="0"/>
                  </a:lnTo>
                  <a:lnTo>
                    <a:pt x="22223016" y="617538"/>
                  </a:lnTo>
                  <a:lnTo>
                    <a:pt x="0" y="6175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95250"/>
              <a:ext cx="22223015" cy="71278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624"/>
                </a:lnSpc>
              </a:pPr>
              <a:r>
                <a:rPr lang="en-US" sz="2249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For each snippet, answer: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070819" y="4046190"/>
            <a:ext cx="28575" cy="5602338"/>
            <a:chOff x="0" y="0"/>
            <a:chExt cx="38100" cy="7469783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38100" cy="7469759"/>
            </a:xfrm>
            <a:custGeom>
              <a:avLst/>
              <a:gdLst/>
              <a:ahLst/>
              <a:cxnLst/>
              <a:rect l="l" t="t" r="r" b="b"/>
              <a:pathLst>
                <a:path w="38100" h="7469759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lnTo>
                    <a:pt x="38100" y="7450709"/>
                  </a:lnTo>
                  <a:cubicBezTo>
                    <a:pt x="38100" y="7461250"/>
                    <a:pt x="29591" y="7469759"/>
                    <a:pt x="19050" y="7469759"/>
                  </a:cubicBezTo>
                  <a:cubicBezTo>
                    <a:pt x="8509" y="7469759"/>
                    <a:pt x="0" y="7461250"/>
                    <a:pt x="0" y="7450709"/>
                  </a:cubicBezTo>
                  <a:close/>
                </a:path>
              </a:pathLst>
            </a:custGeom>
            <a:solidFill>
              <a:srgbClr val="D8D4D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302692" y="4552801"/>
            <a:ext cx="694581" cy="28575"/>
            <a:chOff x="0" y="0"/>
            <a:chExt cx="926108" cy="381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926084" cy="38100"/>
            </a:xfrm>
            <a:custGeom>
              <a:avLst/>
              <a:gdLst/>
              <a:ahLst/>
              <a:cxnLst/>
              <a:rect l="l" t="t" r="r" b="b"/>
              <a:pathLst>
                <a:path w="926084" h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907034" y="0"/>
                  </a:lnTo>
                  <a:cubicBezTo>
                    <a:pt x="917575" y="0"/>
                    <a:pt x="926084" y="8509"/>
                    <a:pt x="926084" y="19050"/>
                  </a:cubicBezTo>
                  <a:cubicBezTo>
                    <a:pt x="926084" y="29591"/>
                    <a:pt x="917575" y="38100"/>
                    <a:pt x="907034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D8D4D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810369" y="4306640"/>
            <a:ext cx="520899" cy="520899"/>
            <a:chOff x="0" y="0"/>
            <a:chExt cx="694532" cy="694532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694563" cy="694563"/>
            </a:xfrm>
            <a:custGeom>
              <a:avLst/>
              <a:gdLst/>
              <a:ahLst/>
              <a:cxnLst/>
              <a:rect l="l" t="t" r="r" b="b"/>
              <a:pathLst>
                <a:path w="694563" h="694563">
                  <a:moveTo>
                    <a:pt x="0" y="46355"/>
                  </a:moveTo>
                  <a:cubicBezTo>
                    <a:pt x="0" y="20701"/>
                    <a:pt x="20701" y="0"/>
                    <a:pt x="46355" y="0"/>
                  </a:cubicBezTo>
                  <a:lnTo>
                    <a:pt x="648208" y="0"/>
                  </a:lnTo>
                  <a:cubicBezTo>
                    <a:pt x="673735" y="0"/>
                    <a:pt x="694563" y="20701"/>
                    <a:pt x="694563" y="46355"/>
                  </a:cubicBezTo>
                  <a:lnTo>
                    <a:pt x="694563" y="648208"/>
                  </a:lnTo>
                  <a:cubicBezTo>
                    <a:pt x="694563" y="673735"/>
                    <a:pt x="673862" y="694563"/>
                    <a:pt x="648208" y="694563"/>
                  </a:cubicBezTo>
                  <a:lnTo>
                    <a:pt x="46355" y="694563"/>
                  </a:lnTo>
                  <a:cubicBezTo>
                    <a:pt x="20701" y="694563"/>
                    <a:pt x="0" y="673735"/>
                    <a:pt x="0" y="648208"/>
                  </a:cubicBezTo>
                  <a:close/>
                </a:path>
              </a:pathLst>
            </a:custGeom>
            <a:solidFill>
              <a:srgbClr val="F2EEE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888504" y="4339159"/>
            <a:ext cx="364629" cy="455860"/>
            <a:chOff x="0" y="0"/>
            <a:chExt cx="486172" cy="607813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486172" cy="607813"/>
            </a:xfrm>
            <a:custGeom>
              <a:avLst/>
              <a:gdLst/>
              <a:ahLst/>
              <a:cxnLst/>
              <a:rect l="l" t="t" r="r" b="b"/>
              <a:pathLst>
                <a:path w="486172" h="607813">
                  <a:moveTo>
                    <a:pt x="0" y="0"/>
                  </a:moveTo>
                  <a:lnTo>
                    <a:pt x="486172" y="0"/>
                  </a:lnTo>
                  <a:lnTo>
                    <a:pt x="486172" y="607813"/>
                  </a:lnTo>
                  <a:lnTo>
                    <a:pt x="0" y="6078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57150"/>
              <a:ext cx="486172" cy="55066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2812"/>
                </a:lnSpc>
              </a:pPr>
              <a:r>
                <a:rPr lang="en-US" sz="2812">
                  <a:solidFill>
                    <a:srgbClr val="383838"/>
                  </a:solidFill>
                  <a:latin typeface="PT Serif"/>
                  <a:ea typeface="PT Serif"/>
                  <a:cs typeface="PT Serif"/>
                  <a:sym typeface="PT Serif"/>
                </a:rPr>
                <a:t>1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2228701" y="4277617"/>
            <a:ext cx="15248930" cy="463154"/>
            <a:chOff x="0" y="0"/>
            <a:chExt cx="20331907" cy="617538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20331906" cy="617538"/>
            </a:xfrm>
            <a:custGeom>
              <a:avLst/>
              <a:gdLst/>
              <a:ahLst/>
              <a:cxnLst/>
              <a:rect l="l" t="t" r="r" b="b"/>
              <a:pathLst>
                <a:path w="20331906" h="617538">
                  <a:moveTo>
                    <a:pt x="0" y="0"/>
                  </a:moveTo>
                  <a:lnTo>
                    <a:pt x="20331906" y="0"/>
                  </a:lnTo>
                  <a:lnTo>
                    <a:pt x="20331906" y="617538"/>
                  </a:lnTo>
                  <a:lnTo>
                    <a:pt x="0" y="6175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95250"/>
              <a:ext cx="20331907" cy="71278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624"/>
                </a:lnSpc>
              </a:pPr>
              <a:r>
                <a:rPr lang="en-US" sz="2249" b="1">
                  <a:solidFill>
                    <a:srgbClr val="383838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Which module is used?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302692" y="5710237"/>
            <a:ext cx="694581" cy="28575"/>
            <a:chOff x="0" y="0"/>
            <a:chExt cx="926108" cy="381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926084" cy="38100"/>
            </a:xfrm>
            <a:custGeom>
              <a:avLst/>
              <a:gdLst/>
              <a:ahLst/>
              <a:cxnLst/>
              <a:rect l="l" t="t" r="r" b="b"/>
              <a:pathLst>
                <a:path w="926084" h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907034" y="0"/>
                  </a:lnTo>
                  <a:cubicBezTo>
                    <a:pt x="917575" y="0"/>
                    <a:pt x="926084" y="8509"/>
                    <a:pt x="926084" y="19050"/>
                  </a:cubicBezTo>
                  <a:cubicBezTo>
                    <a:pt x="926084" y="29591"/>
                    <a:pt x="917575" y="38100"/>
                    <a:pt x="907034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D8D4D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810369" y="5464076"/>
            <a:ext cx="520899" cy="520899"/>
            <a:chOff x="0" y="0"/>
            <a:chExt cx="694532" cy="694532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694563" cy="694563"/>
            </a:xfrm>
            <a:custGeom>
              <a:avLst/>
              <a:gdLst/>
              <a:ahLst/>
              <a:cxnLst/>
              <a:rect l="l" t="t" r="r" b="b"/>
              <a:pathLst>
                <a:path w="694563" h="694563">
                  <a:moveTo>
                    <a:pt x="0" y="46355"/>
                  </a:moveTo>
                  <a:cubicBezTo>
                    <a:pt x="0" y="20701"/>
                    <a:pt x="20701" y="0"/>
                    <a:pt x="46355" y="0"/>
                  </a:cubicBezTo>
                  <a:lnTo>
                    <a:pt x="648208" y="0"/>
                  </a:lnTo>
                  <a:cubicBezTo>
                    <a:pt x="673735" y="0"/>
                    <a:pt x="694563" y="20701"/>
                    <a:pt x="694563" y="46355"/>
                  </a:cubicBezTo>
                  <a:lnTo>
                    <a:pt x="694563" y="648208"/>
                  </a:lnTo>
                  <a:cubicBezTo>
                    <a:pt x="694563" y="673735"/>
                    <a:pt x="673862" y="694563"/>
                    <a:pt x="648208" y="694563"/>
                  </a:cubicBezTo>
                  <a:lnTo>
                    <a:pt x="46355" y="694563"/>
                  </a:lnTo>
                  <a:cubicBezTo>
                    <a:pt x="20701" y="694563"/>
                    <a:pt x="0" y="673735"/>
                    <a:pt x="0" y="648208"/>
                  </a:cubicBezTo>
                  <a:close/>
                </a:path>
              </a:pathLst>
            </a:custGeom>
            <a:solidFill>
              <a:srgbClr val="F2EEE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888504" y="5496595"/>
            <a:ext cx="364629" cy="455860"/>
            <a:chOff x="0" y="0"/>
            <a:chExt cx="486172" cy="607813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486172" cy="607813"/>
            </a:xfrm>
            <a:custGeom>
              <a:avLst/>
              <a:gdLst/>
              <a:ahLst/>
              <a:cxnLst/>
              <a:rect l="l" t="t" r="r" b="b"/>
              <a:pathLst>
                <a:path w="486172" h="607813">
                  <a:moveTo>
                    <a:pt x="0" y="0"/>
                  </a:moveTo>
                  <a:lnTo>
                    <a:pt x="486172" y="0"/>
                  </a:lnTo>
                  <a:lnTo>
                    <a:pt x="486172" y="607813"/>
                  </a:lnTo>
                  <a:lnTo>
                    <a:pt x="0" y="6078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57150"/>
              <a:ext cx="486172" cy="55066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2812"/>
                </a:lnSpc>
              </a:pPr>
              <a:r>
                <a:rPr lang="en-US" sz="2812">
                  <a:solidFill>
                    <a:srgbClr val="383838"/>
                  </a:solidFill>
                  <a:latin typeface="PT Serif"/>
                  <a:ea typeface="PT Serif"/>
                  <a:cs typeface="PT Serif"/>
                  <a:sym typeface="PT Serif"/>
                </a:rPr>
                <a:t>2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2228701" y="5435054"/>
            <a:ext cx="15248930" cy="463154"/>
            <a:chOff x="0" y="0"/>
            <a:chExt cx="20331907" cy="617538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20331906" cy="617538"/>
            </a:xfrm>
            <a:custGeom>
              <a:avLst/>
              <a:gdLst/>
              <a:ahLst/>
              <a:cxnLst/>
              <a:rect l="l" t="t" r="r" b="b"/>
              <a:pathLst>
                <a:path w="20331906" h="617538">
                  <a:moveTo>
                    <a:pt x="0" y="0"/>
                  </a:moveTo>
                  <a:lnTo>
                    <a:pt x="20331906" y="0"/>
                  </a:lnTo>
                  <a:lnTo>
                    <a:pt x="20331906" y="617538"/>
                  </a:lnTo>
                  <a:lnTo>
                    <a:pt x="0" y="6175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0" y="-95250"/>
              <a:ext cx="20331907" cy="71278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624"/>
                </a:lnSpc>
              </a:pPr>
              <a:r>
                <a:rPr lang="en-US" sz="2249" b="1">
                  <a:solidFill>
                    <a:srgbClr val="383838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What is the task doing?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1302692" y="6867674"/>
            <a:ext cx="694581" cy="28575"/>
            <a:chOff x="0" y="0"/>
            <a:chExt cx="926108" cy="3810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926084" cy="38100"/>
            </a:xfrm>
            <a:custGeom>
              <a:avLst/>
              <a:gdLst/>
              <a:ahLst/>
              <a:cxnLst/>
              <a:rect l="l" t="t" r="r" b="b"/>
              <a:pathLst>
                <a:path w="926084" h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907034" y="0"/>
                  </a:lnTo>
                  <a:cubicBezTo>
                    <a:pt x="917575" y="0"/>
                    <a:pt x="926084" y="8509"/>
                    <a:pt x="926084" y="19050"/>
                  </a:cubicBezTo>
                  <a:cubicBezTo>
                    <a:pt x="926084" y="29591"/>
                    <a:pt x="917575" y="38100"/>
                    <a:pt x="907034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D8D4D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810369" y="6621512"/>
            <a:ext cx="520899" cy="520899"/>
            <a:chOff x="0" y="0"/>
            <a:chExt cx="694532" cy="694532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694563" cy="694563"/>
            </a:xfrm>
            <a:custGeom>
              <a:avLst/>
              <a:gdLst/>
              <a:ahLst/>
              <a:cxnLst/>
              <a:rect l="l" t="t" r="r" b="b"/>
              <a:pathLst>
                <a:path w="694563" h="694563">
                  <a:moveTo>
                    <a:pt x="0" y="46355"/>
                  </a:moveTo>
                  <a:cubicBezTo>
                    <a:pt x="0" y="20701"/>
                    <a:pt x="20701" y="0"/>
                    <a:pt x="46355" y="0"/>
                  </a:cubicBezTo>
                  <a:lnTo>
                    <a:pt x="648208" y="0"/>
                  </a:lnTo>
                  <a:cubicBezTo>
                    <a:pt x="673735" y="0"/>
                    <a:pt x="694563" y="20701"/>
                    <a:pt x="694563" y="46355"/>
                  </a:cubicBezTo>
                  <a:lnTo>
                    <a:pt x="694563" y="648208"/>
                  </a:lnTo>
                  <a:cubicBezTo>
                    <a:pt x="694563" y="673735"/>
                    <a:pt x="673862" y="694563"/>
                    <a:pt x="648208" y="694563"/>
                  </a:cubicBezTo>
                  <a:lnTo>
                    <a:pt x="46355" y="694563"/>
                  </a:lnTo>
                  <a:cubicBezTo>
                    <a:pt x="20701" y="694563"/>
                    <a:pt x="0" y="673735"/>
                    <a:pt x="0" y="648208"/>
                  </a:cubicBezTo>
                  <a:close/>
                </a:path>
              </a:pathLst>
            </a:custGeom>
            <a:solidFill>
              <a:srgbClr val="F2EEE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888504" y="6654031"/>
            <a:ext cx="364629" cy="455860"/>
            <a:chOff x="0" y="0"/>
            <a:chExt cx="486172" cy="607813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486172" cy="607813"/>
            </a:xfrm>
            <a:custGeom>
              <a:avLst/>
              <a:gdLst/>
              <a:ahLst/>
              <a:cxnLst/>
              <a:rect l="l" t="t" r="r" b="b"/>
              <a:pathLst>
                <a:path w="486172" h="607813">
                  <a:moveTo>
                    <a:pt x="0" y="0"/>
                  </a:moveTo>
                  <a:lnTo>
                    <a:pt x="486172" y="0"/>
                  </a:lnTo>
                  <a:lnTo>
                    <a:pt x="486172" y="607813"/>
                  </a:lnTo>
                  <a:lnTo>
                    <a:pt x="0" y="6078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0" y="57150"/>
              <a:ext cx="486172" cy="55066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2812"/>
                </a:lnSpc>
              </a:pPr>
              <a:r>
                <a:rPr lang="en-US" sz="2812">
                  <a:solidFill>
                    <a:srgbClr val="383838"/>
                  </a:solidFill>
                  <a:latin typeface="PT Serif"/>
                  <a:ea typeface="PT Serif"/>
                  <a:cs typeface="PT Serif"/>
                  <a:sym typeface="PT Serif"/>
                </a:rPr>
                <a:t>3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2228701" y="6592491"/>
            <a:ext cx="15248930" cy="463154"/>
            <a:chOff x="0" y="0"/>
            <a:chExt cx="20331907" cy="617538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20331906" cy="617538"/>
            </a:xfrm>
            <a:custGeom>
              <a:avLst/>
              <a:gdLst/>
              <a:ahLst/>
              <a:cxnLst/>
              <a:rect l="l" t="t" r="r" b="b"/>
              <a:pathLst>
                <a:path w="20331906" h="617538">
                  <a:moveTo>
                    <a:pt x="0" y="0"/>
                  </a:moveTo>
                  <a:lnTo>
                    <a:pt x="20331906" y="0"/>
                  </a:lnTo>
                  <a:lnTo>
                    <a:pt x="20331906" y="617538"/>
                  </a:lnTo>
                  <a:lnTo>
                    <a:pt x="0" y="6175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0" y="-95250"/>
              <a:ext cx="20331907" cy="71278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624"/>
                </a:lnSpc>
              </a:pPr>
              <a:r>
                <a:rPr lang="en-US" sz="2249" b="1">
                  <a:solidFill>
                    <a:srgbClr val="383838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Can it be part of a playbook?</a:t>
              </a:r>
              <a:r>
                <a:rPr lang="en-US" sz="2249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 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2228701" y="7194500"/>
            <a:ext cx="15248930" cy="463154"/>
            <a:chOff x="0" y="0"/>
            <a:chExt cx="20331907" cy="617538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20331906" cy="617538"/>
            </a:xfrm>
            <a:custGeom>
              <a:avLst/>
              <a:gdLst/>
              <a:ahLst/>
              <a:cxnLst/>
              <a:rect l="l" t="t" r="r" b="b"/>
              <a:pathLst>
                <a:path w="20331906" h="617538">
                  <a:moveTo>
                    <a:pt x="0" y="0"/>
                  </a:moveTo>
                  <a:lnTo>
                    <a:pt x="20331906" y="0"/>
                  </a:lnTo>
                  <a:lnTo>
                    <a:pt x="20331906" y="617538"/>
                  </a:lnTo>
                  <a:lnTo>
                    <a:pt x="0" y="6175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0" y="-95250"/>
              <a:ext cx="20331907" cy="71278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624"/>
                </a:lnSpc>
              </a:pPr>
              <a:r>
                <a:rPr lang="en-US" sz="2249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(check for valid syntax/structure)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1302692" y="8627120"/>
            <a:ext cx="694581" cy="28575"/>
            <a:chOff x="0" y="0"/>
            <a:chExt cx="926108" cy="38100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926084" cy="38100"/>
            </a:xfrm>
            <a:custGeom>
              <a:avLst/>
              <a:gdLst/>
              <a:ahLst/>
              <a:cxnLst/>
              <a:rect l="l" t="t" r="r" b="b"/>
              <a:pathLst>
                <a:path w="926084" h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907034" y="0"/>
                  </a:lnTo>
                  <a:cubicBezTo>
                    <a:pt x="917575" y="0"/>
                    <a:pt x="926084" y="8509"/>
                    <a:pt x="926084" y="19050"/>
                  </a:cubicBezTo>
                  <a:cubicBezTo>
                    <a:pt x="926084" y="29591"/>
                    <a:pt x="917575" y="38100"/>
                    <a:pt x="907034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D8D4D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810369" y="8380959"/>
            <a:ext cx="520899" cy="520899"/>
            <a:chOff x="0" y="0"/>
            <a:chExt cx="694532" cy="694532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694563" cy="694563"/>
            </a:xfrm>
            <a:custGeom>
              <a:avLst/>
              <a:gdLst/>
              <a:ahLst/>
              <a:cxnLst/>
              <a:rect l="l" t="t" r="r" b="b"/>
              <a:pathLst>
                <a:path w="694563" h="694563">
                  <a:moveTo>
                    <a:pt x="0" y="46355"/>
                  </a:moveTo>
                  <a:cubicBezTo>
                    <a:pt x="0" y="20701"/>
                    <a:pt x="20701" y="0"/>
                    <a:pt x="46355" y="0"/>
                  </a:cubicBezTo>
                  <a:lnTo>
                    <a:pt x="648208" y="0"/>
                  </a:lnTo>
                  <a:cubicBezTo>
                    <a:pt x="673735" y="0"/>
                    <a:pt x="694563" y="20701"/>
                    <a:pt x="694563" y="46355"/>
                  </a:cubicBezTo>
                  <a:lnTo>
                    <a:pt x="694563" y="648208"/>
                  </a:lnTo>
                  <a:cubicBezTo>
                    <a:pt x="694563" y="673735"/>
                    <a:pt x="673862" y="694563"/>
                    <a:pt x="648208" y="694563"/>
                  </a:cubicBezTo>
                  <a:lnTo>
                    <a:pt x="46355" y="694563"/>
                  </a:lnTo>
                  <a:cubicBezTo>
                    <a:pt x="20701" y="694563"/>
                    <a:pt x="0" y="673735"/>
                    <a:pt x="0" y="648208"/>
                  </a:cubicBezTo>
                  <a:close/>
                </a:path>
              </a:pathLst>
            </a:custGeom>
            <a:solidFill>
              <a:srgbClr val="F2EEE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888504" y="8413478"/>
            <a:ext cx="364629" cy="455860"/>
            <a:chOff x="0" y="0"/>
            <a:chExt cx="486172" cy="607813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486172" cy="607813"/>
            </a:xfrm>
            <a:custGeom>
              <a:avLst/>
              <a:gdLst/>
              <a:ahLst/>
              <a:cxnLst/>
              <a:rect l="l" t="t" r="r" b="b"/>
              <a:pathLst>
                <a:path w="486172" h="607813">
                  <a:moveTo>
                    <a:pt x="0" y="0"/>
                  </a:moveTo>
                  <a:lnTo>
                    <a:pt x="486172" y="0"/>
                  </a:lnTo>
                  <a:lnTo>
                    <a:pt x="486172" y="607813"/>
                  </a:lnTo>
                  <a:lnTo>
                    <a:pt x="0" y="6078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0" y="57150"/>
              <a:ext cx="486172" cy="55066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2812"/>
                </a:lnSpc>
              </a:pPr>
              <a:r>
                <a:rPr lang="en-US" sz="2812">
                  <a:solidFill>
                    <a:srgbClr val="383838"/>
                  </a:solidFill>
                  <a:latin typeface="PT Serif"/>
                  <a:ea typeface="PT Serif"/>
                  <a:cs typeface="PT Serif"/>
                  <a:sym typeface="PT Serif"/>
                </a:rPr>
                <a:t>4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2228701" y="8351936"/>
            <a:ext cx="15248930" cy="463154"/>
            <a:chOff x="0" y="0"/>
            <a:chExt cx="20331907" cy="617538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20331906" cy="617538"/>
            </a:xfrm>
            <a:custGeom>
              <a:avLst/>
              <a:gdLst/>
              <a:ahLst/>
              <a:cxnLst/>
              <a:rect l="l" t="t" r="r" b="b"/>
              <a:pathLst>
                <a:path w="20331906" h="617538">
                  <a:moveTo>
                    <a:pt x="0" y="0"/>
                  </a:moveTo>
                  <a:lnTo>
                    <a:pt x="20331906" y="0"/>
                  </a:lnTo>
                  <a:lnTo>
                    <a:pt x="20331906" y="617538"/>
                  </a:lnTo>
                  <a:lnTo>
                    <a:pt x="0" y="6175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0" y="-95250"/>
              <a:ext cx="20331907" cy="71278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624"/>
                </a:lnSpc>
              </a:pPr>
              <a:r>
                <a:rPr lang="en-US" sz="2249" b="1">
                  <a:solidFill>
                    <a:srgbClr val="383838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Is it idempotent?</a:t>
              </a:r>
              <a:r>
                <a:rPr lang="en-US" sz="2249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 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2228701" y="8953946"/>
            <a:ext cx="15248930" cy="463154"/>
            <a:chOff x="0" y="0"/>
            <a:chExt cx="20331907" cy="617538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20331906" cy="617538"/>
            </a:xfrm>
            <a:custGeom>
              <a:avLst/>
              <a:gdLst/>
              <a:ahLst/>
              <a:cxnLst/>
              <a:rect l="l" t="t" r="r" b="b"/>
              <a:pathLst>
                <a:path w="20331906" h="617538">
                  <a:moveTo>
                    <a:pt x="0" y="0"/>
                  </a:moveTo>
                  <a:lnTo>
                    <a:pt x="20331906" y="0"/>
                  </a:lnTo>
                  <a:lnTo>
                    <a:pt x="20331906" y="617538"/>
                  </a:lnTo>
                  <a:lnTo>
                    <a:pt x="0" y="6175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0" y="-95250"/>
              <a:ext cx="20331907" cy="71278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624"/>
                </a:lnSpc>
              </a:pPr>
              <a:r>
                <a:rPr lang="en-US" sz="2249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(does it run the same way repeatedly without changing the system unnecessarily?)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AFA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14400" y="542044"/>
            <a:ext cx="6858446" cy="1033600"/>
            <a:chOff x="0" y="0"/>
            <a:chExt cx="9144595" cy="137813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144595" cy="1378133"/>
            </a:xfrm>
            <a:custGeom>
              <a:avLst/>
              <a:gdLst/>
              <a:ahLst/>
              <a:cxnLst/>
              <a:rect l="l" t="t" r="r" b="b"/>
              <a:pathLst>
                <a:path w="9144595" h="1378133">
                  <a:moveTo>
                    <a:pt x="0" y="0"/>
                  </a:moveTo>
                  <a:lnTo>
                    <a:pt x="9144595" y="0"/>
                  </a:lnTo>
                  <a:lnTo>
                    <a:pt x="9144595" y="1378133"/>
                  </a:lnTo>
                  <a:lnTo>
                    <a:pt x="0" y="137813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9144595" cy="140670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6749"/>
                </a:lnSpc>
              </a:pPr>
              <a:r>
                <a:rPr lang="en-US" sz="5374">
                  <a:solidFill>
                    <a:srgbClr val="020202"/>
                  </a:solidFill>
                  <a:latin typeface="PT Serif"/>
                  <a:ea typeface="PT Serif"/>
                  <a:cs typeface="PT Serif"/>
                  <a:sym typeface="PT Serif"/>
                </a:rPr>
                <a:t>Snippet-1 &amp; 2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14400" y="2261444"/>
            <a:ext cx="7910959" cy="1227832"/>
            <a:chOff x="0" y="0"/>
            <a:chExt cx="10547945" cy="163711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0547858" cy="1637030"/>
            </a:xfrm>
            <a:custGeom>
              <a:avLst/>
              <a:gdLst/>
              <a:ahLst/>
              <a:cxnLst/>
              <a:rect l="l" t="t" r="r" b="b"/>
              <a:pathLst>
                <a:path w="10547858" h="1637030">
                  <a:moveTo>
                    <a:pt x="0" y="52197"/>
                  </a:moveTo>
                  <a:cubicBezTo>
                    <a:pt x="0" y="23368"/>
                    <a:pt x="23368" y="0"/>
                    <a:pt x="52197" y="0"/>
                  </a:cubicBezTo>
                  <a:lnTo>
                    <a:pt x="10495661" y="0"/>
                  </a:lnTo>
                  <a:cubicBezTo>
                    <a:pt x="10524490" y="0"/>
                    <a:pt x="10547858" y="23368"/>
                    <a:pt x="10547858" y="52197"/>
                  </a:cubicBezTo>
                  <a:lnTo>
                    <a:pt x="10547858" y="1584833"/>
                  </a:lnTo>
                  <a:cubicBezTo>
                    <a:pt x="10547858" y="1613662"/>
                    <a:pt x="10524490" y="1637030"/>
                    <a:pt x="10495661" y="1637030"/>
                  </a:cubicBezTo>
                  <a:lnTo>
                    <a:pt x="52197" y="1637030"/>
                  </a:lnTo>
                  <a:cubicBezTo>
                    <a:pt x="23368" y="1637030"/>
                    <a:pt x="0" y="1613662"/>
                    <a:pt x="0" y="1584833"/>
                  </a:cubicBezTo>
                  <a:close/>
                </a:path>
              </a:pathLst>
            </a:custGeom>
            <a:solidFill>
              <a:srgbClr val="FFDEC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01452" y="2261444"/>
            <a:ext cx="7936855" cy="1227832"/>
            <a:chOff x="0" y="0"/>
            <a:chExt cx="10582473" cy="163711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582402" cy="1637030"/>
            </a:xfrm>
            <a:custGeom>
              <a:avLst/>
              <a:gdLst/>
              <a:ahLst/>
              <a:cxnLst/>
              <a:rect l="l" t="t" r="r" b="b"/>
              <a:pathLst>
                <a:path w="10582402" h="1637030">
                  <a:moveTo>
                    <a:pt x="0" y="52197"/>
                  </a:moveTo>
                  <a:cubicBezTo>
                    <a:pt x="0" y="23368"/>
                    <a:pt x="23368" y="0"/>
                    <a:pt x="52197" y="0"/>
                  </a:cubicBezTo>
                  <a:lnTo>
                    <a:pt x="10530205" y="0"/>
                  </a:lnTo>
                  <a:cubicBezTo>
                    <a:pt x="10559035" y="0"/>
                    <a:pt x="10582402" y="23368"/>
                    <a:pt x="10582402" y="52197"/>
                  </a:cubicBezTo>
                  <a:lnTo>
                    <a:pt x="10582402" y="1584833"/>
                  </a:lnTo>
                  <a:cubicBezTo>
                    <a:pt x="10582402" y="1613662"/>
                    <a:pt x="10559035" y="1637030"/>
                    <a:pt x="10530205" y="1637030"/>
                  </a:cubicBezTo>
                  <a:lnTo>
                    <a:pt x="52197" y="1637030"/>
                  </a:lnTo>
                  <a:cubicBezTo>
                    <a:pt x="23368" y="1637030"/>
                    <a:pt x="0" y="1613662"/>
                    <a:pt x="0" y="1584833"/>
                  </a:cubicBezTo>
                  <a:close/>
                </a:path>
              </a:pathLst>
            </a:custGeom>
            <a:solidFill>
              <a:srgbClr val="FFDEC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162645" y="2457301"/>
            <a:ext cx="7414469" cy="878515"/>
            <a:chOff x="0" y="0"/>
            <a:chExt cx="9885958" cy="117135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9885959" cy="1171353"/>
            </a:xfrm>
            <a:custGeom>
              <a:avLst/>
              <a:gdLst/>
              <a:ahLst/>
              <a:cxnLst/>
              <a:rect l="l" t="t" r="r" b="b"/>
              <a:pathLst>
                <a:path w="9885959" h="1171353">
                  <a:moveTo>
                    <a:pt x="0" y="0"/>
                  </a:moveTo>
                  <a:lnTo>
                    <a:pt x="9885959" y="0"/>
                  </a:lnTo>
                  <a:lnTo>
                    <a:pt x="9885959" y="1171353"/>
                  </a:lnTo>
                  <a:lnTo>
                    <a:pt x="0" y="117135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133350"/>
              <a:ext cx="9885958" cy="130470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574"/>
                </a:lnSpc>
              </a:pPr>
              <a:r>
                <a:rPr lang="en-US" sz="2199">
                  <a:solidFill>
                    <a:srgbClr val="383838"/>
                  </a:solidFill>
                  <a:latin typeface="Consolas"/>
                  <a:ea typeface="Consolas"/>
                  <a:cs typeface="Consolas"/>
                  <a:sym typeface="Consolas"/>
                </a:rPr>
                <a:t>- name: Upgrade all packages using shell</a:t>
              </a:r>
            </a:p>
            <a:p>
              <a:pPr algn="l">
                <a:lnSpc>
                  <a:spcPts val="3574"/>
                </a:lnSpc>
              </a:pPr>
              <a:r>
                <a:rPr lang="en-US" sz="2199">
                  <a:solidFill>
                    <a:srgbClr val="383838"/>
                  </a:solidFill>
                  <a:latin typeface="Consolas"/>
                  <a:ea typeface="Consolas"/>
                  <a:cs typeface="Consolas"/>
                  <a:sym typeface="Consolas"/>
                </a:rPr>
                <a:t>  shell: apt update &amp;&amp; apt upgrade -y</a:t>
              </a:r>
            </a:p>
          </p:txBody>
        </p:sp>
      </p:grpSp>
      <p:sp>
        <p:nvSpPr>
          <p:cNvPr id="17" name="Freeform 17"/>
          <p:cNvSpPr/>
          <p:nvPr/>
        </p:nvSpPr>
        <p:spPr>
          <a:xfrm>
            <a:off x="914400" y="3783211"/>
            <a:ext cx="7910959" cy="418059"/>
          </a:xfrm>
          <a:custGeom>
            <a:avLst/>
            <a:gdLst/>
            <a:ahLst/>
            <a:cxnLst/>
            <a:rect l="l" t="t" r="r" b="b"/>
            <a:pathLst>
              <a:path w="10547945" h="557412">
                <a:moveTo>
                  <a:pt x="0" y="0"/>
                </a:moveTo>
                <a:lnTo>
                  <a:pt x="10547945" y="0"/>
                </a:lnTo>
                <a:lnTo>
                  <a:pt x="10547945" y="557412"/>
                </a:lnTo>
                <a:lnTo>
                  <a:pt x="0" y="557412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grpSp>
        <p:nvGrpSpPr>
          <p:cNvPr id="19" name="Group 19"/>
          <p:cNvGrpSpPr/>
          <p:nvPr/>
        </p:nvGrpSpPr>
        <p:grpSpPr>
          <a:xfrm>
            <a:off x="914400" y="4436418"/>
            <a:ext cx="7910959" cy="522386"/>
            <a:chOff x="0" y="0"/>
            <a:chExt cx="10547945" cy="696515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0547945" cy="696515"/>
            </a:xfrm>
            <a:custGeom>
              <a:avLst/>
              <a:gdLst/>
              <a:ahLst/>
              <a:cxnLst/>
              <a:rect l="l" t="t" r="r" b="b"/>
              <a:pathLst>
                <a:path w="10547945" h="696515">
                  <a:moveTo>
                    <a:pt x="0" y="0"/>
                  </a:moveTo>
                  <a:lnTo>
                    <a:pt x="10547945" y="0"/>
                  </a:lnTo>
                  <a:lnTo>
                    <a:pt x="10547945" y="696515"/>
                  </a:lnTo>
                  <a:lnTo>
                    <a:pt x="0" y="6965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85725"/>
              <a:ext cx="10547945" cy="78224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301625" lvl="1" indent="-150812" algn="l">
                <a:lnSpc>
                  <a:spcPts val="3250"/>
                </a:lnSpc>
                <a:buFont typeface="Arial"/>
                <a:buChar char="•"/>
              </a:pPr>
              <a:r>
                <a:rPr lang="en-US" sz="2000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Module used ?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14400" y="5050185"/>
            <a:ext cx="7910959" cy="522386"/>
            <a:chOff x="0" y="0"/>
            <a:chExt cx="10547945" cy="696515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0547945" cy="696515"/>
            </a:xfrm>
            <a:custGeom>
              <a:avLst/>
              <a:gdLst/>
              <a:ahLst/>
              <a:cxnLst/>
              <a:rect l="l" t="t" r="r" b="b"/>
              <a:pathLst>
                <a:path w="10547945" h="696515">
                  <a:moveTo>
                    <a:pt x="0" y="0"/>
                  </a:moveTo>
                  <a:lnTo>
                    <a:pt x="10547945" y="0"/>
                  </a:lnTo>
                  <a:lnTo>
                    <a:pt x="10547945" y="696515"/>
                  </a:lnTo>
                  <a:lnTo>
                    <a:pt x="0" y="6965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85725"/>
              <a:ext cx="10547945" cy="78224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301625" lvl="1" indent="-150812" algn="l">
                <a:lnSpc>
                  <a:spcPts val="3250"/>
                </a:lnSpc>
                <a:buFont typeface="Arial"/>
                <a:buChar char="•"/>
              </a:pPr>
              <a:r>
                <a:rPr lang="en-US" sz="2000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Task does ?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14400" y="5663952"/>
            <a:ext cx="7910959" cy="522386"/>
            <a:chOff x="0" y="0"/>
            <a:chExt cx="10547945" cy="696515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0547945" cy="696515"/>
            </a:xfrm>
            <a:custGeom>
              <a:avLst/>
              <a:gdLst/>
              <a:ahLst/>
              <a:cxnLst/>
              <a:rect l="l" t="t" r="r" b="b"/>
              <a:pathLst>
                <a:path w="10547945" h="696515">
                  <a:moveTo>
                    <a:pt x="0" y="0"/>
                  </a:moveTo>
                  <a:lnTo>
                    <a:pt x="10547945" y="0"/>
                  </a:lnTo>
                  <a:lnTo>
                    <a:pt x="10547945" y="696515"/>
                  </a:lnTo>
                  <a:lnTo>
                    <a:pt x="0" y="6965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85725"/>
              <a:ext cx="10547945" cy="78224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301625" lvl="1" indent="-150812" algn="l">
                <a:lnSpc>
                  <a:spcPts val="3250"/>
                </a:lnSpc>
                <a:buFont typeface="Arial"/>
                <a:buChar char="•"/>
              </a:pPr>
              <a:r>
                <a:rPr lang="en-US" sz="2000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Can be part of playbook ? 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14400" y="6277719"/>
            <a:ext cx="7910959" cy="522386"/>
            <a:chOff x="0" y="0"/>
            <a:chExt cx="10547945" cy="696515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0547945" cy="696515"/>
            </a:xfrm>
            <a:custGeom>
              <a:avLst/>
              <a:gdLst/>
              <a:ahLst/>
              <a:cxnLst/>
              <a:rect l="l" t="t" r="r" b="b"/>
              <a:pathLst>
                <a:path w="10547945" h="696515">
                  <a:moveTo>
                    <a:pt x="0" y="0"/>
                  </a:moveTo>
                  <a:lnTo>
                    <a:pt x="10547945" y="0"/>
                  </a:lnTo>
                  <a:lnTo>
                    <a:pt x="10547945" y="696515"/>
                  </a:lnTo>
                  <a:lnTo>
                    <a:pt x="0" y="6965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85725"/>
              <a:ext cx="10547945" cy="78224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301625" lvl="1" indent="-150812" algn="l">
                <a:lnSpc>
                  <a:spcPts val="3250"/>
                </a:lnSpc>
                <a:buFont typeface="Arial"/>
                <a:buChar char="•"/>
              </a:pPr>
              <a:r>
                <a:rPr lang="en-US" sz="2000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Is it idempotent ? 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472166" y="2261444"/>
            <a:ext cx="7910959" cy="2482006"/>
            <a:chOff x="0" y="0"/>
            <a:chExt cx="10547945" cy="3309342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0547858" cy="3309239"/>
            </a:xfrm>
            <a:custGeom>
              <a:avLst/>
              <a:gdLst/>
              <a:ahLst/>
              <a:cxnLst/>
              <a:rect l="l" t="t" r="r" b="b"/>
              <a:pathLst>
                <a:path w="10547858" h="3309239">
                  <a:moveTo>
                    <a:pt x="0" y="52197"/>
                  </a:moveTo>
                  <a:cubicBezTo>
                    <a:pt x="0" y="23368"/>
                    <a:pt x="23368" y="0"/>
                    <a:pt x="52197" y="0"/>
                  </a:cubicBezTo>
                  <a:lnTo>
                    <a:pt x="10495661" y="0"/>
                  </a:lnTo>
                  <a:cubicBezTo>
                    <a:pt x="10524490" y="0"/>
                    <a:pt x="10547858" y="23368"/>
                    <a:pt x="10547858" y="52197"/>
                  </a:cubicBezTo>
                  <a:lnTo>
                    <a:pt x="10547858" y="3257042"/>
                  </a:lnTo>
                  <a:cubicBezTo>
                    <a:pt x="10547858" y="3285871"/>
                    <a:pt x="10524490" y="3309239"/>
                    <a:pt x="10495661" y="3309239"/>
                  </a:cubicBezTo>
                  <a:lnTo>
                    <a:pt x="52197" y="3309239"/>
                  </a:lnTo>
                  <a:cubicBezTo>
                    <a:pt x="23368" y="3309239"/>
                    <a:pt x="0" y="3285871"/>
                    <a:pt x="0" y="3257042"/>
                  </a:cubicBezTo>
                  <a:close/>
                </a:path>
              </a:pathLst>
            </a:custGeom>
            <a:solidFill>
              <a:srgbClr val="FFDEC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9459217" y="2261444"/>
            <a:ext cx="7936855" cy="2482006"/>
            <a:chOff x="0" y="0"/>
            <a:chExt cx="10582473" cy="3309342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0582402" cy="3309239"/>
            </a:xfrm>
            <a:custGeom>
              <a:avLst/>
              <a:gdLst/>
              <a:ahLst/>
              <a:cxnLst/>
              <a:rect l="l" t="t" r="r" b="b"/>
              <a:pathLst>
                <a:path w="10582402" h="3309239">
                  <a:moveTo>
                    <a:pt x="0" y="52197"/>
                  </a:moveTo>
                  <a:cubicBezTo>
                    <a:pt x="0" y="23368"/>
                    <a:pt x="23368" y="0"/>
                    <a:pt x="52197" y="0"/>
                  </a:cubicBezTo>
                  <a:lnTo>
                    <a:pt x="10530205" y="0"/>
                  </a:lnTo>
                  <a:cubicBezTo>
                    <a:pt x="10559035" y="0"/>
                    <a:pt x="10582402" y="23368"/>
                    <a:pt x="10582402" y="52197"/>
                  </a:cubicBezTo>
                  <a:lnTo>
                    <a:pt x="10582402" y="3257042"/>
                  </a:lnTo>
                  <a:cubicBezTo>
                    <a:pt x="10582402" y="3285871"/>
                    <a:pt x="10559035" y="3309239"/>
                    <a:pt x="10530205" y="3309239"/>
                  </a:cubicBezTo>
                  <a:lnTo>
                    <a:pt x="52197" y="3309239"/>
                  </a:lnTo>
                  <a:cubicBezTo>
                    <a:pt x="23368" y="3309239"/>
                    <a:pt x="0" y="3285871"/>
                    <a:pt x="0" y="3257042"/>
                  </a:cubicBezTo>
                  <a:close/>
                </a:path>
              </a:pathLst>
            </a:custGeom>
            <a:solidFill>
              <a:srgbClr val="FFDEC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9720411" y="2457301"/>
            <a:ext cx="7414469" cy="2221540"/>
            <a:chOff x="0" y="0"/>
            <a:chExt cx="9885958" cy="2962053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9885959" cy="2962054"/>
            </a:xfrm>
            <a:custGeom>
              <a:avLst/>
              <a:gdLst/>
              <a:ahLst/>
              <a:cxnLst/>
              <a:rect l="l" t="t" r="r" b="b"/>
              <a:pathLst>
                <a:path w="9885959" h="2962054">
                  <a:moveTo>
                    <a:pt x="0" y="0"/>
                  </a:moveTo>
                  <a:lnTo>
                    <a:pt x="9885959" y="0"/>
                  </a:lnTo>
                  <a:lnTo>
                    <a:pt x="9885959" y="2962054"/>
                  </a:lnTo>
                  <a:lnTo>
                    <a:pt x="0" y="296205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-133350"/>
              <a:ext cx="9885958" cy="309540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574"/>
                </a:lnSpc>
              </a:pPr>
              <a:r>
                <a:rPr lang="en-US" sz="2199">
                  <a:solidFill>
                    <a:srgbClr val="383838"/>
                  </a:solidFill>
                  <a:latin typeface="Consolas"/>
                  <a:ea typeface="Consolas"/>
                  <a:cs typeface="Consolas"/>
                  <a:sym typeface="Consolas"/>
                </a:rPr>
                <a:t>- name: Add a line to /etc/hosts</a:t>
              </a:r>
            </a:p>
            <a:p>
              <a:pPr algn="l">
                <a:lnSpc>
                  <a:spcPts val="3574"/>
                </a:lnSpc>
              </a:pPr>
              <a:r>
                <a:rPr lang="en-US" sz="2199">
                  <a:solidFill>
                    <a:srgbClr val="383838"/>
                  </a:solidFill>
                  <a:latin typeface="Consolas"/>
                  <a:ea typeface="Consolas"/>
                  <a:cs typeface="Consolas"/>
                  <a:sym typeface="Consolas"/>
                </a:rPr>
                <a:t>  lineinfile:</a:t>
              </a:r>
            </a:p>
            <a:p>
              <a:pPr algn="l">
                <a:lnSpc>
                  <a:spcPts val="3574"/>
                </a:lnSpc>
              </a:pPr>
              <a:r>
                <a:rPr lang="en-US" sz="2199">
                  <a:solidFill>
                    <a:srgbClr val="383838"/>
                  </a:solidFill>
                  <a:latin typeface="Consolas"/>
                  <a:ea typeface="Consolas"/>
                  <a:cs typeface="Consolas"/>
                  <a:sym typeface="Consolas"/>
                </a:rPr>
                <a:t>    path: /etc/hosts</a:t>
              </a:r>
            </a:p>
            <a:p>
              <a:pPr algn="l">
                <a:lnSpc>
                  <a:spcPts val="3574"/>
                </a:lnSpc>
              </a:pPr>
              <a:r>
                <a:rPr lang="en-US" sz="2199">
                  <a:solidFill>
                    <a:srgbClr val="383838"/>
                  </a:solidFill>
                  <a:latin typeface="Consolas"/>
                  <a:ea typeface="Consolas"/>
                  <a:cs typeface="Consolas"/>
                  <a:sym typeface="Consolas"/>
                </a:rPr>
                <a:t>    line: "192.168.0.10    app.internal"</a:t>
              </a:r>
            </a:p>
            <a:p>
              <a:pPr algn="l">
                <a:lnSpc>
                  <a:spcPts val="3574"/>
                </a:lnSpc>
              </a:pPr>
              <a:endParaRPr lang="en-US" sz="2199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sp>
        <p:nvSpPr>
          <p:cNvPr id="39" name="Freeform 39"/>
          <p:cNvSpPr/>
          <p:nvPr/>
        </p:nvSpPr>
        <p:spPr>
          <a:xfrm>
            <a:off x="9472166" y="5037385"/>
            <a:ext cx="7910959" cy="418059"/>
          </a:xfrm>
          <a:custGeom>
            <a:avLst/>
            <a:gdLst/>
            <a:ahLst/>
            <a:cxnLst/>
            <a:rect l="l" t="t" r="r" b="b"/>
            <a:pathLst>
              <a:path w="10547945" h="557412">
                <a:moveTo>
                  <a:pt x="0" y="0"/>
                </a:moveTo>
                <a:lnTo>
                  <a:pt x="10547945" y="0"/>
                </a:lnTo>
                <a:lnTo>
                  <a:pt x="10547945" y="557412"/>
                </a:lnTo>
                <a:lnTo>
                  <a:pt x="0" y="557412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grpSp>
        <p:nvGrpSpPr>
          <p:cNvPr id="41" name="Group 41"/>
          <p:cNvGrpSpPr/>
          <p:nvPr/>
        </p:nvGrpSpPr>
        <p:grpSpPr>
          <a:xfrm>
            <a:off x="9472166" y="5690592"/>
            <a:ext cx="7910959" cy="522386"/>
            <a:chOff x="0" y="0"/>
            <a:chExt cx="10547945" cy="696515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10547945" cy="696515"/>
            </a:xfrm>
            <a:custGeom>
              <a:avLst/>
              <a:gdLst/>
              <a:ahLst/>
              <a:cxnLst/>
              <a:rect l="l" t="t" r="r" b="b"/>
              <a:pathLst>
                <a:path w="10547945" h="696515">
                  <a:moveTo>
                    <a:pt x="0" y="0"/>
                  </a:moveTo>
                  <a:lnTo>
                    <a:pt x="10547945" y="0"/>
                  </a:lnTo>
                  <a:lnTo>
                    <a:pt x="10547945" y="696515"/>
                  </a:lnTo>
                  <a:lnTo>
                    <a:pt x="0" y="6965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0" y="-85725"/>
              <a:ext cx="10547945" cy="78224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301625" lvl="1" indent="-150812" algn="l">
                <a:lnSpc>
                  <a:spcPts val="3250"/>
                </a:lnSpc>
                <a:buFont typeface="Arial"/>
                <a:buChar char="•"/>
              </a:pPr>
              <a:r>
                <a:rPr lang="en-US" sz="2000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Module used ?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472166" y="6304360"/>
            <a:ext cx="7910959" cy="522386"/>
            <a:chOff x="0" y="0"/>
            <a:chExt cx="10547945" cy="696515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10547945" cy="696515"/>
            </a:xfrm>
            <a:custGeom>
              <a:avLst/>
              <a:gdLst/>
              <a:ahLst/>
              <a:cxnLst/>
              <a:rect l="l" t="t" r="r" b="b"/>
              <a:pathLst>
                <a:path w="10547945" h="696515">
                  <a:moveTo>
                    <a:pt x="0" y="0"/>
                  </a:moveTo>
                  <a:lnTo>
                    <a:pt x="10547945" y="0"/>
                  </a:lnTo>
                  <a:lnTo>
                    <a:pt x="10547945" y="696515"/>
                  </a:lnTo>
                  <a:lnTo>
                    <a:pt x="0" y="6965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0" y="-85725"/>
              <a:ext cx="10547945" cy="78224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301625" lvl="1" indent="-150812" algn="l">
                <a:lnSpc>
                  <a:spcPts val="3250"/>
                </a:lnSpc>
                <a:buFont typeface="Arial"/>
                <a:buChar char="•"/>
              </a:pPr>
              <a:r>
                <a:rPr lang="en-US" sz="2000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Task does ?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9472166" y="6918126"/>
            <a:ext cx="7910959" cy="522386"/>
            <a:chOff x="0" y="0"/>
            <a:chExt cx="10547945" cy="696515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10547945" cy="696515"/>
            </a:xfrm>
            <a:custGeom>
              <a:avLst/>
              <a:gdLst/>
              <a:ahLst/>
              <a:cxnLst/>
              <a:rect l="l" t="t" r="r" b="b"/>
              <a:pathLst>
                <a:path w="10547945" h="696515">
                  <a:moveTo>
                    <a:pt x="0" y="0"/>
                  </a:moveTo>
                  <a:lnTo>
                    <a:pt x="10547945" y="0"/>
                  </a:lnTo>
                  <a:lnTo>
                    <a:pt x="10547945" y="696515"/>
                  </a:lnTo>
                  <a:lnTo>
                    <a:pt x="0" y="6965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0" y="-85725"/>
              <a:ext cx="10547945" cy="78224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301625" lvl="1" indent="-150812" algn="l">
                <a:lnSpc>
                  <a:spcPts val="3250"/>
                </a:lnSpc>
                <a:buFont typeface="Arial"/>
                <a:buChar char="•"/>
              </a:pPr>
              <a:r>
                <a:rPr lang="en-US" sz="2000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Can be part of playbook ? 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9472166" y="7531894"/>
            <a:ext cx="7910959" cy="522386"/>
            <a:chOff x="0" y="0"/>
            <a:chExt cx="10547945" cy="696515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10547945" cy="696515"/>
            </a:xfrm>
            <a:custGeom>
              <a:avLst/>
              <a:gdLst/>
              <a:ahLst/>
              <a:cxnLst/>
              <a:rect l="l" t="t" r="r" b="b"/>
              <a:pathLst>
                <a:path w="10547945" h="696515">
                  <a:moveTo>
                    <a:pt x="0" y="0"/>
                  </a:moveTo>
                  <a:lnTo>
                    <a:pt x="10547945" y="0"/>
                  </a:lnTo>
                  <a:lnTo>
                    <a:pt x="10547945" y="696515"/>
                  </a:lnTo>
                  <a:lnTo>
                    <a:pt x="0" y="6965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0" y="-85725"/>
              <a:ext cx="10547945" cy="78224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301625" lvl="1" indent="-150812" algn="l">
                <a:lnSpc>
                  <a:spcPts val="3250"/>
                </a:lnSpc>
                <a:buFont typeface="Arial"/>
                <a:buChar char="•"/>
              </a:pPr>
              <a:r>
                <a:rPr lang="en-US" sz="2000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Is it idempotent ? 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AFA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57250" y="497098"/>
            <a:ext cx="6429375" cy="980022"/>
            <a:chOff x="0" y="0"/>
            <a:chExt cx="8572500" cy="130669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572500" cy="1306696"/>
            </a:xfrm>
            <a:custGeom>
              <a:avLst/>
              <a:gdLst/>
              <a:ahLst/>
              <a:cxnLst/>
              <a:rect l="l" t="t" r="r" b="b"/>
              <a:pathLst>
                <a:path w="8572500" h="1306696">
                  <a:moveTo>
                    <a:pt x="0" y="0"/>
                  </a:moveTo>
                  <a:lnTo>
                    <a:pt x="8572500" y="0"/>
                  </a:lnTo>
                  <a:lnTo>
                    <a:pt x="8572500" y="1306696"/>
                  </a:lnTo>
                  <a:lnTo>
                    <a:pt x="0" y="130669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8572500" cy="1335271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6312"/>
                </a:lnSpc>
              </a:pPr>
              <a:r>
                <a:rPr lang="en-US" sz="5062">
                  <a:solidFill>
                    <a:srgbClr val="020202"/>
                  </a:solidFill>
                  <a:latin typeface="PT Serif"/>
                  <a:ea typeface="PT Serif"/>
                  <a:cs typeface="PT Serif"/>
                  <a:sym typeface="PT Serif"/>
                </a:rPr>
                <a:t>Snippet-1 &amp; 2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857250" y="2119907"/>
            <a:ext cx="7988052" cy="1151036"/>
            <a:chOff x="0" y="0"/>
            <a:chExt cx="10650737" cy="153471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0650728" cy="1534795"/>
            </a:xfrm>
            <a:custGeom>
              <a:avLst/>
              <a:gdLst/>
              <a:ahLst/>
              <a:cxnLst/>
              <a:rect l="l" t="t" r="r" b="b"/>
              <a:pathLst>
                <a:path w="10650728" h="1534795">
                  <a:moveTo>
                    <a:pt x="0" y="49022"/>
                  </a:moveTo>
                  <a:cubicBezTo>
                    <a:pt x="0" y="21971"/>
                    <a:pt x="21971" y="0"/>
                    <a:pt x="49022" y="0"/>
                  </a:cubicBezTo>
                  <a:lnTo>
                    <a:pt x="10601706" y="0"/>
                  </a:lnTo>
                  <a:cubicBezTo>
                    <a:pt x="10628757" y="0"/>
                    <a:pt x="10650728" y="21971"/>
                    <a:pt x="10650728" y="49022"/>
                  </a:cubicBezTo>
                  <a:lnTo>
                    <a:pt x="10650728" y="1485773"/>
                  </a:lnTo>
                  <a:cubicBezTo>
                    <a:pt x="10650728" y="1512824"/>
                    <a:pt x="10628757" y="1534795"/>
                    <a:pt x="10601706" y="1534795"/>
                  </a:cubicBezTo>
                  <a:lnTo>
                    <a:pt x="49022" y="1534795"/>
                  </a:lnTo>
                  <a:cubicBezTo>
                    <a:pt x="21971" y="1534795"/>
                    <a:pt x="0" y="1512824"/>
                    <a:pt x="0" y="1485773"/>
                  </a:cubicBezTo>
                  <a:close/>
                </a:path>
              </a:pathLst>
            </a:custGeom>
            <a:solidFill>
              <a:srgbClr val="FFDEC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845046" y="2119907"/>
            <a:ext cx="8012460" cy="1151036"/>
            <a:chOff x="0" y="0"/>
            <a:chExt cx="10683280" cy="153471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683367" cy="1534795"/>
            </a:xfrm>
            <a:custGeom>
              <a:avLst/>
              <a:gdLst/>
              <a:ahLst/>
              <a:cxnLst/>
              <a:rect l="l" t="t" r="r" b="b"/>
              <a:pathLst>
                <a:path w="10683367" h="1534795">
                  <a:moveTo>
                    <a:pt x="0" y="49022"/>
                  </a:moveTo>
                  <a:cubicBezTo>
                    <a:pt x="0" y="21971"/>
                    <a:pt x="21971" y="0"/>
                    <a:pt x="49022" y="0"/>
                  </a:cubicBezTo>
                  <a:lnTo>
                    <a:pt x="10634345" y="0"/>
                  </a:lnTo>
                  <a:cubicBezTo>
                    <a:pt x="10661396" y="0"/>
                    <a:pt x="10683367" y="21971"/>
                    <a:pt x="10683367" y="49022"/>
                  </a:cubicBezTo>
                  <a:lnTo>
                    <a:pt x="10683367" y="1485773"/>
                  </a:lnTo>
                  <a:cubicBezTo>
                    <a:pt x="10683367" y="1512824"/>
                    <a:pt x="10661396" y="1534795"/>
                    <a:pt x="10634345" y="1534795"/>
                  </a:cubicBezTo>
                  <a:lnTo>
                    <a:pt x="49022" y="1534795"/>
                  </a:lnTo>
                  <a:cubicBezTo>
                    <a:pt x="21971" y="1534795"/>
                    <a:pt x="0" y="1512824"/>
                    <a:pt x="0" y="1485773"/>
                  </a:cubicBezTo>
                  <a:close/>
                </a:path>
              </a:pathLst>
            </a:custGeom>
            <a:solidFill>
              <a:srgbClr val="FFDEC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089869" y="2303561"/>
            <a:ext cx="7522815" cy="783729"/>
            <a:chOff x="0" y="0"/>
            <a:chExt cx="10030420" cy="104497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0030420" cy="1044972"/>
            </a:xfrm>
            <a:custGeom>
              <a:avLst/>
              <a:gdLst/>
              <a:ahLst/>
              <a:cxnLst/>
              <a:rect l="l" t="t" r="r" b="b"/>
              <a:pathLst>
                <a:path w="10030420" h="1044972">
                  <a:moveTo>
                    <a:pt x="0" y="0"/>
                  </a:moveTo>
                  <a:lnTo>
                    <a:pt x="10030420" y="0"/>
                  </a:lnTo>
                  <a:lnTo>
                    <a:pt x="10030420" y="1044972"/>
                  </a:lnTo>
                  <a:lnTo>
                    <a:pt x="0" y="104497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123825"/>
              <a:ext cx="10030420" cy="1168797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062"/>
                </a:lnSpc>
              </a:pPr>
              <a:r>
                <a:rPr lang="en-US" sz="1874">
                  <a:solidFill>
                    <a:srgbClr val="383838"/>
                  </a:solidFill>
                  <a:latin typeface="Consolas"/>
                  <a:ea typeface="Consolas"/>
                  <a:cs typeface="Consolas"/>
                  <a:sym typeface="Consolas"/>
                </a:rPr>
                <a:t>- name: Upgrade all packages using shell</a:t>
              </a:r>
            </a:p>
            <a:p>
              <a:pPr algn="l">
                <a:lnSpc>
                  <a:spcPts val="3062"/>
                </a:lnSpc>
              </a:pPr>
              <a:r>
                <a:rPr lang="en-US" sz="1874">
                  <a:solidFill>
                    <a:srgbClr val="383838"/>
                  </a:solidFill>
                  <a:latin typeface="Consolas"/>
                  <a:ea typeface="Consolas"/>
                  <a:cs typeface="Consolas"/>
                  <a:sym typeface="Consolas"/>
                </a:rPr>
                <a:t>  shell: apt update &amp;&amp; apt upgrade -y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857250" y="3546425"/>
            <a:ext cx="7988052" cy="489794"/>
            <a:chOff x="0" y="0"/>
            <a:chExt cx="10650737" cy="65305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0650737" cy="653058"/>
            </a:xfrm>
            <a:custGeom>
              <a:avLst/>
              <a:gdLst/>
              <a:ahLst/>
              <a:cxnLst/>
              <a:rect l="l" t="t" r="r" b="b"/>
              <a:pathLst>
                <a:path w="10650737" h="653058">
                  <a:moveTo>
                    <a:pt x="0" y="0"/>
                  </a:moveTo>
                  <a:lnTo>
                    <a:pt x="10650737" y="0"/>
                  </a:lnTo>
                  <a:lnTo>
                    <a:pt x="10650737" y="653058"/>
                  </a:lnTo>
                  <a:lnTo>
                    <a:pt x="0" y="65305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95250"/>
              <a:ext cx="10650737" cy="74830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812"/>
                </a:lnSpc>
              </a:pPr>
              <a:r>
                <a:rPr lang="en-US" sz="2375" b="1">
                  <a:solidFill>
                    <a:srgbClr val="383838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Answers: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857250" y="4256634"/>
            <a:ext cx="7988052" cy="508844"/>
            <a:chOff x="0" y="0"/>
            <a:chExt cx="10650737" cy="678458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0650737" cy="678458"/>
            </a:xfrm>
            <a:custGeom>
              <a:avLst/>
              <a:gdLst/>
              <a:ahLst/>
              <a:cxnLst/>
              <a:rect l="l" t="t" r="r" b="b"/>
              <a:pathLst>
                <a:path w="10650737" h="678458">
                  <a:moveTo>
                    <a:pt x="0" y="0"/>
                  </a:moveTo>
                  <a:lnTo>
                    <a:pt x="10650737" y="0"/>
                  </a:lnTo>
                  <a:lnTo>
                    <a:pt x="10650737" y="678458"/>
                  </a:lnTo>
                  <a:lnTo>
                    <a:pt x="0" y="67845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76200"/>
              <a:ext cx="10650737" cy="75465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282773" lvl="1" indent="-141387" algn="l">
                <a:lnSpc>
                  <a:spcPts val="3062"/>
                </a:lnSpc>
                <a:buFont typeface="Arial"/>
                <a:buChar char="•"/>
              </a:pPr>
              <a:r>
                <a:rPr lang="en-US" sz="1874" b="1">
                  <a:solidFill>
                    <a:srgbClr val="383838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Module used</a:t>
              </a:r>
              <a:r>
                <a:rPr lang="en-US" sz="1874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: shell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857250" y="4851201"/>
            <a:ext cx="7988052" cy="998636"/>
            <a:chOff x="0" y="0"/>
            <a:chExt cx="10650737" cy="1331515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0650737" cy="1331515"/>
            </a:xfrm>
            <a:custGeom>
              <a:avLst/>
              <a:gdLst/>
              <a:ahLst/>
              <a:cxnLst/>
              <a:rect l="l" t="t" r="r" b="b"/>
              <a:pathLst>
                <a:path w="10650737" h="1331515">
                  <a:moveTo>
                    <a:pt x="0" y="0"/>
                  </a:moveTo>
                  <a:lnTo>
                    <a:pt x="10650737" y="0"/>
                  </a:lnTo>
                  <a:lnTo>
                    <a:pt x="10650737" y="1331515"/>
                  </a:lnTo>
                  <a:lnTo>
                    <a:pt x="0" y="13315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76200"/>
              <a:ext cx="10650737" cy="140771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282773" lvl="1" indent="-141387" algn="l">
                <a:lnSpc>
                  <a:spcPts val="3062"/>
                </a:lnSpc>
                <a:buFont typeface="Arial"/>
                <a:buChar char="•"/>
              </a:pPr>
              <a:r>
                <a:rPr lang="en-US" sz="1874" b="1" dirty="0">
                  <a:solidFill>
                    <a:srgbClr val="383838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Task does</a:t>
              </a:r>
              <a:r>
                <a:rPr lang="en-US" sz="1874" dirty="0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: Runs apt update and apt upgrade through the shell (unmanaged by Ansible)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857250" y="5935564"/>
            <a:ext cx="7988052" cy="489794"/>
            <a:chOff x="0" y="0"/>
            <a:chExt cx="10650737" cy="653058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0650737" cy="653058"/>
            </a:xfrm>
            <a:custGeom>
              <a:avLst/>
              <a:gdLst/>
              <a:ahLst/>
              <a:cxnLst/>
              <a:rect l="l" t="t" r="r" b="b"/>
              <a:pathLst>
                <a:path w="10650737" h="653058">
                  <a:moveTo>
                    <a:pt x="0" y="0"/>
                  </a:moveTo>
                  <a:lnTo>
                    <a:pt x="10650737" y="0"/>
                  </a:lnTo>
                  <a:lnTo>
                    <a:pt x="10650737" y="653058"/>
                  </a:lnTo>
                  <a:lnTo>
                    <a:pt x="0" y="65305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76200"/>
              <a:ext cx="10650737" cy="72925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282773" lvl="1" indent="-141387" algn="l">
                <a:lnSpc>
                  <a:spcPts val="3062"/>
                </a:lnSpc>
                <a:buFont typeface="Arial"/>
                <a:buChar char="•"/>
              </a:pPr>
              <a:r>
                <a:rPr lang="en-US" sz="1874" b="1">
                  <a:solidFill>
                    <a:srgbClr val="383838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Can be part of playbook?</a:t>
              </a:r>
              <a:r>
                <a:rPr lang="en-US" sz="1874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 Yes, syntactically valid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857250" y="6511081"/>
            <a:ext cx="7988052" cy="1488430"/>
            <a:chOff x="0" y="0"/>
            <a:chExt cx="10650737" cy="1984573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0650737" cy="1984573"/>
            </a:xfrm>
            <a:custGeom>
              <a:avLst/>
              <a:gdLst/>
              <a:ahLst/>
              <a:cxnLst/>
              <a:rect l="l" t="t" r="r" b="b"/>
              <a:pathLst>
                <a:path w="10650737" h="1984573">
                  <a:moveTo>
                    <a:pt x="0" y="0"/>
                  </a:moveTo>
                  <a:lnTo>
                    <a:pt x="10650737" y="0"/>
                  </a:lnTo>
                  <a:lnTo>
                    <a:pt x="10650737" y="1984573"/>
                  </a:lnTo>
                  <a:lnTo>
                    <a:pt x="0" y="198457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76200"/>
              <a:ext cx="10650737" cy="206077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282773" lvl="1" indent="-141387" algn="l">
                <a:lnSpc>
                  <a:spcPts val="3062"/>
                </a:lnSpc>
                <a:buFont typeface="Arial"/>
                <a:buChar char="•"/>
              </a:pPr>
              <a:r>
                <a:rPr lang="en-US" sz="1874" b="1" dirty="0">
                  <a:solidFill>
                    <a:srgbClr val="383838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Is it idempotent?</a:t>
              </a:r>
              <a:r>
                <a:rPr lang="en-US" sz="1874" dirty="0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 No — Every run could upgrade something (no state checks like the apt module would do)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452222" y="2119907"/>
            <a:ext cx="7988053" cy="2326630"/>
            <a:chOff x="0" y="0"/>
            <a:chExt cx="10650737" cy="3102173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0650728" cy="3102229"/>
            </a:xfrm>
            <a:custGeom>
              <a:avLst/>
              <a:gdLst/>
              <a:ahLst/>
              <a:cxnLst/>
              <a:rect l="l" t="t" r="r" b="b"/>
              <a:pathLst>
                <a:path w="10650728" h="3102229">
                  <a:moveTo>
                    <a:pt x="0" y="49022"/>
                  </a:moveTo>
                  <a:cubicBezTo>
                    <a:pt x="0" y="21971"/>
                    <a:pt x="21971" y="0"/>
                    <a:pt x="49022" y="0"/>
                  </a:cubicBezTo>
                  <a:lnTo>
                    <a:pt x="10601706" y="0"/>
                  </a:lnTo>
                  <a:cubicBezTo>
                    <a:pt x="10628757" y="0"/>
                    <a:pt x="10650728" y="21971"/>
                    <a:pt x="10650728" y="49022"/>
                  </a:cubicBezTo>
                  <a:lnTo>
                    <a:pt x="10650728" y="3053207"/>
                  </a:lnTo>
                  <a:cubicBezTo>
                    <a:pt x="10650728" y="3080258"/>
                    <a:pt x="10628757" y="3102229"/>
                    <a:pt x="10601706" y="3102229"/>
                  </a:cubicBezTo>
                  <a:lnTo>
                    <a:pt x="49022" y="3102229"/>
                  </a:lnTo>
                  <a:cubicBezTo>
                    <a:pt x="21971" y="3102229"/>
                    <a:pt x="0" y="3080258"/>
                    <a:pt x="0" y="3053207"/>
                  </a:cubicBezTo>
                  <a:close/>
                </a:path>
              </a:pathLst>
            </a:custGeom>
            <a:solidFill>
              <a:srgbClr val="FFDEC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9440019" y="2119907"/>
            <a:ext cx="8012460" cy="2326630"/>
            <a:chOff x="0" y="0"/>
            <a:chExt cx="10683280" cy="3102173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0683367" cy="3102229"/>
            </a:xfrm>
            <a:custGeom>
              <a:avLst/>
              <a:gdLst/>
              <a:ahLst/>
              <a:cxnLst/>
              <a:rect l="l" t="t" r="r" b="b"/>
              <a:pathLst>
                <a:path w="10683367" h="3102229">
                  <a:moveTo>
                    <a:pt x="0" y="49022"/>
                  </a:moveTo>
                  <a:cubicBezTo>
                    <a:pt x="0" y="21971"/>
                    <a:pt x="21971" y="0"/>
                    <a:pt x="49022" y="0"/>
                  </a:cubicBezTo>
                  <a:lnTo>
                    <a:pt x="10634345" y="0"/>
                  </a:lnTo>
                  <a:cubicBezTo>
                    <a:pt x="10661396" y="0"/>
                    <a:pt x="10683367" y="21971"/>
                    <a:pt x="10683367" y="49022"/>
                  </a:cubicBezTo>
                  <a:lnTo>
                    <a:pt x="10683367" y="3053207"/>
                  </a:lnTo>
                  <a:cubicBezTo>
                    <a:pt x="10683367" y="3080258"/>
                    <a:pt x="10661396" y="3102229"/>
                    <a:pt x="10634345" y="3102229"/>
                  </a:cubicBezTo>
                  <a:lnTo>
                    <a:pt x="49022" y="3102229"/>
                  </a:lnTo>
                  <a:cubicBezTo>
                    <a:pt x="21971" y="3102229"/>
                    <a:pt x="0" y="3080258"/>
                    <a:pt x="0" y="3053207"/>
                  </a:cubicBezTo>
                  <a:close/>
                </a:path>
              </a:pathLst>
            </a:custGeom>
            <a:solidFill>
              <a:srgbClr val="FFDEC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9684841" y="2303561"/>
            <a:ext cx="7522815" cy="1959322"/>
            <a:chOff x="0" y="0"/>
            <a:chExt cx="10030420" cy="261243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0030420" cy="2612430"/>
            </a:xfrm>
            <a:custGeom>
              <a:avLst/>
              <a:gdLst/>
              <a:ahLst/>
              <a:cxnLst/>
              <a:rect l="l" t="t" r="r" b="b"/>
              <a:pathLst>
                <a:path w="10030420" h="2612430">
                  <a:moveTo>
                    <a:pt x="0" y="0"/>
                  </a:moveTo>
                  <a:lnTo>
                    <a:pt x="10030420" y="0"/>
                  </a:lnTo>
                  <a:lnTo>
                    <a:pt x="10030420" y="2612430"/>
                  </a:lnTo>
                  <a:lnTo>
                    <a:pt x="0" y="261243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-123825"/>
              <a:ext cx="10030420" cy="273625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062"/>
                </a:lnSpc>
              </a:pPr>
              <a:r>
                <a:rPr lang="en-US" sz="1874">
                  <a:solidFill>
                    <a:srgbClr val="383838"/>
                  </a:solidFill>
                  <a:latin typeface="Consolas"/>
                  <a:ea typeface="Consolas"/>
                  <a:cs typeface="Consolas"/>
                  <a:sym typeface="Consolas"/>
                </a:rPr>
                <a:t>- name: Add a line to /etc/hosts</a:t>
              </a:r>
            </a:p>
            <a:p>
              <a:pPr algn="l">
                <a:lnSpc>
                  <a:spcPts val="3062"/>
                </a:lnSpc>
              </a:pPr>
              <a:r>
                <a:rPr lang="en-US" sz="1874">
                  <a:solidFill>
                    <a:srgbClr val="383838"/>
                  </a:solidFill>
                  <a:latin typeface="Consolas"/>
                  <a:ea typeface="Consolas"/>
                  <a:cs typeface="Consolas"/>
                  <a:sym typeface="Consolas"/>
                </a:rPr>
                <a:t>  lineinfile:</a:t>
              </a:r>
            </a:p>
            <a:p>
              <a:pPr algn="l">
                <a:lnSpc>
                  <a:spcPts val="3062"/>
                </a:lnSpc>
              </a:pPr>
              <a:r>
                <a:rPr lang="en-US" sz="1874">
                  <a:solidFill>
                    <a:srgbClr val="383838"/>
                  </a:solidFill>
                  <a:latin typeface="Consolas"/>
                  <a:ea typeface="Consolas"/>
                  <a:cs typeface="Consolas"/>
                  <a:sym typeface="Consolas"/>
                </a:rPr>
                <a:t>    path: /etc/hosts</a:t>
              </a:r>
            </a:p>
            <a:p>
              <a:pPr algn="l">
                <a:lnSpc>
                  <a:spcPts val="3062"/>
                </a:lnSpc>
              </a:pPr>
              <a:r>
                <a:rPr lang="en-US" sz="1874">
                  <a:solidFill>
                    <a:srgbClr val="383838"/>
                  </a:solidFill>
                  <a:latin typeface="Consolas"/>
                  <a:ea typeface="Consolas"/>
                  <a:cs typeface="Consolas"/>
                  <a:sym typeface="Consolas"/>
                </a:rPr>
                <a:t>    line: "192.168.0.10    app.internal"</a:t>
              </a:r>
            </a:p>
            <a:p>
              <a:pPr algn="l">
                <a:lnSpc>
                  <a:spcPts val="3062"/>
                </a:lnSpc>
              </a:pPr>
              <a:endParaRPr lang="en-US" sz="1874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9452222" y="4722019"/>
            <a:ext cx="7988053" cy="489794"/>
            <a:chOff x="0" y="0"/>
            <a:chExt cx="10650737" cy="653058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10650737" cy="653058"/>
            </a:xfrm>
            <a:custGeom>
              <a:avLst/>
              <a:gdLst/>
              <a:ahLst/>
              <a:cxnLst/>
              <a:rect l="l" t="t" r="r" b="b"/>
              <a:pathLst>
                <a:path w="10650737" h="653058">
                  <a:moveTo>
                    <a:pt x="0" y="0"/>
                  </a:moveTo>
                  <a:lnTo>
                    <a:pt x="10650737" y="0"/>
                  </a:lnTo>
                  <a:lnTo>
                    <a:pt x="10650737" y="653058"/>
                  </a:lnTo>
                  <a:lnTo>
                    <a:pt x="0" y="65305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-95250"/>
              <a:ext cx="10650737" cy="74830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812"/>
                </a:lnSpc>
              </a:pPr>
              <a:r>
                <a:rPr lang="en-US" sz="2375" b="1">
                  <a:solidFill>
                    <a:srgbClr val="383838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Answers: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452222" y="5432226"/>
            <a:ext cx="7988053" cy="508844"/>
            <a:chOff x="0" y="0"/>
            <a:chExt cx="10650737" cy="678458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10650737" cy="678458"/>
            </a:xfrm>
            <a:custGeom>
              <a:avLst/>
              <a:gdLst/>
              <a:ahLst/>
              <a:cxnLst/>
              <a:rect l="l" t="t" r="r" b="b"/>
              <a:pathLst>
                <a:path w="10650737" h="678458">
                  <a:moveTo>
                    <a:pt x="0" y="0"/>
                  </a:moveTo>
                  <a:lnTo>
                    <a:pt x="10650737" y="0"/>
                  </a:lnTo>
                  <a:lnTo>
                    <a:pt x="10650737" y="678458"/>
                  </a:lnTo>
                  <a:lnTo>
                    <a:pt x="0" y="67845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0" y="-76200"/>
              <a:ext cx="10650737" cy="75465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282773" lvl="1" indent="-141387" algn="l">
                <a:lnSpc>
                  <a:spcPts val="3062"/>
                </a:lnSpc>
                <a:buFont typeface="Arial"/>
                <a:buChar char="•"/>
              </a:pPr>
              <a:r>
                <a:rPr lang="en-US" sz="1874" b="1">
                  <a:solidFill>
                    <a:srgbClr val="383838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Module used</a:t>
              </a:r>
              <a:r>
                <a:rPr lang="en-US" sz="1874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: lineinfile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452222" y="6026795"/>
            <a:ext cx="7988053" cy="508844"/>
            <a:chOff x="0" y="0"/>
            <a:chExt cx="10650737" cy="678458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10650737" cy="678458"/>
            </a:xfrm>
            <a:custGeom>
              <a:avLst/>
              <a:gdLst/>
              <a:ahLst/>
              <a:cxnLst/>
              <a:rect l="l" t="t" r="r" b="b"/>
              <a:pathLst>
                <a:path w="10650737" h="678458">
                  <a:moveTo>
                    <a:pt x="0" y="0"/>
                  </a:moveTo>
                  <a:lnTo>
                    <a:pt x="10650737" y="0"/>
                  </a:lnTo>
                  <a:lnTo>
                    <a:pt x="10650737" y="678458"/>
                  </a:lnTo>
                  <a:lnTo>
                    <a:pt x="0" y="67845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0" y="-76200"/>
              <a:ext cx="10650737" cy="75465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282773" lvl="1" indent="-141387" algn="l">
                <a:lnSpc>
                  <a:spcPts val="3062"/>
                </a:lnSpc>
                <a:buFont typeface="Arial"/>
                <a:buChar char="•"/>
              </a:pPr>
              <a:r>
                <a:rPr lang="en-US" sz="1874" b="1">
                  <a:solidFill>
                    <a:srgbClr val="383838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Task does</a:t>
              </a:r>
              <a:r>
                <a:rPr lang="en-US" sz="1874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: Adds a specific line to /etc/hosts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9452222" y="6621364"/>
            <a:ext cx="7988053" cy="489794"/>
            <a:chOff x="0" y="0"/>
            <a:chExt cx="10650737" cy="653058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10650737" cy="653058"/>
            </a:xfrm>
            <a:custGeom>
              <a:avLst/>
              <a:gdLst/>
              <a:ahLst/>
              <a:cxnLst/>
              <a:rect l="l" t="t" r="r" b="b"/>
              <a:pathLst>
                <a:path w="10650737" h="653058">
                  <a:moveTo>
                    <a:pt x="0" y="0"/>
                  </a:moveTo>
                  <a:lnTo>
                    <a:pt x="10650737" y="0"/>
                  </a:lnTo>
                  <a:lnTo>
                    <a:pt x="10650737" y="653058"/>
                  </a:lnTo>
                  <a:lnTo>
                    <a:pt x="0" y="65305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0" y="-76200"/>
              <a:ext cx="10650737" cy="72925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282773" lvl="1" indent="-141387" algn="l">
                <a:lnSpc>
                  <a:spcPts val="3062"/>
                </a:lnSpc>
                <a:buFont typeface="Arial"/>
                <a:buChar char="•"/>
              </a:pPr>
              <a:r>
                <a:rPr lang="en-US" sz="1874" b="1">
                  <a:solidFill>
                    <a:srgbClr val="383838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Can be part of playbook?</a:t>
              </a:r>
              <a:r>
                <a:rPr lang="en-US" sz="1874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 Yes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9452222" y="7196881"/>
            <a:ext cx="7988053" cy="998636"/>
            <a:chOff x="0" y="0"/>
            <a:chExt cx="10650737" cy="1331515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10650737" cy="1331515"/>
            </a:xfrm>
            <a:custGeom>
              <a:avLst/>
              <a:gdLst/>
              <a:ahLst/>
              <a:cxnLst/>
              <a:rect l="l" t="t" r="r" b="b"/>
              <a:pathLst>
                <a:path w="10650737" h="1331515">
                  <a:moveTo>
                    <a:pt x="0" y="0"/>
                  </a:moveTo>
                  <a:lnTo>
                    <a:pt x="10650737" y="0"/>
                  </a:lnTo>
                  <a:lnTo>
                    <a:pt x="10650737" y="1331515"/>
                  </a:lnTo>
                  <a:lnTo>
                    <a:pt x="0" y="13315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0" y="-76200"/>
              <a:ext cx="10650737" cy="140771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282773" lvl="1" indent="-141387" algn="l">
                <a:lnSpc>
                  <a:spcPts val="3062"/>
                </a:lnSpc>
                <a:buFont typeface="Arial"/>
                <a:buChar char="•"/>
              </a:pPr>
              <a:r>
                <a:rPr lang="en-US" sz="1874" b="1" dirty="0">
                  <a:solidFill>
                    <a:srgbClr val="383838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Is it idempotent?</a:t>
              </a:r>
              <a:r>
                <a:rPr lang="en-US" sz="1874" dirty="0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 Yes — </a:t>
              </a:r>
              <a:r>
                <a:rPr lang="en-US" sz="1874" dirty="0" err="1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lineinfile</a:t>
              </a:r>
              <a:r>
                <a:rPr lang="en-US" sz="1874" dirty="0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 ensures no duplicates are added</a:t>
              </a:r>
            </a:p>
          </p:txBody>
        </p:sp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C5847915-5B20-8D4B-148C-F80EDDE32ED1}"/>
              </a:ext>
            </a:extLst>
          </p:cNvPr>
          <p:cNvSpPr txBox="1"/>
          <p:nvPr/>
        </p:nvSpPr>
        <p:spPr>
          <a:xfrm>
            <a:off x="845046" y="7571172"/>
            <a:ext cx="7988053" cy="148843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282773" lvl="1" indent="-141387">
              <a:lnSpc>
                <a:spcPts val="3062"/>
              </a:lnSpc>
              <a:buFont typeface="Arial"/>
              <a:buChar char="•"/>
            </a:pPr>
            <a:r>
              <a:rPr lang="en-US" sz="1870" b="1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DM Sans" pitchFamily="2" charset="77"/>
              </a:rPr>
              <a:t>Note</a:t>
            </a:r>
            <a:r>
              <a:rPr lang="en-US" sz="1870" dirty="0">
                <a:solidFill>
                  <a:schemeClr val="tx1">
                    <a:lumMod val="75000"/>
                    <a:lumOff val="25000"/>
                  </a:schemeClr>
                </a:solidFill>
                <a:latin typeface="DM Sans" pitchFamily="2" charset="77"/>
              </a:rPr>
              <a:t>: We can use APT/YUM instead of shell as module because shell is not checking or registering state like apt module would, hence its not idempotent. If we use apt/yum, then it would register the state and will be idempotent in nature.</a:t>
            </a:r>
            <a:endParaRPr lang="en-US" sz="1870" dirty="0">
              <a:solidFill>
                <a:schemeClr val="tx1">
                  <a:lumMod val="75000"/>
                  <a:lumOff val="25000"/>
                </a:schemeClr>
              </a:solidFill>
              <a:latin typeface="DM Sans" pitchFamily="2" charset="77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AFA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14400" y="544166"/>
            <a:ext cx="6858446" cy="1031478"/>
            <a:chOff x="0" y="0"/>
            <a:chExt cx="9144595" cy="137530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144595" cy="1375304"/>
            </a:xfrm>
            <a:custGeom>
              <a:avLst/>
              <a:gdLst/>
              <a:ahLst/>
              <a:cxnLst/>
              <a:rect l="l" t="t" r="r" b="b"/>
              <a:pathLst>
                <a:path w="9144595" h="1375304">
                  <a:moveTo>
                    <a:pt x="0" y="0"/>
                  </a:moveTo>
                  <a:lnTo>
                    <a:pt x="9144595" y="0"/>
                  </a:lnTo>
                  <a:lnTo>
                    <a:pt x="9144595" y="1375304"/>
                  </a:lnTo>
                  <a:lnTo>
                    <a:pt x="0" y="137530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9144595" cy="1403879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6749"/>
                </a:lnSpc>
              </a:pPr>
              <a:r>
                <a:rPr lang="en-US" sz="5374">
                  <a:solidFill>
                    <a:srgbClr val="020202"/>
                  </a:solidFill>
                  <a:latin typeface="PT Serif"/>
                  <a:ea typeface="PT Serif"/>
                  <a:cs typeface="PT Serif"/>
                  <a:sym typeface="PT Serif"/>
                </a:rPr>
                <a:t>Snippet-3 &amp; 4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14400" y="2261444"/>
            <a:ext cx="7910959" cy="1645890"/>
            <a:chOff x="0" y="0"/>
            <a:chExt cx="10547945" cy="219452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0547858" cy="2194433"/>
            </a:xfrm>
            <a:custGeom>
              <a:avLst/>
              <a:gdLst/>
              <a:ahLst/>
              <a:cxnLst/>
              <a:rect l="l" t="t" r="r" b="b"/>
              <a:pathLst>
                <a:path w="10547858" h="2194433">
                  <a:moveTo>
                    <a:pt x="0" y="52197"/>
                  </a:moveTo>
                  <a:cubicBezTo>
                    <a:pt x="0" y="23368"/>
                    <a:pt x="23368" y="0"/>
                    <a:pt x="52197" y="0"/>
                  </a:cubicBezTo>
                  <a:lnTo>
                    <a:pt x="10495661" y="0"/>
                  </a:lnTo>
                  <a:cubicBezTo>
                    <a:pt x="10524490" y="0"/>
                    <a:pt x="10547858" y="23368"/>
                    <a:pt x="10547858" y="52197"/>
                  </a:cubicBezTo>
                  <a:lnTo>
                    <a:pt x="10547858" y="2142236"/>
                  </a:lnTo>
                  <a:cubicBezTo>
                    <a:pt x="10547858" y="2171065"/>
                    <a:pt x="10524490" y="2194433"/>
                    <a:pt x="10495661" y="2194433"/>
                  </a:cubicBezTo>
                  <a:lnTo>
                    <a:pt x="52197" y="2194433"/>
                  </a:lnTo>
                  <a:cubicBezTo>
                    <a:pt x="23368" y="2194433"/>
                    <a:pt x="0" y="2171065"/>
                    <a:pt x="0" y="2142236"/>
                  </a:cubicBezTo>
                  <a:close/>
                </a:path>
              </a:pathLst>
            </a:custGeom>
            <a:solidFill>
              <a:srgbClr val="FFDEC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01452" y="2261444"/>
            <a:ext cx="7936855" cy="1645890"/>
            <a:chOff x="0" y="0"/>
            <a:chExt cx="10582473" cy="219452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582402" cy="2194433"/>
            </a:xfrm>
            <a:custGeom>
              <a:avLst/>
              <a:gdLst/>
              <a:ahLst/>
              <a:cxnLst/>
              <a:rect l="l" t="t" r="r" b="b"/>
              <a:pathLst>
                <a:path w="10582402" h="2194433">
                  <a:moveTo>
                    <a:pt x="0" y="52197"/>
                  </a:moveTo>
                  <a:cubicBezTo>
                    <a:pt x="0" y="23368"/>
                    <a:pt x="23368" y="0"/>
                    <a:pt x="52197" y="0"/>
                  </a:cubicBezTo>
                  <a:lnTo>
                    <a:pt x="10530205" y="0"/>
                  </a:lnTo>
                  <a:cubicBezTo>
                    <a:pt x="10559035" y="0"/>
                    <a:pt x="10582402" y="23368"/>
                    <a:pt x="10582402" y="52197"/>
                  </a:cubicBezTo>
                  <a:lnTo>
                    <a:pt x="10582402" y="2142236"/>
                  </a:lnTo>
                  <a:cubicBezTo>
                    <a:pt x="10582402" y="2171065"/>
                    <a:pt x="10559035" y="2194433"/>
                    <a:pt x="10530205" y="2194433"/>
                  </a:cubicBezTo>
                  <a:lnTo>
                    <a:pt x="52197" y="2194433"/>
                  </a:lnTo>
                  <a:cubicBezTo>
                    <a:pt x="23368" y="2194433"/>
                    <a:pt x="0" y="2171065"/>
                    <a:pt x="0" y="2142236"/>
                  </a:cubicBezTo>
                  <a:close/>
                </a:path>
              </a:pathLst>
            </a:custGeom>
            <a:solidFill>
              <a:srgbClr val="FFDEC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162645" y="2457301"/>
            <a:ext cx="7414469" cy="1254175"/>
            <a:chOff x="0" y="0"/>
            <a:chExt cx="9885958" cy="167223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9885959" cy="1672233"/>
            </a:xfrm>
            <a:custGeom>
              <a:avLst/>
              <a:gdLst/>
              <a:ahLst/>
              <a:cxnLst/>
              <a:rect l="l" t="t" r="r" b="b"/>
              <a:pathLst>
                <a:path w="9885959" h="1672233">
                  <a:moveTo>
                    <a:pt x="0" y="0"/>
                  </a:moveTo>
                  <a:lnTo>
                    <a:pt x="9885959" y="0"/>
                  </a:lnTo>
                  <a:lnTo>
                    <a:pt x="9885959" y="1672233"/>
                  </a:lnTo>
                  <a:lnTo>
                    <a:pt x="0" y="167223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123825"/>
              <a:ext cx="9885958" cy="179605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250"/>
                </a:lnSpc>
              </a:pPr>
              <a:r>
                <a:rPr lang="en-US" sz="2000">
                  <a:solidFill>
                    <a:srgbClr val="383838"/>
                  </a:solidFill>
                  <a:latin typeface="Consolas"/>
                  <a:ea typeface="Consolas"/>
                  <a:cs typeface="Consolas"/>
                  <a:sym typeface="Consolas"/>
                </a:rPr>
                <a:t>- name: Create temporary file</a:t>
              </a:r>
            </a:p>
            <a:p>
              <a:pPr algn="l">
                <a:lnSpc>
                  <a:spcPts val="3250"/>
                </a:lnSpc>
              </a:pPr>
              <a:r>
                <a:rPr lang="en-US" sz="2000">
                  <a:solidFill>
                    <a:srgbClr val="383838"/>
                  </a:solidFill>
                  <a:latin typeface="Consolas"/>
                  <a:ea typeface="Consolas"/>
                  <a:cs typeface="Consolas"/>
                  <a:sym typeface="Consolas"/>
                </a:rPr>
                <a:t>  command: mktemp /tmp/tempfile.XXXXXX</a:t>
              </a:r>
            </a:p>
            <a:p>
              <a:pPr algn="l">
                <a:lnSpc>
                  <a:spcPts val="3250"/>
                </a:lnSpc>
              </a:pPr>
              <a:endParaRPr lang="en-US" sz="2000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sp>
        <p:nvSpPr>
          <p:cNvPr id="17" name="Freeform 17"/>
          <p:cNvSpPr/>
          <p:nvPr/>
        </p:nvSpPr>
        <p:spPr>
          <a:xfrm>
            <a:off x="914400" y="4201269"/>
            <a:ext cx="7910959" cy="418059"/>
          </a:xfrm>
          <a:custGeom>
            <a:avLst/>
            <a:gdLst/>
            <a:ahLst/>
            <a:cxnLst/>
            <a:rect l="l" t="t" r="r" b="b"/>
            <a:pathLst>
              <a:path w="10547945" h="557412">
                <a:moveTo>
                  <a:pt x="0" y="0"/>
                </a:moveTo>
                <a:lnTo>
                  <a:pt x="10547945" y="0"/>
                </a:lnTo>
                <a:lnTo>
                  <a:pt x="10547945" y="557412"/>
                </a:lnTo>
                <a:lnTo>
                  <a:pt x="0" y="557412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grpSp>
        <p:nvGrpSpPr>
          <p:cNvPr id="19" name="Group 19"/>
          <p:cNvGrpSpPr/>
          <p:nvPr/>
        </p:nvGrpSpPr>
        <p:grpSpPr>
          <a:xfrm>
            <a:off x="914400" y="4854476"/>
            <a:ext cx="7910959" cy="522386"/>
            <a:chOff x="0" y="0"/>
            <a:chExt cx="10547945" cy="696515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0547945" cy="696515"/>
            </a:xfrm>
            <a:custGeom>
              <a:avLst/>
              <a:gdLst/>
              <a:ahLst/>
              <a:cxnLst/>
              <a:rect l="l" t="t" r="r" b="b"/>
              <a:pathLst>
                <a:path w="10547945" h="696515">
                  <a:moveTo>
                    <a:pt x="0" y="0"/>
                  </a:moveTo>
                  <a:lnTo>
                    <a:pt x="10547945" y="0"/>
                  </a:lnTo>
                  <a:lnTo>
                    <a:pt x="10547945" y="696515"/>
                  </a:lnTo>
                  <a:lnTo>
                    <a:pt x="0" y="6965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85725"/>
              <a:ext cx="10547945" cy="78224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301625" lvl="1" indent="-150812" algn="l">
                <a:lnSpc>
                  <a:spcPts val="3250"/>
                </a:lnSpc>
                <a:buFont typeface="Arial"/>
                <a:buChar char="•"/>
              </a:pPr>
              <a:r>
                <a:rPr lang="en-US" sz="2000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Module used ?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14400" y="5468242"/>
            <a:ext cx="7910959" cy="522386"/>
            <a:chOff x="0" y="0"/>
            <a:chExt cx="10547945" cy="696515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0547945" cy="696515"/>
            </a:xfrm>
            <a:custGeom>
              <a:avLst/>
              <a:gdLst/>
              <a:ahLst/>
              <a:cxnLst/>
              <a:rect l="l" t="t" r="r" b="b"/>
              <a:pathLst>
                <a:path w="10547945" h="696515">
                  <a:moveTo>
                    <a:pt x="0" y="0"/>
                  </a:moveTo>
                  <a:lnTo>
                    <a:pt x="10547945" y="0"/>
                  </a:lnTo>
                  <a:lnTo>
                    <a:pt x="10547945" y="696515"/>
                  </a:lnTo>
                  <a:lnTo>
                    <a:pt x="0" y="6965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85725"/>
              <a:ext cx="10547945" cy="78224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301625" lvl="1" indent="-150812" algn="l">
                <a:lnSpc>
                  <a:spcPts val="3250"/>
                </a:lnSpc>
                <a:buFont typeface="Arial"/>
                <a:buChar char="•"/>
              </a:pPr>
              <a:r>
                <a:rPr lang="en-US" sz="2000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Task does ?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14400" y="6082010"/>
            <a:ext cx="7910959" cy="522386"/>
            <a:chOff x="0" y="0"/>
            <a:chExt cx="10547945" cy="696515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0547945" cy="696515"/>
            </a:xfrm>
            <a:custGeom>
              <a:avLst/>
              <a:gdLst/>
              <a:ahLst/>
              <a:cxnLst/>
              <a:rect l="l" t="t" r="r" b="b"/>
              <a:pathLst>
                <a:path w="10547945" h="696515">
                  <a:moveTo>
                    <a:pt x="0" y="0"/>
                  </a:moveTo>
                  <a:lnTo>
                    <a:pt x="10547945" y="0"/>
                  </a:lnTo>
                  <a:lnTo>
                    <a:pt x="10547945" y="696515"/>
                  </a:lnTo>
                  <a:lnTo>
                    <a:pt x="0" y="6965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85725"/>
              <a:ext cx="10547945" cy="78224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301625" lvl="1" indent="-150812" algn="l">
                <a:lnSpc>
                  <a:spcPts val="3250"/>
                </a:lnSpc>
                <a:buFont typeface="Arial"/>
                <a:buChar char="•"/>
              </a:pPr>
              <a:r>
                <a:rPr lang="en-US" sz="2000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Can be part of playbook ? 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14400" y="6695777"/>
            <a:ext cx="7910959" cy="522386"/>
            <a:chOff x="0" y="0"/>
            <a:chExt cx="10547945" cy="696515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0547945" cy="696515"/>
            </a:xfrm>
            <a:custGeom>
              <a:avLst/>
              <a:gdLst/>
              <a:ahLst/>
              <a:cxnLst/>
              <a:rect l="l" t="t" r="r" b="b"/>
              <a:pathLst>
                <a:path w="10547945" h="696515">
                  <a:moveTo>
                    <a:pt x="0" y="0"/>
                  </a:moveTo>
                  <a:lnTo>
                    <a:pt x="10547945" y="0"/>
                  </a:lnTo>
                  <a:lnTo>
                    <a:pt x="10547945" y="696515"/>
                  </a:lnTo>
                  <a:lnTo>
                    <a:pt x="0" y="6965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85725"/>
              <a:ext cx="10547945" cy="78224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301625" lvl="1" indent="-150812" algn="l">
                <a:lnSpc>
                  <a:spcPts val="3250"/>
                </a:lnSpc>
                <a:buFont typeface="Arial"/>
                <a:buChar char="•"/>
              </a:pPr>
              <a:r>
                <a:rPr lang="en-US" sz="2000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Is it idempotent ? 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472166" y="2261444"/>
            <a:ext cx="7910959" cy="2482006"/>
            <a:chOff x="0" y="0"/>
            <a:chExt cx="10547945" cy="3309342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0547858" cy="3309239"/>
            </a:xfrm>
            <a:custGeom>
              <a:avLst/>
              <a:gdLst/>
              <a:ahLst/>
              <a:cxnLst/>
              <a:rect l="l" t="t" r="r" b="b"/>
              <a:pathLst>
                <a:path w="10547858" h="3309239">
                  <a:moveTo>
                    <a:pt x="0" y="52197"/>
                  </a:moveTo>
                  <a:cubicBezTo>
                    <a:pt x="0" y="23368"/>
                    <a:pt x="23368" y="0"/>
                    <a:pt x="52197" y="0"/>
                  </a:cubicBezTo>
                  <a:lnTo>
                    <a:pt x="10495661" y="0"/>
                  </a:lnTo>
                  <a:cubicBezTo>
                    <a:pt x="10524490" y="0"/>
                    <a:pt x="10547858" y="23368"/>
                    <a:pt x="10547858" y="52197"/>
                  </a:cubicBezTo>
                  <a:lnTo>
                    <a:pt x="10547858" y="3257042"/>
                  </a:lnTo>
                  <a:cubicBezTo>
                    <a:pt x="10547858" y="3285871"/>
                    <a:pt x="10524490" y="3309239"/>
                    <a:pt x="10495661" y="3309239"/>
                  </a:cubicBezTo>
                  <a:lnTo>
                    <a:pt x="52197" y="3309239"/>
                  </a:lnTo>
                  <a:cubicBezTo>
                    <a:pt x="23368" y="3309239"/>
                    <a:pt x="0" y="3285871"/>
                    <a:pt x="0" y="3257042"/>
                  </a:cubicBezTo>
                  <a:close/>
                </a:path>
              </a:pathLst>
            </a:custGeom>
            <a:solidFill>
              <a:srgbClr val="FFDEC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9459217" y="2261444"/>
            <a:ext cx="7936855" cy="2482006"/>
            <a:chOff x="0" y="0"/>
            <a:chExt cx="10582473" cy="3309342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0582402" cy="3309239"/>
            </a:xfrm>
            <a:custGeom>
              <a:avLst/>
              <a:gdLst/>
              <a:ahLst/>
              <a:cxnLst/>
              <a:rect l="l" t="t" r="r" b="b"/>
              <a:pathLst>
                <a:path w="10582402" h="3309239">
                  <a:moveTo>
                    <a:pt x="0" y="52197"/>
                  </a:moveTo>
                  <a:cubicBezTo>
                    <a:pt x="0" y="23368"/>
                    <a:pt x="23368" y="0"/>
                    <a:pt x="52197" y="0"/>
                  </a:cubicBezTo>
                  <a:lnTo>
                    <a:pt x="10530205" y="0"/>
                  </a:lnTo>
                  <a:cubicBezTo>
                    <a:pt x="10559035" y="0"/>
                    <a:pt x="10582402" y="23368"/>
                    <a:pt x="10582402" y="52197"/>
                  </a:cubicBezTo>
                  <a:lnTo>
                    <a:pt x="10582402" y="3257042"/>
                  </a:lnTo>
                  <a:cubicBezTo>
                    <a:pt x="10582402" y="3285871"/>
                    <a:pt x="10559035" y="3309239"/>
                    <a:pt x="10530205" y="3309239"/>
                  </a:cubicBezTo>
                  <a:lnTo>
                    <a:pt x="52197" y="3309239"/>
                  </a:lnTo>
                  <a:cubicBezTo>
                    <a:pt x="23368" y="3309239"/>
                    <a:pt x="0" y="3285871"/>
                    <a:pt x="0" y="3257042"/>
                  </a:cubicBezTo>
                  <a:close/>
                </a:path>
              </a:pathLst>
            </a:custGeom>
            <a:solidFill>
              <a:srgbClr val="FFDEC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9720411" y="2457301"/>
            <a:ext cx="7414469" cy="2090291"/>
            <a:chOff x="0" y="0"/>
            <a:chExt cx="9885958" cy="2787055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9885959" cy="2787055"/>
            </a:xfrm>
            <a:custGeom>
              <a:avLst/>
              <a:gdLst/>
              <a:ahLst/>
              <a:cxnLst/>
              <a:rect l="l" t="t" r="r" b="b"/>
              <a:pathLst>
                <a:path w="9885959" h="2787055">
                  <a:moveTo>
                    <a:pt x="0" y="0"/>
                  </a:moveTo>
                  <a:lnTo>
                    <a:pt x="9885959" y="0"/>
                  </a:lnTo>
                  <a:lnTo>
                    <a:pt x="9885959" y="2787055"/>
                  </a:lnTo>
                  <a:lnTo>
                    <a:pt x="0" y="278705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-123825"/>
              <a:ext cx="9885958" cy="291088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250"/>
                </a:lnSpc>
              </a:pPr>
              <a:r>
                <a:rPr lang="en-US" sz="2000">
                  <a:solidFill>
                    <a:srgbClr val="383838"/>
                  </a:solidFill>
                  <a:latin typeface="Consolas"/>
                  <a:ea typeface="Consolas"/>
                  <a:cs typeface="Consolas"/>
                  <a:sym typeface="Consolas"/>
                </a:rPr>
                <a:t>- name: Install Apache web server</a:t>
              </a:r>
            </a:p>
            <a:p>
              <a:pPr algn="l">
                <a:lnSpc>
                  <a:spcPts val="3250"/>
                </a:lnSpc>
              </a:pPr>
              <a:r>
                <a:rPr lang="en-US" sz="2000">
                  <a:solidFill>
                    <a:srgbClr val="383838"/>
                  </a:solidFill>
                  <a:latin typeface="Consolas"/>
                  <a:ea typeface="Consolas"/>
                  <a:cs typeface="Consolas"/>
                  <a:sym typeface="Consolas"/>
                </a:rPr>
                <a:t>  yum:</a:t>
              </a:r>
            </a:p>
            <a:p>
              <a:pPr algn="l">
                <a:lnSpc>
                  <a:spcPts val="3250"/>
                </a:lnSpc>
              </a:pPr>
              <a:r>
                <a:rPr lang="en-US" sz="2000">
                  <a:solidFill>
                    <a:srgbClr val="383838"/>
                  </a:solidFill>
                  <a:latin typeface="Consolas"/>
                  <a:ea typeface="Consolas"/>
                  <a:cs typeface="Consolas"/>
                  <a:sym typeface="Consolas"/>
                </a:rPr>
                <a:t>    name: "{{ apache_package }}"</a:t>
              </a:r>
            </a:p>
            <a:p>
              <a:pPr algn="l">
                <a:lnSpc>
                  <a:spcPts val="3250"/>
                </a:lnSpc>
              </a:pPr>
              <a:r>
                <a:rPr lang="en-US" sz="2000">
                  <a:solidFill>
                    <a:srgbClr val="383838"/>
                  </a:solidFill>
                  <a:latin typeface="Consolas"/>
                  <a:ea typeface="Consolas"/>
                  <a:cs typeface="Consolas"/>
                  <a:sym typeface="Consolas"/>
                </a:rPr>
                <a:t>    state: installed</a:t>
              </a:r>
            </a:p>
            <a:p>
              <a:pPr algn="l">
                <a:lnSpc>
                  <a:spcPts val="3250"/>
                </a:lnSpc>
              </a:pPr>
              <a:endParaRPr lang="en-US" sz="2000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sp>
        <p:nvSpPr>
          <p:cNvPr id="39" name="Freeform 39"/>
          <p:cNvSpPr/>
          <p:nvPr/>
        </p:nvSpPr>
        <p:spPr>
          <a:xfrm>
            <a:off x="9472166" y="5037385"/>
            <a:ext cx="7910959" cy="418059"/>
          </a:xfrm>
          <a:custGeom>
            <a:avLst/>
            <a:gdLst/>
            <a:ahLst/>
            <a:cxnLst/>
            <a:rect l="l" t="t" r="r" b="b"/>
            <a:pathLst>
              <a:path w="10547945" h="557412">
                <a:moveTo>
                  <a:pt x="0" y="0"/>
                </a:moveTo>
                <a:lnTo>
                  <a:pt x="10547945" y="0"/>
                </a:lnTo>
                <a:lnTo>
                  <a:pt x="10547945" y="557412"/>
                </a:lnTo>
                <a:lnTo>
                  <a:pt x="0" y="557412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grpSp>
        <p:nvGrpSpPr>
          <p:cNvPr id="41" name="Group 41"/>
          <p:cNvGrpSpPr/>
          <p:nvPr/>
        </p:nvGrpSpPr>
        <p:grpSpPr>
          <a:xfrm>
            <a:off x="9472166" y="5690592"/>
            <a:ext cx="7910959" cy="522386"/>
            <a:chOff x="0" y="0"/>
            <a:chExt cx="10547945" cy="696515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10547945" cy="696515"/>
            </a:xfrm>
            <a:custGeom>
              <a:avLst/>
              <a:gdLst/>
              <a:ahLst/>
              <a:cxnLst/>
              <a:rect l="l" t="t" r="r" b="b"/>
              <a:pathLst>
                <a:path w="10547945" h="696515">
                  <a:moveTo>
                    <a:pt x="0" y="0"/>
                  </a:moveTo>
                  <a:lnTo>
                    <a:pt x="10547945" y="0"/>
                  </a:lnTo>
                  <a:lnTo>
                    <a:pt x="10547945" y="696515"/>
                  </a:lnTo>
                  <a:lnTo>
                    <a:pt x="0" y="6965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0" y="-85725"/>
              <a:ext cx="10547945" cy="78224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301625" lvl="1" indent="-150812" algn="l">
                <a:lnSpc>
                  <a:spcPts val="3250"/>
                </a:lnSpc>
                <a:buFont typeface="Arial"/>
                <a:buChar char="•"/>
              </a:pPr>
              <a:r>
                <a:rPr lang="en-US" sz="2000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Module used ?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472166" y="6304360"/>
            <a:ext cx="7910959" cy="522386"/>
            <a:chOff x="0" y="0"/>
            <a:chExt cx="10547945" cy="696515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10547945" cy="696515"/>
            </a:xfrm>
            <a:custGeom>
              <a:avLst/>
              <a:gdLst/>
              <a:ahLst/>
              <a:cxnLst/>
              <a:rect l="l" t="t" r="r" b="b"/>
              <a:pathLst>
                <a:path w="10547945" h="696515">
                  <a:moveTo>
                    <a:pt x="0" y="0"/>
                  </a:moveTo>
                  <a:lnTo>
                    <a:pt x="10547945" y="0"/>
                  </a:lnTo>
                  <a:lnTo>
                    <a:pt x="10547945" y="696515"/>
                  </a:lnTo>
                  <a:lnTo>
                    <a:pt x="0" y="6965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0" y="-85725"/>
              <a:ext cx="10547945" cy="78224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301625" lvl="1" indent="-150812" algn="l">
                <a:lnSpc>
                  <a:spcPts val="3250"/>
                </a:lnSpc>
                <a:buFont typeface="Arial"/>
                <a:buChar char="•"/>
              </a:pPr>
              <a:r>
                <a:rPr lang="en-US" sz="2000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Task does ?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9472166" y="6918126"/>
            <a:ext cx="7910959" cy="522386"/>
            <a:chOff x="0" y="0"/>
            <a:chExt cx="10547945" cy="696515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10547945" cy="696515"/>
            </a:xfrm>
            <a:custGeom>
              <a:avLst/>
              <a:gdLst/>
              <a:ahLst/>
              <a:cxnLst/>
              <a:rect l="l" t="t" r="r" b="b"/>
              <a:pathLst>
                <a:path w="10547945" h="696515">
                  <a:moveTo>
                    <a:pt x="0" y="0"/>
                  </a:moveTo>
                  <a:lnTo>
                    <a:pt x="10547945" y="0"/>
                  </a:lnTo>
                  <a:lnTo>
                    <a:pt x="10547945" y="696515"/>
                  </a:lnTo>
                  <a:lnTo>
                    <a:pt x="0" y="6965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0" y="-85725"/>
              <a:ext cx="10547945" cy="78224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301625" lvl="1" indent="-150812" algn="l">
                <a:lnSpc>
                  <a:spcPts val="3250"/>
                </a:lnSpc>
                <a:buFont typeface="Arial"/>
                <a:buChar char="•"/>
              </a:pPr>
              <a:r>
                <a:rPr lang="en-US" sz="2000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Can be part of playbook ? 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9472166" y="7531894"/>
            <a:ext cx="7910959" cy="522386"/>
            <a:chOff x="0" y="0"/>
            <a:chExt cx="10547945" cy="696515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10547945" cy="696515"/>
            </a:xfrm>
            <a:custGeom>
              <a:avLst/>
              <a:gdLst/>
              <a:ahLst/>
              <a:cxnLst/>
              <a:rect l="l" t="t" r="r" b="b"/>
              <a:pathLst>
                <a:path w="10547945" h="696515">
                  <a:moveTo>
                    <a:pt x="0" y="0"/>
                  </a:moveTo>
                  <a:lnTo>
                    <a:pt x="10547945" y="0"/>
                  </a:lnTo>
                  <a:lnTo>
                    <a:pt x="10547945" y="696515"/>
                  </a:lnTo>
                  <a:lnTo>
                    <a:pt x="0" y="6965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0" y="-85725"/>
              <a:ext cx="10547945" cy="78224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301625" lvl="1" indent="-150812" algn="l">
                <a:lnSpc>
                  <a:spcPts val="3250"/>
                </a:lnSpc>
                <a:buFont typeface="Arial"/>
                <a:buChar char="•"/>
              </a:pPr>
              <a:r>
                <a:rPr lang="en-US" sz="2000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Is it idempotent ? 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AFA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781050" y="714425"/>
            <a:ext cx="5858024" cy="877292"/>
            <a:chOff x="0" y="0"/>
            <a:chExt cx="7810698" cy="116972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810698" cy="1169723"/>
            </a:xfrm>
            <a:custGeom>
              <a:avLst/>
              <a:gdLst/>
              <a:ahLst/>
              <a:cxnLst/>
              <a:rect l="l" t="t" r="r" b="b"/>
              <a:pathLst>
                <a:path w="7810698" h="1169723">
                  <a:moveTo>
                    <a:pt x="0" y="0"/>
                  </a:moveTo>
                  <a:lnTo>
                    <a:pt x="7810698" y="0"/>
                  </a:lnTo>
                  <a:lnTo>
                    <a:pt x="7810698" y="1169723"/>
                  </a:lnTo>
                  <a:lnTo>
                    <a:pt x="0" y="116972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7810698" cy="118877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5750"/>
                </a:lnSpc>
              </a:pPr>
              <a:r>
                <a:rPr lang="en-US" sz="4562">
                  <a:solidFill>
                    <a:srgbClr val="020202"/>
                  </a:solidFill>
                  <a:latin typeface="PT Serif"/>
                  <a:ea typeface="PT Serif"/>
                  <a:cs typeface="PT Serif"/>
                  <a:sym typeface="PT Serif"/>
                </a:rPr>
                <a:t>Snippet-3 &amp; 4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81050" y="2177355"/>
            <a:ext cx="8090744" cy="1405235"/>
            <a:chOff x="0" y="0"/>
            <a:chExt cx="10787658" cy="187364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0787634" cy="1873504"/>
            </a:xfrm>
            <a:custGeom>
              <a:avLst/>
              <a:gdLst/>
              <a:ahLst/>
              <a:cxnLst/>
              <a:rect l="l" t="t" r="r" b="b"/>
              <a:pathLst>
                <a:path w="10787634" h="1873504">
                  <a:moveTo>
                    <a:pt x="0" y="44577"/>
                  </a:moveTo>
                  <a:cubicBezTo>
                    <a:pt x="0" y="19939"/>
                    <a:pt x="19939" y="0"/>
                    <a:pt x="44577" y="0"/>
                  </a:cubicBezTo>
                  <a:lnTo>
                    <a:pt x="10743057" y="0"/>
                  </a:lnTo>
                  <a:cubicBezTo>
                    <a:pt x="10767695" y="0"/>
                    <a:pt x="10787634" y="19939"/>
                    <a:pt x="10787634" y="44577"/>
                  </a:cubicBezTo>
                  <a:lnTo>
                    <a:pt x="10787634" y="1828927"/>
                  </a:lnTo>
                  <a:cubicBezTo>
                    <a:pt x="10787634" y="1853565"/>
                    <a:pt x="10767695" y="1873504"/>
                    <a:pt x="10743057" y="1873504"/>
                  </a:cubicBezTo>
                  <a:lnTo>
                    <a:pt x="44577" y="1873504"/>
                  </a:lnTo>
                  <a:cubicBezTo>
                    <a:pt x="19939" y="1873504"/>
                    <a:pt x="0" y="1853565"/>
                    <a:pt x="0" y="1828927"/>
                  </a:cubicBezTo>
                  <a:close/>
                </a:path>
              </a:pathLst>
            </a:custGeom>
            <a:solidFill>
              <a:srgbClr val="FFDEC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70036" y="2177355"/>
            <a:ext cx="8112770" cy="1405235"/>
            <a:chOff x="0" y="0"/>
            <a:chExt cx="10817027" cy="187364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816971" cy="1873504"/>
            </a:xfrm>
            <a:custGeom>
              <a:avLst/>
              <a:gdLst/>
              <a:ahLst/>
              <a:cxnLst/>
              <a:rect l="l" t="t" r="r" b="b"/>
              <a:pathLst>
                <a:path w="10816971" h="1873504">
                  <a:moveTo>
                    <a:pt x="0" y="44577"/>
                  </a:moveTo>
                  <a:cubicBezTo>
                    <a:pt x="0" y="19939"/>
                    <a:pt x="19939" y="0"/>
                    <a:pt x="44577" y="0"/>
                  </a:cubicBezTo>
                  <a:lnTo>
                    <a:pt x="10772394" y="0"/>
                  </a:lnTo>
                  <a:cubicBezTo>
                    <a:pt x="10797032" y="0"/>
                    <a:pt x="10816971" y="19939"/>
                    <a:pt x="10816971" y="44577"/>
                  </a:cubicBezTo>
                  <a:lnTo>
                    <a:pt x="10816971" y="1828927"/>
                  </a:lnTo>
                  <a:cubicBezTo>
                    <a:pt x="10816971" y="1853565"/>
                    <a:pt x="10797032" y="1873504"/>
                    <a:pt x="10772394" y="1873504"/>
                  </a:cubicBezTo>
                  <a:lnTo>
                    <a:pt x="44577" y="1873504"/>
                  </a:lnTo>
                  <a:cubicBezTo>
                    <a:pt x="19939" y="1873504"/>
                    <a:pt x="0" y="1853565"/>
                    <a:pt x="0" y="1828927"/>
                  </a:cubicBezTo>
                  <a:close/>
                </a:path>
              </a:pathLst>
            </a:custGeom>
            <a:solidFill>
              <a:srgbClr val="FFDEC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93130" y="2344639"/>
            <a:ext cx="7666584" cy="1070670"/>
            <a:chOff x="0" y="0"/>
            <a:chExt cx="10222112" cy="142756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0222112" cy="1427560"/>
            </a:xfrm>
            <a:custGeom>
              <a:avLst/>
              <a:gdLst/>
              <a:ahLst/>
              <a:cxnLst/>
              <a:rect l="l" t="t" r="r" b="b"/>
              <a:pathLst>
                <a:path w="10222112" h="1427560">
                  <a:moveTo>
                    <a:pt x="0" y="0"/>
                  </a:moveTo>
                  <a:lnTo>
                    <a:pt x="10222112" y="0"/>
                  </a:lnTo>
                  <a:lnTo>
                    <a:pt x="10222112" y="1427560"/>
                  </a:lnTo>
                  <a:lnTo>
                    <a:pt x="0" y="142756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104775"/>
              <a:ext cx="10222112" cy="153233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2750"/>
                </a:lnSpc>
              </a:pPr>
              <a:r>
                <a:rPr lang="en-US" sz="1750">
                  <a:solidFill>
                    <a:srgbClr val="383838"/>
                  </a:solidFill>
                  <a:latin typeface="Consolas"/>
                  <a:ea typeface="Consolas"/>
                  <a:cs typeface="Consolas"/>
                  <a:sym typeface="Consolas"/>
                </a:rPr>
                <a:t>- name: Create temporary file</a:t>
              </a:r>
            </a:p>
            <a:p>
              <a:pPr algn="l">
                <a:lnSpc>
                  <a:spcPts val="2750"/>
                </a:lnSpc>
              </a:pPr>
              <a:r>
                <a:rPr lang="en-US" sz="1750">
                  <a:solidFill>
                    <a:srgbClr val="383838"/>
                  </a:solidFill>
                  <a:latin typeface="Consolas"/>
                  <a:ea typeface="Consolas"/>
                  <a:cs typeface="Consolas"/>
                  <a:sym typeface="Consolas"/>
                </a:rPr>
                <a:t>  command: mktemp /tmp/tempfile.XXXXXX</a:t>
              </a:r>
            </a:p>
            <a:p>
              <a:pPr algn="l">
                <a:lnSpc>
                  <a:spcPts val="2750"/>
                </a:lnSpc>
              </a:pPr>
              <a:endParaRPr lang="en-US" sz="1750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781050" y="3833515"/>
            <a:ext cx="8090744" cy="446186"/>
            <a:chOff x="0" y="0"/>
            <a:chExt cx="10787658" cy="594915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0787659" cy="594915"/>
            </a:xfrm>
            <a:custGeom>
              <a:avLst/>
              <a:gdLst/>
              <a:ahLst/>
              <a:cxnLst/>
              <a:rect l="l" t="t" r="r" b="b"/>
              <a:pathLst>
                <a:path w="10787659" h="594915">
                  <a:moveTo>
                    <a:pt x="0" y="0"/>
                  </a:moveTo>
                  <a:lnTo>
                    <a:pt x="10787659" y="0"/>
                  </a:lnTo>
                  <a:lnTo>
                    <a:pt x="10787659" y="594915"/>
                  </a:lnTo>
                  <a:lnTo>
                    <a:pt x="0" y="5949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95250"/>
              <a:ext cx="10787658" cy="69016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500"/>
                </a:lnSpc>
              </a:pPr>
              <a:r>
                <a:rPr lang="en-US" sz="2187" b="1">
                  <a:solidFill>
                    <a:srgbClr val="383838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Answers: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781050" y="4480471"/>
            <a:ext cx="8090744" cy="455711"/>
            <a:chOff x="0" y="0"/>
            <a:chExt cx="10787658" cy="607615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0787659" cy="607615"/>
            </a:xfrm>
            <a:custGeom>
              <a:avLst/>
              <a:gdLst/>
              <a:ahLst/>
              <a:cxnLst/>
              <a:rect l="l" t="t" r="r" b="b"/>
              <a:pathLst>
                <a:path w="10787659" h="607615">
                  <a:moveTo>
                    <a:pt x="0" y="0"/>
                  </a:moveTo>
                  <a:lnTo>
                    <a:pt x="10787659" y="0"/>
                  </a:lnTo>
                  <a:lnTo>
                    <a:pt x="10787659" y="607615"/>
                  </a:lnTo>
                  <a:lnTo>
                    <a:pt x="0" y="6076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57150"/>
              <a:ext cx="10787658" cy="66476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263922" lvl="1" indent="-131961" algn="l">
                <a:lnSpc>
                  <a:spcPts val="2750"/>
                </a:lnSpc>
                <a:buFont typeface="Arial"/>
                <a:buChar char="•"/>
              </a:pPr>
              <a:r>
                <a:rPr lang="en-US" sz="1750" b="1">
                  <a:solidFill>
                    <a:srgbClr val="383838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Module used</a:t>
              </a:r>
              <a:r>
                <a:rPr lang="en-US" sz="1750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: command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781050" y="5014169"/>
            <a:ext cx="8090744" cy="446186"/>
            <a:chOff x="0" y="0"/>
            <a:chExt cx="10787658" cy="594915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0787659" cy="594915"/>
            </a:xfrm>
            <a:custGeom>
              <a:avLst/>
              <a:gdLst/>
              <a:ahLst/>
              <a:cxnLst/>
              <a:rect l="l" t="t" r="r" b="b"/>
              <a:pathLst>
                <a:path w="10787659" h="594915">
                  <a:moveTo>
                    <a:pt x="0" y="0"/>
                  </a:moveTo>
                  <a:lnTo>
                    <a:pt x="10787659" y="0"/>
                  </a:lnTo>
                  <a:lnTo>
                    <a:pt x="10787659" y="594915"/>
                  </a:lnTo>
                  <a:lnTo>
                    <a:pt x="0" y="5949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57150"/>
              <a:ext cx="10787658" cy="65206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263922" lvl="1" indent="-131961" algn="l">
                <a:lnSpc>
                  <a:spcPts val="2750"/>
                </a:lnSpc>
                <a:buFont typeface="Arial"/>
                <a:buChar char="•"/>
              </a:pPr>
              <a:r>
                <a:rPr lang="en-US" sz="1750" b="1">
                  <a:solidFill>
                    <a:srgbClr val="383838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Task does</a:t>
              </a:r>
              <a:r>
                <a:rPr lang="en-US" sz="1750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: Creates a temp file with random name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781050" y="5538341"/>
            <a:ext cx="8090744" cy="446186"/>
            <a:chOff x="0" y="0"/>
            <a:chExt cx="10787658" cy="594915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0787659" cy="594915"/>
            </a:xfrm>
            <a:custGeom>
              <a:avLst/>
              <a:gdLst/>
              <a:ahLst/>
              <a:cxnLst/>
              <a:rect l="l" t="t" r="r" b="b"/>
              <a:pathLst>
                <a:path w="10787659" h="594915">
                  <a:moveTo>
                    <a:pt x="0" y="0"/>
                  </a:moveTo>
                  <a:lnTo>
                    <a:pt x="10787659" y="0"/>
                  </a:lnTo>
                  <a:lnTo>
                    <a:pt x="10787659" y="594915"/>
                  </a:lnTo>
                  <a:lnTo>
                    <a:pt x="0" y="5949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57150"/>
              <a:ext cx="10787658" cy="65206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263922" lvl="1" indent="-131961" algn="l">
                <a:lnSpc>
                  <a:spcPts val="2750"/>
                </a:lnSpc>
                <a:buFont typeface="Arial"/>
                <a:buChar char="•"/>
              </a:pPr>
              <a:r>
                <a:rPr lang="en-US" sz="1750" b="1">
                  <a:solidFill>
                    <a:srgbClr val="383838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Can be part of playbook?</a:t>
              </a:r>
              <a:r>
                <a:rPr lang="en-US" sz="1750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 Yes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781050" y="6062514"/>
            <a:ext cx="8090744" cy="446186"/>
            <a:chOff x="0" y="0"/>
            <a:chExt cx="10787658" cy="594915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0787659" cy="594915"/>
            </a:xfrm>
            <a:custGeom>
              <a:avLst/>
              <a:gdLst/>
              <a:ahLst/>
              <a:cxnLst/>
              <a:rect l="l" t="t" r="r" b="b"/>
              <a:pathLst>
                <a:path w="10787659" h="594915">
                  <a:moveTo>
                    <a:pt x="0" y="0"/>
                  </a:moveTo>
                  <a:lnTo>
                    <a:pt x="10787659" y="0"/>
                  </a:lnTo>
                  <a:lnTo>
                    <a:pt x="10787659" y="594915"/>
                  </a:lnTo>
                  <a:lnTo>
                    <a:pt x="0" y="5949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57150"/>
              <a:ext cx="10787658" cy="65206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263922" lvl="1" indent="-131961" algn="l">
                <a:lnSpc>
                  <a:spcPts val="2750"/>
                </a:lnSpc>
                <a:buFont typeface="Arial"/>
                <a:buChar char="•"/>
              </a:pPr>
              <a:r>
                <a:rPr lang="en-US" sz="1750" b="1">
                  <a:solidFill>
                    <a:srgbClr val="383838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Is it idempotent?</a:t>
              </a:r>
              <a:r>
                <a:rPr lang="en-US" sz="1750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 No — Every run generates a different file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425731" y="2177355"/>
            <a:ext cx="8090744" cy="2119015"/>
            <a:chOff x="0" y="0"/>
            <a:chExt cx="10787658" cy="2825353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0787761" cy="2825369"/>
            </a:xfrm>
            <a:custGeom>
              <a:avLst/>
              <a:gdLst/>
              <a:ahLst/>
              <a:cxnLst/>
              <a:rect l="l" t="t" r="r" b="b"/>
              <a:pathLst>
                <a:path w="10787761" h="2825369">
                  <a:moveTo>
                    <a:pt x="0" y="44704"/>
                  </a:moveTo>
                  <a:cubicBezTo>
                    <a:pt x="0" y="19939"/>
                    <a:pt x="19939" y="0"/>
                    <a:pt x="44704" y="0"/>
                  </a:cubicBezTo>
                  <a:lnTo>
                    <a:pt x="10743057" y="0"/>
                  </a:lnTo>
                  <a:cubicBezTo>
                    <a:pt x="10767695" y="0"/>
                    <a:pt x="10787761" y="19939"/>
                    <a:pt x="10787761" y="44704"/>
                  </a:cubicBezTo>
                  <a:lnTo>
                    <a:pt x="10787761" y="2780665"/>
                  </a:lnTo>
                  <a:cubicBezTo>
                    <a:pt x="10787761" y="2805303"/>
                    <a:pt x="10767822" y="2825369"/>
                    <a:pt x="10743057" y="2825369"/>
                  </a:cubicBezTo>
                  <a:lnTo>
                    <a:pt x="44704" y="2825369"/>
                  </a:lnTo>
                  <a:cubicBezTo>
                    <a:pt x="20066" y="2825369"/>
                    <a:pt x="0" y="2805430"/>
                    <a:pt x="0" y="2780665"/>
                  </a:cubicBezTo>
                  <a:close/>
                </a:path>
              </a:pathLst>
            </a:custGeom>
            <a:solidFill>
              <a:srgbClr val="FFDEC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9414719" y="2177355"/>
            <a:ext cx="8112770" cy="2119015"/>
            <a:chOff x="0" y="0"/>
            <a:chExt cx="10817027" cy="2825353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0817098" cy="2825369"/>
            </a:xfrm>
            <a:custGeom>
              <a:avLst/>
              <a:gdLst/>
              <a:ahLst/>
              <a:cxnLst/>
              <a:rect l="l" t="t" r="r" b="b"/>
              <a:pathLst>
                <a:path w="10817098" h="2825369">
                  <a:moveTo>
                    <a:pt x="0" y="44704"/>
                  </a:moveTo>
                  <a:cubicBezTo>
                    <a:pt x="0" y="19939"/>
                    <a:pt x="19939" y="0"/>
                    <a:pt x="44704" y="0"/>
                  </a:cubicBezTo>
                  <a:lnTo>
                    <a:pt x="10772394" y="0"/>
                  </a:lnTo>
                  <a:cubicBezTo>
                    <a:pt x="10797032" y="0"/>
                    <a:pt x="10817098" y="19939"/>
                    <a:pt x="10817098" y="44704"/>
                  </a:cubicBezTo>
                  <a:lnTo>
                    <a:pt x="10817098" y="2780665"/>
                  </a:lnTo>
                  <a:cubicBezTo>
                    <a:pt x="10817098" y="2805303"/>
                    <a:pt x="10797159" y="2825369"/>
                    <a:pt x="10772394" y="2825369"/>
                  </a:cubicBezTo>
                  <a:lnTo>
                    <a:pt x="44704" y="2825369"/>
                  </a:lnTo>
                  <a:cubicBezTo>
                    <a:pt x="20066" y="2825369"/>
                    <a:pt x="0" y="2805430"/>
                    <a:pt x="0" y="2780665"/>
                  </a:cubicBezTo>
                  <a:close/>
                </a:path>
              </a:pathLst>
            </a:custGeom>
            <a:solidFill>
              <a:srgbClr val="FFDEC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9637811" y="2344639"/>
            <a:ext cx="7666584" cy="1784449"/>
            <a:chOff x="0" y="0"/>
            <a:chExt cx="10222112" cy="2379265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0222112" cy="2379265"/>
            </a:xfrm>
            <a:custGeom>
              <a:avLst/>
              <a:gdLst/>
              <a:ahLst/>
              <a:cxnLst/>
              <a:rect l="l" t="t" r="r" b="b"/>
              <a:pathLst>
                <a:path w="10222112" h="2379265">
                  <a:moveTo>
                    <a:pt x="0" y="0"/>
                  </a:moveTo>
                  <a:lnTo>
                    <a:pt x="10222112" y="0"/>
                  </a:lnTo>
                  <a:lnTo>
                    <a:pt x="10222112" y="2379265"/>
                  </a:lnTo>
                  <a:lnTo>
                    <a:pt x="0" y="237926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-104775"/>
              <a:ext cx="10222112" cy="248404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2750"/>
                </a:lnSpc>
              </a:pPr>
              <a:r>
                <a:rPr lang="en-US" sz="1750">
                  <a:solidFill>
                    <a:srgbClr val="383838"/>
                  </a:solidFill>
                  <a:latin typeface="Consolas"/>
                  <a:ea typeface="Consolas"/>
                  <a:cs typeface="Consolas"/>
                  <a:sym typeface="Consolas"/>
                </a:rPr>
                <a:t>- name: Install Apache web server</a:t>
              </a:r>
            </a:p>
            <a:p>
              <a:pPr algn="l">
                <a:lnSpc>
                  <a:spcPts val="2750"/>
                </a:lnSpc>
              </a:pPr>
              <a:r>
                <a:rPr lang="en-US" sz="1750">
                  <a:solidFill>
                    <a:srgbClr val="383838"/>
                  </a:solidFill>
                  <a:latin typeface="Consolas"/>
                  <a:ea typeface="Consolas"/>
                  <a:cs typeface="Consolas"/>
                  <a:sym typeface="Consolas"/>
                </a:rPr>
                <a:t>  yum:</a:t>
              </a:r>
            </a:p>
            <a:p>
              <a:pPr algn="l">
                <a:lnSpc>
                  <a:spcPts val="2750"/>
                </a:lnSpc>
              </a:pPr>
              <a:r>
                <a:rPr lang="en-US" sz="1750">
                  <a:solidFill>
                    <a:srgbClr val="383838"/>
                  </a:solidFill>
                  <a:latin typeface="Consolas"/>
                  <a:ea typeface="Consolas"/>
                  <a:cs typeface="Consolas"/>
                  <a:sym typeface="Consolas"/>
                </a:rPr>
                <a:t>    name: "{{ apache_package }}"</a:t>
              </a:r>
            </a:p>
            <a:p>
              <a:pPr algn="l">
                <a:lnSpc>
                  <a:spcPts val="2750"/>
                </a:lnSpc>
              </a:pPr>
              <a:r>
                <a:rPr lang="en-US" sz="1750">
                  <a:solidFill>
                    <a:srgbClr val="383838"/>
                  </a:solidFill>
                  <a:latin typeface="Consolas"/>
                  <a:ea typeface="Consolas"/>
                  <a:cs typeface="Consolas"/>
                  <a:sym typeface="Consolas"/>
                </a:rPr>
                <a:t>    state: installed</a:t>
              </a:r>
            </a:p>
            <a:p>
              <a:pPr algn="l">
                <a:lnSpc>
                  <a:spcPts val="2750"/>
                </a:lnSpc>
              </a:pPr>
              <a:endParaRPr lang="en-US" sz="1750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9425731" y="4547295"/>
            <a:ext cx="8090744" cy="446186"/>
            <a:chOff x="0" y="0"/>
            <a:chExt cx="10787658" cy="594915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10787659" cy="594915"/>
            </a:xfrm>
            <a:custGeom>
              <a:avLst/>
              <a:gdLst/>
              <a:ahLst/>
              <a:cxnLst/>
              <a:rect l="l" t="t" r="r" b="b"/>
              <a:pathLst>
                <a:path w="10787659" h="594915">
                  <a:moveTo>
                    <a:pt x="0" y="0"/>
                  </a:moveTo>
                  <a:lnTo>
                    <a:pt x="10787659" y="0"/>
                  </a:lnTo>
                  <a:lnTo>
                    <a:pt x="10787659" y="594915"/>
                  </a:lnTo>
                  <a:lnTo>
                    <a:pt x="0" y="5949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-95250"/>
              <a:ext cx="10787658" cy="69016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500"/>
                </a:lnSpc>
              </a:pPr>
              <a:r>
                <a:rPr lang="en-US" sz="2187" b="1">
                  <a:solidFill>
                    <a:srgbClr val="383838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Answers: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425731" y="5194250"/>
            <a:ext cx="8090744" cy="455711"/>
            <a:chOff x="0" y="0"/>
            <a:chExt cx="10787658" cy="607615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10787659" cy="607615"/>
            </a:xfrm>
            <a:custGeom>
              <a:avLst/>
              <a:gdLst/>
              <a:ahLst/>
              <a:cxnLst/>
              <a:rect l="l" t="t" r="r" b="b"/>
              <a:pathLst>
                <a:path w="10787659" h="607615">
                  <a:moveTo>
                    <a:pt x="0" y="0"/>
                  </a:moveTo>
                  <a:lnTo>
                    <a:pt x="10787659" y="0"/>
                  </a:lnTo>
                  <a:lnTo>
                    <a:pt x="10787659" y="607615"/>
                  </a:lnTo>
                  <a:lnTo>
                    <a:pt x="0" y="6076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0" y="-57150"/>
              <a:ext cx="10787658" cy="66476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263922" lvl="1" indent="-131961" algn="l">
                <a:lnSpc>
                  <a:spcPts val="2750"/>
                </a:lnSpc>
                <a:buFont typeface="Arial"/>
                <a:buChar char="•"/>
              </a:pPr>
              <a:r>
                <a:rPr lang="en-US" sz="1750" b="1">
                  <a:solidFill>
                    <a:srgbClr val="383838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Module used</a:t>
              </a:r>
              <a:r>
                <a:rPr lang="en-US" sz="1750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: yum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425731" y="5727948"/>
            <a:ext cx="8090744" cy="446186"/>
            <a:chOff x="0" y="0"/>
            <a:chExt cx="10787658" cy="594915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10787659" cy="594915"/>
            </a:xfrm>
            <a:custGeom>
              <a:avLst/>
              <a:gdLst/>
              <a:ahLst/>
              <a:cxnLst/>
              <a:rect l="l" t="t" r="r" b="b"/>
              <a:pathLst>
                <a:path w="10787659" h="594915">
                  <a:moveTo>
                    <a:pt x="0" y="0"/>
                  </a:moveTo>
                  <a:lnTo>
                    <a:pt x="10787659" y="0"/>
                  </a:lnTo>
                  <a:lnTo>
                    <a:pt x="10787659" y="594915"/>
                  </a:lnTo>
                  <a:lnTo>
                    <a:pt x="0" y="5949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0" y="-57150"/>
              <a:ext cx="10787658" cy="65206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263922" lvl="1" indent="-131961" algn="l">
                <a:lnSpc>
                  <a:spcPts val="2750"/>
                </a:lnSpc>
                <a:buFont typeface="Arial"/>
                <a:buChar char="•"/>
              </a:pPr>
              <a:r>
                <a:rPr lang="en-US" sz="1750" b="1">
                  <a:solidFill>
                    <a:srgbClr val="383838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Task does</a:t>
              </a:r>
              <a:r>
                <a:rPr lang="en-US" sz="1750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: Installs the Apache package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9425731" y="6252121"/>
            <a:ext cx="8090744" cy="901899"/>
            <a:chOff x="0" y="0"/>
            <a:chExt cx="10787658" cy="1202532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10787659" cy="1202532"/>
            </a:xfrm>
            <a:custGeom>
              <a:avLst/>
              <a:gdLst/>
              <a:ahLst/>
              <a:cxnLst/>
              <a:rect l="l" t="t" r="r" b="b"/>
              <a:pathLst>
                <a:path w="10787659" h="1202532">
                  <a:moveTo>
                    <a:pt x="0" y="0"/>
                  </a:moveTo>
                  <a:lnTo>
                    <a:pt x="10787659" y="0"/>
                  </a:lnTo>
                  <a:lnTo>
                    <a:pt x="10787659" y="1202532"/>
                  </a:lnTo>
                  <a:lnTo>
                    <a:pt x="0" y="120253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0" y="-57150"/>
              <a:ext cx="10787658" cy="1259682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263922" lvl="1" indent="-131961" algn="l">
                <a:lnSpc>
                  <a:spcPts val="2750"/>
                </a:lnSpc>
                <a:buFont typeface="Arial"/>
                <a:buChar char="•"/>
              </a:pPr>
              <a:r>
                <a:rPr lang="en-US" sz="1750" b="1">
                  <a:solidFill>
                    <a:srgbClr val="383838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Can be part of playbook?</a:t>
              </a:r>
              <a:r>
                <a:rPr lang="en-US" sz="1750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 Depends — Only if the variable apache_package is defined elsewhere (like in vars)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9425731" y="7232005"/>
            <a:ext cx="8090744" cy="901899"/>
            <a:chOff x="0" y="0"/>
            <a:chExt cx="10787658" cy="1202532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10787659" cy="1202532"/>
            </a:xfrm>
            <a:custGeom>
              <a:avLst/>
              <a:gdLst/>
              <a:ahLst/>
              <a:cxnLst/>
              <a:rect l="l" t="t" r="r" b="b"/>
              <a:pathLst>
                <a:path w="10787659" h="1202532">
                  <a:moveTo>
                    <a:pt x="0" y="0"/>
                  </a:moveTo>
                  <a:lnTo>
                    <a:pt x="10787659" y="0"/>
                  </a:lnTo>
                  <a:lnTo>
                    <a:pt x="10787659" y="1202532"/>
                  </a:lnTo>
                  <a:lnTo>
                    <a:pt x="0" y="120253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0" y="-57150"/>
              <a:ext cx="10787658" cy="1259682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263922" lvl="1" indent="-131961" algn="l">
                <a:lnSpc>
                  <a:spcPts val="2750"/>
                </a:lnSpc>
                <a:buFont typeface="Arial"/>
                <a:buChar char="•"/>
              </a:pPr>
              <a:r>
                <a:rPr lang="en-US" sz="1750" b="1">
                  <a:solidFill>
                    <a:srgbClr val="383838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Is it idempotent?</a:t>
              </a:r>
              <a:r>
                <a:rPr lang="en-US" sz="1750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 Yes — yum ensures the package is only installed if missing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AFA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Freeform 6" descr="preencoded.png">
            <a:hlinkClick r:id="rId3" tooltip="https://gamma.app/?utm_source=made-with-gamma"/>
          </p:cNvPr>
          <p:cNvSpPr/>
          <p:nvPr/>
        </p:nvSpPr>
        <p:spPr>
          <a:xfrm>
            <a:off x="16049019" y="9686925"/>
            <a:ext cx="2153256" cy="514350"/>
          </a:xfrm>
          <a:custGeom>
            <a:avLst/>
            <a:gdLst/>
            <a:ahLst/>
            <a:cxnLst/>
            <a:rect l="l" t="t" r="r" b="b"/>
            <a:pathLst>
              <a:path w="2153256" h="514350">
                <a:moveTo>
                  <a:pt x="0" y="0"/>
                </a:moveTo>
                <a:lnTo>
                  <a:pt x="2153256" y="0"/>
                </a:lnTo>
                <a:lnTo>
                  <a:pt x="2153256" y="514350"/>
                </a:lnTo>
                <a:lnTo>
                  <a:pt x="0" y="5143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 descr="preencoded.png"/>
          <p:cNvSpPr/>
          <p:nvPr/>
        </p:nvSpPr>
        <p:spPr>
          <a:xfrm>
            <a:off x="11430000" y="0"/>
            <a:ext cx="6858000" cy="10287000"/>
          </a:xfrm>
          <a:custGeom>
            <a:avLst/>
            <a:gdLst/>
            <a:ahLst/>
            <a:cxnLst/>
            <a:rect l="l" t="t" r="r" b="b"/>
            <a:pathLst>
              <a:path w="6858000" h="10287000">
                <a:moveTo>
                  <a:pt x="0" y="0"/>
                </a:moveTo>
                <a:lnTo>
                  <a:pt x="6858000" y="0"/>
                </a:lnTo>
                <a:lnTo>
                  <a:pt x="685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 descr="preencoded.png"/>
          <p:cNvSpPr/>
          <p:nvPr/>
        </p:nvSpPr>
        <p:spPr>
          <a:xfrm>
            <a:off x="11744176" y="471190"/>
            <a:ext cx="6229648" cy="9344471"/>
          </a:xfrm>
          <a:custGeom>
            <a:avLst/>
            <a:gdLst/>
            <a:ahLst/>
            <a:cxnLst/>
            <a:rect l="l" t="t" r="r" b="b"/>
            <a:pathLst>
              <a:path w="6229648" h="9344471">
                <a:moveTo>
                  <a:pt x="0" y="0"/>
                </a:moveTo>
                <a:lnTo>
                  <a:pt x="6229648" y="0"/>
                </a:lnTo>
                <a:lnTo>
                  <a:pt x="6229648" y="9344471"/>
                </a:lnTo>
                <a:lnTo>
                  <a:pt x="0" y="934447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9" name="Group 9"/>
          <p:cNvGrpSpPr/>
          <p:nvPr/>
        </p:nvGrpSpPr>
        <p:grpSpPr>
          <a:xfrm>
            <a:off x="879574" y="943719"/>
            <a:ext cx="8898214" cy="996752"/>
            <a:chOff x="0" y="0"/>
            <a:chExt cx="11864286" cy="132900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1864286" cy="1329002"/>
            </a:xfrm>
            <a:custGeom>
              <a:avLst/>
              <a:gdLst/>
              <a:ahLst/>
              <a:cxnLst/>
              <a:rect l="l" t="t" r="r" b="b"/>
              <a:pathLst>
                <a:path w="11864286" h="1329002">
                  <a:moveTo>
                    <a:pt x="0" y="0"/>
                  </a:moveTo>
                  <a:lnTo>
                    <a:pt x="11864286" y="0"/>
                  </a:lnTo>
                  <a:lnTo>
                    <a:pt x="11864286" y="1329002"/>
                  </a:lnTo>
                  <a:lnTo>
                    <a:pt x="0" y="132900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28575"/>
              <a:ext cx="11864286" cy="1357577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6437"/>
                </a:lnSpc>
              </a:pPr>
              <a:r>
                <a:rPr lang="en-US" sz="5187">
                  <a:solidFill>
                    <a:srgbClr val="020202"/>
                  </a:solidFill>
                  <a:latin typeface="PT Serif"/>
                  <a:ea typeface="PT Serif"/>
                  <a:cs typeface="PT Serif"/>
                  <a:sym typeface="PT Serif"/>
                </a:rPr>
                <a:t>Communication via SSH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879574" y="2145357"/>
            <a:ext cx="6566147" cy="494854"/>
            <a:chOff x="0" y="0"/>
            <a:chExt cx="8754863" cy="65980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754863" cy="659805"/>
            </a:xfrm>
            <a:custGeom>
              <a:avLst/>
              <a:gdLst/>
              <a:ahLst/>
              <a:cxnLst/>
              <a:rect l="l" t="t" r="r" b="b"/>
              <a:pathLst>
                <a:path w="8754863" h="659805">
                  <a:moveTo>
                    <a:pt x="0" y="0"/>
                  </a:moveTo>
                  <a:lnTo>
                    <a:pt x="8754863" y="0"/>
                  </a:lnTo>
                  <a:lnTo>
                    <a:pt x="8754863" y="659805"/>
                  </a:lnTo>
                  <a:lnTo>
                    <a:pt x="0" y="65980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19050"/>
              <a:ext cx="8754863" cy="67885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875"/>
                </a:lnSpc>
              </a:pPr>
              <a:r>
                <a:rPr lang="en-US" sz="3062">
                  <a:solidFill>
                    <a:srgbClr val="020202"/>
                  </a:solidFill>
                  <a:latin typeface="PT Serif"/>
                  <a:ea typeface="PT Serif"/>
                  <a:cs typeface="PT Serif"/>
                  <a:sym typeface="PT Serif"/>
                </a:rPr>
                <a:t>Ansible Uses SSH for Communication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879574" y="3017192"/>
            <a:ext cx="9670851" cy="1507777"/>
            <a:chOff x="0" y="0"/>
            <a:chExt cx="12894468" cy="201037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2894469" cy="2010370"/>
            </a:xfrm>
            <a:custGeom>
              <a:avLst/>
              <a:gdLst/>
              <a:ahLst/>
              <a:cxnLst/>
              <a:rect l="l" t="t" r="r" b="b"/>
              <a:pathLst>
                <a:path w="12894469" h="2010370">
                  <a:moveTo>
                    <a:pt x="0" y="0"/>
                  </a:moveTo>
                  <a:lnTo>
                    <a:pt x="12894469" y="0"/>
                  </a:lnTo>
                  <a:lnTo>
                    <a:pt x="12894469" y="2010370"/>
                  </a:lnTo>
                  <a:lnTo>
                    <a:pt x="0" y="201037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95250"/>
              <a:ext cx="12894468" cy="210562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937"/>
                </a:lnSpc>
              </a:pPr>
              <a:r>
                <a:rPr lang="en-US" sz="2437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Ansible connects to remote machines (known as </a:t>
              </a:r>
              <a:r>
                <a:rPr lang="en-US" sz="2437" b="1">
                  <a:solidFill>
                    <a:srgbClr val="383838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managed nodes</a:t>
              </a:r>
              <a:r>
                <a:rPr lang="en-US" sz="2437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) from a </a:t>
              </a:r>
              <a:r>
                <a:rPr lang="en-US" sz="2437" b="1">
                  <a:solidFill>
                    <a:srgbClr val="383838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control node</a:t>
              </a:r>
              <a:r>
                <a:rPr lang="en-US" sz="2437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 (the system where Ansible is installed) using SSH.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879574" y="4807595"/>
            <a:ext cx="9670851" cy="502593"/>
            <a:chOff x="0" y="0"/>
            <a:chExt cx="12894468" cy="670123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2894469" cy="670123"/>
            </a:xfrm>
            <a:custGeom>
              <a:avLst/>
              <a:gdLst/>
              <a:ahLst/>
              <a:cxnLst/>
              <a:rect l="l" t="t" r="r" b="b"/>
              <a:pathLst>
                <a:path w="12894469" h="670123">
                  <a:moveTo>
                    <a:pt x="0" y="0"/>
                  </a:moveTo>
                  <a:lnTo>
                    <a:pt x="12894469" y="0"/>
                  </a:lnTo>
                  <a:lnTo>
                    <a:pt x="12894469" y="670123"/>
                  </a:lnTo>
                  <a:lnTo>
                    <a:pt x="0" y="67012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66675"/>
              <a:ext cx="12894468" cy="73679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292199" lvl="1" indent="-146100" algn="l">
                <a:lnSpc>
                  <a:spcPts val="3125"/>
                </a:lnSpc>
                <a:buFont typeface="Arial"/>
                <a:buChar char="•"/>
              </a:pPr>
              <a:r>
                <a:rPr lang="en-US" sz="1937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There is </a:t>
              </a:r>
              <a:r>
                <a:rPr lang="en-US" sz="1937" b="1">
                  <a:solidFill>
                    <a:srgbClr val="383838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no need to install any agents</a:t>
              </a:r>
              <a:r>
                <a:rPr lang="en-US" sz="1937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 on the managed nodes.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867072" y="5595938"/>
            <a:ext cx="9670851" cy="1005185"/>
            <a:chOff x="0" y="0"/>
            <a:chExt cx="12894468" cy="1340247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2894469" cy="1340247"/>
            </a:xfrm>
            <a:custGeom>
              <a:avLst/>
              <a:gdLst/>
              <a:ahLst/>
              <a:cxnLst/>
              <a:rect l="l" t="t" r="r" b="b"/>
              <a:pathLst>
                <a:path w="12894469" h="1340247">
                  <a:moveTo>
                    <a:pt x="0" y="0"/>
                  </a:moveTo>
                  <a:lnTo>
                    <a:pt x="12894469" y="0"/>
                  </a:lnTo>
                  <a:lnTo>
                    <a:pt x="12894469" y="1340247"/>
                  </a:lnTo>
                  <a:lnTo>
                    <a:pt x="0" y="134024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66675"/>
              <a:ext cx="12894468" cy="1406922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292199" lvl="1" indent="-146100" algn="l">
                <a:lnSpc>
                  <a:spcPts val="3125"/>
                </a:lnSpc>
                <a:buFont typeface="Arial"/>
                <a:buChar char="•"/>
              </a:pPr>
              <a:r>
                <a:rPr lang="en-US" sz="1937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All that’s required is </a:t>
              </a:r>
              <a:r>
                <a:rPr lang="en-US" sz="1937" b="1">
                  <a:solidFill>
                    <a:srgbClr val="383838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Python and SSH access</a:t>
              </a:r>
              <a:r>
                <a:rPr lang="en-US" sz="1937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 on those remote systems.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879574" y="6491287"/>
            <a:ext cx="9670851" cy="1005185"/>
            <a:chOff x="0" y="0"/>
            <a:chExt cx="12894468" cy="1340247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2894469" cy="1340247"/>
            </a:xfrm>
            <a:custGeom>
              <a:avLst/>
              <a:gdLst/>
              <a:ahLst/>
              <a:cxnLst/>
              <a:rect l="l" t="t" r="r" b="b"/>
              <a:pathLst>
                <a:path w="12894469" h="1340247">
                  <a:moveTo>
                    <a:pt x="0" y="0"/>
                  </a:moveTo>
                  <a:lnTo>
                    <a:pt x="12894469" y="0"/>
                  </a:lnTo>
                  <a:lnTo>
                    <a:pt x="12894469" y="1340247"/>
                  </a:lnTo>
                  <a:lnTo>
                    <a:pt x="0" y="134024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66675"/>
              <a:ext cx="12894468" cy="1406922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292199" lvl="1" indent="-146100" algn="l">
                <a:lnSpc>
                  <a:spcPts val="3125"/>
                </a:lnSpc>
                <a:buFont typeface="Arial"/>
                <a:buChar char="•"/>
              </a:pPr>
              <a:r>
                <a:rPr lang="en-US" sz="1937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Ansible executes </a:t>
              </a:r>
              <a:r>
                <a:rPr lang="en-US" sz="1937" b="1">
                  <a:solidFill>
                    <a:srgbClr val="383838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modules</a:t>
              </a:r>
              <a:r>
                <a:rPr lang="en-US" sz="1937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 (such as installing packages, copying files, restarting services) over the SSH channel.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879574" y="8564315"/>
            <a:ext cx="9670851" cy="778966"/>
            <a:chOff x="0" y="0"/>
            <a:chExt cx="12894468" cy="1038622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2894564" cy="1038606"/>
            </a:xfrm>
            <a:custGeom>
              <a:avLst/>
              <a:gdLst/>
              <a:ahLst/>
              <a:cxnLst/>
              <a:rect l="l" t="t" r="r" b="b"/>
              <a:pathLst>
                <a:path w="12894564" h="1038606">
                  <a:moveTo>
                    <a:pt x="0" y="50292"/>
                  </a:moveTo>
                  <a:cubicBezTo>
                    <a:pt x="0" y="22479"/>
                    <a:pt x="22479" y="0"/>
                    <a:pt x="50292" y="0"/>
                  </a:cubicBezTo>
                  <a:lnTo>
                    <a:pt x="12844273" y="0"/>
                  </a:lnTo>
                  <a:cubicBezTo>
                    <a:pt x="12872086" y="0"/>
                    <a:pt x="12894564" y="22479"/>
                    <a:pt x="12894564" y="50292"/>
                  </a:cubicBezTo>
                  <a:lnTo>
                    <a:pt x="12894564" y="988314"/>
                  </a:lnTo>
                  <a:cubicBezTo>
                    <a:pt x="12894564" y="1016127"/>
                    <a:pt x="12872086" y="1038606"/>
                    <a:pt x="12844273" y="1038606"/>
                  </a:cubicBezTo>
                  <a:lnTo>
                    <a:pt x="50292" y="1038606"/>
                  </a:lnTo>
                  <a:cubicBezTo>
                    <a:pt x="22479" y="1038606"/>
                    <a:pt x="0" y="1016127"/>
                    <a:pt x="0" y="988314"/>
                  </a:cubicBezTo>
                  <a:close/>
                </a:path>
              </a:pathLst>
            </a:custGeom>
            <a:solidFill>
              <a:srgbClr val="FFDEC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867072" y="8564315"/>
            <a:ext cx="9695855" cy="778966"/>
            <a:chOff x="0" y="0"/>
            <a:chExt cx="12927807" cy="1038622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2927838" cy="1038606"/>
            </a:xfrm>
            <a:custGeom>
              <a:avLst/>
              <a:gdLst/>
              <a:ahLst/>
              <a:cxnLst/>
              <a:rect l="l" t="t" r="r" b="b"/>
              <a:pathLst>
                <a:path w="12927838" h="1038606">
                  <a:moveTo>
                    <a:pt x="0" y="50292"/>
                  </a:moveTo>
                  <a:cubicBezTo>
                    <a:pt x="0" y="22479"/>
                    <a:pt x="22479" y="0"/>
                    <a:pt x="50292" y="0"/>
                  </a:cubicBezTo>
                  <a:lnTo>
                    <a:pt x="12877546" y="0"/>
                  </a:lnTo>
                  <a:cubicBezTo>
                    <a:pt x="12905359" y="0"/>
                    <a:pt x="12927838" y="22479"/>
                    <a:pt x="12927838" y="50292"/>
                  </a:cubicBezTo>
                  <a:lnTo>
                    <a:pt x="12927838" y="988314"/>
                  </a:lnTo>
                  <a:cubicBezTo>
                    <a:pt x="12927838" y="1016127"/>
                    <a:pt x="12905359" y="1038606"/>
                    <a:pt x="12877546" y="1038606"/>
                  </a:cubicBezTo>
                  <a:lnTo>
                    <a:pt x="50292" y="1038606"/>
                  </a:lnTo>
                  <a:cubicBezTo>
                    <a:pt x="22479" y="1038606"/>
                    <a:pt x="0" y="1016127"/>
                    <a:pt x="0" y="988314"/>
                  </a:cubicBezTo>
                  <a:close/>
                </a:path>
              </a:pathLst>
            </a:custGeom>
            <a:solidFill>
              <a:srgbClr val="FFDEC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118295" y="8752731"/>
            <a:ext cx="9193411" cy="402134"/>
            <a:chOff x="0" y="0"/>
            <a:chExt cx="12257882" cy="536178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2257882" cy="536178"/>
            </a:xfrm>
            <a:custGeom>
              <a:avLst/>
              <a:gdLst/>
              <a:ahLst/>
              <a:cxnLst/>
              <a:rect l="l" t="t" r="r" b="b"/>
              <a:pathLst>
                <a:path w="12257882" h="536178">
                  <a:moveTo>
                    <a:pt x="0" y="0"/>
                  </a:moveTo>
                  <a:lnTo>
                    <a:pt x="12257882" y="0"/>
                  </a:lnTo>
                  <a:lnTo>
                    <a:pt x="12257882" y="536178"/>
                  </a:lnTo>
                  <a:lnTo>
                    <a:pt x="0" y="53617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-123825"/>
              <a:ext cx="12257882" cy="66000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125"/>
                </a:lnSpc>
              </a:pPr>
              <a:r>
                <a:rPr lang="en-US" sz="1937">
                  <a:solidFill>
                    <a:srgbClr val="383838"/>
                  </a:solidFill>
                  <a:latin typeface="Consolas"/>
                  <a:ea typeface="Consolas"/>
                  <a:cs typeface="Consolas"/>
                  <a:sym typeface="Consolas"/>
                </a:rPr>
                <a:t>When you run the command: ansible all -m ping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AFA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92238" y="1197918"/>
            <a:ext cx="9143244" cy="903089"/>
            <a:chOff x="0" y="0"/>
            <a:chExt cx="12190991" cy="120411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2190991" cy="1204119"/>
            </a:xfrm>
            <a:custGeom>
              <a:avLst/>
              <a:gdLst/>
              <a:ahLst/>
              <a:cxnLst/>
              <a:rect l="l" t="t" r="r" b="b"/>
              <a:pathLst>
                <a:path w="12190991" h="1204119">
                  <a:moveTo>
                    <a:pt x="0" y="0"/>
                  </a:moveTo>
                  <a:lnTo>
                    <a:pt x="12190991" y="0"/>
                  </a:lnTo>
                  <a:lnTo>
                    <a:pt x="12190991" y="1204119"/>
                  </a:lnTo>
                  <a:lnTo>
                    <a:pt x="0" y="120411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12190991" cy="1223169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5812"/>
                </a:lnSpc>
              </a:pPr>
              <a:r>
                <a:rPr lang="en-US" sz="4687">
                  <a:solidFill>
                    <a:srgbClr val="020202"/>
                  </a:solidFill>
                  <a:latin typeface="PT Serif"/>
                  <a:ea typeface="PT Serif"/>
                  <a:cs typeface="PT Serif"/>
                  <a:sym typeface="PT Serif"/>
                </a:rPr>
                <a:t>Ansible Command Structure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92238" y="2509242"/>
            <a:ext cx="16303526" cy="566886"/>
            <a:chOff x="0" y="0"/>
            <a:chExt cx="21738035" cy="75584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738034" cy="755848"/>
            </a:xfrm>
            <a:custGeom>
              <a:avLst/>
              <a:gdLst/>
              <a:ahLst/>
              <a:cxnLst/>
              <a:rect l="l" t="t" r="r" b="b"/>
              <a:pathLst>
                <a:path w="21738034" h="755848">
                  <a:moveTo>
                    <a:pt x="0" y="0"/>
                  </a:moveTo>
                  <a:lnTo>
                    <a:pt x="21738034" y="0"/>
                  </a:lnTo>
                  <a:lnTo>
                    <a:pt x="21738034" y="755848"/>
                  </a:lnTo>
                  <a:lnTo>
                    <a:pt x="0" y="7558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104775"/>
              <a:ext cx="21738035" cy="86062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4437"/>
                </a:lnSpc>
              </a:pPr>
              <a:r>
                <a:rPr lang="en-US" sz="2750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Ad-hoc Ansible commands follow this pattern: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92238" y="3395067"/>
            <a:ext cx="16303526" cy="878681"/>
            <a:chOff x="0" y="0"/>
            <a:chExt cx="21738035" cy="117157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1737954" cy="1171575"/>
            </a:xfrm>
            <a:custGeom>
              <a:avLst/>
              <a:gdLst/>
              <a:ahLst/>
              <a:cxnLst/>
              <a:rect l="l" t="t" r="r" b="b"/>
              <a:pathLst>
                <a:path w="21737954" h="1171575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21681312" y="0"/>
                  </a:lnTo>
                  <a:cubicBezTo>
                    <a:pt x="21712681" y="0"/>
                    <a:pt x="21737954" y="25400"/>
                    <a:pt x="21737954" y="56642"/>
                  </a:cubicBezTo>
                  <a:lnTo>
                    <a:pt x="21737954" y="1114933"/>
                  </a:lnTo>
                  <a:cubicBezTo>
                    <a:pt x="21737954" y="1146302"/>
                    <a:pt x="21712554" y="1171575"/>
                    <a:pt x="21681312" y="1171575"/>
                  </a:cubicBezTo>
                  <a:lnTo>
                    <a:pt x="56642" y="1171575"/>
                  </a:lnTo>
                  <a:cubicBezTo>
                    <a:pt x="25400" y="1171575"/>
                    <a:pt x="0" y="1146175"/>
                    <a:pt x="0" y="1114933"/>
                  </a:cubicBezTo>
                  <a:close/>
                </a:path>
              </a:pathLst>
            </a:custGeom>
            <a:solidFill>
              <a:srgbClr val="FFDEC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78099" y="3395067"/>
            <a:ext cx="16331804" cy="878681"/>
            <a:chOff x="0" y="0"/>
            <a:chExt cx="21775738" cy="117157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1775674" cy="1171575"/>
            </a:xfrm>
            <a:custGeom>
              <a:avLst/>
              <a:gdLst/>
              <a:ahLst/>
              <a:cxnLst/>
              <a:rect l="l" t="t" r="r" b="b"/>
              <a:pathLst>
                <a:path w="21775674" h="1171575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21719031" y="0"/>
                  </a:lnTo>
                  <a:cubicBezTo>
                    <a:pt x="21750401" y="0"/>
                    <a:pt x="21775674" y="25400"/>
                    <a:pt x="21775674" y="56642"/>
                  </a:cubicBezTo>
                  <a:lnTo>
                    <a:pt x="21775674" y="1114933"/>
                  </a:lnTo>
                  <a:cubicBezTo>
                    <a:pt x="21775674" y="1146302"/>
                    <a:pt x="21750274" y="1171575"/>
                    <a:pt x="21719031" y="1171575"/>
                  </a:cubicBezTo>
                  <a:lnTo>
                    <a:pt x="56642" y="1171575"/>
                  </a:lnTo>
                  <a:cubicBezTo>
                    <a:pt x="25400" y="1171575"/>
                    <a:pt x="0" y="1146175"/>
                    <a:pt x="0" y="1114933"/>
                  </a:cubicBezTo>
                  <a:close/>
                </a:path>
              </a:pathLst>
            </a:custGeom>
            <a:solidFill>
              <a:srgbClr val="FFDEC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261616" y="3607594"/>
            <a:ext cx="15764767" cy="453629"/>
            <a:chOff x="0" y="0"/>
            <a:chExt cx="21019690" cy="60483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1019691" cy="604838"/>
            </a:xfrm>
            <a:custGeom>
              <a:avLst/>
              <a:gdLst/>
              <a:ahLst/>
              <a:cxnLst/>
              <a:rect l="l" t="t" r="r" b="b"/>
              <a:pathLst>
                <a:path w="21019691" h="604838">
                  <a:moveTo>
                    <a:pt x="0" y="0"/>
                  </a:moveTo>
                  <a:lnTo>
                    <a:pt x="21019691" y="0"/>
                  </a:lnTo>
                  <a:lnTo>
                    <a:pt x="21019691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133350"/>
              <a:ext cx="21019690" cy="73818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383838"/>
                  </a:solidFill>
                  <a:latin typeface="Consolas"/>
                  <a:ea typeface="Consolas"/>
                  <a:cs typeface="Consolas"/>
                  <a:sym typeface="Consolas"/>
                </a:rPr>
                <a:t>ansible &lt;host_group&gt; -i inventory -m &lt;module_name&gt; -a "&lt;arguments&gt;"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87475" y="4587925"/>
            <a:ext cx="16313051" cy="3733205"/>
            <a:chOff x="0" y="0"/>
            <a:chExt cx="21750735" cy="4977607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1750655" cy="4977511"/>
            </a:xfrm>
            <a:custGeom>
              <a:avLst/>
              <a:gdLst/>
              <a:ahLst/>
              <a:cxnLst/>
              <a:rect l="l" t="t" r="r" b="b"/>
              <a:pathLst>
                <a:path w="21750655" h="4977511">
                  <a:moveTo>
                    <a:pt x="0" y="62992"/>
                  </a:moveTo>
                  <a:cubicBezTo>
                    <a:pt x="0" y="28194"/>
                    <a:pt x="28321" y="0"/>
                    <a:pt x="63119" y="0"/>
                  </a:cubicBezTo>
                  <a:lnTo>
                    <a:pt x="21687537" y="0"/>
                  </a:lnTo>
                  <a:lnTo>
                    <a:pt x="21687537" y="6350"/>
                  </a:lnTo>
                  <a:lnTo>
                    <a:pt x="21687537" y="0"/>
                  </a:lnTo>
                  <a:cubicBezTo>
                    <a:pt x="21722462" y="0"/>
                    <a:pt x="21750655" y="28194"/>
                    <a:pt x="21750655" y="62992"/>
                  </a:cubicBezTo>
                  <a:lnTo>
                    <a:pt x="21744305" y="62992"/>
                  </a:lnTo>
                  <a:lnTo>
                    <a:pt x="21750655" y="62992"/>
                  </a:lnTo>
                  <a:lnTo>
                    <a:pt x="21750655" y="4914519"/>
                  </a:lnTo>
                  <a:lnTo>
                    <a:pt x="21744305" y="4914519"/>
                  </a:lnTo>
                  <a:lnTo>
                    <a:pt x="21750655" y="4914519"/>
                  </a:lnTo>
                  <a:cubicBezTo>
                    <a:pt x="21750655" y="4949317"/>
                    <a:pt x="21722335" y="4977511"/>
                    <a:pt x="21687537" y="4977511"/>
                  </a:cubicBezTo>
                  <a:lnTo>
                    <a:pt x="21687537" y="4971161"/>
                  </a:lnTo>
                  <a:lnTo>
                    <a:pt x="21687537" y="4977511"/>
                  </a:lnTo>
                  <a:lnTo>
                    <a:pt x="63119" y="4977511"/>
                  </a:lnTo>
                  <a:lnTo>
                    <a:pt x="63119" y="4971161"/>
                  </a:lnTo>
                  <a:lnTo>
                    <a:pt x="63119" y="4977511"/>
                  </a:lnTo>
                  <a:cubicBezTo>
                    <a:pt x="28194" y="4977511"/>
                    <a:pt x="0" y="4949317"/>
                    <a:pt x="0" y="4914519"/>
                  </a:cubicBezTo>
                  <a:lnTo>
                    <a:pt x="0" y="62992"/>
                  </a:lnTo>
                  <a:lnTo>
                    <a:pt x="6350" y="62992"/>
                  </a:lnTo>
                  <a:lnTo>
                    <a:pt x="0" y="62992"/>
                  </a:lnTo>
                  <a:moveTo>
                    <a:pt x="12700" y="62992"/>
                  </a:moveTo>
                  <a:lnTo>
                    <a:pt x="12700" y="4914519"/>
                  </a:lnTo>
                  <a:lnTo>
                    <a:pt x="6350" y="4914519"/>
                  </a:lnTo>
                  <a:lnTo>
                    <a:pt x="12700" y="4914519"/>
                  </a:lnTo>
                  <a:cubicBezTo>
                    <a:pt x="12700" y="4942332"/>
                    <a:pt x="35306" y="4964811"/>
                    <a:pt x="63119" y="4964811"/>
                  </a:cubicBezTo>
                  <a:lnTo>
                    <a:pt x="21687537" y="4964811"/>
                  </a:lnTo>
                  <a:cubicBezTo>
                    <a:pt x="21715476" y="4964811"/>
                    <a:pt x="21737955" y="4942205"/>
                    <a:pt x="21737955" y="4914519"/>
                  </a:cubicBezTo>
                  <a:lnTo>
                    <a:pt x="21737955" y="62992"/>
                  </a:lnTo>
                  <a:cubicBezTo>
                    <a:pt x="21737955" y="35179"/>
                    <a:pt x="21715350" y="12700"/>
                    <a:pt x="21687537" y="12700"/>
                  </a:cubicBezTo>
                  <a:lnTo>
                    <a:pt x="63119" y="12700"/>
                  </a:lnTo>
                  <a:lnTo>
                    <a:pt x="63119" y="6350"/>
                  </a:lnTo>
                  <a:lnTo>
                    <a:pt x="63119" y="12700"/>
                  </a:lnTo>
                  <a:cubicBezTo>
                    <a:pt x="35306" y="12700"/>
                    <a:pt x="12700" y="35306"/>
                    <a:pt x="12700" y="62992"/>
                  </a:cubicBez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001762" y="4602212"/>
            <a:ext cx="16284476" cy="926157"/>
            <a:chOff x="0" y="0"/>
            <a:chExt cx="21712635" cy="1234877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1712682" cy="1234821"/>
            </a:xfrm>
            <a:custGeom>
              <a:avLst/>
              <a:gdLst/>
              <a:ahLst/>
              <a:cxnLst/>
              <a:rect l="l" t="t" r="r" b="b"/>
              <a:pathLst>
                <a:path w="21712682" h="1234821">
                  <a:moveTo>
                    <a:pt x="0" y="0"/>
                  </a:moveTo>
                  <a:lnTo>
                    <a:pt x="21712682" y="0"/>
                  </a:lnTo>
                  <a:lnTo>
                    <a:pt x="21712682" y="1234821"/>
                  </a:lnTo>
                  <a:lnTo>
                    <a:pt x="0" y="1234821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285429" y="4781848"/>
            <a:ext cx="5174902" cy="566886"/>
            <a:chOff x="0" y="0"/>
            <a:chExt cx="6899870" cy="755848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6899870" cy="755848"/>
            </a:xfrm>
            <a:custGeom>
              <a:avLst/>
              <a:gdLst/>
              <a:ahLst/>
              <a:cxnLst/>
              <a:rect l="l" t="t" r="r" b="b"/>
              <a:pathLst>
                <a:path w="6899870" h="755848">
                  <a:moveTo>
                    <a:pt x="0" y="0"/>
                  </a:moveTo>
                  <a:lnTo>
                    <a:pt x="6899870" y="0"/>
                  </a:lnTo>
                  <a:lnTo>
                    <a:pt x="6899870" y="755848"/>
                  </a:lnTo>
                  <a:lnTo>
                    <a:pt x="0" y="7558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104775"/>
              <a:ext cx="6899870" cy="86062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4437"/>
                </a:lnSpc>
              </a:pPr>
              <a:r>
                <a:rPr lang="en-US" sz="2750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&lt;host_group&gt;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7036891" y="4781848"/>
            <a:ext cx="9965829" cy="566886"/>
            <a:chOff x="0" y="0"/>
            <a:chExt cx="13287772" cy="755848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3287772" cy="755848"/>
            </a:xfrm>
            <a:custGeom>
              <a:avLst/>
              <a:gdLst/>
              <a:ahLst/>
              <a:cxnLst/>
              <a:rect l="l" t="t" r="r" b="b"/>
              <a:pathLst>
                <a:path w="13287772" h="755848">
                  <a:moveTo>
                    <a:pt x="0" y="0"/>
                  </a:moveTo>
                  <a:lnTo>
                    <a:pt x="13287772" y="0"/>
                  </a:lnTo>
                  <a:lnTo>
                    <a:pt x="13287772" y="755848"/>
                  </a:lnTo>
                  <a:lnTo>
                    <a:pt x="0" y="7558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104775"/>
              <a:ext cx="13287772" cy="86062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4437"/>
                </a:lnSpc>
              </a:pPr>
              <a:r>
                <a:rPr lang="en-US" sz="2750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From your inventory file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001762" y="5528370"/>
            <a:ext cx="16284476" cy="926157"/>
            <a:chOff x="0" y="0"/>
            <a:chExt cx="21712635" cy="1234877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21712682" cy="1234821"/>
            </a:xfrm>
            <a:custGeom>
              <a:avLst/>
              <a:gdLst/>
              <a:ahLst/>
              <a:cxnLst/>
              <a:rect l="l" t="t" r="r" b="b"/>
              <a:pathLst>
                <a:path w="21712682" h="1234821">
                  <a:moveTo>
                    <a:pt x="0" y="0"/>
                  </a:moveTo>
                  <a:lnTo>
                    <a:pt x="21712682" y="0"/>
                  </a:lnTo>
                  <a:lnTo>
                    <a:pt x="21712682" y="1234821"/>
                  </a:lnTo>
                  <a:lnTo>
                    <a:pt x="0" y="123482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285429" y="5708005"/>
            <a:ext cx="5174902" cy="566886"/>
            <a:chOff x="0" y="0"/>
            <a:chExt cx="6899870" cy="755848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6899870" cy="755848"/>
            </a:xfrm>
            <a:custGeom>
              <a:avLst/>
              <a:gdLst/>
              <a:ahLst/>
              <a:cxnLst/>
              <a:rect l="l" t="t" r="r" b="b"/>
              <a:pathLst>
                <a:path w="6899870" h="755848">
                  <a:moveTo>
                    <a:pt x="0" y="0"/>
                  </a:moveTo>
                  <a:lnTo>
                    <a:pt x="6899870" y="0"/>
                  </a:lnTo>
                  <a:lnTo>
                    <a:pt x="6899870" y="755848"/>
                  </a:lnTo>
                  <a:lnTo>
                    <a:pt x="0" y="7558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-104775"/>
              <a:ext cx="6899870" cy="86062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4437"/>
                </a:lnSpc>
              </a:pPr>
              <a:r>
                <a:rPr lang="en-US" sz="2750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-i inventory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7036891" y="5708005"/>
            <a:ext cx="9965829" cy="566886"/>
            <a:chOff x="0" y="0"/>
            <a:chExt cx="13287772" cy="755848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3287772" cy="755848"/>
            </a:xfrm>
            <a:custGeom>
              <a:avLst/>
              <a:gdLst/>
              <a:ahLst/>
              <a:cxnLst/>
              <a:rect l="l" t="t" r="r" b="b"/>
              <a:pathLst>
                <a:path w="13287772" h="755848">
                  <a:moveTo>
                    <a:pt x="0" y="0"/>
                  </a:moveTo>
                  <a:lnTo>
                    <a:pt x="13287772" y="0"/>
                  </a:lnTo>
                  <a:lnTo>
                    <a:pt x="13287772" y="755848"/>
                  </a:lnTo>
                  <a:lnTo>
                    <a:pt x="0" y="7558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-104775"/>
              <a:ext cx="13287772" cy="86062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4437"/>
                </a:lnSpc>
              </a:pPr>
              <a:r>
                <a:rPr lang="en-US" sz="2750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Path to your inventory (if not using default)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001762" y="6454528"/>
            <a:ext cx="16284476" cy="926157"/>
            <a:chOff x="0" y="0"/>
            <a:chExt cx="21712635" cy="1234877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21712682" cy="1234821"/>
            </a:xfrm>
            <a:custGeom>
              <a:avLst/>
              <a:gdLst/>
              <a:ahLst/>
              <a:cxnLst/>
              <a:rect l="l" t="t" r="r" b="b"/>
              <a:pathLst>
                <a:path w="21712682" h="1234821">
                  <a:moveTo>
                    <a:pt x="0" y="0"/>
                  </a:moveTo>
                  <a:lnTo>
                    <a:pt x="21712682" y="0"/>
                  </a:lnTo>
                  <a:lnTo>
                    <a:pt x="21712682" y="1234821"/>
                  </a:lnTo>
                  <a:lnTo>
                    <a:pt x="0" y="1234821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285429" y="6634162"/>
            <a:ext cx="5174902" cy="566886"/>
            <a:chOff x="0" y="0"/>
            <a:chExt cx="6899870" cy="755848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6899870" cy="755848"/>
            </a:xfrm>
            <a:custGeom>
              <a:avLst/>
              <a:gdLst/>
              <a:ahLst/>
              <a:cxnLst/>
              <a:rect l="l" t="t" r="r" b="b"/>
              <a:pathLst>
                <a:path w="6899870" h="755848">
                  <a:moveTo>
                    <a:pt x="0" y="0"/>
                  </a:moveTo>
                  <a:lnTo>
                    <a:pt x="6899870" y="0"/>
                  </a:lnTo>
                  <a:lnTo>
                    <a:pt x="6899870" y="755848"/>
                  </a:lnTo>
                  <a:lnTo>
                    <a:pt x="0" y="7558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0" y="-104775"/>
              <a:ext cx="6899870" cy="86062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4437"/>
                </a:lnSpc>
              </a:pPr>
              <a:r>
                <a:rPr lang="en-US" sz="2750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-m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7036891" y="6634162"/>
            <a:ext cx="9965829" cy="566886"/>
            <a:chOff x="0" y="0"/>
            <a:chExt cx="13287772" cy="755848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13287772" cy="755848"/>
            </a:xfrm>
            <a:custGeom>
              <a:avLst/>
              <a:gdLst/>
              <a:ahLst/>
              <a:cxnLst/>
              <a:rect l="l" t="t" r="r" b="b"/>
              <a:pathLst>
                <a:path w="13287772" h="755848">
                  <a:moveTo>
                    <a:pt x="0" y="0"/>
                  </a:moveTo>
                  <a:lnTo>
                    <a:pt x="13287772" y="0"/>
                  </a:lnTo>
                  <a:lnTo>
                    <a:pt x="13287772" y="755848"/>
                  </a:lnTo>
                  <a:lnTo>
                    <a:pt x="0" y="7558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0" y="-104775"/>
              <a:ext cx="13287772" cy="86062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4437"/>
                </a:lnSpc>
              </a:pPr>
              <a:r>
                <a:rPr lang="en-US" sz="2750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The module to run (e.g., ping, command, yum)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1001762" y="7380685"/>
            <a:ext cx="16284476" cy="926157"/>
            <a:chOff x="0" y="0"/>
            <a:chExt cx="21712635" cy="1234877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21712682" cy="1234821"/>
            </a:xfrm>
            <a:custGeom>
              <a:avLst/>
              <a:gdLst/>
              <a:ahLst/>
              <a:cxnLst/>
              <a:rect l="l" t="t" r="r" b="b"/>
              <a:pathLst>
                <a:path w="21712682" h="1234821">
                  <a:moveTo>
                    <a:pt x="0" y="0"/>
                  </a:moveTo>
                  <a:lnTo>
                    <a:pt x="21712682" y="0"/>
                  </a:lnTo>
                  <a:lnTo>
                    <a:pt x="21712682" y="1234821"/>
                  </a:lnTo>
                  <a:lnTo>
                    <a:pt x="0" y="123482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1285429" y="7560320"/>
            <a:ext cx="5174902" cy="566886"/>
            <a:chOff x="0" y="0"/>
            <a:chExt cx="6899870" cy="755848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6899870" cy="755848"/>
            </a:xfrm>
            <a:custGeom>
              <a:avLst/>
              <a:gdLst/>
              <a:ahLst/>
              <a:cxnLst/>
              <a:rect l="l" t="t" r="r" b="b"/>
              <a:pathLst>
                <a:path w="6899870" h="755848">
                  <a:moveTo>
                    <a:pt x="0" y="0"/>
                  </a:moveTo>
                  <a:lnTo>
                    <a:pt x="6899870" y="0"/>
                  </a:lnTo>
                  <a:lnTo>
                    <a:pt x="6899870" y="755848"/>
                  </a:lnTo>
                  <a:lnTo>
                    <a:pt x="0" y="7558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0" y="-104775"/>
              <a:ext cx="6899870" cy="86062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4437"/>
                </a:lnSpc>
              </a:pPr>
              <a:r>
                <a:rPr lang="en-US" sz="2750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-a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7036891" y="7560320"/>
            <a:ext cx="9965829" cy="566886"/>
            <a:chOff x="0" y="0"/>
            <a:chExt cx="13287772" cy="755848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13287772" cy="755848"/>
            </a:xfrm>
            <a:custGeom>
              <a:avLst/>
              <a:gdLst/>
              <a:ahLst/>
              <a:cxnLst/>
              <a:rect l="l" t="t" r="r" b="b"/>
              <a:pathLst>
                <a:path w="13287772" h="755848">
                  <a:moveTo>
                    <a:pt x="0" y="0"/>
                  </a:moveTo>
                  <a:lnTo>
                    <a:pt x="13287772" y="0"/>
                  </a:lnTo>
                  <a:lnTo>
                    <a:pt x="13287772" y="755848"/>
                  </a:lnTo>
                  <a:lnTo>
                    <a:pt x="0" y="7558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0" y="-104775"/>
              <a:ext cx="13287772" cy="86062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4437"/>
                </a:lnSpc>
              </a:pPr>
              <a:r>
                <a:rPr lang="en-US" sz="2750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Arguments passed to the module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AFA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08260" y="494556"/>
            <a:ext cx="4213920" cy="539948"/>
            <a:chOff x="0" y="0"/>
            <a:chExt cx="5618560" cy="71993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618560" cy="719931"/>
            </a:xfrm>
            <a:custGeom>
              <a:avLst/>
              <a:gdLst/>
              <a:ahLst/>
              <a:cxnLst/>
              <a:rect l="l" t="t" r="r" b="b"/>
              <a:pathLst>
                <a:path w="5618560" h="719931">
                  <a:moveTo>
                    <a:pt x="0" y="0"/>
                  </a:moveTo>
                  <a:lnTo>
                    <a:pt x="5618560" y="0"/>
                  </a:lnTo>
                  <a:lnTo>
                    <a:pt x="5618560" y="719931"/>
                  </a:lnTo>
                  <a:lnTo>
                    <a:pt x="0" y="71993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9525"/>
              <a:ext cx="5618560" cy="729456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562"/>
                </a:lnSpc>
              </a:pPr>
              <a:r>
                <a:rPr lang="en-US" sz="2812">
                  <a:solidFill>
                    <a:srgbClr val="020202"/>
                  </a:solidFill>
                  <a:latin typeface="PT Serif"/>
                  <a:ea typeface="PT Serif"/>
                  <a:cs typeface="PT Serif"/>
                  <a:sym typeface="PT Serif"/>
                </a:rPr>
                <a:t>Useful Ad-hoc Commands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08260" y="1124396"/>
            <a:ext cx="4146797" cy="403622"/>
            <a:chOff x="0" y="0"/>
            <a:chExt cx="5529063" cy="53816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529063" cy="538163"/>
            </a:xfrm>
            <a:custGeom>
              <a:avLst/>
              <a:gdLst/>
              <a:ahLst/>
              <a:cxnLst/>
              <a:rect l="l" t="t" r="r" b="b"/>
              <a:pathLst>
                <a:path w="5529063" h="538163">
                  <a:moveTo>
                    <a:pt x="0" y="0"/>
                  </a:moveTo>
                  <a:lnTo>
                    <a:pt x="5529063" y="0"/>
                  </a:lnTo>
                  <a:lnTo>
                    <a:pt x="5529063" y="538163"/>
                  </a:lnTo>
                  <a:lnTo>
                    <a:pt x="0" y="53816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0"/>
              <a:ext cx="5529063" cy="53816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2687"/>
                </a:lnSpc>
              </a:pPr>
              <a:r>
                <a:rPr lang="en-US" sz="2125" u="sng">
                  <a:solidFill>
                    <a:srgbClr val="020202"/>
                  </a:solidFill>
                  <a:latin typeface="PT Serif"/>
                  <a:ea typeface="PT Serif"/>
                  <a:cs typeface="PT Serif"/>
                  <a:sym typeface="PT Serif"/>
                </a:rPr>
                <a:t>Check Connectivity (ping module)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08260" y="1727001"/>
            <a:ext cx="17071479" cy="347662"/>
            <a:chOff x="0" y="0"/>
            <a:chExt cx="22761972" cy="46355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2761972" cy="463550"/>
            </a:xfrm>
            <a:custGeom>
              <a:avLst/>
              <a:gdLst/>
              <a:ahLst/>
              <a:cxnLst/>
              <a:rect l="l" t="t" r="r" b="b"/>
              <a:pathLst>
                <a:path w="22761972" h="463550">
                  <a:moveTo>
                    <a:pt x="0" y="0"/>
                  </a:moveTo>
                  <a:lnTo>
                    <a:pt x="22761972" y="0"/>
                  </a:lnTo>
                  <a:lnTo>
                    <a:pt x="22761972" y="463550"/>
                  </a:lnTo>
                  <a:lnTo>
                    <a:pt x="0" y="463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57150"/>
              <a:ext cx="22761972" cy="5207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2687"/>
                </a:lnSpc>
              </a:pPr>
              <a:r>
                <a:rPr lang="en-US" sz="1687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Command: </a:t>
              </a:r>
              <a:r>
                <a:rPr lang="en-US" sz="1687" b="1">
                  <a:solidFill>
                    <a:srgbClr val="1F7135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ansible all -i inventory.ini -m ping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08260" y="2270075"/>
            <a:ext cx="17071479" cy="347662"/>
            <a:chOff x="0" y="0"/>
            <a:chExt cx="22761972" cy="46355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2761972" cy="463550"/>
            </a:xfrm>
            <a:custGeom>
              <a:avLst/>
              <a:gdLst/>
              <a:ahLst/>
              <a:cxnLst/>
              <a:rect l="l" t="t" r="r" b="b"/>
              <a:pathLst>
                <a:path w="22761972" h="463550">
                  <a:moveTo>
                    <a:pt x="0" y="0"/>
                  </a:moveTo>
                  <a:lnTo>
                    <a:pt x="22761972" y="0"/>
                  </a:lnTo>
                  <a:lnTo>
                    <a:pt x="22761972" y="463550"/>
                  </a:lnTo>
                  <a:lnTo>
                    <a:pt x="0" y="463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57150"/>
              <a:ext cx="22761972" cy="5207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2687"/>
                </a:lnSpc>
              </a:pPr>
              <a:r>
                <a:rPr lang="en-US" sz="1687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What it does: Tests if Ansible can connect to all hosts using SSH.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08260" y="2813149"/>
            <a:ext cx="17071479" cy="347662"/>
            <a:chOff x="0" y="0"/>
            <a:chExt cx="22761972" cy="46355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2761972" cy="463550"/>
            </a:xfrm>
            <a:custGeom>
              <a:avLst/>
              <a:gdLst/>
              <a:ahLst/>
              <a:cxnLst/>
              <a:rect l="l" t="t" r="r" b="b"/>
              <a:pathLst>
                <a:path w="22761972" h="463550">
                  <a:moveTo>
                    <a:pt x="0" y="0"/>
                  </a:moveTo>
                  <a:lnTo>
                    <a:pt x="22761972" y="0"/>
                  </a:lnTo>
                  <a:lnTo>
                    <a:pt x="22761972" y="463550"/>
                  </a:lnTo>
                  <a:lnTo>
                    <a:pt x="0" y="463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57150"/>
              <a:ext cx="22761972" cy="5207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2687"/>
                </a:lnSpc>
              </a:pPr>
              <a:r>
                <a:rPr lang="en-US" sz="1687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Typical Output: Shows SUCCESS and ping: pong if the host is reachable. 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08260" y="3421410"/>
            <a:ext cx="4418111" cy="403622"/>
            <a:chOff x="0" y="0"/>
            <a:chExt cx="5890815" cy="538163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5890815" cy="538163"/>
            </a:xfrm>
            <a:custGeom>
              <a:avLst/>
              <a:gdLst/>
              <a:ahLst/>
              <a:cxnLst/>
              <a:rect l="l" t="t" r="r" b="b"/>
              <a:pathLst>
                <a:path w="5890815" h="538163">
                  <a:moveTo>
                    <a:pt x="0" y="0"/>
                  </a:moveTo>
                  <a:lnTo>
                    <a:pt x="5890815" y="0"/>
                  </a:lnTo>
                  <a:lnTo>
                    <a:pt x="5890815" y="538163"/>
                  </a:lnTo>
                  <a:lnTo>
                    <a:pt x="0" y="53816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0"/>
              <a:ext cx="5890815" cy="53816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2687"/>
                </a:lnSpc>
              </a:pPr>
              <a:r>
                <a:rPr lang="en-US" sz="2125" u="sng">
                  <a:solidFill>
                    <a:srgbClr val="020202"/>
                  </a:solidFill>
                  <a:latin typeface="PT Serif"/>
                  <a:ea typeface="PT Serif"/>
                  <a:cs typeface="PT Serif"/>
                  <a:sym typeface="PT Serif"/>
                </a:rPr>
                <a:t>Retrieve System Info (setup module)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08260" y="4024015"/>
            <a:ext cx="17071479" cy="347662"/>
            <a:chOff x="0" y="0"/>
            <a:chExt cx="22761972" cy="46355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2761972" cy="463550"/>
            </a:xfrm>
            <a:custGeom>
              <a:avLst/>
              <a:gdLst/>
              <a:ahLst/>
              <a:cxnLst/>
              <a:rect l="l" t="t" r="r" b="b"/>
              <a:pathLst>
                <a:path w="22761972" h="463550">
                  <a:moveTo>
                    <a:pt x="0" y="0"/>
                  </a:moveTo>
                  <a:lnTo>
                    <a:pt x="22761972" y="0"/>
                  </a:lnTo>
                  <a:lnTo>
                    <a:pt x="22761972" y="463550"/>
                  </a:lnTo>
                  <a:lnTo>
                    <a:pt x="0" y="463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57150"/>
              <a:ext cx="22761972" cy="5207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2687"/>
                </a:lnSpc>
              </a:pPr>
              <a:r>
                <a:rPr lang="en-US" sz="1687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Command: </a:t>
              </a:r>
              <a:r>
                <a:rPr lang="en-US" sz="1687" b="1">
                  <a:solidFill>
                    <a:srgbClr val="1F7135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ansible all -i inventory.ini -m setup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08260" y="4567089"/>
            <a:ext cx="17071479" cy="347662"/>
            <a:chOff x="0" y="0"/>
            <a:chExt cx="22761972" cy="46355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22761972" cy="463550"/>
            </a:xfrm>
            <a:custGeom>
              <a:avLst/>
              <a:gdLst/>
              <a:ahLst/>
              <a:cxnLst/>
              <a:rect l="l" t="t" r="r" b="b"/>
              <a:pathLst>
                <a:path w="22761972" h="463550">
                  <a:moveTo>
                    <a:pt x="0" y="0"/>
                  </a:moveTo>
                  <a:lnTo>
                    <a:pt x="22761972" y="0"/>
                  </a:lnTo>
                  <a:lnTo>
                    <a:pt x="22761972" y="463550"/>
                  </a:lnTo>
                  <a:lnTo>
                    <a:pt x="0" y="463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57150"/>
              <a:ext cx="22761972" cy="5207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2687"/>
                </a:lnSpc>
              </a:pPr>
              <a:r>
                <a:rPr lang="en-US" sz="1687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What it does: Collects detailed system facts (OS, IPs, memory, etc.) from each host.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08260" y="5110162"/>
            <a:ext cx="17071479" cy="347662"/>
            <a:chOff x="0" y="0"/>
            <a:chExt cx="22761972" cy="46355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22761972" cy="463550"/>
            </a:xfrm>
            <a:custGeom>
              <a:avLst/>
              <a:gdLst/>
              <a:ahLst/>
              <a:cxnLst/>
              <a:rect l="l" t="t" r="r" b="b"/>
              <a:pathLst>
                <a:path w="22761972" h="463550">
                  <a:moveTo>
                    <a:pt x="0" y="0"/>
                  </a:moveTo>
                  <a:lnTo>
                    <a:pt x="22761972" y="0"/>
                  </a:lnTo>
                  <a:lnTo>
                    <a:pt x="22761972" y="463550"/>
                  </a:lnTo>
                  <a:lnTo>
                    <a:pt x="0" y="463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57150"/>
              <a:ext cx="22761972" cy="5207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2687"/>
                </a:lnSpc>
              </a:pPr>
              <a:r>
                <a:rPr lang="en-US" sz="1687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Why use it: Useful for using dynamic variables in playbooks. 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08260" y="5718423"/>
            <a:ext cx="5124152" cy="403622"/>
            <a:chOff x="0" y="0"/>
            <a:chExt cx="6832203" cy="538163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6832203" cy="538163"/>
            </a:xfrm>
            <a:custGeom>
              <a:avLst/>
              <a:gdLst/>
              <a:ahLst/>
              <a:cxnLst/>
              <a:rect l="l" t="t" r="r" b="b"/>
              <a:pathLst>
                <a:path w="6832203" h="538163">
                  <a:moveTo>
                    <a:pt x="0" y="0"/>
                  </a:moveTo>
                  <a:lnTo>
                    <a:pt x="6832203" y="0"/>
                  </a:lnTo>
                  <a:lnTo>
                    <a:pt x="6832203" y="538163"/>
                  </a:lnTo>
                  <a:lnTo>
                    <a:pt x="0" y="53816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0"/>
              <a:ext cx="6832203" cy="53816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2687"/>
                </a:lnSpc>
              </a:pPr>
              <a:r>
                <a:rPr lang="en-US" sz="2125" u="sng">
                  <a:solidFill>
                    <a:srgbClr val="020202"/>
                  </a:solidFill>
                  <a:latin typeface="PT Serif"/>
                  <a:ea typeface="PT Serif"/>
                  <a:cs typeface="PT Serif"/>
                  <a:sym typeface="PT Serif"/>
                </a:rPr>
                <a:t>Run a Shell Command (command module)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08260" y="6321029"/>
            <a:ext cx="17071479" cy="347662"/>
            <a:chOff x="0" y="0"/>
            <a:chExt cx="22761972" cy="46355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22761972" cy="463550"/>
            </a:xfrm>
            <a:custGeom>
              <a:avLst/>
              <a:gdLst/>
              <a:ahLst/>
              <a:cxnLst/>
              <a:rect l="l" t="t" r="r" b="b"/>
              <a:pathLst>
                <a:path w="22761972" h="463550">
                  <a:moveTo>
                    <a:pt x="0" y="0"/>
                  </a:moveTo>
                  <a:lnTo>
                    <a:pt x="22761972" y="0"/>
                  </a:lnTo>
                  <a:lnTo>
                    <a:pt x="22761972" y="463550"/>
                  </a:lnTo>
                  <a:lnTo>
                    <a:pt x="0" y="463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-57150"/>
              <a:ext cx="22761972" cy="5207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2687"/>
                </a:lnSpc>
              </a:pPr>
              <a:r>
                <a:rPr lang="en-US" sz="1687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Commands: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608260" y="6864102"/>
            <a:ext cx="17071479" cy="347662"/>
            <a:chOff x="0" y="0"/>
            <a:chExt cx="22761972" cy="46355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22761972" cy="463550"/>
            </a:xfrm>
            <a:custGeom>
              <a:avLst/>
              <a:gdLst/>
              <a:ahLst/>
              <a:cxnLst/>
              <a:rect l="l" t="t" r="r" b="b"/>
              <a:pathLst>
                <a:path w="22761972" h="463550">
                  <a:moveTo>
                    <a:pt x="0" y="0"/>
                  </a:moveTo>
                  <a:lnTo>
                    <a:pt x="22761972" y="0"/>
                  </a:lnTo>
                  <a:lnTo>
                    <a:pt x="22761972" y="463550"/>
                  </a:lnTo>
                  <a:lnTo>
                    <a:pt x="0" y="463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0" y="-57150"/>
              <a:ext cx="22761972" cy="5207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2687"/>
                </a:lnSpc>
              </a:pPr>
              <a:r>
                <a:rPr lang="en-US" sz="1687" b="1">
                  <a:solidFill>
                    <a:srgbClr val="1F7135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ansible all -i inventory.ini -m command -a "uptime" 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608260" y="7407176"/>
            <a:ext cx="17071479" cy="347662"/>
            <a:chOff x="0" y="0"/>
            <a:chExt cx="22761972" cy="46355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22761972" cy="463550"/>
            </a:xfrm>
            <a:custGeom>
              <a:avLst/>
              <a:gdLst/>
              <a:ahLst/>
              <a:cxnLst/>
              <a:rect l="l" t="t" r="r" b="b"/>
              <a:pathLst>
                <a:path w="22761972" h="463550">
                  <a:moveTo>
                    <a:pt x="0" y="0"/>
                  </a:moveTo>
                  <a:lnTo>
                    <a:pt x="22761972" y="0"/>
                  </a:lnTo>
                  <a:lnTo>
                    <a:pt x="22761972" y="463550"/>
                  </a:lnTo>
                  <a:lnTo>
                    <a:pt x="0" y="463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0" y="-57150"/>
              <a:ext cx="22761972" cy="5207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2687"/>
                </a:lnSpc>
              </a:pPr>
              <a:r>
                <a:rPr lang="en-US" sz="1687" b="1">
                  <a:solidFill>
                    <a:srgbClr val="1F7135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ansible all -i inventory.ini -m command -a "dpkg -l | grep nginx"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608260" y="7950250"/>
            <a:ext cx="17071479" cy="347662"/>
            <a:chOff x="0" y="0"/>
            <a:chExt cx="22761972" cy="46355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22761972" cy="463550"/>
            </a:xfrm>
            <a:custGeom>
              <a:avLst/>
              <a:gdLst/>
              <a:ahLst/>
              <a:cxnLst/>
              <a:rect l="l" t="t" r="r" b="b"/>
              <a:pathLst>
                <a:path w="22761972" h="463550">
                  <a:moveTo>
                    <a:pt x="0" y="0"/>
                  </a:moveTo>
                  <a:lnTo>
                    <a:pt x="22761972" y="0"/>
                  </a:lnTo>
                  <a:lnTo>
                    <a:pt x="22761972" y="463550"/>
                  </a:lnTo>
                  <a:lnTo>
                    <a:pt x="0" y="463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0" y="-57150"/>
              <a:ext cx="22761972" cy="5207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2687"/>
                </a:lnSpc>
              </a:pPr>
              <a:r>
                <a:rPr lang="en-US" sz="1687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What it does: Runs a specific command on all hosts.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608260" y="8493324"/>
            <a:ext cx="17071479" cy="347662"/>
            <a:chOff x="0" y="0"/>
            <a:chExt cx="22761972" cy="463550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22761972" cy="463550"/>
            </a:xfrm>
            <a:custGeom>
              <a:avLst/>
              <a:gdLst/>
              <a:ahLst/>
              <a:cxnLst/>
              <a:rect l="l" t="t" r="r" b="b"/>
              <a:pathLst>
                <a:path w="22761972" h="463550">
                  <a:moveTo>
                    <a:pt x="0" y="0"/>
                  </a:moveTo>
                  <a:lnTo>
                    <a:pt x="22761972" y="0"/>
                  </a:lnTo>
                  <a:lnTo>
                    <a:pt x="22761972" y="463550"/>
                  </a:lnTo>
                  <a:lnTo>
                    <a:pt x="0" y="463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0" y="-57150"/>
              <a:ext cx="22761972" cy="5207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2687"/>
                </a:lnSpc>
              </a:pPr>
              <a:r>
                <a:rPr lang="en-US" sz="1687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Note: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608260" y="9036397"/>
            <a:ext cx="17071479" cy="347662"/>
            <a:chOff x="0" y="0"/>
            <a:chExt cx="22761972" cy="463550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22761972" cy="463550"/>
            </a:xfrm>
            <a:custGeom>
              <a:avLst/>
              <a:gdLst/>
              <a:ahLst/>
              <a:cxnLst/>
              <a:rect l="l" t="t" r="r" b="b"/>
              <a:pathLst>
                <a:path w="22761972" h="463550">
                  <a:moveTo>
                    <a:pt x="0" y="0"/>
                  </a:moveTo>
                  <a:lnTo>
                    <a:pt x="22761972" y="0"/>
                  </a:lnTo>
                  <a:lnTo>
                    <a:pt x="22761972" y="463550"/>
                  </a:lnTo>
                  <a:lnTo>
                    <a:pt x="0" y="463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0" y="-47625"/>
              <a:ext cx="22761972" cy="51117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197941" lvl="1" indent="-98971" algn="l">
                <a:lnSpc>
                  <a:spcPts val="2187"/>
                </a:lnSpc>
                <a:buFont typeface="Arial"/>
                <a:buChar char="•"/>
              </a:pPr>
              <a:r>
                <a:rPr lang="en-US" sz="1312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Use command for simple commands (no shell features).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608260" y="9444781"/>
            <a:ext cx="17071479" cy="347662"/>
            <a:chOff x="0" y="0"/>
            <a:chExt cx="22761972" cy="463550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22761972" cy="463550"/>
            </a:xfrm>
            <a:custGeom>
              <a:avLst/>
              <a:gdLst/>
              <a:ahLst/>
              <a:cxnLst/>
              <a:rect l="l" t="t" r="r" b="b"/>
              <a:pathLst>
                <a:path w="22761972" h="463550">
                  <a:moveTo>
                    <a:pt x="0" y="0"/>
                  </a:moveTo>
                  <a:lnTo>
                    <a:pt x="22761972" y="0"/>
                  </a:lnTo>
                  <a:lnTo>
                    <a:pt x="22761972" y="463550"/>
                  </a:lnTo>
                  <a:lnTo>
                    <a:pt x="0" y="463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0" y="-47625"/>
              <a:ext cx="22761972" cy="51117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197941" lvl="1" indent="-98971" algn="l">
                <a:lnSpc>
                  <a:spcPts val="2187"/>
                </a:lnSpc>
                <a:buFont typeface="Arial"/>
                <a:buChar char="•"/>
              </a:pPr>
              <a:r>
                <a:rPr lang="en-US" sz="1312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Use the shell module if your command uses pipes (|), redirects, or variables.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312</TotalTime>
  <Words>1446</Words>
  <Application>Microsoft Macintosh PowerPoint</Application>
  <PresentationFormat>Custom</PresentationFormat>
  <Paragraphs>275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PT Serif</vt:lpstr>
      <vt:lpstr>Calibri</vt:lpstr>
      <vt:lpstr>PT Serif Bold</vt:lpstr>
      <vt:lpstr>DM Sans Bold</vt:lpstr>
      <vt:lpstr>DM Sans</vt:lpstr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Getting-Started-with-Ansible.pptx</dc:title>
  <cp:lastModifiedBy>Mohammad Anees Alam</cp:lastModifiedBy>
  <cp:revision>2</cp:revision>
  <dcterms:created xsi:type="dcterms:W3CDTF">2006-08-16T00:00:00Z</dcterms:created>
  <dcterms:modified xsi:type="dcterms:W3CDTF">2025-12-14T07:19:11Z</dcterms:modified>
  <dc:identifier>DAGlJSDimh4</dc:identifier>
</cp:coreProperties>
</file>