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T Serif" charset="1" panose="020A0603040505020204"/>
      <p:regular r:id="rId20"/>
    </p:embeddedFont>
    <p:embeddedFont>
      <p:font typeface="PT Serif Bold" charset="1" panose="020A0703040505020204"/>
      <p:regular r:id="rId21"/>
    </p:embeddedFont>
    <p:embeddedFont>
      <p:font typeface="DM Sans" charset="1" panose="00000000000000000000"/>
      <p:regular r:id="rId23"/>
    </p:embeddedFont>
    <p:embeddedFont>
      <p:font typeface="DM Sans Bold" charset="1" panose="00000000000000000000"/>
      <p:regular r:id="rId25"/>
    </p:embeddedFont>
    <p:embeddedFont>
      <p:font typeface="Consolas" charset="1" panose="020B060902020403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4.xml" Type="http://schemas.openxmlformats.org/officeDocument/2006/relationships/notesSlide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Relationship Id="rId8" Target="../media/image23.pn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83270" y="9232900"/>
            <a:ext cx="1941667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sz="2874">
                <a:solidFill>
                  <a:srgbClr val="FFFFFF"/>
                </a:solidFill>
                <a:latin typeface="PT Serif"/>
                <a:ea typeface="PT Serif"/>
                <a:cs typeface="PT Serif"/>
                <a:sym typeface="PT Serif"/>
              </a:rPr>
              <a:t>Presenter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3270" y="9667875"/>
            <a:ext cx="4358083" cy="45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4"/>
              </a:lnSpc>
              <a:spcBef>
                <a:spcPct val="0"/>
              </a:spcBef>
            </a:pPr>
            <a:r>
              <a:rPr lang="en-US" b="true" sz="2874">
                <a:solidFill>
                  <a:srgbClr val="FFFFFF"/>
                </a:solidFill>
                <a:latin typeface="PT Serif Bold"/>
                <a:ea typeface="PT Serif Bold"/>
                <a:cs typeface="PT Serif Bold"/>
                <a:sym typeface="PT Serif Bold"/>
              </a:rPr>
              <a:t>Mohammad Anees Alam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924739" y="6367017"/>
            <a:ext cx="5573201" cy="961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85"/>
              </a:lnSpc>
              <a:spcBef>
                <a:spcPct val="0"/>
              </a:spcBef>
            </a:pPr>
            <a:r>
              <a:rPr lang="en-US" b="true" sz="6174">
                <a:solidFill>
                  <a:srgbClr val="FFFFFF"/>
                </a:solidFill>
                <a:latin typeface="PT Serif Bold"/>
                <a:ea typeface="PT Serif Bold"/>
                <a:cs typeface="PT Serif Bold"/>
                <a:sym typeface="PT Serif Bold"/>
              </a:rPr>
              <a:t>Fundamentals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14655" y="656332"/>
            <a:ext cx="6627316" cy="6615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00"/>
              </a:lnSpc>
            </a:pPr>
            <a:r>
              <a:rPr lang="en-US" sz="4000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Version Control Matters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14655" y="1593205"/>
            <a:ext cx="9716690" cy="1821061"/>
            <a:chOff x="0" y="0"/>
            <a:chExt cx="12955587" cy="242808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955524" cy="2427986"/>
            </a:xfrm>
            <a:custGeom>
              <a:avLst/>
              <a:gdLst/>
              <a:ahLst/>
              <a:cxnLst/>
              <a:rect r="r" b="b" t="t" l="l"/>
              <a:pathLst>
                <a:path h="2427986" w="12955524">
                  <a:moveTo>
                    <a:pt x="0" y="48895"/>
                  </a:moveTo>
                  <a:cubicBezTo>
                    <a:pt x="0" y="21971"/>
                    <a:pt x="21971" y="0"/>
                    <a:pt x="48895" y="0"/>
                  </a:cubicBezTo>
                  <a:lnTo>
                    <a:pt x="12906629" y="0"/>
                  </a:lnTo>
                  <a:cubicBezTo>
                    <a:pt x="12933680" y="0"/>
                    <a:pt x="12955524" y="21971"/>
                    <a:pt x="12955524" y="48895"/>
                  </a:cubicBezTo>
                  <a:lnTo>
                    <a:pt x="12955524" y="2379091"/>
                  </a:lnTo>
                  <a:cubicBezTo>
                    <a:pt x="12955524" y="2406142"/>
                    <a:pt x="12933553" y="2427986"/>
                    <a:pt x="12906629" y="2427986"/>
                  </a:cubicBezTo>
                  <a:lnTo>
                    <a:pt x="48895" y="2427986"/>
                  </a:lnTo>
                  <a:cubicBezTo>
                    <a:pt x="21844" y="2427986"/>
                    <a:pt x="0" y="2406015"/>
                    <a:pt x="0" y="237909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959327" y="1818829"/>
            <a:ext cx="3212604" cy="4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Track Every Change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59327" y="2309961"/>
            <a:ext cx="9227344" cy="85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Know exactly who changed what code, when they changed it, and why they made those changes.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714655" y="3658940"/>
            <a:ext cx="9716690" cy="1821061"/>
            <a:chOff x="0" y="0"/>
            <a:chExt cx="12955587" cy="242808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55524" cy="2427986"/>
            </a:xfrm>
            <a:custGeom>
              <a:avLst/>
              <a:gdLst/>
              <a:ahLst/>
              <a:cxnLst/>
              <a:rect r="r" b="b" t="t" l="l"/>
              <a:pathLst>
                <a:path h="2427986" w="12955524">
                  <a:moveTo>
                    <a:pt x="0" y="48895"/>
                  </a:moveTo>
                  <a:cubicBezTo>
                    <a:pt x="0" y="21971"/>
                    <a:pt x="21971" y="0"/>
                    <a:pt x="48895" y="0"/>
                  </a:cubicBezTo>
                  <a:lnTo>
                    <a:pt x="12906629" y="0"/>
                  </a:lnTo>
                  <a:cubicBezTo>
                    <a:pt x="12933680" y="0"/>
                    <a:pt x="12955524" y="21971"/>
                    <a:pt x="12955524" y="48895"/>
                  </a:cubicBezTo>
                  <a:lnTo>
                    <a:pt x="12955524" y="2379091"/>
                  </a:lnTo>
                  <a:cubicBezTo>
                    <a:pt x="12955524" y="2406142"/>
                    <a:pt x="12933553" y="2427986"/>
                    <a:pt x="12906629" y="2427986"/>
                  </a:cubicBezTo>
                  <a:lnTo>
                    <a:pt x="48895" y="2427986"/>
                  </a:lnTo>
                  <a:cubicBezTo>
                    <a:pt x="21844" y="2427986"/>
                    <a:pt x="0" y="2406015"/>
                    <a:pt x="0" y="237909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7959327" y="3884562"/>
            <a:ext cx="3212604" cy="4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Enable Collaboration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959327" y="4375696"/>
            <a:ext cx="9227344" cy="85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Multiple developers can work on the same project simultaneously without stepping on each other's toes.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714655" y="5724674"/>
            <a:ext cx="9716690" cy="1821061"/>
            <a:chOff x="0" y="0"/>
            <a:chExt cx="12955587" cy="24280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955524" cy="2427986"/>
            </a:xfrm>
            <a:custGeom>
              <a:avLst/>
              <a:gdLst/>
              <a:ahLst/>
              <a:cxnLst/>
              <a:rect r="r" b="b" t="t" l="l"/>
              <a:pathLst>
                <a:path h="2427986" w="12955524">
                  <a:moveTo>
                    <a:pt x="0" y="48895"/>
                  </a:moveTo>
                  <a:cubicBezTo>
                    <a:pt x="0" y="21971"/>
                    <a:pt x="21971" y="0"/>
                    <a:pt x="48895" y="0"/>
                  </a:cubicBezTo>
                  <a:lnTo>
                    <a:pt x="12906629" y="0"/>
                  </a:lnTo>
                  <a:cubicBezTo>
                    <a:pt x="12933680" y="0"/>
                    <a:pt x="12955524" y="21971"/>
                    <a:pt x="12955524" y="48895"/>
                  </a:cubicBezTo>
                  <a:lnTo>
                    <a:pt x="12955524" y="2379091"/>
                  </a:lnTo>
                  <a:cubicBezTo>
                    <a:pt x="12955524" y="2406142"/>
                    <a:pt x="12933553" y="2427986"/>
                    <a:pt x="12906629" y="2427986"/>
                  </a:cubicBezTo>
                  <a:lnTo>
                    <a:pt x="48895" y="2427986"/>
                  </a:lnTo>
                  <a:cubicBezTo>
                    <a:pt x="21844" y="2427986"/>
                    <a:pt x="0" y="2406015"/>
                    <a:pt x="0" y="237909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7959327" y="5950298"/>
            <a:ext cx="3212604" cy="4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Backup &amp; Recovery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959327" y="6441430"/>
            <a:ext cx="9227344" cy="85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Accidentally deleted important code? No problem. Revert to any earlier version in seconds.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714655" y="7790409"/>
            <a:ext cx="9716690" cy="1821061"/>
            <a:chOff x="0" y="0"/>
            <a:chExt cx="12955587" cy="242808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955524" cy="2427986"/>
            </a:xfrm>
            <a:custGeom>
              <a:avLst/>
              <a:gdLst/>
              <a:ahLst/>
              <a:cxnLst/>
              <a:rect r="r" b="b" t="t" l="l"/>
              <a:pathLst>
                <a:path h="2427986" w="12955524">
                  <a:moveTo>
                    <a:pt x="0" y="48895"/>
                  </a:moveTo>
                  <a:cubicBezTo>
                    <a:pt x="0" y="21971"/>
                    <a:pt x="21971" y="0"/>
                    <a:pt x="48895" y="0"/>
                  </a:cubicBezTo>
                  <a:lnTo>
                    <a:pt x="12906629" y="0"/>
                  </a:lnTo>
                  <a:cubicBezTo>
                    <a:pt x="12933680" y="0"/>
                    <a:pt x="12955524" y="21971"/>
                    <a:pt x="12955524" y="48895"/>
                  </a:cubicBezTo>
                  <a:lnTo>
                    <a:pt x="12955524" y="2379091"/>
                  </a:lnTo>
                  <a:cubicBezTo>
                    <a:pt x="12955524" y="2406142"/>
                    <a:pt x="12933553" y="2427986"/>
                    <a:pt x="12906629" y="2427986"/>
                  </a:cubicBezTo>
                  <a:lnTo>
                    <a:pt x="48895" y="2427986"/>
                  </a:lnTo>
                  <a:cubicBezTo>
                    <a:pt x="21844" y="2427986"/>
                    <a:pt x="0" y="2406015"/>
                    <a:pt x="0" y="2379091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7959327" y="8016031"/>
            <a:ext cx="3212604" cy="42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Safe Experimentation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959327" y="8507165"/>
            <a:ext cx="9227344" cy="859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Test new features and ideas without breaking your main product or disrupting your team.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129159"/>
            <a:ext cx="14146559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Evolution of Version Control Systems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4950" y="2664619"/>
            <a:ext cx="38100" cy="6455122"/>
            <a:chOff x="0" y="0"/>
            <a:chExt cx="50800" cy="860683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8606790"/>
            </a:xfrm>
            <a:custGeom>
              <a:avLst/>
              <a:gdLst/>
              <a:ahLst/>
              <a:cxnLst/>
              <a:rect r="r" b="b" t="t" l="l"/>
              <a:pathLst>
                <a:path h="8606790" w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8581390"/>
                  </a:lnTo>
                  <a:cubicBezTo>
                    <a:pt x="50800" y="8595360"/>
                    <a:pt x="39370" y="8606790"/>
                    <a:pt x="25400" y="8606790"/>
                  </a:cubicBezTo>
                  <a:cubicBezTo>
                    <a:pt x="11430" y="8606790"/>
                    <a:pt x="0" y="8595360"/>
                    <a:pt x="0" y="858139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012609" y="2964507"/>
            <a:ext cx="850552" cy="38100"/>
            <a:chOff x="0" y="0"/>
            <a:chExt cx="1134070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25061" y="2664619"/>
            <a:ext cx="637878" cy="637878"/>
            <a:chOff x="0" y="0"/>
            <a:chExt cx="850503" cy="8505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920758" y="2771180"/>
            <a:ext cx="446485" cy="49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05114" y="2742902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Local Version Control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2238" y="3301901"/>
            <a:ext cx="673417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Examples: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RCS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2238" y="3925640"/>
            <a:ext cx="6734175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Changes tracked only on one computer. Like keeping a personal diary—only you can see it. Limited to single-person projects with no collaboration.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424839" y="4665612"/>
            <a:ext cx="850553" cy="38100"/>
            <a:chOff x="0" y="0"/>
            <a:chExt cx="1134070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825061" y="4365724"/>
            <a:ext cx="637878" cy="637877"/>
            <a:chOff x="0" y="0"/>
            <a:chExt cx="850503" cy="8505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920758" y="4472285"/>
            <a:ext cx="446485" cy="49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561587" y="4444008"/>
            <a:ext cx="457720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Centralized Version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61587" y="5003006"/>
            <a:ext cx="673417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Examples: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CVS, SVN, Perforce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561587" y="5626745"/>
            <a:ext cx="6734175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One central server stores all versions. Like a library where everyone borrows from one place. Easy to manage but creates a single point of failure.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012609" y="6702326"/>
            <a:ext cx="850552" cy="38100"/>
            <a:chOff x="0" y="0"/>
            <a:chExt cx="1134070" cy="50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34110" cy="50800"/>
            </a:xfrm>
            <a:custGeom>
              <a:avLst/>
              <a:gdLst/>
              <a:ahLst/>
              <a:cxnLst/>
              <a:rect r="r" b="b" t="t" l="l"/>
              <a:pathLst>
                <a:path h="50800" w="113411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108710" y="0"/>
                  </a:lnTo>
                  <a:cubicBezTo>
                    <a:pt x="1122680" y="0"/>
                    <a:pt x="1134110" y="11430"/>
                    <a:pt x="1134110" y="25400"/>
                  </a:cubicBezTo>
                  <a:cubicBezTo>
                    <a:pt x="1134110" y="39370"/>
                    <a:pt x="1122680" y="50800"/>
                    <a:pt x="1108710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825061" y="6402438"/>
            <a:ext cx="637878" cy="637878"/>
            <a:chOff x="0" y="0"/>
            <a:chExt cx="850503" cy="8505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50392" cy="850519"/>
            </a:xfrm>
            <a:custGeom>
              <a:avLst/>
              <a:gdLst/>
              <a:ahLst/>
              <a:cxnLst/>
              <a:rect r="r" b="b" t="t" l="l"/>
              <a:pathLst>
                <a:path h="850519" w="850392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793750" y="0"/>
                  </a:lnTo>
                  <a:cubicBezTo>
                    <a:pt x="825119" y="0"/>
                    <a:pt x="850392" y="25400"/>
                    <a:pt x="850392" y="56642"/>
                  </a:cubicBezTo>
                  <a:lnTo>
                    <a:pt x="850392" y="793750"/>
                  </a:lnTo>
                  <a:cubicBezTo>
                    <a:pt x="850392" y="825119"/>
                    <a:pt x="824992" y="850392"/>
                    <a:pt x="793750" y="850392"/>
                  </a:cubicBezTo>
                  <a:lnTo>
                    <a:pt x="56642" y="850392"/>
                  </a:lnTo>
                  <a:cubicBezTo>
                    <a:pt x="25400" y="850519"/>
                    <a:pt x="0" y="825119"/>
                    <a:pt x="0" y="79375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8920758" y="6508997"/>
            <a:ext cx="446485" cy="491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500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3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174057" y="6480721"/>
            <a:ext cx="4552355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Distributed Version Control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92238" y="7039719"/>
            <a:ext cx="6734175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Examples: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Git, Mercurial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2238" y="7663457"/>
            <a:ext cx="6734175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Every developer has a complete copy. Like giving everyone a full photocopy of the library—even if the main library burns down, all the books are safe.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903386"/>
            <a:ext cx="8593485" cy="763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Why Git Dominates the Industry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92238" y="2354164"/>
            <a:ext cx="425202" cy="425203"/>
            <a:chOff x="0" y="0"/>
            <a:chExt cx="566937" cy="56693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-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00956" y="2347466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Distributed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00956" y="3019871"/>
            <a:ext cx="709716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Safe, fast, and reliable. No single point of failure means your team keeps working even when servers go down.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92238" y="5092601"/>
            <a:ext cx="425202" cy="425203"/>
            <a:chOff x="0" y="0"/>
            <a:chExt cx="566937" cy="56693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-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700956" y="5085904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Powerful Branching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0956" y="5758309"/>
            <a:ext cx="709716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Easy experimentation and seamless teamwork. Create branches instantly, merge effortlessly.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992238" y="7377410"/>
            <a:ext cx="425202" cy="425203"/>
            <a:chOff x="0" y="0"/>
            <a:chExt cx="566937" cy="56693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566928" cy="566928"/>
            </a:xfrm>
            <a:custGeom>
              <a:avLst/>
              <a:gdLst/>
              <a:ahLst/>
              <a:cxnLst/>
              <a:rect r="r" b="b" t="t" l="l"/>
              <a:pathLst>
                <a:path h="566928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566928"/>
                  </a:lnTo>
                  <a:lnTo>
                    <a:pt x="0" y="5669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700956" y="7370712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Lightning Fast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0956" y="8043119"/>
            <a:ext cx="7097166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Commits, diffs, and merges happen in milliseconds, not minutes. Your workflow stays smooth.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9401" y="2250132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Ecosystem Integration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9401" y="2922538"/>
            <a:ext cx="780588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Git seamlessly connects with GitHub, GitLab, and Bitbucket. These platforms integrate perfectly with CI/CD pipelines, making DevOps workflows smooth and automated.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9401" y="4992141"/>
            <a:ext cx="7805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That's why almost every DevOps workflow starts with Git.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2066181"/>
            <a:ext cx="11633424" cy="72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Git's Role in Modern Development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7439" y="3372148"/>
            <a:ext cx="1587832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Git is like a </a:t>
            </a:r>
            <a:r>
              <a:rPr lang="en-US" sz="2187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time machine for your code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.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7439" y="4144715"/>
            <a:ext cx="1587832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Every change becomes a snapshot you can rewind, fast-forward, or branch off from.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3148459"/>
            <a:ext cx="38100" cy="1864073"/>
            <a:chOff x="0" y="0"/>
            <a:chExt cx="50800" cy="24854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0800" cy="2485390"/>
            </a:xfrm>
            <a:custGeom>
              <a:avLst/>
              <a:gdLst/>
              <a:ahLst/>
              <a:cxnLst/>
              <a:rect r="r" b="b" t="t" l="l"/>
              <a:pathLst>
                <a:path h="2485390" w="50800">
                  <a:moveTo>
                    <a:pt x="0" y="0"/>
                  </a:moveTo>
                  <a:lnTo>
                    <a:pt x="50800" y="0"/>
                  </a:lnTo>
                  <a:lnTo>
                    <a:pt x="50800" y="2485390"/>
                  </a:lnTo>
                  <a:lnTo>
                    <a:pt x="0" y="248539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92238" y="5775275"/>
            <a:ext cx="5245447" cy="38100"/>
            <a:chOff x="0" y="0"/>
            <a:chExt cx="6993930" cy="5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92238" y="5974110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Track Changes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2238" y="6533109"/>
            <a:ext cx="5245447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See exactly what changed, who changed it, and why they made the change.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1202" y="5775275"/>
            <a:ext cx="5245447" cy="38100"/>
            <a:chOff x="0" y="0"/>
            <a:chExt cx="6993930" cy="50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521202" y="5974110"/>
            <a:ext cx="4092327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Enable Safe Experiments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21202" y="6533109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Let teams try new ideas without breaking the main codebase.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0166" y="5775275"/>
            <a:ext cx="5245447" cy="38100"/>
            <a:chOff x="0" y="0"/>
            <a:chExt cx="6993930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93890" cy="50800"/>
            </a:xfrm>
            <a:custGeom>
              <a:avLst/>
              <a:gdLst/>
              <a:ahLst/>
              <a:cxnLst/>
              <a:rect r="r" b="b" t="t" l="l"/>
              <a:pathLst>
                <a:path h="50800" w="6993890">
                  <a:moveTo>
                    <a:pt x="0" y="0"/>
                  </a:moveTo>
                  <a:lnTo>
                    <a:pt x="6993890" y="0"/>
                  </a:lnTo>
                  <a:lnTo>
                    <a:pt x="699389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04F0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050166" y="5974110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Merge Work Together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050166" y="6533109"/>
            <a:ext cx="5245447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Bring everyone's contributions together seamlessly with intelligent merging.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297484"/>
            <a:ext cx="7442746" cy="968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Essential Git Concepts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02482" y="4336405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Commits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895404"/>
            <a:ext cx="4731544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Snapshots of Changes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519142"/>
            <a:ext cx="4731544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Like save points in a video game. Each commit captures your work at a moment in time with a unique ID, author, date, and message.</a:t>
            </a:r>
          </a:p>
        </p:txBody>
      </p: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290816" y="3039070"/>
            <a:ext cx="5706219" cy="5706219"/>
            <a:chOff x="0" y="0"/>
            <a:chExt cx="7608292" cy="7608292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6934646" y="5626894"/>
            <a:ext cx="424160" cy="530275"/>
            <a:chOff x="0" y="0"/>
            <a:chExt cx="565547" cy="707033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65531" cy="707009"/>
            </a:xfrm>
            <a:custGeom>
              <a:avLst/>
              <a:gdLst/>
              <a:ahLst/>
              <a:cxnLst/>
              <a:rect r="r" b="b" t="t" l="l"/>
              <a:pathLst>
                <a:path h="707009" w="565531">
                  <a:moveTo>
                    <a:pt x="0" y="0"/>
                  </a:moveTo>
                  <a:lnTo>
                    <a:pt x="565531" y="0"/>
                  </a:lnTo>
                  <a:lnTo>
                    <a:pt x="565531" y="707009"/>
                  </a:lnTo>
                  <a:lnTo>
                    <a:pt x="0" y="707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0" t="0" r="-233" b="-3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422237" y="2813894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Branches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22237" y="3372891"/>
            <a:ext cx="487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Parallel Workstreams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22237" y="3996630"/>
            <a:ext cx="4873526" cy="1909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Separate timelines for development. Like multiple chefs cooking different dishes in separate kitchens—they don't interfere with each other.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6290816" y="3039070"/>
            <a:ext cx="5706219" cy="5706219"/>
            <a:chOff x="0" y="0"/>
            <a:chExt cx="7608292" cy="7608292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930407" y="3897362"/>
            <a:ext cx="424160" cy="530275"/>
            <a:chOff x="0" y="0"/>
            <a:chExt cx="565547" cy="707033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565531" cy="707009"/>
            </a:xfrm>
            <a:custGeom>
              <a:avLst/>
              <a:gdLst/>
              <a:ahLst/>
              <a:cxnLst/>
              <a:rect r="r" b="b" t="t" l="l"/>
              <a:pathLst>
                <a:path h="707009" w="565531">
                  <a:moveTo>
                    <a:pt x="0" y="0"/>
                  </a:moveTo>
                  <a:lnTo>
                    <a:pt x="565531" y="0"/>
                  </a:lnTo>
                  <a:lnTo>
                    <a:pt x="565531" y="707009"/>
                  </a:lnTo>
                  <a:lnTo>
                    <a:pt x="0" y="707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30" t="0" r="-233" b="-3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2422237" y="6312545"/>
            <a:ext cx="3721299" cy="484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Merging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422237" y="6871544"/>
            <a:ext cx="487352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Bringing Work Together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22237" y="7495282"/>
            <a:ext cx="487352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Combining branches back into one. Like merging two different recipe versions into a single cookbook.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290816" y="3039070"/>
            <a:ext cx="5706219" cy="5706219"/>
            <a:chOff x="0" y="0"/>
            <a:chExt cx="7608292" cy="7608292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7608316" cy="7608316"/>
            </a:xfrm>
            <a:custGeom>
              <a:avLst/>
              <a:gdLst/>
              <a:ahLst/>
              <a:cxnLst/>
              <a:rect r="r" b="b" t="t" l="l"/>
              <a:pathLst>
                <a:path h="7608316" w="7608316">
                  <a:moveTo>
                    <a:pt x="0" y="0"/>
                  </a:moveTo>
                  <a:lnTo>
                    <a:pt x="7608316" y="0"/>
                  </a:lnTo>
                  <a:lnTo>
                    <a:pt x="7608316" y="7608316"/>
                  </a:lnTo>
                  <a:lnTo>
                    <a:pt x="0" y="76083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>
            <a:grpSpLocks noChangeAspect="true"/>
          </p:cNvGrpSpPr>
          <p:nvPr/>
        </p:nvGrpSpPr>
        <p:grpSpPr>
          <a:xfrm rot="0">
            <a:off x="9930407" y="7356425"/>
            <a:ext cx="424160" cy="530275"/>
            <a:chOff x="0" y="0"/>
            <a:chExt cx="565547" cy="707033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565531" cy="707009"/>
            </a:xfrm>
            <a:custGeom>
              <a:avLst/>
              <a:gdLst/>
              <a:ahLst/>
              <a:cxnLst/>
              <a:rect r="r" b="b" t="t" l="l"/>
              <a:pathLst>
                <a:path h="707009" w="565531">
                  <a:moveTo>
                    <a:pt x="0" y="0"/>
                  </a:moveTo>
                  <a:lnTo>
                    <a:pt x="565531" y="0"/>
                  </a:lnTo>
                  <a:lnTo>
                    <a:pt x="565531" y="707009"/>
                  </a:lnTo>
                  <a:lnTo>
                    <a:pt x="0" y="7070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30" t="0" r="-233" b="-3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3944242"/>
            <a:ext cx="14557059" cy="72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Setting up GIT on your local environment, follow this: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992238" y="5132785"/>
            <a:ext cx="1933278" cy="779710"/>
            <a:chOff x="0" y="0"/>
            <a:chExt cx="2577703" cy="1039613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2577719" cy="1039622"/>
            </a:xfrm>
            <a:custGeom>
              <a:avLst/>
              <a:gdLst/>
              <a:ahLst/>
              <a:cxnLst/>
              <a:rect r="r" b="b" t="t" l="l"/>
              <a:pathLst>
                <a:path h="1039622" w="2577719">
                  <a:moveTo>
                    <a:pt x="0" y="0"/>
                  </a:moveTo>
                  <a:lnTo>
                    <a:pt x="2577719" y="0"/>
                  </a:lnTo>
                  <a:lnTo>
                    <a:pt x="2577719" y="1039622"/>
                  </a:lnTo>
                  <a:lnTo>
                    <a:pt x="0" y="1039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78" r="0" b="-77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1190476"/>
            <a:ext cx="12085885" cy="728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Repository Setup: Initialize vs Clone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3188" y="2501801"/>
            <a:ext cx="8048030" cy="5812482"/>
            <a:chOff x="0" y="0"/>
            <a:chExt cx="10730707" cy="774997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25400" y="25400"/>
              <a:ext cx="10679938" cy="7699248"/>
            </a:xfrm>
            <a:custGeom>
              <a:avLst/>
              <a:gdLst/>
              <a:ahLst/>
              <a:cxnLst/>
              <a:rect r="r" b="b" t="t" l="l"/>
              <a:pathLst>
                <a:path h="7699248" w="10679938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10623042" y="0"/>
                  </a:lnTo>
                  <a:cubicBezTo>
                    <a:pt x="10654411" y="0"/>
                    <a:pt x="10679938" y="25400"/>
                    <a:pt x="10679938" y="56769"/>
                  </a:cubicBezTo>
                  <a:lnTo>
                    <a:pt x="10679938" y="7642478"/>
                  </a:lnTo>
                  <a:cubicBezTo>
                    <a:pt x="10679938" y="7673848"/>
                    <a:pt x="10654538" y="7699248"/>
                    <a:pt x="10623042" y="7699248"/>
                  </a:cubicBezTo>
                  <a:lnTo>
                    <a:pt x="56896" y="7699248"/>
                  </a:lnTo>
                  <a:cubicBezTo>
                    <a:pt x="25527" y="7699248"/>
                    <a:pt x="0" y="7673848"/>
                    <a:pt x="0" y="7642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730738" cy="7750048"/>
            </a:xfrm>
            <a:custGeom>
              <a:avLst/>
              <a:gdLst/>
              <a:ahLst/>
              <a:cxnLst/>
              <a:rect r="r" b="b" t="t" l="l"/>
              <a:pathLst>
                <a:path h="7750048" w="10730738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10648442" y="0"/>
                  </a:lnTo>
                  <a:lnTo>
                    <a:pt x="10648442" y="25400"/>
                  </a:lnTo>
                  <a:lnTo>
                    <a:pt x="10648442" y="0"/>
                  </a:lnTo>
                  <a:cubicBezTo>
                    <a:pt x="10693781" y="0"/>
                    <a:pt x="10730738" y="36703"/>
                    <a:pt x="10730738" y="82169"/>
                  </a:cubicBezTo>
                  <a:lnTo>
                    <a:pt x="10705338" y="82169"/>
                  </a:lnTo>
                  <a:lnTo>
                    <a:pt x="10730738" y="82169"/>
                  </a:lnTo>
                  <a:lnTo>
                    <a:pt x="10730738" y="7667878"/>
                  </a:lnTo>
                  <a:lnTo>
                    <a:pt x="10705338" y="7667878"/>
                  </a:lnTo>
                  <a:lnTo>
                    <a:pt x="10730738" y="7667878"/>
                  </a:lnTo>
                  <a:cubicBezTo>
                    <a:pt x="10730738" y="7713345"/>
                    <a:pt x="10693908" y="7750048"/>
                    <a:pt x="10648442" y="7750048"/>
                  </a:cubicBezTo>
                  <a:lnTo>
                    <a:pt x="10648442" y="7724648"/>
                  </a:lnTo>
                  <a:lnTo>
                    <a:pt x="10648442" y="7750048"/>
                  </a:lnTo>
                  <a:lnTo>
                    <a:pt x="82296" y="7750048"/>
                  </a:lnTo>
                  <a:lnTo>
                    <a:pt x="82296" y="7724648"/>
                  </a:lnTo>
                  <a:lnTo>
                    <a:pt x="82296" y="7750048"/>
                  </a:lnTo>
                  <a:cubicBezTo>
                    <a:pt x="36957" y="7750048"/>
                    <a:pt x="0" y="7713345"/>
                    <a:pt x="0" y="766787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7667878"/>
                  </a:lnTo>
                  <a:lnTo>
                    <a:pt x="25400" y="7667878"/>
                  </a:lnTo>
                  <a:lnTo>
                    <a:pt x="50800" y="7667878"/>
                  </a:lnTo>
                  <a:cubicBezTo>
                    <a:pt x="50800" y="7685151"/>
                    <a:pt x="64897" y="7699248"/>
                    <a:pt x="82296" y="7699248"/>
                  </a:cubicBezTo>
                  <a:lnTo>
                    <a:pt x="10648442" y="7699248"/>
                  </a:lnTo>
                  <a:cubicBezTo>
                    <a:pt x="10665841" y="7699248"/>
                    <a:pt x="10679938" y="7685151"/>
                    <a:pt x="10679938" y="7667878"/>
                  </a:cubicBezTo>
                  <a:lnTo>
                    <a:pt x="10679938" y="82169"/>
                  </a:lnTo>
                  <a:cubicBezTo>
                    <a:pt x="10679938" y="64897"/>
                    <a:pt x="10665841" y="50800"/>
                    <a:pt x="10648442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897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30338" y="2558951"/>
            <a:ext cx="7933730" cy="850552"/>
            <a:chOff x="0" y="0"/>
            <a:chExt cx="10578307" cy="113407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78338" cy="1134110"/>
            </a:xfrm>
            <a:custGeom>
              <a:avLst/>
              <a:gdLst/>
              <a:ahLst/>
              <a:cxnLst/>
              <a:rect r="r" b="b" t="t" l="l"/>
              <a:pathLst>
                <a:path h="1134110" w="10578338">
                  <a:moveTo>
                    <a:pt x="0" y="0"/>
                  </a:moveTo>
                  <a:lnTo>
                    <a:pt x="10578338" y="0"/>
                  </a:lnTo>
                  <a:lnTo>
                    <a:pt x="10578338" y="1134110"/>
                  </a:lnTo>
                  <a:lnTo>
                    <a:pt x="0" y="113411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4784526" y="2718346"/>
            <a:ext cx="425202" cy="531614"/>
            <a:chOff x="0" y="0"/>
            <a:chExt cx="566937" cy="708818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3" t="0" r="-235" b="-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13855" y="3673971"/>
            <a:ext cx="4186832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Initialize New Repository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13855" y="4194870"/>
            <a:ext cx="7366695" cy="59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init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3855" y="4866234"/>
            <a:ext cx="7366695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Start a brand-new Git repository from scratch. Perfect when you're creating a new project folder.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13855" y="6187679"/>
            <a:ext cx="7366695" cy="1332310"/>
            <a:chOff x="0" y="0"/>
            <a:chExt cx="9822260" cy="177641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22180" cy="1776349"/>
            </a:xfrm>
            <a:custGeom>
              <a:avLst/>
              <a:gdLst/>
              <a:ahLst/>
              <a:cxnLst/>
              <a:rect r="r" b="b" t="t" l="l"/>
              <a:pathLst>
                <a:path h="1776349" w="982218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9765538" y="0"/>
                  </a:lnTo>
                  <a:cubicBezTo>
                    <a:pt x="9796907" y="0"/>
                    <a:pt x="9822180" y="25400"/>
                    <a:pt x="9822180" y="56642"/>
                  </a:cubicBezTo>
                  <a:lnTo>
                    <a:pt x="9822180" y="1719707"/>
                  </a:lnTo>
                  <a:cubicBezTo>
                    <a:pt x="9822180" y="1751076"/>
                    <a:pt x="9796780" y="1776349"/>
                    <a:pt x="9765538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299716" y="6187679"/>
            <a:ext cx="7394973" cy="1332310"/>
            <a:chOff x="0" y="0"/>
            <a:chExt cx="9859963" cy="17764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859899" cy="1776349"/>
            </a:xfrm>
            <a:custGeom>
              <a:avLst/>
              <a:gdLst/>
              <a:ahLst/>
              <a:cxnLst/>
              <a:rect r="r" b="b" t="t" l="l"/>
              <a:pathLst>
                <a:path h="1776349" w="9859899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9803257" y="0"/>
                  </a:lnTo>
                  <a:cubicBezTo>
                    <a:pt x="9834625" y="0"/>
                    <a:pt x="9859899" y="25400"/>
                    <a:pt x="9859899" y="56642"/>
                  </a:cubicBezTo>
                  <a:lnTo>
                    <a:pt x="9859899" y="1719707"/>
                  </a:lnTo>
                  <a:cubicBezTo>
                    <a:pt x="9859899" y="1751076"/>
                    <a:pt x="9834499" y="1776349"/>
                    <a:pt x="9803257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83234" y="6266855"/>
            <a:ext cx="6827936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mkdir git-demo &amp;&amp; cd git-demogit init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266635" y="2501801"/>
            <a:ext cx="8048179" cy="5812482"/>
            <a:chOff x="0" y="0"/>
            <a:chExt cx="10730905" cy="77499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25400" y="25400"/>
              <a:ext cx="10680192" cy="7699248"/>
            </a:xfrm>
            <a:custGeom>
              <a:avLst/>
              <a:gdLst/>
              <a:ahLst/>
              <a:cxnLst/>
              <a:rect r="r" b="b" t="t" l="l"/>
              <a:pathLst>
                <a:path h="7699248" w="10680192">
                  <a:moveTo>
                    <a:pt x="0" y="56769"/>
                  </a:moveTo>
                  <a:cubicBezTo>
                    <a:pt x="0" y="25400"/>
                    <a:pt x="25400" y="0"/>
                    <a:pt x="56896" y="0"/>
                  </a:cubicBezTo>
                  <a:lnTo>
                    <a:pt x="10623296" y="0"/>
                  </a:lnTo>
                  <a:cubicBezTo>
                    <a:pt x="10654665" y="0"/>
                    <a:pt x="10680192" y="25400"/>
                    <a:pt x="10680192" y="56769"/>
                  </a:cubicBezTo>
                  <a:lnTo>
                    <a:pt x="10680192" y="7642478"/>
                  </a:lnTo>
                  <a:cubicBezTo>
                    <a:pt x="10680192" y="7673848"/>
                    <a:pt x="10654792" y="7699248"/>
                    <a:pt x="10623296" y="7699248"/>
                  </a:cubicBezTo>
                  <a:lnTo>
                    <a:pt x="56896" y="7699248"/>
                  </a:lnTo>
                  <a:cubicBezTo>
                    <a:pt x="25527" y="7699248"/>
                    <a:pt x="0" y="7673848"/>
                    <a:pt x="0" y="764247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730992" cy="7750048"/>
            </a:xfrm>
            <a:custGeom>
              <a:avLst/>
              <a:gdLst/>
              <a:ahLst/>
              <a:cxnLst/>
              <a:rect r="r" b="b" t="t" l="l"/>
              <a:pathLst>
                <a:path h="7750048" w="10730992">
                  <a:moveTo>
                    <a:pt x="0" y="82169"/>
                  </a:moveTo>
                  <a:cubicBezTo>
                    <a:pt x="0" y="36703"/>
                    <a:pt x="36830" y="0"/>
                    <a:pt x="82296" y="0"/>
                  </a:cubicBezTo>
                  <a:lnTo>
                    <a:pt x="10648696" y="0"/>
                  </a:lnTo>
                  <a:lnTo>
                    <a:pt x="10648696" y="25400"/>
                  </a:lnTo>
                  <a:lnTo>
                    <a:pt x="10648696" y="0"/>
                  </a:lnTo>
                  <a:cubicBezTo>
                    <a:pt x="10694035" y="0"/>
                    <a:pt x="10730992" y="36703"/>
                    <a:pt x="10730992" y="82169"/>
                  </a:cubicBezTo>
                  <a:lnTo>
                    <a:pt x="10705592" y="82169"/>
                  </a:lnTo>
                  <a:lnTo>
                    <a:pt x="10730992" y="82169"/>
                  </a:lnTo>
                  <a:lnTo>
                    <a:pt x="10730992" y="7667878"/>
                  </a:lnTo>
                  <a:lnTo>
                    <a:pt x="10705592" y="7667878"/>
                  </a:lnTo>
                  <a:lnTo>
                    <a:pt x="10730992" y="7667878"/>
                  </a:lnTo>
                  <a:cubicBezTo>
                    <a:pt x="10730992" y="7713345"/>
                    <a:pt x="10694162" y="7750048"/>
                    <a:pt x="10648696" y="7750048"/>
                  </a:cubicBezTo>
                  <a:lnTo>
                    <a:pt x="10648696" y="7724648"/>
                  </a:lnTo>
                  <a:lnTo>
                    <a:pt x="10648696" y="7750048"/>
                  </a:lnTo>
                  <a:lnTo>
                    <a:pt x="82296" y="7750048"/>
                  </a:lnTo>
                  <a:lnTo>
                    <a:pt x="82296" y="7724648"/>
                  </a:lnTo>
                  <a:lnTo>
                    <a:pt x="82296" y="7750048"/>
                  </a:lnTo>
                  <a:cubicBezTo>
                    <a:pt x="36957" y="7750048"/>
                    <a:pt x="0" y="7713345"/>
                    <a:pt x="0" y="7667878"/>
                  </a:cubicBezTo>
                  <a:lnTo>
                    <a:pt x="0" y="82169"/>
                  </a:lnTo>
                  <a:lnTo>
                    <a:pt x="25400" y="82169"/>
                  </a:lnTo>
                  <a:lnTo>
                    <a:pt x="0" y="82169"/>
                  </a:lnTo>
                  <a:moveTo>
                    <a:pt x="50800" y="82169"/>
                  </a:moveTo>
                  <a:lnTo>
                    <a:pt x="50800" y="7667878"/>
                  </a:lnTo>
                  <a:lnTo>
                    <a:pt x="25400" y="7667878"/>
                  </a:lnTo>
                  <a:lnTo>
                    <a:pt x="50800" y="7667878"/>
                  </a:lnTo>
                  <a:cubicBezTo>
                    <a:pt x="50800" y="7685151"/>
                    <a:pt x="64897" y="7699248"/>
                    <a:pt x="82296" y="7699248"/>
                  </a:cubicBezTo>
                  <a:lnTo>
                    <a:pt x="10648696" y="7699248"/>
                  </a:lnTo>
                  <a:cubicBezTo>
                    <a:pt x="10666095" y="7699248"/>
                    <a:pt x="10680192" y="7685151"/>
                    <a:pt x="10680192" y="7667878"/>
                  </a:cubicBezTo>
                  <a:lnTo>
                    <a:pt x="10680192" y="82169"/>
                  </a:lnTo>
                  <a:cubicBezTo>
                    <a:pt x="10680192" y="64897"/>
                    <a:pt x="10666095" y="50800"/>
                    <a:pt x="10648696" y="50800"/>
                  </a:cubicBezTo>
                  <a:lnTo>
                    <a:pt x="82296" y="50800"/>
                  </a:lnTo>
                  <a:lnTo>
                    <a:pt x="82296" y="25400"/>
                  </a:lnTo>
                  <a:lnTo>
                    <a:pt x="82296" y="50800"/>
                  </a:lnTo>
                  <a:cubicBezTo>
                    <a:pt x="64897" y="50800"/>
                    <a:pt x="50800" y="64897"/>
                    <a:pt x="50800" y="82169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323784" y="2558951"/>
            <a:ext cx="7933879" cy="850552"/>
            <a:chOff x="0" y="0"/>
            <a:chExt cx="10578505" cy="11340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578465" cy="1134110"/>
            </a:xfrm>
            <a:custGeom>
              <a:avLst/>
              <a:gdLst/>
              <a:ahLst/>
              <a:cxnLst/>
              <a:rect r="r" b="b" t="t" l="l"/>
              <a:pathLst>
                <a:path h="1134110" w="10578465">
                  <a:moveTo>
                    <a:pt x="0" y="0"/>
                  </a:moveTo>
                  <a:lnTo>
                    <a:pt x="10578465" y="0"/>
                  </a:lnTo>
                  <a:lnTo>
                    <a:pt x="10578465" y="1134110"/>
                  </a:lnTo>
                  <a:lnTo>
                    <a:pt x="0" y="113411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7" id="27"/>
          <p:cNvGrpSpPr>
            <a:grpSpLocks noChangeAspect="true"/>
          </p:cNvGrpSpPr>
          <p:nvPr/>
        </p:nvGrpSpPr>
        <p:grpSpPr>
          <a:xfrm rot="0">
            <a:off x="13078122" y="2718346"/>
            <a:ext cx="425203" cy="531614"/>
            <a:chOff x="0" y="0"/>
            <a:chExt cx="566937" cy="708818"/>
          </a:xfrm>
        </p:grpSpPr>
        <p:sp>
          <p:nvSpPr>
            <p:cNvPr name="Freeform 28" id="28" descr="preencoded.png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33" t="0" r="-235" b="-4"/>
              </a:stretch>
            </a:blip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9607302" y="3673971"/>
            <a:ext cx="4281636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Clone Existing Repository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607302" y="4194870"/>
            <a:ext cx="7366844" cy="596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clone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07302" y="4866234"/>
            <a:ext cx="7366844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Copy an existing remote repository (like from GitHub). Use when your team already has a repo and you want the same copy.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607302" y="6641306"/>
            <a:ext cx="7366844" cy="1332310"/>
            <a:chOff x="0" y="0"/>
            <a:chExt cx="9822458" cy="17764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822435" cy="1776349"/>
            </a:xfrm>
            <a:custGeom>
              <a:avLst/>
              <a:gdLst/>
              <a:ahLst/>
              <a:cxnLst/>
              <a:rect r="r" b="b" t="t" l="l"/>
              <a:pathLst>
                <a:path h="1776349" w="9822435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9765792" y="0"/>
                  </a:lnTo>
                  <a:cubicBezTo>
                    <a:pt x="9797161" y="0"/>
                    <a:pt x="9822435" y="25400"/>
                    <a:pt x="9822435" y="56642"/>
                  </a:cubicBezTo>
                  <a:lnTo>
                    <a:pt x="9822435" y="1719707"/>
                  </a:lnTo>
                  <a:cubicBezTo>
                    <a:pt x="9822435" y="1751076"/>
                    <a:pt x="9797035" y="1776349"/>
                    <a:pt x="9765792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9593164" y="6641306"/>
            <a:ext cx="7395121" cy="1332310"/>
            <a:chOff x="0" y="0"/>
            <a:chExt cx="9860162" cy="177641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860153" cy="1776349"/>
            </a:xfrm>
            <a:custGeom>
              <a:avLst/>
              <a:gdLst/>
              <a:ahLst/>
              <a:cxnLst/>
              <a:rect r="r" b="b" t="t" l="l"/>
              <a:pathLst>
                <a:path h="1776349" w="9860153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9803511" y="0"/>
                  </a:lnTo>
                  <a:cubicBezTo>
                    <a:pt x="9834880" y="0"/>
                    <a:pt x="9860153" y="25400"/>
                    <a:pt x="9860153" y="56642"/>
                  </a:cubicBezTo>
                  <a:lnTo>
                    <a:pt x="9860153" y="1719707"/>
                  </a:lnTo>
                  <a:cubicBezTo>
                    <a:pt x="9860153" y="1751076"/>
                    <a:pt x="9834753" y="1776349"/>
                    <a:pt x="9803511" y="1776349"/>
                  </a:cubicBezTo>
                  <a:lnTo>
                    <a:pt x="56642" y="1776349"/>
                  </a:lnTo>
                  <a:cubicBezTo>
                    <a:pt x="25273" y="1776349"/>
                    <a:pt x="0" y="1750949"/>
                    <a:pt x="0" y="1719707"/>
                  </a:cubicBezTo>
                  <a:close/>
                </a:path>
              </a:pathLst>
            </a:custGeom>
            <a:solidFill>
              <a:srgbClr val="F2F2F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9876681" y="6720482"/>
            <a:ext cx="6828085" cy="1040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https://github.com/user/repo.gitcd repo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2238" y="8518921"/>
            <a:ext cx="16303526" cy="558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 b="true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Pro Tip: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Use git status as your "health check"—it shows untracked files, staged files, and your current branch.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86271" y="672256"/>
            <a:ext cx="13786204" cy="82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0"/>
              </a:lnSpc>
            </a:pPr>
            <a:r>
              <a:rPr lang="en-US" sz="5187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The Git Workflow: Stage, Commit, Push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886271" y="1921074"/>
            <a:ext cx="1266081" cy="1519386"/>
            <a:chOff x="0" y="0"/>
            <a:chExt cx="1688108" cy="2025848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688084" cy="2025904"/>
            </a:xfrm>
            <a:custGeom>
              <a:avLst/>
              <a:gdLst/>
              <a:ahLst/>
              <a:cxnLst/>
              <a:rect r="r" b="b" t="t" l="l"/>
              <a:pathLst>
                <a:path h="2025904" w="1688084">
                  <a:moveTo>
                    <a:pt x="0" y="0"/>
                  </a:moveTo>
                  <a:lnTo>
                    <a:pt x="1688084" y="0"/>
                  </a:lnTo>
                  <a:lnTo>
                    <a:pt x="1688084" y="2025904"/>
                  </a:lnTo>
                  <a:lnTo>
                    <a:pt x="0" y="2025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22" r="-1" b="-119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405509" y="2155180"/>
            <a:ext cx="3323630" cy="43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Make Changes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405509" y="2674739"/>
            <a:ext cx="14996220" cy="47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Edit files in your working directory. Like writing new chapters for your book.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886271" y="3440460"/>
            <a:ext cx="1266081" cy="2045345"/>
            <a:chOff x="0" y="0"/>
            <a:chExt cx="1688108" cy="272712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88084" cy="2727071"/>
            </a:xfrm>
            <a:custGeom>
              <a:avLst/>
              <a:gdLst/>
              <a:ahLst/>
              <a:cxnLst/>
              <a:rect r="r" b="b" t="t" l="l"/>
              <a:pathLst>
                <a:path h="2727071" w="1688084">
                  <a:moveTo>
                    <a:pt x="0" y="0"/>
                  </a:moveTo>
                  <a:lnTo>
                    <a:pt x="1688084" y="0"/>
                  </a:lnTo>
                  <a:lnTo>
                    <a:pt x="1688084" y="2727071"/>
                  </a:lnTo>
                  <a:lnTo>
                    <a:pt x="0" y="2727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2" r="-1" b="-34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2405509" y="3674566"/>
            <a:ext cx="3323630" cy="43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Stage Changes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405509" y="4136975"/>
            <a:ext cx="14996220" cy="53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add filename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405509" y="4760714"/>
            <a:ext cx="14996220" cy="47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Select which changes go in your next commit. Like putting specific items in your shopping cart.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886271" y="5485805"/>
            <a:ext cx="1266081" cy="2045345"/>
            <a:chOff x="0" y="0"/>
            <a:chExt cx="1688108" cy="2727127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688084" cy="2727071"/>
            </a:xfrm>
            <a:custGeom>
              <a:avLst/>
              <a:gdLst/>
              <a:ahLst/>
              <a:cxnLst/>
              <a:rect r="r" b="b" t="t" l="l"/>
              <a:pathLst>
                <a:path h="2727071" w="1688084">
                  <a:moveTo>
                    <a:pt x="0" y="0"/>
                  </a:moveTo>
                  <a:lnTo>
                    <a:pt x="1688084" y="0"/>
                  </a:lnTo>
                  <a:lnTo>
                    <a:pt x="1688084" y="2727071"/>
                  </a:lnTo>
                  <a:lnTo>
                    <a:pt x="0" y="2727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2" r="-1" b="-34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405509" y="5719911"/>
            <a:ext cx="3323630" cy="43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Commit Changes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05509" y="6182320"/>
            <a:ext cx="14996220" cy="53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commit -m "Message"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405509" y="6806059"/>
            <a:ext cx="14996220" cy="47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Create a permanent snapshot. Like checking out at the cashier with a receipt.</a:t>
            </a:r>
          </a:p>
        </p:txBody>
      </p:sp>
      <p:grpSp>
        <p:nvGrpSpPr>
          <p:cNvPr name="Group 21" id="21"/>
          <p:cNvGrpSpPr>
            <a:grpSpLocks noChangeAspect="true"/>
          </p:cNvGrpSpPr>
          <p:nvPr/>
        </p:nvGrpSpPr>
        <p:grpSpPr>
          <a:xfrm rot="0">
            <a:off x="886271" y="7531150"/>
            <a:ext cx="1266081" cy="2045345"/>
            <a:chOff x="0" y="0"/>
            <a:chExt cx="1688108" cy="2727127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1688084" cy="2727071"/>
            </a:xfrm>
            <a:custGeom>
              <a:avLst/>
              <a:gdLst/>
              <a:ahLst/>
              <a:cxnLst/>
              <a:rect r="r" b="b" t="t" l="l"/>
              <a:pathLst>
                <a:path h="2727071" w="1688084">
                  <a:moveTo>
                    <a:pt x="0" y="0"/>
                  </a:moveTo>
                  <a:lnTo>
                    <a:pt x="1688084" y="0"/>
                  </a:lnTo>
                  <a:lnTo>
                    <a:pt x="1688084" y="2727071"/>
                  </a:lnTo>
                  <a:lnTo>
                    <a:pt x="0" y="27270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2" r="-1" b="-34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405509" y="7765256"/>
            <a:ext cx="3323630" cy="434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Push Changes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05509" y="8227665"/>
            <a:ext cx="14996220" cy="538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05509" y="8851404"/>
            <a:ext cx="14996220" cy="471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193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Send your commits to the remote repository so teammates can see your work.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6049019" y="9686925"/>
            <a:ext cx="2153256" cy="514350"/>
            <a:chOff x="0" y="0"/>
            <a:chExt cx="2871008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2934" y="643086"/>
            <a:ext cx="7995196" cy="8282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49"/>
              </a:lnSpc>
            </a:pPr>
            <a:r>
              <a:rPr lang="en-US" sz="4999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Collaboration Best Practices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52934" y="1836836"/>
            <a:ext cx="4740176" cy="3967311"/>
            <a:chOff x="0" y="0"/>
            <a:chExt cx="6320235" cy="52897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20282" cy="5289804"/>
            </a:xfrm>
            <a:custGeom>
              <a:avLst/>
              <a:gdLst/>
              <a:ahLst/>
              <a:cxnLst/>
              <a:rect r="r" b="b" t="t" l="l"/>
              <a:pathLst>
                <a:path h="5289804" w="6320282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6271514" y="0"/>
                  </a:lnTo>
                  <a:cubicBezTo>
                    <a:pt x="6298438" y="0"/>
                    <a:pt x="6320282" y="21844"/>
                    <a:pt x="6320282" y="48768"/>
                  </a:cubicBezTo>
                  <a:lnTo>
                    <a:pt x="6320282" y="5241036"/>
                  </a:lnTo>
                  <a:cubicBezTo>
                    <a:pt x="6320282" y="5267960"/>
                    <a:pt x="6298438" y="5289804"/>
                    <a:pt x="6271514" y="5289804"/>
                  </a:cubicBezTo>
                  <a:lnTo>
                    <a:pt x="48768" y="5289804"/>
                  </a:lnTo>
                  <a:cubicBezTo>
                    <a:pt x="21844" y="5289804"/>
                    <a:pt x="0" y="5267960"/>
                    <a:pt x="0" y="52410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96566" y="2080469"/>
            <a:ext cx="731044" cy="731044"/>
            <a:chOff x="0" y="0"/>
            <a:chExt cx="974725" cy="97472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4725" cy="974725"/>
            </a:xfrm>
            <a:custGeom>
              <a:avLst/>
              <a:gdLst/>
              <a:ahLst/>
              <a:cxnLst/>
              <a:rect r="r" b="b" t="t" l="l"/>
              <a:pathLst>
                <a:path h="974725" w="974725">
                  <a:moveTo>
                    <a:pt x="0" y="487426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725" y="218186"/>
                    <a:pt x="974725" y="487299"/>
                  </a:cubicBezTo>
                  <a:cubicBezTo>
                    <a:pt x="974725" y="756412"/>
                    <a:pt x="756539" y="974725"/>
                    <a:pt x="487426" y="974725"/>
                  </a:cubicBezTo>
                  <a:cubicBezTo>
                    <a:pt x="218313" y="974725"/>
                    <a:pt x="0" y="756539"/>
                    <a:pt x="0" y="4874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297632" y="2240310"/>
            <a:ext cx="328910" cy="411212"/>
            <a:chOff x="0" y="0"/>
            <a:chExt cx="438547" cy="548283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438531" cy="548259"/>
            </a:xfrm>
            <a:custGeom>
              <a:avLst/>
              <a:gdLst/>
              <a:ahLst/>
              <a:cxnLst/>
              <a:rect r="r" b="b" t="t" l="l"/>
              <a:pathLst>
                <a:path h="548259" w="438531">
                  <a:moveTo>
                    <a:pt x="0" y="0"/>
                  </a:moveTo>
                  <a:lnTo>
                    <a:pt x="438531" y="0"/>
                  </a:lnTo>
                  <a:lnTo>
                    <a:pt x="438531" y="548259"/>
                  </a:lnTo>
                  <a:lnTo>
                    <a:pt x="0" y="54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81" t="0" r="-884" b="-4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96566" y="3036094"/>
            <a:ext cx="4243536" cy="41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Write Clear Commit Messages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6566" y="3524845"/>
            <a:ext cx="4252912" cy="856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00AA00"/>
                </a:solidFill>
                <a:latin typeface="DM Sans"/>
                <a:ea typeface="DM Sans"/>
                <a:cs typeface="DM Sans"/>
                <a:sym typeface="DM Sans"/>
              </a:rPr>
              <a:t>Good: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"Fix login bug: incorrect password validation"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6566" y="4450854"/>
            <a:ext cx="4252912" cy="466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E04F00"/>
                </a:solidFill>
                <a:latin typeface="DM Sans"/>
                <a:ea typeface="DM Sans"/>
                <a:cs typeface="DM Sans"/>
                <a:sym typeface="DM Sans"/>
              </a:rPr>
              <a:t>Bad:</a:t>
            </a: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"update"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836741" y="1836836"/>
            <a:ext cx="4740325" cy="3967311"/>
            <a:chOff x="0" y="0"/>
            <a:chExt cx="6320433" cy="528974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20536" cy="5289804"/>
            </a:xfrm>
            <a:custGeom>
              <a:avLst/>
              <a:gdLst/>
              <a:ahLst/>
              <a:cxnLst/>
              <a:rect r="r" b="b" t="t" l="l"/>
              <a:pathLst>
                <a:path h="5289804" w="6320536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6271768" y="0"/>
                  </a:lnTo>
                  <a:cubicBezTo>
                    <a:pt x="6298692" y="0"/>
                    <a:pt x="6320536" y="21844"/>
                    <a:pt x="6320536" y="48768"/>
                  </a:cubicBezTo>
                  <a:lnTo>
                    <a:pt x="6320536" y="5241036"/>
                  </a:lnTo>
                  <a:cubicBezTo>
                    <a:pt x="6320536" y="5267960"/>
                    <a:pt x="6298692" y="5289804"/>
                    <a:pt x="6271768" y="5289804"/>
                  </a:cubicBezTo>
                  <a:lnTo>
                    <a:pt x="48768" y="5289804"/>
                  </a:lnTo>
                  <a:cubicBezTo>
                    <a:pt x="21844" y="5289804"/>
                    <a:pt x="0" y="5267960"/>
                    <a:pt x="0" y="5241036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080372" y="2080469"/>
            <a:ext cx="731044" cy="731044"/>
            <a:chOff x="0" y="0"/>
            <a:chExt cx="974725" cy="97472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74725" cy="974725"/>
            </a:xfrm>
            <a:custGeom>
              <a:avLst/>
              <a:gdLst/>
              <a:ahLst/>
              <a:cxnLst/>
              <a:rect r="r" b="b" t="t" l="l"/>
              <a:pathLst>
                <a:path h="974725" w="974725">
                  <a:moveTo>
                    <a:pt x="0" y="487426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725" y="218186"/>
                    <a:pt x="974725" y="487299"/>
                  </a:cubicBezTo>
                  <a:cubicBezTo>
                    <a:pt x="974725" y="756412"/>
                    <a:pt x="756539" y="974725"/>
                    <a:pt x="487426" y="974725"/>
                  </a:cubicBezTo>
                  <a:cubicBezTo>
                    <a:pt x="218313" y="974725"/>
                    <a:pt x="0" y="756539"/>
                    <a:pt x="0" y="4874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6281440" y="2240310"/>
            <a:ext cx="328910" cy="411212"/>
            <a:chOff x="0" y="0"/>
            <a:chExt cx="438547" cy="548283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438531" cy="548259"/>
            </a:xfrm>
            <a:custGeom>
              <a:avLst/>
              <a:gdLst/>
              <a:ahLst/>
              <a:cxnLst/>
              <a:rect r="r" b="b" t="t" l="l"/>
              <a:pathLst>
                <a:path h="548259" w="438531">
                  <a:moveTo>
                    <a:pt x="0" y="0"/>
                  </a:moveTo>
                  <a:lnTo>
                    <a:pt x="438531" y="0"/>
                  </a:lnTo>
                  <a:lnTo>
                    <a:pt x="438531" y="548259"/>
                  </a:lnTo>
                  <a:lnTo>
                    <a:pt x="0" y="54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81" t="0" r="-884" b="-4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080372" y="3036094"/>
            <a:ext cx="4253061" cy="818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Commit Small, Logical Chunks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80372" y="3924598"/>
            <a:ext cx="4253061" cy="163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Don't commit 500 lines at once. Break changes into focused, reviewable pieces that solve specific problems.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52934" y="6047780"/>
            <a:ext cx="4740176" cy="3567559"/>
            <a:chOff x="0" y="0"/>
            <a:chExt cx="6320235" cy="475674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20282" cy="4756785"/>
            </a:xfrm>
            <a:custGeom>
              <a:avLst/>
              <a:gdLst/>
              <a:ahLst/>
              <a:cxnLst/>
              <a:rect r="r" b="b" t="t" l="l"/>
              <a:pathLst>
                <a:path h="4756785" w="6320282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6271514" y="0"/>
                  </a:lnTo>
                  <a:cubicBezTo>
                    <a:pt x="6298438" y="0"/>
                    <a:pt x="6320282" y="21844"/>
                    <a:pt x="6320282" y="48768"/>
                  </a:cubicBezTo>
                  <a:lnTo>
                    <a:pt x="6320282" y="4708017"/>
                  </a:lnTo>
                  <a:cubicBezTo>
                    <a:pt x="6320282" y="4734941"/>
                    <a:pt x="6298438" y="4756785"/>
                    <a:pt x="6271514" y="4756785"/>
                  </a:cubicBezTo>
                  <a:lnTo>
                    <a:pt x="48768" y="4756785"/>
                  </a:lnTo>
                  <a:cubicBezTo>
                    <a:pt x="21844" y="4756785"/>
                    <a:pt x="0" y="4734941"/>
                    <a:pt x="0" y="470801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96566" y="6291411"/>
            <a:ext cx="731044" cy="731044"/>
            <a:chOff x="0" y="0"/>
            <a:chExt cx="974725" cy="97472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4725" cy="974725"/>
            </a:xfrm>
            <a:custGeom>
              <a:avLst/>
              <a:gdLst/>
              <a:ahLst/>
              <a:cxnLst/>
              <a:rect r="r" b="b" t="t" l="l"/>
              <a:pathLst>
                <a:path h="974725" w="974725">
                  <a:moveTo>
                    <a:pt x="0" y="487426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725" y="218186"/>
                    <a:pt x="974725" y="487299"/>
                  </a:cubicBezTo>
                  <a:cubicBezTo>
                    <a:pt x="974725" y="756412"/>
                    <a:pt x="756539" y="974725"/>
                    <a:pt x="487426" y="974725"/>
                  </a:cubicBezTo>
                  <a:cubicBezTo>
                    <a:pt x="218313" y="974725"/>
                    <a:pt x="0" y="756539"/>
                    <a:pt x="0" y="4874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297632" y="6451252"/>
            <a:ext cx="328910" cy="411212"/>
            <a:chOff x="0" y="0"/>
            <a:chExt cx="438547" cy="548283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438531" cy="548259"/>
            </a:xfrm>
            <a:custGeom>
              <a:avLst/>
              <a:gdLst/>
              <a:ahLst/>
              <a:cxnLst/>
              <a:rect r="r" b="b" t="t" l="l"/>
              <a:pathLst>
                <a:path h="548259" w="438531">
                  <a:moveTo>
                    <a:pt x="0" y="0"/>
                  </a:moveTo>
                  <a:lnTo>
                    <a:pt x="438531" y="0"/>
                  </a:lnTo>
                  <a:lnTo>
                    <a:pt x="438531" y="548259"/>
                  </a:lnTo>
                  <a:lnTo>
                    <a:pt x="0" y="54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881" t="0" r="-884" b="-4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96566" y="7247036"/>
            <a:ext cx="3914180" cy="41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Always Pull Before Merging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96566" y="7735789"/>
            <a:ext cx="4252912" cy="1635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Get the latest changes from your team before merging to avoid unnecessary conflicts and integration issues.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5836741" y="6047780"/>
            <a:ext cx="4740325" cy="3567559"/>
            <a:chOff x="0" y="0"/>
            <a:chExt cx="6320433" cy="47567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320409" cy="4756785"/>
            </a:xfrm>
            <a:custGeom>
              <a:avLst/>
              <a:gdLst/>
              <a:ahLst/>
              <a:cxnLst/>
              <a:rect r="r" b="b" t="t" l="l"/>
              <a:pathLst>
                <a:path h="4756785" w="6320409">
                  <a:moveTo>
                    <a:pt x="0" y="48768"/>
                  </a:moveTo>
                  <a:cubicBezTo>
                    <a:pt x="0" y="21844"/>
                    <a:pt x="21844" y="0"/>
                    <a:pt x="48768" y="0"/>
                  </a:cubicBezTo>
                  <a:lnTo>
                    <a:pt x="6271641" y="0"/>
                  </a:lnTo>
                  <a:cubicBezTo>
                    <a:pt x="6298565" y="0"/>
                    <a:pt x="6320409" y="21844"/>
                    <a:pt x="6320409" y="48768"/>
                  </a:cubicBezTo>
                  <a:lnTo>
                    <a:pt x="6320409" y="4708017"/>
                  </a:lnTo>
                  <a:cubicBezTo>
                    <a:pt x="6320409" y="4734941"/>
                    <a:pt x="6298565" y="4756785"/>
                    <a:pt x="6271641" y="4756785"/>
                  </a:cubicBezTo>
                  <a:lnTo>
                    <a:pt x="48768" y="4756785"/>
                  </a:lnTo>
                  <a:cubicBezTo>
                    <a:pt x="21844" y="4756785"/>
                    <a:pt x="0" y="4734941"/>
                    <a:pt x="0" y="470801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080372" y="6291411"/>
            <a:ext cx="731044" cy="731044"/>
            <a:chOff x="0" y="0"/>
            <a:chExt cx="974725" cy="9747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74725" cy="974725"/>
            </a:xfrm>
            <a:custGeom>
              <a:avLst/>
              <a:gdLst/>
              <a:ahLst/>
              <a:cxnLst/>
              <a:rect r="r" b="b" t="t" l="l"/>
              <a:pathLst>
                <a:path h="974725" w="974725">
                  <a:moveTo>
                    <a:pt x="0" y="487426"/>
                  </a:moveTo>
                  <a:cubicBezTo>
                    <a:pt x="0" y="218186"/>
                    <a:pt x="218186" y="0"/>
                    <a:pt x="487299" y="0"/>
                  </a:cubicBezTo>
                  <a:cubicBezTo>
                    <a:pt x="756412" y="0"/>
                    <a:pt x="974725" y="218186"/>
                    <a:pt x="974725" y="487299"/>
                  </a:cubicBezTo>
                  <a:cubicBezTo>
                    <a:pt x="974725" y="756412"/>
                    <a:pt x="756539" y="974725"/>
                    <a:pt x="487426" y="974725"/>
                  </a:cubicBezTo>
                  <a:cubicBezTo>
                    <a:pt x="218313" y="974725"/>
                    <a:pt x="0" y="756539"/>
                    <a:pt x="0" y="487426"/>
                  </a:cubicBezTo>
                  <a:close/>
                </a:path>
              </a:pathLst>
            </a:custGeom>
            <a:solidFill>
              <a:srgbClr val="E04F00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6281440" y="6451252"/>
            <a:ext cx="328910" cy="411212"/>
            <a:chOff x="0" y="0"/>
            <a:chExt cx="438547" cy="548283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438531" cy="548259"/>
            </a:xfrm>
            <a:custGeom>
              <a:avLst/>
              <a:gdLst/>
              <a:ahLst/>
              <a:cxnLst/>
              <a:rect r="r" b="b" t="t" l="l"/>
              <a:pathLst>
                <a:path h="548259" w="438531">
                  <a:moveTo>
                    <a:pt x="0" y="0"/>
                  </a:moveTo>
                  <a:lnTo>
                    <a:pt x="438531" y="0"/>
                  </a:lnTo>
                  <a:lnTo>
                    <a:pt x="438531" y="548259"/>
                  </a:lnTo>
                  <a:lnTo>
                    <a:pt x="0" y="548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881" t="0" r="-884" b="-4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6080372" y="7247036"/>
            <a:ext cx="3814019" cy="41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>
                <a:solidFill>
                  <a:srgbClr val="383838"/>
                </a:solidFill>
                <a:latin typeface="PT Serif"/>
                <a:ea typeface="PT Serif"/>
                <a:cs typeface="PT Serif"/>
                <a:sym typeface="PT Serif"/>
              </a:rPr>
              <a:t>Resolve Conflicts Carefully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080372" y="7735789"/>
            <a:ext cx="4253061" cy="1245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1874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When merge conflicts occur, take time to understand both changes. Don't just delete lines blindly.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AF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870322"/>
            <a:ext cx="9023225" cy="919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12"/>
              </a:lnSpc>
            </a:pPr>
            <a:r>
              <a:rPr lang="en-US" sz="5812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Ready to Master Git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3528418"/>
            <a:ext cx="5585966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You've Learned the Fundamentals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4200822"/>
            <a:ext cx="7805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Why version control is essential for development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4753570"/>
            <a:ext cx="7805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Git's core concepts: commits, branches, and merging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306318"/>
            <a:ext cx="7805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Repository setup and basic workflow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2238" y="5859066"/>
            <a:ext cx="7805886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Collaboration best practices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99401" y="3582889"/>
            <a:ext cx="7805886" cy="4476601"/>
            <a:chOff x="0" y="0"/>
            <a:chExt cx="10407848" cy="596880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07777" cy="5968746"/>
            </a:xfrm>
            <a:custGeom>
              <a:avLst/>
              <a:gdLst/>
              <a:ahLst/>
              <a:cxnLst/>
              <a:rect r="r" b="b" t="t" l="l"/>
              <a:pathLst>
                <a:path h="5968746" w="10407777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10351135" y="0"/>
                  </a:lnTo>
                  <a:cubicBezTo>
                    <a:pt x="10382503" y="0"/>
                    <a:pt x="10407777" y="25400"/>
                    <a:pt x="10407777" y="56642"/>
                  </a:cubicBezTo>
                  <a:lnTo>
                    <a:pt x="10407777" y="5912104"/>
                  </a:lnTo>
                  <a:cubicBezTo>
                    <a:pt x="10407777" y="5943473"/>
                    <a:pt x="10382377" y="5968746"/>
                    <a:pt x="10351135" y="5968746"/>
                  </a:cubicBezTo>
                  <a:lnTo>
                    <a:pt x="56642" y="5968746"/>
                  </a:lnTo>
                  <a:cubicBezTo>
                    <a:pt x="25273" y="5968746"/>
                    <a:pt x="0" y="5943346"/>
                    <a:pt x="0" y="5912104"/>
                  </a:cubicBezTo>
                  <a:close/>
                </a:path>
              </a:pathLst>
            </a:custGeom>
            <a:solidFill>
              <a:srgbClr val="B6FCB8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9782919" y="3983088"/>
            <a:ext cx="465087" cy="372070"/>
            <a:chOff x="0" y="0"/>
            <a:chExt cx="620117" cy="496093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620141" cy="496062"/>
            </a:xfrm>
            <a:custGeom>
              <a:avLst/>
              <a:gdLst/>
              <a:ahLst/>
              <a:cxnLst/>
              <a:rect r="r" b="b" t="t" l="l"/>
              <a:pathLst>
                <a:path h="496062" w="620141">
                  <a:moveTo>
                    <a:pt x="0" y="0"/>
                  </a:moveTo>
                  <a:lnTo>
                    <a:pt x="620141" y="0"/>
                  </a:lnTo>
                  <a:lnTo>
                    <a:pt x="620141" y="496062"/>
                  </a:lnTo>
                  <a:lnTo>
                    <a:pt x="0" y="496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56" t="0" r="-252" b="-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0531525" y="3918198"/>
            <a:ext cx="3721299" cy="484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020202"/>
                </a:solidFill>
                <a:latin typeface="PT Serif"/>
                <a:ea typeface="PT Serif"/>
                <a:cs typeface="PT Serif"/>
                <a:sym typeface="PT Serif"/>
              </a:rPr>
              <a:t>Next Steps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531525" y="4590604"/>
            <a:ext cx="649024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Do a thorough revision before coming to next session as we will be deep diving into more advanced concepts of git.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531525" y="6206579"/>
            <a:ext cx="6490246" cy="145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b="true" sz="2187">
                <a:solidFill>
                  <a:srgbClr val="383838"/>
                </a:solidFill>
                <a:latin typeface="DM Sans Bold"/>
                <a:ea typeface="DM Sans Bold"/>
                <a:cs typeface="DM Sans Bold"/>
                <a:sym typeface="DM Sans Bold"/>
              </a:rPr>
              <a:t>Remember:</a:t>
            </a:r>
            <a:r>
              <a:rPr lang="en-US" sz="2187">
                <a:solidFill>
                  <a:srgbClr val="383838"/>
                </a:solidFill>
                <a:latin typeface="DM Sans"/>
                <a:ea typeface="DM Sans"/>
                <a:cs typeface="DM Sans"/>
                <a:sym typeface="DM Sans"/>
              </a:rPr>
              <a:t> Every professional developer uses Git daily. Master it, and you'll be ready for any development team.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DAGy8Hzyw5w</dc:identifier>
  <dcterms:modified xsi:type="dcterms:W3CDTF">2011-08-01T06:04:30Z</dcterms:modified>
  <cp:revision>1</cp:revision>
  <dc:title>git basics.pptx</dc:title>
</cp:coreProperties>
</file>