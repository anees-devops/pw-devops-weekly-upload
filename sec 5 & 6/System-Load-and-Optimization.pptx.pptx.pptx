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Merriweather Bold" pitchFamily="2" charset="77"/>
      <p:regular r:id="rId28"/>
      <p:bold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Bold" pitchFamily="2" charset="0"/>
      <p:regular r:id="rId34"/>
      <p:bold r:id="rId35"/>
    </p:embeddedFont>
    <p:embeddedFont>
      <p:font typeface="Open Sans Bold Italics" pitchFamily="2" charset="0"/>
      <p:regular r:id="rId36"/>
      <p:bold r:id="rId37"/>
      <p:italic r:id="rId38"/>
      <p:boldItalic r:id="rId39"/>
    </p:embeddedFont>
    <p:embeddedFont>
      <p:font typeface="Open Sans Italics" pitchFamily="2" charset="0"/>
      <p:regular r:id="rId40"/>
      <p: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8" autoAdjust="0"/>
  </p:normalViewPr>
  <p:slideViewPr>
    <p:cSldViewPr>
      <p:cViewPr varScale="1">
        <p:scale>
          <a:sx n="77" d="100"/>
          <a:sy n="77" d="100"/>
        </p:scale>
        <p:origin x="6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121770" cy="10287000"/>
            <a:chOff x="0" y="0"/>
            <a:chExt cx="9495693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495663" cy="13716000"/>
            </a:xfrm>
            <a:custGeom>
              <a:avLst/>
              <a:gdLst/>
              <a:ahLst/>
              <a:cxnLst/>
              <a:rect l="l" t="t" r="r" b="b"/>
              <a:pathLst>
                <a:path w="9495663" h="13716000">
                  <a:moveTo>
                    <a:pt x="0" y="0"/>
                  </a:moveTo>
                  <a:lnTo>
                    <a:pt x="9495663" y="0"/>
                  </a:lnTo>
                  <a:lnTo>
                    <a:pt x="949566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23" b="-19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7" y="3891837"/>
            <a:ext cx="10029588" cy="90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System Load &amp; Optimization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5202427"/>
            <a:ext cx="9445526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 will explore system load, optimization techniques, and how to identify bottlenecks.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982" y="8998225"/>
            <a:ext cx="3659957" cy="4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 b="1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Mohammad Anees Alam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54200" y="8636761"/>
            <a:ext cx="3172420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1421629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Topics For today!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920381"/>
            <a:ext cx="16303526" cy="74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0" lvl="2" indent="-209127" algn="l">
              <a:lnSpc>
                <a:spcPts val="5211"/>
              </a:lnSpc>
              <a:buFont typeface="Arial"/>
              <a:buChar char="⚬"/>
            </a:pPr>
            <a:r>
              <a:rPr lang="en-US" sz="32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Quick recap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013034"/>
            <a:ext cx="16303526" cy="74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0" lvl="2" indent="-209127" algn="l">
              <a:lnSpc>
                <a:spcPts val="5211"/>
              </a:lnSpc>
              <a:buFont typeface="Arial"/>
              <a:buChar char="⚬"/>
            </a:pPr>
            <a:r>
              <a:rPr lang="en-US" sz="32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Analyzing system load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7" y="5109186"/>
            <a:ext cx="16303526" cy="74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0" lvl="2" indent="-209127" algn="l">
              <a:lnSpc>
                <a:spcPts val="5211"/>
              </a:lnSpc>
              <a:buFont typeface="Arial"/>
              <a:buChar char="⚬"/>
            </a:pPr>
            <a:r>
              <a:rPr lang="en-US" sz="32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Optimizing CPU &amp; memory usage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205338"/>
            <a:ext cx="16303526" cy="74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0" lvl="2" indent="-209127" algn="l">
              <a:lnSpc>
                <a:spcPts val="5211"/>
              </a:lnSpc>
              <a:buFont typeface="Arial"/>
              <a:buChar char="⚬"/>
            </a:pPr>
            <a:r>
              <a:rPr lang="en-US" sz="32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Debugging system bottlenecks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297992"/>
            <a:ext cx="16303526" cy="74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0" lvl="2" indent="-209127" algn="l">
              <a:lnSpc>
                <a:spcPts val="5211"/>
              </a:lnSpc>
              <a:buFont typeface="Arial"/>
              <a:buChar char="⚬"/>
            </a:pPr>
            <a:r>
              <a:rPr lang="en-US" sz="32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475" y="1726257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Quick recap …</a:t>
            </a:r>
          </a:p>
        </p:txBody>
      </p:sp>
      <p:sp>
        <p:nvSpPr>
          <p:cNvPr id="7" name="Freeform 7"/>
          <p:cNvSpPr/>
          <p:nvPr/>
        </p:nvSpPr>
        <p:spPr>
          <a:xfrm>
            <a:off x="987475" y="3917156"/>
            <a:ext cx="5254943" cy="3905726"/>
          </a:xfrm>
          <a:custGeom>
            <a:avLst/>
            <a:gdLst/>
            <a:ahLst/>
            <a:cxnLst/>
            <a:rect l="l" t="t" r="r" b="b"/>
            <a:pathLst>
              <a:path w="5254943" h="3905726">
                <a:moveTo>
                  <a:pt x="0" y="0"/>
                </a:moveTo>
                <a:lnTo>
                  <a:pt x="5254943" y="0"/>
                </a:lnTo>
                <a:lnTo>
                  <a:pt x="5254943" y="3905726"/>
                </a:lnTo>
                <a:lnTo>
                  <a:pt x="0" y="390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85280" y="4195911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Processes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280" y="4745236"/>
            <a:ext cx="4659362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process is task managed by the system.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280" y="5822602"/>
            <a:ext cx="4659362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 have sub-tasks within a task (process) called threads.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516440" y="3917156"/>
            <a:ext cx="5254943" cy="3905726"/>
          </a:xfrm>
          <a:custGeom>
            <a:avLst/>
            <a:gdLst/>
            <a:ahLst/>
            <a:cxnLst/>
            <a:rect l="l" t="t" r="r" b="b"/>
            <a:pathLst>
              <a:path w="5254943" h="3905726">
                <a:moveTo>
                  <a:pt x="0" y="0"/>
                </a:moveTo>
                <a:lnTo>
                  <a:pt x="5254943" y="0"/>
                </a:lnTo>
                <a:lnTo>
                  <a:pt x="5254943" y="3905726"/>
                </a:lnTo>
                <a:lnTo>
                  <a:pt x="0" y="390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814245" y="4195911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14245" y="4745236"/>
            <a:ext cx="4659362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Acts as a brain to the system.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4245" y="5368975"/>
            <a:ext cx="4659362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When the system runs program, they require processing power, which the CPU provides.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045404" y="3917156"/>
            <a:ext cx="5254943" cy="3905726"/>
          </a:xfrm>
          <a:custGeom>
            <a:avLst/>
            <a:gdLst/>
            <a:ahLst/>
            <a:cxnLst/>
            <a:rect l="l" t="t" r="r" b="b"/>
            <a:pathLst>
              <a:path w="5254943" h="3905726">
                <a:moveTo>
                  <a:pt x="0" y="0"/>
                </a:moveTo>
                <a:lnTo>
                  <a:pt x="5254943" y="0"/>
                </a:lnTo>
                <a:lnTo>
                  <a:pt x="5254943" y="3905726"/>
                </a:lnTo>
                <a:lnTo>
                  <a:pt x="0" y="390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43210" y="4195911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Memory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43210" y="4745236"/>
            <a:ext cx="4659362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memory is used by the system to store active data and processes.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43210" y="5822602"/>
            <a:ext cx="4659362" cy="96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Sub-categories: 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RAM &amp; Swap space (Hard disk).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293149"/>
            <a:ext cx="9253835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Understanding CPU Usage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68512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High CPU Usage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419600"/>
            <a:ext cx="1630352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837" lvl="2" indent="-182946" algn="l">
              <a:lnSpc>
                <a:spcPts val="4559"/>
              </a:lnSpc>
              <a:buFont typeface="Arial"/>
              <a:buChar char="⚬"/>
            </a:pPr>
            <a:r>
              <a:rPr lang="en-US" sz="27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CPU usage can indicate that a program is demanding a lot of resources, which may affect the system's overall performance.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793433"/>
            <a:ext cx="1630352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837" lvl="2" indent="-182946" algn="l">
              <a:lnSpc>
                <a:spcPts val="4559"/>
              </a:lnSpc>
              <a:buFont typeface="Arial"/>
              <a:buChar char="⚬"/>
            </a:pPr>
            <a:r>
              <a:rPr lang="en-US" sz="27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 usage percentage</a:t>
            </a:r>
            <a:r>
              <a:rPr lang="en-US" sz="27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shows how much of the CPU is being used by the processes running on the system.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098358"/>
            <a:ext cx="1630352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837" lvl="2" indent="-182946" algn="l">
              <a:lnSpc>
                <a:spcPts val="4559"/>
              </a:lnSpc>
              <a:buFont typeface="Arial"/>
              <a:buChar char="⚬"/>
            </a:pPr>
            <a:r>
              <a:rPr lang="en-US" sz="27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high CPU usage (close to 100%) means that the CPU is at full capacity and may be overloaded.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189410"/>
            <a:ext cx="10806559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Understanding Memory Usage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3159" y="382220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377184"/>
            <a:ext cx="7805886" cy="10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535" lvl="2" indent="-156845" algn="l">
              <a:lnSpc>
                <a:spcPts val="3908"/>
              </a:lnSpc>
              <a:buFont typeface="Arial"/>
              <a:buChar char="⚬"/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RAM stores active data and processes, impacting system speed.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522905"/>
            <a:ext cx="7805886" cy="10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535" lvl="2" indent="-156845" algn="l">
              <a:lnSpc>
                <a:spcPts val="3908"/>
              </a:lnSpc>
              <a:buFont typeface="Arial"/>
              <a:buChar char="⚬"/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memory usage can cause the system to slow down, which will lead to using swap space.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30322" y="382220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Swap Space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4377184"/>
            <a:ext cx="7805886" cy="10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535" lvl="2" indent="-156845" algn="l">
              <a:lnSpc>
                <a:spcPts val="3908"/>
              </a:lnSpc>
              <a:buFont typeface="Arial"/>
              <a:buChar char="⚬"/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When RAM is full, the system uses disk space as temporary memory.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5453233"/>
            <a:ext cx="7805886" cy="10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535" lvl="2" indent="-156845" algn="l">
              <a:lnSpc>
                <a:spcPts val="3908"/>
              </a:lnSpc>
              <a:buFont typeface="Arial"/>
              <a:buChar char="⚬"/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Swap space on the hard drive is used to simulate additional memory.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6529281"/>
            <a:ext cx="7805886" cy="154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535" lvl="2" indent="-156845" algn="l">
              <a:lnSpc>
                <a:spcPts val="3908"/>
              </a:lnSpc>
              <a:buFont typeface="Arial"/>
              <a:buChar char="⚬"/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However, disk access is much slower than RAM, so excessive swapping (high swap usage) can severely degrade system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97756"/>
            <a:ext cx="11385649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Few common ways to deep-dive</a:t>
            </a:r>
          </a:p>
        </p:txBody>
      </p:sp>
      <p:sp>
        <p:nvSpPr>
          <p:cNvPr id="7" name="Freeform 7"/>
          <p:cNvSpPr/>
          <p:nvPr/>
        </p:nvSpPr>
        <p:spPr>
          <a:xfrm>
            <a:off x="987475" y="2603152"/>
            <a:ext cx="16313086" cy="6533578"/>
          </a:xfrm>
          <a:custGeom>
            <a:avLst/>
            <a:gdLst/>
            <a:ahLst/>
            <a:cxnLst/>
            <a:rect l="l" t="t" r="r" b="b"/>
            <a:pathLst>
              <a:path w="16313086" h="6533578">
                <a:moveTo>
                  <a:pt x="0" y="0"/>
                </a:moveTo>
                <a:lnTo>
                  <a:pt x="16313086" y="0"/>
                </a:lnTo>
                <a:lnTo>
                  <a:pt x="16313086" y="6533578"/>
                </a:lnTo>
                <a:lnTo>
                  <a:pt x="0" y="653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88145" y="2778026"/>
            <a:ext cx="4252912" cy="51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1" b="1" u="sng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Commands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7544" y="2778026"/>
            <a:ext cx="4252912" cy="51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1" b="1" u="sng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46942" y="2778026"/>
            <a:ext cx="4252912" cy="51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1" b="1" u="sng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Observations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7066" y="3478411"/>
            <a:ext cx="4855220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18846" y="3516511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Displays system resource usage (CPU, Memory).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5864" y="3516511"/>
            <a:ext cx="485522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CPU% and MEM% - Look for processes consuming a large portion of CPU or memory.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7066" y="5198566"/>
            <a:ext cx="4855220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htop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18846" y="5236666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Interactive colour-coded version of </a:t>
            </a:r>
            <a:r>
              <a:rPr lang="en-US" sz="218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</a:t>
            </a: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with more user-friendly display.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45864" y="5236666"/>
            <a:ext cx="4855220" cy="198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Observe processes that are consuming high CPU or memory. (You can use the arrow keys to scroll and interact with processes directly.)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7066" y="7372350"/>
            <a:ext cx="4855220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free -h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18846" y="7410450"/>
            <a:ext cx="4850457" cy="130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Shows memory usage in human-readable format. </a:t>
            </a:r>
          </a:p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(For MAC: </a:t>
            </a:r>
            <a:r>
              <a:rPr lang="en-US" sz="218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</a:t>
            </a: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8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vm_stat</a:t>
            </a: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45864" y="7410450"/>
            <a:ext cx="485522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output will show total, used, free, and swap memory in human-readable format (e.g., MB, GB).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373640"/>
            <a:ext cx="11405890" cy="74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Exercise : Monitoring System Resources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58428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Task: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1161" y="3618310"/>
            <a:ext cx="8236963" cy="265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4347" lvl="2" indent="-314782" algn="l">
              <a:lnSpc>
                <a:spcPts val="3560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Run the top command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Open the terminal and run top. Observe the output where the system processes are listed, and monitor the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usage.</a:t>
            </a:r>
          </a:p>
          <a:p>
            <a:pPr algn="l">
              <a:lnSpc>
                <a:spcPts val="3560"/>
              </a:lnSpc>
            </a:pPr>
            <a:endParaRPr lang="en-US" sz="2187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416520" lvl="3" indent="-354130" algn="l">
              <a:lnSpc>
                <a:spcPts val="3560"/>
              </a:lnSpc>
              <a:buFont typeface="Arial"/>
              <a:buChar char="￭"/>
            </a:pPr>
            <a:r>
              <a:rPr lang="en-US" sz="2187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sort by Memory: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Shift + M   || </a:t>
            </a:r>
            <a:r>
              <a:rPr lang="en-US" sz="2187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87" b="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-o rsize</a:t>
            </a:r>
          </a:p>
          <a:p>
            <a:pPr marL="1416520" lvl="3" indent="-354130" algn="l">
              <a:lnSpc>
                <a:spcPts val="3561"/>
              </a:lnSpc>
              <a:buFont typeface="Arial"/>
              <a:buChar char="￭"/>
            </a:pPr>
            <a:r>
              <a:rPr lang="en-US" sz="2187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sort by CPU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Shift + P || </a:t>
            </a:r>
            <a:r>
              <a:rPr lang="en-US" sz="2187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Mac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87" b="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-o cpu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161" y="6575909"/>
            <a:ext cx="8236963" cy="13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4347" lvl="2" indent="-314782" algn="l">
              <a:lnSpc>
                <a:spcPts val="3561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Run htop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Install htop if not already installed (sudo apt install htop in Linux). Run it by typing htop and observe how it presents the resource usage.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161" y="8266584"/>
            <a:ext cx="8236963" cy="86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4347" lvl="2" indent="-314782" algn="l">
              <a:lnSpc>
                <a:spcPts val="3560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Run free -h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Execute free -h to observe memory usage.</a:t>
            </a:r>
          </a:p>
          <a:p>
            <a:pPr marL="944347" lvl="2" indent="-314782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For Mac: </a:t>
            </a:r>
            <a:r>
              <a:rPr lang="en-US" sz="2187" b="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vm_stat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2758428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What to Observe: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3618310"/>
            <a:ext cx="7805886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In top or htop, observe the %CPU column. High CPU usage (&gt;80%) for any process may indicate resource hogging.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5266879"/>
            <a:ext cx="7805886" cy="198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Look for memory-intensive processes in both top/htop. In free -h, if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swap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is used heavily (e.g., &gt;50% of total swap), the system may be struggling with insufficient RAM.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7369076"/>
            <a:ext cx="7805886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Swap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If your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swap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usage is high, it could indicate that the system is running low on memory and is using disk space as a substitute, which is much slower.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4082355"/>
            <a:ext cx="7805886" cy="131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Load Average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99401" y="1240482"/>
            <a:ext cx="7805886" cy="7805886"/>
            <a:chOff x="0" y="0"/>
            <a:chExt cx="10407848" cy="1040784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407904" cy="10407904"/>
            </a:xfrm>
            <a:custGeom>
              <a:avLst/>
              <a:gdLst/>
              <a:ahLst/>
              <a:cxnLst/>
              <a:rect l="l" t="t" r="r" b="b"/>
              <a:pathLst>
                <a:path w="10407904" h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10407904"/>
                  </a:lnTo>
                  <a:lnTo>
                    <a:pt x="0" y="1040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235274"/>
            <a:ext cx="1271170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Load Average: A System's Workload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5869930"/>
            <a:ext cx="16303561" cy="38100"/>
            <a:chOff x="0" y="0"/>
            <a:chExt cx="21738082" cy="50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78152" y="4877692"/>
            <a:ext cx="38100" cy="992219"/>
            <a:chOff x="0" y="0"/>
            <a:chExt cx="50800" cy="13229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1322959"/>
            </a:xfrm>
            <a:custGeom>
              <a:avLst/>
              <a:gdLst/>
              <a:ahLst/>
              <a:cxnLst/>
              <a:rect l="l" t="t" r="r" b="b"/>
              <a:pathLst>
                <a:path w="50800" h="132295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97559"/>
                  </a:lnTo>
                  <a:cubicBezTo>
                    <a:pt x="50800" y="1311529"/>
                    <a:pt x="39370" y="1322959"/>
                    <a:pt x="25400" y="1322959"/>
                  </a:cubicBezTo>
                  <a:cubicBezTo>
                    <a:pt x="11430" y="1322959"/>
                    <a:pt x="0" y="1311529"/>
                    <a:pt x="0" y="129755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673501" y="5546229"/>
            <a:ext cx="647415" cy="647415"/>
          </a:xfrm>
          <a:custGeom>
            <a:avLst/>
            <a:gdLst/>
            <a:ahLst/>
            <a:cxnLst/>
            <a:rect l="l" t="t" r="r" b="b"/>
            <a:pathLst>
              <a:path w="647415" h="647415">
                <a:moveTo>
                  <a:pt x="0" y="0"/>
                </a:moveTo>
                <a:lnTo>
                  <a:pt x="647415" y="0"/>
                </a:lnTo>
                <a:lnTo>
                  <a:pt x="647415" y="647415"/>
                </a:lnTo>
                <a:lnTo>
                  <a:pt x="0" y="64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899720" y="5790605"/>
            <a:ext cx="194816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25105" y="3054698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Load Average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755" y="3515320"/>
            <a:ext cx="7442895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Represents the system's workload over the past 1, 5, and 15 minutes.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24801" y="5869930"/>
            <a:ext cx="38100" cy="992219"/>
            <a:chOff x="0" y="0"/>
            <a:chExt cx="50800" cy="13229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800" cy="1322959"/>
            </a:xfrm>
            <a:custGeom>
              <a:avLst/>
              <a:gdLst/>
              <a:ahLst/>
              <a:cxnLst/>
              <a:rect l="l" t="t" r="r" b="b"/>
              <a:pathLst>
                <a:path w="50800" h="132295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97559"/>
                  </a:lnTo>
                  <a:cubicBezTo>
                    <a:pt x="50800" y="1311529"/>
                    <a:pt x="39370" y="1322959"/>
                    <a:pt x="25400" y="1322959"/>
                  </a:cubicBezTo>
                  <a:cubicBezTo>
                    <a:pt x="11430" y="1322959"/>
                    <a:pt x="0" y="1311529"/>
                    <a:pt x="0" y="129755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8820150" y="5546229"/>
            <a:ext cx="647414" cy="647415"/>
          </a:xfrm>
          <a:custGeom>
            <a:avLst/>
            <a:gdLst/>
            <a:ahLst/>
            <a:cxnLst/>
            <a:rect l="l" t="t" r="r" b="b"/>
            <a:pathLst>
              <a:path w="647414" h="647415">
                <a:moveTo>
                  <a:pt x="0" y="0"/>
                </a:moveTo>
                <a:lnTo>
                  <a:pt x="647414" y="0"/>
                </a:lnTo>
                <a:lnTo>
                  <a:pt x="647414" y="647415"/>
                </a:lnTo>
                <a:lnTo>
                  <a:pt x="0" y="64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9015115" y="5790605"/>
            <a:ext cx="257324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71904" y="712678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 Cores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22404" y="7587406"/>
            <a:ext cx="7443044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load average less than or equal to the number of CPU cores is ideal.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71599" y="4877692"/>
            <a:ext cx="38100" cy="992219"/>
            <a:chOff x="0" y="0"/>
            <a:chExt cx="50800" cy="13229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800" cy="1322959"/>
            </a:xfrm>
            <a:custGeom>
              <a:avLst/>
              <a:gdLst/>
              <a:ahLst/>
              <a:cxnLst/>
              <a:rect l="l" t="t" r="r" b="b"/>
              <a:pathLst>
                <a:path w="50800" h="132295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97559"/>
                  </a:lnTo>
                  <a:cubicBezTo>
                    <a:pt x="50800" y="1311529"/>
                    <a:pt x="39370" y="1322959"/>
                    <a:pt x="25400" y="1322959"/>
                  </a:cubicBezTo>
                  <a:cubicBezTo>
                    <a:pt x="11430" y="1322959"/>
                    <a:pt x="0" y="1311529"/>
                    <a:pt x="0" y="129755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966948" y="5546229"/>
            <a:ext cx="647414" cy="647415"/>
          </a:xfrm>
          <a:custGeom>
            <a:avLst/>
            <a:gdLst/>
            <a:ahLst/>
            <a:cxnLst/>
            <a:rect l="l" t="t" r="r" b="b"/>
            <a:pathLst>
              <a:path w="647414" h="647415">
                <a:moveTo>
                  <a:pt x="0" y="0"/>
                </a:moveTo>
                <a:lnTo>
                  <a:pt x="647414" y="0"/>
                </a:lnTo>
                <a:lnTo>
                  <a:pt x="647414" y="647415"/>
                </a:lnTo>
                <a:lnTo>
                  <a:pt x="0" y="64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3170248" y="5790605"/>
            <a:ext cx="240804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8701" y="3508325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Overload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9202" y="3968949"/>
            <a:ext cx="7443044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high load average indicates the system is overloaded.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028700" y="2952106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05900" imgH="5791200" progId="Excel.Sheet.12">
                  <p:embed/>
                </p:oleObj>
              </mc:Choice>
              <mc:Fallback>
                <p:oleObj name="Worksheet" r:id="rId2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2952106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40779" y="862115"/>
            <a:ext cx="5367729" cy="75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0"/>
              </a:lnSpc>
              <a:spcBef>
                <a:spcPct val="0"/>
              </a:spcBef>
            </a:pPr>
            <a:r>
              <a:rPr lang="en-US" sz="3886" b="1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Hands-on Activity!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779" y="1964930"/>
            <a:ext cx="5920050" cy="52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6"/>
              </a:lnSpc>
              <a:spcBef>
                <a:spcPct val="0"/>
              </a:spcBef>
            </a:pPr>
            <a:r>
              <a:rPr lang="en-US" sz="268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Checking Number of CPU Cores: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779" y="6222772"/>
            <a:ext cx="752136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Always compare load average to CPU cores.</a:t>
            </a:r>
          </a:p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E.g., load avg 6.0 on a 4-core CPU = overloaded.</a:t>
            </a:r>
          </a:p>
          <a:p>
            <a:pPr algn="l">
              <a:lnSpc>
                <a:spcPts val="274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40779" y="7750399"/>
            <a:ext cx="10331262" cy="57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258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Run the command and analyze the load of your system: </a:t>
            </a:r>
            <a:r>
              <a:rPr lang="en-US" sz="2586" b="1">
                <a:solidFill>
                  <a:srgbClr val="18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uptime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300163"/>
            <a:ext cx="9445526" cy="150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7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Context Switching: Multitasking Trade-offs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3582961"/>
            <a:ext cx="647414" cy="647414"/>
          </a:xfrm>
          <a:custGeom>
            <a:avLst/>
            <a:gdLst/>
            <a:ahLst/>
            <a:cxnLst/>
            <a:rect l="l" t="t" r="r" b="b"/>
            <a:pathLst>
              <a:path w="647414" h="647414">
                <a:moveTo>
                  <a:pt x="0" y="0"/>
                </a:moveTo>
                <a:lnTo>
                  <a:pt x="647414" y="0"/>
                </a:lnTo>
                <a:lnTo>
                  <a:pt x="647414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54919" y="3827338"/>
            <a:ext cx="194816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54857" y="3568673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Context Switching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4857" y="4029297"/>
            <a:ext cx="5952228" cy="8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CPU switches between tasks, a normal part of multitasking.</a:t>
            </a:r>
          </a:p>
        </p:txBody>
      </p:sp>
      <p:sp>
        <p:nvSpPr>
          <p:cNvPr id="15" name="Freeform 15"/>
          <p:cNvSpPr/>
          <p:nvPr/>
        </p:nvSpPr>
        <p:spPr>
          <a:xfrm>
            <a:off x="871834" y="5566396"/>
            <a:ext cx="647415" cy="647414"/>
          </a:xfrm>
          <a:custGeom>
            <a:avLst/>
            <a:gdLst/>
            <a:ahLst/>
            <a:cxnLst/>
            <a:rect l="l" t="t" r="r" b="b"/>
            <a:pathLst>
              <a:path w="647415" h="647414">
                <a:moveTo>
                  <a:pt x="0" y="0"/>
                </a:moveTo>
                <a:lnTo>
                  <a:pt x="647415" y="0"/>
                </a:lnTo>
                <a:lnTo>
                  <a:pt x="647415" y="647413"/>
                </a:lnTo>
                <a:lnTo>
                  <a:pt x="0" y="647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66798" y="5810772"/>
            <a:ext cx="257324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7992" y="5552107"/>
            <a:ext cx="365134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Performance 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7992" y="6012731"/>
            <a:ext cx="6246144" cy="8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context switching can reduce efficiency, especially with many processes.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987475" y="7760644"/>
            <a:ext cx="647414" cy="647415"/>
          </a:xfrm>
          <a:custGeom>
            <a:avLst/>
            <a:gdLst/>
            <a:ahLst/>
            <a:cxnLst/>
            <a:rect l="l" t="t" r="r" b="b"/>
            <a:pathLst>
              <a:path w="647414" h="647415">
                <a:moveTo>
                  <a:pt x="0" y="0"/>
                </a:moveTo>
                <a:lnTo>
                  <a:pt x="647414" y="0"/>
                </a:lnTo>
                <a:lnTo>
                  <a:pt x="647414" y="647415"/>
                </a:lnTo>
                <a:lnTo>
                  <a:pt x="0" y="647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190774" y="8005020"/>
            <a:ext cx="240804" cy="2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3632" y="7746356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Minimizing Impact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13632" y="8206980"/>
            <a:ext cx="8524131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Strategies include reducing the number of processes or prioritizing critical 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275287" y="5435911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05900" imgH="5791200" progId="Excel.Sheet.12">
                  <p:embed/>
                </p:oleObj>
              </mc:Choice>
              <mc:Fallback>
                <p:oleObj name="Worksheet" r:id="rId2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5287" y="5435911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/>
          <p:nvPr/>
        </p:nvGraphicFramePr>
        <p:xfrm>
          <a:off x="1275287" y="1693872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105900" imgH="5791200" progId="Excel.Sheet.12">
                  <p:embed/>
                </p:oleObj>
              </mc:Choice>
              <mc:Fallback>
                <p:oleObj name="Worksheet" r:id="rId4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5287" y="1693872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47800" y="5100131"/>
            <a:ext cx="6739560" cy="57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298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 Usage Breakdown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1306291"/>
            <a:ext cx="2971800" cy="5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Commands</a:t>
            </a:r>
            <a:endParaRPr lang="en-US" sz="2986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7800" y="3589308"/>
            <a:ext cx="9227982" cy="483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sz="2486" u="sng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Note</a:t>
            </a:r>
            <a:r>
              <a:rPr lang="en-US" sz="2486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You cannot see cs (context switches) natively on macOS.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4082504"/>
            <a:ext cx="7805886" cy="131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I/O Wait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97103" y="2670307"/>
            <a:ext cx="9508184" cy="4195283"/>
            <a:chOff x="0" y="0"/>
            <a:chExt cx="12677579" cy="559371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2677521" cy="5593715"/>
            </a:xfrm>
            <a:custGeom>
              <a:avLst/>
              <a:gdLst/>
              <a:ahLst/>
              <a:cxnLst/>
              <a:rect l="l" t="t" r="r" b="b"/>
              <a:pathLst>
                <a:path w="12677521" h="5593715">
                  <a:moveTo>
                    <a:pt x="0" y="0"/>
                  </a:moveTo>
                  <a:lnTo>
                    <a:pt x="12677521" y="0"/>
                  </a:lnTo>
                  <a:lnTo>
                    <a:pt x="12677521" y="5593715"/>
                  </a:lnTo>
                  <a:lnTo>
                    <a:pt x="0" y="5593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6" b="-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6817" y="5527342"/>
            <a:ext cx="6100286" cy="217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26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I/O wait (wa) is a CPU state that shows how much time the CPU is sitting idle waiting for disk (or sometimes network) I/O to complete.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509253"/>
            <a:ext cx="11481346" cy="75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3"/>
              </a:lnSpc>
            </a:pPr>
            <a:r>
              <a:rPr lang="en-US" sz="48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I/O Wait: Disk Access Bottleneck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937154"/>
            <a:ext cx="35440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sz="299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I/O Wait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54035"/>
            <a:ext cx="78058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27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Time spent waiting for disk operations to complete.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401" y="2937154"/>
            <a:ext cx="354404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Slow Disk Access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1" y="3454035"/>
            <a:ext cx="78058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27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I/O wait indicates slow disk access, slowing down the system.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368560"/>
            <a:ext cx="15310132" cy="4649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0"/>
              </a:lnSpc>
            </a:pP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Run the command: </a:t>
            </a:r>
            <a:r>
              <a:rPr lang="en-US" sz="2786" b="1">
                <a:solidFill>
                  <a:srgbClr val="18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iostat -xz 1</a:t>
            </a:r>
          </a:p>
          <a:p>
            <a:pPr algn="l">
              <a:lnSpc>
                <a:spcPts val="3260"/>
              </a:lnSpc>
            </a:pPr>
            <a:endParaRPr lang="en-US" sz="2786" b="1">
              <a:solidFill>
                <a:srgbClr val="18803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01710" lvl="1" indent="-300855" algn="l">
              <a:lnSpc>
                <a:spcPts val="4236"/>
              </a:lnSpc>
              <a:buFont typeface="Arial"/>
              <a:buChar char="•"/>
            </a:pP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Look at the %iowait column → shows percentage of time CPU waits for I/O.</a:t>
            </a:r>
          </a:p>
          <a:p>
            <a:pPr marL="601710" lvl="1" indent="-300855" algn="l">
              <a:lnSpc>
                <a:spcPts val="4236"/>
              </a:lnSpc>
              <a:buFont typeface="Arial"/>
              <a:buChar char="•"/>
            </a:pP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%util column under devices → how busy the disk is.</a:t>
            </a:r>
          </a:p>
          <a:p>
            <a:pPr algn="l">
              <a:lnSpc>
                <a:spcPts val="3260"/>
              </a:lnSpc>
            </a:pPr>
            <a:endParaRPr lang="en-US" sz="2786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60"/>
              </a:lnSpc>
            </a:pPr>
            <a:endParaRPr lang="en-US" sz="2786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60"/>
              </a:lnSpc>
            </a:pPr>
            <a:r>
              <a:rPr lang="en-US" sz="2786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Note</a:t>
            </a: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algn="l">
              <a:lnSpc>
                <a:spcPts val="4459"/>
              </a:lnSpc>
            </a:pP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macOS does not expose %iowait like Linux. Apple hides that metric in its kernel.</a:t>
            </a:r>
          </a:p>
          <a:p>
            <a:pPr algn="l">
              <a:lnSpc>
                <a:spcPts val="4459"/>
              </a:lnSpc>
            </a:pPr>
            <a:r>
              <a:rPr lang="en-US" sz="27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Instead, you can run: </a:t>
            </a:r>
            <a:r>
              <a:rPr lang="en-US" sz="2786" b="1">
                <a:solidFill>
                  <a:srgbClr val="18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iostat -w 1</a:t>
            </a:r>
          </a:p>
          <a:p>
            <a:pPr algn="l">
              <a:lnSpc>
                <a:spcPts val="3260"/>
              </a:lnSpc>
            </a:pPr>
            <a:endParaRPr lang="en-US" sz="2786" b="1">
              <a:solidFill>
                <a:srgbClr val="18803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3845867"/>
            <a:ext cx="7805886" cy="177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Optimizing CPU &amp; Memory Usage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61711" y="2537371"/>
            <a:ext cx="9143577" cy="5212110"/>
            <a:chOff x="0" y="0"/>
            <a:chExt cx="12191436" cy="694948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2191492" cy="6949440"/>
            </a:xfrm>
            <a:custGeom>
              <a:avLst/>
              <a:gdLst/>
              <a:ahLst/>
              <a:cxnLst/>
              <a:rect l="l" t="t" r="r" b="b"/>
              <a:pathLst>
                <a:path w="12191492" h="6949440">
                  <a:moveTo>
                    <a:pt x="0" y="0"/>
                  </a:moveTo>
                  <a:lnTo>
                    <a:pt x="12191492" y="0"/>
                  </a:lnTo>
                  <a:lnTo>
                    <a:pt x="12191492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512" b="-85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0530" y="659904"/>
            <a:ext cx="13733561" cy="87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50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Resource Hogs: Identifying and Managing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0530" y="1920180"/>
            <a:ext cx="1300757" cy="2081212"/>
            <a:chOff x="0" y="0"/>
            <a:chExt cx="1734343" cy="277494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34312" cy="2774950"/>
            </a:xfrm>
            <a:custGeom>
              <a:avLst/>
              <a:gdLst/>
              <a:ahLst/>
              <a:cxnLst/>
              <a:rect l="l" t="t" r="r" b="b"/>
              <a:pathLst>
                <a:path w="1734312" h="2774950">
                  <a:moveTo>
                    <a:pt x="0" y="0"/>
                  </a:moveTo>
                  <a:lnTo>
                    <a:pt x="1734312" y="0"/>
                  </a:lnTo>
                  <a:lnTo>
                    <a:pt x="1734312" y="2774950"/>
                  </a:lnTo>
                  <a:lnTo>
                    <a:pt x="0" y="277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5" r="-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01515" y="2299265"/>
            <a:ext cx="3252044" cy="44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49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Resource Hogs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01515" y="2718812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Processes that consume excessive CPU or memory, slowing down the system.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0530" y="4001392"/>
            <a:ext cx="1300757" cy="5568554"/>
            <a:chOff x="0" y="0"/>
            <a:chExt cx="1734343" cy="742473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734312" cy="7424801"/>
            </a:xfrm>
            <a:custGeom>
              <a:avLst/>
              <a:gdLst/>
              <a:ahLst/>
              <a:cxnLst/>
              <a:rect l="l" t="t" r="r" b="b"/>
              <a:pathLst>
                <a:path w="1734312" h="7424801">
                  <a:moveTo>
                    <a:pt x="0" y="0"/>
                  </a:moveTo>
                  <a:lnTo>
                    <a:pt x="1734312" y="0"/>
                  </a:lnTo>
                  <a:lnTo>
                    <a:pt x="1734312" y="7424801"/>
                  </a:lnTo>
                  <a:lnTo>
                    <a:pt x="0" y="7424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8" r="-1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01515" y="4081324"/>
            <a:ext cx="3252044" cy="44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49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Nice &amp; Renice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1515" y="4500870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929" lvl="2" indent="-150310" algn="l">
              <a:lnSpc>
                <a:spcPts val="3737"/>
              </a:lnSpc>
              <a:buFont typeface="Arial"/>
              <a:buChar char="⚬"/>
            </a:pP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Nice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A command that starts a process with a specific priority.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1515" y="5007928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929" lvl="2" indent="-150310" algn="l">
              <a:lnSpc>
                <a:spcPts val="3737"/>
              </a:lnSpc>
              <a:buFont typeface="Arial"/>
              <a:buChar char="⚬"/>
            </a:pPr>
            <a:r>
              <a:rPr lang="en-US" sz="2299" i="1">
                <a:solidFill>
                  <a:srgbClr val="403C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nice -n &lt;nice_value&gt; &lt;command&gt;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: Range of NI: </a:t>
            </a: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-20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(highest) to </a:t>
            </a: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+19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(lowest)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01515" y="5514985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929" lvl="2" indent="-150310" algn="l">
              <a:lnSpc>
                <a:spcPts val="3737"/>
              </a:lnSpc>
              <a:buFont typeface="Arial"/>
              <a:buChar char="⚬"/>
            </a:pP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nice value (NI) is </a:t>
            </a:r>
            <a:r>
              <a:rPr lang="en-US" sz="2299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Positive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Low priority, </a:t>
            </a:r>
            <a:r>
              <a:rPr lang="en-US" sz="2299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Negative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High priority. {Highest priority requires sudo.}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1515" y="6229201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299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Example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01515" y="6801296"/>
            <a:ext cx="14775954" cy="13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sudo nice -n -10 top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Will launch the top command with a higher priority, meaning it will get more CPU time compared to other processes.</a:t>
            </a:r>
          </a:p>
          <a:p>
            <a:pPr algn="l">
              <a:lnSpc>
                <a:spcPts val="3737"/>
              </a:lnSpc>
            </a:pPr>
            <a:endParaRPr lang="en-US" sz="2299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601515" y="8144004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929" lvl="2" indent="-150310" algn="l">
              <a:lnSpc>
                <a:spcPts val="3737"/>
              </a:lnSpc>
              <a:buFont typeface="Arial"/>
              <a:buChar char="⚬"/>
            </a:pP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Renice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Used to change the priority of an “</a:t>
            </a:r>
            <a:r>
              <a:rPr lang="en-US" sz="22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already”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running process.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1515" y="8651061"/>
            <a:ext cx="14775954" cy="4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929" lvl="2" indent="-150310" algn="l">
              <a:lnSpc>
                <a:spcPts val="3737"/>
              </a:lnSpc>
              <a:buFont typeface="Arial"/>
              <a:buChar char="⚬"/>
            </a:pPr>
            <a:r>
              <a:rPr lang="en-US" sz="2299" i="1">
                <a:solidFill>
                  <a:srgbClr val="403C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renice -n &lt;nice_value&gt; -p &lt;PID&gt;</a:t>
            </a:r>
            <a:r>
              <a:rPr lang="en-US" sz="22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: Ex = renice -n 10 -p 1234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504" y="609306"/>
            <a:ext cx="7816900" cy="612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8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Managing active processes:</a:t>
            </a:r>
          </a:p>
        </p:txBody>
      </p:sp>
      <p:sp>
        <p:nvSpPr>
          <p:cNvPr id="7" name="Freeform 7"/>
          <p:cNvSpPr/>
          <p:nvPr/>
        </p:nvSpPr>
        <p:spPr>
          <a:xfrm>
            <a:off x="987504" y="1670451"/>
            <a:ext cx="16312991" cy="6614922"/>
          </a:xfrm>
          <a:custGeom>
            <a:avLst/>
            <a:gdLst/>
            <a:ahLst/>
            <a:cxnLst/>
            <a:rect l="l" t="t" r="r" b="b"/>
            <a:pathLst>
              <a:path w="16312991" h="6614922">
                <a:moveTo>
                  <a:pt x="0" y="0"/>
                </a:moveTo>
                <a:lnTo>
                  <a:pt x="16312992" y="0"/>
                </a:lnTo>
                <a:lnTo>
                  <a:pt x="16312992" y="6614922"/>
                </a:lnTo>
                <a:lnTo>
                  <a:pt x="0" y="661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42683" y="1845324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Commands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2081" y="1845324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01480" y="1845324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Observations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7095" y="2495107"/>
            <a:ext cx="4855220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kill [PID]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18875" y="2495107"/>
            <a:ext cx="4850457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Terminates a process by its PID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5893" y="2495107"/>
            <a:ext cx="4855220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 output, the process is terminated immediately.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5893" y="3572475"/>
            <a:ext cx="4855220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terminated process will no longer appear in the process list.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7095" y="4839002"/>
            <a:ext cx="4855220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 b="1" i="1">
                <a:solidFill>
                  <a:srgbClr val="403C4E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nice -n &lt;nice_value&gt; &lt;command&gt;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8875" y="4839002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Starts a command with a lower/higher priority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45893" y="4839002"/>
            <a:ext cx="485522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 output unless there is an error. The process starts with assigned CPU priority (higher or lower).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095" y="6559157"/>
            <a:ext cx="4855220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 b="1" i="1">
                <a:solidFill>
                  <a:srgbClr val="403C4E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renice -n &lt;nice_value&gt; -p &lt;PID&gt;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18875" y="6559157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Changes the priority of an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process.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45893" y="6559157"/>
            <a:ext cx="485522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 output, the priority of the process will be updated based on what u choose.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3776" y="8190123"/>
            <a:ext cx="16866018" cy="183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  <a:spcBef>
                <a:spcPct val="0"/>
              </a:spcBef>
            </a:pPr>
            <a:r>
              <a:rPr lang="en-US" sz="2286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point:</a:t>
            </a:r>
          </a:p>
          <a:p>
            <a:pPr marL="493763" lvl="1" indent="-246881" algn="l">
              <a:lnSpc>
                <a:spcPts val="3723"/>
              </a:lnSpc>
              <a:spcBef>
                <a:spcPct val="0"/>
              </a:spcBef>
              <a:buFont typeface="Arial"/>
              <a:buChar char="•"/>
            </a:pPr>
            <a:r>
              <a:rPr lang="en-US" sz="22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renice changes the scheduler preference.</a:t>
            </a:r>
          </a:p>
          <a:p>
            <a:pPr marL="493763" lvl="1" indent="-246881" algn="l">
              <a:lnSpc>
                <a:spcPts val="3723"/>
              </a:lnSpc>
              <a:spcBef>
                <a:spcPct val="0"/>
              </a:spcBef>
              <a:buFont typeface="Arial"/>
              <a:buChar char="•"/>
            </a:pPr>
            <a:r>
              <a:rPr lang="en-US" sz="22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It won’t make the process hog CPU or auto-bubble to the top of the top/htop list unless it’s actively consuming resources.</a:t>
            </a:r>
          </a:p>
          <a:p>
            <a:pPr algn="l">
              <a:lnSpc>
                <a:spcPts val="3724"/>
              </a:lnSpc>
              <a:spcBef>
                <a:spcPct val="0"/>
              </a:spcBef>
            </a:pPr>
            <a:endParaRPr lang="en-US" sz="2286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18694" y="2344489"/>
            <a:ext cx="10291316" cy="74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Exercise : Adjusting Process Priority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62834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Task: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516041"/>
            <a:ext cx="7805886" cy="45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725" lvl="2" indent="-181908" algn="l">
              <a:lnSpc>
                <a:spcPts val="3887"/>
              </a:lnSpc>
              <a:buFont typeface="Arial"/>
              <a:buChar char="⚬"/>
            </a:pP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Start a random application, pick its PID.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291881"/>
            <a:ext cx="7805886" cy="93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725" lvl="2" indent="-181908" algn="l">
              <a:lnSpc>
                <a:spcPts val="3887"/>
              </a:lnSpc>
              <a:buFont typeface="Arial"/>
              <a:buChar char="⚬"/>
            </a:pP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 renice to change the priority of the process to highest (e.g., renice -n -20 [PID]).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515397"/>
            <a:ext cx="7805886" cy="190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725" lvl="2" indent="-181908" algn="l">
              <a:lnSpc>
                <a:spcPts val="3887"/>
              </a:lnSpc>
              <a:buFont typeface="Arial"/>
              <a:buChar char="⚬"/>
            </a:pP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Monitor system performance using top or htop and observe the priority. { Note: It will not show at the top of the list as the prioritization depends on CPU usage.}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3862834"/>
            <a:ext cx="4252912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What to Observe: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4516041"/>
            <a:ext cx="7805886" cy="93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026" lvl="2" indent="-156009" algn="l">
              <a:lnSpc>
                <a:spcPts val="3887"/>
              </a:lnSpc>
              <a:buFont typeface="Arial"/>
              <a:buChar char="⚬"/>
            </a:pPr>
            <a:r>
              <a:rPr lang="en-US" sz="2386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renice</a:t>
            </a: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After running the renice command, the </a:t>
            </a:r>
            <a:r>
              <a:rPr lang="en-US" sz="2386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</a:t>
            </a: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value should change.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5657403"/>
            <a:ext cx="7805886" cy="93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026" lvl="2" indent="-156009" algn="l">
              <a:lnSpc>
                <a:spcPts val="3887"/>
              </a:lnSpc>
              <a:buFont typeface="Arial"/>
              <a:buChar char="⚬"/>
            </a:pP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After noticing the change you can kill the PID using </a:t>
            </a:r>
            <a:r>
              <a:rPr lang="en-US" sz="2386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kill &lt;PID&gt;</a:t>
            </a:r>
            <a:r>
              <a:rPr lang="en-US" sz="23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command.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4288929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Resource Allocation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99401" y="2216349"/>
            <a:ext cx="7805886" cy="5854304"/>
            <a:chOff x="0" y="0"/>
            <a:chExt cx="10407848" cy="780573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407904" cy="7805674"/>
            </a:xfrm>
            <a:custGeom>
              <a:avLst/>
              <a:gdLst/>
              <a:ahLst/>
              <a:cxnLst/>
              <a:rect l="l" t="t" r="r" b="b"/>
              <a:pathLst>
                <a:path w="10407904" h="7805674">
                  <a:moveTo>
                    <a:pt x="0" y="0"/>
                  </a:moveTo>
                  <a:lnTo>
                    <a:pt x="10407904" y="0"/>
                  </a:lnTo>
                  <a:lnTo>
                    <a:pt x="10407904" y="7805674"/>
                  </a:lnTo>
                  <a:lnTo>
                    <a:pt x="0" y="7805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323529"/>
            <a:ext cx="10113466" cy="8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Optimal Resource Allocation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87475" y="2819400"/>
            <a:ext cx="2726627" cy="1643158"/>
          </a:xfrm>
          <a:custGeom>
            <a:avLst/>
            <a:gdLst/>
            <a:ahLst/>
            <a:cxnLst/>
            <a:rect l="l" t="t" r="r" b="b"/>
            <a:pathLst>
              <a:path w="2726627" h="1643158">
                <a:moveTo>
                  <a:pt x="0" y="0"/>
                </a:moveTo>
                <a:lnTo>
                  <a:pt x="2726627" y="0"/>
                </a:lnTo>
                <a:lnTo>
                  <a:pt x="2726627" y="1643158"/>
                </a:lnTo>
                <a:lnTo>
                  <a:pt x="0" y="1643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85280" y="3148012"/>
            <a:ext cx="162371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92910" y="3088630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Efficient Utilization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92910" y="3549254"/>
            <a:ext cx="9372898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Ensuring resources like CPU, memory, and disk I/O are used effectively.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851076" y="4438799"/>
            <a:ext cx="13302995" cy="19050"/>
            <a:chOff x="0" y="0"/>
            <a:chExt cx="17737327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37328" cy="25400"/>
            </a:xfrm>
            <a:custGeom>
              <a:avLst/>
              <a:gdLst/>
              <a:ahLst/>
              <a:cxnLst/>
              <a:rect l="l" t="t" r="r" b="b"/>
              <a:pathLst>
                <a:path w="17737328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987475" y="4594771"/>
            <a:ext cx="2726710" cy="2096833"/>
          </a:xfrm>
          <a:custGeom>
            <a:avLst/>
            <a:gdLst/>
            <a:ahLst/>
            <a:cxnLst/>
            <a:rect l="l" t="t" r="r" b="b"/>
            <a:pathLst>
              <a:path w="2726710" h="2096833">
                <a:moveTo>
                  <a:pt x="0" y="0"/>
                </a:moveTo>
                <a:lnTo>
                  <a:pt x="2726710" y="0"/>
                </a:lnTo>
                <a:lnTo>
                  <a:pt x="2726710" y="2096833"/>
                </a:lnTo>
                <a:lnTo>
                  <a:pt x="0" y="209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85280" y="5150197"/>
            <a:ext cx="214312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92910" y="4902994"/>
            <a:ext cx="3783062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Preventing overloads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92984" y="5301556"/>
            <a:ext cx="10302031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Proper allocation prevents performance issues caused by overused or underused resources.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921261" y="6667797"/>
            <a:ext cx="13232824" cy="23814"/>
            <a:chOff x="0" y="0"/>
            <a:chExt cx="17643766" cy="31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643729" cy="31750"/>
            </a:xfrm>
            <a:custGeom>
              <a:avLst/>
              <a:gdLst/>
              <a:ahLst/>
              <a:cxnLst/>
              <a:rect l="l" t="t" r="r" b="b"/>
              <a:pathLst>
                <a:path w="17643729" h="31750">
                  <a:moveTo>
                    <a:pt x="0" y="15875"/>
                  </a:moveTo>
                  <a:cubicBezTo>
                    <a:pt x="0" y="7112"/>
                    <a:pt x="7112" y="0"/>
                    <a:pt x="15875" y="0"/>
                  </a:cubicBezTo>
                  <a:lnTo>
                    <a:pt x="17627854" y="0"/>
                  </a:lnTo>
                  <a:cubicBezTo>
                    <a:pt x="17636617" y="0"/>
                    <a:pt x="17643729" y="7112"/>
                    <a:pt x="17643729" y="15875"/>
                  </a:cubicBezTo>
                  <a:cubicBezTo>
                    <a:pt x="17643729" y="24638"/>
                    <a:pt x="17636617" y="31750"/>
                    <a:pt x="17627854" y="31750"/>
                  </a:cubicBez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987475" y="6823770"/>
            <a:ext cx="2726654" cy="2096833"/>
          </a:xfrm>
          <a:custGeom>
            <a:avLst/>
            <a:gdLst/>
            <a:ahLst/>
            <a:cxnLst/>
            <a:rect l="l" t="t" r="r" b="b"/>
            <a:pathLst>
              <a:path w="2726654" h="2096833">
                <a:moveTo>
                  <a:pt x="0" y="0"/>
                </a:moveTo>
                <a:lnTo>
                  <a:pt x="2726654" y="0"/>
                </a:lnTo>
                <a:lnTo>
                  <a:pt x="2726654" y="2096833"/>
                </a:lnTo>
                <a:lnTo>
                  <a:pt x="0" y="2096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285280" y="7379196"/>
            <a:ext cx="200620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92984" y="7134522"/>
            <a:ext cx="4214812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Continuous Monitoring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92984" y="7530554"/>
            <a:ext cx="7584728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Regular monitoring and adjustments are needed to optimize resource utilization.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1803350"/>
            <a:ext cx="9445526" cy="159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3"/>
              </a:lnSpc>
            </a:pPr>
            <a:r>
              <a:rPr lang="en-US" sz="50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Understanding System Bottlenecks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867150"/>
            <a:ext cx="9445526" cy="55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Bottlenecks are similar to load averages in a system.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4639716"/>
            <a:ext cx="9445526" cy="10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Even the bottlenecks will indicate the reasons behind system slowing  down.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6294" y="7022872"/>
            <a:ext cx="9445526" cy="534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Then, what is the difference between load average &amp; bottlenecks?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294" y="7621995"/>
            <a:ext cx="9445526" cy="534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Why use bottlenecks concept when we already have load averages?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64260" y="1960215"/>
            <a:ext cx="12472839" cy="8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Understanding System Bottlenecks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586014"/>
            <a:ext cx="708720" cy="708720"/>
            <a:chOff x="0" y="0"/>
            <a:chExt cx="944960" cy="94496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4559201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 Bottlenecks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019824"/>
            <a:ext cx="5150941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load average indicates the CPU is the limiting factor.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026200"/>
            <a:ext cx="5150941" cy="198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Happens when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too many processes are trying to use the CPU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causing delays and slowdowns.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68380" y="3586014"/>
            <a:ext cx="708720" cy="708720"/>
            <a:chOff x="0" y="0"/>
            <a:chExt cx="944960" cy="94496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568380" y="4559201"/>
            <a:ext cx="369376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Memory Bottlenecks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8380" y="5019824"/>
            <a:ext cx="515109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swap usage or low free memory suggests memory pressure.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8380" y="6479827"/>
            <a:ext cx="5151090" cy="15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Happens when the system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doesn’t have enough RAM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support running processes.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44672" y="3586014"/>
            <a:ext cx="708720" cy="708720"/>
            <a:chOff x="0" y="0"/>
            <a:chExt cx="944960" cy="94496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44672" y="4559201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I/O Bottlenecks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44672" y="5019824"/>
            <a:ext cx="5150941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High I/O wait indicates slow disk access, slowing down the system.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44672" y="6026200"/>
            <a:ext cx="5150941" cy="198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Happens when the system has to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wait longer for disk operations to complete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it leads to an I/O bottleneck.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94901" y="1546004"/>
            <a:ext cx="15865376" cy="70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9"/>
              </a:lnSpc>
            </a:pPr>
            <a:r>
              <a:rPr lang="en-US" sz="4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SAR command to debug specific bottlenecks:</a:t>
            </a:r>
          </a:p>
        </p:txBody>
      </p:sp>
      <p:sp>
        <p:nvSpPr>
          <p:cNvPr id="7" name="Freeform 7"/>
          <p:cNvSpPr/>
          <p:nvPr/>
        </p:nvSpPr>
        <p:spPr>
          <a:xfrm>
            <a:off x="987475" y="2841426"/>
            <a:ext cx="16312991" cy="6056948"/>
          </a:xfrm>
          <a:custGeom>
            <a:avLst/>
            <a:gdLst/>
            <a:ahLst/>
            <a:cxnLst/>
            <a:rect l="l" t="t" r="r" b="b"/>
            <a:pathLst>
              <a:path w="16312991" h="6056948">
                <a:moveTo>
                  <a:pt x="0" y="0"/>
                </a:moveTo>
                <a:lnTo>
                  <a:pt x="16312991" y="0"/>
                </a:lnTo>
                <a:lnTo>
                  <a:pt x="16312991" y="6056948"/>
                </a:lnTo>
                <a:lnTo>
                  <a:pt x="0" y="6056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42654" y="3016300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Command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2052" y="3016300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01451" y="3016300"/>
            <a:ext cx="3544044" cy="4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Observation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2654" y="381848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18846" y="3666084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Provides historical system performance reports.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18846" y="4743450"/>
            <a:ext cx="4850457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Requires ''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sysstat''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package, so you need to install via sudo apt/yum.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5864" y="3666084"/>
            <a:ext cx="4855220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Outputs historical CPU, memory, and I/O statistics.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45864" y="4743450"/>
            <a:ext cx="4855220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Example: 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 &lt;bottleneck_flag&gt; &lt;time&gt;  &lt;No. of reports&gt;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45864" y="5820816"/>
            <a:ext cx="4855220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 -u 1 5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(CPU stats every 1 second, 5 times)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45864" y="6813054"/>
            <a:ext cx="4855220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sar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-r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1 5 (memory stats)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45864" y="7351662"/>
            <a:ext cx="4855220" cy="62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sar </a:t>
            </a:r>
            <a:r>
              <a:rPr lang="en-US" sz="21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-d</a:t>
            </a: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1 5 (I/O stats)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965996"/>
            <a:ext cx="10036225" cy="8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Recognizing Memory Issues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388965"/>
            <a:ext cx="16303526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Swap Usage:</a:t>
            </a:r>
            <a:r>
              <a:rPr lang="en-US" sz="275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High swap usage indicates the system is using disk space as temporary memory.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274790"/>
            <a:ext cx="16303526" cy="77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Free Memory:</a:t>
            </a:r>
            <a:r>
              <a:rPr lang="en-US" sz="275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Low free memory and high swap usage suggest memory pressure.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213151"/>
            <a:ext cx="16303526" cy="50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Common commands used</a:t>
            </a:r>
            <a:r>
              <a:rPr lang="en-US" sz="25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free -h &amp; top.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758223"/>
            <a:ext cx="16303526" cy="50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526177"/>
            <a:ext cx="16303526" cy="50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free -h</a:t>
            </a:r>
            <a:r>
              <a:rPr lang="en-US" sz="25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is not for mac - Alternate command is </a:t>
            </a:r>
            <a:r>
              <a:rPr lang="en-US" sz="2586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vm_stat | grep "Pages free".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303357"/>
            <a:ext cx="16303526" cy="50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240" lvl="2" indent="-169080" algn="l">
              <a:lnSpc>
                <a:spcPts val="4213"/>
              </a:lnSpc>
              <a:buFont typeface="Arial"/>
              <a:buChar char="⚬"/>
            </a:pPr>
            <a:r>
              <a:rPr lang="en-US" sz="2586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Each page is a small, fixed-size block of memory that the system manages.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3400" y="920772"/>
            <a:ext cx="6582370" cy="747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4"/>
              </a:lnSpc>
            </a:pPr>
            <a:r>
              <a:rPr lang="en-US" sz="4725" b="1" dirty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735" y="1668218"/>
            <a:ext cx="16444912" cy="827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Load Average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shows overall system demand; values above CPU cores = strain.</a:t>
            </a:r>
          </a:p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Bottlenecks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specific resource limits (CPU, memory, I/O) causing slowdowns.</a:t>
            </a:r>
          </a:p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Difference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load average = broad system pressure, bottlenecks = exact resource causing it.</a:t>
            </a:r>
          </a:p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Managing Load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monitor with tools (uptime, top, </a:t>
            </a:r>
            <a:r>
              <a:rPr lang="en-US" sz="2661" spc="178" dirty="0" err="1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iostat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661" spc="178" dirty="0" err="1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vmstat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661" spc="178" dirty="0" err="1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sar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Optimizing Performance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fix bottlenecks via hardware upgrades, tuning system/app configs, caching, or better code.</a:t>
            </a:r>
          </a:p>
          <a:p>
            <a:pPr algn="l">
              <a:lnSpc>
                <a:spcPts val="6654"/>
              </a:lnSpc>
            </a:pPr>
            <a:r>
              <a:rPr lang="en-US" sz="2661" b="1" spc="178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Continuous Monitoring</a:t>
            </a:r>
            <a:r>
              <a:rPr lang="en-US" sz="2661" spc="178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→ workloads change, so keep tracking and adjusting for sustained performance.</a:t>
            </a:r>
          </a:p>
          <a:p>
            <a:pPr algn="l">
              <a:lnSpc>
                <a:spcPts val="6654"/>
              </a:lnSpc>
            </a:pPr>
            <a:endParaRPr lang="en-US" sz="2661" spc="178" dirty="0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1947</Words>
  <Application>Microsoft Macintosh PowerPoint</Application>
  <PresentationFormat>Custom</PresentationFormat>
  <Paragraphs>357</Paragraphs>
  <Slides>25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Open Sans</vt:lpstr>
      <vt:lpstr>Merriweather Bold</vt:lpstr>
      <vt:lpstr>Open Sans Bold Italics</vt:lpstr>
      <vt:lpstr>Arial</vt:lpstr>
      <vt:lpstr>Open Sans Bold</vt:lpstr>
      <vt:lpstr>Open Sans Italics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System-Load-and-Optimization.pptx.pptx</dc:title>
  <cp:lastModifiedBy>Alam, Anees</cp:lastModifiedBy>
  <cp:revision>3</cp:revision>
  <dcterms:created xsi:type="dcterms:W3CDTF">2006-08-16T00:00:00Z</dcterms:created>
  <dcterms:modified xsi:type="dcterms:W3CDTF">2025-09-05T15:42:37Z</dcterms:modified>
  <dc:identifier>DAGyFa7-53o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2025-09-05T15:32:06Z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2451d7be-fd8d-4a94-a572-c96d1aa2a68d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