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8288000" cy="10287000"/>
  <p:notesSz cx="6858000" cy="9144000"/>
  <p:embeddedFontLst>
    <p:embeddedFont>
      <p:font typeface="Alice" panose="020B0604020202020204" charset="0"/>
      <p:regular r:id="rId22"/>
    </p:embeddedFont>
    <p:embeddedFont>
      <p:font typeface="Arimo" panose="020B0604020202020204" charset="0"/>
      <p:regular r:id="rId23"/>
    </p:embeddedFont>
    <p:embeddedFont>
      <p:font typeface="Arimo Bold" panose="020B0604020202020204" charset="0"/>
      <p:regular r:id="rId24"/>
      <p:bold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Libre Baskerville" panose="02000000000000000000" pitchFamily="2" charset="0"/>
      <p:regular r:id="rId30"/>
      <p:bold r:id="rId31"/>
      <p:italic r:id="rId32"/>
    </p:embeddedFont>
    <p:embeddedFont>
      <p:font typeface="Playfair Display" panose="00000500000000000000" pitchFamily="2" charset="0"/>
      <p:regular r:id="rId33"/>
      <p:bold r:id="rId34"/>
      <p:italic r:id="rId35"/>
      <p:boldItalic r:id="rId36"/>
    </p:embeddedFont>
    <p:embeddedFont>
      <p:font typeface="Playfair Display Bold" panose="020B0604020202020204" charset="0"/>
      <p:regular r:id="rId37"/>
      <p:bold r:id="rId38"/>
    </p:embeddedFont>
    <p:embeddedFont>
      <p:font typeface="Source Serif Pro" panose="020F0502020204030204" pitchFamily="18" charset="0"/>
      <p:regular r:id="rId39"/>
      <p:bold r:id="rId40"/>
      <p:italic r:id="rId41"/>
      <p:boldItalic r:id="rId42"/>
    </p:embeddedFont>
    <p:embeddedFont>
      <p:font typeface="Source Serif Pro Bold" panose="020B0604020202020204" charset="0"/>
      <p:regular r:id="rId43"/>
      <p:bold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18" autoAdjust="0"/>
  </p:normalViewPr>
  <p:slideViewPr>
    <p:cSldViewPr>
      <p:cViewPr varScale="1">
        <p:scale>
          <a:sx n="58" d="100"/>
          <a:sy n="58" d="100"/>
        </p:scale>
        <p:origin x="51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AneeS" userId="f3b6a096eeb08a08" providerId="LiveId" clId="{C00BBC87-BCBD-46CD-B560-F109FE98DAD6}"/>
    <pc:docChg chg="delSld">
      <pc:chgData name="MohammaD AneeS" userId="f3b6a096eeb08a08" providerId="LiveId" clId="{C00BBC87-BCBD-46CD-B560-F109FE98DAD6}" dt="2026-09-27T08:11:13.904" v="0" actId="47"/>
      <pc:docMkLst>
        <pc:docMk/>
      </pc:docMkLst>
      <pc:sldChg chg="del">
        <pc:chgData name="MohammaD AneeS" userId="f3b6a096eeb08a08" providerId="LiveId" clId="{C00BBC87-BCBD-46CD-B560-F109FE98DAD6}" dt="2026-09-27T08:11:13.904" v="0" actId="47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0850185" y="0"/>
            <a:ext cx="7437815" cy="10287000"/>
          </a:xfrm>
          <a:custGeom>
            <a:avLst/>
            <a:gdLst/>
            <a:ahLst/>
            <a:cxnLst/>
            <a:rect l="l" t="t" r="r" b="b"/>
            <a:pathLst>
              <a:path w="7437815" h="10287000">
                <a:moveTo>
                  <a:pt x="0" y="0"/>
                </a:moveTo>
                <a:lnTo>
                  <a:pt x="7437815" y="0"/>
                </a:lnTo>
                <a:lnTo>
                  <a:pt x="743781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227" b="-422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010661" y="4048015"/>
            <a:ext cx="8828864" cy="1155921"/>
            <a:chOff x="0" y="0"/>
            <a:chExt cx="11771819" cy="15412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71819" cy="1541229"/>
            </a:xfrm>
            <a:custGeom>
              <a:avLst/>
              <a:gdLst/>
              <a:ahLst/>
              <a:cxnLst/>
              <a:rect l="l" t="t" r="r" b="b"/>
              <a:pathLst>
                <a:path w="11771819" h="1541229">
                  <a:moveTo>
                    <a:pt x="0" y="0"/>
                  </a:moveTo>
                  <a:lnTo>
                    <a:pt x="11771819" y="0"/>
                  </a:lnTo>
                  <a:lnTo>
                    <a:pt x="11771819" y="1541229"/>
                  </a:lnTo>
                  <a:lnTo>
                    <a:pt x="0" y="15412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1771819" cy="15698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4000" dirty="0">
                  <a:solidFill>
                    <a:srgbClr val="504C49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Integration Testing </a:t>
              </a:r>
            </a:p>
            <a:p>
              <a:pPr algn="ctr">
                <a:lnSpc>
                  <a:spcPct val="150000"/>
                </a:lnSpc>
              </a:pPr>
              <a:r>
                <a:rPr lang="en-US" sz="3200" dirty="0">
                  <a:solidFill>
                    <a:srgbClr val="504C49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&amp;</a:t>
              </a:r>
              <a:r>
                <a:rPr lang="en-US" sz="4000" dirty="0">
                  <a:solidFill>
                    <a:srgbClr val="504C49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</a:t>
              </a:r>
            </a:p>
            <a:p>
              <a:pPr algn="ctr">
                <a:lnSpc>
                  <a:spcPct val="150000"/>
                </a:lnSpc>
              </a:pPr>
              <a:r>
                <a:rPr lang="en-US" sz="4000" dirty="0">
                  <a:solidFill>
                    <a:srgbClr val="504C49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Code Analysis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69200" y="8832850"/>
            <a:ext cx="1492586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4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Presenter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9200" y="9251950"/>
            <a:ext cx="3474220" cy="448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6"/>
              </a:lnSpc>
              <a:spcBef>
                <a:spcPct val="0"/>
              </a:spcBef>
            </a:pPr>
            <a:r>
              <a:rPr lang="en-US" sz="2349" b="1">
                <a:solidFill>
                  <a:srgbClr val="204C8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2148" y="232510"/>
            <a:ext cx="7825348" cy="851516"/>
            <a:chOff x="0" y="0"/>
            <a:chExt cx="10433797" cy="1135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33797" cy="1135355"/>
            </a:xfrm>
            <a:custGeom>
              <a:avLst/>
              <a:gdLst/>
              <a:ahLst/>
              <a:cxnLst/>
              <a:rect l="l" t="t" r="r" b="b"/>
              <a:pathLst>
                <a:path w="10433797" h="1135355">
                  <a:moveTo>
                    <a:pt x="0" y="0"/>
                  </a:moveTo>
                  <a:lnTo>
                    <a:pt x="10433797" y="0"/>
                  </a:lnTo>
                  <a:lnTo>
                    <a:pt x="10433797" y="1135355"/>
                  </a:lnTo>
                  <a:lnTo>
                    <a:pt x="0" y="11353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433797" cy="1182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4599" b="1" dirty="0">
                  <a:solidFill>
                    <a:srgbClr val="FFC000"/>
                  </a:solidFill>
                  <a:latin typeface="Alice"/>
                  <a:ea typeface="Alice"/>
                  <a:cs typeface="Alice"/>
                  <a:sym typeface="Alice"/>
                </a:rPr>
                <a:t>Topics for today!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653" y="1423392"/>
            <a:ext cx="47625" cy="8365926"/>
            <a:chOff x="0" y="0"/>
            <a:chExt cx="63500" cy="111545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" cy="11154537"/>
            </a:xfrm>
            <a:custGeom>
              <a:avLst/>
              <a:gdLst/>
              <a:ahLst/>
              <a:cxnLst/>
              <a:rect l="l" t="t" r="r" b="b"/>
              <a:pathLst>
                <a:path w="63500" h="11154537">
                  <a:moveTo>
                    <a:pt x="0" y="12700"/>
                  </a:moveTo>
                  <a:cubicBezTo>
                    <a:pt x="0" y="5715"/>
                    <a:pt x="14288" y="0"/>
                    <a:pt x="31750" y="0"/>
                  </a:cubicBezTo>
                  <a:cubicBezTo>
                    <a:pt x="49213" y="0"/>
                    <a:pt x="63500" y="5715"/>
                    <a:pt x="63500" y="12700"/>
                  </a:cubicBezTo>
                  <a:lnTo>
                    <a:pt x="63500" y="11141837"/>
                  </a:lnTo>
                  <a:cubicBezTo>
                    <a:pt x="63500" y="11148822"/>
                    <a:pt x="49213" y="11154537"/>
                    <a:pt x="31750" y="11154537"/>
                  </a:cubicBezTo>
                  <a:cubicBezTo>
                    <a:pt x="14288" y="11154537"/>
                    <a:pt x="0" y="11148822"/>
                    <a:pt x="0" y="11141837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3386" y="1820168"/>
            <a:ext cx="938908" cy="19050"/>
            <a:chOff x="0" y="0"/>
            <a:chExt cx="1251878" cy="25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1863" cy="25400"/>
            </a:xfrm>
            <a:custGeom>
              <a:avLst/>
              <a:gdLst/>
              <a:ahLst/>
              <a:cxnLst/>
              <a:rect l="l" t="t" r="r" b="b"/>
              <a:pathLst>
                <a:path w="1251863" h="25400">
                  <a:moveTo>
                    <a:pt x="0" y="12700"/>
                  </a:moveTo>
                  <a:cubicBezTo>
                    <a:pt x="0" y="5715"/>
                    <a:pt x="9902" y="0"/>
                    <a:pt x="22005" y="0"/>
                  </a:cubicBezTo>
                  <a:lnTo>
                    <a:pt x="1229858" y="0"/>
                  </a:lnTo>
                  <a:cubicBezTo>
                    <a:pt x="1241961" y="0"/>
                    <a:pt x="1251863" y="5715"/>
                    <a:pt x="1251863" y="12700"/>
                  </a:cubicBezTo>
                  <a:cubicBezTo>
                    <a:pt x="1251863" y="19685"/>
                    <a:pt x="1241961" y="25400"/>
                    <a:pt x="1229858" y="25400"/>
                  </a:cubicBezTo>
                  <a:lnTo>
                    <a:pt x="22005" y="25400"/>
                  </a:lnTo>
                  <a:cubicBezTo>
                    <a:pt x="9902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32148" y="1626543"/>
            <a:ext cx="704246" cy="406450"/>
            <a:chOff x="0" y="0"/>
            <a:chExt cx="938994" cy="5419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8952" cy="541909"/>
            </a:xfrm>
            <a:custGeom>
              <a:avLst/>
              <a:gdLst/>
              <a:ahLst/>
              <a:cxnLst/>
              <a:rect l="l" t="t" r="r" b="b"/>
              <a:pathLst>
                <a:path w="938952" h="541909">
                  <a:moveTo>
                    <a:pt x="0" y="36068"/>
                  </a:moveTo>
                  <a:cubicBezTo>
                    <a:pt x="0" y="16129"/>
                    <a:pt x="27946" y="0"/>
                    <a:pt x="62494" y="0"/>
                  </a:cubicBezTo>
                  <a:lnTo>
                    <a:pt x="876458" y="0"/>
                  </a:lnTo>
                  <a:cubicBezTo>
                    <a:pt x="911006" y="0"/>
                    <a:pt x="938952" y="16129"/>
                    <a:pt x="938952" y="36068"/>
                  </a:cubicBezTo>
                  <a:lnTo>
                    <a:pt x="938952" y="505841"/>
                  </a:lnTo>
                  <a:cubicBezTo>
                    <a:pt x="938952" y="525780"/>
                    <a:pt x="911006" y="541909"/>
                    <a:pt x="876458" y="541909"/>
                  </a:cubicBezTo>
                  <a:lnTo>
                    <a:pt x="62494" y="541909"/>
                  </a:lnTo>
                  <a:cubicBezTo>
                    <a:pt x="27946" y="541909"/>
                    <a:pt x="0" y="525780"/>
                    <a:pt x="0" y="505841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4990" y="1562272"/>
            <a:ext cx="469325" cy="553890"/>
            <a:chOff x="0" y="0"/>
            <a:chExt cx="625767" cy="738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5767" cy="738520"/>
            </a:xfrm>
            <a:custGeom>
              <a:avLst/>
              <a:gdLst/>
              <a:ahLst/>
              <a:cxnLst/>
              <a:rect l="l" t="t" r="r" b="b"/>
              <a:pathLst>
                <a:path w="625767" h="738520">
                  <a:moveTo>
                    <a:pt x="0" y="0"/>
                  </a:moveTo>
                  <a:lnTo>
                    <a:pt x="625767" y="0"/>
                  </a:lnTo>
                  <a:lnTo>
                    <a:pt x="625767" y="738520"/>
                  </a:lnTo>
                  <a:lnTo>
                    <a:pt x="0" y="738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625767" cy="709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4"/>
                </a:lnSpc>
              </a:pPr>
              <a:r>
                <a:rPr lang="en-US" sz="2724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56027" y="1591826"/>
            <a:ext cx="7800334" cy="548661"/>
            <a:chOff x="0" y="0"/>
            <a:chExt cx="10400446" cy="7315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00446" cy="731548"/>
            </a:xfrm>
            <a:custGeom>
              <a:avLst/>
              <a:gdLst/>
              <a:ahLst/>
              <a:cxnLst/>
              <a:rect l="l" t="t" r="r" b="b"/>
              <a:pathLst>
                <a:path w="10400446" h="731548">
                  <a:moveTo>
                    <a:pt x="0" y="0"/>
                  </a:moveTo>
                  <a:lnTo>
                    <a:pt x="10400446" y="0"/>
                  </a:lnTo>
                  <a:lnTo>
                    <a:pt x="10400446" y="731548"/>
                  </a:lnTo>
                  <a:lnTo>
                    <a:pt x="0" y="731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0400446" cy="760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6"/>
                </a:lnSpc>
              </a:pPr>
              <a:r>
                <a:rPr lang="en-US" sz="2724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Integration Testing Frameworks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3386" y="3097857"/>
            <a:ext cx="938908" cy="19050"/>
            <a:chOff x="0" y="0"/>
            <a:chExt cx="1251878" cy="25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51863" cy="25400"/>
            </a:xfrm>
            <a:custGeom>
              <a:avLst/>
              <a:gdLst/>
              <a:ahLst/>
              <a:cxnLst/>
              <a:rect l="l" t="t" r="r" b="b"/>
              <a:pathLst>
                <a:path w="1251863" h="25400">
                  <a:moveTo>
                    <a:pt x="0" y="12700"/>
                  </a:moveTo>
                  <a:cubicBezTo>
                    <a:pt x="0" y="5715"/>
                    <a:pt x="9902" y="0"/>
                    <a:pt x="22005" y="0"/>
                  </a:cubicBezTo>
                  <a:lnTo>
                    <a:pt x="1229858" y="0"/>
                  </a:lnTo>
                  <a:cubicBezTo>
                    <a:pt x="1241961" y="0"/>
                    <a:pt x="1251863" y="5715"/>
                    <a:pt x="1251863" y="12700"/>
                  </a:cubicBezTo>
                  <a:cubicBezTo>
                    <a:pt x="1251863" y="19685"/>
                    <a:pt x="1241961" y="25400"/>
                    <a:pt x="1229858" y="25400"/>
                  </a:cubicBezTo>
                  <a:lnTo>
                    <a:pt x="22005" y="25400"/>
                  </a:lnTo>
                  <a:cubicBezTo>
                    <a:pt x="9902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2148" y="2904232"/>
            <a:ext cx="704246" cy="406450"/>
            <a:chOff x="0" y="0"/>
            <a:chExt cx="938994" cy="5419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38952" cy="541909"/>
            </a:xfrm>
            <a:custGeom>
              <a:avLst/>
              <a:gdLst/>
              <a:ahLst/>
              <a:cxnLst/>
              <a:rect l="l" t="t" r="r" b="b"/>
              <a:pathLst>
                <a:path w="938952" h="541909">
                  <a:moveTo>
                    <a:pt x="0" y="36068"/>
                  </a:moveTo>
                  <a:cubicBezTo>
                    <a:pt x="0" y="16129"/>
                    <a:pt x="27946" y="0"/>
                    <a:pt x="62494" y="0"/>
                  </a:cubicBezTo>
                  <a:lnTo>
                    <a:pt x="876458" y="0"/>
                  </a:lnTo>
                  <a:cubicBezTo>
                    <a:pt x="911006" y="0"/>
                    <a:pt x="938952" y="16129"/>
                    <a:pt x="938952" y="36068"/>
                  </a:cubicBezTo>
                  <a:lnTo>
                    <a:pt x="938952" y="505841"/>
                  </a:lnTo>
                  <a:cubicBezTo>
                    <a:pt x="938952" y="525780"/>
                    <a:pt x="911006" y="541909"/>
                    <a:pt x="876458" y="541909"/>
                  </a:cubicBezTo>
                  <a:lnTo>
                    <a:pt x="62494" y="541909"/>
                  </a:lnTo>
                  <a:cubicBezTo>
                    <a:pt x="27946" y="541909"/>
                    <a:pt x="0" y="525780"/>
                    <a:pt x="0" y="505841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9478" y="2864285"/>
            <a:ext cx="469325" cy="553890"/>
            <a:chOff x="0" y="0"/>
            <a:chExt cx="625767" cy="738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5767" cy="738520"/>
            </a:xfrm>
            <a:custGeom>
              <a:avLst/>
              <a:gdLst/>
              <a:ahLst/>
              <a:cxnLst/>
              <a:rect l="l" t="t" r="r" b="b"/>
              <a:pathLst>
                <a:path w="625767" h="738520">
                  <a:moveTo>
                    <a:pt x="0" y="0"/>
                  </a:moveTo>
                  <a:lnTo>
                    <a:pt x="625767" y="0"/>
                  </a:lnTo>
                  <a:lnTo>
                    <a:pt x="625767" y="738520"/>
                  </a:lnTo>
                  <a:lnTo>
                    <a:pt x="0" y="738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28575"/>
              <a:ext cx="625767" cy="709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4"/>
                </a:lnSpc>
              </a:pPr>
              <a:r>
                <a:rPr lang="en-US" sz="2724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456027" y="2869515"/>
            <a:ext cx="7613892" cy="548661"/>
            <a:chOff x="0" y="0"/>
            <a:chExt cx="10151856" cy="73154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51856" cy="731548"/>
            </a:xfrm>
            <a:custGeom>
              <a:avLst/>
              <a:gdLst/>
              <a:ahLst/>
              <a:cxnLst/>
              <a:rect l="l" t="t" r="r" b="b"/>
              <a:pathLst>
                <a:path w="10151856" h="731548">
                  <a:moveTo>
                    <a:pt x="0" y="0"/>
                  </a:moveTo>
                  <a:lnTo>
                    <a:pt x="10151856" y="0"/>
                  </a:lnTo>
                  <a:lnTo>
                    <a:pt x="10151856" y="731548"/>
                  </a:lnTo>
                  <a:lnTo>
                    <a:pt x="0" y="731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0151856" cy="760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6"/>
                </a:lnSpc>
              </a:pPr>
              <a:r>
                <a:rPr lang="en-US" sz="2724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Test-Driven Development (TDD)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03386" y="4375548"/>
            <a:ext cx="938908" cy="19050"/>
            <a:chOff x="0" y="0"/>
            <a:chExt cx="1251878" cy="25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51863" cy="25400"/>
            </a:xfrm>
            <a:custGeom>
              <a:avLst/>
              <a:gdLst/>
              <a:ahLst/>
              <a:cxnLst/>
              <a:rect l="l" t="t" r="r" b="b"/>
              <a:pathLst>
                <a:path w="1251863" h="25400">
                  <a:moveTo>
                    <a:pt x="0" y="12700"/>
                  </a:moveTo>
                  <a:cubicBezTo>
                    <a:pt x="0" y="5715"/>
                    <a:pt x="9902" y="0"/>
                    <a:pt x="22005" y="0"/>
                  </a:cubicBezTo>
                  <a:lnTo>
                    <a:pt x="1229858" y="0"/>
                  </a:lnTo>
                  <a:cubicBezTo>
                    <a:pt x="1241961" y="0"/>
                    <a:pt x="1251863" y="5715"/>
                    <a:pt x="1251863" y="12700"/>
                  </a:cubicBezTo>
                  <a:cubicBezTo>
                    <a:pt x="1251863" y="19685"/>
                    <a:pt x="1241961" y="25400"/>
                    <a:pt x="1229858" y="25400"/>
                  </a:cubicBezTo>
                  <a:lnTo>
                    <a:pt x="22005" y="25400"/>
                  </a:lnTo>
                  <a:cubicBezTo>
                    <a:pt x="9902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2148" y="4181921"/>
            <a:ext cx="704246" cy="406450"/>
            <a:chOff x="0" y="0"/>
            <a:chExt cx="938994" cy="54193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38952" cy="541909"/>
            </a:xfrm>
            <a:custGeom>
              <a:avLst/>
              <a:gdLst/>
              <a:ahLst/>
              <a:cxnLst/>
              <a:rect l="l" t="t" r="r" b="b"/>
              <a:pathLst>
                <a:path w="938952" h="541909">
                  <a:moveTo>
                    <a:pt x="0" y="36068"/>
                  </a:moveTo>
                  <a:cubicBezTo>
                    <a:pt x="0" y="16129"/>
                    <a:pt x="27946" y="0"/>
                    <a:pt x="62494" y="0"/>
                  </a:cubicBezTo>
                  <a:lnTo>
                    <a:pt x="876458" y="0"/>
                  </a:lnTo>
                  <a:cubicBezTo>
                    <a:pt x="911006" y="0"/>
                    <a:pt x="938952" y="16129"/>
                    <a:pt x="938952" y="36068"/>
                  </a:cubicBezTo>
                  <a:lnTo>
                    <a:pt x="938952" y="505841"/>
                  </a:lnTo>
                  <a:cubicBezTo>
                    <a:pt x="938952" y="525780"/>
                    <a:pt x="911006" y="541909"/>
                    <a:pt x="876458" y="541909"/>
                  </a:cubicBezTo>
                  <a:lnTo>
                    <a:pt x="62494" y="541909"/>
                  </a:lnTo>
                  <a:cubicBezTo>
                    <a:pt x="27946" y="541909"/>
                    <a:pt x="0" y="525780"/>
                    <a:pt x="0" y="505841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49478" y="4141975"/>
            <a:ext cx="469325" cy="553890"/>
            <a:chOff x="0" y="0"/>
            <a:chExt cx="625767" cy="738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25767" cy="738520"/>
            </a:xfrm>
            <a:custGeom>
              <a:avLst/>
              <a:gdLst/>
              <a:ahLst/>
              <a:cxnLst/>
              <a:rect l="l" t="t" r="r" b="b"/>
              <a:pathLst>
                <a:path w="625767" h="738520">
                  <a:moveTo>
                    <a:pt x="0" y="0"/>
                  </a:moveTo>
                  <a:lnTo>
                    <a:pt x="625767" y="0"/>
                  </a:lnTo>
                  <a:lnTo>
                    <a:pt x="625767" y="738520"/>
                  </a:lnTo>
                  <a:lnTo>
                    <a:pt x="0" y="738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28575"/>
              <a:ext cx="625767" cy="709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4"/>
                </a:lnSpc>
              </a:pPr>
              <a:r>
                <a:rPr lang="en-US" sz="2724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456027" y="4147205"/>
            <a:ext cx="8708297" cy="548661"/>
            <a:chOff x="0" y="0"/>
            <a:chExt cx="11611063" cy="7315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611063" cy="731548"/>
            </a:xfrm>
            <a:custGeom>
              <a:avLst/>
              <a:gdLst/>
              <a:ahLst/>
              <a:cxnLst/>
              <a:rect l="l" t="t" r="r" b="b"/>
              <a:pathLst>
                <a:path w="11611063" h="731548">
                  <a:moveTo>
                    <a:pt x="0" y="0"/>
                  </a:moveTo>
                  <a:lnTo>
                    <a:pt x="11611063" y="0"/>
                  </a:lnTo>
                  <a:lnTo>
                    <a:pt x="11611063" y="731548"/>
                  </a:lnTo>
                  <a:lnTo>
                    <a:pt x="0" y="731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11611063" cy="760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6"/>
                </a:lnSpc>
              </a:pPr>
              <a:r>
                <a:rPr lang="en-US" sz="2724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Behavior-Driven Development (BDD)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03386" y="5653236"/>
            <a:ext cx="938908" cy="19050"/>
            <a:chOff x="0" y="0"/>
            <a:chExt cx="1251878" cy="25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51863" cy="25400"/>
            </a:xfrm>
            <a:custGeom>
              <a:avLst/>
              <a:gdLst/>
              <a:ahLst/>
              <a:cxnLst/>
              <a:rect l="l" t="t" r="r" b="b"/>
              <a:pathLst>
                <a:path w="1251863" h="25400">
                  <a:moveTo>
                    <a:pt x="0" y="12700"/>
                  </a:moveTo>
                  <a:cubicBezTo>
                    <a:pt x="0" y="5715"/>
                    <a:pt x="9902" y="0"/>
                    <a:pt x="22005" y="0"/>
                  </a:cubicBezTo>
                  <a:lnTo>
                    <a:pt x="1229858" y="0"/>
                  </a:lnTo>
                  <a:cubicBezTo>
                    <a:pt x="1241961" y="0"/>
                    <a:pt x="1251863" y="5715"/>
                    <a:pt x="1251863" y="12700"/>
                  </a:cubicBezTo>
                  <a:cubicBezTo>
                    <a:pt x="1251863" y="19685"/>
                    <a:pt x="1241961" y="25400"/>
                    <a:pt x="1229858" y="25400"/>
                  </a:cubicBezTo>
                  <a:lnTo>
                    <a:pt x="22005" y="25400"/>
                  </a:lnTo>
                  <a:cubicBezTo>
                    <a:pt x="9902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2148" y="5459611"/>
            <a:ext cx="704246" cy="406450"/>
            <a:chOff x="0" y="0"/>
            <a:chExt cx="938994" cy="54193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38952" cy="541909"/>
            </a:xfrm>
            <a:custGeom>
              <a:avLst/>
              <a:gdLst/>
              <a:ahLst/>
              <a:cxnLst/>
              <a:rect l="l" t="t" r="r" b="b"/>
              <a:pathLst>
                <a:path w="938952" h="541909">
                  <a:moveTo>
                    <a:pt x="0" y="36068"/>
                  </a:moveTo>
                  <a:cubicBezTo>
                    <a:pt x="0" y="16129"/>
                    <a:pt x="27946" y="0"/>
                    <a:pt x="62494" y="0"/>
                  </a:cubicBezTo>
                  <a:lnTo>
                    <a:pt x="876458" y="0"/>
                  </a:lnTo>
                  <a:cubicBezTo>
                    <a:pt x="911006" y="0"/>
                    <a:pt x="938952" y="16129"/>
                    <a:pt x="938952" y="36068"/>
                  </a:cubicBezTo>
                  <a:lnTo>
                    <a:pt x="938952" y="505841"/>
                  </a:lnTo>
                  <a:cubicBezTo>
                    <a:pt x="938952" y="525780"/>
                    <a:pt x="911006" y="541909"/>
                    <a:pt x="876458" y="541909"/>
                  </a:cubicBezTo>
                  <a:lnTo>
                    <a:pt x="62494" y="541909"/>
                  </a:lnTo>
                  <a:cubicBezTo>
                    <a:pt x="27946" y="541909"/>
                    <a:pt x="0" y="525780"/>
                    <a:pt x="0" y="505841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34990" y="5419664"/>
            <a:ext cx="469325" cy="553890"/>
            <a:chOff x="0" y="0"/>
            <a:chExt cx="625767" cy="738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25767" cy="738520"/>
            </a:xfrm>
            <a:custGeom>
              <a:avLst/>
              <a:gdLst/>
              <a:ahLst/>
              <a:cxnLst/>
              <a:rect l="l" t="t" r="r" b="b"/>
              <a:pathLst>
                <a:path w="625767" h="738520">
                  <a:moveTo>
                    <a:pt x="0" y="0"/>
                  </a:moveTo>
                  <a:lnTo>
                    <a:pt x="625767" y="0"/>
                  </a:lnTo>
                  <a:lnTo>
                    <a:pt x="625767" y="738520"/>
                  </a:lnTo>
                  <a:lnTo>
                    <a:pt x="0" y="738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28575"/>
              <a:ext cx="625767" cy="709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4"/>
                </a:lnSpc>
              </a:pPr>
              <a:r>
                <a:rPr lang="en-US" sz="2724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456027" y="5424893"/>
            <a:ext cx="8800099" cy="548661"/>
            <a:chOff x="0" y="0"/>
            <a:chExt cx="11733465" cy="7315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733464" cy="731548"/>
            </a:xfrm>
            <a:custGeom>
              <a:avLst/>
              <a:gdLst/>
              <a:ahLst/>
              <a:cxnLst/>
              <a:rect l="l" t="t" r="r" b="b"/>
              <a:pathLst>
                <a:path w="11733464" h="731548">
                  <a:moveTo>
                    <a:pt x="0" y="0"/>
                  </a:moveTo>
                  <a:lnTo>
                    <a:pt x="11733464" y="0"/>
                  </a:lnTo>
                  <a:lnTo>
                    <a:pt x="11733464" y="731548"/>
                  </a:lnTo>
                  <a:lnTo>
                    <a:pt x="0" y="731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11733465" cy="760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6"/>
                </a:lnSpc>
              </a:pPr>
              <a:r>
                <a:rPr lang="en-US" sz="2724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Use-cases of TDD &amp; BDD in Pipelines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03386" y="6930926"/>
            <a:ext cx="938908" cy="19050"/>
            <a:chOff x="0" y="0"/>
            <a:chExt cx="1251878" cy="254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51863" cy="25400"/>
            </a:xfrm>
            <a:custGeom>
              <a:avLst/>
              <a:gdLst/>
              <a:ahLst/>
              <a:cxnLst/>
              <a:rect l="l" t="t" r="r" b="b"/>
              <a:pathLst>
                <a:path w="1251863" h="25400">
                  <a:moveTo>
                    <a:pt x="0" y="12700"/>
                  </a:moveTo>
                  <a:cubicBezTo>
                    <a:pt x="0" y="5715"/>
                    <a:pt x="9902" y="0"/>
                    <a:pt x="22005" y="0"/>
                  </a:cubicBezTo>
                  <a:lnTo>
                    <a:pt x="1229858" y="0"/>
                  </a:lnTo>
                  <a:cubicBezTo>
                    <a:pt x="1241961" y="0"/>
                    <a:pt x="1251863" y="5715"/>
                    <a:pt x="1251863" y="12700"/>
                  </a:cubicBezTo>
                  <a:cubicBezTo>
                    <a:pt x="1251863" y="19685"/>
                    <a:pt x="1241961" y="25400"/>
                    <a:pt x="1229858" y="25400"/>
                  </a:cubicBezTo>
                  <a:lnTo>
                    <a:pt x="22005" y="25400"/>
                  </a:lnTo>
                  <a:cubicBezTo>
                    <a:pt x="9902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2148" y="6737300"/>
            <a:ext cx="704246" cy="406450"/>
            <a:chOff x="0" y="0"/>
            <a:chExt cx="938994" cy="54193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38952" cy="541909"/>
            </a:xfrm>
            <a:custGeom>
              <a:avLst/>
              <a:gdLst/>
              <a:ahLst/>
              <a:cxnLst/>
              <a:rect l="l" t="t" r="r" b="b"/>
              <a:pathLst>
                <a:path w="938952" h="541909">
                  <a:moveTo>
                    <a:pt x="0" y="36068"/>
                  </a:moveTo>
                  <a:cubicBezTo>
                    <a:pt x="0" y="16129"/>
                    <a:pt x="27946" y="0"/>
                    <a:pt x="62494" y="0"/>
                  </a:cubicBezTo>
                  <a:lnTo>
                    <a:pt x="876458" y="0"/>
                  </a:lnTo>
                  <a:cubicBezTo>
                    <a:pt x="911006" y="0"/>
                    <a:pt x="938952" y="16129"/>
                    <a:pt x="938952" y="36068"/>
                  </a:cubicBezTo>
                  <a:lnTo>
                    <a:pt x="938952" y="505841"/>
                  </a:lnTo>
                  <a:cubicBezTo>
                    <a:pt x="938952" y="525780"/>
                    <a:pt x="911006" y="541909"/>
                    <a:pt x="876458" y="541909"/>
                  </a:cubicBezTo>
                  <a:lnTo>
                    <a:pt x="62494" y="541909"/>
                  </a:lnTo>
                  <a:cubicBezTo>
                    <a:pt x="27946" y="541909"/>
                    <a:pt x="0" y="525780"/>
                    <a:pt x="0" y="505841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9478" y="6663506"/>
            <a:ext cx="469325" cy="553890"/>
            <a:chOff x="0" y="0"/>
            <a:chExt cx="625767" cy="738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25767" cy="738520"/>
            </a:xfrm>
            <a:custGeom>
              <a:avLst/>
              <a:gdLst/>
              <a:ahLst/>
              <a:cxnLst/>
              <a:rect l="l" t="t" r="r" b="b"/>
              <a:pathLst>
                <a:path w="625767" h="738520">
                  <a:moveTo>
                    <a:pt x="0" y="0"/>
                  </a:moveTo>
                  <a:lnTo>
                    <a:pt x="625767" y="0"/>
                  </a:lnTo>
                  <a:lnTo>
                    <a:pt x="625767" y="738520"/>
                  </a:lnTo>
                  <a:lnTo>
                    <a:pt x="0" y="738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28575"/>
              <a:ext cx="625767" cy="709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4"/>
                </a:lnSpc>
              </a:pPr>
              <a:r>
                <a:rPr lang="en-US" sz="2724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456027" y="6702583"/>
            <a:ext cx="8103074" cy="548661"/>
            <a:chOff x="0" y="0"/>
            <a:chExt cx="10804099" cy="73154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804099" cy="731548"/>
            </a:xfrm>
            <a:custGeom>
              <a:avLst/>
              <a:gdLst/>
              <a:ahLst/>
              <a:cxnLst/>
              <a:rect l="l" t="t" r="r" b="b"/>
              <a:pathLst>
                <a:path w="10804099" h="731548">
                  <a:moveTo>
                    <a:pt x="0" y="0"/>
                  </a:moveTo>
                  <a:lnTo>
                    <a:pt x="10804099" y="0"/>
                  </a:lnTo>
                  <a:lnTo>
                    <a:pt x="10804099" y="731548"/>
                  </a:lnTo>
                  <a:lnTo>
                    <a:pt x="0" y="731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10804099" cy="760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6"/>
                </a:lnSpc>
              </a:pPr>
              <a:r>
                <a:rPr lang="en-US" sz="2724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Code Coverage &amp; Quality Analysis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03386" y="8208615"/>
            <a:ext cx="938908" cy="19050"/>
            <a:chOff x="0" y="0"/>
            <a:chExt cx="1251878" cy="25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51863" cy="25400"/>
            </a:xfrm>
            <a:custGeom>
              <a:avLst/>
              <a:gdLst/>
              <a:ahLst/>
              <a:cxnLst/>
              <a:rect l="l" t="t" r="r" b="b"/>
              <a:pathLst>
                <a:path w="1251863" h="25400">
                  <a:moveTo>
                    <a:pt x="0" y="12700"/>
                  </a:moveTo>
                  <a:cubicBezTo>
                    <a:pt x="0" y="5715"/>
                    <a:pt x="9902" y="0"/>
                    <a:pt x="22005" y="0"/>
                  </a:cubicBezTo>
                  <a:lnTo>
                    <a:pt x="1229858" y="0"/>
                  </a:lnTo>
                  <a:cubicBezTo>
                    <a:pt x="1241961" y="0"/>
                    <a:pt x="1251863" y="5715"/>
                    <a:pt x="1251863" y="12700"/>
                  </a:cubicBezTo>
                  <a:cubicBezTo>
                    <a:pt x="1251863" y="19685"/>
                    <a:pt x="1241961" y="25400"/>
                    <a:pt x="1229858" y="25400"/>
                  </a:cubicBezTo>
                  <a:lnTo>
                    <a:pt x="22005" y="25400"/>
                  </a:lnTo>
                  <a:cubicBezTo>
                    <a:pt x="9902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32148" y="8014990"/>
            <a:ext cx="704246" cy="406450"/>
            <a:chOff x="0" y="0"/>
            <a:chExt cx="938994" cy="54193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38952" cy="541909"/>
            </a:xfrm>
            <a:custGeom>
              <a:avLst/>
              <a:gdLst/>
              <a:ahLst/>
              <a:cxnLst/>
              <a:rect l="l" t="t" r="r" b="b"/>
              <a:pathLst>
                <a:path w="938952" h="541909">
                  <a:moveTo>
                    <a:pt x="0" y="36068"/>
                  </a:moveTo>
                  <a:cubicBezTo>
                    <a:pt x="0" y="16129"/>
                    <a:pt x="27946" y="0"/>
                    <a:pt x="62494" y="0"/>
                  </a:cubicBezTo>
                  <a:lnTo>
                    <a:pt x="876458" y="0"/>
                  </a:lnTo>
                  <a:cubicBezTo>
                    <a:pt x="911006" y="0"/>
                    <a:pt x="938952" y="16129"/>
                    <a:pt x="938952" y="36068"/>
                  </a:cubicBezTo>
                  <a:lnTo>
                    <a:pt x="938952" y="505841"/>
                  </a:lnTo>
                  <a:cubicBezTo>
                    <a:pt x="938952" y="525780"/>
                    <a:pt x="911006" y="541909"/>
                    <a:pt x="876458" y="541909"/>
                  </a:cubicBezTo>
                  <a:lnTo>
                    <a:pt x="62494" y="541909"/>
                  </a:lnTo>
                  <a:cubicBezTo>
                    <a:pt x="27946" y="541909"/>
                    <a:pt x="0" y="525780"/>
                    <a:pt x="0" y="505841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34990" y="7975043"/>
            <a:ext cx="469325" cy="553890"/>
            <a:chOff x="0" y="0"/>
            <a:chExt cx="625767" cy="738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25767" cy="738520"/>
            </a:xfrm>
            <a:custGeom>
              <a:avLst/>
              <a:gdLst/>
              <a:ahLst/>
              <a:cxnLst/>
              <a:rect l="l" t="t" r="r" b="b"/>
              <a:pathLst>
                <a:path w="625767" h="738520">
                  <a:moveTo>
                    <a:pt x="0" y="0"/>
                  </a:moveTo>
                  <a:lnTo>
                    <a:pt x="625767" y="0"/>
                  </a:lnTo>
                  <a:lnTo>
                    <a:pt x="625767" y="738520"/>
                  </a:lnTo>
                  <a:lnTo>
                    <a:pt x="0" y="738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28575"/>
              <a:ext cx="625767" cy="709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4"/>
                </a:lnSpc>
              </a:pPr>
              <a:r>
                <a:rPr lang="en-US" sz="2724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456027" y="7980272"/>
            <a:ext cx="9715540" cy="548661"/>
            <a:chOff x="0" y="0"/>
            <a:chExt cx="12954054" cy="73154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2954054" cy="731548"/>
            </a:xfrm>
            <a:custGeom>
              <a:avLst/>
              <a:gdLst/>
              <a:ahLst/>
              <a:cxnLst/>
              <a:rect l="l" t="t" r="r" b="b"/>
              <a:pathLst>
                <a:path w="12954054" h="731548">
                  <a:moveTo>
                    <a:pt x="0" y="0"/>
                  </a:moveTo>
                  <a:lnTo>
                    <a:pt x="12954054" y="0"/>
                  </a:lnTo>
                  <a:lnTo>
                    <a:pt x="12954054" y="731548"/>
                  </a:lnTo>
                  <a:lnTo>
                    <a:pt x="0" y="731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12954054" cy="760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6"/>
                </a:lnSpc>
              </a:pPr>
              <a:r>
                <a:rPr lang="en-US" sz="2724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TDD/BDD &amp; Integration Testing in CI/CD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03386" y="9486305"/>
            <a:ext cx="938908" cy="19050"/>
            <a:chOff x="0" y="0"/>
            <a:chExt cx="1251878" cy="25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251863" cy="25400"/>
            </a:xfrm>
            <a:custGeom>
              <a:avLst/>
              <a:gdLst/>
              <a:ahLst/>
              <a:cxnLst/>
              <a:rect l="l" t="t" r="r" b="b"/>
              <a:pathLst>
                <a:path w="1251863" h="25400">
                  <a:moveTo>
                    <a:pt x="0" y="12700"/>
                  </a:moveTo>
                  <a:cubicBezTo>
                    <a:pt x="0" y="5715"/>
                    <a:pt x="9902" y="0"/>
                    <a:pt x="22005" y="0"/>
                  </a:cubicBezTo>
                  <a:lnTo>
                    <a:pt x="1229858" y="0"/>
                  </a:lnTo>
                  <a:cubicBezTo>
                    <a:pt x="1241961" y="0"/>
                    <a:pt x="1251863" y="5715"/>
                    <a:pt x="1251863" y="12700"/>
                  </a:cubicBezTo>
                  <a:cubicBezTo>
                    <a:pt x="1251863" y="19685"/>
                    <a:pt x="1241961" y="25400"/>
                    <a:pt x="1229858" y="25400"/>
                  </a:cubicBezTo>
                  <a:lnTo>
                    <a:pt x="22005" y="25400"/>
                  </a:lnTo>
                  <a:cubicBezTo>
                    <a:pt x="9902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32148" y="9292679"/>
            <a:ext cx="704246" cy="406450"/>
            <a:chOff x="0" y="0"/>
            <a:chExt cx="938994" cy="54193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38952" cy="541909"/>
            </a:xfrm>
            <a:custGeom>
              <a:avLst/>
              <a:gdLst/>
              <a:ahLst/>
              <a:cxnLst/>
              <a:rect l="l" t="t" r="r" b="b"/>
              <a:pathLst>
                <a:path w="938952" h="541909">
                  <a:moveTo>
                    <a:pt x="0" y="36068"/>
                  </a:moveTo>
                  <a:cubicBezTo>
                    <a:pt x="0" y="16129"/>
                    <a:pt x="27946" y="0"/>
                    <a:pt x="62494" y="0"/>
                  </a:cubicBezTo>
                  <a:lnTo>
                    <a:pt x="876458" y="0"/>
                  </a:lnTo>
                  <a:cubicBezTo>
                    <a:pt x="911006" y="0"/>
                    <a:pt x="938952" y="16129"/>
                    <a:pt x="938952" y="36068"/>
                  </a:cubicBezTo>
                  <a:lnTo>
                    <a:pt x="938952" y="505841"/>
                  </a:lnTo>
                  <a:cubicBezTo>
                    <a:pt x="938952" y="525780"/>
                    <a:pt x="911006" y="541909"/>
                    <a:pt x="876458" y="541909"/>
                  </a:cubicBezTo>
                  <a:lnTo>
                    <a:pt x="62494" y="541909"/>
                  </a:lnTo>
                  <a:cubicBezTo>
                    <a:pt x="27946" y="541909"/>
                    <a:pt x="0" y="525780"/>
                    <a:pt x="0" y="505841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49478" y="9252833"/>
            <a:ext cx="469325" cy="553890"/>
            <a:chOff x="0" y="0"/>
            <a:chExt cx="625767" cy="73852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25767" cy="738520"/>
            </a:xfrm>
            <a:custGeom>
              <a:avLst/>
              <a:gdLst/>
              <a:ahLst/>
              <a:cxnLst/>
              <a:rect l="l" t="t" r="r" b="b"/>
              <a:pathLst>
                <a:path w="625767" h="738520">
                  <a:moveTo>
                    <a:pt x="0" y="0"/>
                  </a:moveTo>
                  <a:lnTo>
                    <a:pt x="625767" y="0"/>
                  </a:lnTo>
                  <a:lnTo>
                    <a:pt x="625767" y="738520"/>
                  </a:lnTo>
                  <a:lnTo>
                    <a:pt x="0" y="738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28575"/>
              <a:ext cx="625767" cy="709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4"/>
                </a:lnSpc>
              </a:pPr>
              <a:r>
                <a:rPr lang="en-US" sz="2724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7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456027" y="9150468"/>
            <a:ext cx="4695311" cy="548661"/>
            <a:chOff x="0" y="0"/>
            <a:chExt cx="6260415" cy="73154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260415" cy="731548"/>
            </a:xfrm>
            <a:custGeom>
              <a:avLst/>
              <a:gdLst/>
              <a:ahLst/>
              <a:cxnLst/>
              <a:rect l="l" t="t" r="r" b="b"/>
              <a:pathLst>
                <a:path w="6260415" h="731548">
                  <a:moveTo>
                    <a:pt x="0" y="0"/>
                  </a:moveTo>
                  <a:lnTo>
                    <a:pt x="6260415" y="0"/>
                  </a:lnTo>
                  <a:lnTo>
                    <a:pt x="6260415" y="731548"/>
                  </a:lnTo>
                  <a:lnTo>
                    <a:pt x="0" y="731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28575"/>
              <a:ext cx="6260415" cy="760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6"/>
                </a:lnSpc>
              </a:pPr>
              <a:r>
                <a:rPr lang="en-US" sz="2724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Hands-on Activity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2652" y="490036"/>
            <a:ext cx="9251994" cy="1010232"/>
            <a:chOff x="0" y="0"/>
            <a:chExt cx="12335992" cy="1346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35992" cy="1346976"/>
            </a:xfrm>
            <a:custGeom>
              <a:avLst/>
              <a:gdLst/>
              <a:ahLst/>
              <a:cxnLst/>
              <a:rect l="l" t="t" r="r" b="b"/>
              <a:pathLst>
                <a:path w="12335992" h="1346976">
                  <a:moveTo>
                    <a:pt x="0" y="0"/>
                  </a:moveTo>
                  <a:lnTo>
                    <a:pt x="12335992" y="0"/>
                  </a:lnTo>
                  <a:lnTo>
                    <a:pt x="12335992" y="1346976"/>
                  </a:lnTo>
                  <a:lnTo>
                    <a:pt x="0" y="13469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335992" cy="1394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90"/>
                </a:lnSpc>
              </a:pPr>
              <a:r>
                <a:rPr lang="en-US" sz="4524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Integration Testing Frameworks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2652" y="1523790"/>
            <a:ext cx="16802695" cy="1034095"/>
            <a:chOff x="0" y="0"/>
            <a:chExt cx="22403593" cy="1378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03594" cy="1378793"/>
            </a:xfrm>
            <a:custGeom>
              <a:avLst/>
              <a:gdLst/>
              <a:ahLst/>
              <a:cxnLst/>
              <a:rect l="l" t="t" r="r" b="b"/>
              <a:pathLst>
                <a:path w="22403594" h="1378793">
                  <a:moveTo>
                    <a:pt x="0" y="0"/>
                  </a:moveTo>
                  <a:lnTo>
                    <a:pt x="22403594" y="0"/>
                  </a:lnTo>
                  <a:lnTo>
                    <a:pt x="22403594" y="1378793"/>
                  </a:lnTo>
                  <a:lnTo>
                    <a:pt x="0" y="13787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2403593" cy="1483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76"/>
                </a:lnSpc>
              </a:pPr>
              <a:r>
                <a:rPr lang="en-US" sz="26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Integration testing ensures that combined modules work correctly by verifying data flow and interactions, unlike unit testing, which focuses on isolated components.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652" y="2758380"/>
            <a:ext cx="16802695" cy="3367831"/>
            <a:chOff x="0" y="0"/>
            <a:chExt cx="22403593" cy="44904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403561" cy="4490466"/>
            </a:xfrm>
            <a:custGeom>
              <a:avLst/>
              <a:gdLst/>
              <a:ahLst/>
              <a:cxnLst/>
              <a:rect l="l" t="t" r="r" b="b"/>
              <a:pathLst>
                <a:path w="22403561" h="4490466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22361144" y="0"/>
                  </a:lnTo>
                  <a:cubicBezTo>
                    <a:pt x="22384638" y="0"/>
                    <a:pt x="22403561" y="19050"/>
                    <a:pt x="22403561" y="42418"/>
                  </a:cubicBezTo>
                  <a:lnTo>
                    <a:pt x="22403561" y="4448048"/>
                  </a:lnTo>
                  <a:cubicBezTo>
                    <a:pt x="22403561" y="4471543"/>
                    <a:pt x="22384511" y="4490466"/>
                    <a:pt x="22361144" y="4490466"/>
                  </a:cubicBezTo>
                  <a:lnTo>
                    <a:pt x="42418" y="4490466"/>
                  </a:lnTo>
                  <a:cubicBezTo>
                    <a:pt x="18923" y="4490466"/>
                    <a:pt x="0" y="4471416"/>
                    <a:pt x="0" y="4448048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4732" y="2758380"/>
            <a:ext cx="3183136" cy="627376"/>
            <a:chOff x="0" y="0"/>
            <a:chExt cx="4244182" cy="8365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44182" cy="836501"/>
            </a:xfrm>
            <a:custGeom>
              <a:avLst/>
              <a:gdLst/>
              <a:ahLst/>
              <a:cxnLst/>
              <a:rect l="l" t="t" r="r" b="b"/>
              <a:pathLst>
                <a:path w="4244182" h="836501">
                  <a:moveTo>
                    <a:pt x="0" y="0"/>
                  </a:moveTo>
                  <a:lnTo>
                    <a:pt x="4244182" y="0"/>
                  </a:lnTo>
                  <a:lnTo>
                    <a:pt x="4244182" y="836501"/>
                  </a:lnTo>
                  <a:lnTo>
                    <a:pt x="0" y="8365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4244182" cy="8650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4"/>
                </a:lnSpc>
              </a:pPr>
              <a:r>
                <a:rPr lang="en-US" sz="30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Unit Testing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4732" y="3495526"/>
            <a:ext cx="16378535" cy="424309"/>
            <a:chOff x="0" y="0"/>
            <a:chExt cx="21838047" cy="5657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Tests </a:t>
              </a: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individual components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(e.g., a single function, class, or method).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4732" y="3994100"/>
            <a:ext cx="16378535" cy="424309"/>
            <a:chOff x="0" y="0"/>
            <a:chExt cx="21838047" cy="56574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Catches </a:t>
              </a: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bugs early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in development.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4732" y="4492675"/>
            <a:ext cx="16378535" cy="424309"/>
            <a:chOff x="0" y="0"/>
            <a:chExt cx="21838047" cy="5657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Ensures </a:t>
              </a: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each small part works correctly in isolation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4732" y="4991249"/>
            <a:ext cx="16378535" cy="424309"/>
            <a:chOff x="0" y="0"/>
            <a:chExt cx="21838047" cy="56574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Very fast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(runs in milliseconds).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4732" y="5489822"/>
            <a:ext cx="16378535" cy="424309"/>
            <a:chOff x="0" y="0"/>
            <a:chExt cx="21838047" cy="56574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Early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in development (after writing a unit).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42652" y="6338292"/>
            <a:ext cx="16802695" cy="3367831"/>
            <a:chOff x="0" y="0"/>
            <a:chExt cx="22403593" cy="44904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403561" cy="4490466"/>
            </a:xfrm>
            <a:custGeom>
              <a:avLst/>
              <a:gdLst/>
              <a:ahLst/>
              <a:cxnLst/>
              <a:rect l="l" t="t" r="r" b="b"/>
              <a:pathLst>
                <a:path w="22403561" h="4490466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22361144" y="0"/>
                  </a:lnTo>
                  <a:cubicBezTo>
                    <a:pt x="22384638" y="0"/>
                    <a:pt x="22403561" y="19050"/>
                    <a:pt x="22403561" y="42418"/>
                  </a:cubicBezTo>
                  <a:lnTo>
                    <a:pt x="22403561" y="4448048"/>
                  </a:lnTo>
                  <a:cubicBezTo>
                    <a:pt x="22403561" y="4471543"/>
                    <a:pt x="22384511" y="4490466"/>
                    <a:pt x="22361144" y="4490466"/>
                  </a:cubicBezTo>
                  <a:lnTo>
                    <a:pt x="42418" y="4490466"/>
                  </a:lnTo>
                  <a:cubicBezTo>
                    <a:pt x="18923" y="4490466"/>
                    <a:pt x="0" y="4471416"/>
                    <a:pt x="0" y="4448048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28700" y="6326236"/>
            <a:ext cx="3463692" cy="627376"/>
            <a:chOff x="0" y="0"/>
            <a:chExt cx="4618256" cy="83650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618256" cy="836501"/>
            </a:xfrm>
            <a:custGeom>
              <a:avLst/>
              <a:gdLst/>
              <a:ahLst/>
              <a:cxnLst/>
              <a:rect l="l" t="t" r="r" b="b"/>
              <a:pathLst>
                <a:path w="4618256" h="836501">
                  <a:moveTo>
                    <a:pt x="0" y="0"/>
                  </a:moveTo>
                  <a:lnTo>
                    <a:pt x="4618256" y="0"/>
                  </a:lnTo>
                  <a:lnTo>
                    <a:pt x="4618256" y="836501"/>
                  </a:lnTo>
                  <a:lnTo>
                    <a:pt x="0" y="8365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4618256" cy="8650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4"/>
                </a:lnSpc>
              </a:pPr>
              <a:r>
                <a:rPr lang="en-US" sz="30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Integration testing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4732" y="7075437"/>
            <a:ext cx="16378535" cy="424309"/>
            <a:chOff x="0" y="0"/>
            <a:chExt cx="21838047" cy="56574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Tests </a:t>
              </a: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interactions between multiple components/modules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(e.g., APIs, databases, services).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54732" y="7574012"/>
            <a:ext cx="16378535" cy="424309"/>
            <a:chOff x="0" y="0"/>
            <a:chExt cx="21838047" cy="56574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Detects </a:t>
              </a: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interface &amp; communication issues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54732" y="8072586"/>
            <a:ext cx="16378535" cy="424309"/>
            <a:chOff x="0" y="0"/>
            <a:chExt cx="21838047" cy="56574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Ensures </a:t>
              </a: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combined parts work together as expected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4732" y="8571160"/>
            <a:ext cx="16378535" cy="424309"/>
            <a:chOff x="0" y="0"/>
            <a:chExt cx="21838047" cy="56574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Slower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(depends on external systems).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4732" y="9069735"/>
            <a:ext cx="16378535" cy="424309"/>
            <a:chOff x="0" y="0"/>
            <a:chExt cx="21838047" cy="56574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838047" cy="565745"/>
            </a:xfrm>
            <a:custGeom>
              <a:avLst/>
              <a:gdLst/>
              <a:ahLst/>
              <a:cxnLst/>
              <a:rect l="l" t="t" r="r" b="b"/>
              <a:pathLst>
                <a:path w="21838047" h="565745">
                  <a:moveTo>
                    <a:pt x="0" y="0"/>
                  </a:moveTo>
                  <a:lnTo>
                    <a:pt x="21838047" y="0"/>
                  </a:lnTo>
                  <a:lnTo>
                    <a:pt x="21838047" y="565745"/>
                  </a:lnTo>
                  <a:lnTo>
                    <a:pt x="0" y="5657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21838047" cy="651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After unit testing</a:t>
              </a:r>
              <a:r>
                <a:rPr lang="en-US" sz="22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, before end-to-end (E2E) testing.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5841" y="582737"/>
            <a:ext cx="7827020" cy="891926"/>
            <a:chOff x="0" y="0"/>
            <a:chExt cx="10436027" cy="11892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36027" cy="1189235"/>
            </a:xfrm>
            <a:custGeom>
              <a:avLst/>
              <a:gdLst/>
              <a:ahLst/>
              <a:cxnLst/>
              <a:rect l="l" t="t" r="r" b="b"/>
              <a:pathLst>
                <a:path w="10436027" h="1189235">
                  <a:moveTo>
                    <a:pt x="0" y="0"/>
                  </a:moveTo>
                  <a:lnTo>
                    <a:pt x="10436027" y="0"/>
                  </a:lnTo>
                  <a:lnTo>
                    <a:pt x="10436027" y="1189235"/>
                  </a:lnTo>
                  <a:lnTo>
                    <a:pt x="0" y="11892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36027" cy="12273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37"/>
                </a:lnSpc>
              </a:pPr>
              <a:r>
                <a:rPr lang="en-US" sz="43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Popular Testing Frameworks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775841" y="1674762"/>
            <a:ext cx="554236" cy="554236"/>
          </a:xfrm>
          <a:custGeom>
            <a:avLst/>
            <a:gdLst/>
            <a:ahLst/>
            <a:cxnLst/>
            <a:rect l="l" t="t" r="r" b="b"/>
            <a:pathLst>
              <a:path w="554236" h="554236">
                <a:moveTo>
                  <a:pt x="0" y="0"/>
                </a:moveTo>
                <a:lnTo>
                  <a:pt x="554236" y="0"/>
                </a:lnTo>
                <a:lnTo>
                  <a:pt x="554236" y="554237"/>
                </a:lnTo>
                <a:lnTo>
                  <a:pt x="0" y="554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551682" y="1636067"/>
            <a:ext cx="3325416" cy="415529"/>
            <a:chOff x="0" y="0"/>
            <a:chExt cx="4433888" cy="5540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33888" cy="554038"/>
            </a:xfrm>
            <a:custGeom>
              <a:avLst/>
              <a:gdLst/>
              <a:ahLst/>
              <a:cxnLst/>
              <a:rect l="l" t="t" r="r" b="b"/>
              <a:pathLst>
                <a:path w="4433888" h="554038">
                  <a:moveTo>
                    <a:pt x="0" y="0"/>
                  </a:moveTo>
                  <a:lnTo>
                    <a:pt x="4433888" y="0"/>
                  </a:lnTo>
                  <a:lnTo>
                    <a:pt x="4433888" y="554038"/>
                  </a:lnTo>
                  <a:lnTo>
                    <a:pt x="0" y="554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433888" cy="5826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50"/>
                </a:lnSpc>
              </a:pPr>
              <a:r>
                <a:rPr lang="en-US" sz="25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Selenium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1682" y="2184499"/>
            <a:ext cx="15960478" cy="461552"/>
            <a:chOff x="0" y="0"/>
            <a:chExt cx="21280637" cy="6154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280637" cy="615403"/>
            </a:xfrm>
            <a:custGeom>
              <a:avLst/>
              <a:gdLst/>
              <a:ahLst/>
              <a:cxnLst/>
              <a:rect l="l" t="t" r="r" b="b"/>
              <a:pathLst>
                <a:path w="21280637" h="615403">
                  <a:moveTo>
                    <a:pt x="0" y="0"/>
                  </a:moveTo>
                  <a:lnTo>
                    <a:pt x="21280637" y="0"/>
                  </a:lnTo>
                  <a:lnTo>
                    <a:pt x="21280637" y="615403"/>
                  </a:lnTo>
                  <a:lnTo>
                    <a:pt x="0" y="615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21280637" cy="710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84"/>
                </a:lnSpc>
              </a:pPr>
              <a:r>
                <a:rPr lang="en-US" sz="25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Automates browser testing.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51682" y="2760761"/>
            <a:ext cx="15960478" cy="443359"/>
            <a:chOff x="0" y="0"/>
            <a:chExt cx="21280637" cy="5911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280637" cy="591145"/>
            </a:xfrm>
            <a:custGeom>
              <a:avLst/>
              <a:gdLst/>
              <a:ahLst/>
              <a:cxnLst/>
              <a:rect l="l" t="t" r="r" b="b"/>
              <a:pathLst>
                <a:path w="21280637" h="591145">
                  <a:moveTo>
                    <a:pt x="0" y="0"/>
                  </a:moveTo>
                  <a:lnTo>
                    <a:pt x="21280637" y="0"/>
                  </a:lnTo>
                  <a:lnTo>
                    <a:pt x="21280637" y="591145"/>
                  </a:lnTo>
                  <a:lnTo>
                    <a:pt x="0" y="591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21280637" cy="68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4820" lvl="1" indent="-157410" algn="l">
                <a:lnSpc>
                  <a:spcPts val="3401"/>
                </a:lnSpc>
                <a:buFont typeface="Arial"/>
                <a:buChar char="•"/>
              </a:pPr>
              <a:r>
                <a:rPr lang="en-US" sz="20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Use Case: </a:t>
              </a:r>
              <a:r>
                <a:rPr lang="en-US" sz="20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UI testing, validating front-end interactions, regression testing.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51682" y="3281660"/>
            <a:ext cx="15960478" cy="886718"/>
            <a:chOff x="0" y="0"/>
            <a:chExt cx="21280637" cy="11822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280637" cy="1182290"/>
            </a:xfrm>
            <a:custGeom>
              <a:avLst/>
              <a:gdLst/>
              <a:ahLst/>
              <a:cxnLst/>
              <a:rect l="l" t="t" r="r" b="b"/>
              <a:pathLst>
                <a:path w="21280637" h="1182290">
                  <a:moveTo>
                    <a:pt x="0" y="0"/>
                  </a:moveTo>
                  <a:lnTo>
                    <a:pt x="21280637" y="0"/>
                  </a:lnTo>
                  <a:lnTo>
                    <a:pt x="21280637" y="1182290"/>
                  </a:lnTo>
                  <a:lnTo>
                    <a:pt x="0" y="118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21280637" cy="1277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4820" lvl="1" indent="-157410" algn="l">
                <a:lnSpc>
                  <a:spcPts val="3401"/>
                </a:lnSpc>
                <a:buFont typeface="Arial"/>
                <a:buChar char="•"/>
              </a:pPr>
              <a:r>
                <a:rPr lang="en-US" sz="20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Key Features: </a:t>
              </a:r>
              <a:r>
                <a:rPr lang="en-US" sz="20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Supports multiple programming languages (Python, Java, C#), works with different browsers, integrates with CI/CD pipelines.</a:t>
              </a:r>
            </a:p>
          </p:txBody>
        </p:sp>
      </p:grpSp>
      <p:sp>
        <p:nvSpPr>
          <p:cNvPr id="22" name="Freeform 22" descr="preencoded.png"/>
          <p:cNvSpPr/>
          <p:nvPr/>
        </p:nvSpPr>
        <p:spPr>
          <a:xfrm>
            <a:off x="775841" y="4872037"/>
            <a:ext cx="554236" cy="554236"/>
          </a:xfrm>
          <a:custGeom>
            <a:avLst/>
            <a:gdLst/>
            <a:ahLst/>
            <a:cxnLst/>
            <a:rect l="l" t="t" r="r" b="b"/>
            <a:pathLst>
              <a:path w="554236" h="554236">
                <a:moveTo>
                  <a:pt x="0" y="0"/>
                </a:moveTo>
                <a:lnTo>
                  <a:pt x="554236" y="0"/>
                </a:lnTo>
                <a:lnTo>
                  <a:pt x="554236" y="554237"/>
                </a:lnTo>
                <a:lnTo>
                  <a:pt x="0" y="554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551682" y="4833342"/>
            <a:ext cx="3325416" cy="415529"/>
            <a:chOff x="0" y="0"/>
            <a:chExt cx="4433888" cy="5540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433888" cy="554038"/>
            </a:xfrm>
            <a:custGeom>
              <a:avLst/>
              <a:gdLst/>
              <a:ahLst/>
              <a:cxnLst/>
              <a:rect l="l" t="t" r="r" b="b"/>
              <a:pathLst>
                <a:path w="4433888" h="554038">
                  <a:moveTo>
                    <a:pt x="0" y="0"/>
                  </a:moveTo>
                  <a:lnTo>
                    <a:pt x="4433888" y="0"/>
                  </a:lnTo>
                  <a:lnTo>
                    <a:pt x="4433888" y="554038"/>
                  </a:lnTo>
                  <a:lnTo>
                    <a:pt x="0" y="554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4433888" cy="5826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50"/>
                </a:lnSpc>
              </a:pPr>
              <a:r>
                <a:rPr lang="en-US" sz="25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Cypress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51682" y="5381774"/>
            <a:ext cx="15960478" cy="461552"/>
            <a:chOff x="0" y="0"/>
            <a:chExt cx="21280637" cy="61540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280637" cy="615403"/>
            </a:xfrm>
            <a:custGeom>
              <a:avLst/>
              <a:gdLst/>
              <a:ahLst/>
              <a:cxnLst/>
              <a:rect l="l" t="t" r="r" b="b"/>
              <a:pathLst>
                <a:path w="21280637" h="615403">
                  <a:moveTo>
                    <a:pt x="0" y="0"/>
                  </a:moveTo>
                  <a:lnTo>
                    <a:pt x="21280637" y="0"/>
                  </a:lnTo>
                  <a:lnTo>
                    <a:pt x="21280637" y="615403"/>
                  </a:lnTo>
                  <a:lnTo>
                    <a:pt x="0" y="615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21280637" cy="710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84"/>
                </a:lnSpc>
              </a:pPr>
              <a:r>
                <a:rPr lang="en-US" sz="25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End-to-end testing for web apps.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51682" y="5958036"/>
            <a:ext cx="15960478" cy="443359"/>
            <a:chOff x="0" y="0"/>
            <a:chExt cx="21280637" cy="59114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280637" cy="591145"/>
            </a:xfrm>
            <a:custGeom>
              <a:avLst/>
              <a:gdLst/>
              <a:ahLst/>
              <a:cxnLst/>
              <a:rect l="l" t="t" r="r" b="b"/>
              <a:pathLst>
                <a:path w="21280637" h="591145">
                  <a:moveTo>
                    <a:pt x="0" y="0"/>
                  </a:moveTo>
                  <a:lnTo>
                    <a:pt x="21280637" y="0"/>
                  </a:lnTo>
                  <a:lnTo>
                    <a:pt x="21280637" y="591145"/>
                  </a:lnTo>
                  <a:lnTo>
                    <a:pt x="0" y="591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21280637" cy="68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4820" lvl="1" indent="-157410" algn="l">
                <a:lnSpc>
                  <a:spcPts val="3401"/>
                </a:lnSpc>
                <a:buFont typeface="Arial"/>
                <a:buChar char="•"/>
              </a:pPr>
              <a:r>
                <a:rPr lang="en-US" sz="20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Use Case: </a:t>
              </a:r>
              <a:r>
                <a:rPr lang="en-US" sz="20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Frontend testing, real-time reloading, debugging.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51682" y="6478935"/>
            <a:ext cx="15960478" cy="443359"/>
            <a:chOff x="0" y="0"/>
            <a:chExt cx="21280637" cy="59114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280637" cy="591145"/>
            </a:xfrm>
            <a:custGeom>
              <a:avLst/>
              <a:gdLst/>
              <a:ahLst/>
              <a:cxnLst/>
              <a:rect l="l" t="t" r="r" b="b"/>
              <a:pathLst>
                <a:path w="21280637" h="591145">
                  <a:moveTo>
                    <a:pt x="0" y="0"/>
                  </a:moveTo>
                  <a:lnTo>
                    <a:pt x="21280637" y="0"/>
                  </a:lnTo>
                  <a:lnTo>
                    <a:pt x="21280637" y="591145"/>
                  </a:lnTo>
                  <a:lnTo>
                    <a:pt x="0" y="591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21280637" cy="68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4820" lvl="1" indent="-157410" algn="l">
                <a:lnSpc>
                  <a:spcPts val="3401"/>
                </a:lnSpc>
                <a:buFont typeface="Arial"/>
                <a:buChar char="•"/>
              </a:pPr>
              <a:r>
                <a:rPr lang="en-US" sz="20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Key Features: </a:t>
              </a:r>
              <a:r>
                <a:rPr lang="en-US" sz="20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Fast execution, automatic waiting for elements, built-in mocking capabilities.</a:t>
              </a:r>
            </a:p>
          </p:txBody>
        </p:sp>
      </p:grpSp>
      <p:sp>
        <p:nvSpPr>
          <p:cNvPr id="35" name="Freeform 35" descr="preencoded.png"/>
          <p:cNvSpPr/>
          <p:nvPr/>
        </p:nvSpPr>
        <p:spPr>
          <a:xfrm>
            <a:off x="775841" y="7625954"/>
            <a:ext cx="554236" cy="554236"/>
          </a:xfrm>
          <a:custGeom>
            <a:avLst/>
            <a:gdLst/>
            <a:ahLst/>
            <a:cxnLst/>
            <a:rect l="l" t="t" r="r" b="b"/>
            <a:pathLst>
              <a:path w="554236" h="554236">
                <a:moveTo>
                  <a:pt x="0" y="0"/>
                </a:moveTo>
                <a:lnTo>
                  <a:pt x="554236" y="0"/>
                </a:lnTo>
                <a:lnTo>
                  <a:pt x="554236" y="554236"/>
                </a:lnTo>
                <a:lnTo>
                  <a:pt x="0" y="554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551682" y="7587257"/>
            <a:ext cx="3325416" cy="415529"/>
            <a:chOff x="0" y="0"/>
            <a:chExt cx="4433888" cy="55403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433888" cy="554038"/>
            </a:xfrm>
            <a:custGeom>
              <a:avLst/>
              <a:gdLst/>
              <a:ahLst/>
              <a:cxnLst/>
              <a:rect l="l" t="t" r="r" b="b"/>
              <a:pathLst>
                <a:path w="4433888" h="554038">
                  <a:moveTo>
                    <a:pt x="0" y="0"/>
                  </a:moveTo>
                  <a:lnTo>
                    <a:pt x="4433888" y="0"/>
                  </a:lnTo>
                  <a:lnTo>
                    <a:pt x="4433888" y="554038"/>
                  </a:lnTo>
                  <a:lnTo>
                    <a:pt x="0" y="554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4433888" cy="5826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50"/>
                </a:lnSpc>
              </a:pPr>
              <a:r>
                <a:rPr lang="en-US" sz="25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Postman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51682" y="8135690"/>
            <a:ext cx="15960478" cy="461552"/>
            <a:chOff x="0" y="0"/>
            <a:chExt cx="21280637" cy="61540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280637" cy="615403"/>
            </a:xfrm>
            <a:custGeom>
              <a:avLst/>
              <a:gdLst/>
              <a:ahLst/>
              <a:cxnLst/>
              <a:rect l="l" t="t" r="r" b="b"/>
              <a:pathLst>
                <a:path w="21280637" h="615403">
                  <a:moveTo>
                    <a:pt x="0" y="0"/>
                  </a:moveTo>
                  <a:lnTo>
                    <a:pt x="21280637" y="0"/>
                  </a:lnTo>
                  <a:lnTo>
                    <a:pt x="21280637" y="615403"/>
                  </a:lnTo>
                  <a:lnTo>
                    <a:pt x="0" y="615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0"/>
              <a:ext cx="21280637" cy="710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84"/>
                </a:lnSpc>
              </a:pPr>
              <a:r>
                <a:rPr lang="en-US" sz="2524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API integration testing.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51682" y="8711952"/>
            <a:ext cx="15960478" cy="443359"/>
            <a:chOff x="0" y="0"/>
            <a:chExt cx="21280637" cy="59114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280637" cy="591145"/>
            </a:xfrm>
            <a:custGeom>
              <a:avLst/>
              <a:gdLst/>
              <a:ahLst/>
              <a:cxnLst/>
              <a:rect l="l" t="t" r="r" b="b"/>
              <a:pathLst>
                <a:path w="21280637" h="591145">
                  <a:moveTo>
                    <a:pt x="0" y="0"/>
                  </a:moveTo>
                  <a:lnTo>
                    <a:pt x="21280637" y="0"/>
                  </a:lnTo>
                  <a:lnTo>
                    <a:pt x="21280637" y="591145"/>
                  </a:lnTo>
                  <a:lnTo>
                    <a:pt x="0" y="591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21280637" cy="68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4820" lvl="1" indent="-157410" algn="l">
                <a:lnSpc>
                  <a:spcPts val="3401"/>
                </a:lnSpc>
                <a:buFont typeface="Arial"/>
                <a:buChar char="•"/>
              </a:pPr>
              <a:r>
                <a:rPr lang="en-US" sz="20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Use Case: </a:t>
              </a:r>
              <a:r>
                <a:rPr lang="en-US" sz="20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API contract validation, integration testing between services.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51682" y="9232850"/>
            <a:ext cx="15960478" cy="443359"/>
            <a:chOff x="0" y="0"/>
            <a:chExt cx="21280637" cy="59114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280637" cy="591145"/>
            </a:xfrm>
            <a:custGeom>
              <a:avLst/>
              <a:gdLst/>
              <a:ahLst/>
              <a:cxnLst/>
              <a:rect l="l" t="t" r="r" b="b"/>
              <a:pathLst>
                <a:path w="21280637" h="591145">
                  <a:moveTo>
                    <a:pt x="0" y="0"/>
                  </a:moveTo>
                  <a:lnTo>
                    <a:pt x="21280637" y="0"/>
                  </a:lnTo>
                  <a:lnTo>
                    <a:pt x="21280637" y="591145"/>
                  </a:lnTo>
                  <a:lnTo>
                    <a:pt x="0" y="591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95250"/>
              <a:ext cx="21280637" cy="686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4820" lvl="1" indent="-157410" algn="l">
                <a:lnSpc>
                  <a:spcPts val="3401"/>
                </a:lnSpc>
                <a:buFont typeface="Arial"/>
                <a:buChar char="•"/>
              </a:pPr>
              <a:r>
                <a:rPr lang="en-US" sz="20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Key Features: </a:t>
              </a:r>
              <a:r>
                <a:rPr lang="en-US" sz="20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Provides collection runners, scripting capabilities, and CI/CD integration via Newman.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5914" y="507504"/>
            <a:ext cx="7775160" cy="793183"/>
            <a:chOff x="0" y="0"/>
            <a:chExt cx="10366880" cy="10575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66880" cy="1057577"/>
            </a:xfrm>
            <a:custGeom>
              <a:avLst/>
              <a:gdLst/>
              <a:ahLst/>
              <a:cxnLst/>
              <a:rect l="l" t="t" r="r" b="b"/>
              <a:pathLst>
                <a:path w="10366880" h="1057577">
                  <a:moveTo>
                    <a:pt x="0" y="0"/>
                  </a:moveTo>
                  <a:lnTo>
                    <a:pt x="10366880" y="0"/>
                  </a:lnTo>
                  <a:lnTo>
                    <a:pt x="10366880" y="1057577"/>
                  </a:lnTo>
                  <a:lnTo>
                    <a:pt x="0" y="10575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366880" cy="10956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72"/>
                </a:lnSpc>
              </a:pPr>
              <a:r>
                <a:rPr lang="en-US" sz="3924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Test-Driven Development (TDD)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5914" y="1453306"/>
            <a:ext cx="16996172" cy="403432"/>
            <a:chOff x="0" y="0"/>
            <a:chExt cx="22661563" cy="5379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61564" cy="537910"/>
            </a:xfrm>
            <a:custGeom>
              <a:avLst/>
              <a:gdLst/>
              <a:ahLst/>
              <a:cxnLst/>
              <a:rect l="l" t="t" r="r" b="b"/>
              <a:pathLst>
                <a:path w="22661564" h="537910">
                  <a:moveTo>
                    <a:pt x="0" y="0"/>
                  </a:moveTo>
                  <a:lnTo>
                    <a:pt x="22661564" y="0"/>
                  </a:lnTo>
                  <a:lnTo>
                    <a:pt x="22661564" y="537910"/>
                  </a:lnTo>
                  <a:lnTo>
                    <a:pt x="0" y="5379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2661563" cy="623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7440" lvl="1" indent="-168720" algn="l">
                <a:lnSpc>
                  <a:spcPts val="3599"/>
                </a:lnSpc>
                <a:buFont typeface="Arial"/>
                <a:buChar char="•"/>
              </a:pPr>
              <a:r>
                <a:rPr lang="en-US" sz="22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Test-Driven Development (TDD) is a software development approach where tests are written before the implementation code.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5914" y="1886991"/>
            <a:ext cx="16996172" cy="403432"/>
            <a:chOff x="0" y="0"/>
            <a:chExt cx="22661563" cy="5379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661564" cy="537910"/>
            </a:xfrm>
            <a:custGeom>
              <a:avLst/>
              <a:gdLst/>
              <a:ahLst/>
              <a:cxnLst/>
              <a:rect l="l" t="t" r="r" b="b"/>
              <a:pathLst>
                <a:path w="22661564" h="537910">
                  <a:moveTo>
                    <a:pt x="0" y="0"/>
                  </a:moveTo>
                  <a:lnTo>
                    <a:pt x="22661564" y="0"/>
                  </a:lnTo>
                  <a:lnTo>
                    <a:pt x="22661564" y="537910"/>
                  </a:lnTo>
                  <a:lnTo>
                    <a:pt x="0" y="5379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2661563" cy="623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7440" lvl="1" indent="-168720" algn="l">
                <a:lnSpc>
                  <a:spcPts val="3599"/>
                </a:lnSpc>
                <a:buFont typeface="Arial"/>
                <a:buChar char="•"/>
              </a:pPr>
              <a:r>
                <a:rPr lang="en-US" sz="22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It follows this cycle:</a:t>
              </a:r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6832003" y="3258129"/>
            <a:ext cx="2156323" cy="2754842"/>
          </a:xfrm>
          <a:custGeom>
            <a:avLst/>
            <a:gdLst/>
            <a:ahLst/>
            <a:cxnLst/>
            <a:rect l="l" t="t" r="r" b="b"/>
            <a:pathLst>
              <a:path w="2156323" h="2754842">
                <a:moveTo>
                  <a:pt x="0" y="0"/>
                </a:moveTo>
                <a:lnTo>
                  <a:pt x="2156323" y="0"/>
                </a:lnTo>
                <a:lnTo>
                  <a:pt x="2156323" y="2754842"/>
                </a:lnTo>
                <a:lnTo>
                  <a:pt x="0" y="2754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2760" b="-6653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8988326" y="4607124"/>
            <a:ext cx="311349" cy="389185"/>
            <a:chOff x="0" y="0"/>
            <a:chExt cx="415132" cy="5189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5132" cy="518913"/>
            </a:xfrm>
            <a:custGeom>
              <a:avLst/>
              <a:gdLst/>
              <a:ahLst/>
              <a:cxnLst/>
              <a:rect l="l" t="t" r="r" b="b"/>
              <a:pathLst>
                <a:path w="415132" h="518913">
                  <a:moveTo>
                    <a:pt x="0" y="0"/>
                  </a:moveTo>
                  <a:lnTo>
                    <a:pt x="415132" y="0"/>
                  </a:lnTo>
                  <a:lnTo>
                    <a:pt x="415132" y="518913"/>
                  </a:lnTo>
                  <a:lnTo>
                    <a:pt x="0" y="518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415132" cy="614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243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00049" y="6519119"/>
            <a:ext cx="311349" cy="389185"/>
            <a:chOff x="0" y="0"/>
            <a:chExt cx="415132" cy="5189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5132" cy="518913"/>
            </a:xfrm>
            <a:custGeom>
              <a:avLst/>
              <a:gdLst/>
              <a:ahLst/>
              <a:cxnLst/>
              <a:rect l="l" t="t" r="r" b="b"/>
              <a:pathLst>
                <a:path w="415132" h="518913">
                  <a:moveTo>
                    <a:pt x="0" y="0"/>
                  </a:moveTo>
                  <a:lnTo>
                    <a:pt x="415132" y="0"/>
                  </a:lnTo>
                  <a:lnTo>
                    <a:pt x="415132" y="518913"/>
                  </a:lnTo>
                  <a:lnTo>
                    <a:pt x="0" y="518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415132" cy="614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243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5914" y="6936879"/>
            <a:ext cx="2768204" cy="618300"/>
            <a:chOff x="0" y="0"/>
            <a:chExt cx="3690938" cy="82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90938" cy="824400"/>
            </a:xfrm>
            <a:custGeom>
              <a:avLst/>
              <a:gdLst/>
              <a:ahLst/>
              <a:cxnLst/>
              <a:rect l="l" t="t" r="r" b="b"/>
              <a:pathLst>
                <a:path w="3690938" h="824400">
                  <a:moveTo>
                    <a:pt x="0" y="0"/>
                  </a:moveTo>
                  <a:lnTo>
                    <a:pt x="3690938" y="0"/>
                  </a:lnTo>
                  <a:lnTo>
                    <a:pt x="3690938" y="824400"/>
                  </a:lnTo>
                  <a:lnTo>
                    <a:pt x="0" y="82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690938" cy="86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25"/>
                </a:lnSpc>
              </a:pPr>
              <a:r>
                <a:rPr lang="en-US" sz="3024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Why Use TDD?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45914" y="7559724"/>
            <a:ext cx="16996172" cy="430030"/>
            <a:chOff x="0" y="0"/>
            <a:chExt cx="22661563" cy="5733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661564" cy="573374"/>
            </a:xfrm>
            <a:custGeom>
              <a:avLst/>
              <a:gdLst/>
              <a:ahLst/>
              <a:cxnLst/>
              <a:rect l="l" t="t" r="r" b="b"/>
              <a:pathLst>
                <a:path w="22661564" h="573374">
                  <a:moveTo>
                    <a:pt x="0" y="0"/>
                  </a:moveTo>
                  <a:lnTo>
                    <a:pt x="22661564" y="0"/>
                  </a:lnTo>
                  <a:lnTo>
                    <a:pt x="22661564" y="573374"/>
                  </a:lnTo>
                  <a:lnTo>
                    <a:pt x="0" y="5733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0"/>
              <a:ext cx="22661563" cy="6686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52521" lvl="1" indent="-176261" algn="l">
                <a:lnSpc>
                  <a:spcPts val="3760"/>
                </a:lnSpc>
                <a:buFont typeface="Arial"/>
                <a:buChar char="•"/>
              </a:pPr>
              <a:r>
                <a:rPr lang="en-US" sz="23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Reduces bugs early by preventing issues before development.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5914" y="7993409"/>
            <a:ext cx="16996172" cy="430030"/>
            <a:chOff x="0" y="0"/>
            <a:chExt cx="22661563" cy="57337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661564" cy="573374"/>
            </a:xfrm>
            <a:custGeom>
              <a:avLst/>
              <a:gdLst/>
              <a:ahLst/>
              <a:cxnLst/>
              <a:rect l="l" t="t" r="r" b="b"/>
              <a:pathLst>
                <a:path w="22661564" h="573374">
                  <a:moveTo>
                    <a:pt x="0" y="0"/>
                  </a:moveTo>
                  <a:lnTo>
                    <a:pt x="22661564" y="0"/>
                  </a:lnTo>
                  <a:lnTo>
                    <a:pt x="22661564" y="573374"/>
                  </a:lnTo>
                  <a:lnTo>
                    <a:pt x="0" y="5733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0"/>
              <a:ext cx="22661563" cy="6686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52521" lvl="1" indent="-176261" algn="l">
                <a:lnSpc>
                  <a:spcPts val="3760"/>
                </a:lnSpc>
                <a:buFont typeface="Arial"/>
                <a:buChar char="•"/>
              </a:pPr>
              <a:r>
                <a:rPr lang="en-US" sz="23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Improves code quality by enforcing a modular design.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5914" y="10392966"/>
            <a:ext cx="16996172" cy="369094"/>
            <a:chOff x="0" y="0"/>
            <a:chExt cx="22661563" cy="49212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661564" cy="492125"/>
            </a:xfrm>
            <a:custGeom>
              <a:avLst/>
              <a:gdLst/>
              <a:ahLst/>
              <a:cxnLst/>
              <a:rect l="l" t="t" r="r" b="b"/>
              <a:pathLst>
                <a:path w="22661564" h="492125">
                  <a:moveTo>
                    <a:pt x="0" y="0"/>
                  </a:moveTo>
                  <a:lnTo>
                    <a:pt x="22661564" y="0"/>
                  </a:lnTo>
                  <a:lnTo>
                    <a:pt x="22661564" y="492125"/>
                  </a:lnTo>
                  <a:lnTo>
                    <a:pt x="0" y="492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22661563" cy="5492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16793" lvl="1" indent="-108396" algn="l">
                <a:lnSpc>
                  <a:spcPts val="2312"/>
                </a:lnSpc>
                <a:buFont typeface="Arial"/>
                <a:buChar char="•"/>
              </a:pPr>
              <a:r>
                <a:rPr lang="en-US" sz="14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Makes refactoring easier, allowing code changes with confidence.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673135" y="4200063"/>
            <a:ext cx="2923750" cy="531768"/>
            <a:chOff x="0" y="0"/>
            <a:chExt cx="3898334" cy="70902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898334" cy="709024"/>
            </a:xfrm>
            <a:custGeom>
              <a:avLst/>
              <a:gdLst/>
              <a:ahLst/>
              <a:cxnLst/>
              <a:rect l="l" t="t" r="r" b="b"/>
              <a:pathLst>
                <a:path w="3898334" h="709024">
                  <a:moveTo>
                    <a:pt x="0" y="0"/>
                  </a:moveTo>
                  <a:lnTo>
                    <a:pt x="3898334" y="0"/>
                  </a:lnTo>
                  <a:lnTo>
                    <a:pt x="3898334" y="709024"/>
                  </a:lnTo>
                  <a:lnTo>
                    <a:pt x="0" y="7090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3898334" cy="737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3"/>
                </a:lnSpc>
              </a:pPr>
              <a:r>
                <a:rPr lang="en-US" sz="26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RED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673135" y="4822909"/>
            <a:ext cx="2923750" cy="403432"/>
            <a:chOff x="0" y="0"/>
            <a:chExt cx="3898334" cy="53791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98334" cy="537910"/>
            </a:xfrm>
            <a:custGeom>
              <a:avLst/>
              <a:gdLst/>
              <a:ahLst/>
              <a:cxnLst/>
              <a:rect l="l" t="t" r="r" b="b"/>
              <a:pathLst>
                <a:path w="3898334" h="537910">
                  <a:moveTo>
                    <a:pt x="0" y="0"/>
                  </a:moveTo>
                  <a:lnTo>
                    <a:pt x="3898334" y="0"/>
                  </a:lnTo>
                  <a:lnTo>
                    <a:pt x="3898334" y="537910"/>
                  </a:lnTo>
                  <a:lnTo>
                    <a:pt x="0" y="5379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3898334" cy="623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2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Write a failing test.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39889" y="2256085"/>
            <a:ext cx="2208223" cy="508041"/>
            <a:chOff x="0" y="0"/>
            <a:chExt cx="2944297" cy="67738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944297" cy="677387"/>
            </a:xfrm>
            <a:custGeom>
              <a:avLst/>
              <a:gdLst/>
              <a:ahLst/>
              <a:cxnLst/>
              <a:rect l="l" t="t" r="r" b="b"/>
              <a:pathLst>
                <a:path w="2944297" h="677387">
                  <a:moveTo>
                    <a:pt x="0" y="0"/>
                  </a:moveTo>
                  <a:lnTo>
                    <a:pt x="2944297" y="0"/>
                  </a:lnTo>
                  <a:lnTo>
                    <a:pt x="2944297" y="677387"/>
                  </a:lnTo>
                  <a:lnTo>
                    <a:pt x="0" y="677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2944297" cy="705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8"/>
                </a:lnSpc>
              </a:pPr>
              <a:r>
                <a:rPr lang="en-US" sz="25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GREEN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395982" y="2805094"/>
            <a:ext cx="3826090" cy="386360"/>
            <a:chOff x="0" y="0"/>
            <a:chExt cx="5101453" cy="51514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101453" cy="515146"/>
            </a:xfrm>
            <a:custGeom>
              <a:avLst/>
              <a:gdLst/>
              <a:ahLst/>
              <a:cxnLst/>
              <a:rect l="l" t="t" r="r" b="b"/>
              <a:pathLst>
                <a:path w="5101453" h="515146">
                  <a:moveTo>
                    <a:pt x="0" y="0"/>
                  </a:moveTo>
                  <a:lnTo>
                    <a:pt x="5101453" y="0"/>
                  </a:lnTo>
                  <a:lnTo>
                    <a:pt x="5101453" y="515146"/>
                  </a:lnTo>
                  <a:lnTo>
                    <a:pt x="0" y="5151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5101453" cy="6008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8"/>
                </a:lnSpc>
              </a:pPr>
              <a:r>
                <a:rPr lang="en-US" sz="21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Write code to pass the test.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874343" y="4200063"/>
            <a:ext cx="2931071" cy="470111"/>
            <a:chOff x="0" y="0"/>
            <a:chExt cx="3908095" cy="62681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908094" cy="626815"/>
            </a:xfrm>
            <a:custGeom>
              <a:avLst/>
              <a:gdLst/>
              <a:ahLst/>
              <a:cxnLst/>
              <a:rect l="l" t="t" r="r" b="b"/>
              <a:pathLst>
                <a:path w="3908094" h="626815">
                  <a:moveTo>
                    <a:pt x="0" y="0"/>
                  </a:moveTo>
                  <a:lnTo>
                    <a:pt x="3908094" y="0"/>
                  </a:lnTo>
                  <a:lnTo>
                    <a:pt x="3908094" y="626815"/>
                  </a:lnTo>
                  <a:lnTo>
                    <a:pt x="0" y="626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3908095" cy="655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0"/>
                </a:lnSpc>
              </a:pPr>
              <a:r>
                <a:rPr lang="en-US" sz="23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REFACTOR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874343" y="4715523"/>
            <a:ext cx="2931071" cy="352214"/>
            <a:chOff x="0" y="0"/>
            <a:chExt cx="3908095" cy="46961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908094" cy="469619"/>
            </a:xfrm>
            <a:custGeom>
              <a:avLst/>
              <a:gdLst/>
              <a:ahLst/>
              <a:cxnLst/>
              <a:rect l="l" t="t" r="r" b="b"/>
              <a:pathLst>
                <a:path w="3908094" h="469619">
                  <a:moveTo>
                    <a:pt x="0" y="0"/>
                  </a:moveTo>
                  <a:lnTo>
                    <a:pt x="3908094" y="0"/>
                  </a:lnTo>
                  <a:lnTo>
                    <a:pt x="3908094" y="469619"/>
                  </a:lnTo>
                  <a:lnTo>
                    <a:pt x="0" y="469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3908095" cy="555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6"/>
                </a:lnSpc>
              </a:pPr>
              <a:r>
                <a:rPr lang="en-US" sz="19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Improve code structure.</a:t>
              </a:r>
            </a:p>
          </p:txBody>
        </p:sp>
      </p:grpSp>
      <p:sp>
        <p:nvSpPr>
          <p:cNvPr id="52" name="Freeform 52" descr="preencoded.png"/>
          <p:cNvSpPr/>
          <p:nvPr/>
        </p:nvSpPr>
        <p:spPr>
          <a:xfrm rot="7081556">
            <a:off x="9494530" y="3516925"/>
            <a:ext cx="2156323" cy="2754842"/>
          </a:xfrm>
          <a:custGeom>
            <a:avLst/>
            <a:gdLst/>
            <a:ahLst/>
            <a:cxnLst/>
            <a:rect l="l" t="t" r="r" b="b"/>
            <a:pathLst>
              <a:path w="2156323" h="2754842">
                <a:moveTo>
                  <a:pt x="0" y="0"/>
                </a:moveTo>
                <a:lnTo>
                  <a:pt x="2156324" y="0"/>
                </a:lnTo>
                <a:lnTo>
                  <a:pt x="2156324" y="2754842"/>
                </a:lnTo>
                <a:lnTo>
                  <a:pt x="0" y="2754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2760" b="-665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Freeform 53" descr="preencoded.png"/>
          <p:cNvSpPr/>
          <p:nvPr/>
        </p:nvSpPr>
        <p:spPr>
          <a:xfrm rot="3504185">
            <a:off x="8230865" y="2604956"/>
            <a:ext cx="2156323" cy="2776801"/>
          </a:xfrm>
          <a:custGeom>
            <a:avLst/>
            <a:gdLst/>
            <a:ahLst/>
            <a:cxnLst/>
            <a:rect l="l" t="t" r="r" b="b"/>
            <a:pathLst>
              <a:path w="2156323" h="2776801">
                <a:moveTo>
                  <a:pt x="0" y="0"/>
                </a:moveTo>
                <a:lnTo>
                  <a:pt x="2156324" y="0"/>
                </a:lnTo>
                <a:lnTo>
                  <a:pt x="2156324" y="2776801"/>
                </a:lnTo>
                <a:lnTo>
                  <a:pt x="0" y="2776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8" r="-114057" b="-6653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1544" y="724049"/>
            <a:ext cx="10866835" cy="941104"/>
            <a:chOff x="0" y="0"/>
            <a:chExt cx="14489113" cy="1254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89114" cy="1254805"/>
            </a:xfrm>
            <a:custGeom>
              <a:avLst/>
              <a:gdLst/>
              <a:ahLst/>
              <a:cxnLst/>
              <a:rect l="l" t="t" r="r" b="b"/>
              <a:pathLst>
                <a:path w="14489114" h="1254805">
                  <a:moveTo>
                    <a:pt x="0" y="0"/>
                  </a:moveTo>
                  <a:lnTo>
                    <a:pt x="14489114" y="0"/>
                  </a:lnTo>
                  <a:lnTo>
                    <a:pt x="14489114" y="1254805"/>
                  </a:lnTo>
                  <a:lnTo>
                    <a:pt x="0" y="1254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4489113" cy="1311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9"/>
                </a:lnSpc>
              </a:pPr>
              <a:r>
                <a:rPr lang="en-US" sz="4625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Hands-on Activity: TDD approach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1544" y="2073325"/>
            <a:ext cx="16444912" cy="526405"/>
            <a:chOff x="0" y="0"/>
            <a:chExt cx="21926550" cy="7018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26550" cy="701873"/>
            </a:xfrm>
            <a:custGeom>
              <a:avLst/>
              <a:gdLst/>
              <a:ahLst/>
              <a:cxnLst/>
              <a:rect l="l" t="t" r="r" b="b"/>
              <a:pathLst>
                <a:path w="21926550" h="701873">
                  <a:moveTo>
                    <a:pt x="0" y="0"/>
                  </a:moveTo>
                  <a:lnTo>
                    <a:pt x="21926550" y="0"/>
                  </a:lnTo>
                  <a:lnTo>
                    <a:pt x="21926550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926550" cy="80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46"/>
                </a:lnSpc>
              </a:pPr>
              <a:r>
                <a:rPr lang="en-US" sz="27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Build a simple calculator using TDD.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1544" y="2895897"/>
            <a:ext cx="16444912" cy="526405"/>
            <a:chOff x="0" y="0"/>
            <a:chExt cx="21926550" cy="7018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26550" cy="701873"/>
            </a:xfrm>
            <a:custGeom>
              <a:avLst/>
              <a:gdLst/>
              <a:ahLst/>
              <a:cxnLst/>
              <a:rect l="l" t="t" r="r" b="b"/>
              <a:pathLst>
                <a:path w="21926550" h="701873">
                  <a:moveTo>
                    <a:pt x="0" y="0"/>
                  </a:moveTo>
                  <a:lnTo>
                    <a:pt x="21926550" y="0"/>
                  </a:lnTo>
                  <a:lnTo>
                    <a:pt x="21926550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926550" cy="797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1213" lvl="1" indent="-170606" algn="l">
                <a:lnSpc>
                  <a:spcPts val="3633"/>
                </a:lnSpc>
                <a:buFont typeface="Arial"/>
                <a:buChar char="•"/>
              </a:pPr>
              <a:r>
                <a:rPr lang="en-US" sz="22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Set up Python environment with pytest.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1544" y="3514427"/>
            <a:ext cx="16444912" cy="526405"/>
            <a:chOff x="0" y="0"/>
            <a:chExt cx="21926550" cy="7018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26550" cy="701873"/>
            </a:xfrm>
            <a:custGeom>
              <a:avLst/>
              <a:gdLst/>
              <a:ahLst/>
              <a:cxnLst/>
              <a:rect l="l" t="t" r="r" b="b"/>
              <a:pathLst>
                <a:path w="21926550" h="701873">
                  <a:moveTo>
                    <a:pt x="0" y="0"/>
                  </a:moveTo>
                  <a:lnTo>
                    <a:pt x="21926550" y="0"/>
                  </a:lnTo>
                  <a:lnTo>
                    <a:pt x="21926550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21926550" cy="797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1213" lvl="1" indent="-170606" algn="l">
                <a:lnSpc>
                  <a:spcPts val="3633"/>
                </a:lnSpc>
                <a:buFont typeface="Arial"/>
                <a:buChar char="•"/>
              </a:pPr>
              <a:r>
                <a:rPr lang="en-US" sz="22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Write a failing test, then minimal code to pass.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1544" y="4132957"/>
            <a:ext cx="16444912" cy="526405"/>
            <a:chOff x="0" y="0"/>
            <a:chExt cx="21926550" cy="7018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26550" cy="701873"/>
            </a:xfrm>
            <a:custGeom>
              <a:avLst/>
              <a:gdLst/>
              <a:ahLst/>
              <a:cxnLst/>
              <a:rect l="l" t="t" r="r" b="b"/>
              <a:pathLst>
                <a:path w="21926550" h="701873">
                  <a:moveTo>
                    <a:pt x="0" y="0"/>
                  </a:moveTo>
                  <a:lnTo>
                    <a:pt x="21926550" y="0"/>
                  </a:lnTo>
                  <a:lnTo>
                    <a:pt x="21926550" y="701873"/>
                  </a:lnTo>
                  <a:lnTo>
                    <a:pt x="0" y="701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1926550" cy="7971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1213" lvl="1" indent="-170606" algn="l">
                <a:lnSpc>
                  <a:spcPts val="3633"/>
                </a:lnSpc>
                <a:buFont typeface="Arial"/>
                <a:buChar char="•"/>
              </a:pPr>
              <a:r>
                <a:rPr lang="en-US" sz="22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Refactor without breaking the test.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29712" y="4955530"/>
            <a:ext cx="28575" cy="4607570"/>
            <a:chOff x="0" y="0"/>
            <a:chExt cx="38100" cy="61434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100" cy="6143371"/>
            </a:xfrm>
            <a:custGeom>
              <a:avLst/>
              <a:gdLst/>
              <a:ahLst/>
              <a:cxnLst/>
              <a:rect l="l" t="t" r="r" b="b"/>
              <a:pathLst>
                <a:path w="38100" h="614337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124321"/>
                  </a:lnTo>
                  <a:cubicBezTo>
                    <a:pt x="38100" y="6134862"/>
                    <a:pt x="29591" y="6143371"/>
                    <a:pt x="19050" y="6143371"/>
                  </a:cubicBezTo>
                  <a:cubicBezTo>
                    <a:pt x="8509" y="6143371"/>
                    <a:pt x="0" y="6134862"/>
                    <a:pt x="0" y="6124321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86576" y="5533579"/>
            <a:ext cx="789831" cy="28575"/>
            <a:chOff x="0" y="0"/>
            <a:chExt cx="1053108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3084" cy="38100"/>
            </a:xfrm>
            <a:custGeom>
              <a:avLst/>
              <a:gdLst/>
              <a:ahLst/>
              <a:cxnLst/>
              <a:rect l="l" t="t" r="r" b="b"/>
              <a:pathLst>
                <a:path w="105308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34034" y="0"/>
                  </a:lnTo>
                  <a:cubicBezTo>
                    <a:pt x="1044575" y="0"/>
                    <a:pt x="1053084" y="8509"/>
                    <a:pt x="1053084" y="19050"/>
                  </a:cubicBezTo>
                  <a:cubicBezTo>
                    <a:pt x="1053084" y="29591"/>
                    <a:pt x="1044575" y="38100"/>
                    <a:pt x="10340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847832" y="5251698"/>
            <a:ext cx="592336" cy="592336"/>
            <a:chOff x="0" y="0"/>
            <a:chExt cx="789782" cy="78978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89813" cy="789813"/>
            </a:xfrm>
            <a:custGeom>
              <a:avLst/>
              <a:gdLst/>
              <a:ahLst/>
              <a:cxnLst/>
              <a:rect l="l" t="t" r="r" b="b"/>
              <a:pathLst>
                <a:path w="789813" h="789813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737108" y="0"/>
                  </a:lnTo>
                  <a:cubicBezTo>
                    <a:pt x="766191" y="0"/>
                    <a:pt x="789813" y="23622"/>
                    <a:pt x="789813" y="52705"/>
                  </a:cubicBezTo>
                  <a:lnTo>
                    <a:pt x="789813" y="737108"/>
                  </a:lnTo>
                  <a:cubicBezTo>
                    <a:pt x="789813" y="766191"/>
                    <a:pt x="766191" y="789813"/>
                    <a:pt x="737108" y="789813"/>
                  </a:cubicBezTo>
                  <a:lnTo>
                    <a:pt x="52705" y="789813"/>
                  </a:lnTo>
                  <a:cubicBezTo>
                    <a:pt x="23622" y="789813"/>
                    <a:pt x="0" y="766191"/>
                    <a:pt x="0" y="737108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46580" y="5301035"/>
            <a:ext cx="394841" cy="493663"/>
            <a:chOff x="0" y="0"/>
            <a:chExt cx="526455" cy="6582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6455" cy="658217"/>
            </a:xfrm>
            <a:custGeom>
              <a:avLst/>
              <a:gdLst/>
              <a:ahLst/>
              <a:cxnLst/>
              <a:rect l="l" t="t" r="r" b="b"/>
              <a:pathLst>
                <a:path w="526455" h="658217">
                  <a:moveTo>
                    <a:pt x="0" y="0"/>
                  </a:moveTo>
                  <a:lnTo>
                    <a:pt x="526455" y="0"/>
                  </a:lnTo>
                  <a:lnTo>
                    <a:pt x="526455" y="658217"/>
                  </a:lnTo>
                  <a:lnTo>
                    <a:pt x="0" y="658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38100"/>
              <a:ext cx="526455" cy="620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30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36430" y="5218808"/>
            <a:ext cx="3291185" cy="411212"/>
            <a:chOff x="0" y="0"/>
            <a:chExt cx="4388247" cy="54828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88247" cy="548283"/>
            </a:xfrm>
            <a:custGeom>
              <a:avLst/>
              <a:gdLst/>
              <a:ahLst/>
              <a:cxnLst/>
              <a:rect l="l" t="t" r="r" b="b"/>
              <a:pathLst>
                <a:path w="4388247" h="548283">
                  <a:moveTo>
                    <a:pt x="0" y="0"/>
                  </a:moveTo>
                  <a:lnTo>
                    <a:pt x="4388247" y="0"/>
                  </a:lnTo>
                  <a:lnTo>
                    <a:pt x="4388247" y="548283"/>
                  </a:lnTo>
                  <a:lnTo>
                    <a:pt x="0" y="5482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4388247" cy="567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187"/>
                </a:lnSpc>
              </a:pPr>
              <a:r>
                <a:rPr lang="en-US" sz="25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Write Failing Test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11592" y="6849964"/>
            <a:ext cx="789831" cy="28575"/>
            <a:chOff x="0" y="0"/>
            <a:chExt cx="1053108" cy="381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3084" cy="38100"/>
            </a:xfrm>
            <a:custGeom>
              <a:avLst/>
              <a:gdLst/>
              <a:ahLst/>
              <a:cxnLst/>
              <a:rect l="l" t="t" r="r" b="b"/>
              <a:pathLst>
                <a:path w="105308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34034" y="0"/>
                  </a:lnTo>
                  <a:cubicBezTo>
                    <a:pt x="1044575" y="0"/>
                    <a:pt x="1053084" y="8509"/>
                    <a:pt x="1053084" y="19050"/>
                  </a:cubicBezTo>
                  <a:cubicBezTo>
                    <a:pt x="1053084" y="29591"/>
                    <a:pt x="1044575" y="38100"/>
                    <a:pt x="10340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847832" y="6568082"/>
            <a:ext cx="592336" cy="592336"/>
            <a:chOff x="0" y="0"/>
            <a:chExt cx="789782" cy="78978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89813" cy="789813"/>
            </a:xfrm>
            <a:custGeom>
              <a:avLst/>
              <a:gdLst/>
              <a:ahLst/>
              <a:cxnLst/>
              <a:rect l="l" t="t" r="r" b="b"/>
              <a:pathLst>
                <a:path w="789813" h="789813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737108" y="0"/>
                  </a:lnTo>
                  <a:cubicBezTo>
                    <a:pt x="766191" y="0"/>
                    <a:pt x="789813" y="23622"/>
                    <a:pt x="789813" y="52705"/>
                  </a:cubicBezTo>
                  <a:lnTo>
                    <a:pt x="789813" y="737108"/>
                  </a:lnTo>
                  <a:cubicBezTo>
                    <a:pt x="789813" y="766191"/>
                    <a:pt x="766191" y="789813"/>
                    <a:pt x="737108" y="789813"/>
                  </a:cubicBezTo>
                  <a:lnTo>
                    <a:pt x="52705" y="789813"/>
                  </a:lnTo>
                  <a:cubicBezTo>
                    <a:pt x="23622" y="789813"/>
                    <a:pt x="0" y="766191"/>
                    <a:pt x="0" y="737108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946580" y="6617419"/>
            <a:ext cx="394841" cy="493663"/>
            <a:chOff x="0" y="0"/>
            <a:chExt cx="526455" cy="65821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26455" cy="658217"/>
            </a:xfrm>
            <a:custGeom>
              <a:avLst/>
              <a:gdLst/>
              <a:ahLst/>
              <a:cxnLst/>
              <a:rect l="l" t="t" r="r" b="b"/>
              <a:pathLst>
                <a:path w="526455" h="658217">
                  <a:moveTo>
                    <a:pt x="0" y="0"/>
                  </a:moveTo>
                  <a:lnTo>
                    <a:pt x="526455" y="0"/>
                  </a:lnTo>
                  <a:lnTo>
                    <a:pt x="526455" y="658217"/>
                  </a:lnTo>
                  <a:lnTo>
                    <a:pt x="0" y="658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38100"/>
              <a:ext cx="526455" cy="620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30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60385" y="6535191"/>
            <a:ext cx="3477220" cy="411212"/>
            <a:chOff x="0" y="0"/>
            <a:chExt cx="4636293" cy="5482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636293" cy="548283"/>
            </a:xfrm>
            <a:custGeom>
              <a:avLst/>
              <a:gdLst/>
              <a:ahLst/>
              <a:cxnLst/>
              <a:rect l="l" t="t" r="r" b="b"/>
              <a:pathLst>
                <a:path w="4636293" h="548283">
                  <a:moveTo>
                    <a:pt x="0" y="0"/>
                  </a:moveTo>
                  <a:lnTo>
                    <a:pt x="4636293" y="0"/>
                  </a:lnTo>
                  <a:lnTo>
                    <a:pt x="4636293" y="548283"/>
                  </a:lnTo>
                  <a:lnTo>
                    <a:pt x="0" y="5482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4636293" cy="567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Write Minimum Code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86576" y="8034784"/>
            <a:ext cx="789831" cy="28575"/>
            <a:chOff x="0" y="0"/>
            <a:chExt cx="1053108" cy="381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53084" cy="38100"/>
            </a:xfrm>
            <a:custGeom>
              <a:avLst/>
              <a:gdLst/>
              <a:ahLst/>
              <a:cxnLst/>
              <a:rect l="l" t="t" r="r" b="b"/>
              <a:pathLst>
                <a:path w="105308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34034" y="0"/>
                  </a:lnTo>
                  <a:cubicBezTo>
                    <a:pt x="1044575" y="0"/>
                    <a:pt x="1053084" y="8509"/>
                    <a:pt x="1053084" y="19050"/>
                  </a:cubicBezTo>
                  <a:cubicBezTo>
                    <a:pt x="1053084" y="29591"/>
                    <a:pt x="1044575" y="38100"/>
                    <a:pt x="10340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47832" y="7752904"/>
            <a:ext cx="592336" cy="592336"/>
            <a:chOff x="0" y="0"/>
            <a:chExt cx="789782" cy="78978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89813" cy="789813"/>
            </a:xfrm>
            <a:custGeom>
              <a:avLst/>
              <a:gdLst/>
              <a:ahLst/>
              <a:cxnLst/>
              <a:rect l="l" t="t" r="r" b="b"/>
              <a:pathLst>
                <a:path w="789813" h="789813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737108" y="0"/>
                  </a:lnTo>
                  <a:cubicBezTo>
                    <a:pt x="766191" y="0"/>
                    <a:pt x="789813" y="23622"/>
                    <a:pt x="789813" y="52705"/>
                  </a:cubicBezTo>
                  <a:lnTo>
                    <a:pt x="789813" y="737108"/>
                  </a:lnTo>
                  <a:cubicBezTo>
                    <a:pt x="789813" y="766191"/>
                    <a:pt x="766191" y="789813"/>
                    <a:pt x="737108" y="789813"/>
                  </a:cubicBezTo>
                  <a:lnTo>
                    <a:pt x="52705" y="789813"/>
                  </a:lnTo>
                  <a:cubicBezTo>
                    <a:pt x="23622" y="789813"/>
                    <a:pt x="0" y="766191"/>
                    <a:pt x="0" y="737108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946580" y="7802240"/>
            <a:ext cx="394841" cy="493663"/>
            <a:chOff x="0" y="0"/>
            <a:chExt cx="526455" cy="65821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26455" cy="658217"/>
            </a:xfrm>
            <a:custGeom>
              <a:avLst/>
              <a:gdLst/>
              <a:ahLst/>
              <a:cxnLst/>
              <a:rect l="l" t="t" r="r" b="b"/>
              <a:pathLst>
                <a:path w="526455" h="658217">
                  <a:moveTo>
                    <a:pt x="0" y="0"/>
                  </a:moveTo>
                  <a:lnTo>
                    <a:pt x="526455" y="0"/>
                  </a:lnTo>
                  <a:lnTo>
                    <a:pt x="526455" y="658217"/>
                  </a:lnTo>
                  <a:lnTo>
                    <a:pt x="0" y="658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38100"/>
              <a:ext cx="526455" cy="620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30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536430" y="7720012"/>
            <a:ext cx="3291185" cy="411212"/>
            <a:chOff x="0" y="0"/>
            <a:chExt cx="4388247" cy="54828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388247" cy="548283"/>
            </a:xfrm>
            <a:custGeom>
              <a:avLst/>
              <a:gdLst/>
              <a:ahLst/>
              <a:cxnLst/>
              <a:rect l="l" t="t" r="r" b="b"/>
              <a:pathLst>
                <a:path w="4388247" h="548283">
                  <a:moveTo>
                    <a:pt x="0" y="0"/>
                  </a:moveTo>
                  <a:lnTo>
                    <a:pt x="4388247" y="0"/>
                  </a:lnTo>
                  <a:lnTo>
                    <a:pt x="4388247" y="548283"/>
                  </a:lnTo>
                  <a:lnTo>
                    <a:pt x="0" y="5482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4388247" cy="567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187"/>
                </a:lnSpc>
              </a:pPr>
              <a:r>
                <a:rPr lang="en-US" sz="2562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Refactor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4067" y="706190"/>
            <a:ext cx="11081445" cy="780306"/>
            <a:chOff x="0" y="0"/>
            <a:chExt cx="14775260" cy="1040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75259" cy="1040408"/>
            </a:xfrm>
            <a:custGeom>
              <a:avLst/>
              <a:gdLst/>
              <a:ahLst/>
              <a:cxnLst/>
              <a:rect l="l" t="t" r="r" b="b"/>
              <a:pathLst>
                <a:path w="14775259" h="1040408">
                  <a:moveTo>
                    <a:pt x="0" y="0"/>
                  </a:moveTo>
                  <a:lnTo>
                    <a:pt x="14775259" y="0"/>
                  </a:lnTo>
                  <a:lnTo>
                    <a:pt x="14775259" y="1040408"/>
                  </a:lnTo>
                  <a:lnTo>
                    <a:pt x="0" y="1040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775260" cy="1088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5"/>
                </a:lnSpc>
              </a:pPr>
              <a:r>
                <a:rPr lang="en-US" sz="4875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Behavior-Driven Development (BDD)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4067" y="1861096"/>
            <a:ext cx="3746301" cy="468214"/>
            <a:chOff x="0" y="0"/>
            <a:chExt cx="4995068" cy="624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5068" cy="624285"/>
            </a:xfrm>
            <a:custGeom>
              <a:avLst/>
              <a:gdLst/>
              <a:ahLst/>
              <a:cxnLst/>
              <a:rect l="l" t="t" r="r" b="b"/>
              <a:pathLst>
                <a:path w="4995068" h="624285">
                  <a:moveTo>
                    <a:pt x="0" y="0"/>
                  </a:moveTo>
                  <a:lnTo>
                    <a:pt x="4995068" y="0"/>
                  </a:lnTo>
                  <a:lnTo>
                    <a:pt x="4995068" y="624285"/>
                  </a:lnTo>
                  <a:lnTo>
                    <a:pt x="0" y="624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995068" cy="652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93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What is BDD?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4068" y="2703910"/>
            <a:ext cx="16539865" cy="1001946"/>
            <a:chOff x="0" y="0"/>
            <a:chExt cx="22053153" cy="13359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53153" cy="1335928"/>
            </a:xfrm>
            <a:custGeom>
              <a:avLst/>
              <a:gdLst/>
              <a:ahLst/>
              <a:cxnLst/>
              <a:rect l="l" t="t" r="r" b="b"/>
              <a:pathLst>
                <a:path w="22053153" h="1335928">
                  <a:moveTo>
                    <a:pt x="0" y="0"/>
                  </a:moveTo>
                  <a:lnTo>
                    <a:pt x="22053153" y="0"/>
                  </a:lnTo>
                  <a:lnTo>
                    <a:pt x="22053153" y="1335928"/>
                  </a:lnTo>
                  <a:lnTo>
                    <a:pt x="0" y="1335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2053153" cy="1431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2"/>
                </a:lnSpc>
              </a:pPr>
              <a:r>
                <a:rPr lang="en-US" sz="26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Behavior-Driven Development (BDD) builds upon TDD by writing tests in plain English using </a:t>
              </a:r>
              <a:r>
                <a:rPr lang="en-US" sz="26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Gherkin syntax</a:t>
              </a:r>
              <a:r>
                <a:rPr lang="en-US" sz="26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, making them understandable for developers, testers, and business stakeholders.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31367" y="4233416"/>
            <a:ext cx="5450532" cy="468214"/>
            <a:chOff x="0" y="0"/>
            <a:chExt cx="7267377" cy="6242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7377" cy="624285"/>
            </a:xfrm>
            <a:custGeom>
              <a:avLst/>
              <a:gdLst/>
              <a:ahLst/>
              <a:cxnLst/>
              <a:rect l="l" t="t" r="r" b="b"/>
              <a:pathLst>
                <a:path w="7267377" h="624285">
                  <a:moveTo>
                    <a:pt x="0" y="0"/>
                  </a:moveTo>
                  <a:lnTo>
                    <a:pt x="7267377" y="0"/>
                  </a:lnTo>
                  <a:lnTo>
                    <a:pt x="7267377" y="624285"/>
                  </a:lnTo>
                  <a:lnTo>
                    <a:pt x="0" y="624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7267377" cy="652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25"/>
                </a:lnSpc>
              </a:pPr>
              <a:r>
                <a:rPr lang="en-US" sz="293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Example: User Login Feature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4067" y="4982468"/>
            <a:ext cx="7965281" cy="2771180"/>
            <a:chOff x="0" y="0"/>
            <a:chExt cx="10620375" cy="369490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20375" cy="3694938"/>
            </a:xfrm>
            <a:custGeom>
              <a:avLst/>
              <a:gdLst/>
              <a:ahLst/>
              <a:cxnLst/>
              <a:rect l="l" t="t" r="r" b="b"/>
              <a:pathLst>
                <a:path w="10620375" h="3694938">
                  <a:moveTo>
                    <a:pt x="0" y="49911"/>
                  </a:moveTo>
                  <a:cubicBezTo>
                    <a:pt x="0" y="22352"/>
                    <a:pt x="22352" y="0"/>
                    <a:pt x="49911" y="0"/>
                  </a:cubicBezTo>
                  <a:lnTo>
                    <a:pt x="10570464" y="0"/>
                  </a:lnTo>
                  <a:cubicBezTo>
                    <a:pt x="10598023" y="0"/>
                    <a:pt x="10620375" y="22352"/>
                    <a:pt x="10620375" y="49911"/>
                  </a:cubicBezTo>
                  <a:lnTo>
                    <a:pt x="10620375" y="3644900"/>
                  </a:lnTo>
                  <a:cubicBezTo>
                    <a:pt x="10620375" y="3672459"/>
                    <a:pt x="10598023" y="3694811"/>
                    <a:pt x="10570464" y="3694811"/>
                  </a:cubicBezTo>
                  <a:lnTo>
                    <a:pt x="49911" y="3694811"/>
                  </a:lnTo>
                  <a:cubicBezTo>
                    <a:pt x="22352" y="3694938"/>
                    <a:pt x="0" y="3672586"/>
                    <a:pt x="0" y="3644900"/>
                  </a:cubicBezTo>
                  <a:close/>
                </a:path>
              </a:pathLst>
            </a:custGeom>
            <a:solidFill>
              <a:srgbClr val="F3E3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61715" y="4982467"/>
            <a:ext cx="7989986" cy="3443093"/>
            <a:chOff x="0" y="0"/>
            <a:chExt cx="10653315" cy="45907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53268" cy="4590822"/>
            </a:xfrm>
            <a:custGeom>
              <a:avLst/>
              <a:gdLst/>
              <a:ahLst/>
              <a:cxnLst/>
              <a:rect l="l" t="t" r="r" b="b"/>
              <a:pathLst>
                <a:path w="10653268" h="4590822">
                  <a:moveTo>
                    <a:pt x="0" y="62013"/>
                  </a:moveTo>
                  <a:cubicBezTo>
                    <a:pt x="0" y="27772"/>
                    <a:pt x="22352" y="0"/>
                    <a:pt x="49911" y="0"/>
                  </a:cubicBezTo>
                  <a:lnTo>
                    <a:pt x="10603357" y="0"/>
                  </a:lnTo>
                  <a:cubicBezTo>
                    <a:pt x="10630915" y="0"/>
                    <a:pt x="10653268" y="27772"/>
                    <a:pt x="10653268" y="62013"/>
                  </a:cubicBezTo>
                  <a:lnTo>
                    <a:pt x="10653268" y="4528659"/>
                  </a:lnTo>
                  <a:cubicBezTo>
                    <a:pt x="10653268" y="4562900"/>
                    <a:pt x="10630915" y="4590671"/>
                    <a:pt x="10603357" y="4590671"/>
                  </a:cubicBezTo>
                  <a:lnTo>
                    <a:pt x="49911" y="4590671"/>
                  </a:lnTo>
                  <a:cubicBezTo>
                    <a:pt x="22352" y="4590822"/>
                    <a:pt x="0" y="4563058"/>
                    <a:pt x="0" y="4528659"/>
                  </a:cubicBezTo>
                  <a:close/>
                </a:path>
              </a:pathLst>
            </a:custGeom>
            <a:solidFill>
              <a:srgbClr val="F3E3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11449" y="5169694"/>
            <a:ext cx="7490520" cy="2956892"/>
            <a:chOff x="0" y="0"/>
            <a:chExt cx="9987360" cy="39425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987360" cy="3942523"/>
            </a:xfrm>
            <a:custGeom>
              <a:avLst/>
              <a:gdLst/>
              <a:ahLst/>
              <a:cxnLst/>
              <a:rect l="l" t="t" r="r" b="b"/>
              <a:pathLst>
                <a:path w="9987360" h="3942523">
                  <a:moveTo>
                    <a:pt x="0" y="0"/>
                  </a:moveTo>
                  <a:lnTo>
                    <a:pt x="9987360" y="0"/>
                  </a:lnTo>
                  <a:lnTo>
                    <a:pt x="9987360" y="3942523"/>
                  </a:lnTo>
                  <a:lnTo>
                    <a:pt x="0" y="39425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42875"/>
              <a:ext cx="9987360" cy="4085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31"/>
                </a:lnSpc>
              </a:pPr>
              <a:r>
                <a:rPr lang="en-US" sz="24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Feature: User Login</a:t>
              </a:r>
            </a:p>
            <a:p>
              <a:pPr algn="l">
                <a:lnSpc>
                  <a:spcPts val="3931"/>
                </a:lnSpc>
              </a:pPr>
              <a:endParaRPr lang="en-US" sz="2437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931"/>
                </a:lnSpc>
              </a:pPr>
              <a:r>
                <a:rPr lang="en-US" sz="24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Scenario: Successful login</a:t>
              </a:r>
            </a:p>
            <a:p>
              <a:pPr algn="l">
                <a:lnSpc>
                  <a:spcPts val="3931"/>
                </a:lnSpc>
              </a:pPr>
              <a:r>
                <a:rPr lang="en-US" sz="24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Given I am on the login page</a:t>
              </a:r>
            </a:p>
            <a:p>
              <a:pPr algn="l">
                <a:lnSpc>
                  <a:spcPts val="3931"/>
                </a:lnSpc>
              </a:pPr>
              <a:r>
                <a:rPr lang="en-US" sz="24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When I enter valid credentials</a:t>
              </a:r>
            </a:p>
            <a:p>
              <a:pPr algn="l">
                <a:lnSpc>
                  <a:spcPts val="3931"/>
                </a:lnSpc>
              </a:pPr>
              <a:r>
                <a:rPr lang="en-US" sz="24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Then I should see the dashboard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242922" y="4233416"/>
            <a:ext cx="4395639" cy="468214"/>
            <a:chOff x="0" y="0"/>
            <a:chExt cx="5860852" cy="62428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860852" cy="624285"/>
            </a:xfrm>
            <a:custGeom>
              <a:avLst/>
              <a:gdLst/>
              <a:ahLst/>
              <a:cxnLst/>
              <a:rect l="l" t="t" r="r" b="b"/>
              <a:pathLst>
                <a:path w="5860852" h="624285">
                  <a:moveTo>
                    <a:pt x="0" y="0"/>
                  </a:moveTo>
                  <a:lnTo>
                    <a:pt x="5860852" y="0"/>
                  </a:lnTo>
                  <a:lnTo>
                    <a:pt x="5860852" y="624285"/>
                  </a:lnTo>
                  <a:lnTo>
                    <a:pt x="0" y="624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5860852" cy="652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25"/>
                </a:lnSpc>
              </a:pPr>
              <a:r>
                <a:rPr lang="en-US" sz="293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Key Gherkin Keywords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04524" y="4977705"/>
            <a:ext cx="9003511" cy="4327029"/>
            <a:chOff x="0" y="0"/>
            <a:chExt cx="12004681" cy="57693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004681" cy="5769356"/>
            </a:xfrm>
            <a:custGeom>
              <a:avLst/>
              <a:gdLst/>
              <a:ahLst/>
              <a:cxnLst/>
              <a:rect l="l" t="t" r="r" b="b"/>
              <a:pathLst>
                <a:path w="12004681" h="5769356">
                  <a:moveTo>
                    <a:pt x="0" y="56261"/>
                  </a:moveTo>
                  <a:cubicBezTo>
                    <a:pt x="0" y="25146"/>
                    <a:pt x="28533" y="0"/>
                    <a:pt x="63662" y="0"/>
                  </a:cubicBezTo>
                  <a:lnTo>
                    <a:pt x="11941019" y="0"/>
                  </a:lnTo>
                  <a:lnTo>
                    <a:pt x="11941019" y="6350"/>
                  </a:lnTo>
                  <a:lnTo>
                    <a:pt x="11941019" y="0"/>
                  </a:lnTo>
                  <a:cubicBezTo>
                    <a:pt x="11976148" y="0"/>
                    <a:pt x="12004681" y="25146"/>
                    <a:pt x="12004681" y="56261"/>
                  </a:cubicBezTo>
                  <a:lnTo>
                    <a:pt x="11997512" y="56261"/>
                  </a:lnTo>
                  <a:lnTo>
                    <a:pt x="12004681" y="56261"/>
                  </a:lnTo>
                  <a:lnTo>
                    <a:pt x="12004681" y="5713095"/>
                  </a:lnTo>
                  <a:lnTo>
                    <a:pt x="11997512" y="5713095"/>
                  </a:lnTo>
                  <a:lnTo>
                    <a:pt x="12004681" y="5713095"/>
                  </a:lnTo>
                  <a:cubicBezTo>
                    <a:pt x="12004681" y="5744210"/>
                    <a:pt x="11976148" y="5769356"/>
                    <a:pt x="11941019" y="5769356"/>
                  </a:cubicBezTo>
                  <a:lnTo>
                    <a:pt x="11941019" y="5763006"/>
                  </a:lnTo>
                  <a:lnTo>
                    <a:pt x="11941019" y="5769356"/>
                  </a:lnTo>
                  <a:lnTo>
                    <a:pt x="63662" y="5769356"/>
                  </a:lnTo>
                  <a:lnTo>
                    <a:pt x="63662" y="5763006"/>
                  </a:lnTo>
                  <a:lnTo>
                    <a:pt x="63662" y="5769356"/>
                  </a:lnTo>
                  <a:cubicBezTo>
                    <a:pt x="28533" y="5769356"/>
                    <a:pt x="0" y="5744210"/>
                    <a:pt x="0" y="5713095"/>
                  </a:cubicBezTo>
                  <a:lnTo>
                    <a:pt x="0" y="56261"/>
                  </a:lnTo>
                  <a:lnTo>
                    <a:pt x="7169" y="56261"/>
                  </a:lnTo>
                  <a:lnTo>
                    <a:pt x="0" y="56261"/>
                  </a:lnTo>
                  <a:moveTo>
                    <a:pt x="14338" y="56261"/>
                  </a:moveTo>
                  <a:lnTo>
                    <a:pt x="14338" y="5713095"/>
                  </a:lnTo>
                  <a:lnTo>
                    <a:pt x="7169" y="5713095"/>
                  </a:lnTo>
                  <a:lnTo>
                    <a:pt x="14338" y="5713095"/>
                  </a:lnTo>
                  <a:cubicBezTo>
                    <a:pt x="14338" y="5737225"/>
                    <a:pt x="36419" y="5756656"/>
                    <a:pt x="63662" y="5756656"/>
                  </a:cubicBezTo>
                  <a:lnTo>
                    <a:pt x="11941019" y="5756656"/>
                  </a:lnTo>
                  <a:cubicBezTo>
                    <a:pt x="11968262" y="5756656"/>
                    <a:pt x="11990343" y="5737098"/>
                    <a:pt x="11990343" y="5713095"/>
                  </a:cubicBezTo>
                  <a:lnTo>
                    <a:pt x="11990343" y="56261"/>
                  </a:lnTo>
                  <a:cubicBezTo>
                    <a:pt x="11990343" y="32131"/>
                    <a:pt x="11968262" y="12700"/>
                    <a:pt x="11941019" y="12700"/>
                  </a:cubicBezTo>
                  <a:lnTo>
                    <a:pt x="63662" y="12700"/>
                  </a:lnTo>
                  <a:lnTo>
                    <a:pt x="63662" y="6350"/>
                  </a:lnTo>
                  <a:lnTo>
                    <a:pt x="63662" y="12700"/>
                  </a:lnTo>
                  <a:cubicBezTo>
                    <a:pt x="36419" y="12700"/>
                    <a:pt x="14338" y="32258"/>
                    <a:pt x="14338" y="56261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20655" y="4991992"/>
            <a:ext cx="8971250" cy="708720"/>
            <a:chOff x="0" y="0"/>
            <a:chExt cx="11961666" cy="9449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961667" cy="945007"/>
            </a:xfrm>
            <a:custGeom>
              <a:avLst/>
              <a:gdLst/>
              <a:ahLst/>
              <a:cxnLst/>
              <a:rect l="l" t="t" r="r" b="b"/>
              <a:pathLst>
                <a:path w="11961667" h="945007">
                  <a:moveTo>
                    <a:pt x="0" y="0"/>
                  </a:moveTo>
                  <a:lnTo>
                    <a:pt x="11961667" y="0"/>
                  </a:lnTo>
                  <a:lnTo>
                    <a:pt x="11961667" y="945007"/>
                  </a:lnTo>
                  <a:lnTo>
                    <a:pt x="0" y="9450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98522" y="5151239"/>
            <a:ext cx="3524516" cy="551439"/>
            <a:chOff x="0" y="0"/>
            <a:chExt cx="4699354" cy="7352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699354" cy="735252"/>
            </a:xfrm>
            <a:custGeom>
              <a:avLst/>
              <a:gdLst/>
              <a:ahLst/>
              <a:cxnLst/>
              <a:rect l="l" t="t" r="r" b="b"/>
              <a:pathLst>
                <a:path w="4699354" h="735252">
                  <a:moveTo>
                    <a:pt x="0" y="0"/>
                  </a:moveTo>
                  <a:lnTo>
                    <a:pt x="4699354" y="0"/>
                  </a:lnTo>
                  <a:lnTo>
                    <a:pt x="4699354" y="735252"/>
                  </a:lnTo>
                  <a:lnTo>
                    <a:pt x="0" y="7352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699354" cy="773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9"/>
                </a:lnSpc>
              </a:pPr>
              <a:r>
                <a:rPr lang="en-US" sz="273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Keyword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734784" y="5143500"/>
            <a:ext cx="3524516" cy="551439"/>
            <a:chOff x="0" y="0"/>
            <a:chExt cx="4699354" cy="7352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99354" cy="735252"/>
            </a:xfrm>
            <a:custGeom>
              <a:avLst/>
              <a:gdLst/>
              <a:ahLst/>
              <a:cxnLst/>
              <a:rect l="l" t="t" r="r" b="b"/>
              <a:pathLst>
                <a:path w="4699354" h="735252">
                  <a:moveTo>
                    <a:pt x="0" y="0"/>
                  </a:moveTo>
                  <a:lnTo>
                    <a:pt x="4699354" y="0"/>
                  </a:lnTo>
                  <a:lnTo>
                    <a:pt x="4699354" y="735252"/>
                  </a:lnTo>
                  <a:lnTo>
                    <a:pt x="0" y="7352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699354" cy="773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9"/>
                </a:lnSpc>
              </a:pPr>
              <a:r>
                <a:rPr lang="en-US" sz="273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Meaning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20655" y="5700712"/>
            <a:ext cx="8971250" cy="717947"/>
            <a:chOff x="0" y="0"/>
            <a:chExt cx="11961666" cy="95726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961667" cy="957326"/>
            </a:xfrm>
            <a:custGeom>
              <a:avLst/>
              <a:gdLst/>
              <a:ahLst/>
              <a:cxnLst/>
              <a:rect l="l" t="t" r="r" b="b"/>
              <a:pathLst>
                <a:path w="11961667" h="957326">
                  <a:moveTo>
                    <a:pt x="0" y="0"/>
                  </a:moveTo>
                  <a:lnTo>
                    <a:pt x="11961667" y="0"/>
                  </a:lnTo>
                  <a:lnTo>
                    <a:pt x="11961667" y="957326"/>
                  </a:lnTo>
                  <a:lnTo>
                    <a:pt x="0" y="957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02603" y="5859959"/>
            <a:ext cx="3916353" cy="428781"/>
            <a:chOff x="0" y="0"/>
            <a:chExt cx="5221804" cy="5717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0"/>
                </a:lnSpc>
              </a:pPr>
              <a:r>
                <a:rPr lang="en-US" sz="23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Feature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777473" y="5827954"/>
            <a:ext cx="4214431" cy="428781"/>
            <a:chOff x="0" y="0"/>
            <a:chExt cx="5619242" cy="5717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19242" cy="571708"/>
            </a:xfrm>
            <a:custGeom>
              <a:avLst/>
              <a:gdLst/>
              <a:ahLst/>
              <a:cxnLst/>
              <a:rect l="l" t="t" r="r" b="b"/>
              <a:pathLst>
                <a:path w="5619242" h="571708">
                  <a:moveTo>
                    <a:pt x="0" y="0"/>
                  </a:moveTo>
                  <a:lnTo>
                    <a:pt x="5619242" y="0"/>
                  </a:lnTo>
                  <a:lnTo>
                    <a:pt x="5619242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0"/>
              <a:ext cx="5619242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0"/>
                </a:lnSpc>
              </a:pPr>
              <a:r>
                <a:rPr lang="en-US" sz="23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Describes what we are testing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20655" y="6418660"/>
            <a:ext cx="8971250" cy="717947"/>
            <a:chOff x="0" y="0"/>
            <a:chExt cx="11961666" cy="95726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961667" cy="957326"/>
            </a:xfrm>
            <a:custGeom>
              <a:avLst/>
              <a:gdLst/>
              <a:ahLst/>
              <a:cxnLst/>
              <a:rect l="l" t="t" r="r" b="b"/>
              <a:pathLst>
                <a:path w="11961667" h="957326">
                  <a:moveTo>
                    <a:pt x="0" y="0"/>
                  </a:moveTo>
                  <a:lnTo>
                    <a:pt x="11961667" y="0"/>
                  </a:lnTo>
                  <a:lnTo>
                    <a:pt x="11961667" y="957326"/>
                  </a:lnTo>
                  <a:lnTo>
                    <a:pt x="0" y="95732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302603" y="6577905"/>
            <a:ext cx="3916353" cy="428781"/>
            <a:chOff x="0" y="0"/>
            <a:chExt cx="5221804" cy="5717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0"/>
                </a:lnSpc>
              </a:pPr>
              <a:r>
                <a:rPr lang="en-US" sz="23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Scenario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793604" y="6581970"/>
            <a:ext cx="3916353" cy="428781"/>
            <a:chOff x="0" y="0"/>
            <a:chExt cx="5221804" cy="57170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0"/>
                </a:lnSpc>
              </a:pPr>
              <a:r>
                <a:rPr lang="en-US" sz="23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 specific case we are testing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020655" y="7136606"/>
            <a:ext cx="8971250" cy="717947"/>
            <a:chOff x="0" y="0"/>
            <a:chExt cx="11961666" cy="95726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961667" cy="957326"/>
            </a:xfrm>
            <a:custGeom>
              <a:avLst/>
              <a:gdLst/>
              <a:ahLst/>
              <a:cxnLst/>
              <a:rect l="l" t="t" r="r" b="b"/>
              <a:pathLst>
                <a:path w="11961667" h="957326">
                  <a:moveTo>
                    <a:pt x="0" y="0"/>
                  </a:moveTo>
                  <a:lnTo>
                    <a:pt x="11961667" y="0"/>
                  </a:lnTo>
                  <a:lnTo>
                    <a:pt x="11961667" y="957326"/>
                  </a:lnTo>
                  <a:lnTo>
                    <a:pt x="0" y="957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02603" y="7295852"/>
            <a:ext cx="3916353" cy="428781"/>
            <a:chOff x="0" y="0"/>
            <a:chExt cx="5221804" cy="5717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0"/>
                </a:lnSpc>
              </a:pPr>
              <a:r>
                <a:rPr lang="en-US" sz="23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Given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793604" y="7295852"/>
            <a:ext cx="3916353" cy="428781"/>
            <a:chOff x="0" y="0"/>
            <a:chExt cx="5221804" cy="57170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0"/>
                </a:lnSpc>
              </a:pPr>
              <a:r>
                <a:rPr lang="en-US" sz="23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Precondition (Setup state)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020655" y="7854554"/>
            <a:ext cx="8971250" cy="717947"/>
            <a:chOff x="0" y="0"/>
            <a:chExt cx="11961666" cy="95726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961667" cy="957326"/>
            </a:xfrm>
            <a:custGeom>
              <a:avLst/>
              <a:gdLst/>
              <a:ahLst/>
              <a:cxnLst/>
              <a:rect l="l" t="t" r="r" b="b"/>
              <a:pathLst>
                <a:path w="11961667" h="957326">
                  <a:moveTo>
                    <a:pt x="0" y="0"/>
                  </a:moveTo>
                  <a:lnTo>
                    <a:pt x="11961667" y="0"/>
                  </a:lnTo>
                  <a:lnTo>
                    <a:pt x="11961667" y="957326"/>
                  </a:lnTo>
                  <a:lnTo>
                    <a:pt x="0" y="95732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302603" y="8013799"/>
            <a:ext cx="3916353" cy="428781"/>
            <a:chOff x="0" y="0"/>
            <a:chExt cx="5221804" cy="57170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0"/>
                </a:lnSpc>
              </a:pPr>
              <a:r>
                <a:rPr lang="en-US" sz="23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When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793604" y="8013799"/>
            <a:ext cx="3916353" cy="428781"/>
            <a:chOff x="0" y="0"/>
            <a:chExt cx="5221804" cy="57170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0"/>
                </a:lnSpc>
              </a:pPr>
              <a:r>
                <a:rPr lang="en-US" sz="23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Action (User interaction</a:t>
              </a:r>
              <a:r>
                <a:rPr lang="en-US" sz="23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)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020655" y="8572500"/>
            <a:ext cx="8971250" cy="717947"/>
            <a:chOff x="0" y="0"/>
            <a:chExt cx="11961666" cy="95726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961667" cy="957326"/>
            </a:xfrm>
            <a:custGeom>
              <a:avLst/>
              <a:gdLst/>
              <a:ahLst/>
              <a:cxnLst/>
              <a:rect l="l" t="t" r="r" b="b"/>
              <a:pathLst>
                <a:path w="11961667" h="957326">
                  <a:moveTo>
                    <a:pt x="0" y="0"/>
                  </a:moveTo>
                  <a:lnTo>
                    <a:pt x="11961667" y="0"/>
                  </a:lnTo>
                  <a:lnTo>
                    <a:pt x="11961667" y="957326"/>
                  </a:lnTo>
                  <a:lnTo>
                    <a:pt x="0" y="957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302603" y="8731746"/>
            <a:ext cx="3916353" cy="428781"/>
            <a:chOff x="0" y="0"/>
            <a:chExt cx="5221804" cy="57170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0"/>
                </a:lnSpc>
              </a:pPr>
              <a:r>
                <a:rPr lang="en-US" sz="23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Then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793604" y="8731746"/>
            <a:ext cx="3916353" cy="428781"/>
            <a:chOff x="0" y="0"/>
            <a:chExt cx="5221804" cy="5717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221804" cy="571708"/>
            </a:xfrm>
            <a:custGeom>
              <a:avLst/>
              <a:gdLst/>
              <a:ahLst/>
              <a:cxnLst/>
              <a:rect l="l" t="t" r="r" b="b"/>
              <a:pathLst>
                <a:path w="5221804" h="571708">
                  <a:moveTo>
                    <a:pt x="0" y="0"/>
                  </a:moveTo>
                  <a:lnTo>
                    <a:pt x="5221804" y="0"/>
                  </a:lnTo>
                  <a:lnTo>
                    <a:pt x="5221804" y="571708"/>
                  </a:lnTo>
                  <a:lnTo>
                    <a:pt x="0" y="571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5221804" cy="6669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0"/>
                </a:lnSpc>
              </a:pPr>
              <a:r>
                <a:rPr lang="en-US" sz="23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Expected outcome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88950" y="1078409"/>
            <a:ext cx="8352234" cy="634901"/>
            <a:chOff x="0" y="0"/>
            <a:chExt cx="11136312" cy="8465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36312" cy="846535"/>
            </a:xfrm>
            <a:custGeom>
              <a:avLst/>
              <a:gdLst/>
              <a:ahLst/>
              <a:cxnLst/>
              <a:rect l="l" t="t" r="r" b="b"/>
              <a:pathLst>
                <a:path w="11136312" h="846535">
                  <a:moveTo>
                    <a:pt x="0" y="0"/>
                  </a:moveTo>
                  <a:lnTo>
                    <a:pt x="11136312" y="0"/>
                  </a:lnTo>
                  <a:lnTo>
                    <a:pt x="11136312" y="846535"/>
                  </a:lnTo>
                  <a:lnTo>
                    <a:pt x="0" y="8465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136312" cy="894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999"/>
                </a:lnSpc>
              </a:pPr>
              <a:r>
                <a:rPr lang="en-US" sz="393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Cucumber – A Popular BDD Tool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8950" y="2221260"/>
            <a:ext cx="16510099" cy="1015604"/>
            <a:chOff x="0" y="0"/>
            <a:chExt cx="22013465" cy="13541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13466" cy="1354138"/>
            </a:xfrm>
            <a:custGeom>
              <a:avLst/>
              <a:gdLst/>
              <a:ahLst/>
              <a:cxnLst/>
              <a:rect l="l" t="t" r="r" b="b"/>
              <a:pathLst>
                <a:path w="22013466" h="1354138">
                  <a:moveTo>
                    <a:pt x="0" y="0"/>
                  </a:moveTo>
                  <a:lnTo>
                    <a:pt x="22013466" y="0"/>
                  </a:lnTo>
                  <a:lnTo>
                    <a:pt x="22013466" y="1354138"/>
                  </a:lnTo>
                  <a:lnTo>
                    <a:pt x="0" y="1354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2013465" cy="1458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60"/>
                </a:lnSpc>
              </a:pPr>
              <a:r>
                <a:rPr lang="en-US" sz="26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Cucumber is an open-source </a:t>
              </a:r>
              <a:r>
                <a:rPr lang="en-US" sz="26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BDD framework</a:t>
              </a:r>
              <a:r>
                <a:rPr lang="en-US" sz="26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that enables collaboration by defining and automating test cases in a </a:t>
              </a:r>
              <a:r>
                <a:rPr lang="en-US" sz="263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human-readable format</a:t>
              </a:r>
              <a:r>
                <a:rPr lang="en-US" sz="263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(Gherkin).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88950" y="3617862"/>
            <a:ext cx="3174950" cy="538364"/>
            <a:chOff x="0" y="0"/>
            <a:chExt cx="4233267" cy="717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33267" cy="717819"/>
            </a:xfrm>
            <a:custGeom>
              <a:avLst/>
              <a:gdLst/>
              <a:ahLst/>
              <a:cxnLst/>
              <a:rect l="l" t="t" r="r" b="b"/>
              <a:pathLst>
                <a:path w="4233267" h="717819">
                  <a:moveTo>
                    <a:pt x="0" y="0"/>
                  </a:moveTo>
                  <a:lnTo>
                    <a:pt x="4233267" y="0"/>
                  </a:lnTo>
                  <a:lnTo>
                    <a:pt x="4233267" y="717819"/>
                  </a:lnTo>
                  <a:lnTo>
                    <a:pt x="0" y="7178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233267" cy="7559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81"/>
                </a:lnSpc>
              </a:pPr>
              <a:r>
                <a:rPr lang="en-US" sz="263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Key Features: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8950" y="4395639"/>
            <a:ext cx="16510099" cy="507801"/>
            <a:chOff x="0" y="0"/>
            <a:chExt cx="22013465" cy="677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13466" cy="677068"/>
            </a:xfrm>
            <a:custGeom>
              <a:avLst/>
              <a:gdLst/>
              <a:ahLst/>
              <a:cxnLst/>
              <a:rect l="l" t="t" r="r" b="b"/>
              <a:pathLst>
                <a:path w="22013466" h="677068">
                  <a:moveTo>
                    <a:pt x="0" y="0"/>
                  </a:moveTo>
                  <a:lnTo>
                    <a:pt x="22013466" y="0"/>
                  </a:lnTo>
                  <a:lnTo>
                    <a:pt x="22013466" y="677068"/>
                  </a:lnTo>
                  <a:lnTo>
                    <a:pt x="0" y="677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2013465" cy="7627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1949" lvl="1" indent="-180974" algn="l">
                <a:lnSpc>
                  <a:spcPts val="3824"/>
                </a:lnSpc>
                <a:buFont typeface="Arial"/>
                <a:buChar char="•"/>
              </a:pPr>
              <a:r>
                <a:rPr lang="en-US" sz="23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Cross-Language Support</a:t>
              </a:r>
              <a:r>
                <a:rPr lang="en-US" sz="23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– Compatible with multiple languages (Java, Ruby, JavaScript, Python, etc.).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8950" y="4992291"/>
            <a:ext cx="16510099" cy="507801"/>
            <a:chOff x="0" y="0"/>
            <a:chExt cx="22013465" cy="6770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13466" cy="677068"/>
            </a:xfrm>
            <a:custGeom>
              <a:avLst/>
              <a:gdLst/>
              <a:ahLst/>
              <a:cxnLst/>
              <a:rect l="l" t="t" r="r" b="b"/>
              <a:pathLst>
                <a:path w="22013466" h="677068">
                  <a:moveTo>
                    <a:pt x="0" y="0"/>
                  </a:moveTo>
                  <a:lnTo>
                    <a:pt x="22013466" y="0"/>
                  </a:lnTo>
                  <a:lnTo>
                    <a:pt x="22013466" y="677068"/>
                  </a:lnTo>
                  <a:lnTo>
                    <a:pt x="0" y="677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22013465" cy="7627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1949" lvl="1" indent="-180974" algn="l">
                <a:lnSpc>
                  <a:spcPts val="3824"/>
                </a:lnSpc>
                <a:buFont typeface="Arial"/>
                <a:buChar char="•"/>
              </a:pPr>
              <a:r>
                <a:rPr lang="en-US" sz="23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Integration with Testing Frameworks</a:t>
              </a:r>
              <a:r>
                <a:rPr lang="en-US" sz="23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– Works alongside Selenium, RestAssured, JUnit, TestNG, and more.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88950" y="5881092"/>
            <a:ext cx="3753891" cy="515153"/>
            <a:chOff x="0" y="0"/>
            <a:chExt cx="5005188" cy="6868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05188" cy="686871"/>
            </a:xfrm>
            <a:custGeom>
              <a:avLst/>
              <a:gdLst/>
              <a:ahLst/>
              <a:cxnLst/>
              <a:rect l="l" t="t" r="r" b="b"/>
              <a:pathLst>
                <a:path w="5005188" h="686871">
                  <a:moveTo>
                    <a:pt x="0" y="0"/>
                  </a:moveTo>
                  <a:lnTo>
                    <a:pt x="5005188" y="0"/>
                  </a:lnTo>
                  <a:lnTo>
                    <a:pt x="5005188" y="686871"/>
                  </a:lnTo>
                  <a:lnTo>
                    <a:pt x="0" y="6868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005188" cy="7249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53"/>
                </a:lnSpc>
              </a:pPr>
              <a:r>
                <a:rPr lang="en-US" sz="253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How Cucumber Works: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8950" y="6944617"/>
            <a:ext cx="16510099" cy="28575"/>
            <a:chOff x="0" y="0"/>
            <a:chExt cx="22013465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013418" cy="38100"/>
            </a:xfrm>
            <a:custGeom>
              <a:avLst/>
              <a:gdLst/>
              <a:ahLst/>
              <a:cxnLst/>
              <a:rect l="l" t="t" r="r" b="b"/>
              <a:pathLst>
                <a:path w="22013418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994368" y="0"/>
                  </a:lnTo>
                  <a:cubicBezTo>
                    <a:pt x="22004908" y="0"/>
                    <a:pt x="22013418" y="8509"/>
                    <a:pt x="22013418" y="19050"/>
                  </a:cubicBezTo>
                  <a:cubicBezTo>
                    <a:pt x="22013418" y="29591"/>
                    <a:pt x="22004908" y="38100"/>
                    <a:pt x="2199436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43212" y="6944617"/>
            <a:ext cx="28575" cy="762000"/>
            <a:chOff x="0" y="0"/>
            <a:chExt cx="38100" cy="1016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8100" cy="1016000"/>
            </a:xfrm>
            <a:custGeom>
              <a:avLst/>
              <a:gdLst/>
              <a:ahLst/>
              <a:cxnLst/>
              <a:rect l="l" t="t" r="r" b="b"/>
              <a:pathLst>
                <a:path w="38100" h="10160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96950"/>
                  </a:lnTo>
                  <a:cubicBezTo>
                    <a:pt x="38100" y="1007491"/>
                    <a:pt x="29591" y="1016000"/>
                    <a:pt x="19050" y="1016000"/>
                  </a:cubicBezTo>
                  <a:cubicBezTo>
                    <a:pt x="8509" y="1016000"/>
                    <a:pt x="0" y="1007491"/>
                    <a:pt x="0" y="9969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571750" y="6658867"/>
            <a:ext cx="571500" cy="571500"/>
            <a:chOff x="0" y="0"/>
            <a:chExt cx="762000" cy="762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11200" y="0"/>
                  </a:lnTo>
                  <a:cubicBezTo>
                    <a:pt x="739267" y="0"/>
                    <a:pt x="762000" y="22733"/>
                    <a:pt x="762000" y="50800"/>
                  </a:cubicBezTo>
                  <a:lnTo>
                    <a:pt x="762000" y="711200"/>
                  </a:lnTo>
                  <a:cubicBezTo>
                    <a:pt x="762000" y="739267"/>
                    <a:pt x="739267" y="762000"/>
                    <a:pt x="711200" y="762000"/>
                  </a:cubicBezTo>
                  <a:lnTo>
                    <a:pt x="50800" y="762000"/>
                  </a:lnTo>
                  <a:cubicBezTo>
                    <a:pt x="22733" y="762000"/>
                    <a:pt x="0" y="739267"/>
                    <a:pt x="0" y="711200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67000" y="6706492"/>
            <a:ext cx="381000" cy="476250"/>
            <a:chOff x="0" y="0"/>
            <a:chExt cx="508000" cy="635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8000" cy="635000"/>
            </a:xfrm>
            <a:custGeom>
              <a:avLst/>
              <a:gdLst/>
              <a:ahLst/>
              <a:cxnLst/>
              <a:rect l="l" t="t" r="r" b="b"/>
              <a:pathLst>
                <a:path w="508000" h="635000">
                  <a:moveTo>
                    <a:pt x="0" y="0"/>
                  </a:moveTo>
                  <a:lnTo>
                    <a:pt x="508000" y="0"/>
                  </a:lnTo>
                  <a:lnTo>
                    <a:pt x="508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38100"/>
              <a:ext cx="508000" cy="59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2851" y="7960519"/>
            <a:ext cx="3429298" cy="1330487"/>
            <a:chOff x="0" y="0"/>
            <a:chExt cx="4572397" cy="177398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572397" cy="1773983"/>
            </a:xfrm>
            <a:custGeom>
              <a:avLst/>
              <a:gdLst/>
              <a:ahLst/>
              <a:cxnLst/>
              <a:rect l="l" t="t" r="r" b="b"/>
              <a:pathLst>
                <a:path w="4572397" h="1773983">
                  <a:moveTo>
                    <a:pt x="0" y="0"/>
                  </a:moveTo>
                  <a:lnTo>
                    <a:pt x="4572397" y="0"/>
                  </a:lnTo>
                  <a:lnTo>
                    <a:pt x="4572397" y="1773983"/>
                  </a:lnTo>
                  <a:lnTo>
                    <a:pt x="0" y="17739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4572397" cy="18597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65"/>
                </a:lnSpc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Write test scenarios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in .feature files using </a:t>
              </a: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Gherkin syntax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34212" y="6944617"/>
            <a:ext cx="28575" cy="762000"/>
            <a:chOff x="0" y="0"/>
            <a:chExt cx="38100" cy="1016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8100" cy="1016000"/>
            </a:xfrm>
            <a:custGeom>
              <a:avLst/>
              <a:gdLst/>
              <a:ahLst/>
              <a:cxnLst/>
              <a:rect l="l" t="t" r="r" b="b"/>
              <a:pathLst>
                <a:path w="38100" h="10160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96950"/>
                  </a:lnTo>
                  <a:cubicBezTo>
                    <a:pt x="38100" y="1007491"/>
                    <a:pt x="29591" y="1016000"/>
                    <a:pt x="19050" y="1016000"/>
                  </a:cubicBezTo>
                  <a:cubicBezTo>
                    <a:pt x="8509" y="1016000"/>
                    <a:pt x="0" y="1007491"/>
                    <a:pt x="0" y="9969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62750" y="6658867"/>
            <a:ext cx="571500" cy="571500"/>
            <a:chOff x="0" y="0"/>
            <a:chExt cx="762000" cy="762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11200" y="0"/>
                  </a:lnTo>
                  <a:cubicBezTo>
                    <a:pt x="739267" y="0"/>
                    <a:pt x="762000" y="22733"/>
                    <a:pt x="762000" y="50800"/>
                  </a:cubicBezTo>
                  <a:lnTo>
                    <a:pt x="762000" y="711200"/>
                  </a:lnTo>
                  <a:cubicBezTo>
                    <a:pt x="762000" y="739267"/>
                    <a:pt x="739267" y="762000"/>
                    <a:pt x="711200" y="762000"/>
                  </a:cubicBezTo>
                  <a:lnTo>
                    <a:pt x="50800" y="762000"/>
                  </a:lnTo>
                  <a:cubicBezTo>
                    <a:pt x="22733" y="762000"/>
                    <a:pt x="0" y="739267"/>
                    <a:pt x="0" y="711200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0" y="6706492"/>
            <a:ext cx="381000" cy="476250"/>
            <a:chOff x="0" y="0"/>
            <a:chExt cx="508000" cy="635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8000" cy="635000"/>
            </a:xfrm>
            <a:custGeom>
              <a:avLst/>
              <a:gdLst/>
              <a:ahLst/>
              <a:cxnLst/>
              <a:rect l="l" t="t" r="r" b="b"/>
              <a:pathLst>
                <a:path w="508000" h="635000">
                  <a:moveTo>
                    <a:pt x="0" y="0"/>
                  </a:moveTo>
                  <a:lnTo>
                    <a:pt x="508000" y="0"/>
                  </a:lnTo>
                  <a:lnTo>
                    <a:pt x="508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38100"/>
              <a:ext cx="508000" cy="59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3851" y="7960519"/>
            <a:ext cx="3429298" cy="1330487"/>
            <a:chOff x="0" y="0"/>
            <a:chExt cx="4572397" cy="177398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572397" cy="1773983"/>
            </a:xfrm>
            <a:custGeom>
              <a:avLst/>
              <a:gdLst/>
              <a:ahLst/>
              <a:cxnLst/>
              <a:rect l="l" t="t" r="r" b="b"/>
              <a:pathLst>
                <a:path w="4572397" h="1773983">
                  <a:moveTo>
                    <a:pt x="0" y="0"/>
                  </a:moveTo>
                  <a:lnTo>
                    <a:pt x="4572397" y="0"/>
                  </a:lnTo>
                  <a:lnTo>
                    <a:pt x="4572397" y="1773983"/>
                  </a:lnTo>
                  <a:lnTo>
                    <a:pt x="0" y="17739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4572397" cy="18597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65"/>
                </a:lnSpc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Implement step definitions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(code that executes each test step).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225212" y="6944617"/>
            <a:ext cx="28575" cy="762000"/>
            <a:chOff x="0" y="0"/>
            <a:chExt cx="38100" cy="1016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8100" cy="1016000"/>
            </a:xfrm>
            <a:custGeom>
              <a:avLst/>
              <a:gdLst/>
              <a:ahLst/>
              <a:cxnLst/>
              <a:rect l="l" t="t" r="r" b="b"/>
              <a:pathLst>
                <a:path w="38100" h="10160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96950"/>
                  </a:lnTo>
                  <a:cubicBezTo>
                    <a:pt x="38100" y="1007491"/>
                    <a:pt x="29591" y="1016000"/>
                    <a:pt x="19050" y="1016000"/>
                  </a:cubicBezTo>
                  <a:cubicBezTo>
                    <a:pt x="8509" y="1016000"/>
                    <a:pt x="0" y="1007491"/>
                    <a:pt x="0" y="9969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953750" y="6658867"/>
            <a:ext cx="571500" cy="571500"/>
            <a:chOff x="0" y="0"/>
            <a:chExt cx="762000" cy="762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11200" y="0"/>
                  </a:lnTo>
                  <a:cubicBezTo>
                    <a:pt x="739267" y="0"/>
                    <a:pt x="762000" y="22733"/>
                    <a:pt x="762000" y="50800"/>
                  </a:cubicBezTo>
                  <a:lnTo>
                    <a:pt x="762000" y="711200"/>
                  </a:lnTo>
                  <a:cubicBezTo>
                    <a:pt x="762000" y="739267"/>
                    <a:pt x="739267" y="762000"/>
                    <a:pt x="711200" y="762000"/>
                  </a:cubicBezTo>
                  <a:lnTo>
                    <a:pt x="50800" y="762000"/>
                  </a:lnTo>
                  <a:cubicBezTo>
                    <a:pt x="22733" y="762000"/>
                    <a:pt x="0" y="739267"/>
                    <a:pt x="0" y="711200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049000" y="6706492"/>
            <a:ext cx="381000" cy="476250"/>
            <a:chOff x="0" y="0"/>
            <a:chExt cx="508000" cy="635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08000" cy="635000"/>
            </a:xfrm>
            <a:custGeom>
              <a:avLst/>
              <a:gdLst/>
              <a:ahLst/>
              <a:cxnLst/>
              <a:rect l="l" t="t" r="r" b="b"/>
              <a:pathLst>
                <a:path w="508000" h="635000">
                  <a:moveTo>
                    <a:pt x="0" y="0"/>
                  </a:moveTo>
                  <a:lnTo>
                    <a:pt x="508000" y="0"/>
                  </a:lnTo>
                  <a:lnTo>
                    <a:pt x="508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38100"/>
              <a:ext cx="508000" cy="59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524851" y="7960519"/>
            <a:ext cx="3429297" cy="1330487"/>
            <a:chOff x="0" y="0"/>
            <a:chExt cx="4572397" cy="177398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572397" cy="1773983"/>
            </a:xfrm>
            <a:custGeom>
              <a:avLst/>
              <a:gdLst/>
              <a:ahLst/>
              <a:cxnLst/>
              <a:rect l="l" t="t" r="r" b="b"/>
              <a:pathLst>
                <a:path w="4572397" h="1773983">
                  <a:moveTo>
                    <a:pt x="0" y="0"/>
                  </a:moveTo>
                  <a:lnTo>
                    <a:pt x="4572397" y="0"/>
                  </a:lnTo>
                  <a:lnTo>
                    <a:pt x="4572397" y="1773983"/>
                  </a:lnTo>
                  <a:lnTo>
                    <a:pt x="0" y="17739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85725"/>
              <a:ext cx="4572397" cy="18597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65"/>
                </a:lnSpc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Run tests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using Cucumber (via CLI or IDE plugins).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416212" y="6944617"/>
            <a:ext cx="28575" cy="762000"/>
            <a:chOff x="0" y="0"/>
            <a:chExt cx="38100" cy="10160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8100" cy="1016000"/>
            </a:xfrm>
            <a:custGeom>
              <a:avLst/>
              <a:gdLst/>
              <a:ahLst/>
              <a:cxnLst/>
              <a:rect l="l" t="t" r="r" b="b"/>
              <a:pathLst>
                <a:path w="38100" h="10160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96950"/>
                  </a:lnTo>
                  <a:cubicBezTo>
                    <a:pt x="38100" y="1007491"/>
                    <a:pt x="29591" y="1016000"/>
                    <a:pt x="19050" y="1016000"/>
                  </a:cubicBezTo>
                  <a:cubicBezTo>
                    <a:pt x="8509" y="1016000"/>
                    <a:pt x="0" y="1007491"/>
                    <a:pt x="0" y="9969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5144750" y="6658867"/>
            <a:ext cx="571500" cy="571500"/>
            <a:chOff x="0" y="0"/>
            <a:chExt cx="762000" cy="762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11200" y="0"/>
                  </a:lnTo>
                  <a:cubicBezTo>
                    <a:pt x="739267" y="0"/>
                    <a:pt x="762000" y="22733"/>
                    <a:pt x="762000" y="50800"/>
                  </a:cubicBezTo>
                  <a:lnTo>
                    <a:pt x="762000" y="711200"/>
                  </a:lnTo>
                  <a:cubicBezTo>
                    <a:pt x="762000" y="739267"/>
                    <a:pt x="739267" y="762000"/>
                    <a:pt x="711200" y="762000"/>
                  </a:cubicBezTo>
                  <a:lnTo>
                    <a:pt x="50800" y="762000"/>
                  </a:lnTo>
                  <a:cubicBezTo>
                    <a:pt x="22733" y="762000"/>
                    <a:pt x="0" y="739267"/>
                    <a:pt x="0" y="711200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240000" y="6706492"/>
            <a:ext cx="381000" cy="476250"/>
            <a:chOff x="0" y="0"/>
            <a:chExt cx="508000" cy="6350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08000" cy="635000"/>
            </a:xfrm>
            <a:custGeom>
              <a:avLst/>
              <a:gdLst/>
              <a:ahLst/>
              <a:cxnLst/>
              <a:rect l="l" t="t" r="r" b="b"/>
              <a:pathLst>
                <a:path w="508000" h="635000">
                  <a:moveTo>
                    <a:pt x="0" y="0"/>
                  </a:moveTo>
                  <a:lnTo>
                    <a:pt x="508000" y="0"/>
                  </a:lnTo>
                  <a:lnTo>
                    <a:pt x="508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38100"/>
              <a:ext cx="508000" cy="59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715851" y="7960519"/>
            <a:ext cx="3429298" cy="1787687"/>
            <a:chOff x="0" y="0"/>
            <a:chExt cx="4572397" cy="238358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572397" cy="2383583"/>
            </a:xfrm>
            <a:custGeom>
              <a:avLst/>
              <a:gdLst/>
              <a:ahLst/>
              <a:cxnLst/>
              <a:rect l="l" t="t" r="r" b="b"/>
              <a:pathLst>
                <a:path w="4572397" h="2383583">
                  <a:moveTo>
                    <a:pt x="0" y="0"/>
                  </a:moveTo>
                  <a:lnTo>
                    <a:pt x="4572397" y="0"/>
                  </a:lnTo>
                  <a:lnTo>
                    <a:pt x="4572397" y="2383583"/>
                  </a:lnTo>
                  <a:lnTo>
                    <a:pt x="0" y="23835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4572397" cy="246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65"/>
                </a:lnSpc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Generate reports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in formats like </a:t>
              </a: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HTML, JSON, etc.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to analyze test results.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9774" y="1093142"/>
            <a:ext cx="7693224" cy="874630"/>
            <a:chOff x="0" y="0"/>
            <a:chExt cx="10257632" cy="11661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57632" cy="1166174"/>
            </a:xfrm>
            <a:custGeom>
              <a:avLst/>
              <a:gdLst/>
              <a:ahLst/>
              <a:cxnLst/>
              <a:rect l="l" t="t" r="r" b="b"/>
              <a:pathLst>
                <a:path w="10257632" h="1166174">
                  <a:moveTo>
                    <a:pt x="0" y="0"/>
                  </a:moveTo>
                  <a:lnTo>
                    <a:pt x="10257632" y="0"/>
                  </a:lnTo>
                  <a:lnTo>
                    <a:pt x="10257632" y="1166174"/>
                  </a:lnTo>
                  <a:lnTo>
                    <a:pt x="0" y="11661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257632" cy="121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34"/>
                </a:lnSpc>
              </a:pPr>
              <a:r>
                <a:rPr lang="en-US" sz="4300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Difference btw TDD &amp; BDD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5011" y="2273945"/>
            <a:ext cx="16677977" cy="5479108"/>
            <a:chOff x="0" y="0"/>
            <a:chExt cx="22237303" cy="73054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37319" cy="7305549"/>
            </a:xfrm>
            <a:custGeom>
              <a:avLst/>
              <a:gdLst/>
              <a:ahLst/>
              <a:cxnLst/>
              <a:rect l="l" t="t" r="r" b="b"/>
              <a:pathLst>
                <a:path w="22237319" h="7305549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22184613" y="0"/>
                  </a:lnTo>
                  <a:lnTo>
                    <a:pt x="22184613" y="6350"/>
                  </a:lnTo>
                  <a:lnTo>
                    <a:pt x="22184613" y="0"/>
                  </a:lnTo>
                  <a:cubicBezTo>
                    <a:pt x="22213697" y="0"/>
                    <a:pt x="22237319" y="23622"/>
                    <a:pt x="22237319" y="52705"/>
                  </a:cubicBezTo>
                  <a:lnTo>
                    <a:pt x="22230969" y="52705"/>
                  </a:lnTo>
                  <a:lnTo>
                    <a:pt x="22237319" y="52705"/>
                  </a:lnTo>
                  <a:lnTo>
                    <a:pt x="22237319" y="7252843"/>
                  </a:lnTo>
                  <a:lnTo>
                    <a:pt x="22230969" y="7252843"/>
                  </a:lnTo>
                  <a:lnTo>
                    <a:pt x="22237319" y="7252843"/>
                  </a:lnTo>
                  <a:cubicBezTo>
                    <a:pt x="22237319" y="7281926"/>
                    <a:pt x="22213697" y="7305549"/>
                    <a:pt x="22184613" y="7305549"/>
                  </a:cubicBezTo>
                  <a:lnTo>
                    <a:pt x="22184613" y="7299199"/>
                  </a:lnTo>
                  <a:lnTo>
                    <a:pt x="22184613" y="7305549"/>
                  </a:lnTo>
                  <a:lnTo>
                    <a:pt x="52705" y="7305549"/>
                  </a:lnTo>
                  <a:lnTo>
                    <a:pt x="52705" y="7299199"/>
                  </a:lnTo>
                  <a:lnTo>
                    <a:pt x="52705" y="7305549"/>
                  </a:lnTo>
                  <a:cubicBezTo>
                    <a:pt x="23622" y="7305549"/>
                    <a:pt x="0" y="7281926"/>
                    <a:pt x="0" y="7252843"/>
                  </a:cubicBezTo>
                  <a:lnTo>
                    <a:pt x="0" y="52705"/>
                  </a:lnTo>
                  <a:lnTo>
                    <a:pt x="6350" y="52705"/>
                  </a:lnTo>
                  <a:lnTo>
                    <a:pt x="0" y="52705"/>
                  </a:lnTo>
                  <a:moveTo>
                    <a:pt x="12700" y="52705"/>
                  </a:moveTo>
                  <a:lnTo>
                    <a:pt x="12700" y="7252843"/>
                  </a:lnTo>
                  <a:lnTo>
                    <a:pt x="6350" y="7252843"/>
                  </a:lnTo>
                  <a:lnTo>
                    <a:pt x="12700" y="7252843"/>
                  </a:lnTo>
                  <a:cubicBezTo>
                    <a:pt x="12700" y="7274941"/>
                    <a:pt x="30607" y="7292849"/>
                    <a:pt x="52705" y="7292849"/>
                  </a:cubicBezTo>
                  <a:lnTo>
                    <a:pt x="22184613" y="7292849"/>
                  </a:lnTo>
                  <a:cubicBezTo>
                    <a:pt x="22206711" y="7292849"/>
                    <a:pt x="22224619" y="7274941"/>
                    <a:pt x="22224619" y="7252843"/>
                  </a:cubicBezTo>
                  <a:lnTo>
                    <a:pt x="22224619" y="52705"/>
                  </a:lnTo>
                  <a:cubicBezTo>
                    <a:pt x="22224619" y="30607"/>
                    <a:pt x="22206711" y="12700"/>
                    <a:pt x="22184613" y="12700"/>
                  </a:cubicBezTo>
                  <a:lnTo>
                    <a:pt x="52705" y="12700"/>
                  </a:lnTo>
                  <a:lnTo>
                    <a:pt x="52705" y="6350"/>
                  </a:lnTo>
                  <a:lnTo>
                    <a:pt x="52705" y="12700"/>
                  </a:lnTo>
                  <a:cubicBezTo>
                    <a:pt x="30607" y="12700"/>
                    <a:pt x="12700" y="30607"/>
                    <a:pt x="12700" y="5270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9299" y="2288232"/>
            <a:ext cx="16649402" cy="730300"/>
            <a:chOff x="0" y="0"/>
            <a:chExt cx="22199203" cy="9737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99219" cy="973709"/>
            </a:xfrm>
            <a:custGeom>
              <a:avLst/>
              <a:gdLst/>
              <a:ahLst/>
              <a:cxnLst/>
              <a:rect l="l" t="t" r="r" b="b"/>
              <a:pathLst>
                <a:path w="22199219" h="973709">
                  <a:moveTo>
                    <a:pt x="0" y="0"/>
                  </a:moveTo>
                  <a:lnTo>
                    <a:pt x="22199219" y="0"/>
                  </a:lnTo>
                  <a:lnTo>
                    <a:pt x="22199219" y="973709"/>
                  </a:lnTo>
                  <a:lnTo>
                    <a:pt x="0" y="9737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52860" y="2436465"/>
            <a:ext cx="3470374" cy="433834"/>
            <a:chOff x="0" y="0"/>
            <a:chExt cx="4627165" cy="5784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27165" cy="578445"/>
            </a:xfrm>
            <a:custGeom>
              <a:avLst/>
              <a:gdLst/>
              <a:ahLst/>
              <a:cxnLst/>
              <a:rect l="l" t="t" r="r" b="b"/>
              <a:pathLst>
                <a:path w="4627165" h="578445">
                  <a:moveTo>
                    <a:pt x="0" y="0"/>
                  </a:moveTo>
                  <a:lnTo>
                    <a:pt x="4627165" y="0"/>
                  </a:lnTo>
                  <a:lnTo>
                    <a:pt x="4627165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4627165" cy="607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Feature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32711" y="2436465"/>
            <a:ext cx="3470374" cy="433834"/>
            <a:chOff x="0" y="0"/>
            <a:chExt cx="4627165" cy="5784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27165" cy="578445"/>
            </a:xfrm>
            <a:custGeom>
              <a:avLst/>
              <a:gdLst/>
              <a:ahLst/>
              <a:cxnLst/>
              <a:rect l="l" t="t" r="r" b="b"/>
              <a:pathLst>
                <a:path w="4627165" h="578445">
                  <a:moveTo>
                    <a:pt x="0" y="0"/>
                  </a:moveTo>
                  <a:lnTo>
                    <a:pt x="4627165" y="0"/>
                  </a:lnTo>
                  <a:lnTo>
                    <a:pt x="4627165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4627165" cy="607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TDD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88814" y="2436465"/>
            <a:ext cx="3470374" cy="433834"/>
            <a:chOff x="0" y="0"/>
            <a:chExt cx="4627165" cy="57844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27165" cy="578445"/>
            </a:xfrm>
            <a:custGeom>
              <a:avLst/>
              <a:gdLst/>
              <a:ahLst/>
              <a:cxnLst/>
              <a:rect l="l" t="t" r="r" b="b"/>
              <a:pathLst>
                <a:path w="4627165" h="578445">
                  <a:moveTo>
                    <a:pt x="0" y="0"/>
                  </a:moveTo>
                  <a:lnTo>
                    <a:pt x="4627165" y="0"/>
                  </a:lnTo>
                  <a:lnTo>
                    <a:pt x="4627165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4627165" cy="607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BDD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9299" y="3018532"/>
            <a:ext cx="16649402" cy="759024"/>
            <a:chOff x="0" y="0"/>
            <a:chExt cx="22199203" cy="10120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199219" cy="1012063"/>
            </a:xfrm>
            <a:custGeom>
              <a:avLst/>
              <a:gdLst/>
              <a:ahLst/>
              <a:cxnLst/>
              <a:rect l="l" t="t" r="r" b="b"/>
              <a:pathLst>
                <a:path w="22199219" h="1012063">
                  <a:moveTo>
                    <a:pt x="0" y="0"/>
                  </a:moveTo>
                  <a:lnTo>
                    <a:pt x="22199219" y="0"/>
                  </a:lnTo>
                  <a:lnTo>
                    <a:pt x="22199219" y="1012063"/>
                  </a:lnTo>
                  <a:lnTo>
                    <a:pt x="0" y="1012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0875" y="3166765"/>
            <a:ext cx="4274344" cy="462558"/>
            <a:chOff x="0" y="0"/>
            <a:chExt cx="5699125" cy="616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99125" cy="616743"/>
            </a:xfrm>
            <a:custGeom>
              <a:avLst/>
              <a:gdLst/>
              <a:ahLst/>
              <a:cxnLst/>
              <a:rect l="l" t="t" r="r" b="b"/>
              <a:pathLst>
                <a:path w="5699125" h="616743">
                  <a:moveTo>
                    <a:pt x="0" y="0"/>
                  </a:moveTo>
                  <a:lnTo>
                    <a:pt x="5699125" y="0"/>
                  </a:lnTo>
                  <a:lnTo>
                    <a:pt x="5699125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5699125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Focus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97302" y="3166765"/>
            <a:ext cx="5741342" cy="462558"/>
            <a:chOff x="0" y="0"/>
            <a:chExt cx="7655123" cy="6167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655123" cy="616743"/>
            </a:xfrm>
            <a:custGeom>
              <a:avLst/>
              <a:gdLst/>
              <a:ahLst/>
              <a:cxnLst/>
              <a:rect l="l" t="t" r="r" b="b"/>
              <a:pathLst>
                <a:path w="7655123" h="616743">
                  <a:moveTo>
                    <a:pt x="0" y="0"/>
                  </a:moveTo>
                  <a:lnTo>
                    <a:pt x="7655123" y="0"/>
                  </a:lnTo>
                  <a:lnTo>
                    <a:pt x="7655123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7655123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Code correctness (low-level tests)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010728" y="3166765"/>
            <a:ext cx="5226695" cy="462558"/>
            <a:chOff x="0" y="0"/>
            <a:chExt cx="6968927" cy="61674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968927" cy="616743"/>
            </a:xfrm>
            <a:custGeom>
              <a:avLst/>
              <a:gdLst/>
              <a:ahLst/>
              <a:cxnLst/>
              <a:rect l="l" t="t" r="r" b="b"/>
              <a:pathLst>
                <a:path w="6968927" h="616743">
                  <a:moveTo>
                    <a:pt x="0" y="0"/>
                  </a:moveTo>
                  <a:lnTo>
                    <a:pt x="6968927" y="0"/>
                  </a:lnTo>
                  <a:lnTo>
                    <a:pt x="6968927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6968927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Business requirements (high-level tests)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299" y="3777555"/>
            <a:ext cx="16649402" cy="759024"/>
            <a:chOff x="0" y="0"/>
            <a:chExt cx="22199203" cy="101203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199219" cy="1012063"/>
            </a:xfrm>
            <a:custGeom>
              <a:avLst/>
              <a:gdLst/>
              <a:ahLst/>
              <a:cxnLst/>
              <a:rect l="l" t="t" r="r" b="b"/>
              <a:pathLst>
                <a:path w="22199219" h="1012063">
                  <a:moveTo>
                    <a:pt x="0" y="0"/>
                  </a:moveTo>
                  <a:lnTo>
                    <a:pt x="22199219" y="0"/>
                  </a:lnTo>
                  <a:lnTo>
                    <a:pt x="22199219" y="1012063"/>
                  </a:lnTo>
                  <a:lnTo>
                    <a:pt x="0" y="101206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50875" y="3925789"/>
            <a:ext cx="4274344" cy="462558"/>
            <a:chOff x="0" y="0"/>
            <a:chExt cx="5699125" cy="61674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699125" cy="616743"/>
            </a:xfrm>
            <a:custGeom>
              <a:avLst/>
              <a:gdLst/>
              <a:ahLst/>
              <a:cxnLst/>
              <a:rect l="l" t="t" r="r" b="b"/>
              <a:pathLst>
                <a:path w="5699125" h="616743">
                  <a:moveTo>
                    <a:pt x="0" y="0"/>
                  </a:moveTo>
                  <a:lnTo>
                    <a:pt x="5699125" y="0"/>
                  </a:lnTo>
                  <a:lnTo>
                    <a:pt x="5699125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0"/>
              <a:ext cx="5699125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Test type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97302" y="3925789"/>
            <a:ext cx="5741342" cy="462558"/>
            <a:chOff x="0" y="0"/>
            <a:chExt cx="7655123" cy="61674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55123" cy="616743"/>
            </a:xfrm>
            <a:custGeom>
              <a:avLst/>
              <a:gdLst/>
              <a:ahLst/>
              <a:cxnLst/>
              <a:rect l="l" t="t" r="r" b="b"/>
              <a:pathLst>
                <a:path w="7655123" h="616743">
                  <a:moveTo>
                    <a:pt x="0" y="0"/>
                  </a:moveTo>
                  <a:lnTo>
                    <a:pt x="7655123" y="0"/>
                  </a:lnTo>
                  <a:lnTo>
                    <a:pt x="7655123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7655123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Unit, Integration and API tests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010728" y="3925789"/>
            <a:ext cx="5226695" cy="462558"/>
            <a:chOff x="0" y="0"/>
            <a:chExt cx="6968927" cy="61674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68927" cy="616743"/>
            </a:xfrm>
            <a:custGeom>
              <a:avLst/>
              <a:gdLst/>
              <a:ahLst/>
              <a:cxnLst/>
              <a:rect l="l" t="t" r="r" b="b"/>
              <a:pathLst>
                <a:path w="6968927" h="616743">
                  <a:moveTo>
                    <a:pt x="0" y="0"/>
                  </a:moveTo>
                  <a:lnTo>
                    <a:pt x="6968927" y="0"/>
                  </a:lnTo>
                  <a:lnTo>
                    <a:pt x="6968927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0"/>
              <a:ext cx="6968927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Acceptance, UI and E2E tests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299" y="4536579"/>
            <a:ext cx="16649402" cy="759024"/>
            <a:chOff x="0" y="0"/>
            <a:chExt cx="22199203" cy="10120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199219" cy="1012063"/>
            </a:xfrm>
            <a:custGeom>
              <a:avLst/>
              <a:gdLst/>
              <a:ahLst/>
              <a:cxnLst/>
              <a:rect l="l" t="t" r="r" b="b"/>
              <a:pathLst>
                <a:path w="22199219" h="1012063">
                  <a:moveTo>
                    <a:pt x="0" y="0"/>
                  </a:moveTo>
                  <a:lnTo>
                    <a:pt x="22199219" y="0"/>
                  </a:lnTo>
                  <a:lnTo>
                    <a:pt x="22199219" y="1012063"/>
                  </a:lnTo>
                  <a:lnTo>
                    <a:pt x="0" y="1012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0875" y="4684811"/>
            <a:ext cx="4274344" cy="462558"/>
            <a:chOff x="0" y="0"/>
            <a:chExt cx="5699125" cy="61674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699125" cy="616743"/>
            </a:xfrm>
            <a:custGeom>
              <a:avLst/>
              <a:gdLst/>
              <a:ahLst/>
              <a:cxnLst/>
              <a:rect l="l" t="t" r="r" b="b"/>
              <a:pathLst>
                <a:path w="5699125" h="616743">
                  <a:moveTo>
                    <a:pt x="0" y="0"/>
                  </a:moveTo>
                  <a:lnTo>
                    <a:pt x="5699125" y="0"/>
                  </a:lnTo>
                  <a:lnTo>
                    <a:pt x="5699125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0"/>
              <a:ext cx="5699125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Tools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97302" y="4684811"/>
            <a:ext cx="5741342" cy="462558"/>
            <a:chOff x="0" y="0"/>
            <a:chExt cx="7655123" cy="61674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655123" cy="616743"/>
            </a:xfrm>
            <a:custGeom>
              <a:avLst/>
              <a:gdLst/>
              <a:ahLst/>
              <a:cxnLst/>
              <a:rect l="l" t="t" r="r" b="b"/>
              <a:pathLst>
                <a:path w="7655123" h="616743">
                  <a:moveTo>
                    <a:pt x="0" y="0"/>
                  </a:moveTo>
                  <a:lnTo>
                    <a:pt x="7655123" y="0"/>
                  </a:lnTo>
                  <a:lnTo>
                    <a:pt x="7655123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0"/>
              <a:ext cx="7655123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JUnit, TestNG, Pytest, Mocha, Jest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010728" y="4684811"/>
            <a:ext cx="5226695" cy="462558"/>
            <a:chOff x="0" y="0"/>
            <a:chExt cx="6968927" cy="61674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968927" cy="616743"/>
            </a:xfrm>
            <a:custGeom>
              <a:avLst/>
              <a:gdLst/>
              <a:ahLst/>
              <a:cxnLst/>
              <a:rect l="l" t="t" r="r" b="b"/>
              <a:pathLst>
                <a:path w="6968927" h="616743">
                  <a:moveTo>
                    <a:pt x="0" y="0"/>
                  </a:moveTo>
                  <a:lnTo>
                    <a:pt x="6968927" y="0"/>
                  </a:lnTo>
                  <a:lnTo>
                    <a:pt x="6968927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0"/>
              <a:ext cx="6968927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Cucumber, Selenium, Cypress, behave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9299" y="5295602"/>
            <a:ext cx="16649402" cy="1221581"/>
            <a:chOff x="0" y="0"/>
            <a:chExt cx="22199203" cy="162877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2199219" cy="1628775"/>
            </a:xfrm>
            <a:custGeom>
              <a:avLst/>
              <a:gdLst/>
              <a:ahLst/>
              <a:cxnLst/>
              <a:rect l="l" t="t" r="r" b="b"/>
              <a:pathLst>
                <a:path w="22199219" h="1628775">
                  <a:moveTo>
                    <a:pt x="0" y="0"/>
                  </a:moveTo>
                  <a:lnTo>
                    <a:pt x="22199219" y="0"/>
                  </a:lnTo>
                  <a:lnTo>
                    <a:pt x="22199219" y="1628775"/>
                  </a:lnTo>
                  <a:lnTo>
                    <a:pt x="0" y="162877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0875" y="5443835"/>
            <a:ext cx="4274344" cy="462558"/>
            <a:chOff x="0" y="0"/>
            <a:chExt cx="5699125" cy="61674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699125" cy="616743"/>
            </a:xfrm>
            <a:custGeom>
              <a:avLst/>
              <a:gdLst/>
              <a:ahLst/>
              <a:cxnLst/>
              <a:rect l="l" t="t" r="r" b="b"/>
              <a:pathLst>
                <a:path w="5699125" h="616743">
                  <a:moveTo>
                    <a:pt x="0" y="0"/>
                  </a:moveTo>
                  <a:lnTo>
                    <a:pt x="5699125" y="0"/>
                  </a:lnTo>
                  <a:lnTo>
                    <a:pt x="5699125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95250"/>
              <a:ext cx="5699125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CICD Integration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97302" y="5443835"/>
            <a:ext cx="5741342" cy="462558"/>
            <a:chOff x="0" y="0"/>
            <a:chExt cx="7655123" cy="61674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655123" cy="616743"/>
            </a:xfrm>
            <a:custGeom>
              <a:avLst/>
              <a:gdLst/>
              <a:ahLst/>
              <a:cxnLst/>
              <a:rect l="l" t="t" r="r" b="b"/>
              <a:pathLst>
                <a:path w="7655123" h="616743">
                  <a:moveTo>
                    <a:pt x="0" y="0"/>
                  </a:moveTo>
                  <a:lnTo>
                    <a:pt x="7655123" y="0"/>
                  </a:lnTo>
                  <a:lnTo>
                    <a:pt x="7655123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0"/>
              <a:ext cx="7655123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Runs on every code commit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010728" y="5443835"/>
            <a:ext cx="5226695" cy="925116"/>
            <a:chOff x="0" y="0"/>
            <a:chExt cx="6968927" cy="123348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968927" cy="1233488"/>
            </a:xfrm>
            <a:custGeom>
              <a:avLst/>
              <a:gdLst/>
              <a:ahLst/>
              <a:cxnLst/>
              <a:rect l="l" t="t" r="r" b="b"/>
              <a:pathLst>
                <a:path w="6968927" h="1233488">
                  <a:moveTo>
                    <a:pt x="0" y="0"/>
                  </a:moveTo>
                  <a:lnTo>
                    <a:pt x="6968927" y="0"/>
                  </a:lnTo>
                  <a:lnTo>
                    <a:pt x="6968927" y="1233488"/>
                  </a:lnTo>
                  <a:lnTo>
                    <a:pt x="0" y="1233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95250"/>
              <a:ext cx="6968927" cy="1328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Runs before merging to verify feature behavior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19299" y="6517184"/>
            <a:ext cx="16649402" cy="1221581"/>
            <a:chOff x="0" y="0"/>
            <a:chExt cx="22199203" cy="162877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99219" cy="1628775"/>
            </a:xfrm>
            <a:custGeom>
              <a:avLst/>
              <a:gdLst/>
              <a:ahLst/>
              <a:cxnLst/>
              <a:rect l="l" t="t" r="r" b="b"/>
              <a:pathLst>
                <a:path w="22199219" h="1628775">
                  <a:moveTo>
                    <a:pt x="0" y="0"/>
                  </a:moveTo>
                  <a:lnTo>
                    <a:pt x="22199219" y="0"/>
                  </a:lnTo>
                  <a:lnTo>
                    <a:pt x="22199219" y="1628775"/>
                  </a:lnTo>
                  <a:lnTo>
                    <a:pt x="0" y="16287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50875" y="6665416"/>
            <a:ext cx="4274344" cy="462558"/>
            <a:chOff x="0" y="0"/>
            <a:chExt cx="5699125" cy="61674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699125" cy="616743"/>
            </a:xfrm>
            <a:custGeom>
              <a:avLst/>
              <a:gdLst/>
              <a:ahLst/>
              <a:cxnLst/>
              <a:rect l="l" t="t" r="r" b="b"/>
              <a:pathLst>
                <a:path w="5699125" h="616743">
                  <a:moveTo>
                    <a:pt x="0" y="0"/>
                  </a:moveTo>
                  <a:lnTo>
                    <a:pt x="5699125" y="0"/>
                  </a:lnTo>
                  <a:lnTo>
                    <a:pt x="5699125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0"/>
              <a:ext cx="5699125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Ownership of task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97302" y="6665416"/>
            <a:ext cx="5741342" cy="462558"/>
            <a:chOff x="0" y="0"/>
            <a:chExt cx="7655123" cy="61674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655123" cy="616743"/>
            </a:xfrm>
            <a:custGeom>
              <a:avLst/>
              <a:gdLst/>
              <a:ahLst/>
              <a:cxnLst/>
              <a:rect l="l" t="t" r="r" b="b"/>
              <a:pathLst>
                <a:path w="7655123" h="616743">
                  <a:moveTo>
                    <a:pt x="0" y="0"/>
                  </a:moveTo>
                  <a:lnTo>
                    <a:pt x="7655123" y="0"/>
                  </a:lnTo>
                  <a:lnTo>
                    <a:pt x="7655123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95250"/>
              <a:ext cx="7655123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Developers (Unit &amp; Integration tests)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010728" y="6665416"/>
            <a:ext cx="5226695" cy="925116"/>
            <a:chOff x="0" y="0"/>
            <a:chExt cx="6968927" cy="123348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968927" cy="1233488"/>
            </a:xfrm>
            <a:custGeom>
              <a:avLst/>
              <a:gdLst/>
              <a:ahLst/>
              <a:cxnLst/>
              <a:rect l="l" t="t" r="r" b="b"/>
              <a:pathLst>
                <a:path w="6968927" h="1233488">
                  <a:moveTo>
                    <a:pt x="0" y="0"/>
                  </a:moveTo>
                  <a:lnTo>
                    <a:pt x="6968927" y="0"/>
                  </a:lnTo>
                  <a:lnTo>
                    <a:pt x="6968927" y="1233488"/>
                  </a:lnTo>
                  <a:lnTo>
                    <a:pt x="0" y="1233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95250"/>
              <a:ext cx="6968927" cy="1328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2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Developers, QA &amp; Business (Gherkin scenarios)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09774" y="8008441"/>
            <a:ext cx="16668452" cy="463146"/>
            <a:chOff x="0" y="0"/>
            <a:chExt cx="22224603" cy="61752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2224603" cy="617528"/>
            </a:xfrm>
            <a:custGeom>
              <a:avLst/>
              <a:gdLst/>
              <a:ahLst/>
              <a:cxnLst/>
              <a:rect l="l" t="t" r="r" b="b"/>
              <a:pathLst>
                <a:path w="22224603" h="617528">
                  <a:moveTo>
                    <a:pt x="0" y="0"/>
                  </a:moveTo>
                  <a:lnTo>
                    <a:pt x="22224603" y="0"/>
                  </a:lnTo>
                  <a:lnTo>
                    <a:pt x="22224603" y="617528"/>
                  </a:lnTo>
                  <a:lnTo>
                    <a:pt x="0" y="617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104775"/>
              <a:ext cx="22224603" cy="7223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08"/>
                </a:lnSpc>
              </a:pPr>
              <a:r>
                <a:rPr lang="en-US" sz="2549" b="1" u="sng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Note:</a:t>
              </a:r>
              <a:r>
                <a:rPr lang="en-US" sz="25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09774" y="8731151"/>
            <a:ext cx="16668452" cy="462558"/>
            <a:chOff x="0" y="0"/>
            <a:chExt cx="22224603" cy="616743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2224603" cy="616743"/>
            </a:xfrm>
            <a:custGeom>
              <a:avLst/>
              <a:gdLst/>
              <a:ahLst/>
              <a:cxnLst/>
              <a:rect l="l" t="t" r="r" b="b"/>
              <a:pathLst>
                <a:path w="22224603" h="616743">
                  <a:moveTo>
                    <a:pt x="0" y="0"/>
                  </a:moveTo>
                  <a:lnTo>
                    <a:pt x="22224603" y="0"/>
                  </a:lnTo>
                  <a:lnTo>
                    <a:pt x="22224603" y="616743"/>
                  </a:lnTo>
                  <a:lnTo>
                    <a:pt x="0" y="616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85725"/>
              <a:ext cx="22224603" cy="702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8752" lvl="1" indent="-174376" algn="l">
                <a:lnSpc>
                  <a:spcPts val="3668"/>
                </a:lnSpc>
                <a:buFont typeface="Arial"/>
                <a:buChar char="•"/>
              </a:pPr>
              <a:r>
                <a:rPr lang="en-US" sz="23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DevOps</a:t>
              </a:r>
              <a:r>
                <a:rPr lang="en-US" sz="23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plays a key role in TDD/BDD, but from an automation &amp; pipeline integration perspective!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6283" y="579933"/>
            <a:ext cx="10733560" cy="1143006"/>
            <a:chOff x="0" y="0"/>
            <a:chExt cx="14311413" cy="15240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11413" cy="1524008"/>
            </a:xfrm>
            <a:custGeom>
              <a:avLst/>
              <a:gdLst/>
              <a:ahLst/>
              <a:cxnLst/>
              <a:rect l="l" t="t" r="r" b="b"/>
              <a:pathLst>
                <a:path w="14311413" h="1524008">
                  <a:moveTo>
                    <a:pt x="0" y="0"/>
                  </a:moveTo>
                  <a:lnTo>
                    <a:pt x="14311413" y="0"/>
                  </a:lnTo>
                  <a:lnTo>
                    <a:pt x="14311413" y="1524008"/>
                  </a:lnTo>
                  <a:lnTo>
                    <a:pt x="0" y="15240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311413" cy="1571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686"/>
                </a:lnSpc>
              </a:pPr>
              <a:r>
                <a:rPr lang="en-US" sz="536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Task distribution in TDD &amp; BDD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6283" y="2084888"/>
            <a:ext cx="4015860" cy="669597"/>
            <a:chOff x="0" y="0"/>
            <a:chExt cx="5354480" cy="892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54481" cy="892797"/>
            </a:xfrm>
            <a:custGeom>
              <a:avLst/>
              <a:gdLst/>
              <a:ahLst/>
              <a:cxnLst/>
              <a:rect l="l" t="t" r="r" b="b"/>
              <a:pathLst>
                <a:path w="5354481" h="892797">
                  <a:moveTo>
                    <a:pt x="0" y="0"/>
                  </a:moveTo>
                  <a:lnTo>
                    <a:pt x="5354481" y="0"/>
                  </a:lnTo>
                  <a:lnTo>
                    <a:pt x="5354481" y="892797"/>
                  </a:lnTo>
                  <a:lnTo>
                    <a:pt x="0" y="892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354480" cy="940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3"/>
                </a:lnSpc>
              </a:pPr>
              <a:r>
                <a:rPr lang="en-US" sz="3299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DevOps + TDD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6283" y="2859261"/>
            <a:ext cx="17057470" cy="1144142"/>
            <a:chOff x="0" y="0"/>
            <a:chExt cx="22743294" cy="15255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43294" cy="1525522"/>
            </a:xfrm>
            <a:custGeom>
              <a:avLst/>
              <a:gdLst/>
              <a:ahLst/>
              <a:cxnLst/>
              <a:rect l="l" t="t" r="r" b="b"/>
              <a:pathLst>
                <a:path w="22743294" h="1525522">
                  <a:moveTo>
                    <a:pt x="0" y="0"/>
                  </a:moveTo>
                  <a:lnTo>
                    <a:pt x="22743294" y="0"/>
                  </a:lnTo>
                  <a:lnTo>
                    <a:pt x="22743294" y="1525522"/>
                  </a:lnTo>
                  <a:lnTo>
                    <a:pt x="0" y="15255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2743294" cy="1620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Developers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: Write unit tests before coding, refactor after passing tests, and ensure integration tests validate interactions.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6283" y="3992688"/>
            <a:ext cx="17057470" cy="572071"/>
            <a:chOff x="0" y="0"/>
            <a:chExt cx="22743294" cy="7627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3294" cy="762761"/>
            </a:xfrm>
            <a:custGeom>
              <a:avLst/>
              <a:gdLst/>
              <a:ahLst/>
              <a:cxnLst/>
              <a:rect l="l" t="t" r="r" b="b"/>
              <a:pathLst>
                <a:path w="22743294" h="762761">
                  <a:moveTo>
                    <a:pt x="0" y="0"/>
                  </a:moveTo>
                  <a:lnTo>
                    <a:pt x="22743294" y="0"/>
                  </a:lnTo>
                  <a:lnTo>
                    <a:pt x="22743294" y="762761"/>
                  </a:lnTo>
                  <a:lnTo>
                    <a:pt x="0" y="7627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22743294" cy="8580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QA Engineers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: Define edge cases, set up automated testing, and analyze test reports.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6283" y="4669534"/>
            <a:ext cx="17057470" cy="1144142"/>
            <a:chOff x="0" y="0"/>
            <a:chExt cx="22743294" cy="15255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743294" cy="1525522"/>
            </a:xfrm>
            <a:custGeom>
              <a:avLst/>
              <a:gdLst/>
              <a:ahLst/>
              <a:cxnLst/>
              <a:rect l="l" t="t" r="r" b="b"/>
              <a:pathLst>
                <a:path w="22743294" h="1525522">
                  <a:moveTo>
                    <a:pt x="0" y="0"/>
                  </a:moveTo>
                  <a:lnTo>
                    <a:pt x="22743294" y="0"/>
                  </a:lnTo>
                  <a:lnTo>
                    <a:pt x="22743294" y="1525522"/>
                  </a:lnTo>
                  <a:lnTo>
                    <a:pt x="0" y="15255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2743294" cy="1620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DevOps Engineers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: Automate CI/CD testing, enforce test success before merging, validate Terraform with Terratest, and integrate performance/security tests.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6283" y="6282187"/>
            <a:ext cx="4015860" cy="669597"/>
            <a:chOff x="0" y="0"/>
            <a:chExt cx="5354480" cy="8927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54481" cy="892797"/>
            </a:xfrm>
            <a:custGeom>
              <a:avLst/>
              <a:gdLst/>
              <a:ahLst/>
              <a:cxnLst/>
              <a:rect l="l" t="t" r="r" b="b"/>
              <a:pathLst>
                <a:path w="5354481" h="892797">
                  <a:moveTo>
                    <a:pt x="0" y="0"/>
                  </a:moveTo>
                  <a:lnTo>
                    <a:pt x="5354481" y="0"/>
                  </a:lnTo>
                  <a:lnTo>
                    <a:pt x="5354481" y="892797"/>
                  </a:lnTo>
                  <a:lnTo>
                    <a:pt x="0" y="892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354480" cy="940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3"/>
                </a:lnSpc>
              </a:pPr>
              <a:r>
                <a:rPr lang="en-US" sz="3299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DevOps + BDD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6283" y="7314172"/>
            <a:ext cx="17057470" cy="572071"/>
            <a:chOff x="0" y="0"/>
            <a:chExt cx="22743294" cy="7627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743294" cy="762761"/>
            </a:xfrm>
            <a:custGeom>
              <a:avLst/>
              <a:gdLst/>
              <a:ahLst/>
              <a:cxnLst/>
              <a:rect l="l" t="t" r="r" b="b"/>
              <a:pathLst>
                <a:path w="22743294" h="762761">
                  <a:moveTo>
                    <a:pt x="0" y="0"/>
                  </a:moveTo>
                  <a:lnTo>
                    <a:pt x="22743294" y="0"/>
                  </a:lnTo>
                  <a:lnTo>
                    <a:pt x="22743294" y="762761"/>
                  </a:lnTo>
                  <a:lnTo>
                    <a:pt x="0" y="7627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22743294" cy="8580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Developers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: Define features in Gherkin, implement step definitions, and align code with test expectations.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6283" y="7986335"/>
            <a:ext cx="17057470" cy="572071"/>
            <a:chOff x="0" y="0"/>
            <a:chExt cx="22743294" cy="7627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743294" cy="762761"/>
            </a:xfrm>
            <a:custGeom>
              <a:avLst/>
              <a:gdLst/>
              <a:ahLst/>
              <a:cxnLst/>
              <a:rect l="l" t="t" r="r" b="b"/>
              <a:pathLst>
                <a:path w="22743294" h="762761">
                  <a:moveTo>
                    <a:pt x="0" y="0"/>
                  </a:moveTo>
                  <a:lnTo>
                    <a:pt x="22743294" y="0"/>
                  </a:lnTo>
                  <a:lnTo>
                    <a:pt x="22743294" y="762761"/>
                  </a:lnTo>
                  <a:lnTo>
                    <a:pt x="0" y="7627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22743294" cy="8580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QA Engineers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: Write BDD scenarios, automate UI/API tests, and validate functionality.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6283" y="8658498"/>
            <a:ext cx="17057470" cy="1144142"/>
            <a:chOff x="0" y="0"/>
            <a:chExt cx="22743294" cy="152552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743294" cy="1525522"/>
            </a:xfrm>
            <a:custGeom>
              <a:avLst/>
              <a:gdLst/>
              <a:ahLst/>
              <a:cxnLst/>
              <a:rect l="l" t="t" r="r" b="b"/>
              <a:pathLst>
                <a:path w="22743294" h="1525522">
                  <a:moveTo>
                    <a:pt x="0" y="0"/>
                  </a:moveTo>
                  <a:lnTo>
                    <a:pt x="22743294" y="0"/>
                  </a:lnTo>
                  <a:lnTo>
                    <a:pt x="22743294" y="1525522"/>
                  </a:lnTo>
                  <a:lnTo>
                    <a:pt x="0" y="15255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22743294" cy="1620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DevOps Engineers</a:t>
              </a:r>
              <a:r>
                <a:rPr lang="en-US" sz="229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: Automate BDD testing in CI/CD, enforce test success before merging, validate Terraform changes, and generate test reports.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92238" y="788491"/>
            <a:ext cx="9400134" cy="708720"/>
            <a:chOff x="0" y="0"/>
            <a:chExt cx="12533512" cy="9449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33512" cy="944960"/>
            </a:xfrm>
            <a:custGeom>
              <a:avLst/>
              <a:gdLst/>
              <a:ahLst/>
              <a:cxnLst/>
              <a:rect l="l" t="t" r="r" b="b"/>
              <a:pathLst>
                <a:path w="12533512" h="944960">
                  <a:moveTo>
                    <a:pt x="0" y="0"/>
                  </a:moveTo>
                  <a:lnTo>
                    <a:pt x="12533512" y="0"/>
                  </a:lnTo>
                  <a:lnTo>
                    <a:pt x="12533512" y="944960"/>
                  </a:lnTo>
                  <a:lnTo>
                    <a:pt x="0" y="94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533512" cy="98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Code Coverage &amp; Quality Analysis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8" y="1780729"/>
            <a:ext cx="9445526" cy="1133772"/>
            <a:chOff x="0" y="0"/>
            <a:chExt cx="12594035" cy="15116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4035" cy="1511697"/>
            </a:xfrm>
            <a:custGeom>
              <a:avLst/>
              <a:gdLst/>
              <a:ahLst/>
              <a:cxnLst/>
              <a:rect l="l" t="t" r="r" b="b"/>
              <a:pathLst>
                <a:path w="12594035" h="1511697">
                  <a:moveTo>
                    <a:pt x="0" y="0"/>
                  </a:moveTo>
                  <a:lnTo>
                    <a:pt x="12594035" y="0"/>
                  </a:lnTo>
                  <a:lnTo>
                    <a:pt x="12594035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12594035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Code coverage measures </a:t>
              </a:r>
              <a:r>
                <a:rPr lang="en-US" sz="24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how much of your code is executed by tests.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2238" y="3339704"/>
            <a:ext cx="9445526" cy="885825"/>
            <a:chOff x="0" y="0"/>
            <a:chExt cx="12594035" cy="1181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594035" cy="1181100"/>
            </a:xfrm>
            <a:custGeom>
              <a:avLst/>
              <a:gdLst/>
              <a:ahLst/>
              <a:cxnLst/>
              <a:rect l="l" t="t" r="r" b="b"/>
              <a:pathLst>
                <a:path w="12594035" h="1181100">
                  <a:moveTo>
                    <a:pt x="0" y="0"/>
                  </a:moveTo>
                  <a:lnTo>
                    <a:pt x="12594035" y="0"/>
                  </a:lnTo>
                  <a:lnTo>
                    <a:pt x="12594035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594035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04C8E"/>
                  </a:solidFill>
                  <a:latin typeface="Arimo"/>
                  <a:ea typeface="Arimo"/>
                  <a:cs typeface="Arimo"/>
                  <a:sym typeface="Arimo"/>
                </a:rPr>
                <a:t>Why Code Coverage is Essential for High-Quality Software ?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2238" y="4969669"/>
            <a:ext cx="637878" cy="637877"/>
            <a:chOff x="0" y="0"/>
            <a:chExt cx="850503" cy="8505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1098575" y="5022800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913632" y="4969669"/>
            <a:ext cx="3570089" cy="442912"/>
            <a:chOff x="0" y="0"/>
            <a:chExt cx="4760118" cy="5905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60118" cy="590550"/>
            </a:xfrm>
            <a:custGeom>
              <a:avLst/>
              <a:gdLst/>
              <a:ahLst/>
              <a:cxnLst/>
              <a:rect l="l" t="t" r="r" b="b"/>
              <a:pathLst>
                <a:path w="4760118" h="590550">
                  <a:moveTo>
                    <a:pt x="0" y="0"/>
                  </a:moveTo>
                  <a:lnTo>
                    <a:pt x="4760118" y="0"/>
                  </a:lnTo>
                  <a:lnTo>
                    <a:pt x="4760118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760118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Essential for Quality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13632" y="5582691"/>
            <a:ext cx="3659684" cy="918315"/>
            <a:chOff x="0" y="0"/>
            <a:chExt cx="4879578" cy="12244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9579" cy="1224419"/>
            </a:xfrm>
            <a:custGeom>
              <a:avLst/>
              <a:gdLst/>
              <a:ahLst/>
              <a:cxnLst/>
              <a:rect l="l" t="t" r="r" b="b"/>
              <a:pathLst>
                <a:path w="4879579" h="1224419">
                  <a:moveTo>
                    <a:pt x="0" y="0"/>
                  </a:moveTo>
                  <a:lnTo>
                    <a:pt x="4879579" y="0"/>
                  </a:lnTo>
                  <a:lnTo>
                    <a:pt x="4879579" y="1224419"/>
                  </a:lnTo>
                  <a:lnTo>
                    <a:pt x="0" y="12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4879578" cy="13291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Measures code executed by tests.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856834" y="4969669"/>
            <a:ext cx="637878" cy="637877"/>
            <a:chOff x="0" y="0"/>
            <a:chExt cx="850503" cy="85050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5963171" y="5022800"/>
            <a:ext cx="425203" cy="531614"/>
          </a:xfrm>
          <a:custGeom>
            <a:avLst/>
            <a:gdLst/>
            <a:ahLst/>
            <a:cxnLst/>
            <a:rect l="l" t="t" r="r" b="b"/>
            <a:pathLst>
              <a:path w="425203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6778229" y="4748212"/>
            <a:ext cx="3996351" cy="885825"/>
            <a:chOff x="0" y="0"/>
            <a:chExt cx="5328468" cy="1181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28468" cy="1181100"/>
            </a:xfrm>
            <a:custGeom>
              <a:avLst/>
              <a:gdLst/>
              <a:ahLst/>
              <a:cxnLst/>
              <a:rect l="l" t="t" r="r" b="b"/>
              <a:pathLst>
                <a:path w="5328468" h="1181100">
                  <a:moveTo>
                    <a:pt x="0" y="0"/>
                  </a:moveTo>
                  <a:lnTo>
                    <a:pt x="5328468" y="0"/>
                  </a:lnTo>
                  <a:lnTo>
                    <a:pt x="5328468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328468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Better Test Effectiveness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78229" y="5607546"/>
            <a:ext cx="3659684" cy="918315"/>
            <a:chOff x="0" y="0"/>
            <a:chExt cx="4879578" cy="12244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79579" cy="1224419"/>
            </a:xfrm>
            <a:custGeom>
              <a:avLst/>
              <a:gdLst/>
              <a:ahLst/>
              <a:cxnLst/>
              <a:rect l="l" t="t" r="r" b="b"/>
              <a:pathLst>
                <a:path w="4879579" h="1224419">
                  <a:moveTo>
                    <a:pt x="0" y="0"/>
                  </a:moveTo>
                  <a:lnTo>
                    <a:pt x="4879579" y="0"/>
                  </a:lnTo>
                  <a:lnTo>
                    <a:pt x="4879579" y="1224419"/>
                  </a:lnTo>
                  <a:lnTo>
                    <a:pt x="0" y="12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04775"/>
              <a:ext cx="4879578" cy="13291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Uncovers untested code paths.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2238" y="7535316"/>
            <a:ext cx="637878" cy="637878"/>
            <a:chOff x="0" y="0"/>
            <a:chExt cx="850503" cy="8505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Freeform 37" descr="preencoded.png"/>
          <p:cNvSpPr/>
          <p:nvPr/>
        </p:nvSpPr>
        <p:spPr>
          <a:xfrm>
            <a:off x="1098575" y="7588449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3"/>
                </a:lnTo>
                <a:lnTo>
                  <a:pt x="0" y="5316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8" name="Group 38"/>
          <p:cNvGrpSpPr/>
          <p:nvPr/>
        </p:nvGrpSpPr>
        <p:grpSpPr>
          <a:xfrm>
            <a:off x="1913632" y="7535316"/>
            <a:ext cx="3544044" cy="442912"/>
            <a:chOff x="0" y="0"/>
            <a:chExt cx="4725392" cy="5905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Fewer Bugs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913632" y="8148340"/>
            <a:ext cx="3659684" cy="918315"/>
            <a:chOff x="0" y="0"/>
            <a:chExt cx="4879578" cy="12244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9579" cy="1224419"/>
            </a:xfrm>
            <a:custGeom>
              <a:avLst/>
              <a:gdLst/>
              <a:ahLst/>
              <a:cxnLst/>
              <a:rect l="l" t="t" r="r" b="b"/>
              <a:pathLst>
                <a:path w="4879579" h="1224419">
                  <a:moveTo>
                    <a:pt x="0" y="0"/>
                  </a:moveTo>
                  <a:lnTo>
                    <a:pt x="4879579" y="0"/>
                  </a:lnTo>
                  <a:lnTo>
                    <a:pt x="4879579" y="1224419"/>
                  </a:lnTo>
                  <a:lnTo>
                    <a:pt x="0" y="12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4879578" cy="13291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Reduces production failures.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856834" y="7535316"/>
            <a:ext cx="637878" cy="637878"/>
            <a:chOff x="0" y="0"/>
            <a:chExt cx="850503" cy="85050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Freeform 46" descr="preencoded.png"/>
          <p:cNvSpPr/>
          <p:nvPr/>
        </p:nvSpPr>
        <p:spPr>
          <a:xfrm>
            <a:off x="5963171" y="7588449"/>
            <a:ext cx="425203" cy="531614"/>
          </a:xfrm>
          <a:custGeom>
            <a:avLst/>
            <a:gdLst/>
            <a:ahLst/>
            <a:cxnLst/>
            <a:rect l="l" t="t" r="r" b="b"/>
            <a:pathLst>
              <a:path w="425203" h="531614">
                <a:moveTo>
                  <a:pt x="0" y="0"/>
                </a:moveTo>
                <a:lnTo>
                  <a:pt x="425203" y="0"/>
                </a:lnTo>
                <a:lnTo>
                  <a:pt x="425203" y="531613"/>
                </a:lnTo>
                <a:lnTo>
                  <a:pt x="0" y="5316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7" name="Group 47"/>
          <p:cNvGrpSpPr/>
          <p:nvPr/>
        </p:nvGrpSpPr>
        <p:grpSpPr>
          <a:xfrm>
            <a:off x="6703414" y="7313860"/>
            <a:ext cx="3809314" cy="885825"/>
            <a:chOff x="0" y="0"/>
            <a:chExt cx="5079085" cy="11811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079085" cy="1181100"/>
            </a:xfrm>
            <a:custGeom>
              <a:avLst/>
              <a:gdLst/>
              <a:ahLst/>
              <a:cxnLst/>
              <a:rect l="l" t="t" r="r" b="b"/>
              <a:pathLst>
                <a:path w="5079085" h="1181100">
                  <a:moveTo>
                    <a:pt x="0" y="0"/>
                  </a:moveTo>
                  <a:lnTo>
                    <a:pt x="5079085" y="0"/>
                  </a:lnTo>
                  <a:lnTo>
                    <a:pt x="5079085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5079085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Improved</a:t>
              </a:r>
              <a:r>
                <a:rPr lang="en-US" sz="2750" b="1">
                  <a:solidFill>
                    <a:srgbClr val="504C4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275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Maintainability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78080" y="8173194"/>
            <a:ext cx="3659684" cy="918315"/>
            <a:chOff x="0" y="0"/>
            <a:chExt cx="4879578" cy="122441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879579" cy="1224419"/>
            </a:xfrm>
            <a:custGeom>
              <a:avLst/>
              <a:gdLst/>
              <a:ahLst/>
              <a:cxnLst/>
              <a:rect l="l" t="t" r="r" b="b"/>
              <a:pathLst>
                <a:path w="4879579" h="1224419">
                  <a:moveTo>
                    <a:pt x="0" y="0"/>
                  </a:moveTo>
                  <a:lnTo>
                    <a:pt x="4879579" y="0"/>
                  </a:lnTo>
                  <a:lnTo>
                    <a:pt x="4879579" y="1224419"/>
                  </a:lnTo>
                  <a:lnTo>
                    <a:pt x="0" y="12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04775"/>
              <a:ext cx="4879578" cy="13291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Ensures critical logic is tested.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8603" y="783230"/>
            <a:ext cx="10427460" cy="1097212"/>
            <a:chOff x="0" y="0"/>
            <a:chExt cx="13903279" cy="14629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03280" cy="1462950"/>
            </a:xfrm>
            <a:custGeom>
              <a:avLst/>
              <a:gdLst/>
              <a:ahLst/>
              <a:cxnLst/>
              <a:rect l="l" t="t" r="r" b="b"/>
              <a:pathLst>
                <a:path w="13903280" h="1462950">
                  <a:moveTo>
                    <a:pt x="0" y="0"/>
                  </a:moveTo>
                  <a:lnTo>
                    <a:pt x="13903280" y="0"/>
                  </a:lnTo>
                  <a:lnTo>
                    <a:pt x="13903280" y="1462950"/>
                  </a:lnTo>
                  <a:lnTo>
                    <a:pt x="0" y="1462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903279" cy="15105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16"/>
                </a:lnSpc>
              </a:pPr>
              <a:r>
                <a:rPr lang="en-US" sz="4675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Popular Code Coverage Tools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3840" y="2423369"/>
            <a:ext cx="16380321" cy="6843712"/>
            <a:chOff x="0" y="0"/>
            <a:chExt cx="21840428" cy="91249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840444" cy="9124950"/>
            </a:xfrm>
            <a:custGeom>
              <a:avLst/>
              <a:gdLst/>
              <a:ahLst/>
              <a:cxnLst/>
              <a:rect l="l" t="t" r="r" b="b"/>
              <a:pathLst>
                <a:path w="21840444" h="9124950">
                  <a:moveTo>
                    <a:pt x="0" y="61087"/>
                  </a:moveTo>
                  <a:cubicBezTo>
                    <a:pt x="0" y="27305"/>
                    <a:pt x="27432" y="0"/>
                    <a:pt x="61214" y="0"/>
                  </a:cubicBezTo>
                  <a:lnTo>
                    <a:pt x="21779230" y="0"/>
                  </a:lnTo>
                  <a:lnTo>
                    <a:pt x="21779230" y="6350"/>
                  </a:lnTo>
                  <a:lnTo>
                    <a:pt x="21779230" y="0"/>
                  </a:lnTo>
                  <a:cubicBezTo>
                    <a:pt x="21813013" y="0"/>
                    <a:pt x="21840444" y="27305"/>
                    <a:pt x="21840444" y="61087"/>
                  </a:cubicBezTo>
                  <a:lnTo>
                    <a:pt x="21834094" y="61087"/>
                  </a:lnTo>
                  <a:lnTo>
                    <a:pt x="21840444" y="61087"/>
                  </a:lnTo>
                  <a:lnTo>
                    <a:pt x="21840444" y="9063863"/>
                  </a:lnTo>
                  <a:lnTo>
                    <a:pt x="21834094" y="9063863"/>
                  </a:lnTo>
                  <a:lnTo>
                    <a:pt x="21840444" y="9063863"/>
                  </a:lnTo>
                  <a:cubicBezTo>
                    <a:pt x="21840444" y="9097645"/>
                    <a:pt x="21813013" y="9124950"/>
                    <a:pt x="21779230" y="9124950"/>
                  </a:cubicBezTo>
                  <a:lnTo>
                    <a:pt x="21779230" y="9118600"/>
                  </a:lnTo>
                  <a:lnTo>
                    <a:pt x="21779230" y="9124950"/>
                  </a:lnTo>
                  <a:lnTo>
                    <a:pt x="61214" y="9124950"/>
                  </a:lnTo>
                  <a:lnTo>
                    <a:pt x="61214" y="9118600"/>
                  </a:lnTo>
                  <a:lnTo>
                    <a:pt x="61214" y="9124950"/>
                  </a:lnTo>
                  <a:cubicBezTo>
                    <a:pt x="27432" y="9124950"/>
                    <a:pt x="0" y="9097645"/>
                    <a:pt x="0" y="9063863"/>
                  </a:cubicBezTo>
                  <a:lnTo>
                    <a:pt x="0" y="61087"/>
                  </a:lnTo>
                  <a:lnTo>
                    <a:pt x="6350" y="61087"/>
                  </a:lnTo>
                  <a:lnTo>
                    <a:pt x="0" y="61087"/>
                  </a:lnTo>
                  <a:moveTo>
                    <a:pt x="12700" y="61087"/>
                  </a:moveTo>
                  <a:lnTo>
                    <a:pt x="12700" y="9063863"/>
                  </a:lnTo>
                  <a:lnTo>
                    <a:pt x="6350" y="9063863"/>
                  </a:lnTo>
                  <a:lnTo>
                    <a:pt x="12700" y="9063863"/>
                  </a:lnTo>
                  <a:cubicBezTo>
                    <a:pt x="12700" y="9090660"/>
                    <a:pt x="34417" y="9112250"/>
                    <a:pt x="61214" y="9112250"/>
                  </a:cubicBezTo>
                  <a:lnTo>
                    <a:pt x="21779230" y="9112250"/>
                  </a:lnTo>
                  <a:cubicBezTo>
                    <a:pt x="21806027" y="9112250"/>
                    <a:pt x="21827744" y="9090533"/>
                    <a:pt x="21827744" y="9063863"/>
                  </a:cubicBezTo>
                  <a:lnTo>
                    <a:pt x="21827744" y="61087"/>
                  </a:lnTo>
                  <a:cubicBezTo>
                    <a:pt x="21827744" y="34290"/>
                    <a:pt x="21806027" y="12700"/>
                    <a:pt x="21779230" y="12700"/>
                  </a:cubicBezTo>
                  <a:lnTo>
                    <a:pt x="61214" y="12700"/>
                  </a:lnTo>
                  <a:lnTo>
                    <a:pt x="61214" y="6350"/>
                  </a:lnTo>
                  <a:lnTo>
                    <a:pt x="61214" y="12700"/>
                  </a:lnTo>
                  <a:cubicBezTo>
                    <a:pt x="34417" y="12700"/>
                    <a:pt x="12700" y="34417"/>
                    <a:pt x="12700" y="6108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8127" y="2437656"/>
            <a:ext cx="16351746" cy="895350"/>
            <a:chOff x="0" y="0"/>
            <a:chExt cx="21802328" cy="1193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802344" cy="1193800"/>
            </a:xfrm>
            <a:custGeom>
              <a:avLst/>
              <a:gdLst/>
              <a:ahLst/>
              <a:cxnLst/>
              <a:rect l="l" t="t" r="r" b="b"/>
              <a:pathLst>
                <a:path w="21802344" h="1193800">
                  <a:moveTo>
                    <a:pt x="0" y="0"/>
                  </a:moveTo>
                  <a:lnTo>
                    <a:pt x="21802344" y="0"/>
                  </a:lnTo>
                  <a:lnTo>
                    <a:pt x="21802344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42269" y="2611487"/>
            <a:ext cx="2920604" cy="547688"/>
            <a:chOff x="0" y="0"/>
            <a:chExt cx="3894138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94138" cy="730250"/>
            </a:xfrm>
            <a:custGeom>
              <a:avLst/>
              <a:gdLst/>
              <a:ahLst/>
              <a:cxnLst/>
              <a:rect l="l" t="t" r="r" b="b"/>
              <a:pathLst>
                <a:path w="3894138" h="730250">
                  <a:moveTo>
                    <a:pt x="0" y="0"/>
                  </a:moveTo>
                  <a:lnTo>
                    <a:pt x="3894138" y="0"/>
                  </a:lnTo>
                  <a:lnTo>
                    <a:pt x="389413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3894138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Language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20084" y="2611487"/>
            <a:ext cx="3365450" cy="547688"/>
            <a:chOff x="0" y="0"/>
            <a:chExt cx="4487267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87267" cy="730250"/>
            </a:xfrm>
            <a:custGeom>
              <a:avLst/>
              <a:gdLst/>
              <a:ahLst/>
              <a:cxnLst/>
              <a:rect l="l" t="t" r="r" b="b"/>
              <a:pathLst>
                <a:path w="4487267" h="730250">
                  <a:moveTo>
                    <a:pt x="0" y="0"/>
                  </a:moveTo>
                  <a:lnTo>
                    <a:pt x="4487267" y="0"/>
                  </a:lnTo>
                  <a:lnTo>
                    <a:pt x="44872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04775"/>
              <a:ext cx="448726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Tool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45709" y="2611487"/>
            <a:ext cx="8403282" cy="547688"/>
            <a:chOff x="0" y="0"/>
            <a:chExt cx="11204377" cy="7302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204377" cy="730250"/>
            </a:xfrm>
            <a:custGeom>
              <a:avLst/>
              <a:gdLst/>
              <a:ahLst/>
              <a:cxnLst/>
              <a:rect l="l" t="t" r="r" b="b"/>
              <a:pathLst>
                <a:path w="11204377" h="730250">
                  <a:moveTo>
                    <a:pt x="0" y="0"/>
                  </a:moveTo>
                  <a:lnTo>
                    <a:pt x="11204377" y="0"/>
                  </a:lnTo>
                  <a:lnTo>
                    <a:pt x="1120437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1120437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Key DevOps Features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8127" y="3333006"/>
            <a:ext cx="16351746" cy="895350"/>
            <a:chOff x="0" y="0"/>
            <a:chExt cx="21802328" cy="1193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802344" cy="1193800"/>
            </a:xfrm>
            <a:custGeom>
              <a:avLst/>
              <a:gdLst/>
              <a:ahLst/>
              <a:cxnLst/>
              <a:rect l="l" t="t" r="r" b="b"/>
              <a:pathLst>
                <a:path w="21802344" h="1193800">
                  <a:moveTo>
                    <a:pt x="0" y="0"/>
                  </a:moveTo>
                  <a:lnTo>
                    <a:pt x="21802344" y="0"/>
                  </a:lnTo>
                  <a:lnTo>
                    <a:pt x="21802344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42269" y="3506838"/>
            <a:ext cx="2920604" cy="547688"/>
            <a:chOff x="0" y="0"/>
            <a:chExt cx="3894138" cy="7302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94138" cy="730250"/>
            </a:xfrm>
            <a:custGeom>
              <a:avLst/>
              <a:gdLst/>
              <a:ahLst/>
              <a:cxnLst/>
              <a:rect l="l" t="t" r="r" b="b"/>
              <a:pathLst>
                <a:path w="3894138" h="730250">
                  <a:moveTo>
                    <a:pt x="0" y="0"/>
                  </a:moveTo>
                  <a:lnTo>
                    <a:pt x="3894138" y="0"/>
                  </a:lnTo>
                  <a:lnTo>
                    <a:pt x="389413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3894138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Python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20084" y="3506838"/>
            <a:ext cx="3365450" cy="547688"/>
            <a:chOff x="0" y="0"/>
            <a:chExt cx="4487267" cy="7302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87267" cy="730250"/>
            </a:xfrm>
            <a:custGeom>
              <a:avLst/>
              <a:gdLst/>
              <a:ahLst/>
              <a:cxnLst/>
              <a:rect l="l" t="t" r="r" b="b"/>
              <a:pathLst>
                <a:path w="4487267" h="730250">
                  <a:moveTo>
                    <a:pt x="0" y="0"/>
                  </a:moveTo>
                  <a:lnTo>
                    <a:pt x="4487267" y="0"/>
                  </a:lnTo>
                  <a:lnTo>
                    <a:pt x="44872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448726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pytest-cov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642748" y="3506838"/>
            <a:ext cx="8403282" cy="547688"/>
            <a:chOff x="0" y="0"/>
            <a:chExt cx="11204377" cy="7302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204377" cy="730250"/>
            </a:xfrm>
            <a:custGeom>
              <a:avLst/>
              <a:gdLst/>
              <a:ahLst/>
              <a:cxnLst/>
              <a:rect l="l" t="t" r="r" b="b"/>
              <a:pathLst>
                <a:path w="11204377" h="730250">
                  <a:moveTo>
                    <a:pt x="0" y="0"/>
                  </a:moveTo>
                  <a:lnTo>
                    <a:pt x="11204377" y="0"/>
                  </a:lnTo>
                  <a:lnTo>
                    <a:pt x="1120437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1120437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Lightweight, parallel testing, branch coverage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68127" y="4228356"/>
            <a:ext cx="16351746" cy="895350"/>
            <a:chOff x="0" y="0"/>
            <a:chExt cx="21802328" cy="1193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802344" cy="1193800"/>
            </a:xfrm>
            <a:custGeom>
              <a:avLst/>
              <a:gdLst/>
              <a:ahLst/>
              <a:cxnLst/>
              <a:rect l="l" t="t" r="r" b="b"/>
              <a:pathLst>
                <a:path w="21802344" h="1193800">
                  <a:moveTo>
                    <a:pt x="0" y="0"/>
                  </a:moveTo>
                  <a:lnTo>
                    <a:pt x="21802344" y="0"/>
                  </a:lnTo>
                  <a:lnTo>
                    <a:pt x="21802344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20084" y="4402188"/>
            <a:ext cx="3365450" cy="547688"/>
            <a:chOff x="0" y="0"/>
            <a:chExt cx="4487267" cy="7302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487267" cy="730250"/>
            </a:xfrm>
            <a:custGeom>
              <a:avLst/>
              <a:gdLst/>
              <a:ahLst/>
              <a:cxnLst/>
              <a:rect l="l" t="t" r="r" b="b"/>
              <a:pathLst>
                <a:path w="4487267" h="730250">
                  <a:moveTo>
                    <a:pt x="0" y="0"/>
                  </a:moveTo>
                  <a:lnTo>
                    <a:pt x="4487267" y="0"/>
                  </a:lnTo>
                  <a:lnTo>
                    <a:pt x="44872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04775"/>
              <a:ext cx="448726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coverage.py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642748" y="4402188"/>
            <a:ext cx="8403282" cy="547688"/>
            <a:chOff x="0" y="0"/>
            <a:chExt cx="11204377" cy="7302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04377" cy="730250"/>
            </a:xfrm>
            <a:custGeom>
              <a:avLst/>
              <a:gdLst/>
              <a:ahLst/>
              <a:cxnLst/>
              <a:rect l="l" t="t" r="r" b="b"/>
              <a:pathLst>
                <a:path w="11204377" h="730250">
                  <a:moveTo>
                    <a:pt x="0" y="0"/>
                  </a:moveTo>
                  <a:lnTo>
                    <a:pt x="11204377" y="0"/>
                  </a:lnTo>
                  <a:lnTo>
                    <a:pt x="1120437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1120437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Standalone, exclude code blocks, detailed metrics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68127" y="5123706"/>
            <a:ext cx="16351746" cy="1443038"/>
            <a:chOff x="0" y="0"/>
            <a:chExt cx="21802328" cy="19240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802344" cy="1924050"/>
            </a:xfrm>
            <a:custGeom>
              <a:avLst/>
              <a:gdLst/>
              <a:ahLst/>
              <a:cxnLst/>
              <a:rect l="l" t="t" r="r" b="b"/>
              <a:pathLst>
                <a:path w="21802344" h="1924050">
                  <a:moveTo>
                    <a:pt x="0" y="0"/>
                  </a:moveTo>
                  <a:lnTo>
                    <a:pt x="21802344" y="0"/>
                  </a:lnTo>
                  <a:lnTo>
                    <a:pt x="21802344" y="1924050"/>
                  </a:lnTo>
                  <a:lnTo>
                    <a:pt x="0" y="1924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42269" y="5297538"/>
            <a:ext cx="2920604" cy="547688"/>
            <a:chOff x="0" y="0"/>
            <a:chExt cx="3894138" cy="7302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894138" cy="730250"/>
            </a:xfrm>
            <a:custGeom>
              <a:avLst/>
              <a:gdLst/>
              <a:ahLst/>
              <a:cxnLst/>
              <a:rect l="l" t="t" r="r" b="b"/>
              <a:pathLst>
                <a:path w="3894138" h="730250">
                  <a:moveTo>
                    <a:pt x="0" y="0"/>
                  </a:moveTo>
                  <a:lnTo>
                    <a:pt x="3894138" y="0"/>
                  </a:lnTo>
                  <a:lnTo>
                    <a:pt x="389413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04775"/>
              <a:ext cx="3894138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Java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720084" y="5297538"/>
            <a:ext cx="3365450" cy="547688"/>
            <a:chOff x="0" y="0"/>
            <a:chExt cx="4487267" cy="73025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487267" cy="730250"/>
            </a:xfrm>
            <a:custGeom>
              <a:avLst/>
              <a:gdLst/>
              <a:ahLst/>
              <a:cxnLst/>
              <a:rect l="l" t="t" r="r" b="b"/>
              <a:pathLst>
                <a:path w="4487267" h="730250">
                  <a:moveTo>
                    <a:pt x="0" y="0"/>
                  </a:moveTo>
                  <a:lnTo>
                    <a:pt x="4487267" y="0"/>
                  </a:lnTo>
                  <a:lnTo>
                    <a:pt x="44872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04775"/>
              <a:ext cx="448726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JaCoCo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642748" y="5297538"/>
            <a:ext cx="8403282" cy="1095375"/>
            <a:chOff x="0" y="0"/>
            <a:chExt cx="11204377" cy="14605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204377" cy="1460500"/>
            </a:xfrm>
            <a:custGeom>
              <a:avLst/>
              <a:gdLst/>
              <a:ahLst/>
              <a:cxnLst/>
              <a:rect l="l" t="t" r="r" b="b"/>
              <a:pathLst>
                <a:path w="11204377" h="1460500">
                  <a:moveTo>
                    <a:pt x="0" y="0"/>
                  </a:moveTo>
                  <a:lnTo>
                    <a:pt x="11204377" y="0"/>
                  </a:lnTo>
                  <a:lnTo>
                    <a:pt x="11204377" y="1460500"/>
                  </a:lnTo>
                  <a:lnTo>
                    <a:pt x="0" y="1460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04775"/>
              <a:ext cx="11204377" cy="1565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Gradle/Maven plugin, merge coverage, offline instrumentation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68127" y="6566744"/>
            <a:ext cx="16351746" cy="895350"/>
            <a:chOff x="0" y="0"/>
            <a:chExt cx="21802328" cy="1193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802344" cy="1193800"/>
            </a:xfrm>
            <a:custGeom>
              <a:avLst/>
              <a:gdLst/>
              <a:ahLst/>
              <a:cxnLst/>
              <a:rect l="l" t="t" r="r" b="b"/>
              <a:pathLst>
                <a:path w="21802344" h="1193800">
                  <a:moveTo>
                    <a:pt x="0" y="0"/>
                  </a:moveTo>
                  <a:lnTo>
                    <a:pt x="21802344" y="0"/>
                  </a:lnTo>
                  <a:lnTo>
                    <a:pt x="21802344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20084" y="6740575"/>
            <a:ext cx="3365450" cy="547688"/>
            <a:chOff x="0" y="0"/>
            <a:chExt cx="4487267" cy="73025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487267" cy="730250"/>
            </a:xfrm>
            <a:custGeom>
              <a:avLst/>
              <a:gdLst/>
              <a:ahLst/>
              <a:cxnLst/>
              <a:rect l="l" t="t" r="r" b="b"/>
              <a:pathLst>
                <a:path w="4487267" h="730250">
                  <a:moveTo>
                    <a:pt x="0" y="0"/>
                  </a:moveTo>
                  <a:lnTo>
                    <a:pt x="4487267" y="0"/>
                  </a:lnTo>
                  <a:lnTo>
                    <a:pt x="44872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04775"/>
              <a:ext cx="448726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Cobertura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642748" y="6740575"/>
            <a:ext cx="8403282" cy="547688"/>
            <a:chOff x="0" y="0"/>
            <a:chExt cx="11204377" cy="73025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204377" cy="730250"/>
            </a:xfrm>
            <a:custGeom>
              <a:avLst/>
              <a:gdLst/>
              <a:ahLst/>
              <a:cxnLst/>
              <a:rect l="l" t="t" r="r" b="b"/>
              <a:pathLst>
                <a:path w="11204377" h="730250">
                  <a:moveTo>
                    <a:pt x="0" y="0"/>
                  </a:moveTo>
                  <a:lnTo>
                    <a:pt x="11204377" y="0"/>
                  </a:lnTo>
                  <a:lnTo>
                    <a:pt x="1120437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04775"/>
              <a:ext cx="1120437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Legacy, simple XML reports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8127" y="7462094"/>
            <a:ext cx="16351746" cy="895350"/>
            <a:chOff x="0" y="0"/>
            <a:chExt cx="21802328" cy="1193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802344" cy="1193800"/>
            </a:xfrm>
            <a:custGeom>
              <a:avLst/>
              <a:gdLst/>
              <a:ahLst/>
              <a:cxnLst/>
              <a:rect l="l" t="t" r="r" b="b"/>
              <a:pathLst>
                <a:path w="21802344" h="1193800">
                  <a:moveTo>
                    <a:pt x="0" y="0"/>
                  </a:moveTo>
                  <a:lnTo>
                    <a:pt x="21802344" y="0"/>
                  </a:lnTo>
                  <a:lnTo>
                    <a:pt x="21802344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42269" y="7635925"/>
            <a:ext cx="2920604" cy="547688"/>
            <a:chOff x="0" y="0"/>
            <a:chExt cx="3894138" cy="73025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894138" cy="730250"/>
            </a:xfrm>
            <a:custGeom>
              <a:avLst/>
              <a:gdLst/>
              <a:ahLst/>
              <a:cxnLst/>
              <a:rect l="l" t="t" r="r" b="b"/>
              <a:pathLst>
                <a:path w="3894138" h="730250">
                  <a:moveTo>
                    <a:pt x="0" y="0"/>
                  </a:moveTo>
                  <a:lnTo>
                    <a:pt x="3894138" y="0"/>
                  </a:lnTo>
                  <a:lnTo>
                    <a:pt x="389413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04775"/>
              <a:ext cx="3894138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JavaScript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720084" y="7635925"/>
            <a:ext cx="3365450" cy="547688"/>
            <a:chOff x="0" y="0"/>
            <a:chExt cx="4487267" cy="73025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487267" cy="730250"/>
            </a:xfrm>
            <a:custGeom>
              <a:avLst/>
              <a:gdLst/>
              <a:ahLst/>
              <a:cxnLst/>
              <a:rect l="l" t="t" r="r" b="b"/>
              <a:pathLst>
                <a:path w="4487267" h="730250">
                  <a:moveTo>
                    <a:pt x="0" y="0"/>
                  </a:moveTo>
                  <a:lnTo>
                    <a:pt x="4487267" y="0"/>
                  </a:lnTo>
                  <a:lnTo>
                    <a:pt x="44872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04775"/>
              <a:ext cx="448726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Istanbul (nyc)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642748" y="7635925"/>
            <a:ext cx="8403282" cy="547688"/>
            <a:chOff x="0" y="0"/>
            <a:chExt cx="11204377" cy="73025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204377" cy="730250"/>
            </a:xfrm>
            <a:custGeom>
              <a:avLst/>
              <a:gdLst/>
              <a:ahLst/>
              <a:cxnLst/>
              <a:rect l="l" t="t" r="r" b="b"/>
              <a:pathLst>
                <a:path w="11204377" h="730250">
                  <a:moveTo>
                    <a:pt x="0" y="0"/>
                  </a:moveTo>
                  <a:lnTo>
                    <a:pt x="11204377" y="0"/>
                  </a:lnTo>
                  <a:lnTo>
                    <a:pt x="1120437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104775"/>
              <a:ext cx="1120437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Works with Jest/Mocha, ES6+ support, merge coverage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68127" y="8357444"/>
            <a:ext cx="16351746" cy="895350"/>
            <a:chOff x="0" y="0"/>
            <a:chExt cx="21802328" cy="1193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1802344" cy="1193800"/>
            </a:xfrm>
            <a:custGeom>
              <a:avLst/>
              <a:gdLst/>
              <a:ahLst/>
              <a:cxnLst/>
              <a:rect l="l" t="t" r="r" b="b"/>
              <a:pathLst>
                <a:path w="21802344" h="1193800">
                  <a:moveTo>
                    <a:pt x="0" y="0"/>
                  </a:moveTo>
                  <a:lnTo>
                    <a:pt x="21802344" y="0"/>
                  </a:lnTo>
                  <a:lnTo>
                    <a:pt x="21802344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720084" y="8531275"/>
            <a:ext cx="3365450" cy="547688"/>
            <a:chOff x="0" y="0"/>
            <a:chExt cx="4487267" cy="73025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487267" cy="730250"/>
            </a:xfrm>
            <a:custGeom>
              <a:avLst/>
              <a:gdLst/>
              <a:ahLst/>
              <a:cxnLst/>
              <a:rect l="l" t="t" r="r" b="b"/>
              <a:pathLst>
                <a:path w="4487267" h="730250">
                  <a:moveTo>
                    <a:pt x="0" y="0"/>
                  </a:moveTo>
                  <a:lnTo>
                    <a:pt x="4487267" y="0"/>
                  </a:lnTo>
                  <a:lnTo>
                    <a:pt x="44872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04775"/>
              <a:ext cx="448726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Jest (built-in)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642748" y="8531275"/>
            <a:ext cx="8403282" cy="547688"/>
            <a:chOff x="0" y="0"/>
            <a:chExt cx="11204377" cy="73025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1204377" cy="730250"/>
            </a:xfrm>
            <a:custGeom>
              <a:avLst/>
              <a:gdLst/>
              <a:ahLst/>
              <a:cxnLst/>
              <a:rect l="l" t="t" r="r" b="b"/>
              <a:pathLst>
                <a:path w="11204377" h="730250">
                  <a:moveTo>
                    <a:pt x="0" y="0"/>
                  </a:moveTo>
                  <a:lnTo>
                    <a:pt x="11204377" y="0"/>
                  </a:lnTo>
                  <a:lnTo>
                    <a:pt x="1120437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04775"/>
              <a:ext cx="11204377" cy="835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2"/>
                </a:lnSpc>
              </a:pPr>
              <a:r>
                <a:rPr lang="en-US" sz="26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Zero-config, fast parallel coverage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5164" y="468362"/>
            <a:ext cx="7772549" cy="531465"/>
            <a:chOff x="0" y="0"/>
            <a:chExt cx="10363398" cy="7086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63398" cy="708620"/>
            </a:xfrm>
            <a:custGeom>
              <a:avLst/>
              <a:gdLst/>
              <a:ahLst/>
              <a:cxnLst/>
              <a:rect l="l" t="t" r="r" b="b"/>
              <a:pathLst>
                <a:path w="10363398" h="708620">
                  <a:moveTo>
                    <a:pt x="0" y="0"/>
                  </a:moveTo>
                  <a:lnTo>
                    <a:pt x="10363398" y="0"/>
                  </a:lnTo>
                  <a:lnTo>
                    <a:pt x="10363398" y="708620"/>
                  </a:lnTo>
                  <a:lnTo>
                    <a:pt x="0" y="708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363398" cy="746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Practical : Maintaining code coverage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6407" y="1339900"/>
            <a:ext cx="19050" cy="8478739"/>
            <a:chOff x="0" y="0"/>
            <a:chExt cx="25400" cy="113049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400" cy="11305032"/>
            </a:xfrm>
            <a:custGeom>
              <a:avLst/>
              <a:gdLst/>
              <a:ahLst/>
              <a:cxnLst/>
              <a:rect l="l" t="t" r="r" b="b"/>
              <a:pathLst>
                <a:path w="25400" h="11305032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1292332"/>
                  </a:lnTo>
                  <a:cubicBezTo>
                    <a:pt x="25400" y="11299317"/>
                    <a:pt x="19685" y="11305032"/>
                    <a:pt x="12700" y="11305032"/>
                  </a:cubicBezTo>
                  <a:cubicBezTo>
                    <a:pt x="5715" y="11305032"/>
                    <a:pt x="0" y="11299317"/>
                    <a:pt x="0" y="11292332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8676" y="1712862"/>
            <a:ext cx="510182" cy="19050"/>
            <a:chOff x="0" y="0"/>
            <a:chExt cx="680243" cy="25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0212" cy="25400"/>
            </a:xfrm>
            <a:custGeom>
              <a:avLst/>
              <a:gdLst/>
              <a:ahLst/>
              <a:cxnLst/>
              <a:rect l="l" t="t" r="r" b="b"/>
              <a:pathLst>
                <a:path w="68021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67512" y="0"/>
                  </a:lnTo>
                  <a:cubicBezTo>
                    <a:pt x="674497" y="0"/>
                    <a:pt x="680212" y="5715"/>
                    <a:pt x="680212" y="12700"/>
                  </a:cubicBezTo>
                  <a:cubicBezTo>
                    <a:pt x="680212" y="19685"/>
                    <a:pt x="674497" y="25400"/>
                    <a:pt x="66751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5089" y="1531144"/>
            <a:ext cx="382637" cy="382637"/>
            <a:chOff x="0" y="0"/>
            <a:chExt cx="510183" cy="5101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8787" y="1562993"/>
            <a:ext cx="255091" cy="446566"/>
            <a:chOff x="0" y="0"/>
            <a:chExt cx="340122" cy="59542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0122" cy="595421"/>
            </a:xfrm>
            <a:custGeom>
              <a:avLst/>
              <a:gdLst/>
              <a:ahLst/>
              <a:cxnLst/>
              <a:rect l="l" t="t" r="r" b="b"/>
              <a:pathLst>
                <a:path w="340122" h="595421">
                  <a:moveTo>
                    <a:pt x="0" y="0"/>
                  </a:moveTo>
                  <a:lnTo>
                    <a:pt x="340122" y="0"/>
                  </a:lnTo>
                  <a:lnTo>
                    <a:pt x="340122" y="595421"/>
                  </a:lnTo>
                  <a:lnTo>
                    <a:pt x="0" y="595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340122" cy="5668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36811" y="1509861"/>
            <a:ext cx="7489626" cy="443391"/>
            <a:chOff x="0" y="0"/>
            <a:chExt cx="9986168" cy="5911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86168" cy="591188"/>
            </a:xfrm>
            <a:custGeom>
              <a:avLst/>
              <a:gdLst/>
              <a:ahLst/>
              <a:cxnLst/>
              <a:rect l="l" t="t" r="r" b="b"/>
              <a:pathLst>
                <a:path w="9986168" h="591188">
                  <a:moveTo>
                    <a:pt x="0" y="0"/>
                  </a:moveTo>
                  <a:lnTo>
                    <a:pt x="9986168" y="0"/>
                  </a:lnTo>
                  <a:lnTo>
                    <a:pt x="9986168" y="591188"/>
                  </a:lnTo>
                  <a:lnTo>
                    <a:pt x="0" y="591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986168" cy="619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2199" dirty="0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Create a simple </a:t>
              </a:r>
              <a:r>
                <a:rPr lang="en-US" sz="2199" dirty="0" err="1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calculator.py</a:t>
              </a:r>
              <a:endParaRPr lang="en-US" sz="2199" dirty="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36811" y="1930599"/>
            <a:ext cx="16056025" cy="306787"/>
            <a:chOff x="0" y="0"/>
            <a:chExt cx="21408033" cy="40904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408033" cy="409049"/>
            </a:xfrm>
            <a:custGeom>
              <a:avLst/>
              <a:gdLst/>
              <a:ahLst/>
              <a:cxnLst/>
              <a:rect l="l" t="t" r="r" b="b"/>
              <a:pathLst>
                <a:path w="21408033" h="409049">
                  <a:moveTo>
                    <a:pt x="0" y="0"/>
                  </a:moveTo>
                  <a:lnTo>
                    <a:pt x="21408033" y="0"/>
                  </a:lnTo>
                  <a:lnTo>
                    <a:pt x="21408033" y="409049"/>
                  </a:lnTo>
                  <a:lnTo>
                    <a:pt x="0" y="4090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21408033" cy="475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17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Write the main code and test cases at least 4 functions.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8676" y="2915542"/>
            <a:ext cx="510182" cy="19050"/>
            <a:chOff x="0" y="0"/>
            <a:chExt cx="680243" cy="25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0212" cy="25400"/>
            </a:xfrm>
            <a:custGeom>
              <a:avLst/>
              <a:gdLst/>
              <a:ahLst/>
              <a:cxnLst/>
              <a:rect l="l" t="t" r="r" b="b"/>
              <a:pathLst>
                <a:path w="68021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67512" y="0"/>
                  </a:lnTo>
                  <a:cubicBezTo>
                    <a:pt x="674497" y="0"/>
                    <a:pt x="680212" y="5715"/>
                    <a:pt x="680212" y="12700"/>
                  </a:cubicBezTo>
                  <a:cubicBezTo>
                    <a:pt x="680212" y="19685"/>
                    <a:pt x="674497" y="25400"/>
                    <a:pt x="66751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5089" y="2733824"/>
            <a:ext cx="382637" cy="382638"/>
            <a:chOff x="0" y="0"/>
            <a:chExt cx="510183" cy="5101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8787" y="2765672"/>
            <a:ext cx="255091" cy="446566"/>
            <a:chOff x="0" y="0"/>
            <a:chExt cx="340122" cy="59542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0122" cy="595421"/>
            </a:xfrm>
            <a:custGeom>
              <a:avLst/>
              <a:gdLst/>
              <a:ahLst/>
              <a:cxnLst/>
              <a:rect l="l" t="t" r="r" b="b"/>
              <a:pathLst>
                <a:path w="340122" h="595421">
                  <a:moveTo>
                    <a:pt x="0" y="0"/>
                  </a:moveTo>
                  <a:lnTo>
                    <a:pt x="340122" y="0"/>
                  </a:lnTo>
                  <a:lnTo>
                    <a:pt x="340122" y="595421"/>
                  </a:lnTo>
                  <a:lnTo>
                    <a:pt x="0" y="595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340122" cy="5668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36811" y="2712541"/>
            <a:ext cx="2550914" cy="443391"/>
            <a:chOff x="0" y="0"/>
            <a:chExt cx="3401218" cy="5911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401218" cy="591188"/>
            </a:xfrm>
            <a:custGeom>
              <a:avLst/>
              <a:gdLst/>
              <a:ahLst/>
              <a:cxnLst/>
              <a:rect l="l" t="t" r="r" b="b"/>
              <a:pathLst>
                <a:path w="3401218" h="591188">
                  <a:moveTo>
                    <a:pt x="0" y="0"/>
                  </a:moveTo>
                  <a:lnTo>
                    <a:pt x="3401218" y="0"/>
                  </a:lnTo>
                  <a:lnTo>
                    <a:pt x="3401218" y="591188"/>
                  </a:lnTo>
                  <a:lnTo>
                    <a:pt x="0" y="591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3401218" cy="619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Create a test file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36811" y="3133279"/>
            <a:ext cx="16056025" cy="306787"/>
            <a:chOff x="0" y="0"/>
            <a:chExt cx="21408033" cy="40904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408033" cy="409049"/>
            </a:xfrm>
            <a:custGeom>
              <a:avLst/>
              <a:gdLst/>
              <a:ahLst/>
              <a:cxnLst/>
              <a:rect l="l" t="t" r="r" b="b"/>
              <a:pathLst>
                <a:path w="21408033" h="409049">
                  <a:moveTo>
                    <a:pt x="0" y="0"/>
                  </a:moveTo>
                  <a:lnTo>
                    <a:pt x="21408033" y="0"/>
                  </a:lnTo>
                  <a:lnTo>
                    <a:pt x="21408033" y="409049"/>
                  </a:lnTo>
                  <a:lnTo>
                    <a:pt x="0" y="4090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21408033" cy="475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1712" dirty="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Write test cases for only 2 functions.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8676" y="4118222"/>
            <a:ext cx="510182" cy="19050"/>
            <a:chOff x="0" y="0"/>
            <a:chExt cx="680243" cy="25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80212" cy="25400"/>
            </a:xfrm>
            <a:custGeom>
              <a:avLst/>
              <a:gdLst/>
              <a:ahLst/>
              <a:cxnLst/>
              <a:rect l="l" t="t" r="r" b="b"/>
              <a:pathLst>
                <a:path w="68021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67512" y="0"/>
                  </a:lnTo>
                  <a:cubicBezTo>
                    <a:pt x="674497" y="0"/>
                    <a:pt x="680212" y="5715"/>
                    <a:pt x="680212" y="12700"/>
                  </a:cubicBezTo>
                  <a:cubicBezTo>
                    <a:pt x="680212" y="19685"/>
                    <a:pt x="674497" y="25400"/>
                    <a:pt x="66751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5089" y="3936504"/>
            <a:ext cx="382637" cy="382638"/>
            <a:chOff x="0" y="0"/>
            <a:chExt cx="510183" cy="51018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8787" y="3968352"/>
            <a:ext cx="255091" cy="446566"/>
            <a:chOff x="0" y="0"/>
            <a:chExt cx="340122" cy="59542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40122" cy="595421"/>
            </a:xfrm>
            <a:custGeom>
              <a:avLst/>
              <a:gdLst/>
              <a:ahLst/>
              <a:cxnLst/>
              <a:rect l="l" t="t" r="r" b="b"/>
              <a:pathLst>
                <a:path w="340122" h="595421">
                  <a:moveTo>
                    <a:pt x="0" y="0"/>
                  </a:moveTo>
                  <a:lnTo>
                    <a:pt x="340122" y="0"/>
                  </a:lnTo>
                  <a:lnTo>
                    <a:pt x="340122" y="595421"/>
                  </a:lnTo>
                  <a:lnTo>
                    <a:pt x="0" y="595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28575"/>
              <a:ext cx="340122" cy="5668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36811" y="3915221"/>
            <a:ext cx="3640931" cy="443391"/>
            <a:chOff x="0" y="0"/>
            <a:chExt cx="4854575" cy="5911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54575" cy="591188"/>
            </a:xfrm>
            <a:custGeom>
              <a:avLst/>
              <a:gdLst/>
              <a:ahLst/>
              <a:cxnLst/>
              <a:rect l="l" t="t" r="r" b="b"/>
              <a:pathLst>
                <a:path w="4854575" h="591188">
                  <a:moveTo>
                    <a:pt x="0" y="0"/>
                  </a:moveTo>
                  <a:lnTo>
                    <a:pt x="4854575" y="0"/>
                  </a:lnTo>
                  <a:lnTo>
                    <a:pt x="4854575" y="591188"/>
                  </a:lnTo>
                  <a:lnTo>
                    <a:pt x="0" y="591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4854575" cy="619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Install Pytest and Pytest-Cov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36811" y="4335959"/>
            <a:ext cx="16056025" cy="306787"/>
            <a:chOff x="0" y="0"/>
            <a:chExt cx="21408033" cy="40904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408033" cy="409049"/>
            </a:xfrm>
            <a:custGeom>
              <a:avLst/>
              <a:gdLst/>
              <a:ahLst/>
              <a:cxnLst/>
              <a:rect l="l" t="t" r="r" b="b"/>
              <a:pathLst>
                <a:path w="21408033" h="409049">
                  <a:moveTo>
                    <a:pt x="0" y="0"/>
                  </a:moveTo>
                  <a:lnTo>
                    <a:pt x="21408033" y="0"/>
                  </a:lnTo>
                  <a:lnTo>
                    <a:pt x="21408033" y="409049"/>
                  </a:lnTo>
                  <a:lnTo>
                    <a:pt x="0" y="4090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21408033" cy="475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1712" b="1">
                  <a:solidFill>
                    <a:srgbClr val="1F713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pip3 install pytest pytest-cov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8676" y="5320904"/>
            <a:ext cx="510182" cy="19050"/>
            <a:chOff x="0" y="0"/>
            <a:chExt cx="680243" cy="25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80212" cy="25400"/>
            </a:xfrm>
            <a:custGeom>
              <a:avLst/>
              <a:gdLst/>
              <a:ahLst/>
              <a:cxnLst/>
              <a:rect l="l" t="t" r="r" b="b"/>
              <a:pathLst>
                <a:path w="68021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67512" y="0"/>
                  </a:lnTo>
                  <a:cubicBezTo>
                    <a:pt x="674497" y="0"/>
                    <a:pt x="680212" y="5715"/>
                    <a:pt x="680212" y="12700"/>
                  </a:cubicBezTo>
                  <a:cubicBezTo>
                    <a:pt x="680212" y="19685"/>
                    <a:pt x="674497" y="25400"/>
                    <a:pt x="66751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5089" y="5139184"/>
            <a:ext cx="382637" cy="382637"/>
            <a:chOff x="0" y="0"/>
            <a:chExt cx="510183" cy="51018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58787" y="5171034"/>
            <a:ext cx="255091" cy="446566"/>
            <a:chOff x="0" y="0"/>
            <a:chExt cx="340122" cy="59542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40122" cy="595421"/>
            </a:xfrm>
            <a:custGeom>
              <a:avLst/>
              <a:gdLst/>
              <a:ahLst/>
              <a:cxnLst/>
              <a:rect l="l" t="t" r="r" b="b"/>
              <a:pathLst>
                <a:path w="340122" h="595421">
                  <a:moveTo>
                    <a:pt x="0" y="0"/>
                  </a:moveTo>
                  <a:lnTo>
                    <a:pt x="340122" y="0"/>
                  </a:lnTo>
                  <a:lnTo>
                    <a:pt x="340122" y="595421"/>
                  </a:lnTo>
                  <a:lnTo>
                    <a:pt x="0" y="595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28575"/>
              <a:ext cx="340122" cy="5668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636811" y="5123213"/>
            <a:ext cx="5789734" cy="443391"/>
            <a:chOff x="0" y="0"/>
            <a:chExt cx="7719645" cy="59118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719645" cy="591188"/>
            </a:xfrm>
            <a:custGeom>
              <a:avLst/>
              <a:gdLst/>
              <a:ahLst/>
              <a:cxnLst/>
              <a:rect l="l" t="t" r="r" b="b"/>
              <a:pathLst>
                <a:path w="7719645" h="591188">
                  <a:moveTo>
                    <a:pt x="0" y="0"/>
                  </a:moveTo>
                  <a:lnTo>
                    <a:pt x="7719645" y="0"/>
                  </a:lnTo>
                  <a:lnTo>
                    <a:pt x="7719645" y="591188"/>
                  </a:lnTo>
                  <a:lnTo>
                    <a:pt x="0" y="591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7719645" cy="619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Run tests &amp; measure code coverage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636811" y="5538639"/>
            <a:ext cx="16056025" cy="306787"/>
            <a:chOff x="0" y="0"/>
            <a:chExt cx="21408033" cy="40904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408033" cy="409049"/>
            </a:xfrm>
            <a:custGeom>
              <a:avLst/>
              <a:gdLst/>
              <a:ahLst/>
              <a:cxnLst/>
              <a:rect l="l" t="t" r="r" b="b"/>
              <a:pathLst>
                <a:path w="21408033" h="409049">
                  <a:moveTo>
                    <a:pt x="0" y="0"/>
                  </a:moveTo>
                  <a:lnTo>
                    <a:pt x="21408033" y="0"/>
                  </a:lnTo>
                  <a:lnTo>
                    <a:pt x="21408033" y="409049"/>
                  </a:lnTo>
                  <a:lnTo>
                    <a:pt x="0" y="4090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66675"/>
              <a:ext cx="21408033" cy="475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1712" b="1" dirty="0" err="1">
                  <a:solidFill>
                    <a:srgbClr val="1F713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pytest</a:t>
              </a:r>
              <a:r>
                <a:rPr lang="en-US" sz="1712" b="1" dirty="0">
                  <a:solidFill>
                    <a:srgbClr val="1F713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 —</a:t>
              </a:r>
              <a:r>
                <a:rPr lang="en-US" sz="1712" b="1" dirty="0" err="1">
                  <a:solidFill>
                    <a:srgbClr val="1F713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cov</a:t>
              </a:r>
              <a:r>
                <a:rPr lang="en-US" sz="1712" b="1" dirty="0">
                  <a:solidFill>
                    <a:srgbClr val="1F7135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=calculator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58676" y="6523584"/>
            <a:ext cx="510182" cy="19050"/>
            <a:chOff x="0" y="0"/>
            <a:chExt cx="680243" cy="25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80212" cy="25400"/>
            </a:xfrm>
            <a:custGeom>
              <a:avLst/>
              <a:gdLst/>
              <a:ahLst/>
              <a:cxnLst/>
              <a:rect l="l" t="t" r="r" b="b"/>
              <a:pathLst>
                <a:path w="68021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67512" y="0"/>
                  </a:lnTo>
                  <a:cubicBezTo>
                    <a:pt x="674497" y="0"/>
                    <a:pt x="680212" y="5715"/>
                    <a:pt x="680212" y="12700"/>
                  </a:cubicBezTo>
                  <a:cubicBezTo>
                    <a:pt x="680212" y="19685"/>
                    <a:pt x="674497" y="25400"/>
                    <a:pt x="66751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5089" y="6341864"/>
            <a:ext cx="382637" cy="382637"/>
            <a:chOff x="0" y="0"/>
            <a:chExt cx="510183" cy="51018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58787" y="6373714"/>
            <a:ext cx="255091" cy="446566"/>
            <a:chOff x="0" y="0"/>
            <a:chExt cx="340122" cy="59542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40122" cy="595421"/>
            </a:xfrm>
            <a:custGeom>
              <a:avLst/>
              <a:gdLst/>
              <a:ahLst/>
              <a:cxnLst/>
              <a:rect l="l" t="t" r="r" b="b"/>
              <a:pathLst>
                <a:path w="340122" h="595421">
                  <a:moveTo>
                    <a:pt x="0" y="0"/>
                  </a:moveTo>
                  <a:lnTo>
                    <a:pt x="340122" y="0"/>
                  </a:lnTo>
                  <a:lnTo>
                    <a:pt x="340122" y="595421"/>
                  </a:lnTo>
                  <a:lnTo>
                    <a:pt x="0" y="595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28575"/>
              <a:ext cx="340122" cy="5668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36811" y="6320581"/>
            <a:ext cx="4706242" cy="443391"/>
            <a:chOff x="0" y="0"/>
            <a:chExt cx="6274990" cy="59118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274990" cy="591188"/>
            </a:xfrm>
            <a:custGeom>
              <a:avLst/>
              <a:gdLst/>
              <a:ahLst/>
              <a:cxnLst/>
              <a:rect l="l" t="t" r="r" b="b"/>
              <a:pathLst>
                <a:path w="6274990" h="591188">
                  <a:moveTo>
                    <a:pt x="0" y="0"/>
                  </a:moveTo>
                  <a:lnTo>
                    <a:pt x="6274990" y="0"/>
                  </a:lnTo>
                  <a:lnTo>
                    <a:pt x="6274990" y="591188"/>
                  </a:lnTo>
                  <a:lnTo>
                    <a:pt x="0" y="591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28575"/>
              <a:ext cx="6274990" cy="619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Check code coverage report in output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636811" y="6830616"/>
            <a:ext cx="16056025" cy="1615380"/>
            <a:chOff x="0" y="0"/>
            <a:chExt cx="21408033" cy="21538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1408010" cy="2153920"/>
            </a:xfrm>
            <a:custGeom>
              <a:avLst/>
              <a:gdLst/>
              <a:ahLst/>
              <a:cxnLst/>
              <a:rect l="l" t="t" r="r" b="b"/>
              <a:pathLst>
                <a:path w="21408010" h="2153920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21373973" y="0"/>
                  </a:lnTo>
                  <a:cubicBezTo>
                    <a:pt x="21392769" y="0"/>
                    <a:pt x="21408010" y="15240"/>
                    <a:pt x="21408010" y="34036"/>
                  </a:cubicBezTo>
                  <a:lnTo>
                    <a:pt x="21408010" y="2119884"/>
                  </a:lnTo>
                  <a:cubicBezTo>
                    <a:pt x="21408010" y="2138680"/>
                    <a:pt x="21392769" y="2153920"/>
                    <a:pt x="21373973" y="2153920"/>
                  </a:cubicBezTo>
                  <a:lnTo>
                    <a:pt x="34036" y="2153920"/>
                  </a:lnTo>
                  <a:cubicBezTo>
                    <a:pt x="15240" y="2153920"/>
                    <a:pt x="0" y="2138680"/>
                    <a:pt x="0" y="2119884"/>
                  </a:cubicBezTo>
                  <a:close/>
                </a:path>
              </a:pathLst>
            </a:custGeom>
            <a:solidFill>
              <a:srgbClr val="F3E3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628329" y="6830616"/>
            <a:ext cx="16072991" cy="1615380"/>
            <a:chOff x="0" y="0"/>
            <a:chExt cx="21430655" cy="21538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1430742" cy="2153920"/>
            </a:xfrm>
            <a:custGeom>
              <a:avLst/>
              <a:gdLst/>
              <a:ahLst/>
              <a:cxnLst/>
              <a:rect l="l" t="t" r="r" b="b"/>
              <a:pathLst>
                <a:path w="21430742" h="2153920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21396706" y="0"/>
                  </a:lnTo>
                  <a:cubicBezTo>
                    <a:pt x="21415502" y="0"/>
                    <a:pt x="21430742" y="15240"/>
                    <a:pt x="21430742" y="34036"/>
                  </a:cubicBezTo>
                  <a:lnTo>
                    <a:pt x="21430742" y="2119884"/>
                  </a:lnTo>
                  <a:cubicBezTo>
                    <a:pt x="21430742" y="2138680"/>
                    <a:pt x="21415502" y="2153920"/>
                    <a:pt x="21396706" y="2153920"/>
                  </a:cubicBezTo>
                  <a:lnTo>
                    <a:pt x="34036" y="2153920"/>
                  </a:lnTo>
                  <a:cubicBezTo>
                    <a:pt x="15240" y="2153920"/>
                    <a:pt x="0" y="2138680"/>
                    <a:pt x="0" y="2119884"/>
                  </a:cubicBezTo>
                  <a:close/>
                </a:path>
              </a:pathLst>
            </a:custGeom>
            <a:solidFill>
              <a:srgbClr val="F3E3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798290" y="6958161"/>
            <a:ext cx="15733067" cy="1513569"/>
            <a:chOff x="0" y="0"/>
            <a:chExt cx="20977423" cy="2018093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0977423" cy="2018093"/>
            </a:xfrm>
            <a:custGeom>
              <a:avLst/>
              <a:gdLst/>
              <a:ahLst/>
              <a:cxnLst/>
              <a:rect l="l" t="t" r="r" b="b"/>
              <a:pathLst>
                <a:path w="20977423" h="2018093">
                  <a:moveTo>
                    <a:pt x="0" y="0"/>
                  </a:moveTo>
                  <a:lnTo>
                    <a:pt x="20977423" y="0"/>
                  </a:lnTo>
                  <a:lnTo>
                    <a:pt x="20977423" y="2018093"/>
                  </a:lnTo>
                  <a:lnTo>
                    <a:pt x="0" y="20180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95250"/>
              <a:ext cx="20977423" cy="2113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8"/>
                </a:lnSpc>
              </a:pPr>
              <a:r>
                <a:rPr lang="en-US" sz="1512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You’ll see output similar to:</a:t>
              </a:r>
            </a:p>
            <a:p>
              <a:pPr algn="l">
                <a:lnSpc>
                  <a:spcPts val="2448"/>
                </a:lnSpc>
              </a:pPr>
              <a:r>
                <a:rPr lang="en-US" sz="1512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Name           Stmts   Miss  Cover</a:t>
              </a:r>
            </a:p>
            <a:p>
              <a:pPr algn="l">
                <a:lnSpc>
                  <a:spcPts val="2448"/>
                </a:lnSpc>
              </a:pPr>
              <a:r>
                <a:rPr lang="en-US" sz="1512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----------------------------------</a:t>
              </a:r>
            </a:p>
            <a:p>
              <a:pPr algn="l">
                <a:lnSpc>
                  <a:spcPts val="2448"/>
                </a:lnSpc>
              </a:pPr>
              <a:r>
                <a:rPr lang="en-US" sz="1512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calculator.py      7      3    57%</a:t>
              </a:r>
            </a:p>
            <a:p>
              <a:pPr algn="l">
                <a:lnSpc>
                  <a:spcPts val="2448"/>
                </a:lnSpc>
              </a:pPr>
              <a:endParaRPr lang="en-US" sz="1512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58676" y="9158882"/>
            <a:ext cx="510182" cy="19050"/>
            <a:chOff x="0" y="0"/>
            <a:chExt cx="680243" cy="254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80212" cy="25400"/>
            </a:xfrm>
            <a:custGeom>
              <a:avLst/>
              <a:gdLst/>
              <a:ahLst/>
              <a:cxnLst/>
              <a:rect l="l" t="t" r="r" b="b"/>
              <a:pathLst>
                <a:path w="68021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67512" y="0"/>
                  </a:lnTo>
                  <a:cubicBezTo>
                    <a:pt x="674497" y="0"/>
                    <a:pt x="680212" y="5715"/>
                    <a:pt x="680212" y="12700"/>
                  </a:cubicBezTo>
                  <a:cubicBezTo>
                    <a:pt x="680212" y="19685"/>
                    <a:pt x="674497" y="25400"/>
                    <a:pt x="66751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95089" y="8977164"/>
            <a:ext cx="382637" cy="382637"/>
            <a:chOff x="0" y="0"/>
            <a:chExt cx="510183" cy="510183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10159" cy="510159"/>
            </a:xfrm>
            <a:custGeom>
              <a:avLst/>
              <a:gdLst/>
              <a:ahLst/>
              <a:cxnLst/>
              <a:rect l="l" t="t" r="r" b="b"/>
              <a:pathLst>
                <a:path w="510159" h="510159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476123" y="0"/>
                  </a:lnTo>
                  <a:cubicBezTo>
                    <a:pt x="494919" y="0"/>
                    <a:pt x="510159" y="15240"/>
                    <a:pt x="510159" y="34036"/>
                  </a:cubicBezTo>
                  <a:lnTo>
                    <a:pt x="510159" y="476123"/>
                  </a:lnTo>
                  <a:cubicBezTo>
                    <a:pt x="510159" y="494919"/>
                    <a:pt x="494919" y="510159"/>
                    <a:pt x="476123" y="510159"/>
                  </a:cubicBezTo>
                  <a:lnTo>
                    <a:pt x="34036" y="510159"/>
                  </a:lnTo>
                  <a:cubicBezTo>
                    <a:pt x="15240" y="510159"/>
                    <a:pt x="0" y="494919"/>
                    <a:pt x="0" y="476123"/>
                  </a:cubicBezTo>
                  <a:close/>
                </a:path>
              </a:pathLst>
            </a:custGeom>
            <a:solidFill>
              <a:srgbClr val="F9F7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58787" y="9009012"/>
            <a:ext cx="255091" cy="446566"/>
            <a:chOff x="0" y="0"/>
            <a:chExt cx="340122" cy="595421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40122" cy="595421"/>
            </a:xfrm>
            <a:custGeom>
              <a:avLst/>
              <a:gdLst/>
              <a:ahLst/>
              <a:cxnLst/>
              <a:rect l="l" t="t" r="r" b="b"/>
              <a:pathLst>
                <a:path w="340122" h="595421">
                  <a:moveTo>
                    <a:pt x="0" y="0"/>
                  </a:moveTo>
                  <a:lnTo>
                    <a:pt x="340122" y="0"/>
                  </a:lnTo>
                  <a:lnTo>
                    <a:pt x="340122" y="595421"/>
                  </a:lnTo>
                  <a:lnTo>
                    <a:pt x="0" y="595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28575"/>
              <a:ext cx="340122" cy="5668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9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636811" y="8937187"/>
            <a:ext cx="6150600" cy="443391"/>
            <a:chOff x="0" y="0"/>
            <a:chExt cx="8200800" cy="59118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200800" cy="591188"/>
            </a:xfrm>
            <a:custGeom>
              <a:avLst/>
              <a:gdLst/>
              <a:ahLst/>
              <a:cxnLst/>
              <a:rect l="l" t="t" r="r" b="b"/>
              <a:pathLst>
                <a:path w="8200800" h="591188">
                  <a:moveTo>
                    <a:pt x="0" y="0"/>
                  </a:moveTo>
                  <a:lnTo>
                    <a:pt x="8200800" y="0"/>
                  </a:lnTo>
                  <a:lnTo>
                    <a:pt x="8200800" y="591188"/>
                  </a:lnTo>
                  <a:lnTo>
                    <a:pt x="0" y="591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28575"/>
              <a:ext cx="8200800" cy="619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Improve the code coverage (Optional)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636811" y="9376619"/>
            <a:ext cx="16056025" cy="306787"/>
            <a:chOff x="0" y="0"/>
            <a:chExt cx="21408033" cy="40904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1408033" cy="409049"/>
            </a:xfrm>
            <a:custGeom>
              <a:avLst/>
              <a:gdLst/>
              <a:ahLst/>
              <a:cxnLst/>
              <a:rect l="l" t="t" r="r" b="b"/>
              <a:pathLst>
                <a:path w="21408033" h="409049">
                  <a:moveTo>
                    <a:pt x="0" y="0"/>
                  </a:moveTo>
                  <a:lnTo>
                    <a:pt x="21408033" y="0"/>
                  </a:lnTo>
                  <a:lnTo>
                    <a:pt x="21408033" y="409049"/>
                  </a:lnTo>
                  <a:lnTo>
                    <a:pt x="0" y="4090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66675"/>
              <a:ext cx="21408033" cy="475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17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Add the missing tests to test_calculator.py file. {Note: Do not forget to import those.}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2923580"/>
          </a:xfrm>
          <a:custGeom>
            <a:avLst/>
            <a:gdLst/>
            <a:ahLst/>
            <a:cxnLst/>
            <a:rect l="l" t="t" r="r" b="b"/>
            <a:pathLst>
              <a:path w="18288000" h="2923580">
                <a:moveTo>
                  <a:pt x="0" y="0"/>
                </a:moveTo>
                <a:lnTo>
                  <a:pt x="18288000" y="0"/>
                </a:lnTo>
                <a:lnTo>
                  <a:pt x="18288000" y="2923580"/>
                </a:lnTo>
                <a:lnTo>
                  <a:pt x="0" y="292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" b="-1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818555" y="3566666"/>
            <a:ext cx="7352408" cy="584597"/>
            <a:chOff x="0" y="0"/>
            <a:chExt cx="9803210" cy="7794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03210" cy="779463"/>
            </a:xfrm>
            <a:custGeom>
              <a:avLst/>
              <a:gdLst/>
              <a:ahLst/>
              <a:cxnLst/>
              <a:rect l="l" t="t" r="r" b="b"/>
              <a:pathLst>
                <a:path w="9803210" h="779463">
                  <a:moveTo>
                    <a:pt x="0" y="0"/>
                  </a:moveTo>
                  <a:lnTo>
                    <a:pt x="9803210" y="0"/>
                  </a:lnTo>
                  <a:lnTo>
                    <a:pt x="9803210" y="779463"/>
                  </a:lnTo>
                  <a:lnTo>
                    <a:pt x="0" y="7794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803210" cy="827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2"/>
                </a:lnSpc>
              </a:pPr>
              <a:r>
                <a:rPr lang="en-US" sz="3625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Code Coverage Vs Test Coverage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84463" y="4648051"/>
            <a:ext cx="3508325" cy="615567"/>
            <a:chOff x="0" y="0"/>
            <a:chExt cx="4677767" cy="8207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77767" cy="820756"/>
            </a:xfrm>
            <a:custGeom>
              <a:avLst/>
              <a:gdLst/>
              <a:ahLst/>
              <a:cxnLst/>
              <a:rect l="l" t="t" r="r" b="b"/>
              <a:pathLst>
                <a:path w="4677767" h="820756">
                  <a:moveTo>
                    <a:pt x="0" y="0"/>
                  </a:moveTo>
                  <a:lnTo>
                    <a:pt x="4677767" y="0"/>
                  </a:lnTo>
                  <a:lnTo>
                    <a:pt x="4677767" y="820756"/>
                  </a:lnTo>
                  <a:lnTo>
                    <a:pt x="0" y="8207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677767" cy="858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12"/>
                </a:lnSpc>
              </a:pPr>
              <a:r>
                <a:rPr lang="en-US" sz="3049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Code Coverage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8555" y="5320307"/>
            <a:ext cx="8040141" cy="935236"/>
            <a:chOff x="0" y="0"/>
            <a:chExt cx="10720188" cy="12469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20188" cy="1246982"/>
            </a:xfrm>
            <a:custGeom>
              <a:avLst/>
              <a:gdLst/>
              <a:ahLst/>
              <a:cxnLst/>
              <a:rect l="l" t="t" r="r" b="b"/>
              <a:pathLst>
                <a:path w="10720188" h="1246982">
                  <a:moveTo>
                    <a:pt x="0" y="0"/>
                  </a:moveTo>
                  <a:lnTo>
                    <a:pt x="10720188" y="0"/>
                  </a:lnTo>
                  <a:lnTo>
                    <a:pt x="10720188" y="1246982"/>
                  </a:lnTo>
                  <a:lnTo>
                    <a:pt x="0" y="1246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10720188" cy="13327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8591" lvl="1" indent="-159295" algn="l">
                <a:lnSpc>
                  <a:spcPts val="3423"/>
                </a:lnSpc>
                <a:buFont typeface="Arial"/>
                <a:buChar char="•"/>
              </a:pP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Measures how much of the source code is executed by tests.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8555" y="6337399"/>
            <a:ext cx="8040141" cy="935236"/>
            <a:chOff x="0" y="0"/>
            <a:chExt cx="10720188" cy="124698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20188" cy="1246982"/>
            </a:xfrm>
            <a:custGeom>
              <a:avLst/>
              <a:gdLst/>
              <a:ahLst/>
              <a:cxnLst/>
              <a:rect l="l" t="t" r="r" b="b"/>
              <a:pathLst>
                <a:path w="10720188" h="1246982">
                  <a:moveTo>
                    <a:pt x="0" y="0"/>
                  </a:moveTo>
                  <a:lnTo>
                    <a:pt x="10720188" y="0"/>
                  </a:lnTo>
                  <a:lnTo>
                    <a:pt x="10720188" y="1246982"/>
                  </a:lnTo>
                  <a:lnTo>
                    <a:pt x="0" y="1246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10720188" cy="13327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8591" lvl="1" indent="-159295" algn="l">
                <a:lnSpc>
                  <a:spcPts val="3423"/>
                </a:lnSpc>
                <a:buFont typeface="Arial"/>
                <a:buChar char="•"/>
              </a:pP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Focuses on covered </a:t>
              </a:r>
              <a:r>
                <a:rPr lang="en-US" sz="21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statements, branches, functions, and lines</a:t>
              </a: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in the codebase.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8555" y="7483079"/>
            <a:ext cx="8040141" cy="467617"/>
            <a:chOff x="0" y="0"/>
            <a:chExt cx="10720188" cy="623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0188" cy="623490"/>
            </a:xfrm>
            <a:custGeom>
              <a:avLst/>
              <a:gdLst/>
              <a:ahLst/>
              <a:cxnLst/>
              <a:rect l="l" t="t" r="r" b="b"/>
              <a:pathLst>
                <a:path w="10720188" h="623490">
                  <a:moveTo>
                    <a:pt x="0" y="0"/>
                  </a:moveTo>
                  <a:lnTo>
                    <a:pt x="10720188" y="0"/>
                  </a:lnTo>
                  <a:lnTo>
                    <a:pt x="10720188" y="623490"/>
                  </a:lnTo>
                  <a:lnTo>
                    <a:pt x="0" y="623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10720188" cy="728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08"/>
                </a:lnSpc>
              </a:pPr>
              <a:r>
                <a:rPr lang="en-US" sz="2549" u="sng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Example</a:t>
              </a:r>
              <a:r>
                <a:rPr lang="en-US" sz="25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: 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8555" y="8161139"/>
            <a:ext cx="8040141" cy="935236"/>
            <a:chOff x="0" y="0"/>
            <a:chExt cx="10720188" cy="124698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20188" cy="1246982"/>
            </a:xfrm>
            <a:custGeom>
              <a:avLst/>
              <a:gdLst/>
              <a:ahLst/>
              <a:cxnLst/>
              <a:rect l="l" t="t" r="r" b="b"/>
              <a:pathLst>
                <a:path w="10720188" h="1246982">
                  <a:moveTo>
                    <a:pt x="0" y="0"/>
                  </a:moveTo>
                  <a:lnTo>
                    <a:pt x="10720188" y="0"/>
                  </a:lnTo>
                  <a:lnTo>
                    <a:pt x="10720188" y="1246982"/>
                  </a:lnTo>
                  <a:lnTo>
                    <a:pt x="0" y="1246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10720188" cy="13327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8591" lvl="1" indent="-159295" algn="l">
                <a:lnSpc>
                  <a:spcPts val="3423"/>
                </a:lnSpc>
                <a:buFont typeface="Arial"/>
                <a:buChar char="•"/>
              </a:pP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If a Python function has </a:t>
              </a:r>
              <a:r>
                <a:rPr lang="en-US" sz="21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10 lines</a:t>
              </a: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and tests execute </a:t>
              </a:r>
              <a:r>
                <a:rPr lang="en-US" sz="21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8 lines</a:t>
              </a: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, code coverage is </a:t>
              </a:r>
              <a:r>
                <a:rPr lang="en-US" sz="21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80%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704736" y="4648051"/>
            <a:ext cx="3508325" cy="615567"/>
            <a:chOff x="0" y="0"/>
            <a:chExt cx="4677767" cy="8207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77767" cy="820756"/>
            </a:xfrm>
            <a:custGeom>
              <a:avLst/>
              <a:gdLst/>
              <a:ahLst/>
              <a:cxnLst/>
              <a:rect l="l" t="t" r="r" b="b"/>
              <a:pathLst>
                <a:path w="4677767" h="820756">
                  <a:moveTo>
                    <a:pt x="0" y="0"/>
                  </a:moveTo>
                  <a:lnTo>
                    <a:pt x="4677767" y="0"/>
                  </a:lnTo>
                  <a:lnTo>
                    <a:pt x="4677767" y="820756"/>
                  </a:lnTo>
                  <a:lnTo>
                    <a:pt x="0" y="8207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677767" cy="858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12"/>
                </a:lnSpc>
              </a:pPr>
              <a:r>
                <a:rPr lang="en-US" sz="3049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Test Coverage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38829" y="5320307"/>
            <a:ext cx="8040141" cy="935236"/>
            <a:chOff x="0" y="0"/>
            <a:chExt cx="10720188" cy="12469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20188" cy="1246982"/>
            </a:xfrm>
            <a:custGeom>
              <a:avLst/>
              <a:gdLst/>
              <a:ahLst/>
              <a:cxnLst/>
              <a:rect l="l" t="t" r="r" b="b"/>
              <a:pathLst>
                <a:path w="10720188" h="1246982">
                  <a:moveTo>
                    <a:pt x="0" y="0"/>
                  </a:moveTo>
                  <a:lnTo>
                    <a:pt x="10720188" y="0"/>
                  </a:lnTo>
                  <a:lnTo>
                    <a:pt x="10720188" y="1246982"/>
                  </a:lnTo>
                  <a:lnTo>
                    <a:pt x="0" y="1246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10720188" cy="13327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8591" lvl="1" indent="-159295" algn="l">
                <a:lnSpc>
                  <a:spcPts val="3423"/>
                </a:lnSpc>
                <a:buFont typeface="Arial"/>
                <a:buChar char="•"/>
              </a:pP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Measures how well the test cases cover </a:t>
              </a:r>
              <a:r>
                <a:rPr lang="en-US" sz="21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requirements, features, or user scenarios</a:t>
              </a: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38829" y="6337399"/>
            <a:ext cx="8040141" cy="935236"/>
            <a:chOff x="0" y="0"/>
            <a:chExt cx="10720188" cy="124698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720188" cy="1246982"/>
            </a:xfrm>
            <a:custGeom>
              <a:avLst/>
              <a:gdLst/>
              <a:ahLst/>
              <a:cxnLst/>
              <a:rect l="l" t="t" r="r" b="b"/>
              <a:pathLst>
                <a:path w="10720188" h="1246982">
                  <a:moveTo>
                    <a:pt x="0" y="0"/>
                  </a:moveTo>
                  <a:lnTo>
                    <a:pt x="10720188" y="0"/>
                  </a:lnTo>
                  <a:lnTo>
                    <a:pt x="10720188" y="1246982"/>
                  </a:lnTo>
                  <a:lnTo>
                    <a:pt x="0" y="12469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10720188" cy="13327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8591" lvl="1" indent="-159295" algn="l">
                <a:lnSpc>
                  <a:spcPts val="3423"/>
                </a:lnSpc>
                <a:buFont typeface="Arial"/>
                <a:buChar char="•"/>
              </a:pP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Ensures all possible conditions, edge cases, and expected behaviors are tested.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38829" y="7483079"/>
            <a:ext cx="8040141" cy="467617"/>
            <a:chOff x="0" y="0"/>
            <a:chExt cx="10720188" cy="6234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20188" cy="623490"/>
            </a:xfrm>
            <a:custGeom>
              <a:avLst/>
              <a:gdLst/>
              <a:ahLst/>
              <a:cxnLst/>
              <a:rect l="l" t="t" r="r" b="b"/>
              <a:pathLst>
                <a:path w="10720188" h="623490">
                  <a:moveTo>
                    <a:pt x="0" y="0"/>
                  </a:moveTo>
                  <a:lnTo>
                    <a:pt x="10720188" y="0"/>
                  </a:lnTo>
                  <a:lnTo>
                    <a:pt x="10720188" y="623490"/>
                  </a:lnTo>
                  <a:lnTo>
                    <a:pt x="0" y="623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04775"/>
              <a:ext cx="10720188" cy="728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08"/>
                </a:lnSpc>
              </a:pPr>
              <a:r>
                <a:rPr lang="en-US" sz="2549" u="sng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Example</a:t>
              </a:r>
              <a:r>
                <a:rPr lang="en-US" sz="25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: 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38828" y="7927330"/>
            <a:ext cx="8040141" cy="1402854"/>
            <a:chOff x="0" y="0"/>
            <a:chExt cx="10720188" cy="18704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720188" cy="1870472"/>
            </a:xfrm>
            <a:custGeom>
              <a:avLst/>
              <a:gdLst/>
              <a:ahLst/>
              <a:cxnLst/>
              <a:rect l="l" t="t" r="r" b="b"/>
              <a:pathLst>
                <a:path w="10720188" h="1870472">
                  <a:moveTo>
                    <a:pt x="0" y="0"/>
                  </a:moveTo>
                  <a:lnTo>
                    <a:pt x="10720188" y="0"/>
                  </a:lnTo>
                  <a:lnTo>
                    <a:pt x="10720188" y="1870472"/>
                  </a:lnTo>
                  <a:lnTo>
                    <a:pt x="0" y="18704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10720188" cy="1956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8591" lvl="1" indent="-159295" algn="l">
                <a:lnSpc>
                  <a:spcPts val="3423"/>
                </a:lnSpc>
                <a:buFont typeface="Arial"/>
                <a:buChar char="•"/>
              </a:pP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 function may have </a:t>
              </a:r>
              <a:r>
                <a:rPr lang="en-US" sz="21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100% code coverage</a:t>
              </a: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but lacks tests for </a:t>
              </a:r>
              <a:r>
                <a:rPr lang="en-US" sz="21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edge cases or error handling</a:t>
              </a: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, meaning </a:t>
              </a:r>
              <a:r>
                <a:rPr lang="en-US" sz="211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test coverage is incomplete</a:t>
              </a:r>
              <a:r>
                <a:rPr lang="en-US" sz="211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001166"/>
            <a:ext cx="5670649" cy="708720"/>
            <a:chOff x="0" y="0"/>
            <a:chExt cx="7560865" cy="944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60865" cy="944960"/>
            </a:xfrm>
            <a:custGeom>
              <a:avLst/>
              <a:gdLst/>
              <a:ahLst/>
              <a:cxnLst/>
              <a:rect l="l" t="t" r="r" b="b"/>
              <a:pathLst>
                <a:path w="7560865" h="944960">
                  <a:moveTo>
                    <a:pt x="0" y="0"/>
                  </a:moveTo>
                  <a:lnTo>
                    <a:pt x="7560865" y="0"/>
                  </a:lnTo>
                  <a:lnTo>
                    <a:pt x="7560865" y="944960"/>
                  </a:lnTo>
                  <a:lnTo>
                    <a:pt x="0" y="94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560865" cy="98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Quick puzzler !!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276921"/>
            <a:ext cx="16303526" cy="566886"/>
            <a:chOff x="0" y="0"/>
            <a:chExt cx="21738035" cy="7558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Let's test your understanding …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3269010"/>
            <a:ext cx="12258526" cy="531614"/>
            <a:chOff x="0" y="0"/>
            <a:chExt cx="16344702" cy="7088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344702" cy="708818"/>
            </a:xfrm>
            <a:custGeom>
              <a:avLst/>
              <a:gdLst/>
              <a:ahLst/>
              <a:cxnLst/>
              <a:rect l="l" t="t" r="r" b="b"/>
              <a:pathLst>
                <a:path w="16344702" h="708818">
                  <a:moveTo>
                    <a:pt x="0" y="0"/>
                  </a:moveTo>
                  <a:lnTo>
                    <a:pt x="16344702" y="0"/>
                  </a:lnTo>
                  <a:lnTo>
                    <a:pt x="1634470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344702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 Can code coverage be 100% without complete testing?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4225826"/>
            <a:ext cx="16303526" cy="566886"/>
            <a:chOff x="0" y="0"/>
            <a:chExt cx="21738035" cy="7558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A. Yes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5111651"/>
            <a:ext cx="16303526" cy="566886"/>
            <a:chOff x="0" y="0"/>
            <a:chExt cx="21738035" cy="7558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B. No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8" y="6876306"/>
            <a:ext cx="12173545" cy="531614"/>
            <a:chOff x="0" y="0"/>
            <a:chExt cx="16231393" cy="708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231394" cy="708818"/>
            </a:xfrm>
            <a:custGeom>
              <a:avLst/>
              <a:gdLst/>
              <a:ahLst/>
              <a:cxnLst/>
              <a:rect l="l" t="t" r="r" b="b"/>
              <a:pathLst>
                <a:path w="16231394" h="708818">
                  <a:moveTo>
                    <a:pt x="0" y="0"/>
                  </a:moveTo>
                  <a:lnTo>
                    <a:pt x="16231394" y="0"/>
                  </a:lnTo>
                  <a:lnTo>
                    <a:pt x="16231394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6231393" cy="746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2. Can test coverage be 100% without complete testing?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238" y="7833121"/>
            <a:ext cx="16303526" cy="566886"/>
            <a:chOff x="0" y="0"/>
            <a:chExt cx="21738035" cy="7558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A. Yes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2238" y="8718946"/>
            <a:ext cx="16303526" cy="566886"/>
            <a:chOff x="0" y="0"/>
            <a:chExt cx="21738035" cy="7558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B. No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D1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2333328"/>
            <a:ext cx="7088237" cy="1132367"/>
            <a:chOff x="0" y="0"/>
            <a:chExt cx="9450983" cy="15098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509823"/>
            </a:xfrm>
            <a:custGeom>
              <a:avLst/>
              <a:gdLst/>
              <a:ahLst/>
              <a:cxnLst/>
              <a:rect l="l" t="t" r="r" b="b"/>
              <a:pathLst>
                <a:path w="9450984" h="1509823">
                  <a:moveTo>
                    <a:pt x="0" y="0"/>
                  </a:moveTo>
                  <a:lnTo>
                    <a:pt x="9450984" y="0"/>
                  </a:lnTo>
                  <a:lnTo>
                    <a:pt x="9450984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450983" cy="1566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Points to remember: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0417" y="4160233"/>
            <a:ext cx="16303526" cy="1417439"/>
            <a:chOff x="0" y="0"/>
            <a:chExt cx="21738035" cy="18899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889918"/>
            </a:xfrm>
            <a:custGeom>
              <a:avLst/>
              <a:gdLst/>
              <a:ahLst/>
              <a:cxnLst/>
              <a:rect l="l" t="t" r="r" b="b"/>
              <a:pathLst>
                <a:path w="21738034" h="1889918">
                  <a:moveTo>
                    <a:pt x="0" y="0"/>
                  </a:moveTo>
                  <a:lnTo>
                    <a:pt x="21738034" y="0"/>
                  </a:lnTo>
                  <a:lnTo>
                    <a:pt x="21738034" y="1889918"/>
                  </a:lnTo>
                  <a:lnTo>
                    <a:pt x="0" y="18899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738035" cy="1928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High </a:t>
              </a:r>
              <a:r>
                <a:rPr lang="en-US" sz="443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code coverage</a:t>
              </a:r>
              <a:r>
                <a:rPr lang="en-US" sz="443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 "does not" guarantee high </a:t>
              </a:r>
              <a:r>
                <a:rPr lang="en-US" sz="443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test coverage</a:t>
              </a:r>
              <a:r>
                <a:rPr lang="en-US" sz="443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417" y="6272210"/>
            <a:ext cx="14260116" cy="708720"/>
            <a:chOff x="0" y="0"/>
            <a:chExt cx="19013488" cy="944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13489" cy="944960"/>
            </a:xfrm>
            <a:custGeom>
              <a:avLst/>
              <a:gdLst/>
              <a:ahLst/>
              <a:cxnLst/>
              <a:rect l="l" t="t" r="r" b="b"/>
              <a:pathLst>
                <a:path w="19013489" h="944960">
                  <a:moveTo>
                    <a:pt x="0" y="0"/>
                  </a:moveTo>
                  <a:lnTo>
                    <a:pt x="19013489" y="0"/>
                  </a:lnTo>
                  <a:lnTo>
                    <a:pt x="19013489" y="944960"/>
                  </a:lnTo>
                  <a:lnTo>
                    <a:pt x="0" y="94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013488" cy="98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62"/>
                </a:lnSpc>
              </a:pPr>
              <a:r>
                <a:rPr lang="en-US" sz="4437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It's important to balance both for reliable software.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7719" y="813346"/>
            <a:ext cx="6505724" cy="569714"/>
            <a:chOff x="0" y="0"/>
            <a:chExt cx="8674298" cy="7596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74298" cy="759618"/>
            </a:xfrm>
            <a:custGeom>
              <a:avLst/>
              <a:gdLst/>
              <a:ahLst/>
              <a:cxnLst/>
              <a:rect l="l" t="t" r="r" b="b"/>
              <a:pathLst>
                <a:path w="8674298" h="759618">
                  <a:moveTo>
                    <a:pt x="0" y="0"/>
                  </a:moveTo>
                  <a:lnTo>
                    <a:pt x="8674298" y="0"/>
                  </a:lnTo>
                  <a:lnTo>
                    <a:pt x="8674298" y="759618"/>
                  </a:lnTo>
                  <a:lnTo>
                    <a:pt x="0" y="759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674298" cy="797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3562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TDD/BDD + Testing in CI/CD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79978" y="1867346"/>
            <a:ext cx="4355455" cy="427285"/>
            <a:chOff x="0" y="0"/>
            <a:chExt cx="5807273" cy="5697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7273" cy="569713"/>
            </a:xfrm>
            <a:custGeom>
              <a:avLst/>
              <a:gdLst/>
              <a:ahLst/>
              <a:cxnLst/>
              <a:rect l="l" t="t" r="r" b="b"/>
              <a:pathLst>
                <a:path w="5807273" h="569713">
                  <a:moveTo>
                    <a:pt x="0" y="0"/>
                  </a:moveTo>
                  <a:lnTo>
                    <a:pt x="5807273" y="0"/>
                  </a:lnTo>
                  <a:lnTo>
                    <a:pt x="5807273" y="569713"/>
                  </a:lnTo>
                  <a:lnTo>
                    <a:pt x="0" y="569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5807273" cy="598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687" b="1" u="sng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Test-driven development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97719" y="2522488"/>
            <a:ext cx="8068270" cy="455711"/>
            <a:chOff x="0" y="0"/>
            <a:chExt cx="10757693" cy="6076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57693" cy="607615"/>
            </a:xfrm>
            <a:custGeom>
              <a:avLst/>
              <a:gdLst/>
              <a:ahLst/>
              <a:cxnLst/>
              <a:rect l="l" t="t" r="r" b="b"/>
              <a:pathLst>
                <a:path w="10757693" h="607615">
                  <a:moveTo>
                    <a:pt x="0" y="0"/>
                  </a:moveTo>
                  <a:lnTo>
                    <a:pt x="10757693" y="0"/>
                  </a:lnTo>
                  <a:lnTo>
                    <a:pt x="10757693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10757693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Purpose in CI/CD: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97719" y="3183285"/>
            <a:ext cx="8068270" cy="455711"/>
            <a:chOff x="0" y="0"/>
            <a:chExt cx="10757693" cy="6076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57693" cy="607615"/>
            </a:xfrm>
            <a:custGeom>
              <a:avLst/>
              <a:gdLst/>
              <a:ahLst/>
              <a:cxnLst/>
              <a:rect l="l" t="t" r="r" b="b"/>
              <a:pathLst>
                <a:path w="10757693" h="607615">
                  <a:moveTo>
                    <a:pt x="0" y="0"/>
                  </a:moveTo>
                  <a:lnTo>
                    <a:pt x="10757693" y="0"/>
                  </a:lnTo>
                  <a:lnTo>
                    <a:pt x="10757693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0757693" cy="693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Ensures code is covered by tests before merging.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97719" y="3718769"/>
            <a:ext cx="8068270" cy="455711"/>
            <a:chOff x="0" y="0"/>
            <a:chExt cx="10757693" cy="6076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57693" cy="607615"/>
            </a:xfrm>
            <a:custGeom>
              <a:avLst/>
              <a:gdLst/>
              <a:ahLst/>
              <a:cxnLst/>
              <a:rect l="l" t="t" r="r" b="b"/>
              <a:pathLst>
                <a:path w="10757693" h="607615">
                  <a:moveTo>
                    <a:pt x="0" y="0"/>
                  </a:moveTo>
                  <a:lnTo>
                    <a:pt x="10757693" y="0"/>
                  </a:lnTo>
                  <a:lnTo>
                    <a:pt x="10757693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10757693" cy="693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Encourages </a:t>
              </a:r>
              <a:r>
                <a:rPr lang="en-US" sz="204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better, modular, and maintainable</a:t>
              </a: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code.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537809" y="1867346"/>
            <a:ext cx="5257205" cy="427285"/>
            <a:chOff x="0" y="0"/>
            <a:chExt cx="7009607" cy="5697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09607" cy="569713"/>
            </a:xfrm>
            <a:custGeom>
              <a:avLst/>
              <a:gdLst/>
              <a:ahLst/>
              <a:cxnLst/>
              <a:rect l="l" t="t" r="r" b="b"/>
              <a:pathLst>
                <a:path w="7009607" h="569713">
                  <a:moveTo>
                    <a:pt x="0" y="0"/>
                  </a:moveTo>
                  <a:lnTo>
                    <a:pt x="7009607" y="0"/>
                  </a:lnTo>
                  <a:lnTo>
                    <a:pt x="7009607" y="569713"/>
                  </a:lnTo>
                  <a:lnTo>
                    <a:pt x="0" y="569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009607" cy="598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687" b="1" u="sng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Behavior-Driven Development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31536" y="2522488"/>
            <a:ext cx="8068270" cy="455711"/>
            <a:chOff x="0" y="0"/>
            <a:chExt cx="10757693" cy="6076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757693" cy="607615"/>
            </a:xfrm>
            <a:custGeom>
              <a:avLst/>
              <a:gdLst/>
              <a:ahLst/>
              <a:cxnLst/>
              <a:rect l="l" t="t" r="r" b="b"/>
              <a:pathLst>
                <a:path w="10757693" h="607615">
                  <a:moveTo>
                    <a:pt x="0" y="0"/>
                  </a:moveTo>
                  <a:lnTo>
                    <a:pt x="10757693" y="0"/>
                  </a:lnTo>
                  <a:lnTo>
                    <a:pt x="10757693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10757693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Purpose in CI/CD: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12486" y="2920156"/>
            <a:ext cx="8068270" cy="911424"/>
            <a:chOff x="0" y="0"/>
            <a:chExt cx="10757693" cy="12152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757693" cy="1215232"/>
            </a:xfrm>
            <a:custGeom>
              <a:avLst/>
              <a:gdLst/>
              <a:ahLst/>
              <a:cxnLst/>
              <a:rect l="l" t="t" r="r" b="b"/>
              <a:pathLst>
                <a:path w="10757693" h="1215232">
                  <a:moveTo>
                    <a:pt x="0" y="0"/>
                  </a:moveTo>
                  <a:lnTo>
                    <a:pt x="10757693" y="0"/>
                  </a:lnTo>
                  <a:lnTo>
                    <a:pt x="10757693" y="1215232"/>
                  </a:lnTo>
                  <a:lnTo>
                    <a:pt x="0" y="1215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0757693" cy="1300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Ensures </a:t>
              </a:r>
              <a:r>
                <a:rPr lang="en-US" sz="204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business requirements are met</a:t>
              </a: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before deployment.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12486" y="3638996"/>
            <a:ext cx="8068270" cy="455711"/>
            <a:chOff x="0" y="0"/>
            <a:chExt cx="10757693" cy="60761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757693" cy="607615"/>
            </a:xfrm>
            <a:custGeom>
              <a:avLst/>
              <a:gdLst/>
              <a:ahLst/>
              <a:cxnLst/>
              <a:rect l="l" t="t" r="r" b="b"/>
              <a:pathLst>
                <a:path w="10757693" h="607615">
                  <a:moveTo>
                    <a:pt x="0" y="0"/>
                  </a:moveTo>
                  <a:lnTo>
                    <a:pt x="10757693" y="0"/>
                  </a:lnTo>
                  <a:lnTo>
                    <a:pt x="10757693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10757693" cy="693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9165" lvl="1" indent="-154583" algn="l">
                <a:lnSpc>
                  <a:spcPts val="3294"/>
                </a:lnSpc>
                <a:buFont typeface="Arial"/>
                <a:buChar char="•"/>
              </a:pP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Makes tests </a:t>
              </a:r>
              <a:r>
                <a:rPr lang="en-US" sz="2049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readable for both developers &amp; stakeholders</a:t>
              </a:r>
              <a:r>
                <a:rPr lang="en-US" sz="2049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92956" y="4660255"/>
            <a:ext cx="16702087" cy="4516636"/>
            <a:chOff x="0" y="0"/>
            <a:chExt cx="22269450" cy="60221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269450" cy="6022086"/>
            </a:xfrm>
            <a:custGeom>
              <a:avLst/>
              <a:gdLst/>
              <a:ahLst/>
              <a:cxnLst/>
              <a:rect l="l" t="t" r="r" b="b"/>
              <a:pathLst>
                <a:path w="22269450" h="6022086">
                  <a:moveTo>
                    <a:pt x="0" y="51943"/>
                  </a:moveTo>
                  <a:cubicBezTo>
                    <a:pt x="0" y="23241"/>
                    <a:pt x="23368" y="0"/>
                    <a:pt x="52070" y="0"/>
                  </a:cubicBezTo>
                  <a:lnTo>
                    <a:pt x="22217380" y="0"/>
                  </a:lnTo>
                  <a:lnTo>
                    <a:pt x="22217380" y="6350"/>
                  </a:lnTo>
                  <a:lnTo>
                    <a:pt x="22217380" y="0"/>
                  </a:lnTo>
                  <a:cubicBezTo>
                    <a:pt x="22246082" y="0"/>
                    <a:pt x="22269450" y="23241"/>
                    <a:pt x="22269450" y="51943"/>
                  </a:cubicBezTo>
                  <a:lnTo>
                    <a:pt x="22263100" y="51943"/>
                  </a:lnTo>
                  <a:lnTo>
                    <a:pt x="22269450" y="51943"/>
                  </a:lnTo>
                  <a:lnTo>
                    <a:pt x="22269450" y="5970143"/>
                  </a:lnTo>
                  <a:lnTo>
                    <a:pt x="22263100" y="5970143"/>
                  </a:lnTo>
                  <a:lnTo>
                    <a:pt x="22269450" y="5970143"/>
                  </a:lnTo>
                  <a:cubicBezTo>
                    <a:pt x="22269450" y="5998845"/>
                    <a:pt x="22246082" y="6022086"/>
                    <a:pt x="22217380" y="6022086"/>
                  </a:cubicBezTo>
                  <a:lnTo>
                    <a:pt x="22217380" y="6015736"/>
                  </a:lnTo>
                  <a:lnTo>
                    <a:pt x="22217380" y="6022086"/>
                  </a:lnTo>
                  <a:lnTo>
                    <a:pt x="52070" y="6022086"/>
                  </a:lnTo>
                  <a:lnTo>
                    <a:pt x="52070" y="6015736"/>
                  </a:lnTo>
                  <a:lnTo>
                    <a:pt x="52070" y="6022086"/>
                  </a:lnTo>
                  <a:cubicBezTo>
                    <a:pt x="23368" y="6022086"/>
                    <a:pt x="0" y="5998845"/>
                    <a:pt x="0" y="5970143"/>
                  </a:cubicBezTo>
                  <a:lnTo>
                    <a:pt x="0" y="51943"/>
                  </a:lnTo>
                  <a:lnTo>
                    <a:pt x="6350" y="51943"/>
                  </a:lnTo>
                  <a:lnTo>
                    <a:pt x="0" y="51943"/>
                  </a:lnTo>
                  <a:moveTo>
                    <a:pt x="12700" y="51943"/>
                  </a:moveTo>
                  <a:lnTo>
                    <a:pt x="12700" y="5970143"/>
                  </a:lnTo>
                  <a:lnTo>
                    <a:pt x="6350" y="5970143"/>
                  </a:lnTo>
                  <a:lnTo>
                    <a:pt x="12700" y="5970143"/>
                  </a:lnTo>
                  <a:cubicBezTo>
                    <a:pt x="12700" y="5991860"/>
                    <a:pt x="30353" y="6009386"/>
                    <a:pt x="52070" y="6009386"/>
                  </a:cubicBezTo>
                  <a:lnTo>
                    <a:pt x="22217380" y="6009386"/>
                  </a:lnTo>
                  <a:cubicBezTo>
                    <a:pt x="22239097" y="6009386"/>
                    <a:pt x="22256750" y="5991860"/>
                    <a:pt x="22256750" y="5970143"/>
                  </a:cubicBezTo>
                  <a:lnTo>
                    <a:pt x="22256750" y="51943"/>
                  </a:lnTo>
                  <a:cubicBezTo>
                    <a:pt x="22256750" y="30226"/>
                    <a:pt x="22239097" y="12700"/>
                    <a:pt x="22217380" y="12700"/>
                  </a:cubicBezTo>
                  <a:lnTo>
                    <a:pt x="52070" y="12700"/>
                  </a:lnTo>
                  <a:lnTo>
                    <a:pt x="52070" y="6350"/>
                  </a:lnTo>
                  <a:lnTo>
                    <a:pt x="52070" y="12700"/>
                  </a:lnTo>
                  <a:cubicBezTo>
                    <a:pt x="30353" y="12700"/>
                    <a:pt x="12700" y="30226"/>
                    <a:pt x="12700" y="5194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7244" y="4674542"/>
            <a:ext cx="16673512" cy="748010"/>
            <a:chOff x="0" y="0"/>
            <a:chExt cx="22231350" cy="99734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231350" cy="997331"/>
            </a:xfrm>
            <a:custGeom>
              <a:avLst/>
              <a:gdLst/>
              <a:ahLst/>
              <a:cxnLst/>
              <a:rect l="l" t="t" r="r" b="b"/>
              <a:pathLst>
                <a:path w="22231350" h="997331">
                  <a:moveTo>
                    <a:pt x="0" y="0"/>
                  </a:moveTo>
                  <a:lnTo>
                    <a:pt x="22231350" y="0"/>
                  </a:lnTo>
                  <a:lnTo>
                    <a:pt x="22231350" y="997331"/>
                  </a:lnTo>
                  <a:lnTo>
                    <a:pt x="0" y="9973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35397" y="4820691"/>
            <a:ext cx="4804916" cy="455711"/>
            <a:chOff x="0" y="0"/>
            <a:chExt cx="6406555" cy="60761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406555" cy="607615"/>
            </a:xfrm>
            <a:custGeom>
              <a:avLst/>
              <a:gdLst/>
              <a:ahLst/>
              <a:cxnLst/>
              <a:rect l="l" t="t" r="r" b="b"/>
              <a:pathLst>
                <a:path w="6406555" h="607615">
                  <a:moveTo>
                    <a:pt x="0" y="0"/>
                  </a:moveTo>
                  <a:lnTo>
                    <a:pt x="6406555" y="0"/>
                  </a:lnTo>
                  <a:lnTo>
                    <a:pt x="6406555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04775"/>
              <a:ext cx="6406555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Pipeline Stage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05550" y="4820691"/>
            <a:ext cx="5056882" cy="455711"/>
            <a:chOff x="0" y="0"/>
            <a:chExt cx="6742510" cy="60761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742510" cy="607615"/>
            </a:xfrm>
            <a:custGeom>
              <a:avLst/>
              <a:gdLst/>
              <a:ahLst/>
              <a:cxnLst/>
              <a:rect l="l" t="t" r="r" b="b"/>
              <a:pathLst>
                <a:path w="6742510" h="607615">
                  <a:moveTo>
                    <a:pt x="0" y="0"/>
                  </a:moveTo>
                  <a:lnTo>
                    <a:pt x="6742510" y="0"/>
                  </a:lnTo>
                  <a:lnTo>
                    <a:pt x="6742510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04775"/>
              <a:ext cx="6742510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Type of Testing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827669" y="4820691"/>
            <a:ext cx="5425231" cy="455711"/>
            <a:chOff x="0" y="0"/>
            <a:chExt cx="7233642" cy="60761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233641" cy="607615"/>
            </a:xfrm>
            <a:custGeom>
              <a:avLst/>
              <a:gdLst/>
              <a:ahLst/>
              <a:cxnLst/>
              <a:rect l="l" t="t" r="r" b="b"/>
              <a:pathLst>
                <a:path w="7233641" h="607615">
                  <a:moveTo>
                    <a:pt x="0" y="0"/>
                  </a:moveTo>
                  <a:lnTo>
                    <a:pt x="7233641" y="0"/>
                  </a:lnTo>
                  <a:lnTo>
                    <a:pt x="7233641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04775"/>
              <a:ext cx="7233642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Purpose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7244" y="5422552"/>
            <a:ext cx="16673512" cy="748010"/>
            <a:chOff x="0" y="0"/>
            <a:chExt cx="22231350" cy="99734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231350" cy="997331"/>
            </a:xfrm>
            <a:custGeom>
              <a:avLst/>
              <a:gdLst/>
              <a:ahLst/>
              <a:cxnLst/>
              <a:rect l="l" t="t" r="r" b="b"/>
              <a:pathLst>
                <a:path w="22231350" h="997331">
                  <a:moveTo>
                    <a:pt x="0" y="0"/>
                  </a:moveTo>
                  <a:lnTo>
                    <a:pt x="22231350" y="0"/>
                  </a:lnTo>
                  <a:lnTo>
                    <a:pt x="22231350" y="997331"/>
                  </a:lnTo>
                  <a:lnTo>
                    <a:pt x="0" y="997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35397" y="5568701"/>
            <a:ext cx="4804916" cy="455711"/>
            <a:chOff x="0" y="0"/>
            <a:chExt cx="6406555" cy="60761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406555" cy="607615"/>
            </a:xfrm>
            <a:custGeom>
              <a:avLst/>
              <a:gdLst/>
              <a:ahLst/>
              <a:cxnLst/>
              <a:rect l="l" t="t" r="r" b="b"/>
              <a:pathLst>
                <a:path w="6406555" h="607615">
                  <a:moveTo>
                    <a:pt x="0" y="0"/>
                  </a:moveTo>
                  <a:lnTo>
                    <a:pt x="6406555" y="0"/>
                  </a:lnTo>
                  <a:lnTo>
                    <a:pt x="6406555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04775"/>
              <a:ext cx="6406555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Pre-Commit (Local Dev)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305550" y="5568701"/>
            <a:ext cx="5056882" cy="455711"/>
            <a:chOff x="0" y="0"/>
            <a:chExt cx="6742510" cy="60761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742510" cy="607615"/>
            </a:xfrm>
            <a:custGeom>
              <a:avLst/>
              <a:gdLst/>
              <a:ahLst/>
              <a:cxnLst/>
              <a:rect l="l" t="t" r="r" b="b"/>
              <a:pathLst>
                <a:path w="6742510" h="607615">
                  <a:moveTo>
                    <a:pt x="0" y="0"/>
                  </a:moveTo>
                  <a:lnTo>
                    <a:pt x="6742510" y="0"/>
                  </a:lnTo>
                  <a:lnTo>
                    <a:pt x="6742510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04775"/>
              <a:ext cx="6742510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Unit Tests (TDD)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827669" y="5568701"/>
            <a:ext cx="5425231" cy="455711"/>
            <a:chOff x="0" y="0"/>
            <a:chExt cx="7233642" cy="60761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233641" cy="607615"/>
            </a:xfrm>
            <a:custGeom>
              <a:avLst/>
              <a:gdLst/>
              <a:ahLst/>
              <a:cxnLst/>
              <a:rect l="l" t="t" r="r" b="b"/>
              <a:pathLst>
                <a:path w="7233641" h="607615">
                  <a:moveTo>
                    <a:pt x="0" y="0"/>
                  </a:moveTo>
                  <a:lnTo>
                    <a:pt x="7233641" y="0"/>
                  </a:lnTo>
                  <a:lnTo>
                    <a:pt x="7233641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04775"/>
              <a:ext cx="7233642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 no broken code before commit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244" y="6170562"/>
            <a:ext cx="16673512" cy="748010"/>
            <a:chOff x="0" y="0"/>
            <a:chExt cx="22231350" cy="997347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231350" cy="997331"/>
            </a:xfrm>
            <a:custGeom>
              <a:avLst/>
              <a:gdLst/>
              <a:ahLst/>
              <a:cxnLst/>
              <a:rect l="l" t="t" r="r" b="b"/>
              <a:pathLst>
                <a:path w="22231350" h="997331">
                  <a:moveTo>
                    <a:pt x="0" y="0"/>
                  </a:moveTo>
                  <a:lnTo>
                    <a:pt x="22231350" y="0"/>
                  </a:lnTo>
                  <a:lnTo>
                    <a:pt x="22231350" y="997331"/>
                  </a:lnTo>
                  <a:lnTo>
                    <a:pt x="0" y="9973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35397" y="6316711"/>
            <a:ext cx="4804916" cy="455711"/>
            <a:chOff x="0" y="0"/>
            <a:chExt cx="6406555" cy="60761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406555" cy="607615"/>
            </a:xfrm>
            <a:custGeom>
              <a:avLst/>
              <a:gdLst/>
              <a:ahLst/>
              <a:cxnLst/>
              <a:rect l="l" t="t" r="r" b="b"/>
              <a:pathLst>
                <a:path w="6406555" h="607615">
                  <a:moveTo>
                    <a:pt x="0" y="0"/>
                  </a:moveTo>
                  <a:lnTo>
                    <a:pt x="6406555" y="0"/>
                  </a:lnTo>
                  <a:lnTo>
                    <a:pt x="6406555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04775"/>
              <a:ext cx="6406555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Pull Request (CI Stage)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305550" y="6316711"/>
            <a:ext cx="5056882" cy="455711"/>
            <a:chOff x="0" y="0"/>
            <a:chExt cx="6742510" cy="60761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742510" cy="607615"/>
            </a:xfrm>
            <a:custGeom>
              <a:avLst/>
              <a:gdLst/>
              <a:ahLst/>
              <a:cxnLst/>
              <a:rect l="l" t="t" r="r" b="b"/>
              <a:pathLst>
                <a:path w="6742510" h="607615">
                  <a:moveTo>
                    <a:pt x="0" y="0"/>
                  </a:moveTo>
                  <a:lnTo>
                    <a:pt x="6742510" y="0"/>
                  </a:lnTo>
                  <a:lnTo>
                    <a:pt x="6742510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04775"/>
              <a:ext cx="6742510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Unit + Integration Tests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827669" y="6316711"/>
            <a:ext cx="5425231" cy="455711"/>
            <a:chOff x="0" y="0"/>
            <a:chExt cx="7233642" cy="60761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233641" cy="607615"/>
            </a:xfrm>
            <a:custGeom>
              <a:avLst/>
              <a:gdLst/>
              <a:ahLst/>
              <a:cxnLst/>
              <a:rect l="l" t="t" r="r" b="b"/>
              <a:pathLst>
                <a:path w="7233641" h="607615">
                  <a:moveTo>
                    <a:pt x="0" y="0"/>
                  </a:moveTo>
                  <a:lnTo>
                    <a:pt x="7233641" y="0"/>
                  </a:lnTo>
                  <a:lnTo>
                    <a:pt x="7233641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04775"/>
              <a:ext cx="7233642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Validate code integration before merging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07244" y="6918572"/>
            <a:ext cx="16673512" cy="748010"/>
            <a:chOff x="0" y="0"/>
            <a:chExt cx="22231350" cy="99734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231350" cy="997331"/>
            </a:xfrm>
            <a:custGeom>
              <a:avLst/>
              <a:gdLst/>
              <a:ahLst/>
              <a:cxnLst/>
              <a:rect l="l" t="t" r="r" b="b"/>
              <a:pathLst>
                <a:path w="22231350" h="997331">
                  <a:moveTo>
                    <a:pt x="0" y="0"/>
                  </a:moveTo>
                  <a:lnTo>
                    <a:pt x="22231350" y="0"/>
                  </a:lnTo>
                  <a:lnTo>
                    <a:pt x="22231350" y="997331"/>
                  </a:lnTo>
                  <a:lnTo>
                    <a:pt x="0" y="997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35397" y="7064721"/>
            <a:ext cx="4804916" cy="455711"/>
            <a:chOff x="0" y="0"/>
            <a:chExt cx="6406555" cy="60761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406555" cy="607615"/>
            </a:xfrm>
            <a:custGeom>
              <a:avLst/>
              <a:gdLst/>
              <a:ahLst/>
              <a:cxnLst/>
              <a:rect l="l" t="t" r="r" b="b"/>
              <a:pathLst>
                <a:path w="6406555" h="607615">
                  <a:moveTo>
                    <a:pt x="0" y="0"/>
                  </a:moveTo>
                  <a:lnTo>
                    <a:pt x="6406555" y="0"/>
                  </a:lnTo>
                  <a:lnTo>
                    <a:pt x="6406555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04775"/>
              <a:ext cx="6406555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Post-Merge (CD Stage)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305550" y="7064721"/>
            <a:ext cx="5056882" cy="455711"/>
            <a:chOff x="0" y="0"/>
            <a:chExt cx="6742510" cy="60761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742510" cy="607615"/>
            </a:xfrm>
            <a:custGeom>
              <a:avLst/>
              <a:gdLst/>
              <a:ahLst/>
              <a:cxnLst/>
              <a:rect l="l" t="t" r="r" b="b"/>
              <a:pathLst>
                <a:path w="6742510" h="607615">
                  <a:moveTo>
                    <a:pt x="0" y="0"/>
                  </a:moveTo>
                  <a:lnTo>
                    <a:pt x="6742510" y="0"/>
                  </a:lnTo>
                  <a:lnTo>
                    <a:pt x="6742510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04775"/>
              <a:ext cx="6742510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End-to-End (E2E) Tests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827669" y="7064721"/>
            <a:ext cx="5425231" cy="455711"/>
            <a:chOff x="0" y="0"/>
            <a:chExt cx="7233642" cy="60761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233641" cy="607615"/>
            </a:xfrm>
            <a:custGeom>
              <a:avLst/>
              <a:gdLst/>
              <a:ahLst/>
              <a:cxnLst/>
              <a:rect l="l" t="t" r="r" b="b"/>
              <a:pathLst>
                <a:path w="7233641" h="607615">
                  <a:moveTo>
                    <a:pt x="0" y="0"/>
                  </a:moveTo>
                  <a:lnTo>
                    <a:pt x="7233641" y="0"/>
                  </a:lnTo>
                  <a:lnTo>
                    <a:pt x="7233641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04775"/>
              <a:ext cx="7233642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 full application behavior works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07244" y="7666582"/>
            <a:ext cx="16673512" cy="748010"/>
            <a:chOff x="0" y="0"/>
            <a:chExt cx="22231350" cy="997347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2231350" cy="997331"/>
            </a:xfrm>
            <a:custGeom>
              <a:avLst/>
              <a:gdLst/>
              <a:ahLst/>
              <a:cxnLst/>
              <a:rect l="l" t="t" r="r" b="b"/>
              <a:pathLst>
                <a:path w="22231350" h="997331">
                  <a:moveTo>
                    <a:pt x="0" y="0"/>
                  </a:moveTo>
                  <a:lnTo>
                    <a:pt x="22231350" y="0"/>
                  </a:lnTo>
                  <a:lnTo>
                    <a:pt x="22231350" y="997331"/>
                  </a:lnTo>
                  <a:lnTo>
                    <a:pt x="0" y="9973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35397" y="7812732"/>
            <a:ext cx="4804916" cy="455711"/>
            <a:chOff x="0" y="0"/>
            <a:chExt cx="6406555" cy="60761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6406555" cy="607615"/>
            </a:xfrm>
            <a:custGeom>
              <a:avLst/>
              <a:gdLst/>
              <a:ahLst/>
              <a:cxnLst/>
              <a:rect l="l" t="t" r="r" b="b"/>
              <a:pathLst>
                <a:path w="6406555" h="607615">
                  <a:moveTo>
                    <a:pt x="0" y="0"/>
                  </a:moveTo>
                  <a:lnTo>
                    <a:pt x="6406555" y="0"/>
                  </a:lnTo>
                  <a:lnTo>
                    <a:pt x="6406555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104775"/>
              <a:ext cx="6406555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Pre-Deployment (Staging)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305550" y="7812732"/>
            <a:ext cx="5056882" cy="455711"/>
            <a:chOff x="0" y="0"/>
            <a:chExt cx="6742510" cy="60761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742510" cy="607615"/>
            </a:xfrm>
            <a:custGeom>
              <a:avLst/>
              <a:gdLst/>
              <a:ahLst/>
              <a:cxnLst/>
              <a:rect l="l" t="t" r="r" b="b"/>
              <a:pathLst>
                <a:path w="6742510" h="607615">
                  <a:moveTo>
                    <a:pt x="0" y="0"/>
                  </a:moveTo>
                  <a:lnTo>
                    <a:pt x="6742510" y="0"/>
                  </a:lnTo>
                  <a:lnTo>
                    <a:pt x="6742510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104775"/>
              <a:ext cx="6742510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Load, Security, API Tests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1827669" y="7812732"/>
            <a:ext cx="5425231" cy="455711"/>
            <a:chOff x="0" y="0"/>
            <a:chExt cx="7233642" cy="60761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233641" cy="607615"/>
            </a:xfrm>
            <a:custGeom>
              <a:avLst/>
              <a:gdLst/>
              <a:ahLst/>
              <a:cxnLst/>
              <a:rect l="l" t="t" r="r" b="b"/>
              <a:pathLst>
                <a:path w="7233641" h="607615">
                  <a:moveTo>
                    <a:pt x="0" y="0"/>
                  </a:moveTo>
                  <a:lnTo>
                    <a:pt x="7233641" y="0"/>
                  </a:lnTo>
                  <a:lnTo>
                    <a:pt x="7233641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04775"/>
              <a:ext cx="7233642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 performance &amp; security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07244" y="8414592"/>
            <a:ext cx="16673512" cy="748010"/>
            <a:chOff x="0" y="0"/>
            <a:chExt cx="22231350" cy="997347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2231350" cy="997331"/>
            </a:xfrm>
            <a:custGeom>
              <a:avLst/>
              <a:gdLst/>
              <a:ahLst/>
              <a:cxnLst/>
              <a:rect l="l" t="t" r="r" b="b"/>
              <a:pathLst>
                <a:path w="22231350" h="997331">
                  <a:moveTo>
                    <a:pt x="0" y="0"/>
                  </a:moveTo>
                  <a:lnTo>
                    <a:pt x="22231350" y="0"/>
                  </a:lnTo>
                  <a:lnTo>
                    <a:pt x="22231350" y="997331"/>
                  </a:lnTo>
                  <a:lnTo>
                    <a:pt x="0" y="997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35397" y="8560742"/>
            <a:ext cx="4804916" cy="455711"/>
            <a:chOff x="0" y="0"/>
            <a:chExt cx="6406555" cy="607615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406555" cy="607615"/>
            </a:xfrm>
            <a:custGeom>
              <a:avLst/>
              <a:gdLst/>
              <a:ahLst/>
              <a:cxnLst/>
              <a:rect l="l" t="t" r="r" b="b"/>
              <a:pathLst>
                <a:path w="6406555" h="607615">
                  <a:moveTo>
                    <a:pt x="0" y="0"/>
                  </a:moveTo>
                  <a:lnTo>
                    <a:pt x="6406555" y="0"/>
                  </a:lnTo>
                  <a:lnTo>
                    <a:pt x="6406555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104775"/>
              <a:ext cx="6406555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Production Monitoring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305550" y="8560742"/>
            <a:ext cx="5056882" cy="455711"/>
            <a:chOff x="0" y="0"/>
            <a:chExt cx="6742510" cy="607615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742510" cy="607615"/>
            </a:xfrm>
            <a:custGeom>
              <a:avLst/>
              <a:gdLst/>
              <a:ahLst/>
              <a:cxnLst/>
              <a:rect l="l" t="t" r="r" b="b"/>
              <a:pathLst>
                <a:path w="6742510" h="607615">
                  <a:moveTo>
                    <a:pt x="0" y="0"/>
                  </a:moveTo>
                  <a:lnTo>
                    <a:pt x="6742510" y="0"/>
                  </a:lnTo>
                  <a:lnTo>
                    <a:pt x="6742510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104775"/>
              <a:ext cx="6742510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Smoke Tests, Health Checks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1827669" y="8560742"/>
            <a:ext cx="5425231" cy="455711"/>
            <a:chOff x="0" y="0"/>
            <a:chExt cx="7233642" cy="607615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7233641" cy="607615"/>
            </a:xfrm>
            <a:custGeom>
              <a:avLst/>
              <a:gdLst/>
              <a:ahLst/>
              <a:cxnLst/>
              <a:rect l="l" t="t" r="r" b="b"/>
              <a:pathLst>
                <a:path w="7233641" h="607615">
                  <a:moveTo>
                    <a:pt x="0" y="0"/>
                  </a:moveTo>
                  <a:lnTo>
                    <a:pt x="7233641" y="0"/>
                  </a:lnTo>
                  <a:lnTo>
                    <a:pt x="7233641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104775"/>
              <a:ext cx="7233642" cy="71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25"/>
                </a:lnSpc>
              </a:pPr>
              <a:r>
                <a:rPr lang="en-US" sz="2287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Validate live system health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6630" y="479754"/>
            <a:ext cx="10357053" cy="586475"/>
            <a:chOff x="0" y="0"/>
            <a:chExt cx="13809404" cy="7819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09404" cy="781966"/>
            </a:xfrm>
            <a:custGeom>
              <a:avLst/>
              <a:gdLst/>
              <a:ahLst/>
              <a:cxnLst/>
              <a:rect l="l" t="t" r="r" b="b"/>
              <a:pathLst>
                <a:path w="13809404" h="781966">
                  <a:moveTo>
                    <a:pt x="0" y="0"/>
                  </a:moveTo>
                  <a:lnTo>
                    <a:pt x="13809404" y="0"/>
                  </a:lnTo>
                  <a:lnTo>
                    <a:pt x="13809404" y="781966"/>
                  </a:lnTo>
                  <a:lnTo>
                    <a:pt x="0" y="7819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3809404" cy="8105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9"/>
                </a:lnSpc>
              </a:pPr>
              <a:r>
                <a:rPr lang="en-US" sz="2887" b="1">
                  <a:solidFill>
                    <a:srgbClr val="201B1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Setting Up Automated Integration Testing in a CI Pipeline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006" y="1260574"/>
            <a:ext cx="16955989" cy="8506717"/>
            <a:chOff x="0" y="0"/>
            <a:chExt cx="22607985" cy="113422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08032" cy="11342243"/>
            </a:xfrm>
            <a:custGeom>
              <a:avLst/>
              <a:gdLst/>
              <a:ahLst/>
              <a:cxnLst/>
              <a:rect l="l" t="t" r="r" b="b"/>
              <a:pathLst>
                <a:path w="22608032" h="11342243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2569932" y="0"/>
                  </a:lnTo>
                  <a:cubicBezTo>
                    <a:pt x="22591015" y="0"/>
                    <a:pt x="22608032" y="17018"/>
                    <a:pt x="22608032" y="38100"/>
                  </a:cubicBezTo>
                  <a:lnTo>
                    <a:pt x="22608032" y="11304143"/>
                  </a:lnTo>
                  <a:cubicBezTo>
                    <a:pt x="22608032" y="11325225"/>
                    <a:pt x="22591015" y="11342243"/>
                    <a:pt x="22569932" y="11342243"/>
                  </a:cubicBezTo>
                  <a:lnTo>
                    <a:pt x="38100" y="11342243"/>
                  </a:lnTo>
                  <a:cubicBezTo>
                    <a:pt x="17018" y="11342243"/>
                    <a:pt x="0" y="11325225"/>
                    <a:pt x="0" y="11304143"/>
                  </a:cubicBezTo>
                  <a:close/>
                </a:path>
              </a:pathLst>
            </a:custGeom>
            <a:solidFill>
              <a:srgbClr val="F3E3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6630" y="1260574"/>
            <a:ext cx="16974741" cy="8506717"/>
            <a:chOff x="0" y="0"/>
            <a:chExt cx="22632988" cy="113422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32924" cy="11342243"/>
            </a:xfrm>
            <a:custGeom>
              <a:avLst/>
              <a:gdLst/>
              <a:ahLst/>
              <a:cxnLst/>
              <a:rect l="l" t="t" r="r" b="b"/>
              <a:pathLst>
                <a:path w="22632924" h="11342243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2594824" y="0"/>
                  </a:lnTo>
                  <a:cubicBezTo>
                    <a:pt x="22615906" y="0"/>
                    <a:pt x="22632924" y="17018"/>
                    <a:pt x="22632924" y="38100"/>
                  </a:cubicBezTo>
                  <a:lnTo>
                    <a:pt x="22632924" y="11304143"/>
                  </a:lnTo>
                  <a:cubicBezTo>
                    <a:pt x="22632924" y="11325225"/>
                    <a:pt x="22615906" y="11342243"/>
                    <a:pt x="22594824" y="11342243"/>
                  </a:cubicBezTo>
                  <a:lnTo>
                    <a:pt x="38100" y="11342243"/>
                  </a:lnTo>
                  <a:cubicBezTo>
                    <a:pt x="17018" y="11342243"/>
                    <a:pt x="0" y="11325225"/>
                    <a:pt x="0" y="11304143"/>
                  </a:cubicBezTo>
                  <a:close/>
                </a:path>
              </a:pathLst>
            </a:custGeom>
            <a:solidFill>
              <a:srgbClr val="F3E3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6833" y="1403151"/>
            <a:ext cx="16594336" cy="8469704"/>
            <a:chOff x="0" y="0"/>
            <a:chExt cx="22125782" cy="112929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125781" cy="11292939"/>
            </a:xfrm>
            <a:custGeom>
              <a:avLst/>
              <a:gdLst/>
              <a:ahLst/>
              <a:cxnLst/>
              <a:rect l="l" t="t" r="r" b="b"/>
              <a:pathLst>
                <a:path w="22125781" h="11292939">
                  <a:moveTo>
                    <a:pt x="0" y="0"/>
                  </a:moveTo>
                  <a:lnTo>
                    <a:pt x="22125781" y="0"/>
                  </a:lnTo>
                  <a:lnTo>
                    <a:pt x="22125781" y="11292939"/>
                  </a:lnTo>
                  <a:lnTo>
                    <a:pt x="0" y="112929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22125782" cy="11397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name: Integration Tests</a:t>
              </a:r>
            </a:p>
            <a:p>
              <a:pPr algn="l">
                <a:lnSpc>
                  <a:spcPts val="2540"/>
                </a:lnSpc>
              </a:pPr>
              <a:endParaRPr lang="en-US" sz="1537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on: [push, pull_request]</a:t>
              </a:r>
            </a:p>
            <a:p>
              <a:pPr algn="l">
                <a:lnSpc>
                  <a:spcPts val="2540"/>
                </a:lnSpc>
              </a:pPr>
              <a:endParaRPr lang="en-US" sz="1537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jobs: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integration-test: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runs-on: ubuntu-latest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services: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db: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image: postgres:13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ports: ["5432:5432"]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env: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POSTGRES_USER: testuser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POSTGRES_PASSWORD: testpassword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POSTGRES_DB: testdb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options: --health-cmd="pg_isready -U testuser" --health-interval=10s --health-timeout=5s --health-retries=3</a:t>
              </a:r>
            </a:p>
            <a:p>
              <a:pPr algn="l">
                <a:lnSpc>
                  <a:spcPts val="2540"/>
                </a:lnSpc>
              </a:pPr>
              <a:endParaRPr lang="en-US" sz="1537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steps: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- uses: actions/checkout@v3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- uses: actions/setup-node@v3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with: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node-version: '16'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- run: npm install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- run: npm run test:integration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env:</a:t>
              </a:r>
            </a:p>
            <a:p>
              <a:pPr algn="l">
                <a:lnSpc>
                  <a:spcPts val="2540"/>
                </a:lnSpc>
              </a:pPr>
              <a:r>
                <a:rPr lang="en-US" sz="1537">
                  <a:solidFill>
                    <a:srgbClr val="504C49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DATABASE_URL: postgres://testuser:testpassword@localhost:5432/testdb</a:t>
              </a:r>
            </a:p>
            <a:p>
              <a:pPr algn="l">
                <a:lnSpc>
                  <a:spcPts val="2540"/>
                </a:lnSpc>
              </a:pPr>
              <a:endParaRPr lang="en-US" sz="1537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1692" y="1045220"/>
            <a:ext cx="6584007" cy="823020"/>
            <a:chOff x="0" y="0"/>
            <a:chExt cx="8778677" cy="10973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78677" cy="1097360"/>
            </a:xfrm>
            <a:custGeom>
              <a:avLst/>
              <a:gdLst/>
              <a:ahLst/>
              <a:cxnLst/>
              <a:rect l="l" t="t" r="r" b="b"/>
              <a:pathLst>
                <a:path w="8778677" h="1097360">
                  <a:moveTo>
                    <a:pt x="0" y="0"/>
                  </a:moveTo>
                  <a:lnTo>
                    <a:pt x="8778677" y="0"/>
                  </a:lnTo>
                  <a:lnTo>
                    <a:pt x="8778677" y="1097360"/>
                  </a:lnTo>
                  <a:lnTo>
                    <a:pt x="0" y="10973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778677" cy="115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37"/>
                </a:lnSpc>
              </a:pPr>
              <a:r>
                <a:rPr lang="en-US" sz="5125">
                  <a:solidFill>
                    <a:srgbClr val="201B18"/>
                  </a:solidFill>
                  <a:latin typeface="Arimo"/>
                  <a:ea typeface="Arimo"/>
                  <a:cs typeface="Arimo"/>
                  <a:sym typeface="Arimo"/>
                </a:rPr>
                <a:t>Key Takeaways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1692" y="2263229"/>
            <a:ext cx="16444615" cy="1053405"/>
            <a:chOff x="0" y="0"/>
            <a:chExt cx="21926153" cy="14045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26153" cy="1404540"/>
            </a:xfrm>
            <a:custGeom>
              <a:avLst/>
              <a:gdLst/>
              <a:ahLst/>
              <a:cxnLst/>
              <a:rect l="l" t="t" r="r" b="b"/>
              <a:pathLst>
                <a:path w="21926153" h="1404540">
                  <a:moveTo>
                    <a:pt x="0" y="0"/>
                  </a:moveTo>
                  <a:lnTo>
                    <a:pt x="21926153" y="0"/>
                  </a:lnTo>
                  <a:lnTo>
                    <a:pt x="21926153" y="1404540"/>
                  </a:lnTo>
                  <a:lnTo>
                    <a:pt x="0" y="1404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926153" cy="1509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256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Integration Testing Frameworks</a:t>
              </a:r>
            </a:p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Ensure seamless component interaction using tools like Selenium, Cypress &amp; Postman.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1692" y="3612802"/>
            <a:ext cx="16444615" cy="1580109"/>
            <a:chOff x="0" y="0"/>
            <a:chExt cx="21926153" cy="21068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26153" cy="2106812"/>
            </a:xfrm>
            <a:custGeom>
              <a:avLst/>
              <a:gdLst/>
              <a:ahLst/>
              <a:cxnLst/>
              <a:rect l="l" t="t" r="r" b="b"/>
              <a:pathLst>
                <a:path w="21926153" h="2106812">
                  <a:moveTo>
                    <a:pt x="0" y="0"/>
                  </a:moveTo>
                  <a:lnTo>
                    <a:pt x="21926153" y="0"/>
                  </a:lnTo>
                  <a:lnTo>
                    <a:pt x="21926153" y="2106812"/>
                  </a:lnTo>
                  <a:lnTo>
                    <a:pt x="0" y="21068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21926153" cy="2211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2562" b="1" dirty="0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Test-Driven Development (TDD) &amp; Behavior-Driven Development (BDD)</a:t>
              </a:r>
            </a:p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TDD: Write tests before code to improve reliability, leading to cleaner and bug-free software.</a:t>
              </a:r>
            </a:p>
            <a:p>
              <a:pPr algn="l">
                <a:lnSpc>
                  <a:spcPts val="4125"/>
                </a:lnSpc>
              </a:pPr>
              <a:r>
                <a:rPr lang="en-US" sz="2562" dirty="0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BDD: Uses human-readable Gherkin syntax with tools like Cucumber &amp; Behave for better collaboration.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1692" y="5489079"/>
            <a:ext cx="16444615" cy="1053405"/>
            <a:chOff x="0" y="0"/>
            <a:chExt cx="21926153" cy="14045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26153" cy="1404540"/>
            </a:xfrm>
            <a:custGeom>
              <a:avLst/>
              <a:gdLst/>
              <a:ahLst/>
              <a:cxnLst/>
              <a:rect l="l" t="t" r="r" b="b"/>
              <a:pathLst>
                <a:path w="21926153" h="1404540">
                  <a:moveTo>
                    <a:pt x="0" y="0"/>
                  </a:moveTo>
                  <a:lnTo>
                    <a:pt x="21926153" y="0"/>
                  </a:lnTo>
                  <a:lnTo>
                    <a:pt x="21926153" y="1404540"/>
                  </a:lnTo>
                  <a:lnTo>
                    <a:pt x="0" y="1404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21926153" cy="1509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256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Use-Cases of TDD &amp; BDD in Pipelines</a:t>
              </a:r>
            </a:p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TDD ensures unit tests run before merging, while BDD automates feature validation through integration tests.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1692" y="6838652"/>
            <a:ext cx="16444615" cy="1053405"/>
            <a:chOff x="0" y="0"/>
            <a:chExt cx="21926153" cy="14045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26153" cy="1404540"/>
            </a:xfrm>
            <a:custGeom>
              <a:avLst/>
              <a:gdLst/>
              <a:ahLst/>
              <a:cxnLst/>
              <a:rect l="l" t="t" r="r" b="b"/>
              <a:pathLst>
                <a:path w="21926153" h="1404540">
                  <a:moveTo>
                    <a:pt x="0" y="0"/>
                  </a:moveTo>
                  <a:lnTo>
                    <a:pt x="21926153" y="0"/>
                  </a:lnTo>
                  <a:lnTo>
                    <a:pt x="21926153" y="1404540"/>
                  </a:lnTo>
                  <a:lnTo>
                    <a:pt x="0" y="1404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21926153" cy="1509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256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Code Coverage &amp; Quality Analysis</a:t>
              </a:r>
            </a:p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Measures tested vs. untested code using tools like pytest-cov &amp; Jacoco to minimize risk.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1692" y="8188226"/>
            <a:ext cx="16444615" cy="1053405"/>
            <a:chOff x="0" y="0"/>
            <a:chExt cx="21926153" cy="14045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26153" cy="1404540"/>
            </a:xfrm>
            <a:custGeom>
              <a:avLst/>
              <a:gdLst/>
              <a:ahLst/>
              <a:cxnLst/>
              <a:rect l="l" t="t" r="r" b="b"/>
              <a:pathLst>
                <a:path w="21926153" h="1404540">
                  <a:moveTo>
                    <a:pt x="0" y="0"/>
                  </a:moveTo>
                  <a:lnTo>
                    <a:pt x="21926153" y="0"/>
                  </a:lnTo>
                  <a:lnTo>
                    <a:pt x="21926153" y="1404540"/>
                  </a:lnTo>
                  <a:lnTo>
                    <a:pt x="0" y="1404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04775"/>
              <a:ext cx="21926153" cy="1509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256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TDD/BDD &amp; Integration Testing in CI/CD</a:t>
              </a:r>
            </a:p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Automates test execution in CICD tools (e.g. GitHub Actions</a:t>
              </a:r>
              <a:r>
                <a:rPr lang="en-US" sz="2562" b="1">
                  <a:solidFill>
                    <a:srgbClr val="504C49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)</a:t>
              </a:r>
              <a:r>
                <a:rPr lang="en-US" sz="2562">
                  <a:solidFill>
                    <a:srgbClr val="504C49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 blocking merges if tests fail to ensure stability.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1819</Words>
  <Application>Microsoft Office PowerPoint</Application>
  <PresentationFormat>Custom</PresentationFormat>
  <Paragraphs>337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Arimo Bold</vt:lpstr>
      <vt:lpstr>Playfair Display Bold</vt:lpstr>
      <vt:lpstr>Libre Baskerville</vt:lpstr>
      <vt:lpstr>Alice</vt:lpstr>
      <vt:lpstr>Arial</vt:lpstr>
      <vt:lpstr>Source Serif Pro Bold</vt:lpstr>
      <vt:lpstr>Playfair Display</vt:lpstr>
      <vt:lpstr>Consolas</vt:lpstr>
      <vt:lpstr>Arimo</vt:lpstr>
      <vt:lpstr>Source Serif Pro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sec22-Testing-for-DevOps.pptx</dc:title>
  <cp:lastModifiedBy>MohammaD AneeS</cp:lastModifiedBy>
  <cp:revision>6</cp:revision>
  <dcterms:created xsi:type="dcterms:W3CDTF">2006-08-16T00:00:00Z</dcterms:created>
  <dcterms:modified xsi:type="dcterms:W3CDTF">2026-09-27T08:11:16Z</dcterms:modified>
  <dc:identifier>DAGjLe08hw0</dc:identifier>
</cp:coreProperties>
</file>