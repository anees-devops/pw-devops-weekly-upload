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67" r:id="rId16"/>
    <p:sldId id="268" r:id="rId17"/>
  </p:sldIdLst>
  <p:sldSz cx="18288000" cy="10287000"/>
  <p:notesSz cx="6858000" cy="9144000"/>
  <p:embeddedFontLst>
    <p:embeddedFont>
      <p:font typeface="Canva Sans Bold" panose="020B0803030501040103" pitchFamily="34" charset="0"/>
      <p:regular r:id="rId19"/>
      <p:bold r:id="rId20"/>
    </p:embeddedFont>
    <p:embeddedFont>
      <p:font typeface="Heebo Bold" pitchFamily="2" charset="-79"/>
      <p:regular r:id="rId21"/>
      <p:bold r:id="rId22"/>
    </p:embeddedFont>
    <p:embeddedFont>
      <p:font typeface="Heebo Light" pitchFamily="2" charset="-79"/>
      <p:regular r:id="rId23"/>
    </p:embeddedFont>
    <p:embeddedFont>
      <p:font typeface="Montserrat" pitchFamily="2" charset="77"/>
      <p:regular r:id="rId24"/>
      <p:bold r:id="rId25"/>
      <p:italic r:id="rId26"/>
      <p:boldItalic r:id="rId27"/>
    </p:embeddedFont>
    <p:embeddedFont>
      <p:font typeface="Montserrat Bold" pitchFamily="2" charset="77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94603" autoAdjust="0"/>
  </p:normalViewPr>
  <p:slideViewPr>
    <p:cSldViewPr>
      <p:cViewPr varScale="1">
        <p:scale>
          <a:sx n="84" d="100"/>
          <a:sy n="84" d="100"/>
        </p:scale>
        <p:origin x="232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svg"/><Relationship Id="rId3" Type="http://schemas.openxmlformats.org/officeDocument/2006/relationships/image" Target="../media/image1.png"/><Relationship Id="rId7" Type="http://schemas.openxmlformats.org/officeDocument/2006/relationships/image" Target="../media/image36.sv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svg"/><Relationship Id="rId5" Type="http://schemas.openxmlformats.org/officeDocument/2006/relationships/image" Target="../media/image34.svg"/><Relationship Id="rId15" Type="http://schemas.openxmlformats.org/officeDocument/2006/relationships/image" Target="../media/image44.sv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svg"/><Relationship Id="rId14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svg"/><Relationship Id="rId5" Type="http://schemas.openxmlformats.org/officeDocument/2006/relationships/image" Target="../media/image46.sv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89186" y="4384179"/>
            <a:ext cx="8924960" cy="88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 b="1">
                <a:solidFill>
                  <a:srgbClr val="C4248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Continuous Integration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72630" y="5402610"/>
            <a:ext cx="6484590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C42481"/>
                </a:solidFill>
                <a:latin typeface="Montserrat"/>
                <a:ea typeface="Montserrat"/>
                <a:cs typeface="Montserrat"/>
                <a:sym typeface="Montserrat"/>
              </a:rPr>
              <a:t>Streamlining Software Development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200" y="8941423"/>
            <a:ext cx="1627839" cy="340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  <a:spcBef>
                <a:spcPct val="0"/>
              </a:spcBef>
            </a:pPr>
            <a:r>
              <a:rPr lang="en-US" sz="2250" dirty="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Montserrat"/>
                <a:ea typeface="Montserrat"/>
                <a:cs typeface="Montserrat"/>
                <a:sym typeface="Montserrat"/>
              </a:rPr>
              <a:t>Presenter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9612" y="9329738"/>
            <a:ext cx="4821770" cy="35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  <a:spcBef>
                <a:spcPct val="0"/>
              </a:spcBef>
            </a:pPr>
            <a:r>
              <a:rPr lang="en-US" sz="225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Montserrat"/>
                <a:ea typeface="Montserrat"/>
                <a:cs typeface="Montserrat"/>
                <a:sym typeface="Montserrat"/>
              </a:rPr>
              <a:t>Mohammad Anees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28539" y="1658194"/>
            <a:ext cx="14996870" cy="730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13"/>
              </a:lnSpc>
            </a:pPr>
            <a:r>
              <a:rPr lang="en-US" sz="4637" b="1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Leveling Up in DevOps: Progress &amp; Next Steps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5901779"/>
            <a:ext cx="16303526" cy="38100"/>
            <a:chOff x="0" y="0"/>
            <a:chExt cx="21738035" cy="50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38082" cy="50800"/>
            </a:xfrm>
            <a:custGeom>
              <a:avLst/>
              <a:gdLst/>
              <a:ahLst/>
              <a:cxnLst/>
              <a:rect l="l" t="t" r="r" b="b"/>
              <a:pathLst>
                <a:path w="21738082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646760" y="5051226"/>
            <a:ext cx="38100" cy="850552"/>
            <a:chOff x="0" y="0"/>
            <a:chExt cx="50800" cy="11340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342109" y="5578079"/>
            <a:ext cx="647402" cy="647402"/>
            <a:chOff x="0" y="0"/>
            <a:chExt cx="863203" cy="863203"/>
          </a:xfrm>
        </p:grpSpPr>
        <p:sp>
          <p:nvSpPr>
            <p:cNvPr id="12" name="Freeform 12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 descr="preencoded.png"/>
          <p:cNvSpPr/>
          <p:nvPr/>
        </p:nvSpPr>
        <p:spPr>
          <a:xfrm>
            <a:off x="2453209" y="5689104"/>
            <a:ext cx="425203" cy="425203"/>
          </a:xfrm>
          <a:custGeom>
            <a:avLst/>
            <a:gdLst/>
            <a:ahLst/>
            <a:cxnLst/>
            <a:rect l="l" t="t" r="r" b="b"/>
            <a:pathLst>
              <a:path w="425203" h="425203">
                <a:moveTo>
                  <a:pt x="0" y="0"/>
                </a:moveTo>
                <a:lnTo>
                  <a:pt x="425202" y="0"/>
                </a:lnTo>
                <a:lnTo>
                  <a:pt x="425202" y="425202"/>
                </a:lnTo>
                <a:lnTo>
                  <a:pt x="0" y="425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222" r="-12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275755" y="3694956"/>
            <a:ext cx="2780259" cy="107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Automation scripts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497586" y="5901779"/>
            <a:ext cx="38100" cy="850552"/>
            <a:chOff x="0" y="0"/>
            <a:chExt cx="50800" cy="113407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192935" y="5578079"/>
            <a:ext cx="647402" cy="647402"/>
            <a:chOff x="0" y="0"/>
            <a:chExt cx="863203" cy="863203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4304035" y="5689104"/>
            <a:ext cx="425203" cy="425203"/>
          </a:xfrm>
          <a:custGeom>
            <a:avLst/>
            <a:gdLst/>
            <a:ahLst/>
            <a:cxnLst/>
            <a:rect l="l" t="t" r="r" b="b"/>
            <a:pathLst>
              <a:path w="425203" h="425203">
                <a:moveTo>
                  <a:pt x="0" y="0"/>
                </a:moveTo>
                <a:lnTo>
                  <a:pt x="425202" y="0"/>
                </a:lnTo>
                <a:lnTo>
                  <a:pt x="425202" y="425202"/>
                </a:lnTo>
                <a:lnTo>
                  <a:pt x="0" y="4252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3126581" y="7026325"/>
            <a:ext cx="2780259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Continuous Integration (CI)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348561" y="5051226"/>
            <a:ext cx="38100" cy="850552"/>
            <a:chOff x="0" y="0"/>
            <a:chExt cx="50800" cy="113407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43910" y="5578079"/>
            <a:ext cx="647403" cy="647402"/>
            <a:chOff x="0" y="0"/>
            <a:chExt cx="863203" cy="863203"/>
          </a:xfrm>
        </p:grpSpPr>
        <p:sp>
          <p:nvSpPr>
            <p:cNvPr id="26" name="Freeform 26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Freeform 28" descr="preencoded.png"/>
          <p:cNvSpPr/>
          <p:nvPr/>
        </p:nvSpPr>
        <p:spPr>
          <a:xfrm>
            <a:off x="6155010" y="5689104"/>
            <a:ext cx="425203" cy="425203"/>
          </a:xfrm>
          <a:custGeom>
            <a:avLst/>
            <a:gdLst/>
            <a:ahLst/>
            <a:cxnLst/>
            <a:rect l="l" t="t" r="r" b="b"/>
            <a:pathLst>
              <a:path w="425203" h="425203">
                <a:moveTo>
                  <a:pt x="0" y="0"/>
                </a:moveTo>
                <a:lnTo>
                  <a:pt x="425202" y="0"/>
                </a:lnTo>
                <a:lnTo>
                  <a:pt x="425202" y="425202"/>
                </a:lnTo>
                <a:lnTo>
                  <a:pt x="0" y="4252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4977408" y="3694956"/>
            <a:ext cx="2780407" cy="541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Testing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199387" y="5901779"/>
            <a:ext cx="38100" cy="850552"/>
            <a:chOff x="0" y="0"/>
            <a:chExt cx="50800" cy="113407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894736" y="5578079"/>
            <a:ext cx="647402" cy="647402"/>
            <a:chOff x="0" y="0"/>
            <a:chExt cx="863203" cy="863203"/>
          </a:xfrm>
        </p:grpSpPr>
        <p:sp>
          <p:nvSpPr>
            <p:cNvPr id="33" name="Freeform 33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Freeform 35" descr="preencoded.png"/>
          <p:cNvSpPr/>
          <p:nvPr/>
        </p:nvSpPr>
        <p:spPr>
          <a:xfrm>
            <a:off x="8005837" y="5689104"/>
            <a:ext cx="425202" cy="425203"/>
          </a:xfrm>
          <a:custGeom>
            <a:avLst/>
            <a:gdLst/>
            <a:ahLst/>
            <a:cxnLst/>
            <a:rect l="l" t="t" r="r" b="b"/>
            <a:pathLst>
              <a:path w="425202" h="425203">
                <a:moveTo>
                  <a:pt x="0" y="0"/>
                </a:moveTo>
                <a:lnTo>
                  <a:pt x="425203" y="0"/>
                </a:lnTo>
                <a:lnTo>
                  <a:pt x="425203" y="425202"/>
                </a:lnTo>
                <a:lnTo>
                  <a:pt x="0" y="4252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6828235" y="7026325"/>
            <a:ext cx="2780408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Continuous Deployment (CD)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050215" y="5051226"/>
            <a:ext cx="38100" cy="850552"/>
            <a:chOff x="0" y="0"/>
            <a:chExt cx="50800" cy="113407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745564" y="5578079"/>
            <a:ext cx="647402" cy="647402"/>
            <a:chOff x="0" y="0"/>
            <a:chExt cx="863203" cy="863203"/>
          </a:xfrm>
        </p:grpSpPr>
        <p:sp>
          <p:nvSpPr>
            <p:cNvPr id="40" name="Freeform 40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" name="Freeform 42" descr="preencoded.png"/>
          <p:cNvSpPr/>
          <p:nvPr/>
        </p:nvSpPr>
        <p:spPr>
          <a:xfrm>
            <a:off x="9856664" y="5689104"/>
            <a:ext cx="425203" cy="425203"/>
          </a:xfrm>
          <a:custGeom>
            <a:avLst/>
            <a:gdLst/>
            <a:ahLst/>
            <a:cxnLst/>
            <a:rect l="l" t="t" r="r" b="b"/>
            <a:pathLst>
              <a:path w="425203" h="425203">
                <a:moveTo>
                  <a:pt x="0" y="0"/>
                </a:moveTo>
                <a:lnTo>
                  <a:pt x="425202" y="0"/>
                </a:lnTo>
                <a:lnTo>
                  <a:pt x="425202" y="425202"/>
                </a:lnTo>
                <a:lnTo>
                  <a:pt x="0" y="4252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8679210" y="3694956"/>
            <a:ext cx="302842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Ansible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1901190" y="5901779"/>
            <a:ext cx="38100" cy="850552"/>
            <a:chOff x="0" y="0"/>
            <a:chExt cx="50800" cy="113407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596539" y="5578079"/>
            <a:ext cx="647402" cy="647402"/>
            <a:chOff x="0" y="0"/>
            <a:chExt cx="863203" cy="863203"/>
          </a:xfrm>
        </p:grpSpPr>
        <p:sp>
          <p:nvSpPr>
            <p:cNvPr id="47" name="Freeform 47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" name="Freeform 49" descr="preencoded.png"/>
          <p:cNvSpPr/>
          <p:nvPr/>
        </p:nvSpPr>
        <p:spPr>
          <a:xfrm>
            <a:off x="11707639" y="5689104"/>
            <a:ext cx="425202" cy="425202"/>
          </a:xfrm>
          <a:custGeom>
            <a:avLst/>
            <a:gdLst/>
            <a:ahLst/>
            <a:cxnLst/>
            <a:rect l="l" t="t" r="r" b="b"/>
            <a:pathLst>
              <a:path w="425202" h="425202">
                <a:moveTo>
                  <a:pt x="0" y="0"/>
                </a:moveTo>
                <a:lnTo>
                  <a:pt x="425202" y="0"/>
                </a:lnTo>
                <a:lnTo>
                  <a:pt x="425202" y="425202"/>
                </a:lnTo>
                <a:lnTo>
                  <a:pt x="0" y="4252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2222" r="-12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TextBox 50"/>
          <p:cNvSpPr txBox="1"/>
          <p:nvPr/>
        </p:nvSpPr>
        <p:spPr>
          <a:xfrm>
            <a:off x="10530036" y="7026325"/>
            <a:ext cx="3028429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Docker &amp; Kubernetes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3752016" y="5051226"/>
            <a:ext cx="38100" cy="850552"/>
            <a:chOff x="0" y="0"/>
            <a:chExt cx="50800" cy="113407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447365" y="5578079"/>
            <a:ext cx="647402" cy="647402"/>
            <a:chOff x="0" y="0"/>
            <a:chExt cx="863203" cy="863203"/>
          </a:xfrm>
        </p:grpSpPr>
        <p:sp>
          <p:nvSpPr>
            <p:cNvPr id="54" name="Freeform 54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" name="Freeform 56" descr="preencoded.png"/>
          <p:cNvSpPr/>
          <p:nvPr/>
        </p:nvSpPr>
        <p:spPr>
          <a:xfrm>
            <a:off x="13558465" y="5689104"/>
            <a:ext cx="425203" cy="425203"/>
          </a:xfrm>
          <a:custGeom>
            <a:avLst/>
            <a:gdLst/>
            <a:ahLst/>
            <a:cxnLst/>
            <a:rect l="l" t="t" r="r" b="b"/>
            <a:pathLst>
              <a:path w="425203" h="425203">
                <a:moveTo>
                  <a:pt x="0" y="0"/>
                </a:moveTo>
                <a:lnTo>
                  <a:pt x="425202" y="0"/>
                </a:lnTo>
                <a:lnTo>
                  <a:pt x="425202" y="425202"/>
                </a:lnTo>
                <a:lnTo>
                  <a:pt x="0" y="42520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2222" r="-12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7" name="TextBox 57"/>
          <p:cNvSpPr txBox="1"/>
          <p:nvPr/>
        </p:nvSpPr>
        <p:spPr>
          <a:xfrm>
            <a:off x="12380863" y="3694956"/>
            <a:ext cx="302843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Terraform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15602842" y="5901779"/>
            <a:ext cx="38100" cy="850552"/>
            <a:chOff x="0" y="0"/>
            <a:chExt cx="50800" cy="113407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0800" cy="1134110"/>
            </a:xfrm>
            <a:custGeom>
              <a:avLst/>
              <a:gdLst/>
              <a:ahLst/>
              <a:cxnLst/>
              <a:rect l="l" t="t" r="r" b="b"/>
              <a:pathLst>
                <a:path w="50800" h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108710"/>
                  </a:lnTo>
                  <a:cubicBezTo>
                    <a:pt x="50800" y="1122680"/>
                    <a:pt x="39370" y="1134110"/>
                    <a:pt x="25400" y="1134110"/>
                  </a:cubicBezTo>
                  <a:cubicBezTo>
                    <a:pt x="11430" y="1134110"/>
                    <a:pt x="0" y="1122680"/>
                    <a:pt x="0" y="110871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5298191" y="5578079"/>
            <a:ext cx="647402" cy="647402"/>
            <a:chOff x="0" y="0"/>
            <a:chExt cx="863203" cy="863203"/>
          </a:xfrm>
        </p:grpSpPr>
        <p:sp>
          <p:nvSpPr>
            <p:cNvPr id="61" name="Freeform 61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2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" name="Freeform 63" descr="preencoded.png"/>
          <p:cNvSpPr/>
          <p:nvPr/>
        </p:nvSpPr>
        <p:spPr>
          <a:xfrm>
            <a:off x="15409292" y="5689104"/>
            <a:ext cx="425203" cy="425203"/>
          </a:xfrm>
          <a:custGeom>
            <a:avLst/>
            <a:gdLst/>
            <a:ahLst/>
            <a:cxnLst/>
            <a:rect l="l" t="t" r="r" b="b"/>
            <a:pathLst>
              <a:path w="425203" h="425203">
                <a:moveTo>
                  <a:pt x="0" y="0"/>
                </a:moveTo>
                <a:lnTo>
                  <a:pt x="425203" y="0"/>
                </a:lnTo>
                <a:lnTo>
                  <a:pt x="425203" y="425202"/>
                </a:lnTo>
                <a:lnTo>
                  <a:pt x="0" y="42520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12222" r="-12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4" name="TextBox 64"/>
          <p:cNvSpPr txBox="1"/>
          <p:nvPr/>
        </p:nvSpPr>
        <p:spPr>
          <a:xfrm>
            <a:off x="14231839" y="7026325"/>
            <a:ext cx="2780259" cy="541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AWS 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78086" y="671959"/>
            <a:ext cx="6272956" cy="765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937" b="1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Topics for today!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878086" y="1976735"/>
            <a:ext cx="1254472" cy="1523851"/>
            <a:chOff x="0" y="0"/>
            <a:chExt cx="1672630" cy="2031802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672590" cy="2031746"/>
            </a:xfrm>
            <a:custGeom>
              <a:avLst/>
              <a:gdLst/>
              <a:ahLst/>
              <a:cxnLst/>
              <a:rect l="l" t="t" r="r" b="b"/>
              <a:pathLst>
                <a:path w="1672590" h="2031746">
                  <a:moveTo>
                    <a:pt x="0" y="0"/>
                  </a:moveTo>
                  <a:lnTo>
                    <a:pt x="1672590" y="0"/>
                  </a:lnTo>
                  <a:lnTo>
                    <a:pt x="1672590" y="2031746"/>
                  </a:lnTo>
                  <a:lnTo>
                    <a:pt x="0" y="2031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7" r="-110" b="-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383334" y="2357519"/>
            <a:ext cx="9446402" cy="49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8"/>
              </a:lnSpc>
            </a:pPr>
            <a:r>
              <a:rPr lang="en-US" sz="3137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Understanding Continuous Integration (CI)</a:t>
            </a: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878086" y="3500586"/>
            <a:ext cx="1254472" cy="1523851"/>
            <a:chOff x="0" y="0"/>
            <a:chExt cx="1672630" cy="203180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672590" cy="2031746"/>
            </a:xfrm>
            <a:custGeom>
              <a:avLst/>
              <a:gdLst/>
              <a:ahLst/>
              <a:cxnLst/>
              <a:rect l="l" t="t" r="r" b="b"/>
              <a:pathLst>
                <a:path w="1672590" h="2031746">
                  <a:moveTo>
                    <a:pt x="0" y="0"/>
                  </a:moveTo>
                  <a:lnTo>
                    <a:pt x="1672590" y="0"/>
                  </a:lnTo>
                  <a:lnTo>
                    <a:pt x="1672590" y="2031746"/>
                  </a:lnTo>
                  <a:lnTo>
                    <a:pt x="0" y="2031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7" r="-110" b="-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383334" y="4006833"/>
            <a:ext cx="5128984" cy="49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8"/>
              </a:lnSpc>
            </a:pPr>
            <a:r>
              <a:rPr lang="en-US" sz="3137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CI Tools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878086" y="5024438"/>
            <a:ext cx="1254472" cy="1523851"/>
            <a:chOff x="0" y="0"/>
            <a:chExt cx="1672630" cy="2031802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672590" cy="2031746"/>
            </a:xfrm>
            <a:custGeom>
              <a:avLst/>
              <a:gdLst/>
              <a:ahLst/>
              <a:cxnLst/>
              <a:rect l="l" t="t" r="r" b="b"/>
              <a:pathLst>
                <a:path w="1672590" h="2031746">
                  <a:moveTo>
                    <a:pt x="0" y="0"/>
                  </a:moveTo>
                  <a:lnTo>
                    <a:pt x="1672590" y="0"/>
                  </a:lnTo>
                  <a:lnTo>
                    <a:pt x="1672590" y="2031746"/>
                  </a:lnTo>
                  <a:lnTo>
                    <a:pt x="0" y="2031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7" r="-110" b="-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383334" y="5530684"/>
            <a:ext cx="5266540" cy="49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8"/>
              </a:lnSpc>
            </a:pPr>
            <a:r>
              <a:rPr lang="en-US" sz="3137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Real-life use-cases of CI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878086" y="6548289"/>
            <a:ext cx="1254472" cy="1523851"/>
            <a:chOff x="0" y="0"/>
            <a:chExt cx="1672630" cy="2031802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672590" cy="2031746"/>
            </a:xfrm>
            <a:custGeom>
              <a:avLst/>
              <a:gdLst/>
              <a:ahLst/>
              <a:cxnLst/>
              <a:rect l="l" t="t" r="r" b="b"/>
              <a:pathLst>
                <a:path w="1672590" h="2031746">
                  <a:moveTo>
                    <a:pt x="0" y="0"/>
                  </a:moveTo>
                  <a:lnTo>
                    <a:pt x="1672590" y="0"/>
                  </a:lnTo>
                  <a:lnTo>
                    <a:pt x="1672590" y="2031746"/>
                  </a:lnTo>
                  <a:lnTo>
                    <a:pt x="0" y="2031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07" r="-110" b="-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383334" y="7051692"/>
            <a:ext cx="9968734" cy="49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8"/>
              </a:lnSpc>
            </a:pPr>
            <a:r>
              <a:rPr lang="en-US" sz="3137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Exposure to Basic CI Pipeline &amp; best practices</a:t>
            </a:r>
          </a:p>
        </p:txBody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878086" y="8072140"/>
            <a:ext cx="1254472" cy="1523851"/>
            <a:chOff x="0" y="0"/>
            <a:chExt cx="1672630" cy="2031802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672590" cy="2031746"/>
            </a:xfrm>
            <a:custGeom>
              <a:avLst/>
              <a:gdLst/>
              <a:ahLst/>
              <a:cxnLst/>
              <a:rect l="l" t="t" r="r" b="b"/>
              <a:pathLst>
                <a:path w="1672590" h="2031746">
                  <a:moveTo>
                    <a:pt x="0" y="0"/>
                  </a:moveTo>
                  <a:lnTo>
                    <a:pt x="1672590" y="0"/>
                  </a:lnTo>
                  <a:lnTo>
                    <a:pt x="1672590" y="2031746"/>
                  </a:lnTo>
                  <a:lnTo>
                    <a:pt x="0" y="2031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07" r="-110" b="-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383334" y="8572699"/>
            <a:ext cx="7065058" cy="49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8"/>
              </a:lnSpc>
            </a:pPr>
            <a:r>
              <a:rPr lang="en-US" sz="3137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Bird's view of CI in DevOps 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4228951"/>
            <a:ext cx="7600145" cy="169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8"/>
              </a:lnSpc>
            </a:pPr>
            <a:r>
              <a:rPr lang="en-US" sz="5362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What is continuous integration ?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9293660" y="3014662"/>
            <a:ext cx="7805886" cy="4257675"/>
            <a:chOff x="0" y="0"/>
            <a:chExt cx="10407848" cy="56769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407904" cy="5676900"/>
            </a:xfrm>
            <a:custGeom>
              <a:avLst/>
              <a:gdLst/>
              <a:ahLst/>
              <a:cxnLst/>
              <a:rect l="l" t="t" r="r" b="b"/>
              <a:pathLst>
                <a:path w="10407904" h="5676900">
                  <a:moveTo>
                    <a:pt x="0" y="0"/>
                  </a:moveTo>
                  <a:lnTo>
                    <a:pt x="10407904" y="0"/>
                  </a:lnTo>
                  <a:lnTo>
                    <a:pt x="10407904" y="5676900"/>
                  </a:lnTo>
                  <a:lnTo>
                    <a:pt x="0" y="567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9" r="-2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65125" y="582216"/>
            <a:ext cx="10448033" cy="70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250" b="1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Continuous Integration (CI)?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5125" y="1617017"/>
            <a:ext cx="16757749" cy="1032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6"/>
              </a:lnSpc>
            </a:pPr>
            <a:r>
              <a:rPr lang="en-US" sz="2624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Continuous Integration (CI)</a:t>
            </a:r>
            <a:r>
              <a:rPr lang="en-US" sz="262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is a </a:t>
            </a:r>
            <a:r>
              <a:rPr lang="en-US" sz="2624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DevOps practice</a:t>
            </a:r>
            <a:r>
              <a:rPr lang="en-US" sz="262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where developers </a:t>
            </a:r>
            <a:r>
              <a:rPr lang="en-US" sz="2624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frequently merge their code changes</a:t>
            </a:r>
            <a:r>
              <a:rPr lang="en-US" sz="262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 into a </a:t>
            </a:r>
            <a:r>
              <a:rPr lang="en-US" sz="2624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shared main branch</a:t>
            </a:r>
            <a:r>
              <a:rPr lang="en-US" sz="262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5125" y="2911437"/>
            <a:ext cx="16757749" cy="49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6"/>
              </a:lnSpc>
            </a:pPr>
            <a:r>
              <a:rPr lang="en-US" sz="262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Each integration automatically triggers: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222849" y="3777232"/>
            <a:ext cx="9842301" cy="5841504"/>
            <a:chOff x="0" y="0"/>
            <a:chExt cx="13123068" cy="7788672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123038" cy="7788656"/>
            </a:xfrm>
            <a:custGeom>
              <a:avLst/>
              <a:gdLst/>
              <a:ahLst/>
              <a:cxnLst/>
              <a:rect l="l" t="t" r="r" b="b"/>
              <a:pathLst>
                <a:path w="13123038" h="7788656">
                  <a:moveTo>
                    <a:pt x="0" y="0"/>
                  </a:moveTo>
                  <a:lnTo>
                    <a:pt x="13123038" y="0"/>
                  </a:lnTo>
                  <a:lnTo>
                    <a:pt x="13123038" y="7788656"/>
                  </a:lnTo>
                  <a:lnTo>
                    <a:pt x="0" y="7788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" r="-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11819758" y="4952606"/>
            <a:ext cx="837876" cy="837876"/>
          </a:xfrm>
          <a:custGeom>
            <a:avLst/>
            <a:gdLst/>
            <a:ahLst/>
            <a:cxnLst/>
            <a:rect l="l" t="t" r="r" b="b"/>
            <a:pathLst>
              <a:path w="837876" h="837876">
                <a:moveTo>
                  <a:pt x="0" y="0"/>
                </a:moveTo>
                <a:lnTo>
                  <a:pt x="837876" y="0"/>
                </a:lnTo>
                <a:lnTo>
                  <a:pt x="837876" y="837876"/>
                </a:lnTo>
                <a:lnTo>
                  <a:pt x="0" y="8378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272" r="-22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1015396" y="7766202"/>
            <a:ext cx="2446600" cy="30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lang="en-US" sz="1987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 Quality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8752342" y="4954178"/>
            <a:ext cx="837876" cy="837876"/>
          </a:xfrm>
          <a:custGeom>
            <a:avLst/>
            <a:gdLst/>
            <a:ahLst/>
            <a:cxnLst/>
            <a:rect l="l" t="t" r="r" b="b"/>
            <a:pathLst>
              <a:path w="837876" h="837876">
                <a:moveTo>
                  <a:pt x="0" y="0"/>
                </a:moveTo>
                <a:lnTo>
                  <a:pt x="837877" y="0"/>
                </a:lnTo>
                <a:lnTo>
                  <a:pt x="837877" y="837876"/>
                </a:lnTo>
                <a:lnTo>
                  <a:pt x="0" y="8378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954" r="-795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989875" y="7766201"/>
            <a:ext cx="2446600" cy="30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lang="en-US" sz="1987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Automated Tests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5668957" y="4954178"/>
            <a:ext cx="837876" cy="837876"/>
          </a:xfrm>
          <a:custGeom>
            <a:avLst/>
            <a:gdLst/>
            <a:ahLst/>
            <a:cxnLst/>
            <a:rect l="l" t="t" r="r" b="b"/>
            <a:pathLst>
              <a:path w="837876" h="837876">
                <a:moveTo>
                  <a:pt x="0" y="0"/>
                </a:moveTo>
                <a:lnTo>
                  <a:pt x="837877" y="0"/>
                </a:lnTo>
                <a:lnTo>
                  <a:pt x="837877" y="837876"/>
                </a:lnTo>
                <a:lnTo>
                  <a:pt x="0" y="8378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4772" b="-147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4864596" y="7766201"/>
            <a:ext cx="2446600" cy="30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lang="en-US" sz="1987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5125" y="8946938"/>
            <a:ext cx="16757749" cy="475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4"/>
              </a:lnSpc>
            </a:pPr>
            <a:r>
              <a:rPr lang="en-US" sz="2524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If any issue occurs (like a failed build or test), the team is notified immediately.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474941" y="2167681"/>
            <a:ext cx="7088237" cy="924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Key Benefits of CI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5" y="4215705"/>
            <a:ext cx="647402" cy="647402"/>
            <a:chOff x="0" y="0"/>
            <a:chExt cx="863203" cy="863203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 descr="preencoded.png"/>
          <p:cNvSpPr/>
          <p:nvPr/>
        </p:nvSpPr>
        <p:spPr>
          <a:xfrm>
            <a:off x="1098575" y="4326731"/>
            <a:ext cx="425202" cy="425203"/>
          </a:xfrm>
          <a:custGeom>
            <a:avLst/>
            <a:gdLst/>
            <a:ahLst/>
            <a:cxnLst/>
            <a:rect l="l" t="t" r="r" b="b"/>
            <a:pathLst>
              <a:path w="425202" h="425203">
                <a:moveTo>
                  <a:pt x="0" y="0"/>
                </a:moveTo>
                <a:lnTo>
                  <a:pt x="425203" y="0"/>
                </a:lnTo>
                <a:lnTo>
                  <a:pt x="425203" y="425203"/>
                </a:lnTo>
                <a:lnTo>
                  <a:pt x="0" y="425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913632" y="4298751"/>
            <a:ext cx="3561309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Early Bug Detection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40104" y="4215705"/>
            <a:ext cx="647403" cy="647402"/>
            <a:chOff x="0" y="0"/>
            <a:chExt cx="863203" cy="863203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 descr="preencoded.png"/>
          <p:cNvSpPr/>
          <p:nvPr/>
        </p:nvSpPr>
        <p:spPr>
          <a:xfrm>
            <a:off x="6651204" y="4326731"/>
            <a:ext cx="425202" cy="425203"/>
          </a:xfrm>
          <a:custGeom>
            <a:avLst/>
            <a:gdLst/>
            <a:ahLst/>
            <a:cxnLst/>
            <a:rect l="l" t="t" r="r" b="b"/>
            <a:pathLst>
              <a:path w="425202" h="425203">
                <a:moveTo>
                  <a:pt x="0" y="0"/>
                </a:moveTo>
                <a:lnTo>
                  <a:pt x="425202" y="0"/>
                </a:lnTo>
                <a:lnTo>
                  <a:pt x="425202" y="425203"/>
                </a:lnTo>
                <a:lnTo>
                  <a:pt x="0" y="4252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7466260" y="4298751"/>
            <a:ext cx="408265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Faster Feedback Loops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092731" y="4215705"/>
            <a:ext cx="647402" cy="647402"/>
            <a:chOff x="0" y="0"/>
            <a:chExt cx="863203" cy="863203"/>
          </a:xfrm>
        </p:grpSpPr>
        <p:sp>
          <p:nvSpPr>
            <p:cNvPr id="18" name="Freeform 18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 descr="preencoded.png"/>
          <p:cNvSpPr/>
          <p:nvPr/>
        </p:nvSpPr>
        <p:spPr>
          <a:xfrm>
            <a:off x="12203831" y="4326731"/>
            <a:ext cx="425202" cy="425203"/>
          </a:xfrm>
          <a:custGeom>
            <a:avLst/>
            <a:gdLst/>
            <a:ahLst/>
            <a:cxnLst/>
            <a:rect l="l" t="t" r="r" b="b"/>
            <a:pathLst>
              <a:path w="425202" h="425203">
                <a:moveTo>
                  <a:pt x="0" y="0"/>
                </a:moveTo>
                <a:lnTo>
                  <a:pt x="425203" y="0"/>
                </a:lnTo>
                <a:lnTo>
                  <a:pt x="425203" y="425203"/>
                </a:lnTo>
                <a:lnTo>
                  <a:pt x="0" y="425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3018889" y="4298751"/>
            <a:ext cx="4276874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Improved Collaboration &amp; Code Quality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28700" y="6327576"/>
            <a:ext cx="647402" cy="647402"/>
            <a:chOff x="0" y="0"/>
            <a:chExt cx="863203" cy="863203"/>
          </a:xfrm>
        </p:grpSpPr>
        <p:sp>
          <p:nvSpPr>
            <p:cNvPr id="23" name="Freeform 23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1139800" y="6438602"/>
            <a:ext cx="425202" cy="425202"/>
          </a:xfrm>
          <a:custGeom>
            <a:avLst/>
            <a:gdLst/>
            <a:ahLst/>
            <a:cxnLst/>
            <a:rect l="l" t="t" r="r" b="b"/>
            <a:pathLst>
              <a:path w="425202" h="425202">
                <a:moveTo>
                  <a:pt x="0" y="0"/>
                </a:moveTo>
                <a:lnTo>
                  <a:pt x="425202" y="0"/>
                </a:lnTo>
                <a:lnTo>
                  <a:pt x="425202" y="425203"/>
                </a:lnTo>
                <a:lnTo>
                  <a:pt x="0" y="4252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954857" y="6410622"/>
            <a:ext cx="4276874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Reduced Integration Risk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581329" y="6327576"/>
            <a:ext cx="647403" cy="647402"/>
            <a:chOff x="0" y="0"/>
            <a:chExt cx="863203" cy="863203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6692429" y="6438602"/>
            <a:ext cx="425202" cy="425202"/>
          </a:xfrm>
          <a:custGeom>
            <a:avLst/>
            <a:gdLst/>
            <a:ahLst/>
            <a:cxnLst/>
            <a:rect l="l" t="t" r="r" b="b"/>
            <a:pathLst>
              <a:path w="425202" h="425202">
                <a:moveTo>
                  <a:pt x="0" y="0"/>
                </a:moveTo>
                <a:lnTo>
                  <a:pt x="425202" y="0"/>
                </a:lnTo>
                <a:lnTo>
                  <a:pt x="425202" y="425203"/>
                </a:lnTo>
                <a:lnTo>
                  <a:pt x="0" y="4252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7507485" y="6410622"/>
            <a:ext cx="4276874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Consistent &amp; Repeatable builds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133956" y="6327576"/>
            <a:ext cx="647402" cy="647402"/>
            <a:chOff x="0" y="0"/>
            <a:chExt cx="863203" cy="863203"/>
          </a:xfrm>
        </p:grpSpPr>
        <p:sp>
          <p:nvSpPr>
            <p:cNvPr id="33" name="Freeform 33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Freeform 35" descr="preencoded.png"/>
          <p:cNvSpPr/>
          <p:nvPr/>
        </p:nvSpPr>
        <p:spPr>
          <a:xfrm>
            <a:off x="12245056" y="6438602"/>
            <a:ext cx="425203" cy="425202"/>
          </a:xfrm>
          <a:custGeom>
            <a:avLst/>
            <a:gdLst/>
            <a:ahLst/>
            <a:cxnLst/>
            <a:rect l="l" t="t" r="r" b="b"/>
            <a:pathLst>
              <a:path w="425203" h="425202">
                <a:moveTo>
                  <a:pt x="0" y="0"/>
                </a:moveTo>
                <a:lnTo>
                  <a:pt x="425203" y="0"/>
                </a:lnTo>
                <a:lnTo>
                  <a:pt x="425203" y="425203"/>
                </a:lnTo>
                <a:lnTo>
                  <a:pt x="0" y="42520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13060114" y="6410622"/>
            <a:ext cx="4276874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Better productivity &amp; Faster releases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50438" y="1431736"/>
            <a:ext cx="14587123" cy="88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CI in Action: Real-World Use Cases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3670995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19" y="0"/>
                </a:lnTo>
                <a:lnTo>
                  <a:pt x="708719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92238" y="4715024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Facebook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261373"/>
            <a:ext cx="3810000" cy="2807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Uses CI to test code changes instantly, allowing seamless feature rollouts across their massive platform while maintaining stability for billions of users.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5156598" y="3670995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2666" b="-2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5156598" y="4715024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Google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56598" y="5261373"/>
            <a:ext cx="3810149" cy="2807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Runs thousands of automated tests per day to ensure stability across their diverse product ecosystem, enabling rapid innovation without compromising quality.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321105" y="3670995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9321105" y="4715024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Netflix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21105" y="5261373"/>
            <a:ext cx="3810149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Implements CI/CD to deliver updates without downtime, ensuring uninterrupted streaming service for millions of subscribers worldwide.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13485614" y="3670995"/>
            <a:ext cx="708720" cy="708720"/>
          </a:xfrm>
          <a:custGeom>
            <a:avLst/>
            <a:gdLst/>
            <a:ahLst/>
            <a:cxnLst/>
            <a:rect l="l" t="t" r="r" b="b"/>
            <a:pathLst>
              <a:path w="708720" h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6666" b="-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3485614" y="4715024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Amazon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85614" y="5261373"/>
            <a:ext cx="3810149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Uses CI/CD pipelines to enable continuous software updates for AWS services with minimal downtime, supporting global cloud infrastructure.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7" y="891928"/>
            <a:ext cx="15810283" cy="693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 to Continuous Integration (CI) Tools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072431"/>
            <a:ext cx="16303526" cy="68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 i="1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"CI tools form the automation backbone of a CI/CD pipeline."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362137"/>
            <a:ext cx="16303526" cy="68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They automate important stages of development by: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7" y="4276537"/>
            <a:ext cx="16303526" cy="44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0064" lvl="1" indent="-180032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Fetching code from repositories (e.g., GitHub).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7" y="4942543"/>
            <a:ext cx="16303526" cy="44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0064" lvl="1" indent="-180032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Building and testing applications automatically.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7" y="5608550"/>
            <a:ext cx="16303526" cy="44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0064" lvl="1" indent="-180032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Giving instant feedback on code issues.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012127"/>
            <a:ext cx="674176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CI Tools Are Crucial in DevOps?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7813565"/>
            <a:ext cx="16303526" cy="44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0064" lvl="1" indent="-180032" algn="l">
              <a:lnSpc>
                <a:spcPts val="3888"/>
              </a:lnSpc>
              <a:buFont typeface="Arial"/>
              <a:buChar char="•"/>
            </a:pPr>
            <a:r>
              <a:rPr lang="en-US" sz="23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Without CI tools, teams must manually build, test, and integrate code — increasing errors and delays.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18288000" cy="4692402"/>
            <a:chOff x="0" y="0"/>
            <a:chExt cx="24384000" cy="6256537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6256528"/>
            </a:xfrm>
            <a:custGeom>
              <a:avLst/>
              <a:gdLst/>
              <a:ahLst/>
              <a:cxnLst/>
              <a:rect l="l" t="t" r="r" b="b"/>
              <a:pathLst>
                <a:path w="24384000" h="6256528">
                  <a:moveTo>
                    <a:pt x="0" y="0"/>
                  </a:moveTo>
                  <a:lnTo>
                    <a:pt x="24384000" y="0"/>
                  </a:lnTo>
                  <a:lnTo>
                    <a:pt x="24384000" y="6256528"/>
                  </a:lnTo>
                  <a:lnTo>
                    <a:pt x="0" y="6256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6" b="-3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75854" y="5361534"/>
            <a:ext cx="11017449" cy="801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4875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Popular CI Tools and Their Features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71091" y="6533258"/>
            <a:ext cx="5354836" cy="3072408"/>
            <a:chOff x="0" y="0"/>
            <a:chExt cx="7139782" cy="4096543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7127113" cy="4083939"/>
            </a:xfrm>
            <a:custGeom>
              <a:avLst/>
              <a:gdLst/>
              <a:ahLst/>
              <a:cxnLst/>
              <a:rect l="l" t="t" r="r" b="b"/>
              <a:pathLst>
                <a:path w="7127113" h="4083939">
                  <a:moveTo>
                    <a:pt x="0" y="140208"/>
                  </a:moveTo>
                  <a:cubicBezTo>
                    <a:pt x="0" y="62738"/>
                    <a:pt x="62865" y="0"/>
                    <a:pt x="140335" y="0"/>
                  </a:cubicBezTo>
                  <a:lnTo>
                    <a:pt x="6986778" y="0"/>
                  </a:lnTo>
                  <a:cubicBezTo>
                    <a:pt x="7064248" y="0"/>
                    <a:pt x="7127113" y="62738"/>
                    <a:pt x="7127113" y="140208"/>
                  </a:cubicBezTo>
                  <a:lnTo>
                    <a:pt x="7127113" y="3943731"/>
                  </a:lnTo>
                  <a:cubicBezTo>
                    <a:pt x="7127113" y="4021201"/>
                    <a:pt x="7064248" y="4083939"/>
                    <a:pt x="6986778" y="4083939"/>
                  </a:cubicBezTo>
                  <a:lnTo>
                    <a:pt x="140335" y="4083939"/>
                  </a:lnTo>
                  <a:cubicBezTo>
                    <a:pt x="62865" y="4083812"/>
                    <a:pt x="0" y="4021074"/>
                    <a:pt x="0" y="3943731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7139813" cy="4096639"/>
            </a:xfrm>
            <a:custGeom>
              <a:avLst/>
              <a:gdLst/>
              <a:ahLst/>
              <a:cxnLst/>
              <a:rect l="l" t="t" r="r" b="b"/>
              <a:pathLst>
                <a:path w="7139813" h="4096639">
                  <a:moveTo>
                    <a:pt x="0" y="146558"/>
                  </a:moveTo>
                  <a:cubicBezTo>
                    <a:pt x="0" y="65532"/>
                    <a:pt x="65659" y="0"/>
                    <a:pt x="146685" y="0"/>
                  </a:cubicBezTo>
                  <a:lnTo>
                    <a:pt x="6993128" y="0"/>
                  </a:lnTo>
                  <a:lnTo>
                    <a:pt x="6993128" y="6350"/>
                  </a:lnTo>
                  <a:lnTo>
                    <a:pt x="6993128" y="0"/>
                  </a:lnTo>
                  <a:cubicBezTo>
                    <a:pt x="7074154" y="0"/>
                    <a:pt x="7139813" y="65532"/>
                    <a:pt x="7139813" y="146558"/>
                  </a:cubicBezTo>
                  <a:lnTo>
                    <a:pt x="7133463" y="146558"/>
                  </a:lnTo>
                  <a:lnTo>
                    <a:pt x="7139813" y="146558"/>
                  </a:lnTo>
                  <a:lnTo>
                    <a:pt x="7139813" y="3950081"/>
                  </a:lnTo>
                  <a:lnTo>
                    <a:pt x="7133463" y="3950081"/>
                  </a:lnTo>
                  <a:lnTo>
                    <a:pt x="7139813" y="3950081"/>
                  </a:lnTo>
                  <a:cubicBezTo>
                    <a:pt x="7139813" y="4030980"/>
                    <a:pt x="7074154" y="4096639"/>
                    <a:pt x="6993128" y="4096639"/>
                  </a:cubicBezTo>
                  <a:lnTo>
                    <a:pt x="6993128" y="4090289"/>
                  </a:lnTo>
                  <a:lnTo>
                    <a:pt x="6993128" y="4096639"/>
                  </a:lnTo>
                  <a:lnTo>
                    <a:pt x="146685" y="4096639"/>
                  </a:lnTo>
                  <a:lnTo>
                    <a:pt x="146685" y="4090289"/>
                  </a:lnTo>
                  <a:lnTo>
                    <a:pt x="146685" y="4096639"/>
                  </a:lnTo>
                  <a:cubicBezTo>
                    <a:pt x="65659" y="4096512"/>
                    <a:pt x="0" y="4030980"/>
                    <a:pt x="0" y="3950081"/>
                  </a:cubicBezTo>
                  <a:lnTo>
                    <a:pt x="0" y="146558"/>
                  </a:lnTo>
                  <a:lnTo>
                    <a:pt x="6350" y="146558"/>
                  </a:lnTo>
                  <a:lnTo>
                    <a:pt x="0" y="146558"/>
                  </a:lnTo>
                  <a:moveTo>
                    <a:pt x="12700" y="146558"/>
                  </a:moveTo>
                  <a:lnTo>
                    <a:pt x="12700" y="3950081"/>
                  </a:lnTo>
                  <a:lnTo>
                    <a:pt x="6350" y="3950081"/>
                  </a:lnTo>
                  <a:lnTo>
                    <a:pt x="12700" y="3950081"/>
                  </a:lnTo>
                  <a:cubicBezTo>
                    <a:pt x="12700" y="4023995"/>
                    <a:pt x="72644" y="4083939"/>
                    <a:pt x="146685" y="4083939"/>
                  </a:cubicBezTo>
                  <a:lnTo>
                    <a:pt x="6993128" y="4083939"/>
                  </a:lnTo>
                  <a:cubicBezTo>
                    <a:pt x="7067169" y="4083939"/>
                    <a:pt x="7127113" y="4023995"/>
                    <a:pt x="7127113" y="3950081"/>
                  </a:cubicBezTo>
                  <a:lnTo>
                    <a:pt x="7127113" y="146558"/>
                  </a:lnTo>
                  <a:cubicBezTo>
                    <a:pt x="7127113" y="72644"/>
                    <a:pt x="7067042" y="12700"/>
                    <a:pt x="6993128" y="12700"/>
                  </a:cubicBezTo>
                  <a:lnTo>
                    <a:pt x="146685" y="12700"/>
                  </a:lnTo>
                  <a:lnTo>
                    <a:pt x="146685" y="6350"/>
                  </a:lnTo>
                  <a:lnTo>
                    <a:pt x="146685" y="12700"/>
                  </a:lnTo>
                  <a:cubicBezTo>
                    <a:pt x="72644" y="12700"/>
                    <a:pt x="12700" y="72644"/>
                    <a:pt x="12700" y="146558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35559" y="6788200"/>
            <a:ext cx="3128219" cy="400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Travis CI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5559" y="7262515"/>
            <a:ext cx="4825901" cy="2078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Cloud-based solution that integrates well with GitHub repositories. Travis CI is free for open-source projects and uses simple YAML configuration (.travis.yml) to define build processes.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466582" y="6533258"/>
            <a:ext cx="5354836" cy="3072408"/>
            <a:chOff x="0" y="0"/>
            <a:chExt cx="7139782" cy="4096543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7127113" cy="4083939"/>
            </a:xfrm>
            <a:custGeom>
              <a:avLst/>
              <a:gdLst/>
              <a:ahLst/>
              <a:cxnLst/>
              <a:rect l="l" t="t" r="r" b="b"/>
              <a:pathLst>
                <a:path w="7127113" h="4083939">
                  <a:moveTo>
                    <a:pt x="0" y="140208"/>
                  </a:moveTo>
                  <a:cubicBezTo>
                    <a:pt x="0" y="62738"/>
                    <a:pt x="62865" y="0"/>
                    <a:pt x="140335" y="0"/>
                  </a:cubicBezTo>
                  <a:lnTo>
                    <a:pt x="6986778" y="0"/>
                  </a:lnTo>
                  <a:cubicBezTo>
                    <a:pt x="7064248" y="0"/>
                    <a:pt x="7127113" y="62738"/>
                    <a:pt x="7127113" y="140208"/>
                  </a:cubicBezTo>
                  <a:lnTo>
                    <a:pt x="7127113" y="3943731"/>
                  </a:lnTo>
                  <a:cubicBezTo>
                    <a:pt x="7127113" y="4021201"/>
                    <a:pt x="7064248" y="4083939"/>
                    <a:pt x="6986778" y="4083939"/>
                  </a:cubicBezTo>
                  <a:lnTo>
                    <a:pt x="140335" y="4083939"/>
                  </a:lnTo>
                  <a:cubicBezTo>
                    <a:pt x="62865" y="4083812"/>
                    <a:pt x="0" y="4021074"/>
                    <a:pt x="0" y="3943731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7139813" cy="4096639"/>
            </a:xfrm>
            <a:custGeom>
              <a:avLst/>
              <a:gdLst/>
              <a:ahLst/>
              <a:cxnLst/>
              <a:rect l="l" t="t" r="r" b="b"/>
              <a:pathLst>
                <a:path w="7139813" h="4096639">
                  <a:moveTo>
                    <a:pt x="0" y="146558"/>
                  </a:moveTo>
                  <a:cubicBezTo>
                    <a:pt x="0" y="65532"/>
                    <a:pt x="65659" y="0"/>
                    <a:pt x="146685" y="0"/>
                  </a:cubicBezTo>
                  <a:lnTo>
                    <a:pt x="6993128" y="0"/>
                  </a:lnTo>
                  <a:lnTo>
                    <a:pt x="6993128" y="6350"/>
                  </a:lnTo>
                  <a:lnTo>
                    <a:pt x="6993128" y="0"/>
                  </a:lnTo>
                  <a:cubicBezTo>
                    <a:pt x="7074154" y="0"/>
                    <a:pt x="7139813" y="65532"/>
                    <a:pt x="7139813" y="146558"/>
                  </a:cubicBezTo>
                  <a:lnTo>
                    <a:pt x="7133463" y="146558"/>
                  </a:lnTo>
                  <a:lnTo>
                    <a:pt x="7139813" y="146558"/>
                  </a:lnTo>
                  <a:lnTo>
                    <a:pt x="7139813" y="3950081"/>
                  </a:lnTo>
                  <a:lnTo>
                    <a:pt x="7133463" y="3950081"/>
                  </a:lnTo>
                  <a:lnTo>
                    <a:pt x="7139813" y="3950081"/>
                  </a:lnTo>
                  <a:cubicBezTo>
                    <a:pt x="7139813" y="4030980"/>
                    <a:pt x="7074154" y="4096639"/>
                    <a:pt x="6993128" y="4096639"/>
                  </a:cubicBezTo>
                  <a:lnTo>
                    <a:pt x="6993128" y="4090289"/>
                  </a:lnTo>
                  <a:lnTo>
                    <a:pt x="6993128" y="4096639"/>
                  </a:lnTo>
                  <a:lnTo>
                    <a:pt x="146685" y="4096639"/>
                  </a:lnTo>
                  <a:lnTo>
                    <a:pt x="146685" y="4090289"/>
                  </a:lnTo>
                  <a:lnTo>
                    <a:pt x="146685" y="4096639"/>
                  </a:lnTo>
                  <a:cubicBezTo>
                    <a:pt x="65659" y="4096512"/>
                    <a:pt x="0" y="4030980"/>
                    <a:pt x="0" y="3950081"/>
                  </a:cubicBezTo>
                  <a:lnTo>
                    <a:pt x="0" y="146558"/>
                  </a:lnTo>
                  <a:lnTo>
                    <a:pt x="6350" y="146558"/>
                  </a:lnTo>
                  <a:lnTo>
                    <a:pt x="0" y="146558"/>
                  </a:lnTo>
                  <a:moveTo>
                    <a:pt x="12700" y="146558"/>
                  </a:moveTo>
                  <a:lnTo>
                    <a:pt x="12700" y="3950081"/>
                  </a:lnTo>
                  <a:lnTo>
                    <a:pt x="6350" y="3950081"/>
                  </a:lnTo>
                  <a:lnTo>
                    <a:pt x="12700" y="3950081"/>
                  </a:lnTo>
                  <a:cubicBezTo>
                    <a:pt x="12700" y="4023995"/>
                    <a:pt x="72644" y="4083939"/>
                    <a:pt x="146685" y="4083939"/>
                  </a:cubicBezTo>
                  <a:lnTo>
                    <a:pt x="6993128" y="4083939"/>
                  </a:lnTo>
                  <a:cubicBezTo>
                    <a:pt x="7067169" y="4083939"/>
                    <a:pt x="7127113" y="4023995"/>
                    <a:pt x="7127113" y="3950081"/>
                  </a:cubicBezTo>
                  <a:lnTo>
                    <a:pt x="7127113" y="146558"/>
                  </a:lnTo>
                  <a:cubicBezTo>
                    <a:pt x="7127113" y="72644"/>
                    <a:pt x="7067042" y="12700"/>
                    <a:pt x="6993128" y="12700"/>
                  </a:cubicBezTo>
                  <a:lnTo>
                    <a:pt x="146685" y="12700"/>
                  </a:lnTo>
                  <a:lnTo>
                    <a:pt x="146685" y="6350"/>
                  </a:lnTo>
                  <a:lnTo>
                    <a:pt x="146685" y="12700"/>
                  </a:lnTo>
                  <a:cubicBezTo>
                    <a:pt x="72644" y="12700"/>
                    <a:pt x="12700" y="72644"/>
                    <a:pt x="12700" y="146558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731050" y="6788200"/>
            <a:ext cx="3128219" cy="400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CircleCI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31050" y="7262515"/>
            <a:ext cx="4825901" cy="2078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Modern CI platform that supports Docker and Kubernetes for containerized workflows. CircleCI is optimized for speed with parallel job execution and offers flexible workflow configurations.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062072" y="6533258"/>
            <a:ext cx="5354836" cy="3072408"/>
            <a:chOff x="0" y="0"/>
            <a:chExt cx="7139782" cy="4096543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7127113" cy="4083939"/>
            </a:xfrm>
            <a:custGeom>
              <a:avLst/>
              <a:gdLst/>
              <a:ahLst/>
              <a:cxnLst/>
              <a:rect l="l" t="t" r="r" b="b"/>
              <a:pathLst>
                <a:path w="7127113" h="4083939">
                  <a:moveTo>
                    <a:pt x="0" y="140208"/>
                  </a:moveTo>
                  <a:cubicBezTo>
                    <a:pt x="0" y="62738"/>
                    <a:pt x="62865" y="0"/>
                    <a:pt x="140335" y="0"/>
                  </a:cubicBezTo>
                  <a:lnTo>
                    <a:pt x="6986778" y="0"/>
                  </a:lnTo>
                  <a:cubicBezTo>
                    <a:pt x="7064248" y="0"/>
                    <a:pt x="7127113" y="62738"/>
                    <a:pt x="7127113" y="140208"/>
                  </a:cubicBezTo>
                  <a:lnTo>
                    <a:pt x="7127113" y="3943731"/>
                  </a:lnTo>
                  <a:cubicBezTo>
                    <a:pt x="7127113" y="4021201"/>
                    <a:pt x="7064248" y="4083939"/>
                    <a:pt x="6986778" y="4083939"/>
                  </a:cubicBezTo>
                  <a:lnTo>
                    <a:pt x="140335" y="4083939"/>
                  </a:lnTo>
                  <a:cubicBezTo>
                    <a:pt x="62865" y="4083812"/>
                    <a:pt x="0" y="4021074"/>
                    <a:pt x="0" y="3943731"/>
                  </a:cubicBezTo>
                  <a:close/>
                </a:path>
              </a:pathLst>
            </a:custGeom>
            <a:solidFill>
              <a:srgbClr val="31136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7139813" cy="4096639"/>
            </a:xfrm>
            <a:custGeom>
              <a:avLst/>
              <a:gdLst/>
              <a:ahLst/>
              <a:cxnLst/>
              <a:rect l="l" t="t" r="r" b="b"/>
              <a:pathLst>
                <a:path w="7139813" h="4096639">
                  <a:moveTo>
                    <a:pt x="0" y="146558"/>
                  </a:moveTo>
                  <a:cubicBezTo>
                    <a:pt x="0" y="65532"/>
                    <a:pt x="65659" y="0"/>
                    <a:pt x="146685" y="0"/>
                  </a:cubicBezTo>
                  <a:lnTo>
                    <a:pt x="6993128" y="0"/>
                  </a:lnTo>
                  <a:lnTo>
                    <a:pt x="6993128" y="6350"/>
                  </a:lnTo>
                  <a:lnTo>
                    <a:pt x="6993128" y="0"/>
                  </a:lnTo>
                  <a:cubicBezTo>
                    <a:pt x="7074154" y="0"/>
                    <a:pt x="7139813" y="65532"/>
                    <a:pt x="7139813" y="146558"/>
                  </a:cubicBezTo>
                  <a:lnTo>
                    <a:pt x="7133463" y="146558"/>
                  </a:lnTo>
                  <a:lnTo>
                    <a:pt x="7139813" y="146558"/>
                  </a:lnTo>
                  <a:lnTo>
                    <a:pt x="7139813" y="3950081"/>
                  </a:lnTo>
                  <a:lnTo>
                    <a:pt x="7133463" y="3950081"/>
                  </a:lnTo>
                  <a:lnTo>
                    <a:pt x="7139813" y="3950081"/>
                  </a:lnTo>
                  <a:cubicBezTo>
                    <a:pt x="7139813" y="4030980"/>
                    <a:pt x="7074154" y="4096639"/>
                    <a:pt x="6993128" y="4096639"/>
                  </a:cubicBezTo>
                  <a:lnTo>
                    <a:pt x="6993128" y="4090289"/>
                  </a:lnTo>
                  <a:lnTo>
                    <a:pt x="6993128" y="4096639"/>
                  </a:lnTo>
                  <a:lnTo>
                    <a:pt x="146685" y="4096639"/>
                  </a:lnTo>
                  <a:lnTo>
                    <a:pt x="146685" y="4090289"/>
                  </a:lnTo>
                  <a:lnTo>
                    <a:pt x="146685" y="4096639"/>
                  </a:lnTo>
                  <a:cubicBezTo>
                    <a:pt x="65659" y="4096512"/>
                    <a:pt x="0" y="4030980"/>
                    <a:pt x="0" y="3950081"/>
                  </a:cubicBezTo>
                  <a:lnTo>
                    <a:pt x="0" y="146558"/>
                  </a:lnTo>
                  <a:lnTo>
                    <a:pt x="6350" y="146558"/>
                  </a:lnTo>
                  <a:lnTo>
                    <a:pt x="0" y="146558"/>
                  </a:lnTo>
                  <a:moveTo>
                    <a:pt x="12700" y="146558"/>
                  </a:moveTo>
                  <a:lnTo>
                    <a:pt x="12700" y="3950081"/>
                  </a:lnTo>
                  <a:lnTo>
                    <a:pt x="6350" y="3950081"/>
                  </a:lnTo>
                  <a:lnTo>
                    <a:pt x="12700" y="3950081"/>
                  </a:lnTo>
                  <a:cubicBezTo>
                    <a:pt x="12700" y="4023995"/>
                    <a:pt x="72644" y="4083939"/>
                    <a:pt x="146685" y="4083939"/>
                  </a:cubicBezTo>
                  <a:lnTo>
                    <a:pt x="6993128" y="4083939"/>
                  </a:lnTo>
                  <a:cubicBezTo>
                    <a:pt x="7067169" y="4083939"/>
                    <a:pt x="7127113" y="4023995"/>
                    <a:pt x="7127113" y="3950081"/>
                  </a:cubicBezTo>
                  <a:lnTo>
                    <a:pt x="7127113" y="146558"/>
                  </a:lnTo>
                  <a:cubicBezTo>
                    <a:pt x="7127113" y="72644"/>
                    <a:pt x="7067042" y="12700"/>
                    <a:pt x="6993128" y="12700"/>
                  </a:cubicBezTo>
                  <a:lnTo>
                    <a:pt x="146685" y="12700"/>
                  </a:lnTo>
                  <a:lnTo>
                    <a:pt x="146685" y="6350"/>
                  </a:lnTo>
                  <a:lnTo>
                    <a:pt x="146685" y="12700"/>
                  </a:lnTo>
                  <a:cubicBezTo>
                    <a:pt x="72644" y="12700"/>
                    <a:pt x="12700" y="72644"/>
                    <a:pt x="12700" y="146558"/>
                  </a:cubicBezTo>
                  <a:close/>
                </a:path>
              </a:pathLst>
            </a:custGeom>
            <a:solidFill>
              <a:srgbClr val="4A2C8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326541" y="6788200"/>
            <a:ext cx="3128219" cy="400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Jenkins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26541" y="7262515"/>
            <a:ext cx="4825901" cy="2078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Open-source and highly customizable platform that supports various plugins for build automation. Jenkins can be deployed on-premise or in the cloud, making it versatile for different organizational needs.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18288000" cy="2716262"/>
            <a:chOff x="0" y="0"/>
            <a:chExt cx="24384000" cy="3621683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3621659"/>
            </a:xfrm>
            <a:custGeom>
              <a:avLst/>
              <a:gdLst/>
              <a:ahLst/>
              <a:cxnLst/>
              <a:rect l="l" t="t" r="r" b="b"/>
              <a:pathLst>
                <a:path w="24384000" h="3621659">
                  <a:moveTo>
                    <a:pt x="0" y="0"/>
                  </a:moveTo>
                  <a:lnTo>
                    <a:pt x="24384000" y="0"/>
                  </a:lnTo>
                  <a:lnTo>
                    <a:pt x="24384000" y="3621659"/>
                  </a:lnTo>
                  <a:lnTo>
                    <a:pt x="0" y="36216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0" r="-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60511" y="3294757"/>
            <a:ext cx="4346079" cy="562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3374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CI Tool Comparison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0511" y="4097239"/>
            <a:ext cx="16766976" cy="437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232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When selecting a CI tool, consider your project's specific needs, infrastructure requirements, and integration capabilities.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0511" y="4776193"/>
            <a:ext cx="16766976" cy="437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232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Each tool offers unique advantages that may align better with certain development workflows and organizational structures.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55749" y="5536109"/>
            <a:ext cx="16776501" cy="3573215"/>
            <a:chOff x="0" y="0"/>
            <a:chExt cx="22368668" cy="47642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368636" cy="4764278"/>
            </a:xfrm>
            <a:custGeom>
              <a:avLst/>
              <a:gdLst/>
              <a:ahLst/>
              <a:cxnLst/>
              <a:rect l="l" t="t" r="r" b="b"/>
              <a:pathLst>
                <a:path w="22368636" h="4764278">
                  <a:moveTo>
                    <a:pt x="0" y="128016"/>
                  </a:moveTo>
                  <a:cubicBezTo>
                    <a:pt x="0" y="57277"/>
                    <a:pt x="57404" y="0"/>
                    <a:pt x="128270" y="0"/>
                  </a:cubicBezTo>
                  <a:lnTo>
                    <a:pt x="22240367" y="0"/>
                  </a:lnTo>
                  <a:lnTo>
                    <a:pt x="22240367" y="6350"/>
                  </a:lnTo>
                  <a:lnTo>
                    <a:pt x="22240367" y="0"/>
                  </a:lnTo>
                  <a:cubicBezTo>
                    <a:pt x="22311232" y="0"/>
                    <a:pt x="22368636" y="57277"/>
                    <a:pt x="22368636" y="128016"/>
                  </a:cubicBezTo>
                  <a:lnTo>
                    <a:pt x="22362286" y="128016"/>
                  </a:lnTo>
                  <a:lnTo>
                    <a:pt x="22368636" y="128016"/>
                  </a:lnTo>
                  <a:lnTo>
                    <a:pt x="22368636" y="4636262"/>
                  </a:lnTo>
                  <a:lnTo>
                    <a:pt x="22362286" y="4636262"/>
                  </a:lnTo>
                  <a:lnTo>
                    <a:pt x="22368636" y="4636262"/>
                  </a:lnTo>
                  <a:cubicBezTo>
                    <a:pt x="22368636" y="4707001"/>
                    <a:pt x="22311232" y="4764278"/>
                    <a:pt x="22240367" y="4764278"/>
                  </a:cubicBezTo>
                  <a:lnTo>
                    <a:pt x="22240367" y="4757928"/>
                  </a:lnTo>
                  <a:lnTo>
                    <a:pt x="22240367" y="4764278"/>
                  </a:lnTo>
                  <a:lnTo>
                    <a:pt x="128270" y="4764278"/>
                  </a:lnTo>
                  <a:lnTo>
                    <a:pt x="128270" y="4757928"/>
                  </a:lnTo>
                  <a:lnTo>
                    <a:pt x="128270" y="4764278"/>
                  </a:lnTo>
                  <a:cubicBezTo>
                    <a:pt x="57404" y="4764278"/>
                    <a:pt x="0" y="4707001"/>
                    <a:pt x="0" y="4636262"/>
                  </a:cubicBezTo>
                  <a:lnTo>
                    <a:pt x="0" y="128016"/>
                  </a:lnTo>
                  <a:lnTo>
                    <a:pt x="6350" y="128016"/>
                  </a:lnTo>
                  <a:lnTo>
                    <a:pt x="0" y="128016"/>
                  </a:lnTo>
                  <a:moveTo>
                    <a:pt x="12700" y="128016"/>
                  </a:moveTo>
                  <a:lnTo>
                    <a:pt x="12700" y="4636262"/>
                  </a:lnTo>
                  <a:lnTo>
                    <a:pt x="6350" y="4636262"/>
                  </a:lnTo>
                  <a:lnTo>
                    <a:pt x="12700" y="4636262"/>
                  </a:lnTo>
                  <a:cubicBezTo>
                    <a:pt x="12700" y="4699889"/>
                    <a:pt x="64389" y="4751578"/>
                    <a:pt x="128270" y="4751578"/>
                  </a:cubicBezTo>
                  <a:lnTo>
                    <a:pt x="22240367" y="4751578"/>
                  </a:lnTo>
                  <a:cubicBezTo>
                    <a:pt x="22304248" y="4751578"/>
                    <a:pt x="22355936" y="4699889"/>
                    <a:pt x="22355936" y="4636262"/>
                  </a:cubicBezTo>
                  <a:lnTo>
                    <a:pt x="22355936" y="128016"/>
                  </a:lnTo>
                  <a:cubicBezTo>
                    <a:pt x="22355936" y="64389"/>
                    <a:pt x="22304248" y="12700"/>
                    <a:pt x="22240367" y="12700"/>
                  </a:cubicBezTo>
                  <a:lnTo>
                    <a:pt x="128270" y="12700"/>
                  </a:lnTo>
                  <a:lnTo>
                    <a:pt x="128270" y="6350"/>
                  </a:lnTo>
                  <a:lnTo>
                    <a:pt x="128270" y="12700"/>
                  </a:lnTo>
                  <a:cubicBezTo>
                    <a:pt x="64389" y="12700"/>
                    <a:pt x="12700" y="64389"/>
                    <a:pt x="12700" y="128016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70036" y="5550396"/>
            <a:ext cx="16747926" cy="687140"/>
            <a:chOff x="0" y="0"/>
            <a:chExt cx="22330568" cy="9161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330538" cy="916178"/>
            </a:xfrm>
            <a:custGeom>
              <a:avLst/>
              <a:gdLst/>
              <a:ahLst/>
              <a:cxnLst/>
              <a:rect l="l" t="t" r="r" b="b"/>
              <a:pathLst>
                <a:path w="22330538" h="916178">
                  <a:moveTo>
                    <a:pt x="0" y="0"/>
                  </a:moveTo>
                  <a:lnTo>
                    <a:pt x="22330538" y="0"/>
                  </a:lnTo>
                  <a:lnTo>
                    <a:pt x="22330538" y="916178"/>
                  </a:lnTo>
                  <a:lnTo>
                    <a:pt x="0" y="91617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31255" y="5680770"/>
            <a:ext cx="3259634" cy="41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 b="1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20618" y="5680770"/>
            <a:ext cx="3259634" cy="41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 b="1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Jenkins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07600" y="5680770"/>
            <a:ext cx="3259634" cy="41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 b="1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Travis CI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96962" y="5680770"/>
            <a:ext cx="3259634" cy="41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sz="2562" b="1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CircleCI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70036" y="6237535"/>
            <a:ext cx="16747926" cy="714375"/>
            <a:chOff x="0" y="0"/>
            <a:chExt cx="22330568" cy="952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330538" cy="952500"/>
            </a:xfrm>
            <a:custGeom>
              <a:avLst/>
              <a:gdLst/>
              <a:ahLst/>
              <a:cxnLst/>
              <a:rect l="l" t="t" r="r" b="b"/>
              <a:pathLst>
                <a:path w="22330538" h="952500">
                  <a:moveTo>
                    <a:pt x="0" y="0"/>
                  </a:moveTo>
                  <a:lnTo>
                    <a:pt x="22330538" y="0"/>
                  </a:lnTo>
                  <a:lnTo>
                    <a:pt x="22330538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87326" y="6301234"/>
            <a:ext cx="3747641" cy="510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2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Open Source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79070" y="6320284"/>
            <a:ext cx="3742879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687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66051" y="6320284"/>
            <a:ext cx="3742879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687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53034" y="6320284"/>
            <a:ext cx="3747641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687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❌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70036" y="6951910"/>
            <a:ext cx="16747926" cy="714375"/>
            <a:chOff x="0" y="0"/>
            <a:chExt cx="22330568" cy="9525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330538" cy="952500"/>
            </a:xfrm>
            <a:custGeom>
              <a:avLst/>
              <a:gdLst/>
              <a:ahLst/>
              <a:cxnLst/>
              <a:rect l="l" t="t" r="r" b="b"/>
              <a:pathLst>
                <a:path w="22330538" h="952500">
                  <a:moveTo>
                    <a:pt x="0" y="0"/>
                  </a:moveTo>
                  <a:lnTo>
                    <a:pt x="22330538" y="0"/>
                  </a:lnTo>
                  <a:lnTo>
                    <a:pt x="22330538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87326" y="7015609"/>
            <a:ext cx="3747641" cy="510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2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Cloud-Based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79070" y="7034659"/>
            <a:ext cx="3742879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687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66051" y="7034659"/>
            <a:ext cx="3742879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687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✅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553034" y="7034659"/>
            <a:ext cx="3747641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687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✅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70036" y="7666285"/>
            <a:ext cx="16747926" cy="714375"/>
            <a:chOff x="0" y="0"/>
            <a:chExt cx="22330568" cy="9525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2330538" cy="952500"/>
            </a:xfrm>
            <a:custGeom>
              <a:avLst/>
              <a:gdLst/>
              <a:ahLst/>
              <a:cxnLst/>
              <a:rect l="l" t="t" r="r" b="b"/>
              <a:pathLst>
                <a:path w="22330538" h="952500">
                  <a:moveTo>
                    <a:pt x="0" y="0"/>
                  </a:moveTo>
                  <a:lnTo>
                    <a:pt x="22330538" y="0"/>
                  </a:lnTo>
                  <a:lnTo>
                    <a:pt x="22330538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87326" y="7729984"/>
            <a:ext cx="3747641" cy="510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2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Docker Support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79070" y="7749034"/>
            <a:ext cx="3742879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687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66051" y="7749034"/>
            <a:ext cx="3742879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687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✅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553034" y="7749034"/>
            <a:ext cx="3747641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687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✅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70036" y="8380660"/>
            <a:ext cx="16747926" cy="714375"/>
            <a:chOff x="0" y="0"/>
            <a:chExt cx="22330568" cy="9525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2330538" cy="952500"/>
            </a:xfrm>
            <a:custGeom>
              <a:avLst/>
              <a:gdLst/>
              <a:ahLst/>
              <a:cxnLst/>
              <a:rect l="l" t="t" r="r" b="b"/>
              <a:pathLst>
                <a:path w="22330538" h="952500">
                  <a:moveTo>
                    <a:pt x="0" y="0"/>
                  </a:moveTo>
                  <a:lnTo>
                    <a:pt x="22330538" y="0"/>
                  </a:lnTo>
                  <a:lnTo>
                    <a:pt x="22330538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87326" y="8444359"/>
            <a:ext cx="3747641" cy="510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125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GitHub Integration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179070" y="8463409"/>
            <a:ext cx="3742879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687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✅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66051" y="8463409"/>
            <a:ext cx="3742879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687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✅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553034" y="8463409"/>
            <a:ext cx="3747641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1687">
                <a:solidFill>
                  <a:srgbClr val="000000"/>
                </a:solidFill>
                <a:latin typeface="Heebo Light"/>
                <a:ea typeface="Heebo Light"/>
                <a:cs typeface="Heebo Light"/>
                <a:sym typeface="Heebo Light"/>
              </a:rPr>
              <a:t>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18288000" cy="4440436"/>
            <a:chOff x="0" y="0"/>
            <a:chExt cx="24384000" cy="5920582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5920613"/>
            </a:xfrm>
            <a:custGeom>
              <a:avLst/>
              <a:gdLst/>
              <a:ahLst/>
              <a:cxnLst/>
              <a:rect l="l" t="t" r="r" b="b"/>
              <a:pathLst>
                <a:path w="24384000" h="5920613">
                  <a:moveTo>
                    <a:pt x="0" y="0"/>
                  </a:moveTo>
                  <a:lnTo>
                    <a:pt x="24384000" y="0"/>
                  </a:lnTo>
                  <a:lnTo>
                    <a:pt x="24384000" y="5920613"/>
                  </a:lnTo>
                  <a:lnTo>
                    <a:pt x="0" y="5920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" r="-2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28824" y="5063579"/>
            <a:ext cx="8747671" cy="76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Setting Up a Basic CI Pipeline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828824" y="6187231"/>
            <a:ext cx="5543401" cy="947291"/>
            <a:chOff x="0" y="0"/>
            <a:chExt cx="7391202" cy="1263055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7391146" cy="1263015"/>
            </a:xfrm>
            <a:custGeom>
              <a:avLst/>
              <a:gdLst/>
              <a:ahLst/>
              <a:cxnLst/>
              <a:rect l="l" t="t" r="r" b="b"/>
              <a:pathLst>
                <a:path w="7391146" h="1263015">
                  <a:moveTo>
                    <a:pt x="0" y="0"/>
                  </a:moveTo>
                  <a:lnTo>
                    <a:pt x="7391146" y="0"/>
                  </a:lnTo>
                  <a:lnTo>
                    <a:pt x="7391146" y="1263015"/>
                  </a:lnTo>
                  <a:lnTo>
                    <a:pt x="0" y="1263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0" r="-230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120354" y="7361784"/>
            <a:ext cx="2960340" cy="37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12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5610" y="7816603"/>
            <a:ext cx="5069830" cy="1526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1912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Compile the code and check for syntax errors. This initial stage ensures the code can be properly assembled into a working application before proceeding.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6372225" y="6187231"/>
            <a:ext cx="5543401" cy="947291"/>
            <a:chOff x="0" y="0"/>
            <a:chExt cx="7391202" cy="1263055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7391146" cy="1263015"/>
            </a:xfrm>
            <a:custGeom>
              <a:avLst/>
              <a:gdLst/>
              <a:ahLst/>
              <a:cxnLst/>
              <a:rect l="l" t="t" r="r" b="b"/>
              <a:pathLst>
                <a:path w="7391146" h="1263015">
                  <a:moveTo>
                    <a:pt x="0" y="0"/>
                  </a:moveTo>
                  <a:lnTo>
                    <a:pt x="7391146" y="0"/>
                  </a:lnTo>
                  <a:lnTo>
                    <a:pt x="7391146" y="1263015"/>
                  </a:lnTo>
                  <a:lnTo>
                    <a:pt x="0" y="1263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0" r="-230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663755" y="7361784"/>
            <a:ext cx="2960340" cy="37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12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09010" y="7816603"/>
            <a:ext cx="5069830" cy="1526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1912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Run automated tests to ensure functionality. This critical stage verifies that the code performs as expected and doesn't break existing features.</a:t>
            </a:r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1915626" y="6187231"/>
            <a:ext cx="5543401" cy="947291"/>
            <a:chOff x="0" y="0"/>
            <a:chExt cx="7391202" cy="1263055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7391146" cy="1263015"/>
            </a:xfrm>
            <a:custGeom>
              <a:avLst/>
              <a:gdLst/>
              <a:ahLst/>
              <a:cxnLst/>
              <a:rect l="l" t="t" r="r" b="b"/>
              <a:pathLst>
                <a:path w="7391146" h="1263015">
                  <a:moveTo>
                    <a:pt x="0" y="0"/>
                  </a:moveTo>
                  <a:lnTo>
                    <a:pt x="7391146" y="0"/>
                  </a:lnTo>
                  <a:lnTo>
                    <a:pt x="7391146" y="1263015"/>
                  </a:lnTo>
                  <a:lnTo>
                    <a:pt x="0" y="1263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30" r="-230" b="-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207156" y="7361784"/>
            <a:ext cx="2960340" cy="37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12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52411" y="7816603"/>
            <a:ext cx="5069830" cy="113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1912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Push changes to staging or production environments. This final stage (covered in CD topic) delivers the verified code to users.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355163" y="420688"/>
            <a:ext cx="10895140" cy="608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2"/>
              </a:lnSpc>
            </a:pPr>
            <a:r>
              <a:rPr lang="en-US" sz="3875" b="1">
                <a:solidFill>
                  <a:srgbClr val="F2F0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Basic CI Pipeline from GitHub Actions: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3932845" y="1512525"/>
            <a:ext cx="9739777" cy="8522264"/>
            <a:chOff x="0" y="0"/>
            <a:chExt cx="11905853" cy="10417572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1905869" cy="10417556"/>
            </a:xfrm>
            <a:custGeom>
              <a:avLst/>
              <a:gdLst/>
              <a:ahLst/>
              <a:cxnLst/>
              <a:rect l="l" t="t" r="r" b="b"/>
              <a:pathLst>
                <a:path w="11905869" h="10417556">
                  <a:moveTo>
                    <a:pt x="0" y="0"/>
                  </a:moveTo>
                  <a:lnTo>
                    <a:pt x="11905869" y="0"/>
                  </a:lnTo>
                  <a:lnTo>
                    <a:pt x="11905869" y="10417556"/>
                  </a:lnTo>
                  <a:lnTo>
                    <a:pt x="0" y="10417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" b="-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019175"/>
            <a:ext cx="14086559" cy="696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0"/>
              </a:lnSpc>
            </a:pPr>
            <a:r>
              <a:rPr lang="en-US" sz="4562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Common CI Pitfalls &amp; Best Practices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63962" y="2419860"/>
            <a:ext cx="4252912" cy="541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2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Common Pitfalls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413946"/>
            <a:ext cx="7805886" cy="10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7" lvl="1" indent="-202654" algn="l">
              <a:lnSpc>
                <a:spcPts val="4376"/>
              </a:lnSpc>
              <a:buFont typeface="Arial"/>
              <a:buChar char="•"/>
            </a:pPr>
            <a:r>
              <a:rPr lang="en-US" sz="26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Skipping tests in CI pipelines, which can introduce critical bugs in production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010745"/>
            <a:ext cx="7805886" cy="10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7" lvl="1" indent="-202654" algn="l">
              <a:lnSpc>
                <a:spcPts val="4376"/>
              </a:lnSpc>
              <a:buFont typeface="Arial"/>
              <a:buChar char="•"/>
            </a:pPr>
            <a:r>
              <a:rPr lang="en-US" sz="26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Lack of proper error logging, making debugging CI failures difficult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602823"/>
            <a:ext cx="7805886" cy="10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7" lvl="1" indent="-202654" algn="l">
              <a:lnSpc>
                <a:spcPts val="4376"/>
              </a:lnSpc>
              <a:buFont typeface="Arial"/>
              <a:buChar char="•"/>
            </a:pPr>
            <a:r>
              <a:rPr lang="en-US" sz="26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Overcomplicated pipelines with unnecessary steps that slow down development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194901"/>
            <a:ext cx="7805886" cy="10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7" lvl="1" indent="-202654" algn="l">
              <a:lnSpc>
                <a:spcPts val="4376"/>
              </a:lnSpc>
              <a:buFont typeface="Arial"/>
              <a:buChar char="•"/>
            </a:pPr>
            <a:r>
              <a:rPr lang="en-US" sz="26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Ignoring security checks, potentially allowing vulnerabilities to be deployed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71126" y="2419860"/>
            <a:ext cx="4252912" cy="541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3312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35864" y="3413946"/>
            <a:ext cx="7805886" cy="10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7" lvl="1" indent="-202654" algn="l">
              <a:lnSpc>
                <a:spcPts val="4376"/>
              </a:lnSpc>
              <a:buFont typeface="Arial"/>
              <a:buChar char="•"/>
            </a:pPr>
            <a:r>
              <a:rPr lang="en-US" sz="26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Keep pipelines fast and efficient to avoid unnecessary delays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401" y="5010745"/>
            <a:ext cx="7805886" cy="10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7" lvl="1" indent="-202654" algn="l">
              <a:lnSpc>
                <a:spcPts val="4376"/>
              </a:lnSpc>
              <a:buFont typeface="Arial"/>
              <a:buChar char="•"/>
            </a:pPr>
            <a:r>
              <a:rPr lang="en-US" sz="26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Use meaningful commit messages to help with tracking and debugging issues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35864" y="6602823"/>
            <a:ext cx="7805886" cy="10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7" lvl="1" indent="-202654" algn="l">
              <a:lnSpc>
                <a:spcPts val="4376"/>
              </a:lnSpc>
              <a:buFont typeface="Arial"/>
              <a:buChar char="•"/>
            </a:pPr>
            <a:r>
              <a:rPr lang="en-US" sz="26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Ensure parallel execution where possible to speed up test completion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35864" y="8194901"/>
            <a:ext cx="7805886" cy="10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7" lvl="1" indent="-202654" algn="l">
              <a:lnSpc>
                <a:spcPts val="4376"/>
              </a:lnSpc>
              <a:buFont typeface="Arial"/>
              <a:buChar char="•"/>
            </a:pPr>
            <a:r>
              <a:rPr lang="en-US" sz="26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Monitor and analyze CI metrics to track failures and optimize processes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7" y="1158479"/>
            <a:ext cx="15056781" cy="788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3"/>
              </a:lnSpc>
            </a:pPr>
            <a:r>
              <a:rPr lang="en-US" sz="5062">
                <a:solidFill>
                  <a:srgbClr val="F2F0F4"/>
                </a:solidFill>
                <a:latin typeface="Montserrat"/>
                <a:ea typeface="Montserrat"/>
                <a:cs typeface="Montserrat"/>
                <a:sym typeface="Montserrat"/>
              </a:rPr>
              <a:t>Troubleshooting Common CI Issues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51919" y="3171527"/>
            <a:ext cx="3613696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37"/>
              </a:lnSpc>
            </a:pPr>
            <a:r>
              <a:rPr lang="en-US" sz="2750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Dependency Issues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7" y="3698825"/>
            <a:ext cx="4873378" cy="91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25"/>
              </a:lnSpc>
            </a:pPr>
            <a:r>
              <a:rPr lang="en-US" sz="22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Ensure all dependencies are correctly listed in requirements files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6290816" y="2630537"/>
            <a:ext cx="5706219" cy="5706219"/>
            <a:chOff x="0" y="0"/>
            <a:chExt cx="7608292" cy="7608292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7608316" cy="7608316"/>
            </a:xfrm>
            <a:custGeom>
              <a:avLst/>
              <a:gdLst/>
              <a:ahLst/>
              <a:cxnLst/>
              <a:rect l="l" t="t" r="r" b="b"/>
              <a:pathLst>
                <a:path w="7608316" h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783414" y="3460551"/>
            <a:ext cx="424160" cy="6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331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22237" y="3171527"/>
            <a:ext cx="354404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Failing Tests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22237" y="3698825"/>
            <a:ext cx="4873526" cy="91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Check error logs to identify issues in test scripts</a:t>
            </a:r>
          </a:p>
        </p:txBody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6290816" y="2630537"/>
            <a:ext cx="5706219" cy="5706219"/>
            <a:chOff x="0" y="0"/>
            <a:chExt cx="7608292" cy="7608292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7608316" cy="7608316"/>
            </a:xfrm>
            <a:custGeom>
              <a:avLst/>
              <a:gdLst/>
              <a:ahLst/>
              <a:cxnLst/>
              <a:rect l="l" t="t" r="r" b="b"/>
              <a:pathLst>
                <a:path w="7608316" h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565755" y="3946177"/>
            <a:ext cx="424160" cy="6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331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22237" y="6237237"/>
            <a:ext cx="4333429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Pipeline Not Triggering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22237" y="6764536"/>
            <a:ext cx="4873526" cy="91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5"/>
              </a:lnSpc>
            </a:pPr>
            <a:r>
              <a:rPr lang="en-US" sz="22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Verify GitHub webhook integration is properly enabled</a:t>
            </a:r>
          </a:p>
        </p:txBody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6290816" y="2630537"/>
            <a:ext cx="5706219" cy="5706219"/>
            <a:chOff x="0" y="0"/>
            <a:chExt cx="7608292" cy="7608292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7608316" cy="7608316"/>
            </a:xfrm>
            <a:custGeom>
              <a:avLst/>
              <a:gdLst/>
              <a:ahLst/>
              <a:cxnLst/>
              <a:rect l="l" t="t" r="r" b="b"/>
              <a:pathLst>
                <a:path w="7608316" h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080129" y="6728520"/>
            <a:ext cx="424160" cy="6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331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44104" y="6237237"/>
            <a:ext cx="4221510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37"/>
              </a:lnSpc>
            </a:pPr>
            <a:r>
              <a:rPr lang="en-US" sz="2750" b="1">
                <a:solidFill>
                  <a:srgbClr val="DCD7E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Environment Variables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2237" y="6764536"/>
            <a:ext cx="4873378" cy="91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25"/>
              </a:lnSpc>
            </a:pPr>
            <a:r>
              <a:rPr lang="en-US" sz="2287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Confirm all necessary environment variables are configured</a:t>
            </a:r>
          </a:p>
        </p:txBody>
      </p: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6290816" y="2630537"/>
            <a:ext cx="5706219" cy="5706219"/>
            <a:chOff x="0" y="0"/>
            <a:chExt cx="7608292" cy="7608292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7608316" cy="7608316"/>
            </a:xfrm>
            <a:custGeom>
              <a:avLst/>
              <a:gdLst/>
              <a:ahLst/>
              <a:cxnLst/>
              <a:rect l="l" t="t" r="r" b="b"/>
              <a:pathLst>
                <a:path w="7608316" h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297788" y="6242894"/>
            <a:ext cx="424160" cy="6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3312">
                <a:solidFill>
                  <a:srgbClr val="DCD7E5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794271" y="1885653"/>
            <a:ext cx="14699456" cy="6502896"/>
            <a:chOff x="0" y="0"/>
            <a:chExt cx="19599275" cy="8670528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9599275" cy="8670544"/>
            </a:xfrm>
            <a:custGeom>
              <a:avLst/>
              <a:gdLst/>
              <a:ahLst/>
              <a:cxnLst/>
              <a:rect l="l" t="t" r="r" b="b"/>
              <a:pathLst>
                <a:path w="19599275" h="8670544">
                  <a:moveTo>
                    <a:pt x="0" y="0"/>
                  </a:moveTo>
                  <a:lnTo>
                    <a:pt x="19599275" y="0"/>
                  </a:lnTo>
                  <a:lnTo>
                    <a:pt x="19599275" y="8670544"/>
                  </a:lnTo>
                  <a:lnTo>
                    <a:pt x="0" y="8670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8" b="-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94606" y="8599885"/>
            <a:ext cx="16498789" cy="404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787" lvl="1" indent="-165894" algn="l">
              <a:lnSpc>
                <a:spcPts val="3506"/>
              </a:lnSpc>
              <a:buFont typeface="Arial"/>
              <a:buChar char="•"/>
            </a:pPr>
            <a:r>
              <a:rPr lang="en-US" sz="2199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Continuous Delivery</a:t>
            </a:r>
            <a:r>
              <a:rPr lang="en-US" sz="2199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: Ensures code is always in a deployable state. Deployments require manual approval.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4606" y="9098310"/>
            <a:ext cx="16498789" cy="84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1787" lvl="1" indent="-165894" algn="l">
              <a:lnSpc>
                <a:spcPts val="3506"/>
              </a:lnSpc>
              <a:buFont typeface="Arial"/>
              <a:buChar char="•"/>
            </a:pPr>
            <a:r>
              <a:rPr lang="en-US" sz="2199" b="1">
                <a:solidFill>
                  <a:srgbClr val="DCD7E5"/>
                </a:solidFill>
                <a:latin typeface="Heebo Bold"/>
                <a:ea typeface="Heebo Bold"/>
                <a:cs typeface="Heebo Bold"/>
                <a:sym typeface="Heebo Bold"/>
              </a:rPr>
              <a:t>Continuous Deployment</a:t>
            </a:r>
            <a:r>
              <a:rPr lang="en-US" sz="2199">
                <a:solidFill>
                  <a:srgbClr val="DCD7E5"/>
                </a:solidFill>
                <a:latin typeface="Heebo Light"/>
                <a:ea typeface="Heebo Light"/>
                <a:cs typeface="Heebo Light"/>
                <a:sym typeface="Heebo Light"/>
              </a:rPr>
              <a:t>: Fully automates the release process, deploying every validated change to production without manual intervention.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07373" y="537527"/>
            <a:ext cx="1027473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DCD7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CI/CD Pipeline environments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D0A2C">
                <a:alpha val="9019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>
            <a:off x="447298" y="2290664"/>
            <a:ext cx="17393404" cy="6453821"/>
          </a:xfrm>
          <a:custGeom>
            <a:avLst/>
            <a:gdLst/>
            <a:ahLst/>
            <a:cxnLst/>
            <a:rect l="l" t="t" r="r" b="b"/>
            <a:pathLst>
              <a:path w="17393404" h="6453821">
                <a:moveTo>
                  <a:pt x="0" y="0"/>
                </a:moveTo>
                <a:lnTo>
                  <a:pt x="17393404" y="0"/>
                </a:lnTo>
                <a:lnTo>
                  <a:pt x="17393404" y="6453821"/>
                </a:lnTo>
                <a:lnTo>
                  <a:pt x="0" y="6453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3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142394" y="780676"/>
            <a:ext cx="800321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DCD7E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CI/CD Pipeline Stages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830</Words>
  <Application>Microsoft Macintosh PowerPoint</Application>
  <PresentationFormat>Custom</PresentationFormat>
  <Paragraphs>165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Canva Sans Bold</vt:lpstr>
      <vt:lpstr>Calibri</vt:lpstr>
      <vt:lpstr>Montserrat Bold</vt:lpstr>
      <vt:lpstr>Heebo Light</vt:lpstr>
      <vt:lpstr>Heebo Bold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Continuous-Integration.pptx</dc:title>
  <cp:lastModifiedBy>Mohammad Anees Alam</cp:lastModifiedBy>
  <cp:revision>3</cp:revision>
  <dcterms:created xsi:type="dcterms:W3CDTF">2006-08-16T00:00:00Z</dcterms:created>
  <dcterms:modified xsi:type="dcterms:W3CDTF">2025-11-01T07:31:37Z</dcterms:modified>
  <dc:identifier>DAG3YQxt_9s</dc:identifier>
</cp:coreProperties>
</file>