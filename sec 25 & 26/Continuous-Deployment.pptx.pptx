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67" r:id="rId18"/>
    <p:sldId id="273" r:id="rId19"/>
  </p:sldIdLst>
  <p:sldSz cx="18288000" cy="10287000"/>
  <p:notesSz cx="6858000" cy="9144000"/>
  <p:embeddedFontLst>
    <p:embeddedFont>
      <p:font typeface="DM Sans Bold" panose="020B0604020202020204" charset="0"/>
      <p:regular r:id="rId21"/>
      <p:bold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  <p:bold r:id="rId25"/>
    </p:embeddedFont>
    <p:embeddedFont>
      <p:font typeface="Inter Italics" panose="020B0604020202020204" charset="0"/>
      <p:regular r:id="rId26"/>
      <p:italic r:id="rId27"/>
    </p:embeddedFont>
    <p:embeddedFont>
      <p:font typeface="Inter Medium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88" autoAdjust="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AneeS" userId="f3b6a096eeb08a08" providerId="LiveId" clId="{C00BBC87-BCBD-46CD-B560-F109FE98DAD6}"/>
    <pc:docChg chg="modSld">
      <pc:chgData name="MohammaD AneeS" userId="f3b6a096eeb08a08" providerId="LiveId" clId="{C00BBC87-BCBD-46CD-B560-F109FE98DAD6}" dt="2026-10-11T05:29:41.336" v="23" actId="404"/>
      <pc:docMkLst>
        <pc:docMk/>
      </pc:docMkLst>
      <pc:sldChg chg="modSp mod">
        <pc:chgData name="MohammaD AneeS" userId="f3b6a096eeb08a08" providerId="LiveId" clId="{C00BBC87-BCBD-46CD-B560-F109FE98DAD6}" dt="2026-10-11T05:29:41.336" v="23" actId="404"/>
        <pc:sldMkLst>
          <pc:docMk/>
          <pc:sldMk cId="0" sldId="265"/>
        </pc:sldMkLst>
        <pc:spChg chg="mod">
          <ac:chgData name="MohammaD AneeS" userId="f3b6a096eeb08a08" providerId="LiveId" clId="{C00BBC87-BCBD-46CD-B560-F109FE98DAD6}" dt="2026-10-11T05:29:41.336" v="23" actId="404"/>
          <ac:spMkLst>
            <pc:docMk/>
            <pc:sldMk cId="0" sldId="265"/>
            <ac:spMk id="12" creationId="{00000000-0000-0000-0000-000000000000}"/>
          </ac:spMkLst>
        </pc:spChg>
        <pc:grpChg chg="mod">
          <ac:chgData name="MohammaD AneeS" userId="f3b6a096eeb08a08" providerId="LiveId" clId="{C00BBC87-BCBD-46CD-B560-F109FE98DAD6}" dt="2026-10-11T05:28:56.118" v="18" actId="14100"/>
          <ac:grpSpMkLst>
            <pc:docMk/>
            <pc:sldMk cId="0" sldId="265"/>
            <ac:grpSpMk id="10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github.com/Anees-DevOps/blue-green-CD.gi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267980" y="4259667"/>
            <a:ext cx="9324967" cy="1056307"/>
            <a:chOff x="0" y="0"/>
            <a:chExt cx="12433290" cy="14084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33289" cy="1408409"/>
            </a:xfrm>
            <a:custGeom>
              <a:avLst/>
              <a:gdLst/>
              <a:ahLst/>
              <a:cxnLst/>
              <a:rect l="l" t="t" r="r" b="b"/>
              <a:pathLst>
                <a:path w="12433289" h="1408409">
                  <a:moveTo>
                    <a:pt x="0" y="0"/>
                  </a:moveTo>
                  <a:lnTo>
                    <a:pt x="12433289" y="0"/>
                  </a:lnTo>
                  <a:lnTo>
                    <a:pt x="12433289" y="1408409"/>
                  </a:lnTo>
                  <a:lnTo>
                    <a:pt x="0" y="14084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2433290" cy="14274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937"/>
                </a:lnSpc>
              </a:pPr>
              <a:r>
                <a:rPr lang="en-US" sz="556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Continuous Deployment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42904" y="5577631"/>
            <a:ext cx="3544044" cy="442912"/>
            <a:chOff x="0" y="0"/>
            <a:chExt cx="4725392" cy="5905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7"/>
                </a:lnSpc>
              </a:pPr>
              <a:r>
                <a:rPr lang="en-US" sz="2750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[ Advanced 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1754" y="543520"/>
            <a:ext cx="4941540" cy="617636"/>
            <a:chOff x="0" y="0"/>
            <a:chExt cx="6588720" cy="8235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88720" cy="823515"/>
            </a:xfrm>
            <a:custGeom>
              <a:avLst/>
              <a:gdLst/>
              <a:ahLst/>
              <a:cxnLst/>
              <a:rect l="l" t="t" r="r" b="b"/>
              <a:pathLst>
                <a:path w="6588720" h="823515">
                  <a:moveTo>
                    <a:pt x="0" y="0"/>
                  </a:moveTo>
                  <a:lnTo>
                    <a:pt x="6588720" y="0"/>
                  </a:lnTo>
                  <a:lnTo>
                    <a:pt x="6588720" y="823515"/>
                  </a:lnTo>
                  <a:lnTo>
                    <a:pt x="0" y="823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6588720" cy="8330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812"/>
                </a:lnSpc>
              </a:pPr>
              <a:r>
                <a:rPr lang="en-US" sz="3875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Topics for today!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102" y="1556445"/>
            <a:ext cx="28575" cy="8190905"/>
            <a:chOff x="0" y="0"/>
            <a:chExt cx="38100" cy="109212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" cy="10921238"/>
            </a:xfrm>
            <a:custGeom>
              <a:avLst/>
              <a:gdLst/>
              <a:ahLst/>
              <a:cxnLst/>
              <a:rect l="l" t="t" r="r" b="b"/>
              <a:pathLst>
                <a:path w="38100" h="1092123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902188"/>
                  </a:lnTo>
                  <a:cubicBezTo>
                    <a:pt x="38100" y="10912729"/>
                    <a:pt x="29591" y="10921238"/>
                    <a:pt x="19050" y="10921238"/>
                  </a:cubicBezTo>
                  <a:cubicBezTo>
                    <a:pt x="8509" y="10921238"/>
                    <a:pt x="0" y="10912729"/>
                    <a:pt x="0" y="10902188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7876" y="1986855"/>
            <a:ext cx="592931" cy="28575"/>
            <a:chOff x="0" y="0"/>
            <a:chExt cx="790575" cy="38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0575" cy="38100"/>
            </a:xfrm>
            <a:custGeom>
              <a:avLst/>
              <a:gdLst/>
              <a:ahLst/>
              <a:cxnLst/>
              <a:rect l="l" t="t" r="r" b="b"/>
              <a:pathLst>
                <a:path w="79057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71525" y="0"/>
                  </a:lnTo>
                  <a:cubicBezTo>
                    <a:pt x="782066" y="0"/>
                    <a:pt x="790575" y="8509"/>
                    <a:pt x="790575" y="19050"/>
                  </a:cubicBezTo>
                  <a:cubicBezTo>
                    <a:pt x="790575" y="29591"/>
                    <a:pt x="782066" y="38100"/>
                    <a:pt x="7715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1754" y="1778794"/>
            <a:ext cx="444699" cy="444699"/>
            <a:chOff x="0" y="0"/>
            <a:chExt cx="592932" cy="5929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2836" cy="592963"/>
            </a:xfrm>
            <a:custGeom>
              <a:avLst/>
              <a:gdLst/>
              <a:ahLst/>
              <a:cxnLst/>
              <a:rect l="l" t="t" r="r" b="b"/>
              <a:pathLst>
                <a:path w="592836" h="592963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553339" y="0"/>
                  </a:lnTo>
                  <a:cubicBezTo>
                    <a:pt x="575183" y="0"/>
                    <a:pt x="592836" y="17653"/>
                    <a:pt x="592836" y="39497"/>
                  </a:cubicBezTo>
                  <a:lnTo>
                    <a:pt x="592836" y="553339"/>
                  </a:lnTo>
                  <a:cubicBezTo>
                    <a:pt x="592836" y="575183"/>
                    <a:pt x="575183" y="592836"/>
                    <a:pt x="553339" y="592836"/>
                  </a:cubicBezTo>
                  <a:lnTo>
                    <a:pt x="39497" y="592836"/>
                  </a:lnTo>
                  <a:cubicBezTo>
                    <a:pt x="17653" y="592963"/>
                    <a:pt x="0" y="575183"/>
                    <a:pt x="0" y="55333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5870" y="1815852"/>
            <a:ext cx="296466" cy="370582"/>
            <a:chOff x="0" y="0"/>
            <a:chExt cx="395288" cy="4941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5288" cy="494110"/>
            </a:xfrm>
            <a:custGeom>
              <a:avLst/>
              <a:gdLst/>
              <a:ahLst/>
              <a:cxnLst/>
              <a:rect l="l" t="t" r="r" b="b"/>
              <a:pathLst>
                <a:path w="395288" h="494110">
                  <a:moveTo>
                    <a:pt x="0" y="0"/>
                  </a:moveTo>
                  <a:lnTo>
                    <a:pt x="395288" y="0"/>
                  </a:lnTo>
                  <a:lnTo>
                    <a:pt x="395288" y="494110"/>
                  </a:lnTo>
                  <a:lnTo>
                    <a:pt x="0" y="494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395288" cy="4560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12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02321" y="1754089"/>
            <a:ext cx="6300779" cy="437944"/>
            <a:chOff x="0" y="0"/>
            <a:chExt cx="8401039" cy="5839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01039" cy="583925"/>
            </a:xfrm>
            <a:custGeom>
              <a:avLst/>
              <a:gdLst/>
              <a:ahLst/>
              <a:cxnLst/>
              <a:rect l="l" t="t" r="r" b="b"/>
              <a:pathLst>
                <a:path w="8401039" h="583925">
                  <a:moveTo>
                    <a:pt x="0" y="0"/>
                  </a:moveTo>
                  <a:lnTo>
                    <a:pt x="8401039" y="0"/>
                  </a:lnTo>
                  <a:lnTo>
                    <a:pt x="8401039" y="583925"/>
                  </a:lnTo>
                  <a:lnTo>
                    <a:pt x="0" y="583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8401039" cy="593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5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Deep-dive: Types of Deployment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07876" y="3384948"/>
            <a:ext cx="592931" cy="28575"/>
            <a:chOff x="0" y="0"/>
            <a:chExt cx="790575" cy="38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90575" cy="38100"/>
            </a:xfrm>
            <a:custGeom>
              <a:avLst/>
              <a:gdLst/>
              <a:ahLst/>
              <a:cxnLst/>
              <a:rect l="l" t="t" r="r" b="b"/>
              <a:pathLst>
                <a:path w="79057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71525" y="0"/>
                  </a:lnTo>
                  <a:cubicBezTo>
                    <a:pt x="782066" y="0"/>
                    <a:pt x="790575" y="8509"/>
                    <a:pt x="790575" y="19050"/>
                  </a:cubicBezTo>
                  <a:cubicBezTo>
                    <a:pt x="790575" y="29591"/>
                    <a:pt x="782066" y="38100"/>
                    <a:pt x="7715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1754" y="3176885"/>
            <a:ext cx="444699" cy="444699"/>
            <a:chOff x="0" y="0"/>
            <a:chExt cx="592932" cy="59293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2836" cy="592963"/>
            </a:xfrm>
            <a:custGeom>
              <a:avLst/>
              <a:gdLst/>
              <a:ahLst/>
              <a:cxnLst/>
              <a:rect l="l" t="t" r="r" b="b"/>
              <a:pathLst>
                <a:path w="592836" h="592963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553339" y="0"/>
                  </a:lnTo>
                  <a:cubicBezTo>
                    <a:pt x="575183" y="0"/>
                    <a:pt x="592836" y="17653"/>
                    <a:pt x="592836" y="39497"/>
                  </a:cubicBezTo>
                  <a:lnTo>
                    <a:pt x="592836" y="553339"/>
                  </a:lnTo>
                  <a:cubicBezTo>
                    <a:pt x="592836" y="575183"/>
                    <a:pt x="575183" y="592836"/>
                    <a:pt x="553339" y="592836"/>
                  </a:cubicBezTo>
                  <a:lnTo>
                    <a:pt x="39497" y="592836"/>
                  </a:lnTo>
                  <a:cubicBezTo>
                    <a:pt x="17653" y="592963"/>
                    <a:pt x="0" y="575183"/>
                    <a:pt x="0" y="55333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5870" y="3213944"/>
            <a:ext cx="296466" cy="370582"/>
            <a:chOff x="0" y="0"/>
            <a:chExt cx="395288" cy="4941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5288" cy="494110"/>
            </a:xfrm>
            <a:custGeom>
              <a:avLst/>
              <a:gdLst/>
              <a:ahLst/>
              <a:cxnLst/>
              <a:rect l="l" t="t" r="r" b="b"/>
              <a:pathLst>
                <a:path w="395288" h="494110">
                  <a:moveTo>
                    <a:pt x="0" y="0"/>
                  </a:moveTo>
                  <a:lnTo>
                    <a:pt x="395288" y="0"/>
                  </a:lnTo>
                  <a:lnTo>
                    <a:pt x="395288" y="494110"/>
                  </a:lnTo>
                  <a:lnTo>
                    <a:pt x="0" y="494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38100"/>
              <a:ext cx="395288" cy="4560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12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02321" y="3152180"/>
            <a:ext cx="6300779" cy="437944"/>
            <a:chOff x="0" y="0"/>
            <a:chExt cx="8401039" cy="58392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401039" cy="583925"/>
            </a:xfrm>
            <a:custGeom>
              <a:avLst/>
              <a:gdLst/>
              <a:ahLst/>
              <a:cxnLst/>
              <a:rect l="l" t="t" r="r" b="b"/>
              <a:pathLst>
                <a:path w="8401039" h="583925">
                  <a:moveTo>
                    <a:pt x="0" y="0"/>
                  </a:moveTo>
                  <a:lnTo>
                    <a:pt x="8401039" y="0"/>
                  </a:lnTo>
                  <a:lnTo>
                    <a:pt x="8401039" y="583925"/>
                  </a:lnTo>
                  <a:lnTo>
                    <a:pt x="0" y="583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8401039" cy="593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5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Different Strategies for deploying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07876" y="4783039"/>
            <a:ext cx="592931" cy="28575"/>
            <a:chOff x="0" y="0"/>
            <a:chExt cx="790575" cy="381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90575" cy="38100"/>
            </a:xfrm>
            <a:custGeom>
              <a:avLst/>
              <a:gdLst/>
              <a:ahLst/>
              <a:cxnLst/>
              <a:rect l="l" t="t" r="r" b="b"/>
              <a:pathLst>
                <a:path w="79057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71525" y="0"/>
                  </a:lnTo>
                  <a:cubicBezTo>
                    <a:pt x="782066" y="0"/>
                    <a:pt x="790575" y="8509"/>
                    <a:pt x="790575" y="19050"/>
                  </a:cubicBezTo>
                  <a:cubicBezTo>
                    <a:pt x="790575" y="29591"/>
                    <a:pt x="782066" y="38100"/>
                    <a:pt x="7715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91754" y="4574976"/>
            <a:ext cx="444699" cy="444699"/>
            <a:chOff x="0" y="0"/>
            <a:chExt cx="592932" cy="59293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92836" cy="592963"/>
            </a:xfrm>
            <a:custGeom>
              <a:avLst/>
              <a:gdLst/>
              <a:ahLst/>
              <a:cxnLst/>
              <a:rect l="l" t="t" r="r" b="b"/>
              <a:pathLst>
                <a:path w="592836" h="592963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553339" y="0"/>
                  </a:lnTo>
                  <a:cubicBezTo>
                    <a:pt x="575183" y="0"/>
                    <a:pt x="592836" y="17653"/>
                    <a:pt x="592836" y="39497"/>
                  </a:cubicBezTo>
                  <a:lnTo>
                    <a:pt x="592836" y="553339"/>
                  </a:lnTo>
                  <a:cubicBezTo>
                    <a:pt x="592836" y="575183"/>
                    <a:pt x="575183" y="592836"/>
                    <a:pt x="553339" y="592836"/>
                  </a:cubicBezTo>
                  <a:lnTo>
                    <a:pt x="39497" y="592836"/>
                  </a:lnTo>
                  <a:cubicBezTo>
                    <a:pt x="17653" y="592963"/>
                    <a:pt x="0" y="575183"/>
                    <a:pt x="0" y="55333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5870" y="4612035"/>
            <a:ext cx="296466" cy="370582"/>
            <a:chOff x="0" y="0"/>
            <a:chExt cx="395288" cy="49411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95288" cy="494110"/>
            </a:xfrm>
            <a:custGeom>
              <a:avLst/>
              <a:gdLst/>
              <a:ahLst/>
              <a:cxnLst/>
              <a:rect l="l" t="t" r="r" b="b"/>
              <a:pathLst>
                <a:path w="395288" h="494110">
                  <a:moveTo>
                    <a:pt x="0" y="0"/>
                  </a:moveTo>
                  <a:lnTo>
                    <a:pt x="395288" y="0"/>
                  </a:lnTo>
                  <a:lnTo>
                    <a:pt x="395288" y="494110"/>
                  </a:lnTo>
                  <a:lnTo>
                    <a:pt x="0" y="494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38100"/>
              <a:ext cx="395288" cy="4560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12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902321" y="4550271"/>
            <a:ext cx="6500064" cy="437944"/>
            <a:chOff x="0" y="0"/>
            <a:chExt cx="8666752" cy="5839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666752" cy="583925"/>
            </a:xfrm>
            <a:custGeom>
              <a:avLst/>
              <a:gdLst/>
              <a:ahLst/>
              <a:cxnLst/>
              <a:rect l="l" t="t" r="r" b="b"/>
              <a:pathLst>
                <a:path w="8666752" h="583925">
                  <a:moveTo>
                    <a:pt x="0" y="0"/>
                  </a:moveTo>
                  <a:lnTo>
                    <a:pt x="8666752" y="0"/>
                  </a:lnTo>
                  <a:lnTo>
                    <a:pt x="8666752" y="583925"/>
                  </a:lnTo>
                  <a:lnTo>
                    <a:pt x="0" y="583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8666752" cy="593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5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Monitoring in CD with hands-on activity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07876" y="6181130"/>
            <a:ext cx="592931" cy="28575"/>
            <a:chOff x="0" y="0"/>
            <a:chExt cx="790575" cy="381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90575" cy="38100"/>
            </a:xfrm>
            <a:custGeom>
              <a:avLst/>
              <a:gdLst/>
              <a:ahLst/>
              <a:cxnLst/>
              <a:rect l="l" t="t" r="r" b="b"/>
              <a:pathLst>
                <a:path w="79057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71525" y="0"/>
                  </a:lnTo>
                  <a:cubicBezTo>
                    <a:pt x="782066" y="0"/>
                    <a:pt x="790575" y="8509"/>
                    <a:pt x="790575" y="19050"/>
                  </a:cubicBezTo>
                  <a:cubicBezTo>
                    <a:pt x="790575" y="29591"/>
                    <a:pt x="782066" y="38100"/>
                    <a:pt x="7715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91754" y="5973068"/>
            <a:ext cx="444699" cy="444699"/>
            <a:chOff x="0" y="0"/>
            <a:chExt cx="592932" cy="59293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92836" cy="592963"/>
            </a:xfrm>
            <a:custGeom>
              <a:avLst/>
              <a:gdLst/>
              <a:ahLst/>
              <a:cxnLst/>
              <a:rect l="l" t="t" r="r" b="b"/>
              <a:pathLst>
                <a:path w="592836" h="592963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553339" y="0"/>
                  </a:lnTo>
                  <a:cubicBezTo>
                    <a:pt x="575183" y="0"/>
                    <a:pt x="592836" y="17653"/>
                    <a:pt x="592836" y="39497"/>
                  </a:cubicBezTo>
                  <a:lnTo>
                    <a:pt x="592836" y="553339"/>
                  </a:lnTo>
                  <a:cubicBezTo>
                    <a:pt x="592836" y="575183"/>
                    <a:pt x="575183" y="592836"/>
                    <a:pt x="553339" y="592836"/>
                  </a:cubicBezTo>
                  <a:lnTo>
                    <a:pt x="39497" y="592836"/>
                  </a:lnTo>
                  <a:cubicBezTo>
                    <a:pt x="17653" y="592963"/>
                    <a:pt x="0" y="575183"/>
                    <a:pt x="0" y="55333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5870" y="6010126"/>
            <a:ext cx="296466" cy="370583"/>
            <a:chOff x="0" y="0"/>
            <a:chExt cx="395288" cy="49411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95288" cy="494110"/>
            </a:xfrm>
            <a:custGeom>
              <a:avLst/>
              <a:gdLst/>
              <a:ahLst/>
              <a:cxnLst/>
              <a:rect l="l" t="t" r="r" b="b"/>
              <a:pathLst>
                <a:path w="395288" h="494110">
                  <a:moveTo>
                    <a:pt x="0" y="0"/>
                  </a:moveTo>
                  <a:lnTo>
                    <a:pt x="395288" y="0"/>
                  </a:lnTo>
                  <a:lnTo>
                    <a:pt x="395288" y="494110"/>
                  </a:lnTo>
                  <a:lnTo>
                    <a:pt x="0" y="494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38100"/>
              <a:ext cx="395288" cy="4560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12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2321" y="5948362"/>
            <a:ext cx="7479498" cy="437944"/>
            <a:chOff x="0" y="0"/>
            <a:chExt cx="9972664" cy="58392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972663" cy="583925"/>
            </a:xfrm>
            <a:custGeom>
              <a:avLst/>
              <a:gdLst/>
              <a:ahLst/>
              <a:cxnLst/>
              <a:rect l="l" t="t" r="r" b="b"/>
              <a:pathLst>
                <a:path w="9972663" h="583925">
                  <a:moveTo>
                    <a:pt x="0" y="0"/>
                  </a:moveTo>
                  <a:lnTo>
                    <a:pt x="9972663" y="0"/>
                  </a:lnTo>
                  <a:lnTo>
                    <a:pt x="9972663" y="583925"/>
                  </a:lnTo>
                  <a:lnTo>
                    <a:pt x="0" y="583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9972664" cy="593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5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Deployment Automation &amp; Orchestration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07876" y="7579221"/>
            <a:ext cx="592931" cy="28575"/>
            <a:chOff x="0" y="0"/>
            <a:chExt cx="790575" cy="381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90575" cy="38100"/>
            </a:xfrm>
            <a:custGeom>
              <a:avLst/>
              <a:gdLst/>
              <a:ahLst/>
              <a:cxnLst/>
              <a:rect l="l" t="t" r="r" b="b"/>
              <a:pathLst>
                <a:path w="79057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71525" y="0"/>
                  </a:lnTo>
                  <a:cubicBezTo>
                    <a:pt x="782066" y="0"/>
                    <a:pt x="790575" y="8509"/>
                    <a:pt x="790575" y="19050"/>
                  </a:cubicBezTo>
                  <a:cubicBezTo>
                    <a:pt x="790575" y="29591"/>
                    <a:pt x="782066" y="38100"/>
                    <a:pt x="7715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91754" y="7371160"/>
            <a:ext cx="444699" cy="444699"/>
            <a:chOff x="0" y="0"/>
            <a:chExt cx="592932" cy="59293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92836" cy="592963"/>
            </a:xfrm>
            <a:custGeom>
              <a:avLst/>
              <a:gdLst/>
              <a:ahLst/>
              <a:cxnLst/>
              <a:rect l="l" t="t" r="r" b="b"/>
              <a:pathLst>
                <a:path w="592836" h="592963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553339" y="0"/>
                  </a:lnTo>
                  <a:cubicBezTo>
                    <a:pt x="575183" y="0"/>
                    <a:pt x="592836" y="17653"/>
                    <a:pt x="592836" y="39497"/>
                  </a:cubicBezTo>
                  <a:lnTo>
                    <a:pt x="592836" y="553339"/>
                  </a:lnTo>
                  <a:cubicBezTo>
                    <a:pt x="592836" y="575183"/>
                    <a:pt x="575183" y="592836"/>
                    <a:pt x="553339" y="592836"/>
                  </a:cubicBezTo>
                  <a:lnTo>
                    <a:pt x="39497" y="592836"/>
                  </a:lnTo>
                  <a:cubicBezTo>
                    <a:pt x="17653" y="592963"/>
                    <a:pt x="0" y="575183"/>
                    <a:pt x="0" y="55333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5870" y="7408217"/>
            <a:ext cx="296466" cy="370583"/>
            <a:chOff x="0" y="0"/>
            <a:chExt cx="395288" cy="49411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95288" cy="494110"/>
            </a:xfrm>
            <a:custGeom>
              <a:avLst/>
              <a:gdLst/>
              <a:ahLst/>
              <a:cxnLst/>
              <a:rect l="l" t="t" r="r" b="b"/>
              <a:pathLst>
                <a:path w="395288" h="494110">
                  <a:moveTo>
                    <a:pt x="0" y="0"/>
                  </a:moveTo>
                  <a:lnTo>
                    <a:pt x="395288" y="0"/>
                  </a:lnTo>
                  <a:lnTo>
                    <a:pt x="395288" y="494110"/>
                  </a:lnTo>
                  <a:lnTo>
                    <a:pt x="0" y="494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38100"/>
              <a:ext cx="395288" cy="4560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12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902321" y="7346454"/>
            <a:ext cx="6927157" cy="437944"/>
            <a:chOff x="0" y="0"/>
            <a:chExt cx="9236210" cy="58392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236210" cy="583925"/>
            </a:xfrm>
            <a:custGeom>
              <a:avLst/>
              <a:gdLst/>
              <a:ahLst/>
              <a:cxnLst/>
              <a:rect l="l" t="t" r="r" b="b"/>
              <a:pathLst>
                <a:path w="9236210" h="583925">
                  <a:moveTo>
                    <a:pt x="0" y="0"/>
                  </a:moveTo>
                  <a:lnTo>
                    <a:pt x="9236210" y="0"/>
                  </a:lnTo>
                  <a:lnTo>
                    <a:pt x="9236210" y="583925"/>
                  </a:lnTo>
                  <a:lnTo>
                    <a:pt x="0" y="583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9236210" cy="593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5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CD Best practices &amp; optimization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07876" y="8977312"/>
            <a:ext cx="592931" cy="28575"/>
            <a:chOff x="0" y="0"/>
            <a:chExt cx="790575" cy="381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90575" cy="38100"/>
            </a:xfrm>
            <a:custGeom>
              <a:avLst/>
              <a:gdLst/>
              <a:ahLst/>
              <a:cxnLst/>
              <a:rect l="l" t="t" r="r" b="b"/>
              <a:pathLst>
                <a:path w="79057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71525" y="0"/>
                  </a:lnTo>
                  <a:cubicBezTo>
                    <a:pt x="782066" y="0"/>
                    <a:pt x="790575" y="8509"/>
                    <a:pt x="790575" y="19050"/>
                  </a:cubicBezTo>
                  <a:cubicBezTo>
                    <a:pt x="790575" y="29591"/>
                    <a:pt x="782066" y="38100"/>
                    <a:pt x="7715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91754" y="8769251"/>
            <a:ext cx="444699" cy="444699"/>
            <a:chOff x="0" y="0"/>
            <a:chExt cx="592932" cy="59293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92836" cy="592963"/>
            </a:xfrm>
            <a:custGeom>
              <a:avLst/>
              <a:gdLst/>
              <a:ahLst/>
              <a:cxnLst/>
              <a:rect l="l" t="t" r="r" b="b"/>
              <a:pathLst>
                <a:path w="592836" h="592963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553339" y="0"/>
                  </a:lnTo>
                  <a:cubicBezTo>
                    <a:pt x="575183" y="0"/>
                    <a:pt x="592836" y="17653"/>
                    <a:pt x="592836" y="39497"/>
                  </a:cubicBezTo>
                  <a:lnTo>
                    <a:pt x="592836" y="553339"/>
                  </a:lnTo>
                  <a:cubicBezTo>
                    <a:pt x="592836" y="575183"/>
                    <a:pt x="575183" y="592836"/>
                    <a:pt x="553339" y="592836"/>
                  </a:cubicBezTo>
                  <a:lnTo>
                    <a:pt x="39497" y="592836"/>
                  </a:lnTo>
                  <a:cubicBezTo>
                    <a:pt x="17653" y="592963"/>
                    <a:pt x="0" y="575183"/>
                    <a:pt x="0" y="55333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5870" y="8806309"/>
            <a:ext cx="296466" cy="370583"/>
            <a:chOff x="0" y="0"/>
            <a:chExt cx="395288" cy="49411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95288" cy="494110"/>
            </a:xfrm>
            <a:custGeom>
              <a:avLst/>
              <a:gdLst/>
              <a:ahLst/>
              <a:cxnLst/>
              <a:rect l="l" t="t" r="r" b="b"/>
              <a:pathLst>
                <a:path w="395288" h="494110">
                  <a:moveTo>
                    <a:pt x="0" y="0"/>
                  </a:moveTo>
                  <a:lnTo>
                    <a:pt x="395288" y="0"/>
                  </a:lnTo>
                  <a:lnTo>
                    <a:pt x="395288" y="494110"/>
                  </a:lnTo>
                  <a:lnTo>
                    <a:pt x="0" y="494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38100"/>
              <a:ext cx="395288" cy="4560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12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902321" y="8744545"/>
            <a:ext cx="6748188" cy="437944"/>
            <a:chOff x="0" y="0"/>
            <a:chExt cx="8997584" cy="5839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997584" cy="583925"/>
            </a:xfrm>
            <a:custGeom>
              <a:avLst/>
              <a:gdLst/>
              <a:ahLst/>
              <a:cxnLst/>
              <a:rect l="l" t="t" r="r" b="b"/>
              <a:pathLst>
                <a:path w="8997584" h="583925">
                  <a:moveTo>
                    <a:pt x="0" y="0"/>
                  </a:moveTo>
                  <a:lnTo>
                    <a:pt x="8997584" y="0"/>
                  </a:lnTo>
                  <a:lnTo>
                    <a:pt x="8997584" y="583925"/>
                  </a:lnTo>
                  <a:lnTo>
                    <a:pt x="0" y="583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8997584" cy="593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5"/>
                </a:lnSpc>
              </a:pPr>
              <a:r>
                <a:rPr lang="en-US" sz="2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Release management &amp; Approvals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304889"/>
            <a:ext cx="9443171" cy="1056307"/>
            <a:chOff x="0" y="0"/>
            <a:chExt cx="12590895" cy="14084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90895" cy="1408409"/>
            </a:xfrm>
            <a:custGeom>
              <a:avLst/>
              <a:gdLst/>
              <a:ahLst/>
              <a:cxnLst/>
              <a:rect l="l" t="t" r="r" b="b"/>
              <a:pathLst>
                <a:path w="12590895" h="1408409">
                  <a:moveTo>
                    <a:pt x="0" y="0"/>
                  </a:moveTo>
                  <a:lnTo>
                    <a:pt x="12590895" y="0"/>
                  </a:lnTo>
                  <a:lnTo>
                    <a:pt x="12590895" y="1408409"/>
                  </a:lnTo>
                  <a:lnTo>
                    <a:pt x="0" y="14084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590895" cy="14274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Types of Deployments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843064"/>
            <a:ext cx="16303526" cy="1133772"/>
            <a:chOff x="0" y="0"/>
            <a:chExt cx="21738035" cy="15116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21738035" cy="1625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There are various deployment types that can be used according to the use-case, we will discuss the most common types.</a:t>
              </a: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992238" y="4295775"/>
            <a:ext cx="5150941" cy="3183434"/>
          </a:xfrm>
          <a:custGeom>
            <a:avLst/>
            <a:gdLst/>
            <a:ahLst/>
            <a:cxnLst/>
            <a:rect l="l" t="t" r="r" b="b"/>
            <a:pathLst>
              <a:path w="5150941" h="3183434">
                <a:moveTo>
                  <a:pt x="0" y="0"/>
                </a:moveTo>
                <a:lnTo>
                  <a:pt x="5150941" y="0"/>
                </a:lnTo>
                <a:lnTo>
                  <a:pt x="5150941" y="3183434"/>
                </a:lnTo>
                <a:lnTo>
                  <a:pt x="0" y="3183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" r="-5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992238" y="7833569"/>
            <a:ext cx="5150941" cy="1063229"/>
            <a:chOff x="0" y="0"/>
            <a:chExt cx="6867922" cy="14176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67922" cy="1417638"/>
            </a:xfrm>
            <a:custGeom>
              <a:avLst/>
              <a:gdLst/>
              <a:ahLst/>
              <a:cxnLst/>
              <a:rect l="l" t="t" r="r" b="b"/>
              <a:pathLst>
                <a:path w="6867922" h="1417638">
                  <a:moveTo>
                    <a:pt x="0" y="0"/>
                  </a:moveTo>
                  <a:lnTo>
                    <a:pt x="6867922" y="0"/>
                  </a:lnTo>
                  <a:lnTo>
                    <a:pt x="6867922" y="1417638"/>
                  </a:lnTo>
                  <a:lnTo>
                    <a:pt x="0" y="1417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867922" cy="1436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Blue - Green Deployment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6568380" y="4295775"/>
            <a:ext cx="5151090" cy="3183582"/>
          </a:xfrm>
          <a:custGeom>
            <a:avLst/>
            <a:gdLst/>
            <a:ahLst/>
            <a:cxnLst/>
            <a:rect l="l" t="t" r="r" b="b"/>
            <a:pathLst>
              <a:path w="5151090" h="3183582">
                <a:moveTo>
                  <a:pt x="0" y="0"/>
                </a:moveTo>
                <a:lnTo>
                  <a:pt x="5151090" y="0"/>
                </a:lnTo>
                <a:lnTo>
                  <a:pt x="5151090" y="3183583"/>
                </a:lnTo>
                <a:lnTo>
                  <a:pt x="0" y="3183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" r="-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7017395" y="7833717"/>
            <a:ext cx="4252912" cy="531614"/>
            <a:chOff x="0" y="0"/>
            <a:chExt cx="5670550" cy="7088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670550" cy="7278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Canary Deployment</a:t>
              </a:r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12144672" y="4295775"/>
            <a:ext cx="5150941" cy="3183434"/>
          </a:xfrm>
          <a:custGeom>
            <a:avLst/>
            <a:gdLst/>
            <a:ahLst/>
            <a:cxnLst/>
            <a:rect l="l" t="t" r="r" b="b"/>
            <a:pathLst>
              <a:path w="5150941" h="3183434">
                <a:moveTo>
                  <a:pt x="0" y="0"/>
                </a:moveTo>
                <a:lnTo>
                  <a:pt x="5150942" y="0"/>
                </a:lnTo>
                <a:lnTo>
                  <a:pt x="5150942" y="3183434"/>
                </a:lnTo>
                <a:lnTo>
                  <a:pt x="0" y="3183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" r="-5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2593687" y="7833569"/>
            <a:ext cx="4252912" cy="531614"/>
            <a:chOff x="0" y="0"/>
            <a:chExt cx="5670550" cy="7088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670550" cy="7278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Rolling Deployment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11784509" y="3321844"/>
            <a:ext cx="6148983" cy="3643312"/>
          </a:xfrm>
          <a:custGeom>
            <a:avLst/>
            <a:gdLst/>
            <a:ahLst/>
            <a:cxnLst/>
            <a:rect l="l" t="t" r="r" b="b"/>
            <a:pathLst>
              <a:path w="6148983" h="3643312">
                <a:moveTo>
                  <a:pt x="0" y="0"/>
                </a:moveTo>
                <a:lnTo>
                  <a:pt x="6148982" y="0"/>
                </a:lnTo>
                <a:lnTo>
                  <a:pt x="6148982" y="3643312"/>
                </a:lnTo>
                <a:lnTo>
                  <a:pt x="0" y="364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92237" y="2267694"/>
            <a:ext cx="8151762" cy="844883"/>
            <a:chOff x="0" y="0"/>
            <a:chExt cx="10869017" cy="11265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69017" cy="1126511"/>
            </a:xfrm>
            <a:custGeom>
              <a:avLst/>
              <a:gdLst/>
              <a:ahLst/>
              <a:cxnLst/>
              <a:rect l="l" t="t" r="r" b="b"/>
              <a:pathLst>
                <a:path w="10869017" h="1126511">
                  <a:moveTo>
                    <a:pt x="0" y="0"/>
                  </a:moveTo>
                  <a:lnTo>
                    <a:pt x="10869017" y="0"/>
                  </a:lnTo>
                  <a:lnTo>
                    <a:pt x="10869017" y="1126511"/>
                  </a:lnTo>
                  <a:lnTo>
                    <a:pt x="0" y="11265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0869017" cy="114556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562"/>
                </a:lnSpc>
              </a:pPr>
              <a:r>
                <a:rPr lang="en-US" sz="4437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Blue/Green Deployment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3614291"/>
            <a:ext cx="637878" cy="637878"/>
            <a:chOff x="0" y="0"/>
            <a:chExt cx="850503" cy="8505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03030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098575" y="3667422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913632" y="3614291"/>
            <a:ext cx="4702522" cy="442912"/>
            <a:chOff x="0" y="0"/>
            <a:chExt cx="6270030" cy="5905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70030" cy="590550"/>
            </a:xfrm>
            <a:custGeom>
              <a:avLst/>
              <a:gdLst/>
              <a:ahLst/>
              <a:cxnLst/>
              <a:rect l="l" t="t" r="r" b="b"/>
              <a:pathLst>
                <a:path w="6270030" h="590550">
                  <a:moveTo>
                    <a:pt x="0" y="0"/>
                  </a:moveTo>
                  <a:lnTo>
                    <a:pt x="6270030" y="0"/>
                  </a:lnTo>
                  <a:lnTo>
                    <a:pt x="627003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6270030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Two Identical Environments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13632" y="4227314"/>
            <a:ext cx="8524131" cy="453629"/>
            <a:chOff x="0" y="0"/>
            <a:chExt cx="11365508" cy="6048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65509" cy="604838"/>
            </a:xfrm>
            <a:custGeom>
              <a:avLst/>
              <a:gdLst/>
              <a:ahLst/>
              <a:cxnLst/>
              <a:rect l="l" t="t" r="r" b="b"/>
              <a:pathLst>
                <a:path w="11365509" h="604838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Maintain Blue (live) and Green (new version) environments.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92238" y="5283399"/>
            <a:ext cx="637878" cy="637878"/>
            <a:chOff x="0" y="0"/>
            <a:chExt cx="850503" cy="8505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03030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1098575" y="5336530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913632" y="5283399"/>
            <a:ext cx="3544044" cy="442912"/>
            <a:chOff x="0" y="0"/>
            <a:chExt cx="4725392" cy="5905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Traffic Switch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913632" y="5896421"/>
            <a:ext cx="8524131" cy="453629"/>
            <a:chOff x="0" y="0"/>
            <a:chExt cx="11365508" cy="6048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365509" cy="604838"/>
            </a:xfrm>
            <a:custGeom>
              <a:avLst/>
              <a:gdLst/>
              <a:ahLst/>
              <a:cxnLst/>
              <a:rect l="l" t="t" r="r" b="b"/>
              <a:pathLst>
                <a:path w="11365509" h="604838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After validation, switch traffic via DNS or Load Balancer.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2238" y="6952506"/>
            <a:ext cx="637878" cy="637878"/>
            <a:chOff x="0" y="0"/>
            <a:chExt cx="850503" cy="8505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03030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1098575" y="7005638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3"/>
                </a:lnTo>
                <a:lnTo>
                  <a:pt x="0" y="5316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913632" y="6952506"/>
            <a:ext cx="3544044" cy="442912"/>
            <a:chOff x="0" y="0"/>
            <a:chExt cx="4725392" cy="5905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Instant Rollback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913632" y="7565529"/>
            <a:ext cx="8524131" cy="453629"/>
            <a:chOff x="0" y="0"/>
            <a:chExt cx="11365508" cy="6048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365509" cy="604838"/>
            </a:xfrm>
            <a:custGeom>
              <a:avLst/>
              <a:gdLst/>
              <a:ahLst/>
              <a:cxnLst/>
              <a:rect l="l" t="t" r="r" b="b"/>
              <a:pathLst>
                <a:path w="11365509" h="604838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If Green fails, revert DNS to point back to Blue.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 descr="preencoded.png"/>
          <p:cNvSpPr/>
          <p:nvPr/>
        </p:nvSpPr>
        <p:spPr>
          <a:xfrm>
            <a:off x="11585888" y="3207076"/>
            <a:ext cx="6471626" cy="3688876"/>
          </a:xfrm>
          <a:custGeom>
            <a:avLst/>
            <a:gdLst/>
            <a:ahLst/>
            <a:cxnLst/>
            <a:rect l="l" t="t" r="r" b="b"/>
            <a:pathLst>
              <a:path w="6471626" h="3688876">
                <a:moveTo>
                  <a:pt x="0" y="0"/>
                </a:moveTo>
                <a:lnTo>
                  <a:pt x="6471626" y="0"/>
                </a:lnTo>
                <a:lnTo>
                  <a:pt x="6471626" y="3688875"/>
                </a:lnTo>
                <a:lnTo>
                  <a:pt x="0" y="3688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992238" y="2009031"/>
            <a:ext cx="7930796" cy="1056307"/>
            <a:chOff x="0" y="0"/>
            <a:chExt cx="10574395" cy="14084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74396" cy="1408409"/>
            </a:xfrm>
            <a:custGeom>
              <a:avLst/>
              <a:gdLst/>
              <a:ahLst/>
              <a:cxnLst/>
              <a:rect l="l" t="t" r="r" b="b"/>
              <a:pathLst>
                <a:path w="10574396" h="1408409">
                  <a:moveTo>
                    <a:pt x="0" y="0"/>
                  </a:moveTo>
                  <a:lnTo>
                    <a:pt x="10574396" y="0"/>
                  </a:lnTo>
                  <a:lnTo>
                    <a:pt x="10574396" y="1408409"/>
                  </a:lnTo>
                  <a:lnTo>
                    <a:pt x="0" y="14084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0574395" cy="142745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Canary Deployment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3320206"/>
            <a:ext cx="212526" cy="1520279"/>
            <a:chOff x="0" y="0"/>
            <a:chExt cx="283368" cy="20270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3464" cy="2027047"/>
            </a:xfrm>
            <a:custGeom>
              <a:avLst/>
              <a:gdLst/>
              <a:ahLst/>
              <a:cxnLst/>
              <a:rect l="l" t="t" r="r" b="b"/>
              <a:pathLst>
                <a:path w="283464" h="202704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26695" y="0"/>
                  </a:lnTo>
                  <a:cubicBezTo>
                    <a:pt x="258064" y="0"/>
                    <a:pt x="283464" y="25400"/>
                    <a:pt x="283464" y="56769"/>
                  </a:cubicBezTo>
                  <a:lnTo>
                    <a:pt x="283464" y="1970278"/>
                  </a:lnTo>
                  <a:cubicBezTo>
                    <a:pt x="283464" y="2001647"/>
                    <a:pt x="258064" y="2027047"/>
                    <a:pt x="226695" y="2027047"/>
                  </a:cubicBezTo>
                  <a:lnTo>
                    <a:pt x="56769" y="2027047"/>
                  </a:lnTo>
                  <a:cubicBezTo>
                    <a:pt x="25400" y="2027047"/>
                    <a:pt x="0" y="2001647"/>
                    <a:pt x="0" y="197027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9966" y="3320206"/>
            <a:ext cx="3544044" cy="442912"/>
            <a:chOff x="0" y="0"/>
            <a:chExt cx="4725392" cy="5905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Release to Subset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29966" y="3933230"/>
            <a:ext cx="8807798" cy="907256"/>
            <a:chOff x="0" y="0"/>
            <a:chExt cx="11743730" cy="12096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43730" cy="1209675"/>
            </a:xfrm>
            <a:custGeom>
              <a:avLst/>
              <a:gdLst/>
              <a:ahLst/>
              <a:cxnLst/>
              <a:rect l="l" t="t" r="r" b="b"/>
              <a:pathLst>
                <a:path w="11743730" h="1209675">
                  <a:moveTo>
                    <a:pt x="0" y="0"/>
                  </a:moveTo>
                  <a:lnTo>
                    <a:pt x="11743730" y="0"/>
                  </a:lnTo>
                  <a:lnTo>
                    <a:pt x="1174373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1743730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New version is rolled out to a small subset of users (5%, 25%, 50%, 100%).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17439" y="5124004"/>
            <a:ext cx="212526" cy="1066651"/>
            <a:chOff x="0" y="0"/>
            <a:chExt cx="283368" cy="142220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3464" cy="1422273"/>
            </a:xfrm>
            <a:custGeom>
              <a:avLst/>
              <a:gdLst/>
              <a:ahLst/>
              <a:cxnLst/>
              <a:rect l="l" t="t" r="r" b="b"/>
              <a:pathLst>
                <a:path w="283464" h="142227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26695" y="0"/>
                  </a:lnTo>
                  <a:cubicBezTo>
                    <a:pt x="258064" y="0"/>
                    <a:pt x="283464" y="25400"/>
                    <a:pt x="283464" y="56769"/>
                  </a:cubicBezTo>
                  <a:lnTo>
                    <a:pt x="283464" y="1365504"/>
                  </a:lnTo>
                  <a:cubicBezTo>
                    <a:pt x="283464" y="1396873"/>
                    <a:pt x="258064" y="1422273"/>
                    <a:pt x="226695" y="1422273"/>
                  </a:cubicBezTo>
                  <a:lnTo>
                    <a:pt x="56769" y="1422273"/>
                  </a:lnTo>
                  <a:cubicBezTo>
                    <a:pt x="25400" y="1422273"/>
                    <a:pt x="0" y="1396873"/>
                    <a:pt x="0" y="136550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055168" y="5124004"/>
            <a:ext cx="3614143" cy="442912"/>
            <a:chOff x="0" y="0"/>
            <a:chExt cx="4818857" cy="5905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8857" cy="590550"/>
            </a:xfrm>
            <a:custGeom>
              <a:avLst/>
              <a:gdLst/>
              <a:ahLst/>
              <a:cxnLst/>
              <a:rect l="l" t="t" r="r" b="b"/>
              <a:pathLst>
                <a:path w="4818857" h="590550">
                  <a:moveTo>
                    <a:pt x="0" y="0"/>
                  </a:moveTo>
                  <a:lnTo>
                    <a:pt x="4818857" y="0"/>
                  </a:lnTo>
                  <a:lnTo>
                    <a:pt x="481885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8857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Monitor Performance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055168" y="5737026"/>
            <a:ext cx="8382595" cy="453629"/>
            <a:chOff x="0" y="0"/>
            <a:chExt cx="11176793" cy="6048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176793" cy="604838"/>
            </a:xfrm>
            <a:custGeom>
              <a:avLst/>
              <a:gdLst/>
              <a:ahLst/>
              <a:cxnLst/>
              <a:rect l="l" t="t" r="r" b="b"/>
              <a:pathLst>
                <a:path w="11176793" h="604838">
                  <a:moveTo>
                    <a:pt x="0" y="0"/>
                  </a:moveTo>
                  <a:lnTo>
                    <a:pt x="11176793" y="0"/>
                  </a:lnTo>
                  <a:lnTo>
                    <a:pt x="111767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11176793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Behavior and performance are monitored at each stage.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842790" y="6474173"/>
            <a:ext cx="212526" cy="1520279"/>
            <a:chOff x="0" y="0"/>
            <a:chExt cx="283368" cy="20270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83464" cy="2027047"/>
            </a:xfrm>
            <a:custGeom>
              <a:avLst/>
              <a:gdLst/>
              <a:ahLst/>
              <a:cxnLst/>
              <a:rect l="l" t="t" r="r" b="b"/>
              <a:pathLst>
                <a:path w="283464" h="202704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26695" y="0"/>
                  </a:lnTo>
                  <a:cubicBezTo>
                    <a:pt x="258064" y="0"/>
                    <a:pt x="283464" y="25400"/>
                    <a:pt x="283464" y="56769"/>
                  </a:cubicBezTo>
                  <a:lnTo>
                    <a:pt x="283464" y="1970278"/>
                  </a:lnTo>
                  <a:cubicBezTo>
                    <a:pt x="283464" y="2001647"/>
                    <a:pt x="258064" y="2027047"/>
                    <a:pt x="226695" y="2027047"/>
                  </a:cubicBezTo>
                  <a:lnTo>
                    <a:pt x="56769" y="2027047"/>
                  </a:lnTo>
                  <a:cubicBezTo>
                    <a:pt x="25400" y="2027047"/>
                    <a:pt x="0" y="2001647"/>
                    <a:pt x="0" y="197027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480519" y="6474173"/>
            <a:ext cx="3544044" cy="442912"/>
            <a:chOff x="0" y="0"/>
            <a:chExt cx="4725392" cy="5905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Gradual Expansion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480519" y="7087195"/>
            <a:ext cx="7957245" cy="907256"/>
            <a:chOff x="0" y="0"/>
            <a:chExt cx="10609660" cy="120967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609660" cy="1209675"/>
            </a:xfrm>
            <a:custGeom>
              <a:avLst/>
              <a:gdLst/>
              <a:ahLst/>
              <a:cxnLst/>
              <a:rect l="l" t="t" r="r" b="b"/>
              <a:pathLst>
                <a:path w="10609660" h="1209675">
                  <a:moveTo>
                    <a:pt x="0" y="0"/>
                  </a:moveTo>
                  <a:lnTo>
                    <a:pt x="10609660" y="0"/>
                  </a:lnTo>
                  <a:lnTo>
                    <a:pt x="1060966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10609660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If stable, the rollout continues; else, it can be halted or rolled back.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 descr="preencoded.png"/>
          <p:cNvSpPr/>
          <p:nvPr/>
        </p:nvSpPr>
        <p:spPr>
          <a:xfrm>
            <a:off x="11665133" y="3265289"/>
            <a:ext cx="6666550" cy="3732649"/>
          </a:xfrm>
          <a:custGeom>
            <a:avLst/>
            <a:gdLst/>
            <a:ahLst/>
            <a:cxnLst/>
            <a:rect l="l" t="t" r="r" b="b"/>
            <a:pathLst>
              <a:path w="6666550" h="3732649">
                <a:moveTo>
                  <a:pt x="0" y="0"/>
                </a:moveTo>
                <a:lnTo>
                  <a:pt x="6666549" y="0"/>
                </a:lnTo>
                <a:lnTo>
                  <a:pt x="6666549" y="3732649"/>
                </a:lnTo>
                <a:lnTo>
                  <a:pt x="0" y="373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2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992238" y="1369367"/>
            <a:ext cx="7891608" cy="1056307"/>
            <a:chOff x="0" y="0"/>
            <a:chExt cx="10522144" cy="14084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22144" cy="1408409"/>
            </a:xfrm>
            <a:custGeom>
              <a:avLst/>
              <a:gdLst/>
              <a:ahLst/>
              <a:cxnLst/>
              <a:rect l="l" t="t" r="r" b="b"/>
              <a:pathLst>
                <a:path w="10522144" h="1408409">
                  <a:moveTo>
                    <a:pt x="0" y="0"/>
                  </a:moveTo>
                  <a:lnTo>
                    <a:pt x="10522144" y="0"/>
                  </a:lnTo>
                  <a:lnTo>
                    <a:pt x="10522144" y="1408409"/>
                  </a:lnTo>
                  <a:lnTo>
                    <a:pt x="0" y="14084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0522144" cy="142745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Rolling Deployment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2999482"/>
            <a:ext cx="637878" cy="637878"/>
            <a:chOff x="0" y="0"/>
            <a:chExt cx="850503" cy="8505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8575" y="3052614"/>
            <a:ext cx="425202" cy="531614"/>
            <a:chOff x="0" y="0"/>
            <a:chExt cx="566937" cy="7088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13632" y="2999482"/>
            <a:ext cx="4252912" cy="531614"/>
            <a:chOff x="0" y="0"/>
            <a:chExt cx="5670550" cy="7088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670550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Replace Instances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13632" y="3701206"/>
            <a:ext cx="8524131" cy="1133772"/>
            <a:chOff x="0" y="0"/>
            <a:chExt cx="11365508" cy="15116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65509" cy="1511697"/>
            </a:xfrm>
            <a:custGeom>
              <a:avLst/>
              <a:gdLst/>
              <a:ahLst/>
              <a:cxnLst/>
              <a:rect l="l" t="t" r="r" b="b"/>
              <a:pathLst>
                <a:path w="11365509" h="1511697">
                  <a:moveTo>
                    <a:pt x="0" y="0"/>
                  </a:moveTo>
                  <a:lnTo>
                    <a:pt x="11365509" y="0"/>
                  </a:lnTo>
                  <a:lnTo>
                    <a:pt x="1136550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14300"/>
              <a:ext cx="11365508" cy="16259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Replace old version instances one at a time with new ones.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2238" y="5437435"/>
            <a:ext cx="637878" cy="637877"/>
            <a:chOff x="0" y="0"/>
            <a:chExt cx="850503" cy="8505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98575" y="5490568"/>
            <a:ext cx="425202" cy="531614"/>
            <a:chOff x="0" y="0"/>
            <a:chExt cx="566937" cy="7088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13632" y="5437435"/>
            <a:ext cx="4252912" cy="531614"/>
            <a:chOff x="0" y="0"/>
            <a:chExt cx="5670550" cy="7088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670550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Traffic Management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913632" y="6139160"/>
            <a:ext cx="8524131" cy="566886"/>
            <a:chOff x="0" y="0"/>
            <a:chExt cx="11365508" cy="7558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365509" cy="755848"/>
            </a:xfrm>
            <a:custGeom>
              <a:avLst/>
              <a:gdLst/>
              <a:ahLst/>
              <a:cxnLst/>
              <a:rect l="l" t="t" r="r" b="b"/>
              <a:pathLst>
                <a:path w="11365509" h="755848">
                  <a:moveTo>
                    <a:pt x="0" y="0"/>
                  </a:moveTo>
                  <a:lnTo>
                    <a:pt x="11365509" y="0"/>
                  </a:lnTo>
                  <a:lnTo>
                    <a:pt x="11365509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14300"/>
              <a:ext cx="11365508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Balancer keeps sending traffic to healthy nodes.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2238" y="7308502"/>
            <a:ext cx="637878" cy="637878"/>
            <a:chOff x="0" y="0"/>
            <a:chExt cx="850503" cy="85050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98575" y="7361635"/>
            <a:ext cx="425202" cy="531614"/>
            <a:chOff x="0" y="0"/>
            <a:chExt cx="566937" cy="70881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913632" y="7308502"/>
            <a:ext cx="4252912" cy="531614"/>
            <a:chOff x="0" y="0"/>
            <a:chExt cx="5670550" cy="70881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5670550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Cost-effective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913632" y="8010227"/>
            <a:ext cx="8524131" cy="907256"/>
            <a:chOff x="0" y="0"/>
            <a:chExt cx="11365508" cy="120967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365509" cy="1209675"/>
            </a:xfrm>
            <a:custGeom>
              <a:avLst/>
              <a:gdLst/>
              <a:ahLst/>
              <a:cxnLst/>
              <a:rect l="l" t="t" r="r" b="b"/>
              <a:pathLst>
                <a:path w="11365509" h="1209675">
                  <a:moveTo>
                    <a:pt x="0" y="0"/>
                  </a:moveTo>
                  <a:lnTo>
                    <a:pt x="11365509" y="0"/>
                  </a:lnTo>
                  <a:lnTo>
                    <a:pt x="11365509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85725"/>
              <a:ext cx="11365508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Rollback is slower</a:t>
              </a: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as older versions are already terminated but saves infrastructure cost.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1254472"/>
            <a:ext cx="12125944" cy="1056307"/>
            <a:chOff x="0" y="0"/>
            <a:chExt cx="16167925" cy="14084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167925" cy="1408409"/>
            </a:xfrm>
            <a:custGeom>
              <a:avLst/>
              <a:gdLst/>
              <a:ahLst/>
              <a:cxnLst/>
              <a:rect l="l" t="t" r="r" b="b"/>
              <a:pathLst>
                <a:path w="16167925" h="1408409">
                  <a:moveTo>
                    <a:pt x="0" y="0"/>
                  </a:moveTo>
                  <a:lnTo>
                    <a:pt x="16167925" y="0"/>
                  </a:lnTo>
                  <a:lnTo>
                    <a:pt x="16167925" y="1408409"/>
                  </a:lnTo>
                  <a:lnTo>
                    <a:pt x="0" y="14084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167925" cy="142745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Comparison: Deployment types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2560885"/>
            <a:ext cx="16313051" cy="6476405"/>
            <a:chOff x="0" y="0"/>
            <a:chExt cx="21750735" cy="86352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655" cy="8635238"/>
            </a:xfrm>
            <a:custGeom>
              <a:avLst/>
              <a:gdLst/>
              <a:ahLst/>
              <a:cxnLst/>
              <a:rect l="l" t="t" r="r" b="b"/>
              <a:pathLst>
                <a:path w="21750655" h="8635238">
                  <a:moveTo>
                    <a:pt x="0" y="63119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655" y="28194"/>
                    <a:pt x="21750655" y="63119"/>
                  </a:cubicBezTo>
                  <a:lnTo>
                    <a:pt x="21744305" y="63119"/>
                  </a:lnTo>
                  <a:lnTo>
                    <a:pt x="21750655" y="63119"/>
                  </a:lnTo>
                  <a:lnTo>
                    <a:pt x="21750655" y="8572119"/>
                  </a:lnTo>
                  <a:lnTo>
                    <a:pt x="21744305" y="8572119"/>
                  </a:lnTo>
                  <a:lnTo>
                    <a:pt x="21750655" y="8572119"/>
                  </a:lnTo>
                  <a:cubicBezTo>
                    <a:pt x="21750655" y="8606917"/>
                    <a:pt x="21722335" y="8635238"/>
                    <a:pt x="21687537" y="8635238"/>
                  </a:cubicBezTo>
                  <a:lnTo>
                    <a:pt x="21687537" y="8628888"/>
                  </a:lnTo>
                  <a:lnTo>
                    <a:pt x="21687537" y="8635238"/>
                  </a:lnTo>
                  <a:lnTo>
                    <a:pt x="63119" y="8635238"/>
                  </a:lnTo>
                  <a:lnTo>
                    <a:pt x="63119" y="8628888"/>
                  </a:lnTo>
                  <a:lnTo>
                    <a:pt x="63119" y="8635238"/>
                  </a:lnTo>
                  <a:cubicBezTo>
                    <a:pt x="28194" y="8635238"/>
                    <a:pt x="0" y="8607044"/>
                    <a:pt x="0" y="8572119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8572119"/>
                  </a:lnTo>
                  <a:lnTo>
                    <a:pt x="6350" y="8572119"/>
                  </a:lnTo>
                  <a:lnTo>
                    <a:pt x="12700" y="8572119"/>
                  </a:lnTo>
                  <a:cubicBezTo>
                    <a:pt x="12700" y="8599932"/>
                    <a:pt x="35306" y="8622538"/>
                    <a:pt x="63119" y="8622538"/>
                  </a:cubicBezTo>
                  <a:lnTo>
                    <a:pt x="21687537" y="8622538"/>
                  </a:lnTo>
                  <a:cubicBezTo>
                    <a:pt x="21715350" y="8622538"/>
                    <a:pt x="21737955" y="8599932"/>
                    <a:pt x="21737955" y="8572119"/>
                  </a:cubicBezTo>
                  <a:lnTo>
                    <a:pt x="21737955" y="63119"/>
                  </a:lnTo>
                  <a:cubicBezTo>
                    <a:pt x="21737955" y="35306"/>
                    <a:pt x="21715350" y="12700"/>
                    <a:pt x="21687537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762" y="2575172"/>
            <a:ext cx="16284476" cy="890885"/>
            <a:chOff x="0" y="0"/>
            <a:chExt cx="21712635" cy="11878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2682" cy="1187831"/>
            </a:xfrm>
            <a:custGeom>
              <a:avLst/>
              <a:gdLst/>
              <a:ahLst/>
              <a:cxnLst/>
              <a:rect l="l" t="t" r="r" b="b"/>
              <a:pathLst>
                <a:path w="21712682" h="1187831">
                  <a:moveTo>
                    <a:pt x="0" y="0"/>
                  </a:moveTo>
                  <a:lnTo>
                    <a:pt x="21712682" y="0"/>
                  </a:lnTo>
                  <a:lnTo>
                    <a:pt x="21712682" y="1187831"/>
                  </a:lnTo>
                  <a:lnTo>
                    <a:pt x="0" y="11878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5578" y="2754809"/>
            <a:ext cx="3499246" cy="531614"/>
            <a:chOff x="0" y="0"/>
            <a:chExt cx="4665662" cy="7088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65662" cy="708818"/>
            </a:xfrm>
            <a:custGeom>
              <a:avLst/>
              <a:gdLst/>
              <a:ahLst/>
              <a:cxnLst/>
              <a:rect l="l" t="t" r="r" b="b"/>
              <a:pathLst>
                <a:path w="4665662" h="708818">
                  <a:moveTo>
                    <a:pt x="0" y="0"/>
                  </a:moveTo>
                  <a:lnTo>
                    <a:pt x="4665662" y="0"/>
                  </a:lnTo>
                  <a:lnTo>
                    <a:pt x="466566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665662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Feature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61385" y="2754809"/>
            <a:ext cx="3494485" cy="531614"/>
            <a:chOff x="0" y="0"/>
            <a:chExt cx="4659313" cy="7088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59313" cy="708818"/>
            </a:xfrm>
            <a:custGeom>
              <a:avLst/>
              <a:gdLst/>
              <a:ahLst/>
              <a:cxnLst/>
              <a:rect l="l" t="t" r="r" b="b"/>
              <a:pathLst>
                <a:path w="4659313" h="708818">
                  <a:moveTo>
                    <a:pt x="0" y="0"/>
                  </a:moveTo>
                  <a:lnTo>
                    <a:pt x="4659313" y="0"/>
                  </a:lnTo>
                  <a:lnTo>
                    <a:pt x="4659313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659313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Blue/Green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32429" y="2754809"/>
            <a:ext cx="3494485" cy="531614"/>
            <a:chOff x="0" y="0"/>
            <a:chExt cx="4659313" cy="708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59313" cy="708818"/>
            </a:xfrm>
            <a:custGeom>
              <a:avLst/>
              <a:gdLst/>
              <a:ahLst/>
              <a:cxnLst/>
              <a:rect l="l" t="t" r="r" b="b"/>
              <a:pathLst>
                <a:path w="4659313" h="708818">
                  <a:moveTo>
                    <a:pt x="0" y="0"/>
                  </a:moveTo>
                  <a:lnTo>
                    <a:pt x="4659313" y="0"/>
                  </a:lnTo>
                  <a:lnTo>
                    <a:pt x="4659313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659313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Canary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503474" y="2754809"/>
            <a:ext cx="3499246" cy="531614"/>
            <a:chOff x="0" y="0"/>
            <a:chExt cx="4665662" cy="7088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65662" cy="708818"/>
            </a:xfrm>
            <a:custGeom>
              <a:avLst/>
              <a:gdLst/>
              <a:ahLst/>
              <a:cxnLst/>
              <a:rect l="l" t="t" r="r" b="b"/>
              <a:pathLst>
                <a:path w="4665662" h="708818">
                  <a:moveTo>
                    <a:pt x="0" y="0"/>
                  </a:moveTo>
                  <a:lnTo>
                    <a:pt x="4665662" y="0"/>
                  </a:lnTo>
                  <a:lnTo>
                    <a:pt x="466566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665662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Rolling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1762" y="3466059"/>
            <a:ext cx="16284476" cy="926157"/>
            <a:chOff x="0" y="0"/>
            <a:chExt cx="21712635" cy="123487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85578" y="3645694"/>
            <a:ext cx="3499246" cy="566886"/>
            <a:chOff x="0" y="0"/>
            <a:chExt cx="4665662" cy="7558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Downtime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61385" y="3645694"/>
            <a:ext cx="3494485" cy="566886"/>
            <a:chOff x="0" y="0"/>
            <a:chExt cx="4659313" cy="7558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None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32429" y="3645694"/>
            <a:ext cx="3494485" cy="566886"/>
            <a:chOff x="0" y="0"/>
            <a:chExt cx="4659313" cy="75584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None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503474" y="3645694"/>
            <a:ext cx="3499246" cy="566886"/>
            <a:chOff x="0" y="0"/>
            <a:chExt cx="4665662" cy="7558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Minimal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01762" y="4392216"/>
            <a:ext cx="16284476" cy="926157"/>
            <a:chOff x="0" y="0"/>
            <a:chExt cx="21712635" cy="123487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85578" y="4571851"/>
            <a:ext cx="3499246" cy="566886"/>
            <a:chOff x="0" y="0"/>
            <a:chExt cx="4665662" cy="7558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Rollback Speed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61385" y="4571851"/>
            <a:ext cx="3494485" cy="566886"/>
            <a:chOff x="0" y="0"/>
            <a:chExt cx="4659313" cy="75584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Very Easy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32429" y="4571851"/>
            <a:ext cx="3494485" cy="566886"/>
            <a:chOff x="0" y="0"/>
            <a:chExt cx="4659313" cy="7558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Moderate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503474" y="4571851"/>
            <a:ext cx="3499246" cy="566886"/>
            <a:chOff x="0" y="0"/>
            <a:chExt cx="4665662" cy="75584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Moderate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01762" y="5318372"/>
            <a:ext cx="16284476" cy="926157"/>
            <a:chOff x="0" y="0"/>
            <a:chExt cx="21712635" cy="123487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85578" y="5498009"/>
            <a:ext cx="3499246" cy="566886"/>
            <a:chOff x="0" y="0"/>
            <a:chExt cx="4665662" cy="75584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Complexity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361385" y="5498009"/>
            <a:ext cx="3494485" cy="566886"/>
            <a:chOff x="0" y="0"/>
            <a:chExt cx="4659313" cy="75584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Moderate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432429" y="5498009"/>
            <a:ext cx="3494485" cy="566886"/>
            <a:chOff x="0" y="0"/>
            <a:chExt cx="4659313" cy="75584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High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503474" y="5498009"/>
            <a:ext cx="3499246" cy="566886"/>
            <a:chOff x="0" y="0"/>
            <a:chExt cx="4665662" cy="7558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Low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01762" y="6244530"/>
            <a:ext cx="16284476" cy="926157"/>
            <a:chOff x="0" y="0"/>
            <a:chExt cx="21712635" cy="123487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85578" y="6424166"/>
            <a:ext cx="3499246" cy="566886"/>
            <a:chOff x="0" y="0"/>
            <a:chExt cx="4665662" cy="75584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Cost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61385" y="6424166"/>
            <a:ext cx="3494485" cy="566886"/>
            <a:chOff x="0" y="0"/>
            <a:chExt cx="4659313" cy="75584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Higher infra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432429" y="6424166"/>
            <a:ext cx="3494485" cy="566886"/>
            <a:chOff x="0" y="0"/>
            <a:chExt cx="4659313" cy="75584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Moderate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3503474" y="6424166"/>
            <a:ext cx="3499246" cy="566886"/>
            <a:chOff x="0" y="0"/>
            <a:chExt cx="4665662" cy="75584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Low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01762" y="7170687"/>
            <a:ext cx="16284476" cy="926157"/>
            <a:chOff x="0" y="0"/>
            <a:chExt cx="21712635" cy="1234877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85578" y="7350324"/>
            <a:ext cx="3499246" cy="566886"/>
            <a:chOff x="0" y="0"/>
            <a:chExt cx="4665662" cy="75584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Risk mitigation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361385" y="7350324"/>
            <a:ext cx="3494485" cy="566886"/>
            <a:chOff x="0" y="0"/>
            <a:chExt cx="4659313" cy="75584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High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432429" y="7350324"/>
            <a:ext cx="3494485" cy="566886"/>
            <a:chOff x="0" y="0"/>
            <a:chExt cx="4659313" cy="75584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Very high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3503474" y="7350324"/>
            <a:ext cx="3499246" cy="566886"/>
            <a:chOff x="0" y="0"/>
            <a:chExt cx="4665662" cy="75584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Medium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001762" y="8096845"/>
            <a:ext cx="16284476" cy="926157"/>
            <a:chOff x="0" y="0"/>
            <a:chExt cx="21712635" cy="1234877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285578" y="8276481"/>
            <a:ext cx="3499246" cy="566886"/>
            <a:chOff x="0" y="0"/>
            <a:chExt cx="4665662" cy="75584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Infra Requirement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5361385" y="8276481"/>
            <a:ext cx="3494485" cy="566886"/>
            <a:chOff x="0" y="0"/>
            <a:chExt cx="4659313" cy="755848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 Environments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432429" y="8276481"/>
            <a:ext cx="3494485" cy="566886"/>
            <a:chOff x="0" y="0"/>
            <a:chExt cx="4659313" cy="755848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4659313" cy="755848"/>
            </a:xfrm>
            <a:custGeom>
              <a:avLst/>
              <a:gdLst/>
              <a:ahLst/>
              <a:cxnLst/>
              <a:rect l="l" t="t" r="r" b="b"/>
              <a:pathLst>
                <a:path w="4659313" h="755848">
                  <a:moveTo>
                    <a:pt x="0" y="0"/>
                  </a:moveTo>
                  <a:lnTo>
                    <a:pt x="4659313" y="0"/>
                  </a:lnTo>
                  <a:lnTo>
                    <a:pt x="465931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114300"/>
              <a:ext cx="4659313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Feature routing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3503474" y="8276481"/>
            <a:ext cx="3499246" cy="566886"/>
            <a:chOff x="0" y="0"/>
            <a:chExt cx="4665662" cy="755848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665662" cy="755848"/>
            </a:xfrm>
            <a:custGeom>
              <a:avLst/>
              <a:gdLst/>
              <a:ahLst/>
              <a:cxnLst/>
              <a:rect l="l" t="t" r="r" b="b"/>
              <a:pathLst>
                <a:path w="4665662" h="755848">
                  <a:moveTo>
                    <a:pt x="0" y="0"/>
                  </a:moveTo>
                  <a:lnTo>
                    <a:pt x="4665662" y="0"/>
                  </a:lnTo>
                  <a:lnTo>
                    <a:pt x="466566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114300"/>
              <a:ext cx="4665662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Same environments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0891" y="739229"/>
            <a:ext cx="12932506" cy="996696"/>
            <a:chOff x="0" y="0"/>
            <a:chExt cx="17243342" cy="13289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43341" cy="1328928"/>
            </a:xfrm>
            <a:custGeom>
              <a:avLst/>
              <a:gdLst/>
              <a:ahLst/>
              <a:cxnLst/>
              <a:rect l="l" t="t" r="r" b="b"/>
              <a:pathLst>
                <a:path w="17243341" h="1328928">
                  <a:moveTo>
                    <a:pt x="0" y="0"/>
                  </a:moveTo>
                  <a:lnTo>
                    <a:pt x="17243341" y="0"/>
                  </a:lnTo>
                  <a:lnTo>
                    <a:pt x="17243341" y="1328928"/>
                  </a:lnTo>
                  <a:lnTo>
                    <a:pt x="0" y="1328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7243342" cy="134797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562"/>
                </a:lnSpc>
              </a:pPr>
              <a:r>
                <a:rPr lang="en-US" sz="5250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Strategy Design for Deployment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0891" y="1982540"/>
            <a:ext cx="4032647" cy="504081"/>
            <a:chOff x="0" y="0"/>
            <a:chExt cx="5376863" cy="6721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76863" cy="672108"/>
            </a:xfrm>
            <a:custGeom>
              <a:avLst/>
              <a:gdLst/>
              <a:ahLst/>
              <a:cxnLst/>
              <a:rect l="l" t="t" r="r" b="b"/>
              <a:pathLst>
                <a:path w="5376863" h="672108">
                  <a:moveTo>
                    <a:pt x="0" y="0"/>
                  </a:moveTo>
                  <a:lnTo>
                    <a:pt x="5376863" y="0"/>
                  </a:lnTo>
                  <a:lnTo>
                    <a:pt x="5376863" y="672108"/>
                  </a:lnTo>
                  <a:lnTo>
                    <a:pt x="0" y="672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376863" cy="6911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25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Scenario: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0891" y="2889796"/>
            <a:ext cx="16406217" cy="537567"/>
            <a:chOff x="0" y="0"/>
            <a:chExt cx="21874957" cy="7167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74956" cy="716757"/>
            </a:xfrm>
            <a:custGeom>
              <a:avLst/>
              <a:gdLst/>
              <a:ahLst/>
              <a:cxnLst/>
              <a:rect l="l" t="t" r="r" b="b"/>
              <a:pathLst>
                <a:path w="21874956" h="716757">
                  <a:moveTo>
                    <a:pt x="0" y="0"/>
                  </a:moveTo>
                  <a:lnTo>
                    <a:pt x="21874956" y="0"/>
                  </a:lnTo>
                  <a:lnTo>
                    <a:pt x="21874956" y="716757"/>
                  </a:lnTo>
                  <a:lnTo>
                    <a:pt x="0" y="7167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1874957" cy="8120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11051" lvl="1" indent="-155525" algn="l">
                <a:lnSpc>
                  <a:spcPts val="3374"/>
                </a:lnSpc>
                <a:buFont typeface="Arial"/>
                <a:buChar char="•"/>
              </a:pP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You're working as a DevOps engineer for an </a:t>
              </a:r>
              <a:r>
                <a:rPr lang="en-US" sz="2062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e-commerce company</a:t>
              </a: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0891" y="3521422"/>
            <a:ext cx="16406217" cy="537567"/>
            <a:chOff x="0" y="0"/>
            <a:chExt cx="21874957" cy="7167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874956" cy="716757"/>
            </a:xfrm>
            <a:custGeom>
              <a:avLst/>
              <a:gdLst/>
              <a:ahLst/>
              <a:cxnLst/>
              <a:rect l="l" t="t" r="r" b="b"/>
              <a:pathLst>
                <a:path w="21874956" h="716757">
                  <a:moveTo>
                    <a:pt x="0" y="0"/>
                  </a:moveTo>
                  <a:lnTo>
                    <a:pt x="21874956" y="0"/>
                  </a:lnTo>
                  <a:lnTo>
                    <a:pt x="21874956" y="716757"/>
                  </a:lnTo>
                  <a:lnTo>
                    <a:pt x="0" y="7167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21874957" cy="8120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11051" lvl="1" indent="-155525" algn="l">
                <a:lnSpc>
                  <a:spcPts val="3374"/>
                </a:lnSpc>
                <a:buFont typeface="Arial"/>
                <a:buChar char="•"/>
              </a:pP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They’re launching a </a:t>
              </a:r>
              <a:r>
                <a:rPr lang="en-US" sz="2062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new homepage redesign</a:t>
              </a: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expected to increase conversion.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0891" y="4462165"/>
            <a:ext cx="4032647" cy="504081"/>
            <a:chOff x="0" y="0"/>
            <a:chExt cx="5376863" cy="6721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76863" cy="672108"/>
            </a:xfrm>
            <a:custGeom>
              <a:avLst/>
              <a:gdLst/>
              <a:ahLst/>
              <a:cxnLst/>
              <a:rect l="l" t="t" r="r" b="b"/>
              <a:pathLst>
                <a:path w="5376863" h="672108">
                  <a:moveTo>
                    <a:pt x="0" y="0"/>
                  </a:moveTo>
                  <a:lnTo>
                    <a:pt x="5376863" y="0"/>
                  </a:lnTo>
                  <a:lnTo>
                    <a:pt x="5376863" y="672108"/>
                  </a:lnTo>
                  <a:lnTo>
                    <a:pt x="0" y="672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5376863" cy="6911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25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Task: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0891" y="5369421"/>
            <a:ext cx="16406217" cy="537567"/>
            <a:chOff x="0" y="0"/>
            <a:chExt cx="21874957" cy="71675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874956" cy="716757"/>
            </a:xfrm>
            <a:custGeom>
              <a:avLst/>
              <a:gdLst/>
              <a:ahLst/>
              <a:cxnLst/>
              <a:rect l="l" t="t" r="r" b="b"/>
              <a:pathLst>
                <a:path w="21874956" h="716757">
                  <a:moveTo>
                    <a:pt x="0" y="0"/>
                  </a:moveTo>
                  <a:lnTo>
                    <a:pt x="21874956" y="0"/>
                  </a:lnTo>
                  <a:lnTo>
                    <a:pt x="21874956" y="716757"/>
                  </a:lnTo>
                  <a:lnTo>
                    <a:pt x="0" y="7167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1874957" cy="8120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11051" lvl="1" indent="-155525" algn="l">
                <a:lnSpc>
                  <a:spcPts val="3374"/>
                </a:lnSpc>
                <a:buFont typeface="Arial"/>
                <a:buChar char="•"/>
              </a:pP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Design a </a:t>
              </a:r>
              <a:r>
                <a:rPr lang="en-US" sz="2062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deployment strategy</a:t>
              </a: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using one of the three methods (Blue/Green, Canary, Rolling).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0891" y="6001047"/>
            <a:ext cx="16406217" cy="537567"/>
            <a:chOff x="0" y="0"/>
            <a:chExt cx="21874957" cy="71675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874956" cy="716757"/>
            </a:xfrm>
            <a:custGeom>
              <a:avLst/>
              <a:gdLst/>
              <a:ahLst/>
              <a:cxnLst/>
              <a:rect l="l" t="t" r="r" b="b"/>
              <a:pathLst>
                <a:path w="21874956" h="716757">
                  <a:moveTo>
                    <a:pt x="0" y="0"/>
                  </a:moveTo>
                  <a:lnTo>
                    <a:pt x="21874956" y="0"/>
                  </a:lnTo>
                  <a:lnTo>
                    <a:pt x="21874956" y="716757"/>
                  </a:lnTo>
                  <a:lnTo>
                    <a:pt x="0" y="7167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21874957" cy="8120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11051" lvl="1" indent="-155525" algn="l">
                <a:lnSpc>
                  <a:spcPts val="3374"/>
                </a:lnSpc>
                <a:buFont typeface="Arial"/>
                <a:buChar char="•"/>
              </a:pP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Make sure to include: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0891" y="6841034"/>
            <a:ext cx="3900041" cy="1545729"/>
            <a:chOff x="0" y="0"/>
            <a:chExt cx="5200055" cy="20609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00015" cy="2060956"/>
            </a:xfrm>
            <a:custGeom>
              <a:avLst/>
              <a:gdLst/>
              <a:ahLst/>
              <a:cxnLst/>
              <a:rect l="l" t="t" r="r" b="b"/>
              <a:pathLst>
                <a:path w="5200015" h="2060956">
                  <a:moveTo>
                    <a:pt x="0" y="53721"/>
                  </a:moveTo>
                  <a:cubicBezTo>
                    <a:pt x="0" y="24130"/>
                    <a:pt x="24130" y="0"/>
                    <a:pt x="53721" y="0"/>
                  </a:cubicBezTo>
                  <a:lnTo>
                    <a:pt x="5146294" y="0"/>
                  </a:lnTo>
                  <a:cubicBezTo>
                    <a:pt x="5176012" y="0"/>
                    <a:pt x="5200015" y="24130"/>
                    <a:pt x="5200015" y="53721"/>
                  </a:cubicBezTo>
                  <a:lnTo>
                    <a:pt x="5200015" y="2007235"/>
                  </a:lnTo>
                  <a:cubicBezTo>
                    <a:pt x="5200015" y="2036953"/>
                    <a:pt x="5175885" y="2060956"/>
                    <a:pt x="5146294" y="2060956"/>
                  </a:cubicBezTo>
                  <a:lnTo>
                    <a:pt x="53721" y="2060956"/>
                  </a:lnTo>
                  <a:cubicBezTo>
                    <a:pt x="24003" y="2060956"/>
                    <a:pt x="0" y="2036826"/>
                    <a:pt x="0" y="2007235"/>
                  </a:cubicBezTo>
                  <a:close/>
                </a:path>
              </a:pathLst>
            </a:custGeom>
            <a:solidFill>
              <a:srgbClr val="4646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09675" y="7109818"/>
            <a:ext cx="3362474" cy="504081"/>
            <a:chOff x="0" y="0"/>
            <a:chExt cx="4483298" cy="6721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83298" cy="672108"/>
            </a:xfrm>
            <a:custGeom>
              <a:avLst/>
              <a:gdLst/>
              <a:ahLst/>
              <a:cxnLst/>
              <a:rect l="l" t="t" r="r" b="b"/>
              <a:pathLst>
                <a:path w="4483298" h="672108">
                  <a:moveTo>
                    <a:pt x="0" y="0"/>
                  </a:moveTo>
                  <a:lnTo>
                    <a:pt x="4483298" y="0"/>
                  </a:lnTo>
                  <a:lnTo>
                    <a:pt x="4483298" y="672108"/>
                  </a:lnTo>
                  <a:lnTo>
                    <a:pt x="0" y="672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4483298" cy="6911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937"/>
                </a:lnSpc>
              </a:pPr>
              <a:r>
                <a:rPr lang="en-US" sz="31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Approach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09716" y="6841034"/>
            <a:ext cx="3900041" cy="1545729"/>
            <a:chOff x="0" y="0"/>
            <a:chExt cx="5200055" cy="20609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00015" cy="2060956"/>
            </a:xfrm>
            <a:custGeom>
              <a:avLst/>
              <a:gdLst/>
              <a:ahLst/>
              <a:cxnLst/>
              <a:rect l="l" t="t" r="r" b="b"/>
              <a:pathLst>
                <a:path w="5200015" h="2060956">
                  <a:moveTo>
                    <a:pt x="0" y="53721"/>
                  </a:moveTo>
                  <a:cubicBezTo>
                    <a:pt x="0" y="24130"/>
                    <a:pt x="24130" y="0"/>
                    <a:pt x="53721" y="0"/>
                  </a:cubicBezTo>
                  <a:lnTo>
                    <a:pt x="5146294" y="0"/>
                  </a:lnTo>
                  <a:cubicBezTo>
                    <a:pt x="5176012" y="0"/>
                    <a:pt x="5200015" y="24130"/>
                    <a:pt x="5200015" y="53721"/>
                  </a:cubicBezTo>
                  <a:lnTo>
                    <a:pt x="5200015" y="2007235"/>
                  </a:lnTo>
                  <a:cubicBezTo>
                    <a:pt x="5200015" y="2036953"/>
                    <a:pt x="5175885" y="2060956"/>
                    <a:pt x="5146294" y="2060956"/>
                  </a:cubicBezTo>
                  <a:lnTo>
                    <a:pt x="53721" y="2060956"/>
                  </a:lnTo>
                  <a:cubicBezTo>
                    <a:pt x="24003" y="2060956"/>
                    <a:pt x="0" y="2036826"/>
                    <a:pt x="0" y="2007235"/>
                  </a:cubicBezTo>
                  <a:close/>
                </a:path>
              </a:pathLst>
            </a:custGeom>
            <a:solidFill>
              <a:srgbClr val="4646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78500" y="7109818"/>
            <a:ext cx="3362474" cy="1008161"/>
            <a:chOff x="0" y="0"/>
            <a:chExt cx="4483298" cy="134421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483298" cy="1344215"/>
            </a:xfrm>
            <a:custGeom>
              <a:avLst/>
              <a:gdLst/>
              <a:ahLst/>
              <a:cxnLst/>
              <a:rect l="l" t="t" r="r" b="b"/>
              <a:pathLst>
                <a:path w="4483298" h="1344215">
                  <a:moveTo>
                    <a:pt x="0" y="0"/>
                  </a:moveTo>
                  <a:lnTo>
                    <a:pt x="4483298" y="0"/>
                  </a:lnTo>
                  <a:lnTo>
                    <a:pt x="4483298" y="1344215"/>
                  </a:lnTo>
                  <a:lnTo>
                    <a:pt x="0" y="1344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4483298" cy="13632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937"/>
                </a:lnSpc>
              </a:pPr>
              <a:r>
                <a:rPr lang="en-US" sz="31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Infrastructure needs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78541" y="6841034"/>
            <a:ext cx="3900041" cy="1545729"/>
            <a:chOff x="0" y="0"/>
            <a:chExt cx="5200055" cy="20609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200015" cy="2060956"/>
            </a:xfrm>
            <a:custGeom>
              <a:avLst/>
              <a:gdLst/>
              <a:ahLst/>
              <a:cxnLst/>
              <a:rect l="l" t="t" r="r" b="b"/>
              <a:pathLst>
                <a:path w="5200015" h="2060956">
                  <a:moveTo>
                    <a:pt x="0" y="53721"/>
                  </a:moveTo>
                  <a:cubicBezTo>
                    <a:pt x="0" y="24130"/>
                    <a:pt x="24130" y="0"/>
                    <a:pt x="53721" y="0"/>
                  </a:cubicBezTo>
                  <a:lnTo>
                    <a:pt x="5146294" y="0"/>
                  </a:lnTo>
                  <a:cubicBezTo>
                    <a:pt x="5176012" y="0"/>
                    <a:pt x="5200015" y="24130"/>
                    <a:pt x="5200015" y="53721"/>
                  </a:cubicBezTo>
                  <a:lnTo>
                    <a:pt x="5200015" y="2007235"/>
                  </a:lnTo>
                  <a:cubicBezTo>
                    <a:pt x="5200015" y="2036953"/>
                    <a:pt x="5175885" y="2060956"/>
                    <a:pt x="5146294" y="2060956"/>
                  </a:cubicBezTo>
                  <a:lnTo>
                    <a:pt x="53721" y="2060956"/>
                  </a:lnTo>
                  <a:cubicBezTo>
                    <a:pt x="24003" y="2060956"/>
                    <a:pt x="0" y="2036826"/>
                    <a:pt x="0" y="2007235"/>
                  </a:cubicBezTo>
                  <a:close/>
                </a:path>
              </a:pathLst>
            </a:custGeom>
            <a:solidFill>
              <a:srgbClr val="4646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47324" y="7109818"/>
            <a:ext cx="3362474" cy="504081"/>
            <a:chOff x="0" y="0"/>
            <a:chExt cx="4483298" cy="67210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483298" cy="672108"/>
            </a:xfrm>
            <a:custGeom>
              <a:avLst/>
              <a:gdLst/>
              <a:ahLst/>
              <a:cxnLst/>
              <a:rect l="l" t="t" r="r" b="b"/>
              <a:pathLst>
                <a:path w="4483298" h="672108">
                  <a:moveTo>
                    <a:pt x="0" y="0"/>
                  </a:moveTo>
                  <a:lnTo>
                    <a:pt x="4483298" y="0"/>
                  </a:lnTo>
                  <a:lnTo>
                    <a:pt x="4483298" y="672108"/>
                  </a:lnTo>
                  <a:lnTo>
                    <a:pt x="0" y="672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4483298" cy="6911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937"/>
                </a:lnSpc>
              </a:pPr>
              <a:r>
                <a:rPr lang="en-US" sz="31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Monitoring steps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447365" y="6841034"/>
            <a:ext cx="3900041" cy="1545729"/>
            <a:chOff x="0" y="0"/>
            <a:chExt cx="5200055" cy="206097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200015" cy="2060956"/>
            </a:xfrm>
            <a:custGeom>
              <a:avLst/>
              <a:gdLst/>
              <a:ahLst/>
              <a:cxnLst/>
              <a:rect l="l" t="t" r="r" b="b"/>
              <a:pathLst>
                <a:path w="5200015" h="2060956">
                  <a:moveTo>
                    <a:pt x="0" y="53721"/>
                  </a:moveTo>
                  <a:cubicBezTo>
                    <a:pt x="0" y="24130"/>
                    <a:pt x="24130" y="0"/>
                    <a:pt x="53721" y="0"/>
                  </a:cubicBezTo>
                  <a:lnTo>
                    <a:pt x="5146294" y="0"/>
                  </a:lnTo>
                  <a:cubicBezTo>
                    <a:pt x="5176012" y="0"/>
                    <a:pt x="5200015" y="24130"/>
                    <a:pt x="5200015" y="53721"/>
                  </a:cubicBezTo>
                  <a:lnTo>
                    <a:pt x="5200015" y="2007235"/>
                  </a:lnTo>
                  <a:cubicBezTo>
                    <a:pt x="5200015" y="2036953"/>
                    <a:pt x="5175885" y="2060956"/>
                    <a:pt x="5146294" y="2060956"/>
                  </a:cubicBezTo>
                  <a:lnTo>
                    <a:pt x="53721" y="2060956"/>
                  </a:lnTo>
                  <a:cubicBezTo>
                    <a:pt x="24003" y="2060956"/>
                    <a:pt x="0" y="2036826"/>
                    <a:pt x="0" y="2007235"/>
                  </a:cubicBezTo>
                  <a:close/>
                </a:path>
              </a:pathLst>
            </a:custGeom>
            <a:solidFill>
              <a:srgbClr val="4646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716149" y="7109818"/>
            <a:ext cx="3362474" cy="504081"/>
            <a:chOff x="0" y="0"/>
            <a:chExt cx="4483298" cy="67210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483298" cy="672108"/>
            </a:xfrm>
            <a:custGeom>
              <a:avLst/>
              <a:gdLst/>
              <a:ahLst/>
              <a:cxnLst/>
              <a:rect l="l" t="t" r="r" b="b"/>
              <a:pathLst>
                <a:path w="4483298" h="672108">
                  <a:moveTo>
                    <a:pt x="0" y="0"/>
                  </a:moveTo>
                  <a:lnTo>
                    <a:pt x="4483298" y="0"/>
                  </a:lnTo>
                  <a:lnTo>
                    <a:pt x="4483298" y="672108"/>
                  </a:lnTo>
                  <a:lnTo>
                    <a:pt x="0" y="672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4483298" cy="6911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937"/>
                </a:lnSpc>
              </a:pPr>
              <a:r>
                <a:rPr lang="en-US" sz="3125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Rollback plan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66911" y="608559"/>
            <a:ext cx="5478364" cy="684759"/>
            <a:chOff x="0" y="0"/>
            <a:chExt cx="7304485" cy="9130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4485" cy="913012"/>
            </a:xfrm>
            <a:custGeom>
              <a:avLst/>
              <a:gdLst/>
              <a:ahLst/>
              <a:cxnLst/>
              <a:rect l="l" t="t" r="r" b="b"/>
              <a:pathLst>
                <a:path w="7304485" h="913012">
                  <a:moveTo>
                    <a:pt x="0" y="0"/>
                  </a:moveTo>
                  <a:lnTo>
                    <a:pt x="7304485" y="0"/>
                  </a:lnTo>
                  <a:lnTo>
                    <a:pt x="7304485" y="913012"/>
                  </a:lnTo>
                  <a:lnTo>
                    <a:pt x="0" y="913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304485" cy="9320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374"/>
                </a:lnSpc>
              </a:pPr>
              <a:r>
                <a:rPr lang="en-US" sz="431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 Sample Solution!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3371" y="1731466"/>
            <a:ext cx="28575" cy="7946826"/>
            <a:chOff x="0" y="0"/>
            <a:chExt cx="38100" cy="105957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" cy="10595737"/>
            </a:xfrm>
            <a:custGeom>
              <a:avLst/>
              <a:gdLst/>
              <a:ahLst/>
              <a:cxnLst/>
              <a:rect l="l" t="t" r="r" b="b"/>
              <a:pathLst>
                <a:path w="38100" h="1059573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576687"/>
                  </a:lnTo>
                  <a:cubicBezTo>
                    <a:pt x="38100" y="10587228"/>
                    <a:pt x="29591" y="10595737"/>
                    <a:pt x="19050" y="10595737"/>
                  </a:cubicBezTo>
                  <a:cubicBezTo>
                    <a:pt x="8509" y="10595737"/>
                    <a:pt x="0" y="10587228"/>
                    <a:pt x="0" y="10576687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1255" y="2210098"/>
            <a:ext cx="657374" cy="28575"/>
            <a:chOff x="0" y="0"/>
            <a:chExt cx="876498" cy="38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6554" cy="38100"/>
            </a:xfrm>
            <a:custGeom>
              <a:avLst/>
              <a:gdLst/>
              <a:ahLst/>
              <a:cxnLst/>
              <a:rect l="l" t="t" r="r" b="b"/>
              <a:pathLst>
                <a:path w="87655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57504" y="0"/>
                  </a:lnTo>
                  <a:cubicBezTo>
                    <a:pt x="868045" y="0"/>
                    <a:pt x="876554" y="8509"/>
                    <a:pt x="876554" y="19050"/>
                  </a:cubicBezTo>
                  <a:cubicBezTo>
                    <a:pt x="876554" y="29591"/>
                    <a:pt x="867918" y="38100"/>
                    <a:pt x="85750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6911" y="1977926"/>
            <a:ext cx="492919" cy="492919"/>
            <a:chOff x="0" y="0"/>
            <a:chExt cx="657225" cy="6572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13410" y="0"/>
                  </a:lnTo>
                  <a:cubicBezTo>
                    <a:pt x="637667" y="0"/>
                    <a:pt x="657225" y="19558"/>
                    <a:pt x="657225" y="43815"/>
                  </a:cubicBezTo>
                  <a:lnTo>
                    <a:pt x="657225" y="613410"/>
                  </a:lnTo>
                  <a:cubicBezTo>
                    <a:pt x="657225" y="637667"/>
                    <a:pt x="637667" y="657225"/>
                    <a:pt x="613410" y="657225"/>
                  </a:cubicBezTo>
                  <a:lnTo>
                    <a:pt x="43815" y="657225"/>
                  </a:lnTo>
                  <a:cubicBezTo>
                    <a:pt x="19558" y="657225"/>
                    <a:pt x="0" y="637667"/>
                    <a:pt x="0" y="61341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49065" y="2019002"/>
            <a:ext cx="328612" cy="410766"/>
            <a:chOff x="0" y="0"/>
            <a:chExt cx="438150" cy="5476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8150" cy="547688"/>
            </a:xfrm>
            <a:custGeom>
              <a:avLst/>
              <a:gdLst/>
              <a:ahLst/>
              <a:cxnLst/>
              <a:rect l="l" t="t" r="r" b="b"/>
              <a:pathLst>
                <a:path w="438150" h="547688">
                  <a:moveTo>
                    <a:pt x="0" y="0"/>
                  </a:moveTo>
                  <a:lnTo>
                    <a:pt x="438150" y="0"/>
                  </a:lnTo>
                  <a:lnTo>
                    <a:pt x="438150" y="547688"/>
                  </a:lnTo>
                  <a:lnTo>
                    <a:pt x="0" y="547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7625"/>
              <a:ext cx="438150" cy="5000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09044" y="1950541"/>
            <a:ext cx="3287017" cy="506372"/>
            <a:chOff x="0" y="0"/>
            <a:chExt cx="4382690" cy="67516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82690" cy="675163"/>
            </a:xfrm>
            <a:custGeom>
              <a:avLst/>
              <a:gdLst/>
              <a:ahLst/>
              <a:cxnLst/>
              <a:rect l="l" t="t" r="r" b="b"/>
              <a:pathLst>
                <a:path w="4382690" h="675163">
                  <a:moveTo>
                    <a:pt x="0" y="0"/>
                  </a:moveTo>
                  <a:lnTo>
                    <a:pt x="4382690" y="0"/>
                  </a:lnTo>
                  <a:lnTo>
                    <a:pt x="4382690" y="675163"/>
                  </a:lnTo>
                  <a:lnTo>
                    <a:pt x="0" y="675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4382690" cy="6846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1"/>
                </a:lnSpc>
              </a:pPr>
              <a:r>
                <a:rPr lang="en-US" sz="266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Approach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09044" y="2492871"/>
            <a:ext cx="15412045" cy="380505"/>
            <a:chOff x="0" y="0"/>
            <a:chExt cx="20549393" cy="5073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549394" cy="507339"/>
            </a:xfrm>
            <a:custGeom>
              <a:avLst/>
              <a:gdLst/>
              <a:ahLst/>
              <a:cxnLst/>
              <a:rect l="l" t="t" r="r" b="b"/>
              <a:pathLst>
                <a:path w="20549394" h="507339">
                  <a:moveTo>
                    <a:pt x="0" y="0"/>
                  </a:moveTo>
                  <a:lnTo>
                    <a:pt x="20549394" y="0"/>
                  </a:lnTo>
                  <a:lnTo>
                    <a:pt x="20549394" y="507339"/>
                  </a:lnTo>
                  <a:lnTo>
                    <a:pt x="0" y="50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20549393" cy="583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2"/>
                </a:lnSpc>
              </a:pP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Blue/Green Deployment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1255" y="3760142"/>
            <a:ext cx="657374" cy="28575"/>
            <a:chOff x="0" y="0"/>
            <a:chExt cx="876498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6554" cy="38100"/>
            </a:xfrm>
            <a:custGeom>
              <a:avLst/>
              <a:gdLst/>
              <a:ahLst/>
              <a:cxnLst/>
              <a:rect l="l" t="t" r="r" b="b"/>
              <a:pathLst>
                <a:path w="87655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57504" y="0"/>
                  </a:lnTo>
                  <a:cubicBezTo>
                    <a:pt x="868045" y="0"/>
                    <a:pt x="876554" y="8509"/>
                    <a:pt x="876554" y="19050"/>
                  </a:cubicBezTo>
                  <a:cubicBezTo>
                    <a:pt x="876554" y="29591"/>
                    <a:pt x="867918" y="38100"/>
                    <a:pt x="85750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6911" y="3527971"/>
            <a:ext cx="492919" cy="492919"/>
            <a:chOff x="0" y="0"/>
            <a:chExt cx="657225" cy="65722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13410" y="0"/>
                  </a:lnTo>
                  <a:cubicBezTo>
                    <a:pt x="637667" y="0"/>
                    <a:pt x="657225" y="19558"/>
                    <a:pt x="657225" y="43815"/>
                  </a:cubicBezTo>
                  <a:lnTo>
                    <a:pt x="657225" y="613410"/>
                  </a:lnTo>
                  <a:cubicBezTo>
                    <a:pt x="657225" y="637667"/>
                    <a:pt x="637667" y="657225"/>
                    <a:pt x="613410" y="657225"/>
                  </a:cubicBezTo>
                  <a:lnTo>
                    <a:pt x="43815" y="657225"/>
                  </a:lnTo>
                  <a:cubicBezTo>
                    <a:pt x="19558" y="657225"/>
                    <a:pt x="0" y="637667"/>
                    <a:pt x="0" y="61341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49065" y="3569048"/>
            <a:ext cx="328612" cy="410766"/>
            <a:chOff x="0" y="0"/>
            <a:chExt cx="438150" cy="5476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38150" cy="547688"/>
            </a:xfrm>
            <a:custGeom>
              <a:avLst/>
              <a:gdLst/>
              <a:ahLst/>
              <a:cxnLst/>
              <a:rect l="l" t="t" r="r" b="b"/>
              <a:pathLst>
                <a:path w="438150" h="547688">
                  <a:moveTo>
                    <a:pt x="0" y="0"/>
                  </a:moveTo>
                  <a:lnTo>
                    <a:pt x="438150" y="0"/>
                  </a:lnTo>
                  <a:lnTo>
                    <a:pt x="438150" y="547688"/>
                  </a:lnTo>
                  <a:lnTo>
                    <a:pt x="0" y="547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47625"/>
              <a:ext cx="438150" cy="5000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109044" y="3500586"/>
            <a:ext cx="4136231" cy="506372"/>
            <a:chOff x="0" y="0"/>
            <a:chExt cx="5514975" cy="67516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514975" cy="675163"/>
            </a:xfrm>
            <a:custGeom>
              <a:avLst/>
              <a:gdLst/>
              <a:ahLst/>
              <a:cxnLst/>
              <a:rect l="l" t="t" r="r" b="b"/>
              <a:pathLst>
                <a:path w="5514975" h="675163">
                  <a:moveTo>
                    <a:pt x="0" y="0"/>
                  </a:moveTo>
                  <a:lnTo>
                    <a:pt x="5514975" y="0"/>
                  </a:lnTo>
                  <a:lnTo>
                    <a:pt x="5514975" y="675163"/>
                  </a:lnTo>
                  <a:lnTo>
                    <a:pt x="0" y="675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5514975" cy="6846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1"/>
                </a:lnSpc>
              </a:pPr>
              <a:r>
                <a:rPr lang="en-US" sz="266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Infrastructure Setup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109044" y="4042916"/>
            <a:ext cx="15412045" cy="380505"/>
            <a:chOff x="0" y="0"/>
            <a:chExt cx="20549393" cy="50733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549394" cy="507339"/>
            </a:xfrm>
            <a:custGeom>
              <a:avLst/>
              <a:gdLst/>
              <a:ahLst/>
              <a:cxnLst/>
              <a:rect l="l" t="t" r="r" b="b"/>
              <a:pathLst>
                <a:path w="20549394" h="507339">
                  <a:moveTo>
                    <a:pt x="0" y="0"/>
                  </a:moveTo>
                  <a:lnTo>
                    <a:pt x="20549394" y="0"/>
                  </a:lnTo>
                  <a:lnTo>
                    <a:pt x="20549394" y="507339"/>
                  </a:lnTo>
                  <a:lnTo>
                    <a:pt x="0" y="50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20549393" cy="583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2"/>
                </a:lnSpc>
              </a:pP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Blue Env: </a:t>
              </a:r>
              <a:r>
                <a:rPr lang="en-US" sz="1787">
                  <a:solidFill>
                    <a:srgbClr val="464646"/>
                  </a:solidFill>
                  <a:latin typeface="Inter"/>
                  <a:ea typeface="Inter"/>
                  <a:cs typeface="Inter"/>
                  <a:sym typeface="Inter"/>
                </a:rPr>
                <a:t>https://www.shop.com</a:t>
              </a: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(current live)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109044" y="4543871"/>
            <a:ext cx="15412045" cy="380505"/>
            <a:chOff x="0" y="0"/>
            <a:chExt cx="20549393" cy="5073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549394" cy="507339"/>
            </a:xfrm>
            <a:custGeom>
              <a:avLst/>
              <a:gdLst/>
              <a:ahLst/>
              <a:cxnLst/>
              <a:rect l="l" t="t" r="r" b="b"/>
              <a:pathLst>
                <a:path w="20549394" h="507339">
                  <a:moveTo>
                    <a:pt x="0" y="0"/>
                  </a:moveTo>
                  <a:lnTo>
                    <a:pt x="20549394" y="0"/>
                  </a:lnTo>
                  <a:lnTo>
                    <a:pt x="20549394" y="507339"/>
                  </a:lnTo>
                  <a:lnTo>
                    <a:pt x="0" y="50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20549393" cy="583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2"/>
                </a:lnSpc>
              </a:pP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Green Env: </a:t>
              </a:r>
              <a:r>
                <a:rPr lang="en-US" sz="1787">
                  <a:solidFill>
                    <a:srgbClr val="464646"/>
                  </a:solidFill>
                  <a:latin typeface="Inter"/>
                  <a:ea typeface="Inter"/>
                  <a:cs typeface="Inter"/>
                  <a:sym typeface="Inter"/>
                </a:rPr>
                <a:t>https://green.shop.com</a:t>
              </a: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(new deployment)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109044" y="5044828"/>
            <a:ext cx="15412045" cy="380505"/>
            <a:chOff x="0" y="0"/>
            <a:chExt cx="20549393" cy="5073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549394" cy="507339"/>
            </a:xfrm>
            <a:custGeom>
              <a:avLst/>
              <a:gdLst/>
              <a:ahLst/>
              <a:cxnLst/>
              <a:rect l="l" t="t" r="r" b="b"/>
              <a:pathLst>
                <a:path w="20549394" h="507339">
                  <a:moveTo>
                    <a:pt x="0" y="0"/>
                  </a:moveTo>
                  <a:lnTo>
                    <a:pt x="20549394" y="0"/>
                  </a:lnTo>
                  <a:lnTo>
                    <a:pt x="20549394" y="507339"/>
                  </a:lnTo>
                  <a:lnTo>
                    <a:pt x="0" y="50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20549393" cy="583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2"/>
                </a:lnSpc>
              </a:pP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Load Balancer/DNS controls traffic switching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31255" y="6312099"/>
            <a:ext cx="657374" cy="28575"/>
            <a:chOff x="0" y="0"/>
            <a:chExt cx="876498" cy="381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76554" cy="38100"/>
            </a:xfrm>
            <a:custGeom>
              <a:avLst/>
              <a:gdLst/>
              <a:ahLst/>
              <a:cxnLst/>
              <a:rect l="l" t="t" r="r" b="b"/>
              <a:pathLst>
                <a:path w="87655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57504" y="0"/>
                  </a:lnTo>
                  <a:cubicBezTo>
                    <a:pt x="868045" y="0"/>
                    <a:pt x="876554" y="8509"/>
                    <a:pt x="876554" y="19050"/>
                  </a:cubicBezTo>
                  <a:cubicBezTo>
                    <a:pt x="876554" y="29591"/>
                    <a:pt x="867918" y="38100"/>
                    <a:pt x="85750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6911" y="6079926"/>
            <a:ext cx="492919" cy="492919"/>
            <a:chOff x="0" y="0"/>
            <a:chExt cx="657225" cy="65722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13410" y="0"/>
                  </a:lnTo>
                  <a:cubicBezTo>
                    <a:pt x="637667" y="0"/>
                    <a:pt x="657225" y="19558"/>
                    <a:pt x="657225" y="43815"/>
                  </a:cubicBezTo>
                  <a:lnTo>
                    <a:pt x="657225" y="613410"/>
                  </a:lnTo>
                  <a:cubicBezTo>
                    <a:pt x="657225" y="637667"/>
                    <a:pt x="637667" y="657225"/>
                    <a:pt x="613410" y="657225"/>
                  </a:cubicBezTo>
                  <a:lnTo>
                    <a:pt x="43815" y="657225"/>
                  </a:lnTo>
                  <a:cubicBezTo>
                    <a:pt x="19558" y="657225"/>
                    <a:pt x="0" y="637667"/>
                    <a:pt x="0" y="61341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49065" y="6121004"/>
            <a:ext cx="328612" cy="410766"/>
            <a:chOff x="0" y="0"/>
            <a:chExt cx="438150" cy="54768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8150" cy="547688"/>
            </a:xfrm>
            <a:custGeom>
              <a:avLst/>
              <a:gdLst/>
              <a:ahLst/>
              <a:cxnLst/>
              <a:rect l="l" t="t" r="r" b="b"/>
              <a:pathLst>
                <a:path w="438150" h="547688">
                  <a:moveTo>
                    <a:pt x="0" y="0"/>
                  </a:moveTo>
                  <a:lnTo>
                    <a:pt x="438150" y="0"/>
                  </a:lnTo>
                  <a:lnTo>
                    <a:pt x="438150" y="547688"/>
                  </a:lnTo>
                  <a:lnTo>
                    <a:pt x="0" y="547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47625"/>
              <a:ext cx="438150" cy="5000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109044" y="6052542"/>
            <a:ext cx="3287017" cy="506372"/>
            <a:chOff x="0" y="0"/>
            <a:chExt cx="4382690" cy="67516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382690" cy="675163"/>
            </a:xfrm>
            <a:custGeom>
              <a:avLst/>
              <a:gdLst/>
              <a:ahLst/>
              <a:cxnLst/>
              <a:rect l="l" t="t" r="r" b="b"/>
              <a:pathLst>
                <a:path w="4382690" h="675163">
                  <a:moveTo>
                    <a:pt x="0" y="0"/>
                  </a:moveTo>
                  <a:lnTo>
                    <a:pt x="4382690" y="0"/>
                  </a:lnTo>
                  <a:lnTo>
                    <a:pt x="4382690" y="675163"/>
                  </a:lnTo>
                  <a:lnTo>
                    <a:pt x="0" y="675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4382690" cy="6846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1"/>
                </a:lnSpc>
              </a:pPr>
              <a:r>
                <a:rPr lang="en-US" sz="266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Monitoring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109044" y="6594871"/>
            <a:ext cx="15412045" cy="380505"/>
            <a:chOff x="0" y="0"/>
            <a:chExt cx="20549393" cy="50733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0549394" cy="507339"/>
            </a:xfrm>
            <a:custGeom>
              <a:avLst/>
              <a:gdLst/>
              <a:ahLst/>
              <a:cxnLst/>
              <a:rect l="l" t="t" r="r" b="b"/>
              <a:pathLst>
                <a:path w="20549394" h="507339">
                  <a:moveTo>
                    <a:pt x="0" y="0"/>
                  </a:moveTo>
                  <a:lnTo>
                    <a:pt x="20549394" y="0"/>
                  </a:lnTo>
                  <a:lnTo>
                    <a:pt x="20549394" y="507339"/>
                  </a:lnTo>
                  <a:lnTo>
                    <a:pt x="0" y="50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76200"/>
              <a:ext cx="20549393" cy="583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2"/>
                </a:lnSpc>
              </a:pP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Cloud provider (AWS CloudWatch) for errors logs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109044" y="7076778"/>
            <a:ext cx="15412045" cy="380505"/>
            <a:chOff x="0" y="0"/>
            <a:chExt cx="20549393" cy="50733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0549394" cy="507339"/>
            </a:xfrm>
            <a:custGeom>
              <a:avLst/>
              <a:gdLst/>
              <a:ahLst/>
              <a:cxnLst/>
              <a:rect l="l" t="t" r="r" b="b"/>
              <a:pathLst>
                <a:path w="20549394" h="507339">
                  <a:moveTo>
                    <a:pt x="0" y="0"/>
                  </a:moveTo>
                  <a:lnTo>
                    <a:pt x="20549394" y="0"/>
                  </a:lnTo>
                  <a:lnTo>
                    <a:pt x="20549394" y="507339"/>
                  </a:lnTo>
                  <a:lnTo>
                    <a:pt x="0" y="50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76200"/>
              <a:ext cx="20549393" cy="583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2"/>
                </a:lnSpc>
              </a:pP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Prometheus + Grafana for real-time metrics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109044" y="7558682"/>
            <a:ext cx="15412045" cy="380505"/>
            <a:chOff x="0" y="0"/>
            <a:chExt cx="20549393" cy="50733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0549394" cy="507339"/>
            </a:xfrm>
            <a:custGeom>
              <a:avLst/>
              <a:gdLst/>
              <a:ahLst/>
              <a:cxnLst/>
              <a:rect l="l" t="t" r="r" b="b"/>
              <a:pathLst>
                <a:path w="20549394" h="507339">
                  <a:moveTo>
                    <a:pt x="0" y="0"/>
                  </a:moveTo>
                  <a:lnTo>
                    <a:pt x="20549394" y="0"/>
                  </a:lnTo>
                  <a:lnTo>
                    <a:pt x="20549394" y="507339"/>
                  </a:lnTo>
                  <a:lnTo>
                    <a:pt x="0" y="50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20549393" cy="583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2"/>
                </a:lnSpc>
              </a:pP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User feedback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31255" y="8825954"/>
            <a:ext cx="657374" cy="28575"/>
            <a:chOff x="0" y="0"/>
            <a:chExt cx="876498" cy="381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76554" cy="38100"/>
            </a:xfrm>
            <a:custGeom>
              <a:avLst/>
              <a:gdLst/>
              <a:ahLst/>
              <a:cxnLst/>
              <a:rect l="l" t="t" r="r" b="b"/>
              <a:pathLst>
                <a:path w="87655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57504" y="0"/>
                  </a:lnTo>
                  <a:cubicBezTo>
                    <a:pt x="868045" y="0"/>
                    <a:pt x="876554" y="8509"/>
                    <a:pt x="876554" y="19050"/>
                  </a:cubicBezTo>
                  <a:cubicBezTo>
                    <a:pt x="876554" y="29591"/>
                    <a:pt x="867918" y="38100"/>
                    <a:pt x="85750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66911" y="8593782"/>
            <a:ext cx="492919" cy="492919"/>
            <a:chOff x="0" y="0"/>
            <a:chExt cx="657225" cy="65722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13410" y="0"/>
                  </a:lnTo>
                  <a:cubicBezTo>
                    <a:pt x="637667" y="0"/>
                    <a:pt x="657225" y="19558"/>
                    <a:pt x="657225" y="43815"/>
                  </a:cubicBezTo>
                  <a:lnTo>
                    <a:pt x="657225" y="613410"/>
                  </a:lnTo>
                  <a:cubicBezTo>
                    <a:pt x="657225" y="637667"/>
                    <a:pt x="637667" y="657225"/>
                    <a:pt x="613410" y="657225"/>
                  </a:cubicBezTo>
                  <a:lnTo>
                    <a:pt x="43815" y="657225"/>
                  </a:lnTo>
                  <a:cubicBezTo>
                    <a:pt x="19558" y="657225"/>
                    <a:pt x="0" y="637667"/>
                    <a:pt x="0" y="61341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49065" y="8634859"/>
            <a:ext cx="328612" cy="410766"/>
            <a:chOff x="0" y="0"/>
            <a:chExt cx="438150" cy="54768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38150" cy="547688"/>
            </a:xfrm>
            <a:custGeom>
              <a:avLst/>
              <a:gdLst/>
              <a:ahLst/>
              <a:cxnLst/>
              <a:rect l="l" t="t" r="r" b="b"/>
              <a:pathLst>
                <a:path w="438150" h="547688">
                  <a:moveTo>
                    <a:pt x="0" y="0"/>
                  </a:moveTo>
                  <a:lnTo>
                    <a:pt x="438150" y="0"/>
                  </a:lnTo>
                  <a:lnTo>
                    <a:pt x="438150" y="547688"/>
                  </a:lnTo>
                  <a:lnTo>
                    <a:pt x="0" y="547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47625"/>
              <a:ext cx="438150" cy="5000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109044" y="8566398"/>
            <a:ext cx="3287017" cy="506372"/>
            <a:chOff x="0" y="0"/>
            <a:chExt cx="4382690" cy="675163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382690" cy="675163"/>
            </a:xfrm>
            <a:custGeom>
              <a:avLst/>
              <a:gdLst/>
              <a:ahLst/>
              <a:cxnLst/>
              <a:rect l="l" t="t" r="r" b="b"/>
              <a:pathLst>
                <a:path w="4382690" h="675163">
                  <a:moveTo>
                    <a:pt x="0" y="0"/>
                  </a:moveTo>
                  <a:lnTo>
                    <a:pt x="4382690" y="0"/>
                  </a:lnTo>
                  <a:lnTo>
                    <a:pt x="4382690" y="675163"/>
                  </a:lnTo>
                  <a:lnTo>
                    <a:pt x="0" y="675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4382690" cy="6846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1"/>
                </a:lnSpc>
              </a:pPr>
              <a:r>
                <a:rPr lang="en-US" sz="2662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Rollback plans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109044" y="9108728"/>
            <a:ext cx="15412045" cy="380505"/>
            <a:chOff x="0" y="0"/>
            <a:chExt cx="20549393" cy="50733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0549394" cy="507339"/>
            </a:xfrm>
            <a:custGeom>
              <a:avLst/>
              <a:gdLst/>
              <a:ahLst/>
              <a:cxnLst/>
              <a:rect l="l" t="t" r="r" b="b"/>
              <a:pathLst>
                <a:path w="20549394" h="507339">
                  <a:moveTo>
                    <a:pt x="0" y="0"/>
                  </a:moveTo>
                  <a:lnTo>
                    <a:pt x="20549394" y="0"/>
                  </a:lnTo>
                  <a:lnTo>
                    <a:pt x="20549394" y="507339"/>
                  </a:lnTo>
                  <a:lnTo>
                    <a:pt x="0" y="50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76200"/>
              <a:ext cx="20549393" cy="583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2"/>
                </a:lnSpc>
              </a:pPr>
              <a:r>
                <a:rPr lang="en-US" sz="17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Instant revert via DNS switch to Blue.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779710"/>
            <a:ext cx="11433148" cy="844883"/>
            <a:chOff x="0" y="0"/>
            <a:chExt cx="15244198" cy="11265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4198" cy="1126511"/>
            </a:xfrm>
            <a:custGeom>
              <a:avLst/>
              <a:gdLst/>
              <a:ahLst/>
              <a:cxnLst/>
              <a:rect l="l" t="t" r="r" b="b"/>
              <a:pathLst>
                <a:path w="15244198" h="1126511">
                  <a:moveTo>
                    <a:pt x="0" y="0"/>
                  </a:moveTo>
                  <a:lnTo>
                    <a:pt x="15244198" y="0"/>
                  </a:lnTo>
                  <a:lnTo>
                    <a:pt x="15244198" y="1126511"/>
                  </a:lnTo>
                  <a:lnTo>
                    <a:pt x="0" y="11265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244198" cy="114556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562"/>
                </a:lnSpc>
              </a:pPr>
              <a:r>
                <a:rPr lang="en-US" sz="4437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Hands-on: Blue/Green Deployment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238" y="2055465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92238" y="2906017"/>
            <a:ext cx="8989962" cy="442912"/>
            <a:chOff x="0" y="0"/>
            <a:chExt cx="5695355" cy="5905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95355" cy="590550"/>
            </a:xfrm>
            <a:custGeom>
              <a:avLst/>
              <a:gdLst/>
              <a:ahLst/>
              <a:cxnLst/>
              <a:rect l="l" t="t" r="r" b="b"/>
              <a:pathLst>
                <a:path w="5695355" h="590550">
                  <a:moveTo>
                    <a:pt x="0" y="0"/>
                  </a:moveTo>
                  <a:lnTo>
                    <a:pt x="5695355" y="0"/>
                  </a:lnTo>
                  <a:lnTo>
                    <a:pt x="5695355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5695355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 dirty="0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Create Two App Versions </a:t>
              </a:r>
              <a:r>
                <a:rPr lang="en-US" sz="2000" dirty="0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[Clone from </a:t>
              </a:r>
              <a:r>
                <a:rPr lang="en-US" sz="2000" dirty="0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  <a:hlinkClick r:id="rId4"/>
                </a:rPr>
                <a:t>here</a:t>
              </a:r>
              <a:r>
                <a:rPr lang="en-US" sz="2000" dirty="0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]</a:t>
              </a:r>
              <a:endParaRPr lang="en-US" sz="2750" dirty="0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2238" y="3519041"/>
            <a:ext cx="16303526" cy="453629"/>
            <a:chOff x="0" y="0"/>
            <a:chExt cx="21738035" cy="604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38034" cy="604838"/>
            </a:xfrm>
            <a:custGeom>
              <a:avLst/>
              <a:gdLst/>
              <a:ahLst/>
              <a:cxnLst/>
              <a:rect l="l" t="t" r="r" b="b"/>
              <a:pathLst>
                <a:path w="21738034" h="604838">
                  <a:moveTo>
                    <a:pt x="0" y="0"/>
                  </a:moveTo>
                  <a:lnTo>
                    <a:pt x="21738034" y="0"/>
                  </a:lnTo>
                  <a:lnTo>
                    <a:pt x="2173803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2173803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Blue app (port 5000) and Green app (port 5001) using Flask.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992238" y="4823222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4" y="0"/>
                </a:lnTo>
                <a:lnTo>
                  <a:pt x="567034" y="567036"/>
                </a:lnTo>
                <a:lnTo>
                  <a:pt x="0" y="56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992238" y="5673775"/>
            <a:ext cx="3544044" cy="442912"/>
            <a:chOff x="0" y="0"/>
            <a:chExt cx="4725392" cy="5905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Test Green Version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2238" y="6286797"/>
            <a:ext cx="16303526" cy="453629"/>
            <a:chOff x="0" y="0"/>
            <a:chExt cx="21738035" cy="6048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38034" cy="604838"/>
            </a:xfrm>
            <a:custGeom>
              <a:avLst/>
              <a:gdLst/>
              <a:ahLst/>
              <a:cxnLst/>
              <a:rect l="l" t="t" r="r" b="b"/>
              <a:pathLst>
                <a:path w="21738034" h="604838">
                  <a:moveTo>
                    <a:pt x="0" y="0"/>
                  </a:moveTo>
                  <a:lnTo>
                    <a:pt x="21738034" y="0"/>
                  </a:lnTo>
                  <a:lnTo>
                    <a:pt x="2173803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2173803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Verify new version works before switching traffic.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992238" y="7590979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992238" y="8441531"/>
            <a:ext cx="3544044" cy="442912"/>
            <a:chOff x="0" y="0"/>
            <a:chExt cx="4725392" cy="590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Switch Traffic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2238" y="9054554"/>
            <a:ext cx="16303526" cy="453629"/>
            <a:chOff x="0" y="0"/>
            <a:chExt cx="21738035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38034" cy="604838"/>
            </a:xfrm>
            <a:custGeom>
              <a:avLst/>
              <a:gdLst/>
              <a:ahLst/>
              <a:cxnLst/>
              <a:rect l="l" t="t" r="r" b="b"/>
              <a:pathLst>
                <a:path w="21738034" h="604838">
                  <a:moveTo>
                    <a:pt x="0" y="0"/>
                  </a:moveTo>
                  <a:lnTo>
                    <a:pt x="21738034" y="0"/>
                  </a:lnTo>
                  <a:lnTo>
                    <a:pt x="2173803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2173803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Redirect users from Blue to Green after validation.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809327" y="565249"/>
            <a:ext cx="9130311" cy="1340346"/>
            <a:chOff x="0" y="0"/>
            <a:chExt cx="12173748" cy="17871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73748" cy="1787128"/>
            </a:xfrm>
            <a:custGeom>
              <a:avLst/>
              <a:gdLst/>
              <a:ahLst/>
              <a:cxnLst/>
              <a:rect l="l" t="t" r="r" b="b"/>
              <a:pathLst>
                <a:path w="12173748" h="1787128">
                  <a:moveTo>
                    <a:pt x="0" y="0"/>
                  </a:moveTo>
                  <a:lnTo>
                    <a:pt x="12173748" y="0"/>
                  </a:lnTo>
                  <a:lnTo>
                    <a:pt x="12173748" y="1787128"/>
                  </a:lnTo>
                  <a:lnTo>
                    <a:pt x="0" y="17871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2173748" cy="179665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99"/>
                </a:lnSpc>
              </a:pPr>
              <a:r>
                <a:rPr lang="en-US" sz="3625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Monitoring in Continuous Deployment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9328" y="1568946"/>
            <a:ext cx="4790182" cy="4109294"/>
            <a:chOff x="0" y="0"/>
            <a:chExt cx="6386910" cy="54790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86957" cy="5479034"/>
            </a:xfrm>
            <a:custGeom>
              <a:avLst/>
              <a:gdLst/>
              <a:ahLst/>
              <a:cxnLst/>
              <a:rect l="l" t="t" r="r" b="b"/>
              <a:pathLst>
                <a:path w="6386957" h="5479034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6340729" y="0"/>
                  </a:lnTo>
                  <a:cubicBezTo>
                    <a:pt x="6366256" y="0"/>
                    <a:pt x="6386957" y="20701"/>
                    <a:pt x="6386957" y="46228"/>
                  </a:cubicBezTo>
                  <a:lnTo>
                    <a:pt x="6386957" y="5432806"/>
                  </a:lnTo>
                  <a:cubicBezTo>
                    <a:pt x="6386957" y="5458333"/>
                    <a:pt x="6366256" y="5479034"/>
                    <a:pt x="6340729" y="5479034"/>
                  </a:cubicBezTo>
                  <a:lnTo>
                    <a:pt x="46228" y="5479034"/>
                  </a:lnTo>
                  <a:cubicBezTo>
                    <a:pt x="20701" y="5479034"/>
                    <a:pt x="0" y="5458333"/>
                    <a:pt x="0" y="5432806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0457" y="1800076"/>
            <a:ext cx="3468589" cy="433536"/>
            <a:chOff x="0" y="0"/>
            <a:chExt cx="4624785" cy="5780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24785" cy="578048"/>
            </a:xfrm>
            <a:custGeom>
              <a:avLst/>
              <a:gdLst/>
              <a:ahLst/>
              <a:cxnLst/>
              <a:rect l="l" t="t" r="r" b="b"/>
              <a:pathLst>
                <a:path w="4624785" h="578048">
                  <a:moveTo>
                    <a:pt x="0" y="0"/>
                  </a:moveTo>
                  <a:lnTo>
                    <a:pt x="4624785" y="0"/>
                  </a:lnTo>
                  <a:lnTo>
                    <a:pt x="4624785" y="578048"/>
                  </a:lnTo>
                  <a:lnTo>
                    <a:pt x="0" y="578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4624785" cy="5875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Prometheus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0457" y="2372320"/>
            <a:ext cx="4327921" cy="1387227"/>
            <a:chOff x="0" y="0"/>
            <a:chExt cx="5770562" cy="18496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70562" cy="1849637"/>
            </a:xfrm>
            <a:custGeom>
              <a:avLst/>
              <a:gdLst/>
              <a:ahLst/>
              <a:cxnLst/>
              <a:rect l="l" t="t" r="r" b="b"/>
              <a:pathLst>
                <a:path w="5770562" h="1849637">
                  <a:moveTo>
                    <a:pt x="0" y="0"/>
                  </a:moveTo>
                  <a:lnTo>
                    <a:pt x="5770562" y="0"/>
                  </a:lnTo>
                  <a:lnTo>
                    <a:pt x="5770562" y="1849637"/>
                  </a:lnTo>
                  <a:lnTo>
                    <a:pt x="0" y="18496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5770562" cy="19448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Pull-based metrics collection tool that stores data in a time-series database.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0457" y="3898255"/>
            <a:ext cx="4327921" cy="462409"/>
            <a:chOff x="0" y="0"/>
            <a:chExt cx="5770562" cy="61654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70562" cy="616545"/>
            </a:xfrm>
            <a:custGeom>
              <a:avLst/>
              <a:gdLst/>
              <a:ahLst/>
              <a:cxnLst/>
              <a:rect l="l" t="t" r="r" b="b"/>
              <a:pathLst>
                <a:path w="5770562" h="616545">
                  <a:moveTo>
                    <a:pt x="0" y="0"/>
                  </a:moveTo>
                  <a:lnTo>
                    <a:pt x="5770562" y="0"/>
                  </a:lnTo>
                  <a:lnTo>
                    <a:pt x="5770562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5770562" cy="683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73348" lvl="1" indent="-136674" algn="l">
                <a:lnSpc>
                  <a:spcPts val="2875"/>
                </a:lnSpc>
                <a:buFont typeface="Arial"/>
                <a:buChar char="•"/>
              </a:pPr>
              <a:r>
                <a:rPr lang="en-US" sz="181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Track app usage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0457" y="4441477"/>
            <a:ext cx="4327921" cy="462409"/>
            <a:chOff x="0" y="0"/>
            <a:chExt cx="5770562" cy="6165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770562" cy="616545"/>
            </a:xfrm>
            <a:custGeom>
              <a:avLst/>
              <a:gdLst/>
              <a:ahLst/>
              <a:cxnLst/>
              <a:rect l="l" t="t" r="r" b="b"/>
              <a:pathLst>
                <a:path w="5770562" h="616545">
                  <a:moveTo>
                    <a:pt x="0" y="0"/>
                  </a:moveTo>
                  <a:lnTo>
                    <a:pt x="5770562" y="0"/>
                  </a:lnTo>
                  <a:lnTo>
                    <a:pt x="5770562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5770562" cy="683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73348" lvl="1" indent="-136674" algn="l">
                <a:lnSpc>
                  <a:spcPts val="2875"/>
                </a:lnSpc>
                <a:buFont typeface="Arial"/>
                <a:buChar char="•"/>
              </a:pPr>
              <a:r>
                <a:rPr lang="en-US" sz="181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Monitor resource usage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40457" y="4984700"/>
            <a:ext cx="4327921" cy="462409"/>
            <a:chOff x="0" y="0"/>
            <a:chExt cx="5770562" cy="61654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770562" cy="616545"/>
            </a:xfrm>
            <a:custGeom>
              <a:avLst/>
              <a:gdLst/>
              <a:ahLst/>
              <a:cxnLst/>
              <a:rect l="l" t="t" r="r" b="b"/>
              <a:pathLst>
                <a:path w="5770562" h="616545">
                  <a:moveTo>
                    <a:pt x="0" y="0"/>
                  </a:moveTo>
                  <a:lnTo>
                    <a:pt x="5770562" y="0"/>
                  </a:lnTo>
                  <a:lnTo>
                    <a:pt x="5770562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5770562" cy="683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73348" lvl="1" indent="-136674" algn="l">
                <a:lnSpc>
                  <a:spcPts val="2875"/>
                </a:lnSpc>
                <a:buFont typeface="Arial"/>
                <a:buChar char="•"/>
              </a:pPr>
              <a:r>
                <a:rPr lang="en-US" sz="181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Set up alerts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30640" y="1568946"/>
            <a:ext cx="4790182" cy="4109294"/>
            <a:chOff x="0" y="0"/>
            <a:chExt cx="6386910" cy="547905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86957" cy="5479034"/>
            </a:xfrm>
            <a:custGeom>
              <a:avLst/>
              <a:gdLst/>
              <a:ahLst/>
              <a:cxnLst/>
              <a:rect l="l" t="t" r="r" b="b"/>
              <a:pathLst>
                <a:path w="6386957" h="5479034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6340729" y="0"/>
                  </a:lnTo>
                  <a:cubicBezTo>
                    <a:pt x="6366256" y="0"/>
                    <a:pt x="6386957" y="20701"/>
                    <a:pt x="6386957" y="46228"/>
                  </a:cubicBezTo>
                  <a:lnTo>
                    <a:pt x="6386957" y="5432806"/>
                  </a:lnTo>
                  <a:cubicBezTo>
                    <a:pt x="6386957" y="5458333"/>
                    <a:pt x="6366256" y="5479034"/>
                    <a:pt x="6340729" y="5479034"/>
                  </a:cubicBezTo>
                  <a:lnTo>
                    <a:pt x="46228" y="5479034"/>
                  </a:lnTo>
                  <a:cubicBezTo>
                    <a:pt x="20701" y="5479034"/>
                    <a:pt x="0" y="5458333"/>
                    <a:pt x="0" y="5432806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61770" y="1800076"/>
            <a:ext cx="3468589" cy="433536"/>
            <a:chOff x="0" y="0"/>
            <a:chExt cx="4624785" cy="5780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24785" cy="578048"/>
            </a:xfrm>
            <a:custGeom>
              <a:avLst/>
              <a:gdLst/>
              <a:ahLst/>
              <a:cxnLst/>
              <a:rect l="l" t="t" r="r" b="b"/>
              <a:pathLst>
                <a:path w="4624785" h="578048">
                  <a:moveTo>
                    <a:pt x="0" y="0"/>
                  </a:moveTo>
                  <a:lnTo>
                    <a:pt x="4624785" y="0"/>
                  </a:lnTo>
                  <a:lnTo>
                    <a:pt x="4624785" y="578048"/>
                  </a:lnTo>
                  <a:lnTo>
                    <a:pt x="0" y="578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4624785" cy="5875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Grafana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61770" y="2372320"/>
            <a:ext cx="4327921" cy="1387227"/>
            <a:chOff x="0" y="0"/>
            <a:chExt cx="5770562" cy="184963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770562" cy="1849637"/>
            </a:xfrm>
            <a:custGeom>
              <a:avLst/>
              <a:gdLst/>
              <a:ahLst/>
              <a:cxnLst/>
              <a:rect l="l" t="t" r="r" b="b"/>
              <a:pathLst>
                <a:path w="5770562" h="1849637">
                  <a:moveTo>
                    <a:pt x="0" y="0"/>
                  </a:moveTo>
                  <a:lnTo>
                    <a:pt x="5770562" y="0"/>
                  </a:lnTo>
                  <a:lnTo>
                    <a:pt x="5770562" y="1849637"/>
                  </a:lnTo>
                  <a:lnTo>
                    <a:pt x="0" y="18496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0"/>
              <a:ext cx="5770562" cy="19448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Visualization and alerting tool for creating real-time dashboards.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61770" y="3898255"/>
            <a:ext cx="4327921" cy="462409"/>
            <a:chOff x="0" y="0"/>
            <a:chExt cx="5770562" cy="61654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770562" cy="616545"/>
            </a:xfrm>
            <a:custGeom>
              <a:avLst/>
              <a:gdLst/>
              <a:ahLst/>
              <a:cxnLst/>
              <a:rect l="l" t="t" r="r" b="b"/>
              <a:pathLst>
                <a:path w="5770562" h="616545">
                  <a:moveTo>
                    <a:pt x="0" y="0"/>
                  </a:moveTo>
                  <a:lnTo>
                    <a:pt x="5770562" y="0"/>
                  </a:lnTo>
                  <a:lnTo>
                    <a:pt x="5770562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5770562" cy="683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73348" lvl="1" indent="-136674" algn="l">
                <a:lnSpc>
                  <a:spcPts val="2875"/>
                </a:lnSpc>
                <a:buFont typeface="Arial"/>
                <a:buChar char="•"/>
              </a:pPr>
              <a:r>
                <a:rPr lang="en-US" sz="181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Visualize metrics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61770" y="4441477"/>
            <a:ext cx="4327921" cy="462409"/>
            <a:chOff x="0" y="0"/>
            <a:chExt cx="5770562" cy="61654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770562" cy="616545"/>
            </a:xfrm>
            <a:custGeom>
              <a:avLst/>
              <a:gdLst/>
              <a:ahLst/>
              <a:cxnLst/>
              <a:rect l="l" t="t" r="r" b="b"/>
              <a:pathLst>
                <a:path w="5770562" h="616545">
                  <a:moveTo>
                    <a:pt x="0" y="0"/>
                  </a:moveTo>
                  <a:lnTo>
                    <a:pt x="5770562" y="0"/>
                  </a:lnTo>
                  <a:lnTo>
                    <a:pt x="5770562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5770562" cy="683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73348" lvl="1" indent="-136674" algn="l">
                <a:lnSpc>
                  <a:spcPts val="2875"/>
                </a:lnSpc>
                <a:buFont typeface="Arial"/>
                <a:buChar char="•"/>
              </a:pPr>
              <a:r>
                <a:rPr lang="en-US" sz="181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Create dashboards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61770" y="4984700"/>
            <a:ext cx="4327921" cy="462409"/>
            <a:chOff x="0" y="0"/>
            <a:chExt cx="5770562" cy="61654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770562" cy="616545"/>
            </a:xfrm>
            <a:custGeom>
              <a:avLst/>
              <a:gdLst/>
              <a:ahLst/>
              <a:cxnLst/>
              <a:rect l="l" t="t" r="r" b="b"/>
              <a:pathLst>
                <a:path w="5770562" h="616545">
                  <a:moveTo>
                    <a:pt x="0" y="0"/>
                  </a:moveTo>
                  <a:lnTo>
                    <a:pt x="5770562" y="0"/>
                  </a:lnTo>
                  <a:lnTo>
                    <a:pt x="5770562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66675"/>
              <a:ext cx="5770562" cy="683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73348" lvl="1" indent="-136674" algn="l">
                <a:lnSpc>
                  <a:spcPts val="2875"/>
                </a:lnSpc>
                <a:buFont typeface="Arial"/>
                <a:buChar char="•"/>
              </a:pPr>
              <a:r>
                <a:rPr lang="en-US" sz="181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Set up alerts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9328" y="5909370"/>
            <a:ext cx="9811345" cy="3646884"/>
            <a:chOff x="0" y="0"/>
            <a:chExt cx="13081793" cy="486251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081763" cy="4862449"/>
            </a:xfrm>
            <a:custGeom>
              <a:avLst/>
              <a:gdLst/>
              <a:ahLst/>
              <a:cxnLst/>
              <a:rect l="l" t="t" r="r" b="b"/>
              <a:pathLst>
                <a:path w="13081763" h="4862449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3035535" y="0"/>
                  </a:lnTo>
                  <a:cubicBezTo>
                    <a:pt x="13061062" y="0"/>
                    <a:pt x="13081763" y="20701"/>
                    <a:pt x="13081763" y="46228"/>
                  </a:cubicBezTo>
                  <a:lnTo>
                    <a:pt x="13081763" y="4816221"/>
                  </a:lnTo>
                  <a:cubicBezTo>
                    <a:pt x="13081763" y="4841748"/>
                    <a:pt x="13061062" y="4862449"/>
                    <a:pt x="13035535" y="4862449"/>
                  </a:cubicBezTo>
                  <a:lnTo>
                    <a:pt x="46228" y="4862449"/>
                  </a:lnTo>
                  <a:cubicBezTo>
                    <a:pt x="20701" y="4862449"/>
                    <a:pt x="0" y="4841748"/>
                    <a:pt x="0" y="4816221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40457" y="6140500"/>
            <a:ext cx="3468589" cy="433536"/>
            <a:chOff x="0" y="0"/>
            <a:chExt cx="4624785" cy="5780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624785" cy="578048"/>
            </a:xfrm>
            <a:custGeom>
              <a:avLst/>
              <a:gdLst/>
              <a:ahLst/>
              <a:cxnLst/>
              <a:rect l="l" t="t" r="r" b="b"/>
              <a:pathLst>
                <a:path w="4624785" h="578048">
                  <a:moveTo>
                    <a:pt x="0" y="0"/>
                  </a:moveTo>
                  <a:lnTo>
                    <a:pt x="4624785" y="0"/>
                  </a:lnTo>
                  <a:lnTo>
                    <a:pt x="4624785" y="578048"/>
                  </a:lnTo>
                  <a:lnTo>
                    <a:pt x="0" y="578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624785" cy="5875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ELK Stack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0457" y="6712744"/>
            <a:ext cx="9349085" cy="924817"/>
            <a:chOff x="0" y="0"/>
            <a:chExt cx="12465447" cy="123309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465447" cy="1233090"/>
            </a:xfrm>
            <a:custGeom>
              <a:avLst/>
              <a:gdLst/>
              <a:ahLst/>
              <a:cxnLst/>
              <a:rect l="l" t="t" r="r" b="b"/>
              <a:pathLst>
                <a:path w="12465447" h="1233090">
                  <a:moveTo>
                    <a:pt x="0" y="0"/>
                  </a:moveTo>
                  <a:lnTo>
                    <a:pt x="12465447" y="0"/>
                  </a:lnTo>
                  <a:lnTo>
                    <a:pt x="12465447" y="1233090"/>
                  </a:lnTo>
                  <a:lnTo>
                    <a:pt x="0" y="12330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12465447" cy="13283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Centralized log management with Elasticsearch, Logstash, and Kibana.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40457" y="7776270"/>
            <a:ext cx="9349085" cy="462409"/>
            <a:chOff x="0" y="0"/>
            <a:chExt cx="12465447" cy="61654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465447" cy="616545"/>
            </a:xfrm>
            <a:custGeom>
              <a:avLst/>
              <a:gdLst/>
              <a:ahLst/>
              <a:cxnLst/>
              <a:rect l="l" t="t" r="r" b="b"/>
              <a:pathLst>
                <a:path w="12465447" h="616545">
                  <a:moveTo>
                    <a:pt x="0" y="0"/>
                  </a:moveTo>
                  <a:lnTo>
                    <a:pt x="12465447" y="0"/>
                  </a:lnTo>
                  <a:lnTo>
                    <a:pt x="12465447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2465447" cy="683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73348" lvl="1" indent="-136674" algn="l">
                <a:lnSpc>
                  <a:spcPts val="2875"/>
                </a:lnSpc>
                <a:buFont typeface="Arial"/>
                <a:buChar char="•"/>
              </a:pPr>
              <a:r>
                <a:rPr lang="en-US" sz="181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Centralize logs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40457" y="8319492"/>
            <a:ext cx="9349085" cy="462409"/>
            <a:chOff x="0" y="0"/>
            <a:chExt cx="12465447" cy="61654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465447" cy="616545"/>
            </a:xfrm>
            <a:custGeom>
              <a:avLst/>
              <a:gdLst/>
              <a:ahLst/>
              <a:cxnLst/>
              <a:rect l="l" t="t" r="r" b="b"/>
              <a:pathLst>
                <a:path w="12465447" h="616545">
                  <a:moveTo>
                    <a:pt x="0" y="0"/>
                  </a:moveTo>
                  <a:lnTo>
                    <a:pt x="12465447" y="0"/>
                  </a:lnTo>
                  <a:lnTo>
                    <a:pt x="12465447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12465447" cy="683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73348" lvl="1" indent="-136674" algn="l">
                <a:lnSpc>
                  <a:spcPts val="2875"/>
                </a:lnSpc>
                <a:buFont typeface="Arial"/>
                <a:buChar char="•"/>
              </a:pPr>
              <a:r>
                <a:rPr lang="en-US" sz="181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Search errors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40457" y="8862715"/>
            <a:ext cx="9349085" cy="462409"/>
            <a:chOff x="0" y="0"/>
            <a:chExt cx="12465447" cy="61654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465447" cy="616545"/>
            </a:xfrm>
            <a:custGeom>
              <a:avLst/>
              <a:gdLst/>
              <a:ahLst/>
              <a:cxnLst/>
              <a:rect l="l" t="t" r="r" b="b"/>
              <a:pathLst>
                <a:path w="12465447" h="616545">
                  <a:moveTo>
                    <a:pt x="0" y="0"/>
                  </a:moveTo>
                  <a:lnTo>
                    <a:pt x="12465447" y="0"/>
                  </a:lnTo>
                  <a:lnTo>
                    <a:pt x="12465447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12465447" cy="683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73348" lvl="1" indent="-136674" algn="l">
                <a:lnSpc>
                  <a:spcPts val="2875"/>
                </a:lnSpc>
                <a:buFont typeface="Arial"/>
                <a:buChar char="•"/>
              </a:pPr>
              <a:r>
                <a:rPr lang="en-US" sz="181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Analyze activity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80306" y="613022"/>
            <a:ext cx="11832082" cy="664464"/>
            <a:chOff x="0" y="0"/>
            <a:chExt cx="15776110" cy="8859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76110" cy="885952"/>
            </a:xfrm>
            <a:custGeom>
              <a:avLst/>
              <a:gdLst/>
              <a:ahLst/>
              <a:cxnLst/>
              <a:rect l="l" t="t" r="r" b="b"/>
              <a:pathLst>
                <a:path w="15776110" h="885952">
                  <a:moveTo>
                    <a:pt x="0" y="0"/>
                  </a:moveTo>
                  <a:lnTo>
                    <a:pt x="15776110" y="0"/>
                  </a:lnTo>
                  <a:lnTo>
                    <a:pt x="15776110" y="885952"/>
                  </a:lnTo>
                  <a:lnTo>
                    <a:pt x="0" y="8859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776110" cy="90500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75"/>
                </a:lnSpc>
              </a:pPr>
              <a:r>
                <a:rPr lang="en-US" sz="3500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Deployment Automation &amp; Orchestration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0306" y="1393329"/>
            <a:ext cx="3794969" cy="417910"/>
            <a:chOff x="0" y="0"/>
            <a:chExt cx="5059958" cy="5572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59958" cy="557213"/>
            </a:xfrm>
            <a:custGeom>
              <a:avLst/>
              <a:gdLst/>
              <a:ahLst/>
              <a:cxnLst/>
              <a:rect l="l" t="t" r="r" b="b"/>
              <a:pathLst>
                <a:path w="5059958" h="557213">
                  <a:moveTo>
                    <a:pt x="0" y="0"/>
                  </a:moveTo>
                  <a:lnTo>
                    <a:pt x="5059958" y="0"/>
                  </a:lnTo>
                  <a:lnTo>
                    <a:pt x="5059958" y="557213"/>
                  </a:lnTo>
                  <a:lnTo>
                    <a:pt x="0" y="557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059958" cy="5572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What is Orchestration?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0306" y="2145655"/>
            <a:ext cx="16727389" cy="445889"/>
            <a:chOff x="0" y="0"/>
            <a:chExt cx="22303185" cy="5945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03184" cy="594518"/>
            </a:xfrm>
            <a:custGeom>
              <a:avLst/>
              <a:gdLst/>
              <a:ahLst/>
              <a:cxnLst/>
              <a:rect l="l" t="t" r="r" b="b"/>
              <a:pathLst>
                <a:path w="22303184" h="594518">
                  <a:moveTo>
                    <a:pt x="0" y="0"/>
                  </a:moveTo>
                  <a:lnTo>
                    <a:pt x="22303184" y="0"/>
                  </a:lnTo>
                  <a:lnTo>
                    <a:pt x="22303184" y="594518"/>
                  </a:lnTo>
                  <a:lnTo>
                    <a:pt x="0" y="5945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2303185" cy="6802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Orchestration is like having an automated assistant that: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0306" y="2842320"/>
            <a:ext cx="16727389" cy="445889"/>
            <a:chOff x="0" y="0"/>
            <a:chExt cx="22303185" cy="5945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303184" cy="594518"/>
            </a:xfrm>
            <a:custGeom>
              <a:avLst/>
              <a:gdLst/>
              <a:ahLst/>
              <a:cxnLst/>
              <a:rect l="l" t="t" r="r" b="b"/>
              <a:pathLst>
                <a:path w="22303184" h="594518">
                  <a:moveTo>
                    <a:pt x="0" y="0"/>
                  </a:moveTo>
                  <a:lnTo>
                    <a:pt x="22303184" y="0"/>
                  </a:lnTo>
                  <a:lnTo>
                    <a:pt x="22303184" y="594518"/>
                  </a:lnTo>
                  <a:lnTo>
                    <a:pt x="0" y="5945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22303185" cy="6611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Deploys your app for you—no manual steps required.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0306" y="3366195"/>
            <a:ext cx="16727389" cy="445889"/>
            <a:chOff x="0" y="0"/>
            <a:chExt cx="22303185" cy="5945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303184" cy="594518"/>
            </a:xfrm>
            <a:custGeom>
              <a:avLst/>
              <a:gdLst/>
              <a:ahLst/>
              <a:cxnLst/>
              <a:rect l="l" t="t" r="r" b="b"/>
              <a:pathLst>
                <a:path w="22303184" h="594518">
                  <a:moveTo>
                    <a:pt x="0" y="0"/>
                  </a:moveTo>
                  <a:lnTo>
                    <a:pt x="22303184" y="0"/>
                  </a:lnTo>
                  <a:lnTo>
                    <a:pt x="22303184" y="594518"/>
                  </a:lnTo>
                  <a:lnTo>
                    <a:pt x="0" y="5945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2303185" cy="6611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Keeps it running—restarts it if something goes wrong.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0306" y="3890070"/>
            <a:ext cx="16727389" cy="445889"/>
            <a:chOff x="0" y="0"/>
            <a:chExt cx="22303185" cy="5945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303184" cy="594518"/>
            </a:xfrm>
            <a:custGeom>
              <a:avLst/>
              <a:gdLst/>
              <a:ahLst/>
              <a:cxnLst/>
              <a:rect l="l" t="t" r="r" b="b"/>
              <a:pathLst>
                <a:path w="22303184" h="594518">
                  <a:moveTo>
                    <a:pt x="0" y="0"/>
                  </a:moveTo>
                  <a:lnTo>
                    <a:pt x="22303184" y="0"/>
                  </a:lnTo>
                  <a:lnTo>
                    <a:pt x="22303184" y="594518"/>
                  </a:lnTo>
                  <a:lnTo>
                    <a:pt x="0" y="5945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22303185" cy="6611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Adjusts scale—adds or removes instances based on user demand.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0306" y="4586734"/>
            <a:ext cx="16727389" cy="445889"/>
            <a:chOff x="0" y="0"/>
            <a:chExt cx="22303185" cy="5945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303184" cy="594518"/>
            </a:xfrm>
            <a:custGeom>
              <a:avLst/>
              <a:gdLst/>
              <a:ahLst/>
              <a:cxnLst/>
              <a:rect l="l" t="t" r="r" b="b"/>
              <a:pathLst>
                <a:path w="22303184" h="594518">
                  <a:moveTo>
                    <a:pt x="0" y="0"/>
                  </a:moveTo>
                  <a:lnTo>
                    <a:pt x="22303184" y="0"/>
                  </a:lnTo>
                  <a:lnTo>
                    <a:pt x="22303184" y="594518"/>
                  </a:lnTo>
                  <a:lnTo>
                    <a:pt x="0" y="5945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22303185" cy="6802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187" i="1">
                  <a:solidFill>
                    <a:srgbClr val="464646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Without orchestration, you'd be stuck doing all of this manually.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80306" y="5367040"/>
            <a:ext cx="4794945" cy="417910"/>
            <a:chOff x="0" y="0"/>
            <a:chExt cx="6393260" cy="5572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93260" cy="557213"/>
            </a:xfrm>
            <a:custGeom>
              <a:avLst/>
              <a:gdLst/>
              <a:ahLst/>
              <a:cxnLst/>
              <a:rect l="l" t="t" r="r" b="b"/>
              <a:pathLst>
                <a:path w="6393260" h="557213">
                  <a:moveTo>
                    <a:pt x="0" y="0"/>
                  </a:moveTo>
                  <a:lnTo>
                    <a:pt x="6393260" y="0"/>
                  </a:lnTo>
                  <a:lnTo>
                    <a:pt x="6393260" y="557213"/>
                  </a:lnTo>
                  <a:lnTo>
                    <a:pt x="0" y="557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6393260" cy="5572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Common Orchestration Tools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0306" y="6119366"/>
            <a:ext cx="5427166" cy="3557736"/>
            <a:chOff x="0" y="0"/>
            <a:chExt cx="7236222" cy="47436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36206" cy="4743704"/>
            </a:xfrm>
            <a:custGeom>
              <a:avLst/>
              <a:gdLst/>
              <a:ahLst/>
              <a:cxnLst/>
              <a:rect l="l" t="t" r="r" b="b"/>
              <a:pathLst>
                <a:path w="7236206" h="4743704">
                  <a:moveTo>
                    <a:pt x="0" y="44577"/>
                  </a:moveTo>
                  <a:cubicBezTo>
                    <a:pt x="0" y="19939"/>
                    <a:pt x="19939" y="0"/>
                    <a:pt x="44577" y="0"/>
                  </a:cubicBezTo>
                  <a:lnTo>
                    <a:pt x="7191629" y="0"/>
                  </a:lnTo>
                  <a:cubicBezTo>
                    <a:pt x="7216267" y="0"/>
                    <a:pt x="7236206" y="19939"/>
                    <a:pt x="7236206" y="44577"/>
                  </a:cubicBezTo>
                  <a:lnTo>
                    <a:pt x="7236206" y="4699000"/>
                  </a:lnTo>
                  <a:cubicBezTo>
                    <a:pt x="7236206" y="4723638"/>
                    <a:pt x="7216267" y="4743577"/>
                    <a:pt x="7191629" y="4743577"/>
                  </a:cubicBezTo>
                  <a:lnTo>
                    <a:pt x="44577" y="4743577"/>
                  </a:lnTo>
                  <a:cubicBezTo>
                    <a:pt x="19939" y="4743704"/>
                    <a:pt x="0" y="4723638"/>
                    <a:pt x="0" y="469900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3250" y="6342310"/>
            <a:ext cx="2786806" cy="348406"/>
            <a:chOff x="0" y="0"/>
            <a:chExt cx="3715742" cy="4645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715742" cy="464542"/>
            </a:xfrm>
            <a:custGeom>
              <a:avLst/>
              <a:gdLst/>
              <a:ahLst/>
              <a:cxnLst/>
              <a:rect l="l" t="t" r="r" b="b"/>
              <a:pathLst>
                <a:path w="3715742" h="464542">
                  <a:moveTo>
                    <a:pt x="0" y="0"/>
                  </a:moveTo>
                  <a:lnTo>
                    <a:pt x="3715742" y="0"/>
                  </a:lnTo>
                  <a:lnTo>
                    <a:pt x="3715742" y="464542"/>
                  </a:lnTo>
                  <a:lnTo>
                    <a:pt x="0" y="464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3715742" cy="4740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2187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Kubernetes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03250" y="6824365"/>
            <a:ext cx="4981277" cy="2139552"/>
            <a:chOff x="0" y="0"/>
            <a:chExt cx="6641703" cy="285273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41703" cy="2852737"/>
            </a:xfrm>
            <a:custGeom>
              <a:avLst/>
              <a:gdLst/>
              <a:ahLst/>
              <a:cxnLst/>
              <a:rect l="l" t="t" r="r" b="b"/>
              <a:pathLst>
                <a:path w="6641703" h="2852737">
                  <a:moveTo>
                    <a:pt x="0" y="0"/>
                  </a:moveTo>
                  <a:lnTo>
                    <a:pt x="6641703" y="0"/>
                  </a:lnTo>
                  <a:lnTo>
                    <a:pt x="6641703" y="2852737"/>
                  </a:lnTo>
                  <a:lnTo>
                    <a:pt x="0" y="28527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6641703" cy="291941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50"/>
                </a:lnSpc>
              </a:pP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Kubernetes is a platform that takes care of deploying, managing, and </a:t>
              </a:r>
              <a:r>
                <a:rPr lang="en-US" sz="1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scaling applications automatically</a:t>
              </a: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</a:p>
            <a:p>
              <a:pPr algn="l">
                <a:lnSpc>
                  <a:spcPts val="2750"/>
                </a:lnSpc>
              </a:pPr>
              <a:endParaRPr lang="en-US" sz="1750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algn="l">
                <a:lnSpc>
                  <a:spcPts val="2750"/>
                </a:lnSpc>
              </a:pPr>
              <a:r>
                <a:rPr lang="en-US" sz="1750" b="1" u="sng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</a:t>
              </a: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: If an app fails, Kubernetes restarts it on its own.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30416" y="6119366"/>
            <a:ext cx="5427166" cy="3557736"/>
            <a:chOff x="0" y="0"/>
            <a:chExt cx="7236222" cy="47436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236206" cy="4743704"/>
            </a:xfrm>
            <a:custGeom>
              <a:avLst/>
              <a:gdLst/>
              <a:ahLst/>
              <a:cxnLst/>
              <a:rect l="l" t="t" r="r" b="b"/>
              <a:pathLst>
                <a:path w="7236206" h="4743704">
                  <a:moveTo>
                    <a:pt x="0" y="44577"/>
                  </a:moveTo>
                  <a:cubicBezTo>
                    <a:pt x="0" y="19939"/>
                    <a:pt x="19939" y="0"/>
                    <a:pt x="44577" y="0"/>
                  </a:cubicBezTo>
                  <a:lnTo>
                    <a:pt x="7191629" y="0"/>
                  </a:lnTo>
                  <a:cubicBezTo>
                    <a:pt x="7216267" y="0"/>
                    <a:pt x="7236206" y="19939"/>
                    <a:pt x="7236206" y="44577"/>
                  </a:cubicBezTo>
                  <a:lnTo>
                    <a:pt x="7236206" y="4699000"/>
                  </a:lnTo>
                  <a:cubicBezTo>
                    <a:pt x="7236206" y="4723638"/>
                    <a:pt x="7216267" y="4743577"/>
                    <a:pt x="7191629" y="4743577"/>
                  </a:cubicBezTo>
                  <a:lnTo>
                    <a:pt x="44577" y="4743577"/>
                  </a:lnTo>
                  <a:cubicBezTo>
                    <a:pt x="19939" y="4743704"/>
                    <a:pt x="0" y="4723638"/>
                    <a:pt x="0" y="469900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53361" y="6342310"/>
            <a:ext cx="2786806" cy="348406"/>
            <a:chOff x="0" y="0"/>
            <a:chExt cx="3715742" cy="4645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715742" cy="464542"/>
            </a:xfrm>
            <a:custGeom>
              <a:avLst/>
              <a:gdLst/>
              <a:ahLst/>
              <a:cxnLst/>
              <a:rect l="l" t="t" r="r" b="b"/>
              <a:pathLst>
                <a:path w="3715742" h="464542">
                  <a:moveTo>
                    <a:pt x="0" y="0"/>
                  </a:moveTo>
                  <a:lnTo>
                    <a:pt x="3715742" y="0"/>
                  </a:lnTo>
                  <a:lnTo>
                    <a:pt x="3715742" y="464542"/>
                  </a:lnTo>
                  <a:lnTo>
                    <a:pt x="0" y="464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3715742" cy="4740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2187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Terraform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53361" y="6824365"/>
            <a:ext cx="4981278" cy="1426369"/>
            <a:chOff x="0" y="0"/>
            <a:chExt cx="6641703" cy="190182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641703" cy="1901825"/>
            </a:xfrm>
            <a:custGeom>
              <a:avLst/>
              <a:gdLst/>
              <a:ahLst/>
              <a:cxnLst/>
              <a:rect l="l" t="t" r="r" b="b"/>
              <a:pathLst>
                <a:path w="6641703" h="1901825">
                  <a:moveTo>
                    <a:pt x="0" y="0"/>
                  </a:moveTo>
                  <a:lnTo>
                    <a:pt x="6641703" y="0"/>
                  </a:lnTo>
                  <a:lnTo>
                    <a:pt x="6641703" y="1901825"/>
                  </a:lnTo>
                  <a:lnTo>
                    <a:pt x="0" y="19018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6641703" cy="19685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50"/>
                </a:lnSpc>
              </a:pP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Terraform </a:t>
              </a:r>
              <a:r>
                <a:rPr lang="en-US" sz="1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uses code to define and manage infrastructure</a:t>
              </a: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like servers, networks, and storage.</a:t>
              </a:r>
            </a:p>
            <a:p>
              <a:pPr algn="l">
                <a:lnSpc>
                  <a:spcPts val="2750"/>
                </a:lnSpc>
              </a:pPr>
              <a:endParaRPr lang="en-US" sz="1750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53361" y="8384381"/>
            <a:ext cx="4981278" cy="1069776"/>
            <a:chOff x="0" y="0"/>
            <a:chExt cx="6641703" cy="142636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641703" cy="1426368"/>
            </a:xfrm>
            <a:custGeom>
              <a:avLst/>
              <a:gdLst/>
              <a:ahLst/>
              <a:cxnLst/>
              <a:rect l="l" t="t" r="r" b="b"/>
              <a:pathLst>
                <a:path w="6641703" h="1426368">
                  <a:moveTo>
                    <a:pt x="0" y="0"/>
                  </a:moveTo>
                  <a:lnTo>
                    <a:pt x="6641703" y="0"/>
                  </a:lnTo>
                  <a:lnTo>
                    <a:pt x="6641703" y="1426368"/>
                  </a:lnTo>
                  <a:lnTo>
                    <a:pt x="0" y="1426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6641703" cy="14930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50"/>
                </a:lnSpc>
              </a:pPr>
              <a:r>
                <a:rPr lang="en-US" sz="1750" b="1" u="sng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</a:t>
              </a: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: If you need 30 different remote servers, you write a configuration file, and Terraform sets it up for you.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080527" y="6119366"/>
            <a:ext cx="5427166" cy="3557736"/>
            <a:chOff x="0" y="0"/>
            <a:chExt cx="7236222" cy="474364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236206" cy="4743704"/>
            </a:xfrm>
            <a:custGeom>
              <a:avLst/>
              <a:gdLst/>
              <a:ahLst/>
              <a:cxnLst/>
              <a:rect l="l" t="t" r="r" b="b"/>
              <a:pathLst>
                <a:path w="7236206" h="4743704">
                  <a:moveTo>
                    <a:pt x="0" y="44577"/>
                  </a:moveTo>
                  <a:cubicBezTo>
                    <a:pt x="0" y="19939"/>
                    <a:pt x="19939" y="0"/>
                    <a:pt x="44577" y="0"/>
                  </a:cubicBezTo>
                  <a:lnTo>
                    <a:pt x="7191629" y="0"/>
                  </a:lnTo>
                  <a:cubicBezTo>
                    <a:pt x="7216267" y="0"/>
                    <a:pt x="7236206" y="19939"/>
                    <a:pt x="7236206" y="44577"/>
                  </a:cubicBezTo>
                  <a:lnTo>
                    <a:pt x="7236206" y="4699000"/>
                  </a:lnTo>
                  <a:cubicBezTo>
                    <a:pt x="7236206" y="4723638"/>
                    <a:pt x="7216267" y="4743577"/>
                    <a:pt x="7191629" y="4743577"/>
                  </a:cubicBezTo>
                  <a:lnTo>
                    <a:pt x="44577" y="4743577"/>
                  </a:lnTo>
                  <a:cubicBezTo>
                    <a:pt x="19939" y="4743704"/>
                    <a:pt x="0" y="4723638"/>
                    <a:pt x="0" y="469900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303472" y="6342310"/>
            <a:ext cx="2786806" cy="348406"/>
            <a:chOff x="0" y="0"/>
            <a:chExt cx="3715742" cy="46454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715742" cy="464542"/>
            </a:xfrm>
            <a:custGeom>
              <a:avLst/>
              <a:gdLst/>
              <a:ahLst/>
              <a:cxnLst/>
              <a:rect l="l" t="t" r="r" b="b"/>
              <a:pathLst>
                <a:path w="3715742" h="464542">
                  <a:moveTo>
                    <a:pt x="0" y="0"/>
                  </a:moveTo>
                  <a:lnTo>
                    <a:pt x="3715742" y="0"/>
                  </a:lnTo>
                  <a:lnTo>
                    <a:pt x="3715742" y="464542"/>
                  </a:lnTo>
                  <a:lnTo>
                    <a:pt x="0" y="464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3715742" cy="4740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2187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Spinnaker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303472" y="6824365"/>
            <a:ext cx="4981277" cy="1426369"/>
            <a:chOff x="0" y="0"/>
            <a:chExt cx="6641703" cy="190182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641703" cy="1901825"/>
            </a:xfrm>
            <a:custGeom>
              <a:avLst/>
              <a:gdLst/>
              <a:ahLst/>
              <a:cxnLst/>
              <a:rect l="l" t="t" r="r" b="b"/>
              <a:pathLst>
                <a:path w="6641703" h="1901825">
                  <a:moveTo>
                    <a:pt x="0" y="0"/>
                  </a:moveTo>
                  <a:lnTo>
                    <a:pt x="6641703" y="0"/>
                  </a:lnTo>
                  <a:lnTo>
                    <a:pt x="6641703" y="1901825"/>
                  </a:lnTo>
                  <a:lnTo>
                    <a:pt x="0" y="19018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66675"/>
              <a:ext cx="6641703" cy="19685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50"/>
                </a:lnSpc>
              </a:pP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Spinnaker is a deployment tool designed for </a:t>
              </a:r>
              <a:r>
                <a:rPr lang="en-US" sz="1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managing applications across multiple cloud</a:t>
              </a: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providers.</a:t>
              </a:r>
            </a:p>
            <a:p>
              <a:pPr algn="l">
                <a:lnSpc>
                  <a:spcPts val="2750"/>
                </a:lnSpc>
              </a:pPr>
              <a:endParaRPr lang="en-US" sz="1750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303472" y="8384381"/>
            <a:ext cx="4981277" cy="1069776"/>
            <a:chOff x="0" y="0"/>
            <a:chExt cx="6641703" cy="142636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641703" cy="1426368"/>
            </a:xfrm>
            <a:custGeom>
              <a:avLst/>
              <a:gdLst/>
              <a:ahLst/>
              <a:cxnLst/>
              <a:rect l="l" t="t" r="r" b="b"/>
              <a:pathLst>
                <a:path w="6641703" h="1426368">
                  <a:moveTo>
                    <a:pt x="0" y="0"/>
                  </a:moveTo>
                  <a:lnTo>
                    <a:pt x="6641703" y="0"/>
                  </a:lnTo>
                  <a:lnTo>
                    <a:pt x="6641703" y="1426368"/>
                  </a:lnTo>
                  <a:lnTo>
                    <a:pt x="0" y="1426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66675"/>
              <a:ext cx="6641703" cy="14930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50"/>
                </a:lnSpc>
              </a:pPr>
              <a:r>
                <a:rPr lang="en-US" sz="1750" b="1" u="sng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</a:t>
              </a:r>
              <a:r>
                <a:rPr lang="en-US" sz="1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: When your application is dependent on specific service from &gt;1 cloud provider. (AWS + GCP)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EC9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3942010"/>
            <a:ext cx="16303526" cy="2657921"/>
            <a:chOff x="0" y="0"/>
            <a:chExt cx="21738035" cy="35438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38034" cy="3543895"/>
            </a:xfrm>
            <a:custGeom>
              <a:avLst/>
              <a:gdLst/>
              <a:ahLst/>
              <a:cxnLst/>
              <a:rect l="l" t="t" r="r" b="b"/>
              <a:pathLst>
                <a:path w="21738034" h="3543895">
                  <a:moveTo>
                    <a:pt x="0" y="0"/>
                  </a:moveTo>
                  <a:lnTo>
                    <a:pt x="21738034" y="0"/>
                  </a:lnTo>
                  <a:lnTo>
                    <a:pt x="21738034" y="3543895"/>
                  </a:lnTo>
                  <a:lnTo>
                    <a:pt x="0" y="3543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1738035" cy="35629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937"/>
                </a:lnSpc>
              </a:pPr>
              <a:r>
                <a:rPr lang="en-US" sz="556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Why use orchestration for deployment automation when we already have CI/CD pipeline?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168301"/>
            <a:ext cx="5670649" cy="708720"/>
            <a:chOff x="0" y="0"/>
            <a:chExt cx="7560865" cy="9449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60865" cy="944960"/>
            </a:xfrm>
            <a:custGeom>
              <a:avLst/>
              <a:gdLst/>
              <a:ahLst/>
              <a:cxnLst/>
              <a:rect l="l" t="t" r="r" b="b"/>
              <a:pathLst>
                <a:path w="7560865" h="944960">
                  <a:moveTo>
                    <a:pt x="0" y="0"/>
                  </a:moveTo>
                  <a:lnTo>
                    <a:pt x="7560865" y="0"/>
                  </a:lnTo>
                  <a:lnTo>
                    <a:pt x="7560865" y="944960"/>
                  </a:lnTo>
                  <a:lnTo>
                    <a:pt x="0" y="94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560865" cy="9640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562"/>
                </a:lnSpc>
              </a:pPr>
              <a:r>
                <a:rPr lang="en-US" sz="4437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Key Differences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2439292"/>
            <a:ext cx="16313051" cy="6684020"/>
            <a:chOff x="0" y="0"/>
            <a:chExt cx="21750735" cy="89120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781" cy="8911972"/>
            </a:xfrm>
            <a:custGeom>
              <a:avLst/>
              <a:gdLst/>
              <a:ahLst/>
              <a:cxnLst/>
              <a:rect l="l" t="t" r="r" b="b"/>
              <a:pathLst>
                <a:path w="21750781" h="8911972">
                  <a:moveTo>
                    <a:pt x="0" y="62992"/>
                  </a:moveTo>
                  <a:cubicBezTo>
                    <a:pt x="0" y="28194"/>
                    <a:pt x="28194" y="0"/>
                    <a:pt x="63119" y="0"/>
                  </a:cubicBezTo>
                  <a:lnTo>
                    <a:pt x="21687662" y="0"/>
                  </a:lnTo>
                  <a:lnTo>
                    <a:pt x="21687662" y="6350"/>
                  </a:lnTo>
                  <a:lnTo>
                    <a:pt x="21687662" y="0"/>
                  </a:lnTo>
                  <a:cubicBezTo>
                    <a:pt x="21722460" y="0"/>
                    <a:pt x="21750781" y="28194"/>
                    <a:pt x="21750781" y="62992"/>
                  </a:cubicBezTo>
                  <a:lnTo>
                    <a:pt x="21744431" y="62992"/>
                  </a:lnTo>
                  <a:lnTo>
                    <a:pt x="21750781" y="62992"/>
                  </a:lnTo>
                  <a:lnTo>
                    <a:pt x="21750781" y="8848979"/>
                  </a:lnTo>
                  <a:lnTo>
                    <a:pt x="21744431" y="8848979"/>
                  </a:lnTo>
                  <a:lnTo>
                    <a:pt x="21750781" y="8848979"/>
                  </a:lnTo>
                  <a:cubicBezTo>
                    <a:pt x="21750781" y="8883777"/>
                    <a:pt x="21722587" y="8911972"/>
                    <a:pt x="21687662" y="8911972"/>
                  </a:cubicBezTo>
                  <a:lnTo>
                    <a:pt x="21687662" y="8905622"/>
                  </a:lnTo>
                  <a:lnTo>
                    <a:pt x="21687662" y="8911972"/>
                  </a:lnTo>
                  <a:lnTo>
                    <a:pt x="63119" y="8911972"/>
                  </a:lnTo>
                  <a:lnTo>
                    <a:pt x="63119" y="8905622"/>
                  </a:lnTo>
                  <a:lnTo>
                    <a:pt x="63119" y="8911972"/>
                  </a:lnTo>
                  <a:cubicBezTo>
                    <a:pt x="28321" y="8911972"/>
                    <a:pt x="0" y="8883777"/>
                    <a:pt x="0" y="8848979"/>
                  </a:cubicBezTo>
                  <a:lnTo>
                    <a:pt x="0" y="62992"/>
                  </a:lnTo>
                  <a:lnTo>
                    <a:pt x="6350" y="62992"/>
                  </a:lnTo>
                  <a:lnTo>
                    <a:pt x="0" y="62992"/>
                  </a:lnTo>
                  <a:moveTo>
                    <a:pt x="12700" y="62992"/>
                  </a:moveTo>
                  <a:lnTo>
                    <a:pt x="12700" y="8848979"/>
                  </a:lnTo>
                  <a:lnTo>
                    <a:pt x="6350" y="8848979"/>
                  </a:lnTo>
                  <a:lnTo>
                    <a:pt x="12700" y="8848979"/>
                  </a:lnTo>
                  <a:cubicBezTo>
                    <a:pt x="12700" y="8876792"/>
                    <a:pt x="35306" y="8899272"/>
                    <a:pt x="63119" y="8899272"/>
                  </a:cubicBezTo>
                  <a:lnTo>
                    <a:pt x="21687662" y="8899272"/>
                  </a:lnTo>
                  <a:cubicBezTo>
                    <a:pt x="21715476" y="8899272"/>
                    <a:pt x="21738081" y="8876792"/>
                    <a:pt x="21738081" y="8848979"/>
                  </a:cubicBezTo>
                  <a:lnTo>
                    <a:pt x="21738081" y="62992"/>
                  </a:lnTo>
                  <a:cubicBezTo>
                    <a:pt x="21738081" y="35179"/>
                    <a:pt x="21715476" y="12700"/>
                    <a:pt x="21687662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179"/>
                    <a:pt x="12700" y="6299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762" y="2453580"/>
            <a:ext cx="16284476" cy="890885"/>
            <a:chOff x="0" y="0"/>
            <a:chExt cx="21712635" cy="11878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2682" cy="1187831"/>
            </a:xfrm>
            <a:custGeom>
              <a:avLst/>
              <a:gdLst/>
              <a:ahLst/>
              <a:cxnLst/>
              <a:rect l="l" t="t" r="r" b="b"/>
              <a:pathLst>
                <a:path w="21712682" h="1187831">
                  <a:moveTo>
                    <a:pt x="0" y="0"/>
                  </a:moveTo>
                  <a:lnTo>
                    <a:pt x="21712682" y="0"/>
                  </a:lnTo>
                  <a:lnTo>
                    <a:pt x="21712682" y="1187831"/>
                  </a:lnTo>
                  <a:lnTo>
                    <a:pt x="0" y="11878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5578" y="2633216"/>
            <a:ext cx="2886968" cy="531614"/>
            <a:chOff x="0" y="0"/>
            <a:chExt cx="3849290" cy="7088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49290" cy="708818"/>
            </a:xfrm>
            <a:custGeom>
              <a:avLst/>
              <a:gdLst/>
              <a:ahLst/>
              <a:cxnLst/>
              <a:rect l="l" t="t" r="r" b="b"/>
              <a:pathLst>
                <a:path w="3849290" h="708818">
                  <a:moveTo>
                    <a:pt x="0" y="0"/>
                  </a:moveTo>
                  <a:lnTo>
                    <a:pt x="3849290" y="0"/>
                  </a:lnTo>
                  <a:lnTo>
                    <a:pt x="384929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3849290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Feature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540723" y="2633216"/>
            <a:ext cx="4252912" cy="531614"/>
            <a:chOff x="0" y="0"/>
            <a:chExt cx="5670550" cy="7088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70550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CI/CD Pipeline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955810" y="2633216"/>
            <a:ext cx="4252912" cy="531614"/>
            <a:chOff x="0" y="0"/>
            <a:chExt cx="5670550" cy="708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670550" cy="727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Orchestration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1762" y="3344466"/>
            <a:ext cx="16284476" cy="1493044"/>
            <a:chOff x="0" y="0"/>
            <a:chExt cx="21712635" cy="19907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2682" cy="1990725"/>
            </a:xfrm>
            <a:custGeom>
              <a:avLst/>
              <a:gdLst/>
              <a:ahLst/>
              <a:cxnLst/>
              <a:rect l="l" t="t" r="r" b="b"/>
              <a:pathLst>
                <a:path w="21712682" h="1990725">
                  <a:moveTo>
                    <a:pt x="0" y="0"/>
                  </a:moveTo>
                  <a:lnTo>
                    <a:pt x="21712682" y="0"/>
                  </a:lnTo>
                  <a:lnTo>
                    <a:pt x="21712682" y="1990725"/>
                  </a:lnTo>
                  <a:lnTo>
                    <a:pt x="0" y="199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85578" y="3524101"/>
            <a:ext cx="2886968" cy="566886"/>
            <a:chOff x="0" y="0"/>
            <a:chExt cx="3849290" cy="7558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49290" cy="755848"/>
            </a:xfrm>
            <a:custGeom>
              <a:avLst/>
              <a:gdLst/>
              <a:ahLst/>
              <a:cxnLst/>
              <a:rect l="l" t="t" r="r" b="b"/>
              <a:pathLst>
                <a:path w="3849290" h="755848">
                  <a:moveTo>
                    <a:pt x="0" y="0"/>
                  </a:moveTo>
                  <a:lnTo>
                    <a:pt x="3849290" y="0"/>
                  </a:lnTo>
                  <a:lnTo>
                    <a:pt x="384929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14300"/>
              <a:ext cx="3849290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Main Purpose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49105" y="3524101"/>
            <a:ext cx="5836146" cy="1133772"/>
            <a:chOff x="0" y="0"/>
            <a:chExt cx="7781528" cy="15116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781528" cy="1511697"/>
            </a:xfrm>
            <a:custGeom>
              <a:avLst/>
              <a:gdLst/>
              <a:ahLst/>
              <a:cxnLst/>
              <a:rect l="l" t="t" r="r" b="b"/>
              <a:pathLst>
                <a:path w="7781528" h="1511697">
                  <a:moveTo>
                    <a:pt x="0" y="0"/>
                  </a:moveTo>
                  <a:lnTo>
                    <a:pt x="7781528" y="0"/>
                  </a:lnTo>
                  <a:lnTo>
                    <a:pt x="7781528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14300"/>
              <a:ext cx="7781528" cy="16259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Automate </a:t>
              </a:r>
              <a:r>
                <a:rPr lang="en-US" sz="2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building &amp; deploying code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61811" y="3524101"/>
            <a:ext cx="5840909" cy="1133772"/>
            <a:chOff x="0" y="0"/>
            <a:chExt cx="7787878" cy="15116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787878" cy="1511697"/>
            </a:xfrm>
            <a:custGeom>
              <a:avLst/>
              <a:gdLst/>
              <a:ahLst/>
              <a:cxnLst/>
              <a:rect l="l" t="t" r="r" b="b"/>
              <a:pathLst>
                <a:path w="7787878" h="1511697">
                  <a:moveTo>
                    <a:pt x="0" y="0"/>
                  </a:moveTo>
                  <a:lnTo>
                    <a:pt x="7787878" y="0"/>
                  </a:lnTo>
                  <a:lnTo>
                    <a:pt x="7787878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14300"/>
              <a:ext cx="7787878" cy="16259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Automate </a:t>
              </a:r>
              <a:r>
                <a:rPr lang="en-US" sz="2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running &amp; managing apps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1762" y="4837510"/>
            <a:ext cx="16284476" cy="926158"/>
            <a:chOff x="0" y="0"/>
            <a:chExt cx="21712635" cy="123487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85578" y="5017145"/>
            <a:ext cx="2886968" cy="566886"/>
            <a:chOff x="0" y="0"/>
            <a:chExt cx="3849290" cy="7558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849290" cy="755848"/>
            </a:xfrm>
            <a:custGeom>
              <a:avLst/>
              <a:gdLst/>
              <a:ahLst/>
              <a:cxnLst/>
              <a:rect l="l" t="t" r="r" b="b"/>
              <a:pathLst>
                <a:path w="3849290" h="755848">
                  <a:moveTo>
                    <a:pt x="0" y="0"/>
                  </a:moveTo>
                  <a:lnTo>
                    <a:pt x="3849290" y="0"/>
                  </a:lnTo>
                  <a:lnTo>
                    <a:pt x="384929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14300"/>
              <a:ext cx="3849290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Scaling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749105" y="5017145"/>
            <a:ext cx="5836146" cy="566886"/>
            <a:chOff x="0" y="0"/>
            <a:chExt cx="7781528" cy="7558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781528" cy="755848"/>
            </a:xfrm>
            <a:custGeom>
              <a:avLst/>
              <a:gdLst/>
              <a:ahLst/>
              <a:cxnLst/>
              <a:rect l="l" t="t" r="r" b="b"/>
              <a:pathLst>
                <a:path w="7781528" h="755848">
                  <a:moveTo>
                    <a:pt x="0" y="0"/>
                  </a:moveTo>
                  <a:lnTo>
                    <a:pt x="7781528" y="0"/>
                  </a:lnTo>
                  <a:lnTo>
                    <a:pt x="778152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14300"/>
              <a:ext cx="7781528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Manual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161811" y="5017145"/>
            <a:ext cx="5840909" cy="566886"/>
            <a:chOff x="0" y="0"/>
            <a:chExt cx="7787878" cy="7558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787878" cy="755848"/>
            </a:xfrm>
            <a:custGeom>
              <a:avLst/>
              <a:gdLst/>
              <a:ahLst/>
              <a:cxnLst/>
              <a:rect l="l" t="t" r="r" b="b"/>
              <a:pathLst>
                <a:path w="7787878" h="755848">
                  <a:moveTo>
                    <a:pt x="0" y="0"/>
                  </a:moveTo>
                  <a:lnTo>
                    <a:pt x="7787878" y="0"/>
                  </a:lnTo>
                  <a:lnTo>
                    <a:pt x="778787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14300"/>
              <a:ext cx="7787878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Auto-scales up/down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1762" y="5763666"/>
            <a:ext cx="16284476" cy="926157"/>
            <a:chOff x="0" y="0"/>
            <a:chExt cx="21712635" cy="123487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85578" y="5943302"/>
            <a:ext cx="2886968" cy="566886"/>
            <a:chOff x="0" y="0"/>
            <a:chExt cx="3849290" cy="7558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849290" cy="755848"/>
            </a:xfrm>
            <a:custGeom>
              <a:avLst/>
              <a:gdLst/>
              <a:ahLst/>
              <a:cxnLst/>
              <a:rect l="l" t="t" r="r" b="b"/>
              <a:pathLst>
                <a:path w="3849290" h="755848">
                  <a:moveTo>
                    <a:pt x="0" y="0"/>
                  </a:moveTo>
                  <a:lnTo>
                    <a:pt x="3849290" y="0"/>
                  </a:lnTo>
                  <a:lnTo>
                    <a:pt x="384929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14300"/>
              <a:ext cx="3849290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Self-Healing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749105" y="5943302"/>
            <a:ext cx="5836146" cy="566886"/>
            <a:chOff x="0" y="0"/>
            <a:chExt cx="7781528" cy="75584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781528" cy="755848"/>
            </a:xfrm>
            <a:custGeom>
              <a:avLst/>
              <a:gdLst/>
              <a:ahLst/>
              <a:cxnLst/>
              <a:rect l="l" t="t" r="r" b="b"/>
              <a:pathLst>
                <a:path w="7781528" h="755848">
                  <a:moveTo>
                    <a:pt x="0" y="0"/>
                  </a:moveTo>
                  <a:lnTo>
                    <a:pt x="7781528" y="0"/>
                  </a:lnTo>
                  <a:lnTo>
                    <a:pt x="778152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14300"/>
              <a:ext cx="7781528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Crashes need manual fix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161811" y="5943302"/>
            <a:ext cx="5840909" cy="566886"/>
            <a:chOff x="0" y="0"/>
            <a:chExt cx="7787878" cy="75584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787878" cy="755848"/>
            </a:xfrm>
            <a:custGeom>
              <a:avLst/>
              <a:gdLst/>
              <a:ahLst/>
              <a:cxnLst/>
              <a:rect l="l" t="t" r="r" b="b"/>
              <a:pathLst>
                <a:path w="7787878" h="755848">
                  <a:moveTo>
                    <a:pt x="0" y="0"/>
                  </a:moveTo>
                  <a:lnTo>
                    <a:pt x="7787878" y="0"/>
                  </a:lnTo>
                  <a:lnTo>
                    <a:pt x="778787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14300"/>
              <a:ext cx="7787878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Auto-restarts failed apps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01762" y="6689824"/>
            <a:ext cx="16284476" cy="1493044"/>
            <a:chOff x="0" y="0"/>
            <a:chExt cx="21712635" cy="199072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712682" cy="1990725"/>
            </a:xfrm>
            <a:custGeom>
              <a:avLst/>
              <a:gdLst/>
              <a:ahLst/>
              <a:cxnLst/>
              <a:rect l="l" t="t" r="r" b="b"/>
              <a:pathLst>
                <a:path w="21712682" h="1990725">
                  <a:moveTo>
                    <a:pt x="0" y="0"/>
                  </a:moveTo>
                  <a:lnTo>
                    <a:pt x="21712682" y="0"/>
                  </a:lnTo>
                  <a:lnTo>
                    <a:pt x="21712682" y="1990725"/>
                  </a:lnTo>
                  <a:lnTo>
                    <a:pt x="0" y="199072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85578" y="6869460"/>
            <a:ext cx="2886968" cy="566886"/>
            <a:chOff x="0" y="0"/>
            <a:chExt cx="3849290" cy="75584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849290" cy="755848"/>
            </a:xfrm>
            <a:custGeom>
              <a:avLst/>
              <a:gdLst/>
              <a:ahLst/>
              <a:cxnLst/>
              <a:rect l="l" t="t" r="r" b="b"/>
              <a:pathLst>
                <a:path w="3849290" h="755848">
                  <a:moveTo>
                    <a:pt x="0" y="0"/>
                  </a:moveTo>
                  <a:lnTo>
                    <a:pt x="3849290" y="0"/>
                  </a:lnTo>
                  <a:lnTo>
                    <a:pt x="384929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14300"/>
              <a:ext cx="3849290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Infrastructure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749105" y="6869460"/>
            <a:ext cx="5836146" cy="1133772"/>
            <a:chOff x="0" y="0"/>
            <a:chExt cx="7781528" cy="151169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781528" cy="1511697"/>
            </a:xfrm>
            <a:custGeom>
              <a:avLst/>
              <a:gdLst/>
              <a:ahLst/>
              <a:cxnLst/>
              <a:rect l="l" t="t" r="r" b="b"/>
              <a:pathLst>
                <a:path w="7781528" h="1511697">
                  <a:moveTo>
                    <a:pt x="0" y="0"/>
                  </a:moveTo>
                  <a:lnTo>
                    <a:pt x="7781528" y="0"/>
                  </a:lnTo>
                  <a:lnTo>
                    <a:pt x="7781528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14300"/>
              <a:ext cx="7781528" cy="16259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Just deploys code (needs servers set up)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161811" y="6869460"/>
            <a:ext cx="5840909" cy="566886"/>
            <a:chOff x="0" y="0"/>
            <a:chExt cx="7787878" cy="75584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787878" cy="755848"/>
            </a:xfrm>
            <a:custGeom>
              <a:avLst/>
              <a:gdLst/>
              <a:ahLst/>
              <a:cxnLst/>
              <a:rect l="l" t="t" r="r" b="b"/>
              <a:pathLst>
                <a:path w="7787878" h="755848">
                  <a:moveTo>
                    <a:pt x="0" y="0"/>
                  </a:moveTo>
                  <a:lnTo>
                    <a:pt x="7787878" y="0"/>
                  </a:lnTo>
                  <a:lnTo>
                    <a:pt x="778787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14300"/>
              <a:ext cx="7787878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Creates &amp; manages servers (IaC)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1762" y="8182867"/>
            <a:ext cx="16284476" cy="926157"/>
            <a:chOff x="0" y="0"/>
            <a:chExt cx="21712635" cy="1234877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85578" y="8362504"/>
            <a:ext cx="2886968" cy="566886"/>
            <a:chOff x="0" y="0"/>
            <a:chExt cx="3849290" cy="75584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849290" cy="755848"/>
            </a:xfrm>
            <a:custGeom>
              <a:avLst/>
              <a:gdLst/>
              <a:ahLst/>
              <a:cxnLst/>
              <a:rect l="l" t="t" r="r" b="b"/>
              <a:pathLst>
                <a:path w="3849290" h="755848">
                  <a:moveTo>
                    <a:pt x="0" y="0"/>
                  </a:moveTo>
                  <a:lnTo>
                    <a:pt x="3849290" y="0"/>
                  </a:lnTo>
                  <a:lnTo>
                    <a:pt x="384929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114300"/>
              <a:ext cx="3849290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Best For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749105" y="8362504"/>
            <a:ext cx="5836146" cy="566886"/>
            <a:chOff x="0" y="0"/>
            <a:chExt cx="7781528" cy="75584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781528" cy="755848"/>
            </a:xfrm>
            <a:custGeom>
              <a:avLst/>
              <a:gdLst/>
              <a:ahLst/>
              <a:cxnLst/>
              <a:rect l="l" t="t" r="r" b="b"/>
              <a:pathLst>
                <a:path w="7781528" h="755848">
                  <a:moveTo>
                    <a:pt x="0" y="0"/>
                  </a:moveTo>
                  <a:lnTo>
                    <a:pt x="7781528" y="0"/>
                  </a:lnTo>
                  <a:lnTo>
                    <a:pt x="778152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114300"/>
              <a:ext cx="7781528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Fast code releases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1161811" y="8362504"/>
            <a:ext cx="5840909" cy="566886"/>
            <a:chOff x="0" y="0"/>
            <a:chExt cx="7787878" cy="7558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7787878" cy="755848"/>
            </a:xfrm>
            <a:custGeom>
              <a:avLst/>
              <a:gdLst/>
              <a:ahLst/>
              <a:cxnLst/>
              <a:rect l="l" t="t" r="r" b="b"/>
              <a:pathLst>
                <a:path w="7787878" h="755848">
                  <a:moveTo>
                    <a:pt x="0" y="0"/>
                  </a:moveTo>
                  <a:lnTo>
                    <a:pt x="7787878" y="0"/>
                  </a:lnTo>
                  <a:lnTo>
                    <a:pt x="778787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114300"/>
              <a:ext cx="7787878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Reliable, large-scale apps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895624"/>
            <a:ext cx="9248327" cy="1056307"/>
            <a:chOff x="0" y="0"/>
            <a:chExt cx="12331103" cy="14084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31104" cy="1408409"/>
            </a:xfrm>
            <a:custGeom>
              <a:avLst/>
              <a:gdLst/>
              <a:ahLst/>
              <a:cxnLst/>
              <a:rect l="l" t="t" r="r" b="b"/>
              <a:pathLst>
                <a:path w="12331104" h="1408409">
                  <a:moveTo>
                    <a:pt x="0" y="0"/>
                  </a:moveTo>
                  <a:lnTo>
                    <a:pt x="12331104" y="0"/>
                  </a:lnTo>
                  <a:lnTo>
                    <a:pt x="12331104" y="1408409"/>
                  </a:lnTo>
                  <a:lnTo>
                    <a:pt x="0" y="14084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331103" cy="142745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CD Best Practices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3722935" y="3348632"/>
            <a:ext cx="2690069" cy="1633686"/>
          </a:xfrm>
          <a:custGeom>
            <a:avLst/>
            <a:gdLst/>
            <a:ahLst/>
            <a:cxnLst/>
            <a:rect l="l" t="t" r="r" b="b"/>
            <a:pathLst>
              <a:path w="2690069" h="1633686">
                <a:moveTo>
                  <a:pt x="0" y="0"/>
                </a:moveTo>
                <a:lnTo>
                  <a:pt x="2690069" y="0"/>
                </a:lnTo>
                <a:lnTo>
                  <a:pt x="2690069" y="1633687"/>
                </a:lnTo>
                <a:lnTo>
                  <a:pt x="0" y="1633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6" b="-2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 descr="preencoded.png"/>
          <p:cNvSpPr/>
          <p:nvPr/>
        </p:nvSpPr>
        <p:spPr>
          <a:xfrm>
            <a:off x="4868615" y="4118670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696521" y="3632150"/>
            <a:ext cx="3544044" cy="442912"/>
            <a:chOff x="0" y="0"/>
            <a:chExt cx="4725392" cy="5905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Security Scans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96520" y="4245174"/>
            <a:ext cx="6943279" cy="453629"/>
            <a:chOff x="0" y="0"/>
            <a:chExt cx="7217568" cy="6048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17568" cy="604838"/>
            </a:xfrm>
            <a:custGeom>
              <a:avLst/>
              <a:gdLst/>
              <a:ahLst/>
              <a:cxnLst/>
              <a:rect l="l" t="t" r="r" b="b"/>
              <a:pathLst>
                <a:path w="7217568" h="604838">
                  <a:moveTo>
                    <a:pt x="0" y="0"/>
                  </a:moveTo>
                  <a:lnTo>
                    <a:pt x="7217568" y="0"/>
                  </a:lnTo>
                  <a:lnTo>
                    <a:pt x="721756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721756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 dirty="0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Add security checks before deployment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83846" y="4998690"/>
            <a:ext cx="10741075" cy="19050"/>
            <a:chOff x="0" y="0"/>
            <a:chExt cx="14321433" cy="25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321410" cy="25400"/>
            </a:xfrm>
            <a:custGeom>
              <a:avLst/>
              <a:gdLst/>
              <a:ahLst/>
              <a:cxnLst/>
              <a:rect l="l" t="t" r="r" b="b"/>
              <a:pathLst>
                <a:path w="14321410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2377976" y="5053161"/>
            <a:ext cx="5380136" cy="1633686"/>
          </a:xfrm>
          <a:custGeom>
            <a:avLst/>
            <a:gdLst/>
            <a:ahLst/>
            <a:cxnLst/>
            <a:rect l="l" t="t" r="r" b="b"/>
            <a:pathLst>
              <a:path w="5380136" h="1633686">
                <a:moveTo>
                  <a:pt x="0" y="0"/>
                </a:moveTo>
                <a:lnTo>
                  <a:pt x="5380136" y="0"/>
                </a:lnTo>
                <a:lnTo>
                  <a:pt x="5380136" y="1633686"/>
                </a:lnTo>
                <a:lnTo>
                  <a:pt x="0" y="1633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7" b="-1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 descr="preencoded.png"/>
          <p:cNvSpPr/>
          <p:nvPr/>
        </p:nvSpPr>
        <p:spPr>
          <a:xfrm>
            <a:off x="4868615" y="5620791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8041630" y="5336679"/>
            <a:ext cx="3544044" cy="442912"/>
            <a:chOff x="0" y="0"/>
            <a:chExt cx="4725392" cy="5905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Approval Gates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41630" y="5949702"/>
            <a:ext cx="6512570" cy="453629"/>
            <a:chOff x="0" y="0"/>
            <a:chExt cx="6518870" cy="6048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18870" cy="604838"/>
            </a:xfrm>
            <a:custGeom>
              <a:avLst/>
              <a:gdLst/>
              <a:ahLst/>
              <a:cxnLst/>
              <a:rect l="l" t="t" r="r" b="b"/>
              <a:pathLst>
                <a:path w="6518870" h="604838">
                  <a:moveTo>
                    <a:pt x="0" y="0"/>
                  </a:moveTo>
                  <a:lnTo>
                    <a:pt x="6518870" y="0"/>
                  </a:lnTo>
                  <a:lnTo>
                    <a:pt x="651887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6518870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 dirty="0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Add manual or automated approvals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828955" y="6703219"/>
            <a:ext cx="9395966" cy="19050"/>
            <a:chOff x="0" y="0"/>
            <a:chExt cx="12527955" cy="25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527915" cy="25400"/>
            </a:xfrm>
            <a:custGeom>
              <a:avLst/>
              <a:gdLst/>
              <a:ahLst/>
              <a:cxnLst/>
              <a:rect l="l" t="t" r="r" b="b"/>
              <a:pathLst>
                <a:path w="12527915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1032868" y="6757690"/>
            <a:ext cx="8070205" cy="1633686"/>
          </a:xfrm>
          <a:custGeom>
            <a:avLst/>
            <a:gdLst/>
            <a:ahLst/>
            <a:cxnLst/>
            <a:rect l="l" t="t" r="r" b="b"/>
            <a:pathLst>
              <a:path w="8070205" h="1633686">
                <a:moveTo>
                  <a:pt x="0" y="0"/>
                </a:moveTo>
                <a:lnTo>
                  <a:pt x="8070204" y="0"/>
                </a:lnTo>
                <a:lnTo>
                  <a:pt x="8070204" y="1633686"/>
                </a:lnTo>
                <a:lnTo>
                  <a:pt x="0" y="16336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56" b="-1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 descr="preencoded.png"/>
          <p:cNvSpPr/>
          <p:nvPr/>
        </p:nvSpPr>
        <p:spPr>
          <a:xfrm>
            <a:off x="4868466" y="7325320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9386590" y="7041208"/>
            <a:ext cx="5003304" cy="442912"/>
            <a:chOff x="0" y="0"/>
            <a:chExt cx="6671072" cy="5905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671072" cy="590550"/>
            </a:xfrm>
            <a:custGeom>
              <a:avLst/>
              <a:gdLst/>
              <a:ahLst/>
              <a:cxnLst/>
              <a:rect l="l" t="t" r="r" b="b"/>
              <a:pathLst>
                <a:path w="6671072" h="590550">
                  <a:moveTo>
                    <a:pt x="0" y="0"/>
                  </a:moveTo>
                  <a:lnTo>
                    <a:pt x="6671072" y="0"/>
                  </a:lnTo>
                  <a:lnTo>
                    <a:pt x="667107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667107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Small, Frequent Deployments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386590" y="7654230"/>
            <a:ext cx="5003304" cy="453629"/>
            <a:chOff x="0" y="0"/>
            <a:chExt cx="6671072" cy="6048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671072" cy="604838"/>
            </a:xfrm>
            <a:custGeom>
              <a:avLst/>
              <a:gdLst/>
              <a:ahLst/>
              <a:cxnLst/>
              <a:rect l="l" t="t" r="r" b="b"/>
              <a:pathLst>
                <a:path w="6671072" h="604838">
                  <a:moveTo>
                    <a:pt x="0" y="0"/>
                  </a:moveTo>
                  <a:lnTo>
                    <a:pt x="6671072" y="0"/>
                  </a:lnTo>
                  <a:lnTo>
                    <a:pt x="667107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6671072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Deploy smaller updates more often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161" y="563166"/>
            <a:ext cx="8427839" cy="604853"/>
            <a:chOff x="0" y="0"/>
            <a:chExt cx="11237119" cy="806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37119" cy="806471"/>
            </a:xfrm>
            <a:custGeom>
              <a:avLst/>
              <a:gdLst/>
              <a:ahLst/>
              <a:cxnLst/>
              <a:rect l="l" t="t" r="r" b="b"/>
              <a:pathLst>
                <a:path w="11237119" h="806471">
                  <a:moveTo>
                    <a:pt x="0" y="0"/>
                  </a:moveTo>
                  <a:lnTo>
                    <a:pt x="11237119" y="0"/>
                  </a:lnTo>
                  <a:lnTo>
                    <a:pt x="11237119" y="806471"/>
                  </a:lnTo>
                  <a:lnTo>
                    <a:pt x="0" y="8064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237119" cy="82552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99"/>
                </a:lnSpc>
              </a:pPr>
              <a:r>
                <a:rPr lang="en-US" sz="3187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Release Management &amp; Approvals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6161" y="1483816"/>
            <a:ext cx="16855679" cy="409277"/>
            <a:chOff x="0" y="0"/>
            <a:chExt cx="22474238" cy="5457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74239" cy="545703"/>
            </a:xfrm>
            <a:custGeom>
              <a:avLst/>
              <a:gdLst/>
              <a:ahLst/>
              <a:cxnLst/>
              <a:rect l="l" t="t" r="r" b="b"/>
              <a:pathLst>
                <a:path w="22474239" h="545703">
                  <a:moveTo>
                    <a:pt x="0" y="0"/>
                  </a:moveTo>
                  <a:lnTo>
                    <a:pt x="22474239" y="0"/>
                  </a:lnTo>
                  <a:lnTo>
                    <a:pt x="22474239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2474238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Approvals Matter 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6161" y="2123182"/>
            <a:ext cx="16855679" cy="409278"/>
            <a:chOff x="0" y="0"/>
            <a:chExt cx="22474238" cy="5457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474239" cy="545703"/>
            </a:xfrm>
            <a:custGeom>
              <a:avLst/>
              <a:gdLst/>
              <a:ahLst/>
              <a:cxnLst/>
              <a:rect l="l" t="t" r="r" b="b"/>
              <a:pathLst>
                <a:path w="22474239" h="545703">
                  <a:moveTo>
                    <a:pt x="0" y="0"/>
                  </a:moveTo>
                  <a:lnTo>
                    <a:pt x="22474239" y="0"/>
                  </a:lnTo>
                  <a:lnTo>
                    <a:pt x="22474239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22474238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 production or regulated environments, direct deployments are risky.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16161" y="2762548"/>
            <a:ext cx="16855679" cy="409277"/>
            <a:chOff x="0" y="0"/>
            <a:chExt cx="22474238" cy="5457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474239" cy="545703"/>
            </a:xfrm>
            <a:custGeom>
              <a:avLst/>
              <a:gdLst/>
              <a:ahLst/>
              <a:cxnLst/>
              <a:rect l="l" t="t" r="r" b="b"/>
              <a:pathLst>
                <a:path w="22474239" h="545703">
                  <a:moveTo>
                    <a:pt x="0" y="0"/>
                  </a:moveTo>
                  <a:lnTo>
                    <a:pt x="22474239" y="0"/>
                  </a:lnTo>
                  <a:lnTo>
                    <a:pt x="22474239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22474238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Approvals help to: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6161" y="3401914"/>
            <a:ext cx="16855679" cy="409277"/>
            <a:chOff x="0" y="0"/>
            <a:chExt cx="22474238" cy="5457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474239" cy="545703"/>
            </a:xfrm>
            <a:custGeom>
              <a:avLst/>
              <a:gdLst/>
              <a:ahLst/>
              <a:cxnLst/>
              <a:rect l="l" t="t" r="r" b="b"/>
              <a:pathLst>
                <a:path w="22474239" h="545703">
                  <a:moveTo>
                    <a:pt x="0" y="0"/>
                  </a:moveTo>
                  <a:lnTo>
                    <a:pt x="22474239" y="0"/>
                  </a:lnTo>
                  <a:lnTo>
                    <a:pt x="22474239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2474238" cy="61237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35645" lvl="1" indent="-117822" algn="l">
                <a:lnSpc>
                  <a:spcPts val="2562"/>
                </a:lnSpc>
                <a:buFont typeface="Arial"/>
                <a:buChar char="•"/>
              </a:pPr>
              <a:r>
                <a:rPr lang="en-US" sz="15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Catch mistakes before they reach users.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16161" y="3882777"/>
            <a:ext cx="16855679" cy="409277"/>
            <a:chOff x="0" y="0"/>
            <a:chExt cx="22474238" cy="5457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474239" cy="545703"/>
            </a:xfrm>
            <a:custGeom>
              <a:avLst/>
              <a:gdLst/>
              <a:ahLst/>
              <a:cxnLst/>
              <a:rect l="l" t="t" r="r" b="b"/>
              <a:pathLst>
                <a:path w="22474239" h="545703">
                  <a:moveTo>
                    <a:pt x="0" y="0"/>
                  </a:moveTo>
                  <a:lnTo>
                    <a:pt x="22474239" y="0"/>
                  </a:lnTo>
                  <a:lnTo>
                    <a:pt x="22474239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22474238" cy="61237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35645" lvl="1" indent="-117822" algn="l">
                <a:lnSpc>
                  <a:spcPts val="2562"/>
                </a:lnSpc>
                <a:buFont typeface="Arial"/>
                <a:buChar char="•"/>
              </a:pPr>
              <a:r>
                <a:rPr lang="en-US" sz="15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Ensure compliance with policies or external regulations.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6161" y="5161509"/>
            <a:ext cx="16855679" cy="409278"/>
            <a:chOff x="0" y="0"/>
            <a:chExt cx="22474238" cy="5457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474239" cy="545703"/>
            </a:xfrm>
            <a:custGeom>
              <a:avLst/>
              <a:gdLst/>
              <a:ahLst/>
              <a:cxnLst/>
              <a:rect l="l" t="t" r="r" b="b"/>
              <a:pathLst>
                <a:path w="22474239" h="545703">
                  <a:moveTo>
                    <a:pt x="0" y="0"/>
                  </a:moveTo>
                  <a:lnTo>
                    <a:pt x="22474239" y="0"/>
                  </a:lnTo>
                  <a:lnTo>
                    <a:pt x="22474239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22474238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Types of Approvals: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6161" y="6030962"/>
            <a:ext cx="460325" cy="460325"/>
            <a:chOff x="0" y="0"/>
            <a:chExt cx="613767" cy="61376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13791" cy="613791"/>
            </a:xfrm>
            <a:custGeom>
              <a:avLst/>
              <a:gdLst/>
              <a:ahLst/>
              <a:cxnLst/>
              <a:rect l="l" t="t" r="r" b="b"/>
              <a:pathLst>
                <a:path w="613791" h="613791">
                  <a:moveTo>
                    <a:pt x="0" y="40894"/>
                  </a:moveTo>
                  <a:cubicBezTo>
                    <a:pt x="0" y="18288"/>
                    <a:pt x="18288" y="0"/>
                    <a:pt x="40894" y="0"/>
                  </a:cubicBezTo>
                  <a:lnTo>
                    <a:pt x="572897" y="0"/>
                  </a:lnTo>
                  <a:cubicBezTo>
                    <a:pt x="595503" y="0"/>
                    <a:pt x="613791" y="18288"/>
                    <a:pt x="613791" y="40894"/>
                  </a:cubicBezTo>
                  <a:lnTo>
                    <a:pt x="613791" y="572897"/>
                  </a:lnTo>
                  <a:cubicBezTo>
                    <a:pt x="613791" y="595503"/>
                    <a:pt x="595503" y="613791"/>
                    <a:pt x="572897" y="613791"/>
                  </a:cubicBezTo>
                  <a:lnTo>
                    <a:pt x="40894" y="613791"/>
                  </a:lnTo>
                  <a:cubicBezTo>
                    <a:pt x="18288" y="613791"/>
                    <a:pt x="0" y="595503"/>
                    <a:pt x="0" y="57289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2807" y="6069285"/>
            <a:ext cx="306884" cy="383530"/>
            <a:chOff x="0" y="0"/>
            <a:chExt cx="409178" cy="51137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09178" cy="511373"/>
            </a:xfrm>
            <a:custGeom>
              <a:avLst/>
              <a:gdLst/>
              <a:ahLst/>
              <a:cxnLst/>
              <a:rect l="l" t="t" r="r" b="b"/>
              <a:pathLst>
                <a:path w="409178" h="511373">
                  <a:moveTo>
                    <a:pt x="0" y="0"/>
                  </a:moveTo>
                  <a:lnTo>
                    <a:pt x="409178" y="0"/>
                  </a:lnTo>
                  <a:lnTo>
                    <a:pt x="409178" y="511373"/>
                  </a:lnTo>
                  <a:lnTo>
                    <a:pt x="0" y="511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47625"/>
              <a:ext cx="409178" cy="4637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2375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80976" y="6030962"/>
            <a:ext cx="16190862" cy="409278"/>
            <a:chOff x="0" y="0"/>
            <a:chExt cx="21587817" cy="54570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587817" cy="545703"/>
            </a:xfrm>
            <a:custGeom>
              <a:avLst/>
              <a:gdLst/>
              <a:ahLst/>
              <a:cxnLst/>
              <a:rect l="l" t="t" r="r" b="b"/>
              <a:pathLst>
                <a:path w="21587817" h="545703">
                  <a:moveTo>
                    <a:pt x="0" y="0"/>
                  </a:moveTo>
                  <a:lnTo>
                    <a:pt x="21587817" y="0"/>
                  </a:lnTo>
                  <a:lnTo>
                    <a:pt x="21587817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76200"/>
              <a:ext cx="21587817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Manual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80976" y="6562874"/>
            <a:ext cx="16190862" cy="409278"/>
            <a:chOff x="0" y="0"/>
            <a:chExt cx="21587817" cy="5457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587817" cy="545703"/>
            </a:xfrm>
            <a:custGeom>
              <a:avLst/>
              <a:gdLst/>
              <a:ahLst/>
              <a:cxnLst/>
              <a:rect l="l" t="t" r="r" b="b"/>
              <a:pathLst>
                <a:path w="21587817" h="545703">
                  <a:moveTo>
                    <a:pt x="0" y="0"/>
                  </a:moveTo>
                  <a:lnTo>
                    <a:pt x="21587817" y="0"/>
                  </a:lnTo>
                  <a:lnTo>
                    <a:pt x="21587817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76200"/>
              <a:ext cx="21587817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Involves manual intervention to review &amp; approve the deployment before they proceed to next stage.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16161" y="7406729"/>
            <a:ext cx="460325" cy="460325"/>
            <a:chOff x="0" y="0"/>
            <a:chExt cx="613767" cy="61376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13791" cy="613791"/>
            </a:xfrm>
            <a:custGeom>
              <a:avLst/>
              <a:gdLst/>
              <a:ahLst/>
              <a:cxnLst/>
              <a:rect l="l" t="t" r="r" b="b"/>
              <a:pathLst>
                <a:path w="613791" h="613791">
                  <a:moveTo>
                    <a:pt x="0" y="40894"/>
                  </a:moveTo>
                  <a:cubicBezTo>
                    <a:pt x="0" y="18288"/>
                    <a:pt x="18288" y="0"/>
                    <a:pt x="40894" y="0"/>
                  </a:cubicBezTo>
                  <a:lnTo>
                    <a:pt x="572897" y="0"/>
                  </a:lnTo>
                  <a:cubicBezTo>
                    <a:pt x="595503" y="0"/>
                    <a:pt x="613791" y="18288"/>
                    <a:pt x="613791" y="40894"/>
                  </a:cubicBezTo>
                  <a:lnTo>
                    <a:pt x="613791" y="572897"/>
                  </a:lnTo>
                  <a:cubicBezTo>
                    <a:pt x="613791" y="595503"/>
                    <a:pt x="595503" y="613791"/>
                    <a:pt x="572897" y="613791"/>
                  </a:cubicBezTo>
                  <a:lnTo>
                    <a:pt x="40894" y="613791"/>
                  </a:lnTo>
                  <a:cubicBezTo>
                    <a:pt x="18288" y="613791"/>
                    <a:pt x="0" y="595503"/>
                    <a:pt x="0" y="57289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2807" y="7445052"/>
            <a:ext cx="306884" cy="383530"/>
            <a:chOff x="0" y="0"/>
            <a:chExt cx="409178" cy="51137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9178" cy="511373"/>
            </a:xfrm>
            <a:custGeom>
              <a:avLst/>
              <a:gdLst/>
              <a:ahLst/>
              <a:cxnLst/>
              <a:rect l="l" t="t" r="r" b="b"/>
              <a:pathLst>
                <a:path w="409178" h="511373">
                  <a:moveTo>
                    <a:pt x="0" y="0"/>
                  </a:moveTo>
                  <a:lnTo>
                    <a:pt x="409178" y="0"/>
                  </a:lnTo>
                  <a:lnTo>
                    <a:pt x="409178" y="511373"/>
                  </a:lnTo>
                  <a:lnTo>
                    <a:pt x="0" y="511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47625"/>
              <a:ext cx="409178" cy="4637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2375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80976" y="7406729"/>
            <a:ext cx="16190862" cy="409277"/>
            <a:chOff x="0" y="0"/>
            <a:chExt cx="21587817" cy="54570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587817" cy="545703"/>
            </a:xfrm>
            <a:custGeom>
              <a:avLst/>
              <a:gdLst/>
              <a:ahLst/>
              <a:cxnLst/>
              <a:rect l="l" t="t" r="r" b="b"/>
              <a:pathLst>
                <a:path w="21587817" h="545703">
                  <a:moveTo>
                    <a:pt x="0" y="0"/>
                  </a:moveTo>
                  <a:lnTo>
                    <a:pt x="21587817" y="0"/>
                  </a:lnTo>
                  <a:lnTo>
                    <a:pt x="21587817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76200"/>
              <a:ext cx="21587817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Automated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80976" y="7938641"/>
            <a:ext cx="16190862" cy="409278"/>
            <a:chOff x="0" y="0"/>
            <a:chExt cx="21587817" cy="54570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587817" cy="545703"/>
            </a:xfrm>
            <a:custGeom>
              <a:avLst/>
              <a:gdLst/>
              <a:ahLst/>
              <a:cxnLst/>
              <a:rect l="l" t="t" r="r" b="b"/>
              <a:pathLst>
                <a:path w="21587817" h="545703">
                  <a:moveTo>
                    <a:pt x="0" y="0"/>
                  </a:moveTo>
                  <a:lnTo>
                    <a:pt x="21587817" y="0"/>
                  </a:lnTo>
                  <a:lnTo>
                    <a:pt x="21587817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76200"/>
              <a:ext cx="21587817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 predefined checks &amp; tests to validate deployment before moving to the next stage.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16161" y="8782496"/>
            <a:ext cx="460325" cy="460325"/>
            <a:chOff x="0" y="0"/>
            <a:chExt cx="613767" cy="61376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13791" cy="613791"/>
            </a:xfrm>
            <a:custGeom>
              <a:avLst/>
              <a:gdLst/>
              <a:ahLst/>
              <a:cxnLst/>
              <a:rect l="l" t="t" r="r" b="b"/>
              <a:pathLst>
                <a:path w="613791" h="613791">
                  <a:moveTo>
                    <a:pt x="0" y="40894"/>
                  </a:moveTo>
                  <a:cubicBezTo>
                    <a:pt x="0" y="18288"/>
                    <a:pt x="18288" y="0"/>
                    <a:pt x="40894" y="0"/>
                  </a:cubicBezTo>
                  <a:lnTo>
                    <a:pt x="572897" y="0"/>
                  </a:lnTo>
                  <a:cubicBezTo>
                    <a:pt x="595503" y="0"/>
                    <a:pt x="613791" y="18288"/>
                    <a:pt x="613791" y="40894"/>
                  </a:cubicBezTo>
                  <a:lnTo>
                    <a:pt x="613791" y="572897"/>
                  </a:lnTo>
                  <a:cubicBezTo>
                    <a:pt x="613791" y="595503"/>
                    <a:pt x="595503" y="613791"/>
                    <a:pt x="572897" y="613791"/>
                  </a:cubicBezTo>
                  <a:lnTo>
                    <a:pt x="40894" y="613791"/>
                  </a:lnTo>
                  <a:cubicBezTo>
                    <a:pt x="18288" y="613791"/>
                    <a:pt x="0" y="595503"/>
                    <a:pt x="0" y="57289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92807" y="8820820"/>
            <a:ext cx="306884" cy="383530"/>
            <a:chOff x="0" y="0"/>
            <a:chExt cx="409178" cy="51137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09178" cy="511373"/>
            </a:xfrm>
            <a:custGeom>
              <a:avLst/>
              <a:gdLst/>
              <a:ahLst/>
              <a:cxnLst/>
              <a:rect l="l" t="t" r="r" b="b"/>
              <a:pathLst>
                <a:path w="409178" h="511373">
                  <a:moveTo>
                    <a:pt x="0" y="0"/>
                  </a:moveTo>
                  <a:lnTo>
                    <a:pt x="409178" y="0"/>
                  </a:lnTo>
                  <a:lnTo>
                    <a:pt x="409178" y="511373"/>
                  </a:lnTo>
                  <a:lnTo>
                    <a:pt x="0" y="511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47625"/>
              <a:ext cx="409178" cy="4637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2375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80976" y="8782496"/>
            <a:ext cx="16190862" cy="409277"/>
            <a:chOff x="0" y="0"/>
            <a:chExt cx="21587817" cy="54570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1587817" cy="545703"/>
            </a:xfrm>
            <a:custGeom>
              <a:avLst/>
              <a:gdLst/>
              <a:ahLst/>
              <a:cxnLst/>
              <a:rect l="l" t="t" r="r" b="b"/>
              <a:pathLst>
                <a:path w="21587817" h="545703">
                  <a:moveTo>
                    <a:pt x="0" y="0"/>
                  </a:moveTo>
                  <a:lnTo>
                    <a:pt x="21587817" y="0"/>
                  </a:lnTo>
                  <a:lnTo>
                    <a:pt x="21587817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76200"/>
              <a:ext cx="21587817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Governance in CD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80976" y="9314409"/>
            <a:ext cx="16190862" cy="409277"/>
            <a:chOff x="0" y="0"/>
            <a:chExt cx="21587817" cy="54570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587817" cy="545703"/>
            </a:xfrm>
            <a:custGeom>
              <a:avLst/>
              <a:gdLst/>
              <a:ahLst/>
              <a:cxnLst/>
              <a:rect l="l" t="t" r="r" b="b"/>
              <a:pathLst>
                <a:path w="21587817" h="545703">
                  <a:moveTo>
                    <a:pt x="0" y="0"/>
                  </a:moveTo>
                  <a:lnTo>
                    <a:pt x="21587817" y="0"/>
                  </a:lnTo>
                  <a:lnTo>
                    <a:pt x="21587817" y="545703"/>
                  </a:lnTo>
                  <a:lnTo>
                    <a:pt x="0" y="5457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76200"/>
              <a:ext cx="21587817" cy="6219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200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Governance ensures that deployments adhere to organizational policies &amp; regulatory standards.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39254" y="555426"/>
            <a:ext cx="9962974" cy="1589485"/>
            <a:chOff x="0" y="0"/>
            <a:chExt cx="13283965" cy="21193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83964" cy="2119313"/>
            </a:xfrm>
            <a:custGeom>
              <a:avLst/>
              <a:gdLst/>
              <a:ahLst/>
              <a:cxnLst/>
              <a:rect l="l" t="t" r="r" b="b"/>
              <a:pathLst>
                <a:path w="13283964" h="2119313">
                  <a:moveTo>
                    <a:pt x="0" y="0"/>
                  </a:moveTo>
                  <a:lnTo>
                    <a:pt x="13283964" y="0"/>
                  </a:lnTo>
                  <a:lnTo>
                    <a:pt x="13283964" y="2119313"/>
                  </a:lnTo>
                  <a:lnTo>
                    <a:pt x="0" y="2119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3283965" cy="21478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250"/>
                </a:lnSpc>
              </a:pPr>
              <a:r>
                <a:rPr lang="en-US" sz="4187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Add monitoring to Flask App for blue/green deployment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939254" y="2744986"/>
            <a:ext cx="1341835" cy="1610171"/>
          </a:xfrm>
          <a:custGeom>
            <a:avLst/>
            <a:gdLst/>
            <a:ahLst/>
            <a:cxnLst/>
            <a:rect l="l" t="t" r="r" b="b"/>
            <a:pathLst>
              <a:path w="1341835" h="1610171">
                <a:moveTo>
                  <a:pt x="0" y="0"/>
                </a:moveTo>
                <a:lnTo>
                  <a:pt x="1341835" y="0"/>
                </a:lnTo>
                <a:lnTo>
                  <a:pt x="1341835" y="1610172"/>
                </a:lnTo>
                <a:lnTo>
                  <a:pt x="0" y="1610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" r="-5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683520" y="3013322"/>
            <a:ext cx="4549974" cy="419249"/>
            <a:chOff x="0" y="0"/>
            <a:chExt cx="4887515" cy="5589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87515" cy="558998"/>
            </a:xfrm>
            <a:custGeom>
              <a:avLst/>
              <a:gdLst/>
              <a:ahLst/>
              <a:cxnLst/>
              <a:rect l="l" t="t" r="r" b="b"/>
              <a:pathLst>
                <a:path w="4887515" h="558998">
                  <a:moveTo>
                    <a:pt x="0" y="0"/>
                  </a:moveTo>
                  <a:lnTo>
                    <a:pt x="4887515" y="0"/>
                  </a:lnTo>
                  <a:lnTo>
                    <a:pt x="4887515" y="558998"/>
                  </a:lnTo>
                  <a:lnTo>
                    <a:pt x="0" y="558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4887515" cy="558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 dirty="0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Add /metrics Endpoint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683520" y="3593455"/>
            <a:ext cx="7807226" cy="429220"/>
            <a:chOff x="0" y="0"/>
            <a:chExt cx="10409635" cy="5722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09635" cy="572293"/>
            </a:xfrm>
            <a:custGeom>
              <a:avLst/>
              <a:gdLst/>
              <a:ahLst/>
              <a:cxnLst/>
              <a:rect l="l" t="t" r="r" b="b"/>
              <a:pathLst>
                <a:path w="10409635" h="572293">
                  <a:moveTo>
                    <a:pt x="0" y="0"/>
                  </a:moveTo>
                  <a:lnTo>
                    <a:pt x="10409635" y="0"/>
                  </a:lnTo>
                  <a:lnTo>
                    <a:pt x="10409635" y="572293"/>
                  </a:lnTo>
                  <a:lnTo>
                    <a:pt x="0" y="5722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0409635" cy="6675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Implement Prometheus metrics in both Blue and Green apps.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939254" y="4355158"/>
            <a:ext cx="1341835" cy="1610171"/>
          </a:xfrm>
          <a:custGeom>
            <a:avLst/>
            <a:gdLst/>
            <a:ahLst/>
            <a:cxnLst/>
            <a:rect l="l" t="t" r="r" b="b"/>
            <a:pathLst>
              <a:path w="1341835" h="1610171">
                <a:moveTo>
                  <a:pt x="0" y="0"/>
                </a:moveTo>
                <a:lnTo>
                  <a:pt x="1341835" y="0"/>
                </a:lnTo>
                <a:lnTo>
                  <a:pt x="1341835" y="1610171"/>
                </a:lnTo>
                <a:lnTo>
                  <a:pt x="0" y="1610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8" r="-5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2683520" y="4623495"/>
            <a:ext cx="4989463" cy="419249"/>
            <a:chOff x="0" y="0"/>
            <a:chExt cx="5058767" cy="5589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58767" cy="558998"/>
            </a:xfrm>
            <a:custGeom>
              <a:avLst/>
              <a:gdLst/>
              <a:ahLst/>
              <a:cxnLst/>
              <a:rect l="l" t="t" r="r" b="b"/>
              <a:pathLst>
                <a:path w="5058767" h="558998">
                  <a:moveTo>
                    <a:pt x="0" y="0"/>
                  </a:moveTo>
                  <a:lnTo>
                    <a:pt x="5058767" y="0"/>
                  </a:lnTo>
                  <a:lnTo>
                    <a:pt x="5058767" y="558998"/>
                  </a:lnTo>
                  <a:lnTo>
                    <a:pt x="0" y="558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5058767" cy="558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 dirty="0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Verify Metrics Manually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683520" y="5203626"/>
            <a:ext cx="7807226" cy="429220"/>
            <a:chOff x="0" y="0"/>
            <a:chExt cx="10409635" cy="5722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09635" cy="572293"/>
            </a:xfrm>
            <a:custGeom>
              <a:avLst/>
              <a:gdLst/>
              <a:ahLst/>
              <a:cxnLst/>
              <a:rect l="l" t="t" r="r" b="b"/>
              <a:pathLst>
                <a:path w="10409635" h="572293">
                  <a:moveTo>
                    <a:pt x="0" y="0"/>
                  </a:moveTo>
                  <a:lnTo>
                    <a:pt x="10409635" y="0"/>
                  </a:lnTo>
                  <a:lnTo>
                    <a:pt x="10409635" y="572293"/>
                  </a:lnTo>
                  <a:lnTo>
                    <a:pt x="0" y="5722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10409635" cy="6675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Check metrics endpoints to confirm they're working.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939254" y="5965329"/>
            <a:ext cx="1341835" cy="1610171"/>
          </a:xfrm>
          <a:custGeom>
            <a:avLst/>
            <a:gdLst/>
            <a:ahLst/>
            <a:cxnLst/>
            <a:rect l="l" t="t" r="r" b="b"/>
            <a:pathLst>
              <a:path w="1341835" h="1610171">
                <a:moveTo>
                  <a:pt x="0" y="0"/>
                </a:moveTo>
                <a:lnTo>
                  <a:pt x="1341835" y="0"/>
                </a:lnTo>
                <a:lnTo>
                  <a:pt x="1341835" y="1610171"/>
                </a:lnTo>
                <a:lnTo>
                  <a:pt x="0" y="16101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" r="-5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2683520" y="6233666"/>
            <a:ext cx="3354586" cy="419249"/>
            <a:chOff x="0" y="0"/>
            <a:chExt cx="4472782" cy="55899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472782" cy="558998"/>
            </a:xfrm>
            <a:custGeom>
              <a:avLst/>
              <a:gdLst/>
              <a:ahLst/>
              <a:cxnLst/>
              <a:rect l="l" t="t" r="r" b="b"/>
              <a:pathLst>
                <a:path w="4472782" h="558998">
                  <a:moveTo>
                    <a:pt x="0" y="0"/>
                  </a:moveTo>
                  <a:lnTo>
                    <a:pt x="4472782" y="0"/>
                  </a:lnTo>
                  <a:lnTo>
                    <a:pt x="4472782" y="558998"/>
                  </a:lnTo>
                  <a:lnTo>
                    <a:pt x="0" y="558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4472782" cy="558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Set Up Prometheus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683520" y="6813797"/>
            <a:ext cx="7807226" cy="429220"/>
            <a:chOff x="0" y="0"/>
            <a:chExt cx="10409635" cy="57229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409635" cy="572293"/>
            </a:xfrm>
            <a:custGeom>
              <a:avLst/>
              <a:gdLst/>
              <a:ahLst/>
              <a:cxnLst/>
              <a:rect l="l" t="t" r="r" b="b"/>
              <a:pathLst>
                <a:path w="10409635" h="572293">
                  <a:moveTo>
                    <a:pt x="0" y="0"/>
                  </a:moveTo>
                  <a:lnTo>
                    <a:pt x="10409635" y="0"/>
                  </a:lnTo>
                  <a:lnTo>
                    <a:pt x="10409635" y="572293"/>
                  </a:lnTo>
                  <a:lnTo>
                    <a:pt x="0" y="5722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0409635" cy="6675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Configure Prometheus to scrape metrics from both apps.</a:t>
              </a:r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939254" y="7575500"/>
            <a:ext cx="1341835" cy="1610171"/>
          </a:xfrm>
          <a:custGeom>
            <a:avLst/>
            <a:gdLst/>
            <a:ahLst/>
            <a:cxnLst/>
            <a:rect l="l" t="t" r="r" b="b"/>
            <a:pathLst>
              <a:path w="1341835" h="1610171">
                <a:moveTo>
                  <a:pt x="0" y="0"/>
                </a:moveTo>
                <a:lnTo>
                  <a:pt x="1341835" y="0"/>
                </a:lnTo>
                <a:lnTo>
                  <a:pt x="1341835" y="1610171"/>
                </a:lnTo>
                <a:lnTo>
                  <a:pt x="0" y="16101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8" r="-5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2683520" y="7843838"/>
            <a:ext cx="4989462" cy="419249"/>
            <a:chOff x="0" y="0"/>
            <a:chExt cx="4794448" cy="55899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794448" cy="558998"/>
            </a:xfrm>
            <a:custGeom>
              <a:avLst/>
              <a:gdLst/>
              <a:ahLst/>
              <a:cxnLst/>
              <a:rect l="l" t="t" r="r" b="b"/>
              <a:pathLst>
                <a:path w="4794448" h="558998">
                  <a:moveTo>
                    <a:pt x="0" y="0"/>
                  </a:moveTo>
                  <a:lnTo>
                    <a:pt x="4794448" y="0"/>
                  </a:lnTo>
                  <a:lnTo>
                    <a:pt x="4794448" y="558998"/>
                  </a:lnTo>
                  <a:lnTo>
                    <a:pt x="0" y="558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4794448" cy="5589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 dirty="0">
                  <a:solidFill>
                    <a:srgbClr val="46464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View in Prometheus UI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683520" y="8423970"/>
            <a:ext cx="7807226" cy="429220"/>
            <a:chOff x="0" y="0"/>
            <a:chExt cx="10409635" cy="57229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409635" cy="572293"/>
            </a:xfrm>
            <a:custGeom>
              <a:avLst/>
              <a:gdLst/>
              <a:ahLst/>
              <a:cxnLst/>
              <a:rect l="l" t="t" r="r" b="b"/>
              <a:pathLst>
                <a:path w="10409635" h="572293">
                  <a:moveTo>
                    <a:pt x="0" y="0"/>
                  </a:moveTo>
                  <a:lnTo>
                    <a:pt x="10409635" y="0"/>
                  </a:lnTo>
                  <a:lnTo>
                    <a:pt x="10409635" y="572293"/>
                  </a:lnTo>
                  <a:lnTo>
                    <a:pt x="0" y="5722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0"/>
              <a:ext cx="10409635" cy="6675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062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Monitor request counts and other metrics in real-time.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3201591"/>
            <a:ext cx="16303526" cy="1771947"/>
            <a:chOff x="0" y="0"/>
            <a:chExt cx="21738035" cy="23625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38034" cy="2362597"/>
            </a:xfrm>
            <a:custGeom>
              <a:avLst/>
              <a:gdLst/>
              <a:ahLst/>
              <a:cxnLst/>
              <a:rect l="l" t="t" r="r" b="b"/>
              <a:pathLst>
                <a:path w="21738034" h="2362597">
                  <a:moveTo>
                    <a:pt x="0" y="0"/>
                  </a:moveTo>
                  <a:lnTo>
                    <a:pt x="21738034" y="0"/>
                  </a:lnTo>
                  <a:lnTo>
                    <a:pt x="21738034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1738035" cy="23816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03030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Completed the CI/CD phase … Achieved a milestone!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6171308"/>
            <a:ext cx="16303526" cy="1133772"/>
            <a:chOff x="0" y="0"/>
            <a:chExt cx="21738035" cy="15116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21738035" cy="16259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 the upcoming sessions, we’ll begin exploring essential DevOps tools and technologies that streamline the software development process and enhance overall development quality.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1039</Words>
  <Application>Microsoft Office PowerPoint</Application>
  <PresentationFormat>Custom</PresentationFormat>
  <Paragraphs>250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Inter Bold</vt:lpstr>
      <vt:lpstr>Arial</vt:lpstr>
      <vt:lpstr>Inter Italics</vt:lpstr>
      <vt:lpstr>Inter</vt:lpstr>
      <vt:lpstr>Calibri</vt:lpstr>
      <vt:lpstr>DM Sans Bold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Continuous-Deployment.pptx</dc:title>
  <cp:lastModifiedBy>MohammaD AneeS</cp:lastModifiedBy>
  <cp:revision>3</cp:revision>
  <dcterms:created xsi:type="dcterms:W3CDTF">2006-08-16T00:00:00Z</dcterms:created>
  <dcterms:modified xsi:type="dcterms:W3CDTF">2026-10-11T05:29:48Z</dcterms:modified>
  <dc:identifier>DAGkfeW57Co</dc:identifier>
</cp:coreProperties>
</file>