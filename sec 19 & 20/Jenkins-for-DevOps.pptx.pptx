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 Bold" panose="020B0803030501040103" pitchFamily="34" charset="0"/>
      <p:regular r:id="rId13"/>
      <p:bold r:id="rId14"/>
    </p:embeddedFont>
    <p:embeddedFont>
      <p:font typeface="Libre Baskerville" panose="02000000000000000000" pitchFamily="2" charset="0"/>
      <p:regular r:id="rId15"/>
      <p:bold r:id="rId16"/>
      <p:italic r:id="rId17"/>
    </p:embeddedFont>
    <p:embeddedFont>
      <p:font typeface="Libre Baskerville Bold" panose="02000000000000000000" pitchFamily="2" charset="0"/>
      <p:regular r:id="rId18"/>
      <p:bold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Open Sans Bold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5" autoAdjust="0"/>
  </p:normalViewPr>
  <p:slideViewPr>
    <p:cSldViewPr>
      <p:cViewPr varScale="1">
        <p:scale>
          <a:sx n="78" d="100"/>
          <a:sy n="78" d="100"/>
        </p:scale>
        <p:origin x="5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24645" y="3836609"/>
            <a:ext cx="10661268" cy="1662261"/>
            <a:chOff x="0" y="0"/>
            <a:chExt cx="14215024" cy="22163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215024" cy="2216348"/>
            </a:xfrm>
            <a:custGeom>
              <a:avLst/>
              <a:gdLst/>
              <a:ahLst/>
              <a:cxnLst/>
              <a:rect l="l" t="t" r="r" b="b"/>
              <a:pathLst>
                <a:path w="14215024" h="2216348">
                  <a:moveTo>
                    <a:pt x="0" y="0"/>
                  </a:moveTo>
                  <a:lnTo>
                    <a:pt x="14215024" y="0"/>
                  </a:lnTo>
                  <a:lnTo>
                    <a:pt x="14215024" y="2216348"/>
                  </a:lnTo>
                  <a:lnTo>
                    <a:pt x="0" y="22163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215024" cy="22639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9625"/>
                </a:lnSpc>
              </a:pPr>
              <a:r>
                <a:rPr lang="en-US" sz="768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Jenkins for DevOps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86420" y="696516"/>
            <a:ext cx="6332041" cy="791467"/>
            <a:chOff x="0" y="0"/>
            <a:chExt cx="8442722" cy="10552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42722" cy="1055290"/>
            </a:xfrm>
            <a:custGeom>
              <a:avLst/>
              <a:gdLst/>
              <a:ahLst/>
              <a:cxnLst/>
              <a:rect l="l" t="t" r="r" b="b"/>
              <a:pathLst>
                <a:path w="8442722" h="1055290">
                  <a:moveTo>
                    <a:pt x="0" y="0"/>
                  </a:moveTo>
                  <a:lnTo>
                    <a:pt x="8442722" y="0"/>
                  </a:lnTo>
                  <a:lnTo>
                    <a:pt x="8442722" y="1055290"/>
                  </a:lnTo>
                  <a:lnTo>
                    <a:pt x="0" y="1055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442722" cy="1074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7"/>
                </a:lnSpc>
              </a:pPr>
              <a:r>
                <a:rPr lang="en-US" sz="493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6420" y="2279302"/>
            <a:ext cx="569862" cy="569863"/>
            <a:chOff x="0" y="0"/>
            <a:chExt cx="759817" cy="7598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59841" cy="759841"/>
            </a:xfrm>
            <a:custGeom>
              <a:avLst/>
              <a:gdLst/>
              <a:ahLst/>
              <a:cxnLst/>
              <a:rect l="l" t="t" r="r" b="b"/>
              <a:pathLst>
                <a:path w="759841" h="759841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709168" y="0"/>
                  </a:lnTo>
                  <a:cubicBezTo>
                    <a:pt x="737108" y="0"/>
                    <a:pt x="759841" y="22733"/>
                    <a:pt x="759841" y="50673"/>
                  </a:cubicBezTo>
                  <a:lnTo>
                    <a:pt x="759841" y="709168"/>
                  </a:lnTo>
                  <a:cubicBezTo>
                    <a:pt x="759841" y="737108"/>
                    <a:pt x="737108" y="759841"/>
                    <a:pt x="709168" y="759841"/>
                  </a:cubicBezTo>
                  <a:lnTo>
                    <a:pt x="50673" y="759841"/>
                  </a:lnTo>
                  <a:cubicBezTo>
                    <a:pt x="22733" y="759841"/>
                    <a:pt x="0" y="737108"/>
                    <a:pt x="0" y="70916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81372" y="2326779"/>
            <a:ext cx="379810" cy="474761"/>
            <a:chOff x="0" y="0"/>
            <a:chExt cx="506413" cy="6330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6413" cy="633015"/>
            </a:xfrm>
            <a:custGeom>
              <a:avLst/>
              <a:gdLst/>
              <a:ahLst/>
              <a:cxnLst/>
              <a:rect l="l" t="t" r="r" b="b"/>
              <a:pathLst>
                <a:path w="506413" h="633015">
                  <a:moveTo>
                    <a:pt x="0" y="0"/>
                  </a:moveTo>
                  <a:lnTo>
                    <a:pt x="506413" y="0"/>
                  </a:lnTo>
                  <a:lnTo>
                    <a:pt x="506413" y="633015"/>
                  </a:lnTo>
                  <a:lnTo>
                    <a:pt x="0" y="633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47625"/>
              <a:ext cx="506413" cy="5853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9440" y="2279302"/>
            <a:ext cx="6415831" cy="474910"/>
            <a:chOff x="0" y="0"/>
            <a:chExt cx="8554442" cy="6332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54441" cy="633213"/>
            </a:xfrm>
            <a:custGeom>
              <a:avLst/>
              <a:gdLst/>
              <a:ahLst/>
              <a:cxnLst/>
              <a:rect l="l" t="t" r="r" b="b"/>
              <a:pathLst>
                <a:path w="8554441" h="633213">
                  <a:moveTo>
                    <a:pt x="0" y="0"/>
                  </a:moveTo>
                  <a:lnTo>
                    <a:pt x="8554441" y="0"/>
                  </a:lnTo>
                  <a:lnTo>
                    <a:pt x="8554441" y="633213"/>
                  </a:lnTo>
                  <a:lnTo>
                    <a:pt x="0" y="633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8554442" cy="652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Introduction &amp; core components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6420" y="3849440"/>
            <a:ext cx="569862" cy="569862"/>
            <a:chOff x="0" y="0"/>
            <a:chExt cx="759817" cy="75981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9841" cy="759841"/>
            </a:xfrm>
            <a:custGeom>
              <a:avLst/>
              <a:gdLst/>
              <a:ahLst/>
              <a:cxnLst/>
              <a:rect l="l" t="t" r="r" b="b"/>
              <a:pathLst>
                <a:path w="759841" h="759841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709168" y="0"/>
                  </a:lnTo>
                  <a:cubicBezTo>
                    <a:pt x="737108" y="0"/>
                    <a:pt x="759841" y="22733"/>
                    <a:pt x="759841" y="50673"/>
                  </a:cubicBezTo>
                  <a:lnTo>
                    <a:pt x="759841" y="709168"/>
                  </a:lnTo>
                  <a:cubicBezTo>
                    <a:pt x="759841" y="737108"/>
                    <a:pt x="737108" y="759841"/>
                    <a:pt x="709168" y="759841"/>
                  </a:cubicBezTo>
                  <a:lnTo>
                    <a:pt x="50673" y="759841"/>
                  </a:lnTo>
                  <a:cubicBezTo>
                    <a:pt x="22733" y="759841"/>
                    <a:pt x="0" y="737108"/>
                    <a:pt x="0" y="70916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81372" y="3896916"/>
            <a:ext cx="379810" cy="474761"/>
            <a:chOff x="0" y="0"/>
            <a:chExt cx="506413" cy="6330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6413" cy="633015"/>
            </a:xfrm>
            <a:custGeom>
              <a:avLst/>
              <a:gdLst/>
              <a:ahLst/>
              <a:cxnLst/>
              <a:rect l="l" t="t" r="r" b="b"/>
              <a:pathLst>
                <a:path w="506413" h="633015">
                  <a:moveTo>
                    <a:pt x="0" y="0"/>
                  </a:moveTo>
                  <a:lnTo>
                    <a:pt x="506413" y="0"/>
                  </a:lnTo>
                  <a:lnTo>
                    <a:pt x="506413" y="633015"/>
                  </a:lnTo>
                  <a:lnTo>
                    <a:pt x="0" y="633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506413" cy="5853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09440" y="3849440"/>
            <a:ext cx="6251376" cy="474910"/>
            <a:chOff x="0" y="0"/>
            <a:chExt cx="8335168" cy="6332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35168" cy="633213"/>
            </a:xfrm>
            <a:custGeom>
              <a:avLst/>
              <a:gdLst/>
              <a:ahLst/>
              <a:cxnLst/>
              <a:rect l="l" t="t" r="r" b="b"/>
              <a:pathLst>
                <a:path w="8335168" h="633213">
                  <a:moveTo>
                    <a:pt x="0" y="0"/>
                  </a:moveTo>
                  <a:lnTo>
                    <a:pt x="8335168" y="0"/>
                  </a:lnTo>
                  <a:lnTo>
                    <a:pt x="8335168" y="633213"/>
                  </a:lnTo>
                  <a:lnTo>
                    <a:pt x="0" y="633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8335168" cy="652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Setting up Jenkins in our system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6420" y="5419576"/>
            <a:ext cx="569862" cy="569863"/>
            <a:chOff x="0" y="0"/>
            <a:chExt cx="759817" cy="7598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59841" cy="759841"/>
            </a:xfrm>
            <a:custGeom>
              <a:avLst/>
              <a:gdLst/>
              <a:ahLst/>
              <a:cxnLst/>
              <a:rect l="l" t="t" r="r" b="b"/>
              <a:pathLst>
                <a:path w="759841" h="759841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709168" y="0"/>
                  </a:lnTo>
                  <a:cubicBezTo>
                    <a:pt x="737108" y="0"/>
                    <a:pt x="759841" y="22733"/>
                    <a:pt x="759841" y="50673"/>
                  </a:cubicBezTo>
                  <a:lnTo>
                    <a:pt x="759841" y="709168"/>
                  </a:lnTo>
                  <a:cubicBezTo>
                    <a:pt x="759841" y="737108"/>
                    <a:pt x="737108" y="759841"/>
                    <a:pt x="709168" y="759841"/>
                  </a:cubicBezTo>
                  <a:lnTo>
                    <a:pt x="50673" y="759841"/>
                  </a:lnTo>
                  <a:cubicBezTo>
                    <a:pt x="22733" y="759841"/>
                    <a:pt x="0" y="737108"/>
                    <a:pt x="0" y="70916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81372" y="5467052"/>
            <a:ext cx="379810" cy="474761"/>
            <a:chOff x="0" y="0"/>
            <a:chExt cx="506413" cy="6330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6413" cy="633015"/>
            </a:xfrm>
            <a:custGeom>
              <a:avLst/>
              <a:gdLst/>
              <a:ahLst/>
              <a:cxnLst/>
              <a:rect l="l" t="t" r="r" b="b"/>
              <a:pathLst>
                <a:path w="506413" h="633015">
                  <a:moveTo>
                    <a:pt x="0" y="0"/>
                  </a:moveTo>
                  <a:lnTo>
                    <a:pt x="506413" y="0"/>
                  </a:lnTo>
                  <a:lnTo>
                    <a:pt x="506413" y="633015"/>
                  </a:lnTo>
                  <a:lnTo>
                    <a:pt x="0" y="633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47625"/>
              <a:ext cx="506413" cy="5853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09440" y="5419576"/>
            <a:ext cx="6199286" cy="474910"/>
            <a:chOff x="0" y="0"/>
            <a:chExt cx="8265715" cy="6332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65715" cy="633213"/>
            </a:xfrm>
            <a:custGeom>
              <a:avLst/>
              <a:gdLst/>
              <a:ahLst/>
              <a:cxnLst/>
              <a:rect l="l" t="t" r="r" b="b"/>
              <a:pathLst>
                <a:path w="8265715" h="633213">
                  <a:moveTo>
                    <a:pt x="0" y="0"/>
                  </a:moveTo>
                  <a:lnTo>
                    <a:pt x="8265715" y="0"/>
                  </a:lnTo>
                  <a:lnTo>
                    <a:pt x="8265715" y="633213"/>
                  </a:lnTo>
                  <a:lnTo>
                    <a:pt x="0" y="633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8265715" cy="652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Integrating Jenkins with GitHub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86420" y="6989712"/>
            <a:ext cx="569862" cy="569863"/>
            <a:chOff x="0" y="0"/>
            <a:chExt cx="759817" cy="75981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59841" cy="759841"/>
            </a:xfrm>
            <a:custGeom>
              <a:avLst/>
              <a:gdLst/>
              <a:ahLst/>
              <a:cxnLst/>
              <a:rect l="l" t="t" r="r" b="b"/>
              <a:pathLst>
                <a:path w="759841" h="759841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709168" y="0"/>
                  </a:lnTo>
                  <a:cubicBezTo>
                    <a:pt x="737108" y="0"/>
                    <a:pt x="759841" y="22733"/>
                    <a:pt x="759841" y="50673"/>
                  </a:cubicBezTo>
                  <a:lnTo>
                    <a:pt x="759841" y="709168"/>
                  </a:lnTo>
                  <a:cubicBezTo>
                    <a:pt x="759841" y="737108"/>
                    <a:pt x="737108" y="759841"/>
                    <a:pt x="709168" y="759841"/>
                  </a:cubicBezTo>
                  <a:lnTo>
                    <a:pt x="50673" y="759841"/>
                  </a:lnTo>
                  <a:cubicBezTo>
                    <a:pt x="22733" y="759841"/>
                    <a:pt x="0" y="737108"/>
                    <a:pt x="0" y="70916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81372" y="7037189"/>
            <a:ext cx="379810" cy="474761"/>
            <a:chOff x="0" y="0"/>
            <a:chExt cx="506413" cy="63301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6413" cy="633015"/>
            </a:xfrm>
            <a:custGeom>
              <a:avLst/>
              <a:gdLst/>
              <a:ahLst/>
              <a:cxnLst/>
              <a:rect l="l" t="t" r="r" b="b"/>
              <a:pathLst>
                <a:path w="506413" h="633015">
                  <a:moveTo>
                    <a:pt x="0" y="0"/>
                  </a:moveTo>
                  <a:lnTo>
                    <a:pt x="506413" y="0"/>
                  </a:lnTo>
                  <a:lnTo>
                    <a:pt x="506413" y="633015"/>
                  </a:lnTo>
                  <a:lnTo>
                    <a:pt x="0" y="633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47625"/>
              <a:ext cx="506413" cy="5853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709440" y="6989712"/>
            <a:ext cx="6375499" cy="474910"/>
            <a:chOff x="0" y="0"/>
            <a:chExt cx="8500665" cy="63321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500665" cy="633213"/>
            </a:xfrm>
            <a:custGeom>
              <a:avLst/>
              <a:gdLst/>
              <a:ahLst/>
              <a:cxnLst/>
              <a:rect l="l" t="t" r="r" b="b"/>
              <a:pathLst>
                <a:path w="8500665" h="633213">
                  <a:moveTo>
                    <a:pt x="0" y="0"/>
                  </a:moveTo>
                  <a:lnTo>
                    <a:pt x="8500665" y="0"/>
                  </a:lnTo>
                  <a:lnTo>
                    <a:pt x="8500665" y="633213"/>
                  </a:lnTo>
                  <a:lnTo>
                    <a:pt x="0" y="633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8500665" cy="652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Basic build triggers &amp; scheduling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86420" y="8559850"/>
            <a:ext cx="569862" cy="569863"/>
            <a:chOff x="0" y="0"/>
            <a:chExt cx="759817" cy="75981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59841" cy="759841"/>
            </a:xfrm>
            <a:custGeom>
              <a:avLst/>
              <a:gdLst/>
              <a:ahLst/>
              <a:cxnLst/>
              <a:rect l="l" t="t" r="r" b="b"/>
              <a:pathLst>
                <a:path w="759841" h="759841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709168" y="0"/>
                  </a:lnTo>
                  <a:cubicBezTo>
                    <a:pt x="737108" y="0"/>
                    <a:pt x="759841" y="22733"/>
                    <a:pt x="759841" y="50673"/>
                  </a:cubicBezTo>
                  <a:lnTo>
                    <a:pt x="759841" y="709168"/>
                  </a:lnTo>
                  <a:cubicBezTo>
                    <a:pt x="759841" y="737108"/>
                    <a:pt x="737108" y="759841"/>
                    <a:pt x="709168" y="759841"/>
                  </a:cubicBezTo>
                  <a:lnTo>
                    <a:pt x="50673" y="759841"/>
                  </a:lnTo>
                  <a:cubicBezTo>
                    <a:pt x="22733" y="759841"/>
                    <a:pt x="0" y="737108"/>
                    <a:pt x="0" y="70916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981372" y="8607326"/>
            <a:ext cx="379810" cy="474761"/>
            <a:chOff x="0" y="0"/>
            <a:chExt cx="506413" cy="63301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06413" cy="633015"/>
            </a:xfrm>
            <a:custGeom>
              <a:avLst/>
              <a:gdLst/>
              <a:ahLst/>
              <a:cxnLst/>
              <a:rect l="l" t="t" r="r" b="b"/>
              <a:pathLst>
                <a:path w="506413" h="633015">
                  <a:moveTo>
                    <a:pt x="0" y="0"/>
                  </a:moveTo>
                  <a:lnTo>
                    <a:pt x="506413" y="0"/>
                  </a:lnTo>
                  <a:lnTo>
                    <a:pt x="506413" y="633015"/>
                  </a:lnTo>
                  <a:lnTo>
                    <a:pt x="0" y="633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47625"/>
              <a:ext cx="506413" cy="5853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5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709440" y="8559850"/>
            <a:ext cx="5031432" cy="474910"/>
            <a:chOff x="0" y="0"/>
            <a:chExt cx="6708577" cy="63321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708577" cy="633213"/>
            </a:xfrm>
            <a:custGeom>
              <a:avLst/>
              <a:gdLst/>
              <a:ahLst/>
              <a:cxnLst/>
              <a:rect l="l" t="t" r="r" b="b"/>
              <a:pathLst>
                <a:path w="6708577" h="633213">
                  <a:moveTo>
                    <a:pt x="0" y="0"/>
                  </a:moveTo>
                  <a:lnTo>
                    <a:pt x="6708577" y="0"/>
                  </a:lnTo>
                  <a:lnTo>
                    <a:pt x="6708577" y="633213"/>
                  </a:lnTo>
                  <a:lnTo>
                    <a:pt x="0" y="633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708577" cy="6522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Simple Hands-on Activity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09922" y="636240"/>
            <a:ext cx="9015859" cy="815022"/>
            <a:chOff x="0" y="0"/>
            <a:chExt cx="12021145" cy="1086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21145" cy="1086697"/>
            </a:xfrm>
            <a:custGeom>
              <a:avLst/>
              <a:gdLst/>
              <a:ahLst/>
              <a:cxnLst/>
              <a:rect l="l" t="t" r="r" b="b"/>
              <a:pathLst>
                <a:path w="12021145" h="1086697">
                  <a:moveTo>
                    <a:pt x="0" y="0"/>
                  </a:moveTo>
                  <a:lnTo>
                    <a:pt x="12021145" y="0"/>
                  </a:lnTo>
                  <a:lnTo>
                    <a:pt x="12021145" y="1086697"/>
                  </a:lnTo>
                  <a:lnTo>
                    <a:pt x="0" y="1086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021145" cy="1105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87"/>
                </a:lnSpc>
              </a:pPr>
              <a:r>
                <a:rPr lang="en-US" sz="4499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Jenkins Architecture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9922" y="1648906"/>
            <a:ext cx="16668155" cy="961687"/>
            <a:chOff x="0" y="0"/>
            <a:chExt cx="22224207" cy="1282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24206" cy="1282250"/>
            </a:xfrm>
            <a:custGeom>
              <a:avLst/>
              <a:gdLst/>
              <a:ahLst/>
              <a:cxnLst/>
              <a:rect l="l" t="t" r="r" b="b"/>
              <a:pathLst>
                <a:path w="22224206" h="1282250">
                  <a:moveTo>
                    <a:pt x="0" y="0"/>
                  </a:moveTo>
                  <a:lnTo>
                    <a:pt x="22224206" y="0"/>
                  </a:lnTo>
                  <a:lnTo>
                    <a:pt x="22224206" y="1282250"/>
                  </a:lnTo>
                  <a:lnTo>
                    <a:pt x="0" y="1282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224207" cy="1367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86"/>
                </a:lnSpc>
              </a:pPr>
              <a:r>
                <a:rPr lang="en-US" sz="234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Jenkins is an open-source automation server for CI/CD, streamlining software building, testing, and deployment to boost efficiency and reduce errors.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9922" y="3239244"/>
            <a:ext cx="3471119" cy="433834"/>
            <a:chOff x="0" y="0"/>
            <a:chExt cx="4628158" cy="5784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28158" cy="578445"/>
            </a:xfrm>
            <a:custGeom>
              <a:avLst/>
              <a:gdLst/>
              <a:ahLst/>
              <a:cxnLst/>
              <a:rect l="l" t="t" r="r" b="b"/>
              <a:pathLst>
                <a:path w="4628158" h="578445">
                  <a:moveTo>
                    <a:pt x="0" y="0"/>
                  </a:moveTo>
                  <a:lnTo>
                    <a:pt x="4628158" y="0"/>
                  </a:lnTo>
                  <a:lnTo>
                    <a:pt x="4628158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628158" cy="587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Jenkins Master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9922" y="3904357"/>
            <a:ext cx="5179219" cy="925711"/>
            <a:chOff x="0" y="0"/>
            <a:chExt cx="6905625" cy="12342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05625" cy="1234282"/>
            </a:xfrm>
            <a:custGeom>
              <a:avLst/>
              <a:gdLst/>
              <a:ahLst/>
              <a:cxnLst/>
              <a:rect l="l" t="t" r="r" b="b"/>
              <a:pathLst>
                <a:path w="6905625" h="1234282">
                  <a:moveTo>
                    <a:pt x="0" y="0"/>
                  </a:moveTo>
                  <a:lnTo>
                    <a:pt x="6905625" y="0"/>
                  </a:lnTo>
                  <a:lnTo>
                    <a:pt x="6905625" y="1234282"/>
                  </a:lnTo>
                  <a:lnTo>
                    <a:pt x="0" y="1234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905625" cy="13200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The central controller of the Jenkins environment.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9922" y="5709345"/>
            <a:ext cx="5179219" cy="504878"/>
            <a:chOff x="0" y="0"/>
            <a:chExt cx="6905625" cy="6731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05625" cy="673171"/>
            </a:xfrm>
            <a:custGeom>
              <a:avLst/>
              <a:gdLst/>
              <a:ahLst/>
              <a:cxnLst/>
              <a:rect l="l" t="t" r="r" b="b"/>
              <a:pathLst>
                <a:path w="6905625" h="673171">
                  <a:moveTo>
                    <a:pt x="0" y="0"/>
                  </a:moveTo>
                  <a:lnTo>
                    <a:pt x="6905625" y="0"/>
                  </a:lnTo>
                  <a:lnTo>
                    <a:pt x="6905625" y="673171"/>
                  </a:lnTo>
                  <a:lnTo>
                    <a:pt x="0" y="673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6905625" cy="758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47"/>
                </a:lnSpc>
              </a:pPr>
              <a:r>
                <a:rPr lang="en-US" sz="244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It's responsible for: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9922" y="6380410"/>
            <a:ext cx="5179219" cy="462855"/>
            <a:chOff x="0" y="0"/>
            <a:chExt cx="6905625" cy="6171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05625" cy="617140"/>
            </a:xfrm>
            <a:custGeom>
              <a:avLst/>
              <a:gdLst/>
              <a:ahLst/>
              <a:cxnLst/>
              <a:rect l="l" t="t" r="r" b="b"/>
              <a:pathLst>
                <a:path w="6905625" h="617140">
                  <a:moveTo>
                    <a:pt x="0" y="0"/>
                  </a:moveTo>
                  <a:lnTo>
                    <a:pt x="6905625" y="0"/>
                  </a:lnTo>
                  <a:lnTo>
                    <a:pt x="6905625" y="617140"/>
                  </a:lnTo>
                  <a:lnTo>
                    <a:pt x="0" y="61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6905625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Scheduling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9922" y="6924229"/>
            <a:ext cx="5179219" cy="462855"/>
            <a:chOff x="0" y="0"/>
            <a:chExt cx="6905625" cy="6171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05625" cy="617140"/>
            </a:xfrm>
            <a:custGeom>
              <a:avLst/>
              <a:gdLst/>
              <a:ahLst/>
              <a:cxnLst/>
              <a:rect l="l" t="t" r="r" b="b"/>
              <a:pathLst>
                <a:path w="6905625" h="617140">
                  <a:moveTo>
                    <a:pt x="0" y="0"/>
                  </a:moveTo>
                  <a:lnTo>
                    <a:pt x="6905625" y="0"/>
                  </a:lnTo>
                  <a:lnTo>
                    <a:pt x="6905625" y="617140"/>
                  </a:lnTo>
                  <a:lnTo>
                    <a:pt x="0" y="61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6905625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Managing configurations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922" y="7468046"/>
            <a:ext cx="5179219" cy="462855"/>
            <a:chOff x="0" y="0"/>
            <a:chExt cx="6905625" cy="6171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05625" cy="617140"/>
            </a:xfrm>
            <a:custGeom>
              <a:avLst/>
              <a:gdLst/>
              <a:ahLst/>
              <a:cxnLst/>
              <a:rect l="l" t="t" r="r" b="b"/>
              <a:pathLst>
                <a:path w="6905625" h="617140">
                  <a:moveTo>
                    <a:pt x="0" y="0"/>
                  </a:moveTo>
                  <a:lnTo>
                    <a:pt x="6905625" y="0"/>
                  </a:lnTo>
                  <a:lnTo>
                    <a:pt x="6905625" y="617140"/>
                  </a:lnTo>
                  <a:lnTo>
                    <a:pt x="0" y="61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6905625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Monitoring job execution 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09922" y="8011865"/>
            <a:ext cx="5179219" cy="462855"/>
            <a:chOff x="0" y="0"/>
            <a:chExt cx="6905625" cy="6171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05625" cy="617140"/>
            </a:xfrm>
            <a:custGeom>
              <a:avLst/>
              <a:gdLst/>
              <a:ahLst/>
              <a:cxnLst/>
              <a:rect l="l" t="t" r="r" b="b"/>
              <a:pathLst>
                <a:path w="6905625" h="617140">
                  <a:moveTo>
                    <a:pt x="0" y="0"/>
                  </a:moveTo>
                  <a:lnTo>
                    <a:pt x="6905625" y="0"/>
                  </a:lnTo>
                  <a:lnTo>
                    <a:pt x="6905625" y="617140"/>
                  </a:lnTo>
                  <a:lnTo>
                    <a:pt x="0" y="617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6905625" cy="693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Distributing workload 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563022" y="3239244"/>
            <a:ext cx="3471119" cy="433834"/>
            <a:chOff x="0" y="0"/>
            <a:chExt cx="4628158" cy="57844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28158" cy="578445"/>
            </a:xfrm>
            <a:custGeom>
              <a:avLst/>
              <a:gdLst/>
              <a:ahLst/>
              <a:cxnLst/>
              <a:rect l="l" t="t" r="r" b="b"/>
              <a:pathLst>
                <a:path w="4628158" h="578445">
                  <a:moveTo>
                    <a:pt x="0" y="0"/>
                  </a:moveTo>
                  <a:lnTo>
                    <a:pt x="4628158" y="0"/>
                  </a:lnTo>
                  <a:lnTo>
                    <a:pt x="4628158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628158" cy="587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Jenkins Agents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63022" y="3904357"/>
            <a:ext cx="5179219" cy="1851423"/>
            <a:chOff x="0" y="0"/>
            <a:chExt cx="6905625" cy="246856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905625" cy="2468563"/>
            </a:xfrm>
            <a:custGeom>
              <a:avLst/>
              <a:gdLst/>
              <a:ahLst/>
              <a:cxnLst/>
              <a:rect l="l" t="t" r="r" b="b"/>
              <a:pathLst>
                <a:path w="6905625" h="2468563">
                  <a:moveTo>
                    <a:pt x="0" y="0"/>
                  </a:moveTo>
                  <a:lnTo>
                    <a:pt x="6905625" y="0"/>
                  </a:lnTo>
                  <a:lnTo>
                    <a:pt x="6905625" y="2468563"/>
                  </a:lnTo>
                  <a:lnTo>
                    <a:pt x="0" y="24685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6905625" cy="2554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Agents handle build and test execution as assigned by the master, helping distribute the load and enable parallel processing.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563023" y="5963990"/>
            <a:ext cx="5179219" cy="504878"/>
            <a:chOff x="0" y="0"/>
            <a:chExt cx="6905625" cy="67317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905625" cy="673171"/>
            </a:xfrm>
            <a:custGeom>
              <a:avLst/>
              <a:gdLst/>
              <a:ahLst/>
              <a:cxnLst/>
              <a:rect l="l" t="t" r="r" b="b"/>
              <a:pathLst>
                <a:path w="6905625" h="673171">
                  <a:moveTo>
                    <a:pt x="0" y="0"/>
                  </a:moveTo>
                  <a:lnTo>
                    <a:pt x="6905625" y="0"/>
                  </a:lnTo>
                  <a:lnTo>
                    <a:pt x="6905625" y="673171"/>
                  </a:lnTo>
                  <a:lnTo>
                    <a:pt x="0" y="673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85725"/>
              <a:ext cx="6905625" cy="7588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47"/>
                </a:lnSpc>
              </a:pPr>
              <a:r>
                <a:rPr lang="en-US" sz="2449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Types</a:t>
              </a:r>
              <a:r>
                <a:rPr lang="en-US" sz="244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: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563023" y="6635055"/>
            <a:ext cx="5179219" cy="925711"/>
            <a:chOff x="0" y="0"/>
            <a:chExt cx="6905625" cy="123428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905625" cy="1234282"/>
            </a:xfrm>
            <a:custGeom>
              <a:avLst/>
              <a:gdLst/>
              <a:ahLst/>
              <a:cxnLst/>
              <a:rect l="l" t="t" r="r" b="b"/>
              <a:pathLst>
                <a:path w="6905625" h="1234282">
                  <a:moveTo>
                    <a:pt x="0" y="0"/>
                  </a:moveTo>
                  <a:lnTo>
                    <a:pt x="6905625" y="0"/>
                  </a:lnTo>
                  <a:lnTo>
                    <a:pt x="6905625" y="1234282"/>
                  </a:lnTo>
                  <a:lnTo>
                    <a:pt x="0" y="1234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6905625" cy="1310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Static agents - Dedicated machines of Master.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63023" y="7641729"/>
            <a:ext cx="5179219" cy="925711"/>
            <a:chOff x="0" y="0"/>
            <a:chExt cx="6905625" cy="123428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905625" cy="1234282"/>
            </a:xfrm>
            <a:custGeom>
              <a:avLst/>
              <a:gdLst/>
              <a:ahLst/>
              <a:cxnLst/>
              <a:rect l="l" t="t" r="r" b="b"/>
              <a:pathLst>
                <a:path w="6905625" h="1234282">
                  <a:moveTo>
                    <a:pt x="0" y="0"/>
                  </a:moveTo>
                  <a:lnTo>
                    <a:pt x="6905625" y="0"/>
                  </a:lnTo>
                  <a:lnTo>
                    <a:pt x="6905625" y="1234282"/>
                  </a:lnTo>
                  <a:lnTo>
                    <a:pt x="0" y="1234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6905625" cy="1310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Dynamic agents - Launches on-demand.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563023" y="8648402"/>
            <a:ext cx="5179219" cy="925711"/>
            <a:chOff x="0" y="0"/>
            <a:chExt cx="6905625" cy="123428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05625" cy="1234282"/>
            </a:xfrm>
            <a:custGeom>
              <a:avLst/>
              <a:gdLst/>
              <a:ahLst/>
              <a:cxnLst/>
              <a:rect l="l" t="t" r="r" b="b"/>
              <a:pathLst>
                <a:path w="6905625" h="1234282">
                  <a:moveTo>
                    <a:pt x="0" y="0"/>
                  </a:moveTo>
                  <a:lnTo>
                    <a:pt x="6905625" y="0"/>
                  </a:lnTo>
                  <a:lnTo>
                    <a:pt x="6905625" y="1234282"/>
                  </a:lnTo>
                  <a:lnTo>
                    <a:pt x="0" y="12342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6905625" cy="1310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3510" lvl="1" indent="-151755" algn="l">
                <a:lnSpc>
                  <a:spcPts val="3192"/>
                </a:lnSpc>
                <a:buFont typeface="Arial"/>
                <a:buChar char="•"/>
              </a:pPr>
              <a:r>
                <a:rPr lang="en-US" sz="201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Docker agents - Run builds inside Docker containers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16122" y="3239244"/>
            <a:ext cx="3471119" cy="433834"/>
            <a:chOff x="0" y="0"/>
            <a:chExt cx="4628158" cy="57844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628158" cy="578445"/>
            </a:xfrm>
            <a:custGeom>
              <a:avLst/>
              <a:gdLst/>
              <a:ahLst/>
              <a:cxnLst/>
              <a:rect l="l" t="t" r="r" b="b"/>
              <a:pathLst>
                <a:path w="4628158" h="578445">
                  <a:moveTo>
                    <a:pt x="0" y="0"/>
                  </a:moveTo>
                  <a:lnTo>
                    <a:pt x="4628158" y="0"/>
                  </a:lnTo>
                  <a:lnTo>
                    <a:pt x="4628158" y="578445"/>
                  </a:lnTo>
                  <a:lnTo>
                    <a:pt x="0" y="5784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4628158" cy="587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4"/>
                </a:lnSpc>
              </a:pPr>
              <a:r>
                <a:rPr lang="en-US" sz="268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Plugins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316122" y="3904357"/>
            <a:ext cx="5179219" cy="1851423"/>
            <a:chOff x="0" y="0"/>
            <a:chExt cx="6905625" cy="246856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905625" cy="2468563"/>
            </a:xfrm>
            <a:custGeom>
              <a:avLst/>
              <a:gdLst/>
              <a:ahLst/>
              <a:cxnLst/>
              <a:rect l="l" t="t" r="r" b="b"/>
              <a:pathLst>
                <a:path w="6905625" h="2468563">
                  <a:moveTo>
                    <a:pt x="0" y="0"/>
                  </a:moveTo>
                  <a:lnTo>
                    <a:pt x="6905625" y="0"/>
                  </a:lnTo>
                  <a:lnTo>
                    <a:pt x="6905625" y="2468563"/>
                  </a:lnTo>
                  <a:lnTo>
                    <a:pt x="0" y="24685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85725"/>
              <a:ext cx="6905625" cy="2554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Expand Jenkins' functionality by integrating with tools like GitHub, Docker, AWS, and Slack, similar to how apps enhance a smartphone.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90422"/>
          </a:xfrm>
          <a:custGeom>
            <a:avLst/>
            <a:gdLst/>
            <a:ahLst/>
            <a:cxnLst/>
            <a:rect l="l" t="t" r="r" b="b"/>
            <a:pathLst>
              <a:path w="6858000" h="10290422">
                <a:moveTo>
                  <a:pt x="0" y="0"/>
                </a:moveTo>
                <a:lnTo>
                  <a:pt x="6858000" y="0"/>
                </a:lnTo>
                <a:lnTo>
                  <a:pt x="6858000" y="10290422"/>
                </a:lnTo>
                <a:lnTo>
                  <a:pt x="0" y="10290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" r="-16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41325" y="636241"/>
            <a:ext cx="6993434" cy="681038"/>
            <a:chOff x="0" y="0"/>
            <a:chExt cx="9324578" cy="908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24578" cy="908050"/>
            </a:xfrm>
            <a:custGeom>
              <a:avLst/>
              <a:gdLst/>
              <a:ahLst/>
              <a:cxnLst/>
              <a:rect l="l" t="t" r="r" b="b"/>
              <a:pathLst>
                <a:path w="9324578" h="908050">
                  <a:moveTo>
                    <a:pt x="0" y="0"/>
                  </a:moveTo>
                  <a:lnTo>
                    <a:pt x="9324578" y="0"/>
                  </a:lnTo>
                  <a:lnTo>
                    <a:pt x="9324578" y="908050"/>
                  </a:lnTo>
                  <a:lnTo>
                    <a:pt x="0" y="908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9324578" cy="9175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687"/>
                </a:lnSpc>
              </a:pPr>
              <a:r>
                <a:rPr lang="en-US" sz="3749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Jenkins Installation Methods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1325" y="1532484"/>
            <a:ext cx="4753570" cy="4885135"/>
            <a:chOff x="0" y="0"/>
            <a:chExt cx="6338093" cy="65135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8062" cy="6513576"/>
            </a:xfrm>
            <a:custGeom>
              <a:avLst/>
              <a:gdLst/>
              <a:ahLst/>
              <a:cxnLst/>
              <a:rect l="l" t="t" r="r" b="b"/>
              <a:pathLst>
                <a:path w="6338062" h="6513576">
                  <a:moveTo>
                    <a:pt x="0" y="48133"/>
                  </a:moveTo>
                  <a:cubicBezTo>
                    <a:pt x="0" y="21590"/>
                    <a:pt x="21590" y="0"/>
                    <a:pt x="48133" y="0"/>
                  </a:cubicBezTo>
                  <a:lnTo>
                    <a:pt x="6289929" y="0"/>
                  </a:lnTo>
                  <a:cubicBezTo>
                    <a:pt x="6316472" y="0"/>
                    <a:pt x="6338062" y="21590"/>
                    <a:pt x="6338062" y="48133"/>
                  </a:cubicBezTo>
                  <a:lnTo>
                    <a:pt x="6338062" y="6465443"/>
                  </a:lnTo>
                  <a:cubicBezTo>
                    <a:pt x="6338062" y="6491986"/>
                    <a:pt x="6316472" y="6513576"/>
                    <a:pt x="6289929" y="6513576"/>
                  </a:cubicBezTo>
                  <a:lnTo>
                    <a:pt x="48133" y="6513576"/>
                  </a:lnTo>
                  <a:cubicBezTo>
                    <a:pt x="21590" y="6513576"/>
                    <a:pt x="0" y="6491986"/>
                    <a:pt x="0" y="6465443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81682" y="1772841"/>
            <a:ext cx="4272855" cy="750986"/>
            <a:chOff x="0" y="0"/>
            <a:chExt cx="5697140" cy="10013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97140" cy="1001315"/>
            </a:xfrm>
            <a:custGeom>
              <a:avLst/>
              <a:gdLst/>
              <a:ahLst/>
              <a:cxnLst/>
              <a:rect l="l" t="t" r="r" b="b"/>
              <a:pathLst>
                <a:path w="5697140" h="1001315">
                  <a:moveTo>
                    <a:pt x="0" y="0"/>
                  </a:moveTo>
                  <a:lnTo>
                    <a:pt x="5697140" y="0"/>
                  </a:lnTo>
                  <a:lnTo>
                    <a:pt x="5697140" y="1001315"/>
                  </a:lnTo>
                  <a:lnTo>
                    <a:pt x="0" y="10013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97140" cy="10108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1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Linux Installation (Ubuntu/Debian)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1682" y="2668041"/>
            <a:ext cx="4272855" cy="769144"/>
            <a:chOff x="0" y="0"/>
            <a:chExt cx="5697140" cy="10255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 system: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apt update &amp;&amp; sudo apt upgrade -y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81682" y="3581400"/>
            <a:ext cx="4272855" cy="769144"/>
            <a:chOff x="0" y="0"/>
            <a:chExt cx="5697140" cy="10255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Install Java: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apt install openjdk-17-jdk -y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81682" y="4494759"/>
            <a:ext cx="4272855" cy="769144"/>
            <a:chOff x="0" y="0"/>
            <a:chExt cx="5697140" cy="10255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Add Jenkins repository, install, and start: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apt install jenkins -y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1682" y="5408116"/>
            <a:ext cx="4272855" cy="769144"/>
            <a:chOff x="0" y="0"/>
            <a:chExt cx="5697140" cy="10255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Access via browser at http://localhost:8080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35254" y="1532484"/>
            <a:ext cx="4753570" cy="4885135"/>
            <a:chOff x="0" y="0"/>
            <a:chExt cx="6338093" cy="65135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38062" cy="6513576"/>
            </a:xfrm>
            <a:custGeom>
              <a:avLst/>
              <a:gdLst/>
              <a:ahLst/>
              <a:cxnLst/>
              <a:rect l="l" t="t" r="r" b="b"/>
              <a:pathLst>
                <a:path w="6338062" h="6513576">
                  <a:moveTo>
                    <a:pt x="0" y="48133"/>
                  </a:moveTo>
                  <a:cubicBezTo>
                    <a:pt x="0" y="21590"/>
                    <a:pt x="21590" y="0"/>
                    <a:pt x="48133" y="0"/>
                  </a:cubicBezTo>
                  <a:lnTo>
                    <a:pt x="6289929" y="0"/>
                  </a:lnTo>
                  <a:cubicBezTo>
                    <a:pt x="6316472" y="0"/>
                    <a:pt x="6338062" y="21590"/>
                    <a:pt x="6338062" y="48133"/>
                  </a:cubicBezTo>
                  <a:lnTo>
                    <a:pt x="6338062" y="6465443"/>
                  </a:lnTo>
                  <a:cubicBezTo>
                    <a:pt x="6338062" y="6491986"/>
                    <a:pt x="6316472" y="6513576"/>
                    <a:pt x="6289929" y="6513576"/>
                  </a:cubicBezTo>
                  <a:lnTo>
                    <a:pt x="48133" y="6513576"/>
                  </a:lnTo>
                  <a:cubicBezTo>
                    <a:pt x="21590" y="6513576"/>
                    <a:pt x="0" y="6491986"/>
                    <a:pt x="0" y="6465443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075610" y="1772841"/>
            <a:ext cx="3626644" cy="375494"/>
            <a:chOff x="0" y="0"/>
            <a:chExt cx="4835525" cy="50065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35525" cy="500658"/>
            </a:xfrm>
            <a:custGeom>
              <a:avLst/>
              <a:gdLst/>
              <a:ahLst/>
              <a:cxnLst/>
              <a:rect l="l" t="t" r="r" b="b"/>
              <a:pathLst>
                <a:path w="4835525" h="500658">
                  <a:moveTo>
                    <a:pt x="0" y="0"/>
                  </a:moveTo>
                  <a:lnTo>
                    <a:pt x="4835525" y="0"/>
                  </a:lnTo>
                  <a:lnTo>
                    <a:pt x="4835525" y="500658"/>
                  </a:lnTo>
                  <a:lnTo>
                    <a:pt x="0" y="500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4835525" cy="5101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1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CentOS/Amazon Linux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75610" y="2292549"/>
            <a:ext cx="4272855" cy="384572"/>
            <a:chOff x="0" y="0"/>
            <a:chExt cx="5697140" cy="51276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97140" cy="512763"/>
            </a:xfrm>
            <a:custGeom>
              <a:avLst/>
              <a:gdLst/>
              <a:ahLst/>
              <a:cxnLst/>
              <a:rect l="l" t="t" r="r" b="b"/>
              <a:pathLst>
                <a:path w="5697140" h="512763">
                  <a:moveTo>
                    <a:pt x="0" y="0"/>
                  </a:moveTo>
                  <a:lnTo>
                    <a:pt x="5697140" y="0"/>
                  </a:lnTo>
                  <a:lnTo>
                    <a:pt x="5697140" y="512763"/>
                  </a:lnTo>
                  <a:lnTo>
                    <a:pt x="0" y="5127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5697140" cy="588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Update system: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yum update -y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75610" y="2821335"/>
            <a:ext cx="4272855" cy="769144"/>
            <a:chOff x="0" y="0"/>
            <a:chExt cx="5697140" cy="10255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Install Java: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yum install java-11-openjdk -y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75610" y="3734693"/>
            <a:ext cx="4272855" cy="769144"/>
            <a:chOff x="0" y="0"/>
            <a:chExt cx="5697140" cy="102552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Add Jenkins repo, install, and configure firewall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75610" y="4648051"/>
            <a:ext cx="4272855" cy="769144"/>
            <a:chOff x="0" y="0"/>
            <a:chExt cx="5697140" cy="102552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697140" cy="1025525"/>
            </a:xfrm>
            <a:custGeom>
              <a:avLst/>
              <a:gdLst/>
              <a:ahLst/>
              <a:cxnLst/>
              <a:rect l="l" t="t" r="r" b="b"/>
              <a:pathLst>
                <a:path w="5697140" h="1025525">
                  <a:moveTo>
                    <a:pt x="0" y="0"/>
                  </a:moveTo>
                  <a:lnTo>
                    <a:pt x="5697140" y="0"/>
                  </a:lnTo>
                  <a:lnTo>
                    <a:pt x="569714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5697140" cy="11017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Start service: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systemctl start jenkins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41325" y="6657975"/>
            <a:ext cx="9747349" cy="2971354"/>
            <a:chOff x="0" y="0"/>
            <a:chExt cx="12996465" cy="396180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996545" cy="3961892"/>
            </a:xfrm>
            <a:custGeom>
              <a:avLst/>
              <a:gdLst/>
              <a:ahLst/>
              <a:cxnLst/>
              <a:rect l="l" t="t" r="r" b="b"/>
              <a:pathLst>
                <a:path w="12996545" h="3961892">
                  <a:moveTo>
                    <a:pt x="0" y="48133"/>
                  </a:moveTo>
                  <a:cubicBezTo>
                    <a:pt x="0" y="21590"/>
                    <a:pt x="21590" y="0"/>
                    <a:pt x="48133" y="0"/>
                  </a:cubicBezTo>
                  <a:lnTo>
                    <a:pt x="12948412" y="0"/>
                  </a:lnTo>
                  <a:cubicBezTo>
                    <a:pt x="12974955" y="0"/>
                    <a:pt x="12996545" y="21590"/>
                    <a:pt x="12996545" y="48133"/>
                  </a:cubicBezTo>
                  <a:lnTo>
                    <a:pt x="12996545" y="3913759"/>
                  </a:lnTo>
                  <a:cubicBezTo>
                    <a:pt x="12996545" y="3940302"/>
                    <a:pt x="12974955" y="3961892"/>
                    <a:pt x="12948412" y="3961892"/>
                  </a:cubicBezTo>
                  <a:lnTo>
                    <a:pt x="48133" y="3961892"/>
                  </a:lnTo>
                  <a:cubicBezTo>
                    <a:pt x="21590" y="3961892"/>
                    <a:pt x="0" y="3940302"/>
                    <a:pt x="0" y="391375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081682" y="6898332"/>
            <a:ext cx="3004989" cy="375494"/>
            <a:chOff x="0" y="0"/>
            <a:chExt cx="4006652" cy="50065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006652" cy="500658"/>
            </a:xfrm>
            <a:custGeom>
              <a:avLst/>
              <a:gdLst/>
              <a:ahLst/>
              <a:cxnLst/>
              <a:rect l="l" t="t" r="r" b="b"/>
              <a:pathLst>
                <a:path w="4006652" h="500658">
                  <a:moveTo>
                    <a:pt x="0" y="0"/>
                  </a:moveTo>
                  <a:lnTo>
                    <a:pt x="4006652" y="0"/>
                  </a:lnTo>
                  <a:lnTo>
                    <a:pt x="4006652" y="500658"/>
                  </a:lnTo>
                  <a:lnTo>
                    <a:pt x="0" y="500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006652" cy="51018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1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macOS Installation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81682" y="7418040"/>
            <a:ext cx="9266635" cy="384572"/>
            <a:chOff x="0" y="0"/>
            <a:chExt cx="12355513" cy="51276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355513" cy="512763"/>
            </a:xfrm>
            <a:custGeom>
              <a:avLst/>
              <a:gdLst/>
              <a:ahLst/>
              <a:cxnLst/>
              <a:rect l="l" t="t" r="r" b="b"/>
              <a:pathLst>
                <a:path w="12355513" h="512763">
                  <a:moveTo>
                    <a:pt x="0" y="0"/>
                  </a:moveTo>
                  <a:lnTo>
                    <a:pt x="12355513" y="0"/>
                  </a:lnTo>
                  <a:lnTo>
                    <a:pt x="12355513" y="512763"/>
                  </a:lnTo>
                  <a:lnTo>
                    <a:pt x="0" y="5127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76200"/>
              <a:ext cx="12355513" cy="588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Install via Homebrew: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brew install jenkins-lts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81682" y="7946826"/>
            <a:ext cx="9266635" cy="384572"/>
            <a:chOff x="0" y="0"/>
            <a:chExt cx="12355513" cy="51276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355513" cy="512763"/>
            </a:xfrm>
            <a:custGeom>
              <a:avLst/>
              <a:gdLst/>
              <a:ahLst/>
              <a:cxnLst/>
              <a:rect l="l" t="t" r="r" b="b"/>
              <a:pathLst>
                <a:path w="12355513" h="512763">
                  <a:moveTo>
                    <a:pt x="0" y="0"/>
                  </a:moveTo>
                  <a:lnTo>
                    <a:pt x="12355513" y="0"/>
                  </a:lnTo>
                  <a:lnTo>
                    <a:pt x="12355513" y="512763"/>
                  </a:lnTo>
                  <a:lnTo>
                    <a:pt x="0" y="5127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76200"/>
              <a:ext cx="12355513" cy="588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Start service: </a:t>
              </a:r>
              <a:r>
                <a:rPr lang="en-US" sz="1874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brew services start jenkins-lts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81682" y="8475612"/>
            <a:ext cx="9266635" cy="384572"/>
            <a:chOff x="0" y="0"/>
            <a:chExt cx="12355513" cy="51276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355513" cy="512763"/>
            </a:xfrm>
            <a:custGeom>
              <a:avLst/>
              <a:gdLst/>
              <a:ahLst/>
              <a:cxnLst/>
              <a:rect l="l" t="t" r="r" b="b"/>
              <a:pathLst>
                <a:path w="12355513" h="512763">
                  <a:moveTo>
                    <a:pt x="0" y="0"/>
                  </a:moveTo>
                  <a:lnTo>
                    <a:pt x="12355513" y="0"/>
                  </a:lnTo>
                  <a:lnTo>
                    <a:pt x="12355513" y="512763"/>
                  </a:lnTo>
                  <a:lnTo>
                    <a:pt x="0" y="5127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76200"/>
              <a:ext cx="12355513" cy="588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Or use WAR file for manual installation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81682" y="9004399"/>
            <a:ext cx="9266635" cy="384572"/>
            <a:chOff x="0" y="0"/>
            <a:chExt cx="12355513" cy="51276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355513" cy="512763"/>
            </a:xfrm>
            <a:custGeom>
              <a:avLst/>
              <a:gdLst/>
              <a:ahLst/>
              <a:cxnLst/>
              <a:rect l="l" t="t" r="r" b="b"/>
              <a:pathLst>
                <a:path w="12355513" h="512763">
                  <a:moveTo>
                    <a:pt x="0" y="0"/>
                  </a:moveTo>
                  <a:lnTo>
                    <a:pt x="12355513" y="0"/>
                  </a:lnTo>
                  <a:lnTo>
                    <a:pt x="12355513" y="512763"/>
                  </a:lnTo>
                  <a:lnTo>
                    <a:pt x="0" y="5127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2355513" cy="5889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Access via browser at http://localhost:8080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10530" y="703511"/>
            <a:ext cx="6878091" cy="650379"/>
            <a:chOff x="0" y="0"/>
            <a:chExt cx="9170788" cy="8671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70788" cy="867172"/>
            </a:xfrm>
            <a:custGeom>
              <a:avLst/>
              <a:gdLst/>
              <a:ahLst/>
              <a:cxnLst/>
              <a:rect l="l" t="t" r="r" b="b"/>
              <a:pathLst>
                <a:path w="9170788" h="867172">
                  <a:moveTo>
                    <a:pt x="0" y="0"/>
                  </a:moveTo>
                  <a:lnTo>
                    <a:pt x="9170788" y="0"/>
                  </a:lnTo>
                  <a:lnTo>
                    <a:pt x="9170788" y="867172"/>
                  </a:lnTo>
                  <a:lnTo>
                    <a:pt x="0" y="8671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170788" cy="886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62"/>
                </a:lnSpc>
              </a:pPr>
              <a:r>
                <a:rPr lang="en-US" sz="406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Setting Up Jenkins Master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0530" y="1917799"/>
            <a:ext cx="195114" cy="2204591"/>
            <a:chOff x="0" y="0"/>
            <a:chExt cx="260152" cy="29394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0223" cy="2939542"/>
            </a:xfrm>
            <a:custGeom>
              <a:avLst/>
              <a:gdLst/>
              <a:ahLst/>
              <a:cxnLst/>
              <a:rect l="l" t="t" r="r" b="b"/>
              <a:pathLst>
                <a:path w="260223" h="2939542">
                  <a:moveTo>
                    <a:pt x="0" y="52070"/>
                  </a:moveTo>
                  <a:cubicBezTo>
                    <a:pt x="0" y="23241"/>
                    <a:pt x="23241" y="0"/>
                    <a:pt x="52070" y="0"/>
                  </a:cubicBezTo>
                  <a:lnTo>
                    <a:pt x="208153" y="0"/>
                  </a:lnTo>
                  <a:cubicBezTo>
                    <a:pt x="236855" y="0"/>
                    <a:pt x="260223" y="23241"/>
                    <a:pt x="260223" y="52070"/>
                  </a:cubicBezTo>
                  <a:lnTo>
                    <a:pt x="260223" y="2887472"/>
                  </a:lnTo>
                  <a:cubicBezTo>
                    <a:pt x="260223" y="2916174"/>
                    <a:pt x="236982" y="2939542"/>
                    <a:pt x="208153" y="2939542"/>
                  </a:cubicBezTo>
                  <a:lnTo>
                    <a:pt x="52070" y="2939542"/>
                  </a:lnTo>
                  <a:cubicBezTo>
                    <a:pt x="23368" y="2939542"/>
                    <a:pt x="0" y="2916301"/>
                    <a:pt x="0" y="288747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95871" y="1885587"/>
            <a:ext cx="6947001" cy="552132"/>
            <a:chOff x="0" y="0"/>
            <a:chExt cx="9262668" cy="7361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262668" cy="736177"/>
            </a:xfrm>
            <a:custGeom>
              <a:avLst/>
              <a:gdLst/>
              <a:ahLst/>
              <a:cxnLst/>
              <a:rect l="l" t="t" r="r" b="b"/>
              <a:pathLst>
                <a:path w="9262668" h="736177">
                  <a:moveTo>
                    <a:pt x="0" y="0"/>
                  </a:moveTo>
                  <a:lnTo>
                    <a:pt x="9262668" y="0"/>
                  </a:lnTo>
                  <a:lnTo>
                    <a:pt x="9262668" y="736177"/>
                  </a:lnTo>
                  <a:lnTo>
                    <a:pt x="0" y="7361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9262668" cy="755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Access Jenkins Web Interface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95871" y="2561481"/>
            <a:ext cx="9023598" cy="1560910"/>
            <a:chOff x="0" y="0"/>
            <a:chExt cx="12031463" cy="20812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31463" cy="2081213"/>
            </a:xfrm>
            <a:custGeom>
              <a:avLst/>
              <a:gdLst/>
              <a:ahLst/>
              <a:cxnLst/>
              <a:rect l="l" t="t" r="r" b="b"/>
              <a:pathLst>
                <a:path w="12031463" h="2081213">
                  <a:moveTo>
                    <a:pt x="0" y="0"/>
                  </a:moveTo>
                  <a:lnTo>
                    <a:pt x="12031463" y="0"/>
                  </a:lnTo>
                  <a:lnTo>
                    <a:pt x="12031463" y="2081213"/>
                  </a:lnTo>
                  <a:lnTo>
                    <a:pt x="0" y="2081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04775"/>
              <a:ext cx="12031463" cy="2185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Open your browser and navigate to http://localhost:8080 to load the Jenkins Dashboard, where you can manage jobs and configurations.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0757" y="4382541"/>
            <a:ext cx="195114" cy="2204591"/>
            <a:chOff x="0" y="0"/>
            <a:chExt cx="260152" cy="29394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0223" cy="2939542"/>
            </a:xfrm>
            <a:custGeom>
              <a:avLst/>
              <a:gdLst/>
              <a:ahLst/>
              <a:cxnLst/>
              <a:rect l="l" t="t" r="r" b="b"/>
              <a:pathLst>
                <a:path w="260223" h="2939542">
                  <a:moveTo>
                    <a:pt x="0" y="52070"/>
                  </a:moveTo>
                  <a:cubicBezTo>
                    <a:pt x="0" y="23241"/>
                    <a:pt x="23241" y="0"/>
                    <a:pt x="52070" y="0"/>
                  </a:cubicBezTo>
                  <a:lnTo>
                    <a:pt x="208153" y="0"/>
                  </a:lnTo>
                  <a:cubicBezTo>
                    <a:pt x="236855" y="0"/>
                    <a:pt x="260223" y="23241"/>
                    <a:pt x="260223" y="52070"/>
                  </a:cubicBezTo>
                  <a:lnTo>
                    <a:pt x="260223" y="2887472"/>
                  </a:lnTo>
                  <a:cubicBezTo>
                    <a:pt x="260223" y="2916174"/>
                    <a:pt x="236982" y="2939542"/>
                    <a:pt x="208153" y="2939542"/>
                  </a:cubicBezTo>
                  <a:lnTo>
                    <a:pt x="52070" y="2939542"/>
                  </a:lnTo>
                  <a:cubicBezTo>
                    <a:pt x="23368" y="2939542"/>
                    <a:pt x="0" y="2916301"/>
                    <a:pt x="0" y="288747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886099" y="4382541"/>
            <a:ext cx="5316141" cy="487710"/>
            <a:chOff x="0" y="0"/>
            <a:chExt cx="7088188" cy="650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88188" cy="650280"/>
            </a:xfrm>
            <a:custGeom>
              <a:avLst/>
              <a:gdLst/>
              <a:ahLst/>
              <a:cxnLst/>
              <a:rect l="l" t="t" r="r" b="b"/>
              <a:pathLst>
                <a:path w="7088188" h="650280">
                  <a:moveTo>
                    <a:pt x="0" y="0"/>
                  </a:moveTo>
                  <a:lnTo>
                    <a:pt x="7088188" y="0"/>
                  </a:lnTo>
                  <a:lnTo>
                    <a:pt x="7088188" y="650280"/>
                  </a:lnTo>
                  <a:lnTo>
                    <a:pt x="0" y="650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7088188" cy="669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Configure Global Settings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86099" y="5026224"/>
            <a:ext cx="8633371" cy="1560910"/>
            <a:chOff x="0" y="0"/>
            <a:chExt cx="11511162" cy="20812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511162" cy="2081213"/>
            </a:xfrm>
            <a:custGeom>
              <a:avLst/>
              <a:gdLst/>
              <a:ahLst/>
              <a:cxnLst/>
              <a:rect l="l" t="t" r="r" b="b"/>
              <a:pathLst>
                <a:path w="11511162" h="2081213">
                  <a:moveTo>
                    <a:pt x="0" y="0"/>
                  </a:moveTo>
                  <a:lnTo>
                    <a:pt x="11511162" y="0"/>
                  </a:lnTo>
                  <a:lnTo>
                    <a:pt x="11511162" y="2081213"/>
                  </a:lnTo>
                  <a:lnTo>
                    <a:pt x="0" y="2081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11511162" cy="2185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Manage Jenkins &gt; Configure System to set up default workspace directory, system messages, environment variables, and security settings.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90985" y="6847285"/>
            <a:ext cx="195114" cy="2204591"/>
            <a:chOff x="0" y="0"/>
            <a:chExt cx="260152" cy="293945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0223" cy="2939542"/>
            </a:xfrm>
            <a:custGeom>
              <a:avLst/>
              <a:gdLst/>
              <a:ahLst/>
              <a:cxnLst/>
              <a:rect l="l" t="t" r="r" b="b"/>
              <a:pathLst>
                <a:path w="260223" h="2939542">
                  <a:moveTo>
                    <a:pt x="0" y="52070"/>
                  </a:moveTo>
                  <a:cubicBezTo>
                    <a:pt x="0" y="23241"/>
                    <a:pt x="23241" y="0"/>
                    <a:pt x="52070" y="0"/>
                  </a:cubicBezTo>
                  <a:lnTo>
                    <a:pt x="208153" y="0"/>
                  </a:lnTo>
                  <a:cubicBezTo>
                    <a:pt x="236855" y="0"/>
                    <a:pt x="260223" y="23241"/>
                    <a:pt x="260223" y="52070"/>
                  </a:cubicBezTo>
                  <a:lnTo>
                    <a:pt x="260223" y="2887472"/>
                  </a:lnTo>
                  <a:cubicBezTo>
                    <a:pt x="260223" y="2916174"/>
                    <a:pt x="236982" y="2939542"/>
                    <a:pt x="208153" y="2939542"/>
                  </a:cubicBezTo>
                  <a:lnTo>
                    <a:pt x="52070" y="2939542"/>
                  </a:lnTo>
                  <a:cubicBezTo>
                    <a:pt x="23368" y="2939542"/>
                    <a:pt x="0" y="2916301"/>
                    <a:pt x="0" y="2887472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2276326" y="6847285"/>
            <a:ext cx="3902422" cy="487710"/>
            <a:chOff x="0" y="0"/>
            <a:chExt cx="5203230" cy="650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203230" cy="650280"/>
            </a:xfrm>
            <a:custGeom>
              <a:avLst/>
              <a:gdLst/>
              <a:ahLst/>
              <a:cxnLst/>
              <a:rect l="l" t="t" r="r" b="b"/>
              <a:pathLst>
                <a:path w="5203230" h="650280">
                  <a:moveTo>
                    <a:pt x="0" y="0"/>
                  </a:moveTo>
                  <a:lnTo>
                    <a:pt x="5203230" y="0"/>
                  </a:lnTo>
                  <a:lnTo>
                    <a:pt x="5203230" y="650280"/>
                  </a:lnTo>
                  <a:lnTo>
                    <a:pt x="0" y="6502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203230" cy="669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2"/>
                </a:lnSpc>
              </a:pPr>
              <a:r>
                <a:rPr lang="en-US" sz="3062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Set Up Credentials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276326" y="7490966"/>
            <a:ext cx="8243144" cy="1560910"/>
            <a:chOff x="0" y="0"/>
            <a:chExt cx="10990858" cy="208121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90859" cy="2081213"/>
            </a:xfrm>
            <a:custGeom>
              <a:avLst/>
              <a:gdLst/>
              <a:ahLst/>
              <a:cxnLst/>
              <a:rect l="l" t="t" r="r" b="b"/>
              <a:pathLst>
                <a:path w="10990859" h="2081213">
                  <a:moveTo>
                    <a:pt x="0" y="0"/>
                  </a:moveTo>
                  <a:lnTo>
                    <a:pt x="10990859" y="0"/>
                  </a:lnTo>
                  <a:lnTo>
                    <a:pt x="10990859" y="2081213"/>
                  </a:lnTo>
                  <a:lnTo>
                    <a:pt x="0" y="2081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04775"/>
              <a:ext cx="10990858" cy="2185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Navigate to Manage Jenkins &gt; Manage Credentials to add credentials for GitHub, AWS, Docker, or SSH connections that your builds will need.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744"/>
          </a:xfrm>
          <a:custGeom>
            <a:avLst/>
            <a:gdLst/>
            <a:ahLst/>
            <a:cxnLst/>
            <a:rect l="l" t="t" r="r" b="b"/>
            <a:pathLst>
              <a:path w="6858000" h="10287744">
                <a:moveTo>
                  <a:pt x="0" y="0"/>
                </a:moveTo>
                <a:lnTo>
                  <a:pt x="6858000" y="0"/>
                </a:lnTo>
                <a:lnTo>
                  <a:pt x="6858000" y="10287744"/>
                </a:lnTo>
                <a:lnTo>
                  <a:pt x="0" y="10287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" r="-3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46671" y="586680"/>
            <a:ext cx="5830341" cy="533251"/>
            <a:chOff x="0" y="0"/>
            <a:chExt cx="7773788" cy="711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773788" cy="711002"/>
            </a:xfrm>
            <a:custGeom>
              <a:avLst/>
              <a:gdLst/>
              <a:ahLst/>
              <a:cxnLst/>
              <a:rect l="l" t="t" r="r" b="b"/>
              <a:pathLst>
                <a:path w="7773788" h="711002">
                  <a:moveTo>
                    <a:pt x="0" y="0"/>
                  </a:moveTo>
                  <a:lnTo>
                    <a:pt x="7773788" y="0"/>
                  </a:lnTo>
                  <a:lnTo>
                    <a:pt x="7773788" y="711002"/>
                  </a:lnTo>
                  <a:lnTo>
                    <a:pt x="0" y="7110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773788" cy="73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87"/>
                </a:lnSpc>
              </a:pPr>
              <a:r>
                <a:rPr lang="en-US" sz="3312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Connecting Jenkins Agents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746671" y="1359842"/>
            <a:ext cx="1066800" cy="2362646"/>
          </a:xfrm>
          <a:custGeom>
            <a:avLst/>
            <a:gdLst/>
            <a:ahLst/>
            <a:cxnLst/>
            <a:rect l="l" t="t" r="r" b="b"/>
            <a:pathLst>
              <a:path w="1066800" h="2362646">
                <a:moveTo>
                  <a:pt x="0" y="0"/>
                </a:moveTo>
                <a:lnTo>
                  <a:pt x="1066800" y="0"/>
                </a:lnTo>
                <a:lnTo>
                  <a:pt x="1066800" y="2362647"/>
                </a:lnTo>
                <a:lnTo>
                  <a:pt x="0" y="2362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" r="-9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133451" y="1573114"/>
            <a:ext cx="4583163" cy="400050"/>
            <a:chOff x="0" y="0"/>
            <a:chExt cx="6110883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10883" cy="533400"/>
            </a:xfrm>
            <a:custGeom>
              <a:avLst/>
              <a:gdLst/>
              <a:ahLst/>
              <a:cxnLst/>
              <a:rect l="l" t="t" r="r" b="b"/>
              <a:pathLst>
                <a:path w="6110883" h="533400">
                  <a:moveTo>
                    <a:pt x="0" y="0"/>
                  </a:moveTo>
                  <a:lnTo>
                    <a:pt x="6110883" y="0"/>
                  </a:lnTo>
                  <a:lnTo>
                    <a:pt x="6110883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110883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Configure Agent on Master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33451" y="2101155"/>
            <a:ext cx="8549879" cy="426690"/>
            <a:chOff x="0" y="0"/>
            <a:chExt cx="11399838" cy="5689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99838" cy="568920"/>
            </a:xfrm>
            <a:custGeom>
              <a:avLst/>
              <a:gdLst/>
              <a:ahLst/>
              <a:cxnLst/>
              <a:rect l="l" t="t" r="r" b="b"/>
              <a:pathLst>
                <a:path w="11399838" h="568920">
                  <a:moveTo>
                    <a:pt x="0" y="0"/>
                  </a:moveTo>
                  <a:lnTo>
                    <a:pt x="11399838" y="0"/>
                  </a:lnTo>
                  <a:lnTo>
                    <a:pt x="11399838" y="568920"/>
                  </a:lnTo>
                  <a:lnTo>
                    <a:pt x="0" y="56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1399838" cy="645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Manage Jenkins &gt; Manage Nodes and Clouds.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33451" y="2655838"/>
            <a:ext cx="8549879" cy="853380"/>
            <a:chOff x="0" y="0"/>
            <a:chExt cx="11399838" cy="11378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99838" cy="1137840"/>
            </a:xfrm>
            <a:custGeom>
              <a:avLst/>
              <a:gdLst/>
              <a:ahLst/>
              <a:cxnLst/>
              <a:rect l="l" t="t" r="r" b="b"/>
              <a:pathLst>
                <a:path w="11399838" h="1137840">
                  <a:moveTo>
                    <a:pt x="0" y="0"/>
                  </a:moveTo>
                  <a:lnTo>
                    <a:pt x="11399838" y="0"/>
                  </a:lnTo>
                  <a:lnTo>
                    <a:pt x="11399838" y="1137840"/>
                  </a:lnTo>
                  <a:lnTo>
                    <a:pt x="0" y="11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11399838" cy="1214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Click New Node, enter a name (e.g., linux-agent), select Permanent Agent, and click OK.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746671" y="3722489"/>
            <a:ext cx="1066800" cy="2362646"/>
          </a:xfrm>
          <a:custGeom>
            <a:avLst/>
            <a:gdLst/>
            <a:ahLst/>
            <a:cxnLst/>
            <a:rect l="l" t="t" r="r" b="b"/>
            <a:pathLst>
              <a:path w="1066800" h="2362646">
                <a:moveTo>
                  <a:pt x="0" y="0"/>
                </a:moveTo>
                <a:lnTo>
                  <a:pt x="1066800" y="0"/>
                </a:lnTo>
                <a:lnTo>
                  <a:pt x="1066800" y="2362646"/>
                </a:lnTo>
                <a:lnTo>
                  <a:pt x="0" y="23626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" r="-9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133451" y="3935760"/>
            <a:ext cx="3971330" cy="400050"/>
            <a:chOff x="0" y="0"/>
            <a:chExt cx="5295107" cy="533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95107" cy="533400"/>
            </a:xfrm>
            <a:custGeom>
              <a:avLst/>
              <a:gdLst/>
              <a:ahLst/>
              <a:cxnLst/>
              <a:rect l="l" t="t" r="r" b="b"/>
              <a:pathLst>
                <a:path w="5295107" h="533400">
                  <a:moveTo>
                    <a:pt x="0" y="0"/>
                  </a:moveTo>
                  <a:lnTo>
                    <a:pt x="5295107" y="0"/>
                  </a:lnTo>
                  <a:lnTo>
                    <a:pt x="5295107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295107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Prepare Agent Machine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133451" y="4463802"/>
            <a:ext cx="8549879" cy="853380"/>
            <a:chOff x="0" y="0"/>
            <a:chExt cx="11399838" cy="1137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99838" cy="1137840"/>
            </a:xfrm>
            <a:custGeom>
              <a:avLst/>
              <a:gdLst/>
              <a:ahLst/>
              <a:cxnLst/>
              <a:rect l="l" t="t" r="r" b="b"/>
              <a:pathLst>
                <a:path w="11399838" h="1137840">
                  <a:moveTo>
                    <a:pt x="0" y="0"/>
                  </a:moveTo>
                  <a:lnTo>
                    <a:pt x="11399838" y="0"/>
                  </a:lnTo>
                  <a:lnTo>
                    <a:pt x="11399838" y="1137840"/>
                  </a:lnTo>
                  <a:lnTo>
                    <a:pt x="0" y="11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11399838" cy="1214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Install Java on the agent: </a:t>
              </a:r>
              <a:r>
                <a:rPr lang="en-US" sz="2062" b="1">
                  <a:solidFill>
                    <a:srgbClr val="1F71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apt update &amp;&amp; sudo apt install openjdk-11-jdk -y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133451" y="5445175"/>
            <a:ext cx="8549879" cy="426690"/>
            <a:chOff x="0" y="0"/>
            <a:chExt cx="11399838" cy="5689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399838" cy="568920"/>
            </a:xfrm>
            <a:custGeom>
              <a:avLst/>
              <a:gdLst/>
              <a:ahLst/>
              <a:cxnLst/>
              <a:rect l="l" t="t" r="r" b="b"/>
              <a:pathLst>
                <a:path w="11399838" h="568920">
                  <a:moveTo>
                    <a:pt x="0" y="0"/>
                  </a:moveTo>
                  <a:lnTo>
                    <a:pt x="11399838" y="0"/>
                  </a:lnTo>
                  <a:lnTo>
                    <a:pt x="11399838" y="568920"/>
                  </a:lnTo>
                  <a:lnTo>
                    <a:pt x="0" y="568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11399838" cy="645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Create a Jenkins user: </a:t>
              </a:r>
              <a:r>
                <a:rPr lang="en-US" sz="2062" b="1">
                  <a:solidFill>
                    <a:srgbClr val="1F71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sudo useradd -m -d /home/jenkins jenkins</a:t>
              </a:r>
            </a:p>
          </p:txBody>
        </p:sp>
      </p:grpSp>
      <p:sp>
        <p:nvSpPr>
          <p:cNvPr id="31" name="Freeform 31" descr="preencoded.png"/>
          <p:cNvSpPr/>
          <p:nvPr/>
        </p:nvSpPr>
        <p:spPr>
          <a:xfrm>
            <a:off x="746671" y="6085135"/>
            <a:ext cx="1066800" cy="1807964"/>
          </a:xfrm>
          <a:custGeom>
            <a:avLst/>
            <a:gdLst/>
            <a:ahLst/>
            <a:cxnLst/>
            <a:rect l="l" t="t" r="r" b="b"/>
            <a:pathLst>
              <a:path w="1066800" h="1807964">
                <a:moveTo>
                  <a:pt x="0" y="0"/>
                </a:moveTo>
                <a:lnTo>
                  <a:pt x="1066800" y="0"/>
                </a:lnTo>
                <a:lnTo>
                  <a:pt x="1066800" y="1807964"/>
                </a:lnTo>
                <a:lnTo>
                  <a:pt x="0" y="18079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9" b="-49"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2133451" y="6298406"/>
            <a:ext cx="3988594" cy="400050"/>
            <a:chOff x="0" y="0"/>
            <a:chExt cx="5318125" cy="533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18125" cy="533400"/>
            </a:xfrm>
            <a:custGeom>
              <a:avLst/>
              <a:gdLst/>
              <a:ahLst/>
              <a:cxnLst/>
              <a:rect l="l" t="t" r="r" b="b"/>
              <a:pathLst>
                <a:path w="5318125" h="533400">
                  <a:moveTo>
                    <a:pt x="0" y="0"/>
                  </a:moveTo>
                  <a:lnTo>
                    <a:pt x="5318125" y="0"/>
                  </a:lnTo>
                  <a:lnTo>
                    <a:pt x="5318125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5318125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Set Up SSH Connection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33451" y="6826449"/>
            <a:ext cx="8549879" cy="853380"/>
            <a:chOff x="0" y="0"/>
            <a:chExt cx="11399838" cy="1137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399838" cy="1137840"/>
            </a:xfrm>
            <a:custGeom>
              <a:avLst/>
              <a:gdLst/>
              <a:ahLst/>
              <a:cxnLst/>
              <a:rect l="l" t="t" r="r" b="b"/>
              <a:pathLst>
                <a:path w="11399838" h="1137840">
                  <a:moveTo>
                    <a:pt x="0" y="0"/>
                  </a:moveTo>
                  <a:lnTo>
                    <a:pt x="11399838" y="0"/>
                  </a:lnTo>
                  <a:lnTo>
                    <a:pt x="11399838" y="1137840"/>
                  </a:lnTo>
                  <a:lnTo>
                    <a:pt x="0" y="11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11399838" cy="1214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Configure remote root directory, launch method via SSH, host address, and add SSH credentials for secure connection.</a:t>
              </a:r>
            </a:p>
          </p:txBody>
        </p:sp>
      </p:grpSp>
      <p:sp>
        <p:nvSpPr>
          <p:cNvPr id="38" name="Freeform 38" descr="preencoded.png"/>
          <p:cNvSpPr/>
          <p:nvPr/>
        </p:nvSpPr>
        <p:spPr>
          <a:xfrm>
            <a:off x="746671" y="7893100"/>
            <a:ext cx="1066800" cy="1807964"/>
          </a:xfrm>
          <a:custGeom>
            <a:avLst/>
            <a:gdLst/>
            <a:ahLst/>
            <a:cxnLst/>
            <a:rect l="l" t="t" r="r" b="b"/>
            <a:pathLst>
              <a:path w="1066800" h="1807964">
                <a:moveTo>
                  <a:pt x="0" y="0"/>
                </a:moveTo>
                <a:lnTo>
                  <a:pt x="1066800" y="0"/>
                </a:lnTo>
                <a:lnTo>
                  <a:pt x="1066800" y="1807964"/>
                </a:lnTo>
                <a:lnTo>
                  <a:pt x="0" y="18079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9" b="-49"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2133451" y="8106370"/>
            <a:ext cx="3200549" cy="400050"/>
            <a:chOff x="0" y="0"/>
            <a:chExt cx="4267398" cy="533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267398" cy="533400"/>
            </a:xfrm>
            <a:custGeom>
              <a:avLst/>
              <a:gdLst/>
              <a:ahLst/>
              <a:cxnLst/>
              <a:rect l="l" t="t" r="r" b="b"/>
              <a:pathLst>
                <a:path w="4267398" h="533400">
                  <a:moveTo>
                    <a:pt x="0" y="0"/>
                  </a:moveTo>
                  <a:lnTo>
                    <a:pt x="4267398" y="0"/>
                  </a:lnTo>
                  <a:lnTo>
                    <a:pt x="4267398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4267398" cy="552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Verify Connection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133451" y="8634412"/>
            <a:ext cx="8549879" cy="853380"/>
            <a:chOff x="0" y="0"/>
            <a:chExt cx="11399838" cy="1137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399838" cy="1137840"/>
            </a:xfrm>
            <a:custGeom>
              <a:avLst/>
              <a:gdLst/>
              <a:ahLst/>
              <a:cxnLst/>
              <a:rect l="l" t="t" r="r" b="b"/>
              <a:pathLst>
                <a:path w="11399838" h="1137840">
                  <a:moveTo>
                    <a:pt x="0" y="0"/>
                  </a:moveTo>
                  <a:lnTo>
                    <a:pt x="11399838" y="0"/>
                  </a:lnTo>
                  <a:lnTo>
                    <a:pt x="11399838" y="1137840"/>
                  </a:lnTo>
                  <a:lnTo>
                    <a:pt x="0" y="1137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11399838" cy="1214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Manage Nodes to confirm the agent shows as connected. The agent is now ready to execute builds assigned by the master.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73472" y="781347"/>
            <a:ext cx="8187035" cy="623887"/>
            <a:chOff x="0" y="0"/>
            <a:chExt cx="10916047" cy="831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16047" cy="831850"/>
            </a:xfrm>
            <a:custGeom>
              <a:avLst/>
              <a:gdLst/>
              <a:ahLst/>
              <a:cxnLst/>
              <a:rect l="l" t="t" r="r" b="b"/>
              <a:pathLst>
                <a:path w="10916047" h="831850">
                  <a:moveTo>
                    <a:pt x="0" y="0"/>
                  </a:moveTo>
                  <a:lnTo>
                    <a:pt x="10916047" y="0"/>
                  </a:lnTo>
                  <a:lnTo>
                    <a:pt x="10916047" y="831850"/>
                  </a:lnTo>
                  <a:lnTo>
                    <a:pt x="0" y="831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0916047" cy="850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75"/>
                </a:lnSpc>
              </a:pPr>
              <a:r>
                <a:rPr lang="en-US" sz="3875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Installing and Managing Plugins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873472" y="2024360"/>
            <a:ext cx="499021" cy="499021"/>
          </a:xfrm>
          <a:custGeom>
            <a:avLst/>
            <a:gdLst/>
            <a:ahLst/>
            <a:cxnLst/>
            <a:rect l="l" t="t" r="r" b="b"/>
            <a:pathLst>
              <a:path w="499021" h="499021">
                <a:moveTo>
                  <a:pt x="0" y="0"/>
                </a:moveTo>
                <a:lnTo>
                  <a:pt x="499022" y="0"/>
                </a:lnTo>
                <a:lnTo>
                  <a:pt x="499022" y="499021"/>
                </a:lnTo>
                <a:lnTo>
                  <a:pt x="0" y="4990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73472" y="2772816"/>
            <a:ext cx="4654302" cy="935534"/>
            <a:chOff x="0" y="0"/>
            <a:chExt cx="6205737" cy="12473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05737" cy="1247378"/>
            </a:xfrm>
            <a:custGeom>
              <a:avLst/>
              <a:gdLst/>
              <a:ahLst/>
              <a:cxnLst/>
              <a:rect l="l" t="t" r="r" b="b"/>
              <a:pathLst>
                <a:path w="6205737" h="1247378">
                  <a:moveTo>
                    <a:pt x="0" y="0"/>
                  </a:moveTo>
                  <a:lnTo>
                    <a:pt x="6205737" y="0"/>
                  </a:lnTo>
                  <a:lnTo>
                    <a:pt x="6205737" y="1247378"/>
                  </a:lnTo>
                  <a:lnTo>
                    <a:pt x="0" y="1247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205737" cy="1266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Navigate to Plugin Manager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3472" y="3858071"/>
            <a:ext cx="4654302" cy="1597224"/>
            <a:chOff x="0" y="0"/>
            <a:chExt cx="6205737" cy="21296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05737" cy="2129632"/>
            </a:xfrm>
            <a:custGeom>
              <a:avLst/>
              <a:gdLst/>
              <a:ahLst/>
              <a:cxnLst/>
              <a:rect l="l" t="t" r="r" b="b"/>
              <a:pathLst>
                <a:path w="6205737" h="2129632">
                  <a:moveTo>
                    <a:pt x="0" y="0"/>
                  </a:moveTo>
                  <a:lnTo>
                    <a:pt x="6205737" y="0"/>
                  </a:lnTo>
                  <a:lnTo>
                    <a:pt x="6205737" y="2129632"/>
                  </a:lnTo>
                  <a:lnTo>
                    <a:pt x="0" y="2129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205737" cy="2215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Manage Jenkins &gt; Manage Plugins and open the Available tab to browse the extensive library of Jenkins plugins that extend functionality.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5902078" y="2024360"/>
            <a:ext cx="499021" cy="499021"/>
          </a:xfrm>
          <a:custGeom>
            <a:avLst/>
            <a:gdLst/>
            <a:ahLst/>
            <a:cxnLst/>
            <a:rect l="l" t="t" r="r" b="b"/>
            <a:pathLst>
              <a:path w="499021" h="499021">
                <a:moveTo>
                  <a:pt x="0" y="0"/>
                </a:moveTo>
                <a:lnTo>
                  <a:pt x="499021" y="0"/>
                </a:lnTo>
                <a:lnTo>
                  <a:pt x="499021" y="499021"/>
                </a:lnTo>
                <a:lnTo>
                  <a:pt x="0" y="499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902078" y="2772816"/>
            <a:ext cx="3743474" cy="467766"/>
            <a:chOff x="0" y="0"/>
            <a:chExt cx="4991298" cy="6236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91298" cy="623688"/>
            </a:xfrm>
            <a:custGeom>
              <a:avLst/>
              <a:gdLst/>
              <a:ahLst/>
              <a:cxnLst/>
              <a:rect l="l" t="t" r="r" b="b"/>
              <a:pathLst>
                <a:path w="4991298" h="623688">
                  <a:moveTo>
                    <a:pt x="0" y="0"/>
                  </a:moveTo>
                  <a:lnTo>
                    <a:pt x="4991298" y="0"/>
                  </a:lnTo>
                  <a:lnTo>
                    <a:pt x="4991298" y="623688"/>
                  </a:lnTo>
                  <a:lnTo>
                    <a:pt x="0" y="623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991298" cy="642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Search and Install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2078" y="3390305"/>
            <a:ext cx="4654451" cy="1597224"/>
            <a:chOff x="0" y="0"/>
            <a:chExt cx="6205935" cy="21296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05935" cy="2129632"/>
            </a:xfrm>
            <a:custGeom>
              <a:avLst/>
              <a:gdLst/>
              <a:ahLst/>
              <a:cxnLst/>
              <a:rect l="l" t="t" r="r" b="b"/>
              <a:pathLst>
                <a:path w="6205935" h="2129632">
                  <a:moveTo>
                    <a:pt x="0" y="0"/>
                  </a:moveTo>
                  <a:lnTo>
                    <a:pt x="6205935" y="0"/>
                  </a:lnTo>
                  <a:lnTo>
                    <a:pt x="6205935" y="2129632"/>
                  </a:lnTo>
                  <a:lnTo>
                    <a:pt x="0" y="2129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6205935" cy="2215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Search for required plugins like GitHub Plugin (for GitHub integration), Pipeline Plugin (for defining pipelines), or Slack Plugin (for build notifications).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873472" y="6203900"/>
            <a:ext cx="499021" cy="499021"/>
          </a:xfrm>
          <a:custGeom>
            <a:avLst/>
            <a:gdLst/>
            <a:ahLst/>
            <a:cxnLst/>
            <a:rect l="l" t="t" r="r" b="b"/>
            <a:pathLst>
              <a:path w="499021" h="499021">
                <a:moveTo>
                  <a:pt x="0" y="0"/>
                </a:moveTo>
                <a:lnTo>
                  <a:pt x="499022" y="0"/>
                </a:lnTo>
                <a:lnTo>
                  <a:pt x="499022" y="499021"/>
                </a:lnTo>
                <a:lnTo>
                  <a:pt x="0" y="4990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873472" y="6919223"/>
            <a:ext cx="4654302" cy="534035"/>
            <a:chOff x="0" y="0"/>
            <a:chExt cx="6205737" cy="7120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05737" cy="712047"/>
            </a:xfrm>
            <a:custGeom>
              <a:avLst/>
              <a:gdLst/>
              <a:ahLst/>
              <a:cxnLst/>
              <a:rect l="l" t="t" r="r" b="b"/>
              <a:pathLst>
                <a:path w="6205737" h="712047">
                  <a:moveTo>
                    <a:pt x="0" y="0"/>
                  </a:moveTo>
                  <a:lnTo>
                    <a:pt x="6205737" y="0"/>
                  </a:lnTo>
                  <a:lnTo>
                    <a:pt x="6205737" y="712047"/>
                  </a:lnTo>
                  <a:lnTo>
                    <a:pt x="0" y="712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6205737" cy="7310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Install Without Restart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73472" y="7569845"/>
            <a:ext cx="4654302" cy="1597224"/>
            <a:chOff x="0" y="0"/>
            <a:chExt cx="6205737" cy="21296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05737" cy="2129632"/>
            </a:xfrm>
            <a:custGeom>
              <a:avLst/>
              <a:gdLst/>
              <a:ahLst/>
              <a:cxnLst/>
              <a:rect l="l" t="t" r="r" b="b"/>
              <a:pathLst>
                <a:path w="6205737" h="2129632">
                  <a:moveTo>
                    <a:pt x="0" y="0"/>
                  </a:moveTo>
                  <a:lnTo>
                    <a:pt x="6205737" y="0"/>
                  </a:lnTo>
                  <a:lnTo>
                    <a:pt x="6205737" y="2129632"/>
                  </a:lnTo>
                  <a:lnTo>
                    <a:pt x="0" y="2129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6205737" cy="2215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Select the plugins you need and click "Install Without Restart" to add them to your Jenkins instance without disrupting running jobs.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5902078" y="6203900"/>
            <a:ext cx="499021" cy="499021"/>
          </a:xfrm>
          <a:custGeom>
            <a:avLst/>
            <a:gdLst/>
            <a:ahLst/>
            <a:cxnLst/>
            <a:rect l="l" t="t" r="r" b="b"/>
            <a:pathLst>
              <a:path w="499021" h="499021">
                <a:moveTo>
                  <a:pt x="0" y="0"/>
                </a:moveTo>
                <a:lnTo>
                  <a:pt x="499021" y="0"/>
                </a:lnTo>
                <a:lnTo>
                  <a:pt x="499021" y="499021"/>
                </a:lnTo>
                <a:lnTo>
                  <a:pt x="0" y="4990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5902078" y="6952358"/>
            <a:ext cx="3743474" cy="467766"/>
            <a:chOff x="0" y="0"/>
            <a:chExt cx="4991298" cy="6236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991298" cy="623688"/>
            </a:xfrm>
            <a:custGeom>
              <a:avLst/>
              <a:gdLst/>
              <a:ahLst/>
              <a:cxnLst/>
              <a:rect l="l" t="t" r="r" b="b"/>
              <a:pathLst>
                <a:path w="4991298" h="623688">
                  <a:moveTo>
                    <a:pt x="0" y="0"/>
                  </a:moveTo>
                  <a:lnTo>
                    <a:pt x="4991298" y="0"/>
                  </a:lnTo>
                  <a:lnTo>
                    <a:pt x="4991298" y="623688"/>
                  </a:lnTo>
                  <a:lnTo>
                    <a:pt x="0" y="6236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991298" cy="642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5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Verify Installation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2078" y="7569845"/>
            <a:ext cx="4654451" cy="1597224"/>
            <a:chOff x="0" y="0"/>
            <a:chExt cx="6205935" cy="21296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05935" cy="2129632"/>
            </a:xfrm>
            <a:custGeom>
              <a:avLst/>
              <a:gdLst/>
              <a:ahLst/>
              <a:cxnLst/>
              <a:rect l="l" t="t" r="r" b="b"/>
              <a:pathLst>
                <a:path w="6205935" h="2129632">
                  <a:moveTo>
                    <a:pt x="0" y="0"/>
                  </a:moveTo>
                  <a:lnTo>
                    <a:pt x="6205935" y="0"/>
                  </a:lnTo>
                  <a:lnTo>
                    <a:pt x="6205935" y="2129632"/>
                  </a:lnTo>
                  <a:lnTo>
                    <a:pt x="0" y="2129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6205935" cy="2215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the Installed tab to ensure the plugins appear in the list and are properly activated in your Jenkins environment.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25506" y="603423"/>
            <a:ext cx="8091586" cy="623888"/>
            <a:chOff x="0" y="0"/>
            <a:chExt cx="10788781" cy="8318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88781" cy="831850"/>
            </a:xfrm>
            <a:custGeom>
              <a:avLst/>
              <a:gdLst/>
              <a:ahLst/>
              <a:cxnLst/>
              <a:rect l="l" t="t" r="r" b="b"/>
              <a:pathLst>
                <a:path w="10788781" h="831850">
                  <a:moveTo>
                    <a:pt x="0" y="0"/>
                  </a:moveTo>
                  <a:lnTo>
                    <a:pt x="10788781" y="0"/>
                  </a:lnTo>
                  <a:lnTo>
                    <a:pt x="10788781" y="831850"/>
                  </a:lnTo>
                  <a:lnTo>
                    <a:pt x="0" y="831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0788781" cy="850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12"/>
                </a:lnSpc>
              </a:pPr>
              <a:r>
                <a:rPr lang="en-US" sz="343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Integrating Jenkins with GitHub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5506" y="1408659"/>
            <a:ext cx="9894986" cy="877192"/>
            <a:chOff x="0" y="0"/>
            <a:chExt cx="13193315" cy="11695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93316" cy="1169590"/>
            </a:xfrm>
            <a:custGeom>
              <a:avLst/>
              <a:gdLst/>
              <a:ahLst/>
              <a:cxnLst/>
              <a:rect l="l" t="t" r="r" b="b"/>
              <a:pathLst>
                <a:path w="13193316" h="1169590">
                  <a:moveTo>
                    <a:pt x="0" y="0"/>
                  </a:moveTo>
                  <a:lnTo>
                    <a:pt x="13193316" y="0"/>
                  </a:lnTo>
                  <a:lnTo>
                    <a:pt x="13193316" y="1169590"/>
                  </a:lnTo>
                  <a:lnTo>
                    <a:pt x="0" y="11695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3193315" cy="1255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9739" lvl="1" indent="-149869" algn="l">
                <a:lnSpc>
                  <a:spcPts val="3238"/>
                </a:lnSpc>
                <a:buFont typeface="Arial"/>
                <a:buChar char="•"/>
              </a:pPr>
              <a:r>
                <a:rPr lang="en-US" sz="19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Integrating Jenkins with GitHub automates builds, ensures continuous testing, and triggers deployments without manual intervention.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72115" y="2532460"/>
            <a:ext cx="28575" cy="7113240"/>
            <a:chOff x="0" y="0"/>
            <a:chExt cx="38100" cy="94843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" cy="9484360"/>
            </a:xfrm>
            <a:custGeom>
              <a:avLst/>
              <a:gdLst/>
              <a:ahLst/>
              <a:cxnLst/>
              <a:rect l="l" t="t" r="r" b="b"/>
              <a:pathLst>
                <a:path w="38100" h="948436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65310"/>
                  </a:lnTo>
                  <a:cubicBezTo>
                    <a:pt x="38100" y="9475851"/>
                    <a:pt x="29591" y="9484360"/>
                    <a:pt x="19050" y="9484360"/>
                  </a:cubicBezTo>
                  <a:cubicBezTo>
                    <a:pt x="8509" y="9484360"/>
                    <a:pt x="0" y="9475851"/>
                    <a:pt x="0" y="946531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090222" y="3011389"/>
            <a:ext cx="657820" cy="28575"/>
            <a:chOff x="0" y="0"/>
            <a:chExt cx="877093" cy="38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7062" cy="38100"/>
            </a:xfrm>
            <a:custGeom>
              <a:avLst/>
              <a:gdLst/>
              <a:ahLst/>
              <a:cxnLst/>
              <a:rect l="l" t="t" r="r" b="b"/>
              <a:pathLst>
                <a:path w="8770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8012" y="0"/>
                  </a:lnTo>
                  <a:cubicBezTo>
                    <a:pt x="868553" y="0"/>
                    <a:pt x="877062" y="8509"/>
                    <a:pt x="877062" y="19050"/>
                  </a:cubicBezTo>
                  <a:cubicBezTo>
                    <a:pt x="877062" y="29591"/>
                    <a:pt x="868553" y="38100"/>
                    <a:pt x="8580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625432" y="2779067"/>
            <a:ext cx="493365" cy="493365"/>
            <a:chOff x="0" y="0"/>
            <a:chExt cx="657820" cy="6578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7733" cy="657860"/>
            </a:xfrm>
            <a:custGeom>
              <a:avLst/>
              <a:gdLst/>
              <a:ahLst/>
              <a:cxnLst/>
              <a:rect l="l" t="t" r="r" b="b"/>
              <a:pathLst>
                <a:path w="657733" h="657860">
                  <a:moveTo>
                    <a:pt x="0" y="43815"/>
                  </a:moveTo>
                  <a:cubicBezTo>
                    <a:pt x="0" y="19685"/>
                    <a:pt x="19685" y="0"/>
                    <a:pt x="43815" y="0"/>
                  </a:cubicBezTo>
                  <a:lnTo>
                    <a:pt x="613918" y="0"/>
                  </a:lnTo>
                  <a:cubicBezTo>
                    <a:pt x="638175" y="0"/>
                    <a:pt x="657733" y="19685"/>
                    <a:pt x="657733" y="43815"/>
                  </a:cubicBezTo>
                  <a:lnTo>
                    <a:pt x="657733" y="613918"/>
                  </a:lnTo>
                  <a:cubicBezTo>
                    <a:pt x="657733" y="638175"/>
                    <a:pt x="638048" y="657733"/>
                    <a:pt x="613918" y="657733"/>
                  </a:cubicBezTo>
                  <a:lnTo>
                    <a:pt x="43815" y="657733"/>
                  </a:lnTo>
                  <a:cubicBezTo>
                    <a:pt x="19685" y="657860"/>
                    <a:pt x="0" y="638175"/>
                    <a:pt x="0" y="6139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707585" y="2820144"/>
            <a:ext cx="328910" cy="411064"/>
            <a:chOff x="0" y="0"/>
            <a:chExt cx="438547" cy="5480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8547" cy="548085"/>
            </a:xfrm>
            <a:custGeom>
              <a:avLst/>
              <a:gdLst/>
              <a:ahLst/>
              <a:cxnLst/>
              <a:rect l="l" t="t" r="r" b="b"/>
              <a:pathLst>
                <a:path w="438547" h="548085">
                  <a:moveTo>
                    <a:pt x="0" y="0"/>
                  </a:moveTo>
                  <a:lnTo>
                    <a:pt x="438547" y="0"/>
                  </a:lnTo>
                  <a:lnTo>
                    <a:pt x="438547" y="548085"/>
                  </a:lnTo>
                  <a:lnTo>
                    <a:pt x="0" y="548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38100"/>
              <a:ext cx="438547" cy="5099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68680" y="2751684"/>
            <a:ext cx="2741116" cy="380683"/>
            <a:chOff x="0" y="0"/>
            <a:chExt cx="3654822" cy="5075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54822" cy="507577"/>
            </a:xfrm>
            <a:custGeom>
              <a:avLst/>
              <a:gdLst/>
              <a:ahLst/>
              <a:cxnLst/>
              <a:rect l="l" t="t" r="r" b="b"/>
              <a:pathLst>
                <a:path w="3654822" h="507577">
                  <a:moveTo>
                    <a:pt x="0" y="0"/>
                  </a:moveTo>
                  <a:lnTo>
                    <a:pt x="3654822" y="0"/>
                  </a:lnTo>
                  <a:lnTo>
                    <a:pt x="3654822" y="507577"/>
                  </a:lnTo>
                  <a:lnTo>
                    <a:pt x="0" y="507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3654822" cy="51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25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Install Git Plugin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968680" y="3225850"/>
            <a:ext cx="8551812" cy="726684"/>
            <a:chOff x="0" y="0"/>
            <a:chExt cx="11402417" cy="9689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02416" cy="968912"/>
            </a:xfrm>
            <a:custGeom>
              <a:avLst/>
              <a:gdLst/>
              <a:ahLst/>
              <a:cxnLst/>
              <a:rect l="l" t="t" r="r" b="b"/>
              <a:pathLst>
                <a:path w="11402416" h="968912">
                  <a:moveTo>
                    <a:pt x="0" y="0"/>
                  </a:moveTo>
                  <a:lnTo>
                    <a:pt x="11402416" y="0"/>
                  </a:lnTo>
                  <a:lnTo>
                    <a:pt x="11402416" y="968912"/>
                  </a:lnTo>
                  <a:lnTo>
                    <a:pt x="0" y="968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1402417" cy="1035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12"/>
                </a:lnSpc>
              </a:pPr>
              <a:r>
                <a:rPr lang="en-US" sz="17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Navigate to Manage Jenkins &gt; Manage Plugins. Install the Git Plugin and restart Jenkins to enable GitHub integration capabilities.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90222" y="4844504"/>
            <a:ext cx="657820" cy="28575"/>
            <a:chOff x="0" y="0"/>
            <a:chExt cx="877093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77062" cy="38100"/>
            </a:xfrm>
            <a:custGeom>
              <a:avLst/>
              <a:gdLst/>
              <a:ahLst/>
              <a:cxnLst/>
              <a:rect l="l" t="t" r="r" b="b"/>
              <a:pathLst>
                <a:path w="8770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8012" y="0"/>
                  </a:lnTo>
                  <a:cubicBezTo>
                    <a:pt x="868553" y="0"/>
                    <a:pt x="877062" y="8509"/>
                    <a:pt x="877062" y="19050"/>
                  </a:cubicBezTo>
                  <a:cubicBezTo>
                    <a:pt x="877062" y="29591"/>
                    <a:pt x="868553" y="38100"/>
                    <a:pt x="8580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625432" y="4612184"/>
            <a:ext cx="493365" cy="493365"/>
            <a:chOff x="0" y="0"/>
            <a:chExt cx="657820" cy="6578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7733" cy="657860"/>
            </a:xfrm>
            <a:custGeom>
              <a:avLst/>
              <a:gdLst/>
              <a:ahLst/>
              <a:cxnLst/>
              <a:rect l="l" t="t" r="r" b="b"/>
              <a:pathLst>
                <a:path w="657733" h="657860">
                  <a:moveTo>
                    <a:pt x="0" y="43815"/>
                  </a:moveTo>
                  <a:cubicBezTo>
                    <a:pt x="0" y="19685"/>
                    <a:pt x="19685" y="0"/>
                    <a:pt x="43815" y="0"/>
                  </a:cubicBezTo>
                  <a:lnTo>
                    <a:pt x="613918" y="0"/>
                  </a:lnTo>
                  <a:cubicBezTo>
                    <a:pt x="638175" y="0"/>
                    <a:pt x="657733" y="19685"/>
                    <a:pt x="657733" y="43815"/>
                  </a:cubicBezTo>
                  <a:lnTo>
                    <a:pt x="657733" y="613918"/>
                  </a:lnTo>
                  <a:cubicBezTo>
                    <a:pt x="657733" y="638175"/>
                    <a:pt x="638048" y="657733"/>
                    <a:pt x="613918" y="657733"/>
                  </a:cubicBezTo>
                  <a:lnTo>
                    <a:pt x="43815" y="657733"/>
                  </a:lnTo>
                  <a:cubicBezTo>
                    <a:pt x="19685" y="657860"/>
                    <a:pt x="0" y="638175"/>
                    <a:pt x="0" y="6139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7707585" y="4653260"/>
            <a:ext cx="328910" cy="411064"/>
            <a:chOff x="0" y="0"/>
            <a:chExt cx="438547" cy="54808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8547" cy="548085"/>
            </a:xfrm>
            <a:custGeom>
              <a:avLst/>
              <a:gdLst/>
              <a:ahLst/>
              <a:cxnLst/>
              <a:rect l="l" t="t" r="r" b="b"/>
              <a:pathLst>
                <a:path w="438547" h="548085">
                  <a:moveTo>
                    <a:pt x="0" y="0"/>
                  </a:moveTo>
                  <a:lnTo>
                    <a:pt x="438547" y="0"/>
                  </a:lnTo>
                  <a:lnTo>
                    <a:pt x="438547" y="548085"/>
                  </a:lnTo>
                  <a:lnTo>
                    <a:pt x="0" y="548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38100"/>
              <a:ext cx="438547" cy="5099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68680" y="4584799"/>
            <a:ext cx="3451623" cy="380683"/>
            <a:chOff x="0" y="0"/>
            <a:chExt cx="4602163" cy="50757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02163" cy="507577"/>
            </a:xfrm>
            <a:custGeom>
              <a:avLst/>
              <a:gdLst/>
              <a:ahLst/>
              <a:cxnLst/>
              <a:rect l="l" t="t" r="r" b="b"/>
              <a:pathLst>
                <a:path w="4602163" h="507577">
                  <a:moveTo>
                    <a:pt x="0" y="0"/>
                  </a:moveTo>
                  <a:lnTo>
                    <a:pt x="4602163" y="0"/>
                  </a:lnTo>
                  <a:lnTo>
                    <a:pt x="4602163" y="507577"/>
                  </a:lnTo>
                  <a:lnTo>
                    <a:pt x="0" y="507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4602163" cy="51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25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Generate GitHub Token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68680" y="5058966"/>
            <a:ext cx="8551812" cy="1088634"/>
            <a:chOff x="0" y="0"/>
            <a:chExt cx="11402417" cy="14515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402416" cy="1451512"/>
            </a:xfrm>
            <a:custGeom>
              <a:avLst/>
              <a:gdLst/>
              <a:ahLst/>
              <a:cxnLst/>
              <a:rect l="l" t="t" r="r" b="b"/>
              <a:pathLst>
                <a:path w="11402416" h="1451512">
                  <a:moveTo>
                    <a:pt x="0" y="0"/>
                  </a:moveTo>
                  <a:lnTo>
                    <a:pt x="11402416" y="0"/>
                  </a:lnTo>
                  <a:lnTo>
                    <a:pt x="11402416" y="1451512"/>
                  </a:lnTo>
                  <a:lnTo>
                    <a:pt x="0" y="1451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11402417" cy="15181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12"/>
                </a:lnSpc>
              </a:pPr>
              <a:r>
                <a:rPr lang="en-US" sz="17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GitHub &gt; Settings &gt; Developer Settings &gt; Personal Access Tokens. Generate a token with repo permissions to allow Jenkins to access your repositories.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0222" y="6677620"/>
            <a:ext cx="657820" cy="28575"/>
            <a:chOff x="0" y="0"/>
            <a:chExt cx="877093" cy="38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7062" cy="38100"/>
            </a:xfrm>
            <a:custGeom>
              <a:avLst/>
              <a:gdLst/>
              <a:ahLst/>
              <a:cxnLst/>
              <a:rect l="l" t="t" r="r" b="b"/>
              <a:pathLst>
                <a:path w="8770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8012" y="0"/>
                  </a:lnTo>
                  <a:cubicBezTo>
                    <a:pt x="868553" y="0"/>
                    <a:pt x="877062" y="8509"/>
                    <a:pt x="877062" y="19050"/>
                  </a:cubicBezTo>
                  <a:cubicBezTo>
                    <a:pt x="877062" y="29591"/>
                    <a:pt x="868553" y="38100"/>
                    <a:pt x="8580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7625432" y="6445300"/>
            <a:ext cx="493365" cy="493365"/>
            <a:chOff x="0" y="0"/>
            <a:chExt cx="657820" cy="6578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57733" cy="657860"/>
            </a:xfrm>
            <a:custGeom>
              <a:avLst/>
              <a:gdLst/>
              <a:ahLst/>
              <a:cxnLst/>
              <a:rect l="l" t="t" r="r" b="b"/>
              <a:pathLst>
                <a:path w="657733" h="657860">
                  <a:moveTo>
                    <a:pt x="0" y="43815"/>
                  </a:moveTo>
                  <a:cubicBezTo>
                    <a:pt x="0" y="19685"/>
                    <a:pt x="19685" y="0"/>
                    <a:pt x="43815" y="0"/>
                  </a:cubicBezTo>
                  <a:lnTo>
                    <a:pt x="613918" y="0"/>
                  </a:lnTo>
                  <a:cubicBezTo>
                    <a:pt x="638175" y="0"/>
                    <a:pt x="657733" y="19685"/>
                    <a:pt x="657733" y="43815"/>
                  </a:cubicBezTo>
                  <a:lnTo>
                    <a:pt x="657733" y="613918"/>
                  </a:lnTo>
                  <a:cubicBezTo>
                    <a:pt x="657733" y="638175"/>
                    <a:pt x="638048" y="657733"/>
                    <a:pt x="613918" y="657733"/>
                  </a:cubicBezTo>
                  <a:lnTo>
                    <a:pt x="43815" y="657733"/>
                  </a:lnTo>
                  <a:cubicBezTo>
                    <a:pt x="19685" y="657860"/>
                    <a:pt x="0" y="638175"/>
                    <a:pt x="0" y="6139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7707585" y="6486376"/>
            <a:ext cx="328910" cy="411064"/>
            <a:chOff x="0" y="0"/>
            <a:chExt cx="438547" cy="54808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38547" cy="548085"/>
            </a:xfrm>
            <a:custGeom>
              <a:avLst/>
              <a:gdLst/>
              <a:ahLst/>
              <a:cxnLst/>
              <a:rect l="l" t="t" r="r" b="b"/>
              <a:pathLst>
                <a:path w="438547" h="548085">
                  <a:moveTo>
                    <a:pt x="0" y="0"/>
                  </a:moveTo>
                  <a:lnTo>
                    <a:pt x="438547" y="0"/>
                  </a:lnTo>
                  <a:lnTo>
                    <a:pt x="438547" y="548085"/>
                  </a:lnTo>
                  <a:lnTo>
                    <a:pt x="0" y="548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38100"/>
              <a:ext cx="438547" cy="5099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968680" y="6417915"/>
            <a:ext cx="4360961" cy="380683"/>
            <a:chOff x="0" y="0"/>
            <a:chExt cx="5814615" cy="50757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14615" cy="507577"/>
            </a:xfrm>
            <a:custGeom>
              <a:avLst/>
              <a:gdLst/>
              <a:ahLst/>
              <a:cxnLst/>
              <a:rect l="l" t="t" r="r" b="b"/>
              <a:pathLst>
                <a:path w="5814615" h="507577">
                  <a:moveTo>
                    <a:pt x="0" y="0"/>
                  </a:moveTo>
                  <a:lnTo>
                    <a:pt x="5814615" y="0"/>
                  </a:lnTo>
                  <a:lnTo>
                    <a:pt x="5814615" y="507577"/>
                  </a:lnTo>
                  <a:lnTo>
                    <a:pt x="0" y="507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5814615" cy="51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25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Configure Jenkins Credentials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68680" y="6892081"/>
            <a:ext cx="8551812" cy="726684"/>
            <a:chOff x="0" y="0"/>
            <a:chExt cx="11402417" cy="96891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402416" cy="968912"/>
            </a:xfrm>
            <a:custGeom>
              <a:avLst/>
              <a:gdLst/>
              <a:ahLst/>
              <a:cxnLst/>
              <a:rect l="l" t="t" r="r" b="b"/>
              <a:pathLst>
                <a:path w="11402416" h="968912">
                  <a:moveTo>
                    <a:pt x="0" y="0"/>
                  </a:moveTo>
                  <a:lnTo>
                    <a:pt x="11402416" y="0"/>
                  </a:lnTo>
                  <a:lnTo>
                    <a:pt x="11402416" y="968912"/>
                  </a:lnTo>
                  <a:lnTo>
                    <a:pt x="0" y="9689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11402417" cy="1035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12"/>
                </a:lnSpc>
              </a:pPr>
              <a:r>
                <a:rPr lang="en-US" sz="17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Go to Manage Jenkins &gt; Credentials &gt; Global Credentials. Add new credentials using the GitHub token you generated to authenticate Jenkins with GitHub.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090222" y="8510736"/>
            <a:ext cx="657820" cy="28575"/>
            <a:chOff x="0" y="0"/>
            <a:chExt cx="877093" cy="381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77062" cy="38100"/>
            </a:xfrm>
            <a:custGeom>
              <a:avLst/>
              <a:gdLst/>
              <a:ahLst/>
              <a:cxnLst/>
              <a:rect l="l" t="t" r="r" b="b"/>
              <a:pathLst>
                <a:path w="87706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58012" y="0"/>
                  </a:lnTo>
                  <a:cubicBezTo>
                    <a:pt x="868553" y="0"/>
                    <a:pt x="877062" y="8509"/>
                    <a:pt x="877062" y="19050"/>
                  </a:cubicBezTo>
                  <a:cubicBezTo>
                    <a:pt x="877062" y="29591"/>
                    <a:pt x="868553" y="38100"/>
                    <a:pt x="8580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7625432" y="8278416"/>
            <a:ext cx="493365" cy="493365"/>
            <a:chOff x="0" y="0"/>
            <a:chExt cx="657820" cy="6578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57733" cy="657860"/>
            </a:xfrm>
            <a:custGeom>
              <a:avLst/>
              <a:gdLst/>
              <a:ahLst/>
              <a:cxnLst/>
              <a:rect l="l" t="t" r="r" b="b"/>
              <a:pathLst>
                <a:path w="657733" h="657860">
                  <a:moveTo>
                    <a:pt x="0" y="43815"/>
                  </a:moveTo>
                  <a:cubicBezTo>
                    <a:pt x="0" y="19685"/>
                    <a:pt x="19685" y="0"/>
                    <a:pt x="43815" y="0"/>
                  </a:cubicBezTo>
                  <a:lnTo>
                    <a:pt x="613918" y="0"/>
                  </a:lnTo>
                  <a:cubicBezTo>
                    <a:pt x="638175" y="0"/>
                    <a:pt x="657733" y="19685"/>
                    <a:pt x="657733" y="43815"/>
                  </a:cubicBezTo>
                  <a:lnTo>
                    <a:pt x="657733" y="613918"/>
                  </a:lnTo>
                  <a:cubicBezTo>
                    <a:pt x="657733" y="638175"/>
                    <a:pt x="638048" y="657733"/>
                    <a:pt x="613918" y="657733"/>
                  </a:cubicBezTo>
                  <a:lnTo>
                    <a:pt x="43815" y="657733"/>
                  </a:lnTo>
                  <a:cubicBezTo>
                    <a:pt x="19685" y="657860"/>
                    <a:pt x="0" y="638175"/>
                    <a:pt x="0" y="613918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7707585" y="8319492"/>
            <a:ext cx="328910" cy="411064"/>
            <a:chOff x="0" y="0"/>
            <a:chExt cx="438547" cy="54808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8547" cy="548085"/>
            </a:xfrm>
            <a:custGeom>
              <a:avLst/>
              <a:gdLst/>
              <a:ahLst/>
              <a:cxnLst/>
              <a:rect l="l" t="t" r="r" b="b"/>
              <a:pathLst>
                <a:path w="438547" h="548085">
                  <a:moveTo>
                    <a:pt x="0" y="0"/>
                  </a:moveTo>
                  <a:lnTo>
                    <a:pt x="438547" y="0"/>
                  </a:lnTo>
                  <a:lnTo>
                    <a:pt x="438547" y="548085"/>
                  </a:lnTo>
                  <a:lnTo>
                    <a:pt x="0" y="548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38100"/>
              <a:ext cx="438547" cy="5099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562"/>
                </a:lnSpc>
              </a:pPr>
              <a:r>
                <a:rPr lang="en-US" sz="2562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968680" y="8251031"/>
            <a:ext cx="3681710" cy="380683"/>
            <a:chOff x="0" y="0"/>
            <a:chExt cx="4908947" cy="50757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908947" cy="507577"/>
            </a:xfrm>
            <a:custGeom>
              <a:avLst/>
              <a:gdLst/>
              <a:ahLst/>
              <a:cxnLst/>
              <a:rect l="l" t="t" r="r" b="b"/>
              <a:pathLst>
                <a:path w="4908947" h="507577">
                  <a:moveTo>
                    <a:pt x="0" y="0"/>
                  </a:moveTo>
                  <a:lnTo>
                    <a:pt x="4908947" y="0"/>
                  </a:lnTo>
                  <a:lnTo>
                    <a:pt x="4908947" y="507577"/>
                  </a:lnTo>
                  <a:lnTo>
                    <a:pt x="0" y="5075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4908947" cy="5171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125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Set Up GitHub Webhooks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968680" y="8725197"/>
            <a:ext cx="8551812" cy="1088634"/>
            <a:chOff x="0" y="0"/>
            <a:chExt cx="11402417" cy="145151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402416" cy="1451512"/>
            </a:xfrm>
            <a:custGeom>
              <a:avLst/>
              <a:gdLst/>
              <a:ahLst/>
              <a:cxnLst/>
              <a:rect l="l" t="t" r="r" b="b"/>
              <a:pathLst>
                <a:path w="11402416" h="1451512">
                  <a:moveTo>
                    <a:pt x="0" y="0"/>
                  </a:moveTo>
                  <a:lnTo>
                    <a:pt x="11402416" y="0"/>
                  </a:lnTo>
                  <a:lnTo>
                    <a:pt x="11402416" y="1451512"/>
                  </a:lnTo>
                  <a:lnTo>
                    <a:pt x="0" y="1451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66675"/>
              <a:ext cx="11402417" cy="15181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12"/>
                </a:lnSpc>
              </a:pPr>
              <a:r>
                <a:rPr lang="en-US" sz="178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Navigate to GitHub Repo &gt; Settings &gt; Webhooks. Add webhook URL: http://[jenkins-url]:8080/github-webhook/ to trigger builds automatically when code is pushed.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80765" y="1082725"/>
            <a:ext cx="11532691" cy="898207"/>
            <a:chOff x="0" y="0"/>
            <a:chExt cx="15376922" cy="11976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76922" cy="1197610"/>
            </a:xfrm>
            <a:custGeom>
              <a:avLst/>
              <a:gdLst/>
              <a:ahLst/>
              <a:cxnLst/>
              <a:rect l="l" t="t" r="r" b="b"/>
              <a:pathLst>
                <a:path w="15376922" h="1197610">
                  <a:moveTo>
                    <a:pt x="0" y="0"/>
                  </a:moveTo>
                  <a:lnTo>
                    <a:pt x="15376922" y="0"/>
                  </a:lnTo>
                  <a:lnTo>
                    <a:pt x="15376922" y="1197610"/>
                  </a:lnTo>
                  <a:lnTo>
                    <a:pt x="0" y="11976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376922" cy="1216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7"/>
                </a:lnSpc>
              </a:pPr>
              <a:r>
                <a:rPr lang="en-US" sz="4937">
                  <a:solidFill>
                    <a:srgbClr val="403CC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Build Triggers &amp; Scheduling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90068" y="2372171"/>
            <a:ext cx="3774876" cy="471785"/>
            <a:chOff x="0" y="0"/>
            <a:chExt cx="5033168" cy="6290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33168" cy="629047"/>
            </a:xfrm>
            <a:custGeom>
              <a:avLst/>
              <a:gdLst/>
              <a:ahLst/>
              <a:cxnLst/>
              <a:rect l="l" t="t" r="r" b="b"/>
              <a:pathLst>
                <a:path w="5033168" h="629047">
                  <a:moveTo>
                    <a:pt x="0" y="0"/>
                  </a:moveTo>
                  <a:lnTo>
                    <a:pt x="5033168" y="0"/>
                  </a:lnTo>
                  <a:lnTo>
                    <a:pt x="5033168" y="629047"/>
                  </a:lnTo>
                  <a:lnTo>
                    <a:pt x="0" y="629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033168" cy="6480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Manual Trigger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80765" y="2994869"/>
            <a:ext cx="4993630" cy="1510010"/>
            <a:chOff x="0" y="0"/>
            <a:chExt cx="6658173" cy="20133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58173" cy="2013347"/>
            </a:xfrm>
            <a:custGeom>
              <a:avLst/>
              <a:gdLst/>
              <a:ahLst/>
              <a:cxnLst/>
              <a:rect l="l" t="t" r="r" b="b"/>
              <a:pathLst>
                <a:path w="6658173" h="2013347">
                  <a:moveTo>
                    <a:pt x="0" y="0"/>
                  </a:moveTo>
                  <a:lnTo>
                    <a:pt x="6658173" y="0"/>
                  </a:lnTo>
                  <a:lnTo>
                    <a:pt x="6658173" y="2013347"/>
                  </a:lnTo>
                  <a:lnTo>
                    <a:pt x="0" y="2013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6658173" cy="209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Clicking "Build Now" in the Jenkins UI manually - it only runs when manually initiated.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0765" y="4592836"/>
            <a:ext cx="4993630" cy="1510010"/>
            <a:chOff x="0" y="0"/>
            <a:chExt cx="6658173" cy="20133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58173" cy="2013347"/>
            </a:xfrm>
            <a:custGeom>
              <a:avLst/>
              <a:gdLst/>
              <a:ahLst/>
              <a:cxnLst/>
              <a:rect l="l" t="t" r="r" b="b"/>
              <a:pathLst>
                <a:path w="6658173" h="2013347">
                  <a:moveTo>
                    <a:pt x="0" y="0"/>
                  </a:moveTo>
                  <a:lnTo>
                    <a:pt x="6658173" y="0"/>
                  </a:lnTo>
                  <a:lnTo>
                    <a:pt x="6658173" y="2013347"/>
                  </a:lnTo>
                  <a:lnTo>
                    <a:pt x="0" y="2013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658173" cy="209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Use-cases: On-demand deployments and troubleshooting.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6251822" y="2896046"/>
            <a:ext cx="5784205" cy="5784205"/>
          </a:xfrm>
          <a:custGeom>
            <a:avLst/>
            <a:gdLst/>
            <a:ahLst/>
            <a:cxnLst/>
            <a:rect l="l" t="t" r="r" b="b"/>
            <a:pathLst>
              <a:path w="5784205" h="5784205">
                <a:moveTo>
                  <a:pt x="0" y="0"/>
                </a:moveTo>
                <a:lnTo>
                  <a:pt x="5784205" y="0"/>
                </a:lnTo>
                <a:lnTo>
                  <a:pt x="5784205" y="5784205"/>
                </a:lnTo>
                <a:lnTo>
                  <a:pt x="0" y="5784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7791375" y="3896395"/>
            <a:ext cx="376535" cy="470595"/>
            <a:chOff x="0" y="0"/>
            <a:chExt cx="502047" cy="627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02047" cy="627460"/>
            </a:xfrm>
            <a:custGeom>
              <a:avLst/>
              <a:gdLst/>
              <a:ahLst/>
              <a:cxnLst/>
              <a:rect l="l" t="t" r="r" b="b"/>
              <a:pathLst>
                <a:path w="502047" h="627460">
                  <a:moveTo>
                    <a:pt x="0" y="0"/>
                  </a:moveTo>
                  <a:lnTo>
                    <a:pt x="502047" y="0"/>
                  </a:lnTo>
                  <a:lnTo>
                    <a:pt x="502047" y="627460"/>
                  </a:lnTo>
                  <a:lnTo>
                    <a:pt x="0" y="627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14300"/>
              <a:ext cx="502047" cy="741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022908" y="2623840"/>
            <a:ext cx="3774876" cy="471785"/>
            <a:chOff x="0" y="0"/>
            <a:chExt cx="5033168" cy="6290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33168" cy="629047"/>
            </a:xfrm>
            <a:custGeom>
              <a:avLst/>
              <a:gdLst/>
              <a:ahLst/>
              <a:cxnLst/>
              <a:rect l="l" t="t" r="r" b="b"/>
              <a:pathLst>
                <a:path w="5033168" h="629047">
                  <a:moveTo>
                    <a:pt x="0" y="0"/>
                  </a:moveTo>
                  <a:lnTo>
                    <a:pt x="5033168" y="0"/>
                  </a:lnTo>
                  <a:lnTo>
                    <a:pt x="5033168" y="629047"/>
                  </a:lnTo>
                  <a:lnTo>
                    <a:pt x="0" y="629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033168" cy="6480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SCM Polling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13456" y="3246536"/>
            <a:ext cx="4993779" cy="1510010"/>
            <a:chOff x="0" y="0"/>
            <a:chExt cx="6658372" cy="201334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658372" cy="2013347"/>
            </a:xfrm>
            <a:custGeom>
              <a:avLst/>
              <a:gdLst/>
              <a:ahLst/>
              <a:cxnLst/>
              <a:rect l="l" t="t" r="r" b="b"/>
              <a:pathLst>
                <a:path w="6658372" h="2013347">
                  <a:moveTo>
                    <a:pt x="0" y="0"/>
                  </a:moveTo>
                  <a:lnTo>
                    <a:pt x="6658372" y="0"/>
                  </a:lnTo>
                  <a:lnTo>
                    <a:pt x="6658372" y="2013347"/>
                  </a:lnTo>
                  <a:lnTo>
                    <a:pt x="0" y="20133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85725"/>
              <a:ext cx="6658372" cy="209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Jenkins </a:t>
              </a:r>
              <a:r>
                <a:rPr lang="en-US" sz="1937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periodic check </a:t>
              </a: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mechanism to look out for any new code changes. 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13456" y="4844504"/>
            <a:ext cx="4993779" cy="1006674"/>
            <a:chOff x="0" y="0"/>
            <a:chExt cx="6658372" cy="13422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658372" cy="1342232"/>
            </a:xfrm>
            <a:custGeom>
              <a:avLst/>
              <a:gdLst/>
              <a:ahLst/>
              <a:cxnLst/>
              <a:rect l="l" t="t" r="r" b="b"/>
              <a:pathLst>
                <a:path w="6658372" h="1342232">
                  <a:moveTo>
                    <a:pt x="0" y="0"/>
                  </a:moveTo>
                  <a:lnTo>
                    <a:pt x="6658372" y="0"/>
                  </a:lnTo>
                  <a:lnTo>
                    <a:pt x="6658372" y="1342232"/>
                  </a:lnTo>
                  <a:lnTo>
                    <a:pt x="0" y="1342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6658372" cy="1427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Set up with "Poll SCM" option and a schedule.</a:t>
              </a:r>
            </a:p>
          </p:txBody>
        </p:sp>
      </p:grpSp>
      <p:sp>
        <p:nvSpPr>
          <p:cNvPr id="31" name="Freeform 31" descr="preencoded.png"/>
          <p:cNvSpPr/>
          <p:nvPr/>
        </p:nvSpPr>
        <p:spPr>
          <a:xfrm>
            <a:off x="6251822" y="2896046"/>
            <a:ext cx="5784205" cy="5784205"/>
          </a:xfrm>
          <a:custGeom>
            <a:avLst/>
            <a:gdLst/>
            <a:ahLst/>
            <a:cxnLst/>
            <a:rect l="l" t="t" r="r" b="b"/>
            <a:pathLst>
              <a:path w="5784205" h="5784205">
                <a:moveTo>
                  <a:pt x="0" y="0"/>
                </a:moveTo>
                <a:lnTo>
                  <a:pt x="5784205" y="0"/>
                </a:lnTo>
                <a:lnTo>
                  <a:pt x="5784205" y="5784205"/>
                </a:lnTo>
                <a:lnTo>
                  <a:pt x="0" y="5784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0611818" y="4388569"/>
            <a:ext cx="376535" cy="470595"/>
            <a:chOff x="0" y="0"/>
            <a:chExt cx="502047" cy="62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2047" cy="627460"/>
            </a:xfrm>
            <a:custGeom>
              <a:avLst/>
              <a:gdLst/>
              <a:ahLst/>
              <a:cxnLst/>
              <a:rect l="l" t="t" r="r" b="b"/>
              <a:pathLst>
                <a:path w="502047" h="627460">
                  <a:moveTo>
                    <a:pt x="0" y="0"/>
                  </a:moveTo>
                  <a:lnTo>
                    <a:pt x="502047" y="0"/>
                  </a:lnTo>
                  <a:lnTo>
                    <a:pt x="502047" y="627460"/>
                  </a:lnTo>
                  <a:lnTo>
                    <a:pt x="0" y="627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14300"/>
              <a:ext cx="502047" cy="741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022908" y="6524179"/>
            <a:ext cx="3774876" cy="471785"/>
            <a:chOff x="0" y="0"/>
            <a:chExt cx="5033168" cy="62904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33168" cy="629047"/>
            </a:xfrm>
            <a:custGeom>
              <a:avLst/>
              <a:gdLst/>
              <a:ahLst/>
              <a:cxnLst/>
              <a:rect l="l" t="t" r="r" b="b"/>
              <a:pathLst>
                <a:path w="5033168" h="629047">
                  <a:moveTo>
                    <a:pt x="0" y="0"/>
                  </a:moveTo>
                  <a:lnTo>
                    <a:pt x="5033168" y="0"/>
                  </a:lnTo>
                  <a:lnTo>
                    <a:pt x="5033168" y="629047"/>
                  </a:lnTo>
                  <a:lnTo>
                    <a:pt x="0" y="629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5033168" cy="6480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GitHub Webhooks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413456" y="7146875"/>
            <a:ext cx="4993779" cy="2013347"/>
            <a:chOff x="0" y="0"/>
            <a:chExt cx="6658372" cy="268446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658372" cy="2684463"/>
            </a:xfrm>
            <a:custGeom>
              <a:avLst/>
              <a:gdLst/>
              <a:ahLst/>
              <a:cxnLst/>
              <a:rect l="l" t="t" r="r" b="b"/>
              <a:pathLst>
                <a:path w="6658372" h="2684463">
                  <a:moveTo>
                    <a:pt x="0" y="0"/>
                  </a:moveTo>
                  <a:lnTo>
                    <a:pt x="6658372" y="0"/>
                  </a:lnTo>
                  <a:lnTo>
                    <a:pt x="6658372" y="2684463"/>
                  </a:lnTo>
                  <a:lnTo>
                    <a:pt x="0" y="26844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6658372" cy="27701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GitHub actively </a:t>
              </a:r>
              <a:r>
                <a:rPr lang="en-US" sz="1937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notifies Jenkins immediately</a:t>
              </a: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when changes occur, triggering jobs without polling.</a:t>
              </a:r>
            </a:p>
          </p:txBody>
        </p:sp>
      </p:grpSp>
      <p:sp>
        <p:nvSpPr>
          <p:cNvPr id="41" name="Freeform 41" descr="preencoded.png"/>
          <p:cNvSpPr/>
          <p:nvPr/>
        </p:nvSpPr>
        <p:spPr>
          <a:xfrm>
            <a:off x="6251822" y="2896046"/>
            <a:ext cx="5784205" cy="5784205"/>
          </a:xfrm>
          <a:custGeom>
            <a:avLst/>
            <a:gdLst/>
            <a:ahLst/>
            <a:cxnLst/>
            <a:rect l="l" t="t" r="r" b="b"/>
            <a:pathLst>
              <a:path w="5784205" h="5784205">
                <a:moveTo>
                  <a:pt x="0" y="0"/>
                </a:moveTo>
                <a:lnTo>
                  <a:pt x="5784205" y="0"/>
                </a:lnTo>
                <a:lnTo>
                  <a:pt x="5784205" y="5784205"/>
                </a:lnTo>
                <a:lnTo>
                  <a:pt x="0" y="5784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10119642" y="7209011"/>
            <a:ext cx="376535" cy="470595"/>
            <a:chOff x="0" y="0"/>
            <a:chExt cx="502047" cy="6274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02047" cy="627460"/>
            </a:xfrm>
            <a:custGeom>
              <a:avLst/>
              <a:gdLst/>
              <a:ahLst/>
              <a:cxnLst/>
              <a:rect l="l" t="t" r="r" b="b"/>
              <a:pathLst>
                <a:path w="502047" h="627460">
                  <a:moveTo>
                    <a:pt x="0" y="0"/>
                  </a:moveTo>
                  <a:lnTo>
                    <a:pt x="502047" y="0"/>
                  </a:lnTo>
                  <a:lnTo>
                    <a:pt x="502047" y="627460"/>
                  </a:lnTo>
                  <a:lnTo>
                    <a:pt x="0" y="627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14300"/>
              <a:ext cx="502047" cy="741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16347" y="6480274"/>
            <a:ext cx="4722465" cy="471785"/>
            <a:chOff x="0" y="0"/>
            <a:chExt cx="6296620" cy="62904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296620" cy="629047"/>
            </a:xfrm>
            <a:custGeom>
              <a:avLst/>
              <a:gdLst/>
              <a:ahLst/>
              <a:cxnLst/>
              <a:rect l="l" t="t" r="r" b="b"/>
              <a:pathLst>
                <a:path w="6296620" h="629047">
                  <a:moveTo>
                    <a:pt x="0" y="0"/>
                  </a:moveTo>
                  <a:lnTo>
                    <a:pt x="6296620" y="0"/>
                  </a:lnTo>
                  <a:lnTo>
                    <a:pt x="6296620" y="629047"/>
                  </a:lnTo>
                  <a:lnTo>
                    <a:pt x="0" y="6290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6296620" cy="6480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49495A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Cron-Based Scheduling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80765" y="7102971"/>
            <a:ext cx="4993630" cy="1006674"/>
            <a:chOff x="0" y="0"/>
            <a:chExt cx="6658173" cy="134223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658173" cy="1342232"/>
            </a:xfrm>
            <a:custGeom>
              <a:avLst/>
              <a:gdLst/>
              <a:ahLst/>
              <a:cxnLst/>
              <a:rect l="l" t="t" r="r" b="b"/>
              <a:pathLst>
                <a:path w="6658173" h="1342232">
                  <a:moveTo>
                    <a:pt x="0" y="0"/>
                  </a:moveTo>
                  <a:lnTo>
                    <a:pt x="6658173" y="0"/>
                  </a:lnTo>
                  <a:lnTo>
                    <a:pt x="6658173" y="1342232"/>
                  </a:lnTo>
                  <a:lnTo>
                    <a:pt x="0" y="1342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85725"/>
              <a:ext cx="6658173" cy="1427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Run jobs at </a:t>
              </a:r>
              <a:r>
                <a:rPr lang="en-US" sz="1937" b="1">
                  <a:solidFill>
                    <a:srgbClr val="49495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specific times</a:t>
              </a: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 using cron expressions. 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80765" y="8197603"/>
            <a:ext cx="4993630" cy="1006674"/>
            <a:chOff x="0" y="0"/>
            <a:chExt cx="6658173" cy="134223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658173" cy="1342232"/>
            </a:xfrm>
            <a:custGeom>
              <a:avLst/>
              <a:gdLst/>
              <a:ahLst/>
              <a:cxnLst/>
              <a:rect l="l" t="t" r="r" b="b"/>
              <a:pathLst>
                <a:path w="6658173" h="1342232">
                  <a:moveTo>
                    <a:pt x="0" y="0"/>
                  </a:moveTo>
                  <a:lnTo>
                    <a:pt x="6658173" y="0"/>
                  </a:lnTo>
                  <a:lnTo>
                    <a:pt x="6658173" y="1342232"/>
                  </a:lnTo>
                  <a:lnTo>
                    <a:pt x="0" y="13422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85725"/>
              <a:ext cx="6658173" cy="1427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2199" lvl="1" indent="-146100" algn="l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49495A"/>
                  </a:solidFill>
                  <a:latin typeface="Open Sans"/>
                  <a:ea typeface="Open Sans"/>
                  <a:cs typeface="Open Sans"/>
                  <a:sym typeface="Open Sans"/>
                </a:rPr>
                <a:t>Use-cases: Nightly builds or weekly reports.</a:t>
              </a:r>
            </a:p>
          </p:txBody>
        </p:sp>
      </p:grpSp>
      <p:sp>
        <p:nvSpPr>
          <p:cNvPr id="54" name="Freeform 54" descr="preencoded.png"/>
          <p:cNvSpPr/>
          <p:nvPr/>
        </p:nvSpPr>
        <p:spPr>
          <a:xfrm>
            <a:off x="6251822" y="2896046"/>
            <a:ext cx="5784205" cy="5784205"/>
          </a:xfrm>
          <a:custGeom>
            <a:avLst/>
            <a:gdLst/>
            <a:ahLst/>
            <a:cxnLst/>
            <a:rect l="l" t="t" r="r" b="b"/>
            <a:pathLst>
              <a:path w="5784205" h="5784205">
                <a:moveTo>
                  <a:pt x="0" y="0"/>
                </a:moveTo>
                <a:lnTo>
                  <a:pt x="5784205" y="0"/>
                </a:lnTo>
                <a:lnTo>
                  <a:pt x="5784205" y="5784205"/>
                </a:lnTo>
                <a:lnTo>
                  <a:pt x="0" y="5784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55" name="Group 55"/>
          <p:cNvGrpSpPr/>
          <p:nvPr/>
        </p:nvGrpSpPr>
        <p:grpSpPr>
          <a:xfrm>
            <a:off x="7299201" y="6716836"/>
            <a:ext cx="376535" cy="470595"/>
            <a:chOff x="0" y="0"/>
            <a:chExt cx="502047" cy="6274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2047" cy="627460"/>
            </a:xfrm>
            <a:custGeom>
              <a:avLst/>
              <a:gdLst/>
              <a:ahLst/>
              <a:cxnLst/>
              <a:rect l="l" t="t" r="r" b="b"/>
              <a:pathLst>
                <a:path w="502047" h="627460">
                  <a:moveTo>
                    <a:pt x="0" y="0"/>
                  </a:moveTo>
                  <a:lnTo>
                    <a:pt x="502047" y="0"/>
                  </a:lnTo>
                  <a:lnTo>
                    <a:pt x="502047" y="627460"/>
                  </a:lnTo>
                  <a:lnTo>
                    <a:pt x="0" y="6274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14300"/>
              <a:ext cx="502047" cy="741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687"/>
                </a:lnSpc>
              </a:pPr>
              <a:r>
                <a:rPr lang="en-US" sz="2937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3804" y="474029"/>
            <a:ext cx="4994996" cy="803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09"/>
              </a:lnSpc>
            </a:pPr>
            <a:r>
              <a:rPr lang="en-US" sz="4792" b="1" dirty="0">
                <a:solidFill>
                  <a:srgbClr val="00B0F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Takeaways 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3804" y="1996502"/>
            <a:ext cx="16615496" cy="11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4631" lvl="1" indent="-312315" algn="just">
              <a:lnSpc>
                <a:spcPts val="2893"/>
              </a:lnSpc>
              <a:spcBef>
                <a:spcPct val="0"/>
              </a:spcBef>
              <a:buFont typeface="Arial"/>
              <a:buChar char="•"/>
            </a:pPr>
            <a:r>
              <a:rPr lang="en-US" sz="2893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Jenkins follows a Master-Agent architecture, enabling scalable and distributed CI/CD pipelines.</a:t>
            </a:r>
          </a:p>
          <a:p>
            <a:pPr algn="just">
              <a:lnSpc>
                <a:spcPts val="2893"/>
              </a:lnSpc>
              <a:spcBef>
                <a:spcPct val="0"/>
              </a:spcBef>
            </a:pPr>
            <a:endParaRPr lang="en-US" sz="2893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3804" y="3803538"/>
            <a:ext cx="16615496" cy="76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207" lvl="1" indent="-317103" algn="l">
              <a:lnSpc>
                <a:spcPts val="2937"/>
              </a:lnSpc>
              <a:buFont typeface="Arial"/>
              <a:buChar char="•"/>
            </a:pPr>
            <a:r>
              <a:rPr lang="en-US" sz="293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Seamless GitHub integration allows automatic code fetching, webhooks for real-time triggers, and streamlined collaboration.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3804" y="5713534"/>
            <a:ext cx="16615496" cy="76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207" lvl="1" indent="-317103" algn="l">
              <a:lnSpc>
                <a:spcPts val="2937"/>
              </a:lnSpc>
              <a:buFont typeface="Arial"/>
              <a:buChar char="•"/>
            </a:pPr>
            <a:r>
              <a:rPr lang="en-US" sz="2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Flexible build triggers &amp; scheduling options include manual execution, GitHub webhooks, SCM polling, and </a:t>
            </a:r>
            <a:r>
              <a:rPr lang="en-US" sz="2937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cron</a:t>
            </a:r>
            <a:r>
              <a:rPr lang="en-US" sz="293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-based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932</Words>
  <Application>Microsoft Macintosh PowerPoint</Application>
  <PresentationFormat>Custom</PresentationFormat>
  <Paragraphs>133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Open Sans</vt:lpstr>
      <vt:lpstr>Canva Sans Bold</vt:lpstr>
      <vt:lpstr>Arial</vt:lpstr>
      <vt:lpstr>Libre Baskerville</vt:lpstr>
      <vt:lpstr>Open Sans Bold</vt:lpstr>
      <vt:lpstr>Calibri</vt:lpstr>
      <vt:lpstr>Libre Baskerville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Jenkins-for-DevOps.pptx</dc:title>
  <cp:lastModifiedBy>Alam, Anees</cp:lastModifiedBy>
  <cp:revision>3</cp:revision>
  <dcterms:created xsi:type="dcterms:W3CDTF">2006-08-16T00:00:00Z</dcterms:created>
  <dcterms:modified xsi:type="dcterms:W3CDTF">2025-03-22T08:18:17Z</dcterms:modified>
  <dc:identifier>DAGibXJY7JE</dc:identifier>
</cp:coreProperties>
</file>