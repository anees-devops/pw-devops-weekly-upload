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Inter" panose="020B0502030000000004" pitchFamily="34" charset="0"/>
      <p:regular r:id="rId17"/>
    </p:embeddedFont>
    <p:embeddedFont>
      <p:font typeface="Inter Bold" panose="020B0802030000000004" pitchFamily="34" charset="0"/>
      <p:regular r:id="rId18"/>
      <p:bold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88" autoAdjust="0"/>
  </p:normalViewPr>
  <p:slideViewPr>
    <p:cSldViewPr>
      <p:cViewPr varScale="1">
        <p:scale>
          <a:sx n="77" d="100"/>
          <a:sy n="77" d="100"/>
        </p:scale>
        <p:origin x="624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27.09.2025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 descr="preencoded.png"/>
          <p:cNvSpPr/>
          <p:nvPr/>
        </p:nvSpPr>
        <p:spPr>
          <a:xfrm>
            <a:off x="0" y="0"/>
            <a:ext cx="6858000" cy="10287000"/>
          </a:xfrm>
          <a:custGeom>
            <a:avLst/>
            <a:gdLst/>
            <a:ahLst/>
            <a:cxnLst/>
            <a:rect l="l" t="t" r="r" b="b"/>
            <a:pathLst>
              <a:path w="6858000" h="10287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7850237" y="3865810"/>
            <a:ext cx="9445526" cy="1707890"/>
            <a:chOff x="0" y="0"/>
            <a:chExt cx="12594035" cy="227718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594035" cy="2277186"/>
            </a:xfrm>
            <a:custGeom>
              <a:avLst/>
              <a:gdLst/>
              <a:ahLst/>
              <a:cxnLst/>
              <a:rect l="l" t="t" r="r" b="b"/>
              <a:pathLst>
                <a:path w="12594035" h="2277186">
                  <a:moveTo>
                    <a:pt x="0" y="0"/>
                  </a:moveTo>
                  <a:lnTo>
                    <a:pt x="12594035" y="0"/>
                  </a:lnTo>
                  <a:lnTo>
                    <a:pt x="12594035" y="2277186"/>
                  </a:lnTo>
                  <a:lnTo>
                    <a:pt x="0" y="227718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12594035" cy="232481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9875"/>
                </a:lnSpc>
              </a:pPr>
              <a:r>
                <a:rPr lang="en-US" sz="7887" b="1" spc="-237">
                  <a:solidFill>
                    <a:srgbClr val="4950B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Advanced Bash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850237" y="5513785"/>
            <a:ext cx="9445526" cy="907256"/>
            <a:chOff x="0" y="0"/>
            <a:chExt cx="12594035" cy="120967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594035" cy="1209675"/>
            </a:xfrm>
            <a:custGeom>
              <a:avLst/>
              <a:gdLst/>
              <a:ahLst/>
              <a:cxnLst/>
              <a:rect l="l" t="t" r="r" b="b"/>
              <a:pathLst>
                <a:path w="12594035" h="1209675">
                  <a:moveTo>
                    <a:pt x="0" y="0"/>
                  </a:moveTo>
                  <a:lnTo>
                    <a:pt x="12594035" y="0"/>
                  </a:lnTo>
                  <a:lnTo>
                    <a:pt x="12594035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85725"/>
              <a:ext cx="12594035" cy="12954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 spc="-45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Will explore advanced Bash scripting techniques including regular expressions, arrays, variables, functions, loops, and script refactoring. 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92238" y="1656160"/>
            <a:ext cx="7088237" cy="885974"/>
            <a:chOff x="0" y="0"/>
            <a:chExt cx="9450983" cy="118129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450984" cy="1181298"/>
            </a:xfrm>
            <a:custGeom>
              <a:avLst/>
              <a:gdLst/>
              <a:ahLst/>
              <a:cxnLst/>
              <a:rect l="l" t="t" r="r" b="b"/>
              <a:pathLst>
                <a:path w="9450984" h="1181298">
                  <a:moveTo>
                    <a:pt x="0" y="0"/>
                  </a:moveTo>
                  <a:lnTo>
                    <a:pt x="9450984" y="0"/>
                  </a:lnTo>
                  <a:lnTo>
                    <a:pt x="9450984" y="1181298"/>
                  </a:lnTo>
                  <a:lnTo>
                    <a:pt x="0" y="1181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9450983" cy="12098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937"/>
                </a:lnSpc>
              </a:pPr>
              <a:r>
                <a:rPr lang="en-US" sz="5562" b="1" spc="-167">
                  <a:solidFill>
                    <a:srgbClr val="4950B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Topics for today!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87475" y="3423345"/>
            <a:ext cx="647402" cy="647402"/>
            <a:chOff x="0" y="0"/>
            <a:chExt cx="863203" cy="863203"/>
          </a:xfrm>
        </p:grpSpPr>
        <p:sp>
          <p:nvSpPr>
            <p:cNvPr id="10" name="Freeform 10"/>
            <p:cNvSpPr/>
            <p:nvPr/>
          </p:nvSpPr>
          <p:spPr>
            <a:xfrm>
              <a:off x="6350" y="6350"/>
              <a:ext cx="850519" cy="850519"/>
            </a:xfrm>
            <a:custGeom>
              <a:avLst/>
              <a:gdLst/>
              <a:ahLst/>
              <a:cxnLst/>
              <a:rect l="l" t="t" r="r" b="b"/>
              <a:pathLst>
                <a:path w="850519" h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4950B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0" y="0"/>
              <a:ext cx="863219" cy="863219"/>
            </a:xfrm>
            <a:custGeom>
              <a:avLst/>
              <a:gdLst/>
              <a:ahLst/>
              <a:cxnLst/>
              <a:rect l="l" t="t" r="r" b="b"/>
              <a:pathLst>
                <a:path w="863219" h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6269D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25749" y="3534370"/>
            <a:ext cx="170706" cy="425351"/>
            <a:chOff x="0" y="0"/>
            <a:chExt cx="227608" cy="56713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7608" cy="567135"/>
            </a:xfrm>
            <a:custGeom>
              <a:avLst/>
              <a:gdLst/>
              <a:ahLst/>
              <a:cxnLst/>
              <a:rect l="l" t="t" r="r" b="b"/>
              <a:pathLst>
                <a:path w="227608" h="567135">
                  <a:moveTo>
                    <a:pt x="0" y="0"/>
                  </a:moveTo>
                  <a:lnTo>
                    <a:pt x="227608" y="0"/>
                  </a:lnTo>
                  <a:lnTo>
                    <a:pt x="227608" y="567135"/>
                  </a:lnTo>
                  <a:lnTo>
                    <a:pt x="0" y="56713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47625"/>
              <a:ext cx="227608" cy="5195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12"/>
                </a:lnSpc>
              </a:pPr>
              <a:r>
                <a:rPr lang="en-US" sz="3312" b="1" spc="-100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913632" y="3428107"/>
            <a:ext cx="4252912" cy="531614"/>
            <a:chOff x="0" y="0"/>
            <a:chExt cx="5670550" cy="70881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670550" cy="708818"/>
            </a:xfrm>
            <a:custGeom>
              <a:avLst/>
              <a:gdLst/>
              <a:ahLst/>
              <a:cxnLst/>
              <a:rect l="l" t="t" r="r" b="b"/>
              <a:pathLst>
                <a:path w="5670550" h="708818">
                  <a:moveTo>
                    <a:pt x="0" y="0"/>
                  </a:moveTo>
                  <a:lnTo>
                    <a:pt x="5670550" y="0"/>
                  </a:lnTo>
                  <a:lnTo>
                    <a:pt x="5670550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5670550" cy="73739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125"/>
                </a:lnSpc>
              </a:pPr>
              <a:r>
                <a:rPr lang="en-US" sz="3312" b="1" spc="-100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Regular Expressions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281071" y="3423345"/>
            <a:ext cx="647402" cy="647402"/>
            <a:chOff x="0" y="0"/>
            <a:chExt cx="863203" cy="863203"/>
          </a:xfrm>
        </p:grpSpPr>
        <p:sp>
          <p:nvSpPr>
            <p:cNvPr id="19" name="Freeform 19"/>
            <p:cNvSpPr/>
            <p:nvPr/>
          </p:nvSpPr>
          <p:spPr>
            <a:xfrm>
              <a:off x="6350" y="6350"/>
              <a:ext cx="850519" cy="850519"/>
            </a:xfrm>
            <a:custGeom>
              <a:avLst/>
              <a:gdLst/>
              <a:ahLst/>
              <a:cxnLst/>
              <a:rect l="l" t="t" r="r" b="b"/>
              <a:pathLst>
                <a:path w="850519" h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4950B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0" y="0"/>
              <a:ext cx="863219" cy="863219"/>
            </a:xfrm>
            <a:custGeom>
              <a:avLst/>
              <a:gdLst/>
              <a:ahLst/>
              <a:cxnLst/>
              <a:rect l="l" t="t" r="r" b="b"/>
              <a:pathLst>
                <a:path w="863219" h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6269D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77226" y="3534370"/>
            <a:ext cx="254943" cy="425351"/>
            <a:chOff x="0" y="0"/>
            <a:chExt cx="339923" cy="56713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39923" cy="567135"/>
            </a:xfrm>
            <a:custGeom>
              <a:avLst/>
              <a:gdLst/>
              <a:ahLst/>
              <a:cxnLst/>
              <a:rect l="l" t="t" r="r" b="b"/>
              <a:pathLst>
                <a:path w="339923" h="567135">
                  <a:moveTo>
                    <a:pt x="0" y="0"/>
                  </a:moveTo>
                  <a:lnTo>
                    <a:pt x="339923" y="0"/>
                  </a:lnTo>
                  <a:lnTo>
                    <a:pt x="339923" y="567135"/>
                  </a:lnTo>
                  <a:lnTo>
                    <a:pt x="0" y="56713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47625"/>
              <a:ext cx="339923" cy="5195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12"/>
                </a:lnSpc>
              </a:pPr>
              <a:r>
                <a:rPr lang="en-US" sz="3312" b="1" spc="-100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2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207229" y="3428107"/>
            <a:ext cx="5574506" cy="531614"/>
            <a:chOff x="0" y="0"/>
            <a:chExt cx="7432675" cy="70881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7432675" cy="708818"/>
            </a:xfrm>
            <a:custGeom>
              <a:avLst/>
              <a:gdLst/>
              <a:ahLst/>
              <a:cxnLst/>
              <a:rect l="l" t="t" r="r" b="b"/>
              <a:pathLst>
                <a:path w="7432675" h="708818">
                  <a:moveTo>
                    <a:pt x="0" y="0"/>
                  </a:moveTo>
                  <a:lnTo>
                    <a:pt x="7432675" y="0"/>
                  </a:lnTo>
                  <a:lnTo>
                    <a:pt x="7432675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28575"/>
              <a:ext cx="7432675" cy="73739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125"/>
                </a:lnSpc>
              </a:pPr>
              <a:r>
                <a:rPr lang="en-US" sz="3312" b="1" spc="-100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Bash variables &amp; parameters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87475" y="5181154"/>
            <a:ext cx="647402" cy="647402"/>
            <a:chOff x="0" y="0"/>
            <a:chExt cx="863203" cy="863203"/>
          </a:xfrm>
        </p:grpSpPr>
        <p:sp>
          <p:nvSpPr>
            <p:cNvPr id="28" name="Freeform 28"/>
            <p:cNvSpPr/>
            <p:nvPr/>
          </p:nvSpPr>
          <p:spPr>
            <a:xfrm>
              <a:off x="6350" y="6350"/>
              <a:ext cx="850519" cy="850519"/>
            </a:xfrm>
            <a:custGeom>
              <a:avLst/>
              <a:gdLst/>
              <a:ahLst/>
              <a:cxnLst/>
              <a:rect l="l" t="t" r="r" b="b"/>
              <a:pathLst>
                <a:path w="850519" h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4950B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9"/>
            <p:cNvSpPr/>
            <p:nvPr/>
          </p:nvSpPr>
          <p:spPr>
            <a:xfrm>
              <a:off x="0" y="0"/>
              <a:ext cx="863219" cy="863219"/>
            </a:xfrm>
            <a:custGeom>
              <a:avLst/>
              <a:gdLst/>
              <a:ahLst/>
              <a:cxnLst/>
              <a:rect l="l" t="t" r="r" b="b"/>
              <a:pathLst>
                <a:path w="863219" h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6269D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180207" y="5292179"/>
            <a:ext cx="261789" cy="425351"/>
            <a:chOff x="0" y="0"/>
            <a:chExt cx="349052" cy="567135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49052" cy="567135"/>
            </a:xfrm>
            <a:custGeom>
              <a:avLst/>
              <a:gdLst/>
              <a:ahLst/>
              <a:cxnLst/>
              <a:rect l="l" t="t" r="r" b="b"/>
              <a:pathLst>
                <a:path w="349052" h="567135">
                  <a:moveTo>
                    <a:pt x="0" y="0"/>
                  </a:moveTo>
                  <a:lnTo>
                    <a:pt x="349052" y="0"/>
                  </a:lnTo>
                  <a:lnTo>
                    <a:pt x="349052" y="567135"/>
                  </a:lnTo>
                  <a:lnTo>
                    <a:pt x="0" y="56713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47625"/>
              <a:ext cx="349052" cy="5195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12"/>
                </a:lnSpc>
              </a:pPr>
              <a:r>
                <a:rPr lang="en-US" sz="3312" b="1" spc="-100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3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913632" y="5185916"/>
            <a:ext cx="7088684" cy="1063229"/>
            <a:chOff x="0" y="0"/>
            <a:chExt cx="9451578" cy="1417638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9451578" cy="1417638"/>
            </a:xfrm>
            <a:custGeom>
              <a:avLst/>
              <a:gdLst/>
              <a:ahLst/>
              <a:cxnLst/>
              <a:rect l="l" t="t" r="r" b="b"/>
              <a:pathLst>
                <a:path w="9451578" h="1417638">
                  <a:moveTo>
                    <a:pt x="0" y="0"/>
                  </a:moveTo>
                  <a:lnTo>
                    <a:pt x="9451578" y="0"/>
                  </a:lnTo>
                  <a:lnTo>
                    <a:pt x="9451578" y="1417638"/>
                  </a:lnTo>
                  <a:lnTo>
                    <a:pt x="0" y="14176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28575"/>
              <a:ext cx="9451578" cy="14462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125"/>
                </a:lnSpc>
              </a:pPr>
              <a:r>
                <a:rPr lang="en-US" sz="3312" b="1" spc="-100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Recap: Loops, Conditionals, Functions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281071" y="5181154"/>
            <a:ext cx="647402" cy="647402"/>
            <a:chOff x="0" y="0"/>
            <a:chExt cx="863203" cy="863203"/>
          </a:xfrm>
        </p:grpSpPr>
        <p:sp>
          <p:nvSpPr>
            <p:cNvPr id="37" name="Freeform 37"/>
            <p:cNvSpPr/>
            <p:nvPr/>
          </p:nvSpPr>
          <p:spPr>
            <a:xfrm>
              <a:off x="6350" y="6350"/>
              <a:ext cx="850519" cy="850519"/>
            </a:xfrm>
            <a:custGeom>
              <a:avLst/>
              <a:gdLst/>
              <a:ahLst/>
              <a:cxnLst/>
              <a:rect l="l" t="t" r="r" b="b"/>
              <a:pathLst>
                <a:path w="850519" h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4950B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8"/>
            <p:cNvSpPr/>
            <p:nvPr/>
          </p:nvSpPr>
          <p:spPr>
            <a:xfrm>
              <a:off x="0" y="0"/>
              <a:ext cx="863219" cy="863219"/>
            </a:xfrm>
            <a:custGeom>
              <a:avLst/>
              <a:gdLst/>
              <a:ahLst/>
              <a:cxnLst/>
              <a:rect l="l" t="t" r="r" b="b"/>
              <a:pathLst>
                <a:path w="863219" h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6269D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67255" y="5292179"/>
            <a:ext cx="274885" cy="425351"/>
            <a:chOff x="0" y="0"/>
            <a:chExt cx="366513" cy="567135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366513" cy="567135"/>
            </a:xfrm>
            <a:custGeom>
              <a:avLst/>
              <a:gdLst/>
              <a:ahLst/>
              <a:cxnLst/>
              <a:rect l="l" t="t" r="r" b="b"/>
              <a:pathLst>
                <a:path w="366513" h="567135">
                  <a:moveTo>
                    <a:pt x="0" y="0"/>
                  </a:moveTo>
                  <a:lnTo>
                    <a:pt x="366513" y="0"/>
                  </a:lnTo>
                  <a:lnTo>
                    <a:pt x="366513" y="567135"/>
                  </a:lnTo>
                  <a:lnTo>
                    <a:pt x="0" y="56713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47625"/>
              <a:ext cx="366513" cy="5195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12"/>
                </a:lnSpc>
              </a:pPr>
              <a:r>
                <a:rPr lang="en-US" sz="3312" b="1" spc="-100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4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0207229" y="5185916"/>
            <a:ext cx="4252912" cy="531614"/>
            <a:chOff x="0" y="0"/>
            <a:chExt cx="5670550" cy="708818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5670550" cy="708818"/>
            </a:xfrm>
            <a:custGeom>
              <a:avLst/>
              <a:gdLst/>
              <a:ahLst/>
              <a:cxnLst/>
              <a:rect l="l" t="t" r="r" b="b"/>
              <a:pathLst>
                <a:path w="5670550" h="708818">
                  <a:moveTo>
                    <a:pt x="0" y="0"/>
                  </a:moveTo>
                  <a:lnTo>
                    <a:pt x="5670550" y="0"/>
                  </a:lnTo>
                  <a:lnTo>
                    <a:pt x="5670550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28575"/>
              <a:ext cx="5670550" cy="73739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125"/>
                </a:lnSpc>
              </a:pPr>
              <a:r>
                <a:rPr lang="en-US" sz="3312" b="1" spc="-100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Arrays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987475" y="7470576"/>
            <a:ext cx="647402" cy="647402"/>
            <a:chOff x="0" y="0"/>
            <a:chExt cx="863203" cy="863203"/>
          </a:xfrm>
        </p:grpSpPr>
        <p:sp>
          <p:nvSpPr>
            <p:cNvPr id="46" name="Freeform 46"/>
            <p:cNvSpPr/>
            <p:nvPr/>
          </p:nvSpPr>
          <p:spPr>
            <a:xfrm>
              <a:off x="6350" y="6350"/>
              <a:ext cx="850519" cy="850519"/>
            </a:xfrm>
            <a:custGeom>
              <a:avLst/>
              <a:gdLst/>
              <a:ahLst/>
              <a:cxnLst/>
              <a:rect l="l" t="t" r="r" b="b"/>
              <a:pathLst>
                <a:path w="850519" h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4950B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7"/>
            <p:cNvSpPr/>
            <p:nvPr/>
          </p:nvSpPr>
          <p:spPr>
            <a:xfrm>
              <a:off x="0" y="0"/>
              <a:ext cx="863219" cy="863219"/>
            </a:xfrm>
            <a:custGeom>
              <a:avLst/>
              <a:gdLst/>
              <a:ahLst/>
              <a:cxnLst/>
              <a:rect l="l" t="t" r="r" b="b"/>
              <a:pathLst>
                <a:path w="863219" h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6269D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185268" y="7581602"/>
            <a:ext cx="251817" cy="425351"/>
            <a:chOff x="0" y="0"/>
            <a:chExt cx="335757" cy="567135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335757" cy="567135"/>
            </a:xfrm>
            <a:custGeom>
              <a:avLst/>
              <a:gdLst/>
              <a:ahLst/>
              <a:cxnLst/>
              <a:rect l="l" t="t" r="r" b="b"/>
              <a:pathLst>
                <a:path w="335757" h="567135">
                  <a:moveTo>
                    <a:pt x="0" y="0"/>
                  </a:moveTo>
                  <a:lnTo>
                    <a:pt x="335757" y="0"/>
                  </a:lnTo>
                  <a:lnTo>
                    <a:pt x="335757" y="567135"/>
                  </a:lnTo>
                  <a:lnTo>
                    <a:pt x="0" y="56713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47625"/>
              <a:ext cx="335757" cy="5195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12"/>
                </a:lnSpc>
              </a:pPr>
              <a:r>
                <a:rPr lang="en-US" sz="3312" b="1" spc="-100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5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913632" y="7475339"/>
            <a:ext cx="6375499" cy="531614"/>
            <a:chOff x="0" y="0"/>
            <a:chExt cx="8500665" cy="708818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8500665" cy="708818"/>
            </a:xfrm>
            <a:custGeom>
              <a:avLst/>
              <a:gdLst/>
              <a:ahLst/>
              <a:cxnLst/>
              <a:rect l="l" t="t" r="r" b="b"/>
              <a:pathLst>
                <a:path w="8500665" h="708818">
                  <a:moveTo>
                    <a:pt x="0" y="0"/>
                  </a:moveTo>
                  <a:lnTo>
                    <a:pt x="8500665" y="0"/>
                  </a:lnTo>
                  <a:lnTo>
                    <a:pt x="8500665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-28575"/>
              <a:ext cx="8500665" cy="73739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125"/>
                </a:lnSpc>
              </a:pPr>
              <a:r>
                <a:rPr lang="en-US" sz="3312" b="1" spc="-100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Modular scripting &amp; Re-factoring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9281071" y="7470576"/>
            <a:ext cx="647402" cy="647402"/>
            <a:chOff x="0" y="0"/>
            <a:chExt cx="863203" cy="863203"/>
          </a:xfrm>
        </p:grpSpPr>
        <p:sp>
          <p:nvSpPr>
            <p:cNvPr id="55" name="Freeform 55"/>
            <p:cNvSpPr/>
            <p:nvPr/>
          </p:nvSpPr>
          <p:spPr>
            <a:xfrm>
              <a:off x="6350" y="6350"/>
              <a:ext cx="850519" cy="850519"/>
            </a:xfrm>
            <a:custGeom>
              <a:avLst/>
              <a:gdLst/>
              <a:ahLst/>
              <a:cxnLst/>
              <a:rect l="l" t="t" r="r" b="b"/>
              <a:pathLst>
                <a:path w="850519" h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4950B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56"/>
            <p:cNvSpPr/>
            <p:nvPr/>
          </p:nvSpPr>
          <p:spPr>
            <a:xfrm>
              <a:off x="0" y="0"/>
              <a:ext cx="863219" cy="863219"/>
            </a:xfrm>
            <a:custGeom>
              <a:avLst/>
              <a:gdLst/>
              <a:ahLst/>
              <a:cxnLst/>
              <a:rect l="l" t="t" r="r" b="b"/>
              <a:pathLst>
                <a:path w="863219" h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6269D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9473059" y="7581602"/>
            <a:ext cx="263426" cy="425351"/>
            <a:chOff x="0" y="0"/>
            <a:chExt cx="351235" cy="567135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351235" cy="567135"/>
            </a:xfrm>
            <a:custGeom>
              <a:avLst/>
              <a:gdLst/>
              <a:ahLst/>
              <a:cxnLst/>
              <a:rect l="l" t="t" r="r" b="b"/>
              <a:pathLst>
                <a:path w="351235" h="567135">
                  <a:moveTo>
                    <a:pt x="0" y="0"/>
                  </a:moveTo>
                  <a:lnTo>
                    <a:pt x="351235" y="0"/>
                  </a:lnTo>
                  <a:lnTo>
                    <a:pt x="351235" y="567135"/>
                  </a:lnTo>
                  <a:lnTo>
                    <a:pt x="0" y="56713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0" y="47625"/>
              <a:ext cx="351235" cy="5195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12"/>
                </a:lnSpc>
              </a:pPr>
              <a:r>
                <a:rPr lang="en-US" sz="3312" b="1" spc="-100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6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0207229" y="7475339"/>
            <a:ext cx="4252912" cy="531614"/>
            <a:chOff x="0" y="0"/>
            <a:chExt cx="5670550" cy="708818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5670550" cy="708818"/>
            </a:xfrm>
            <a:custGeom>
              <a:avLst/>
              <a:gdLst/>
              <a:ahLst/>
              <a:cxnLst/>
              <a:rect l="l" t="t" r="r" b="b"/>
              <a:pathLst>
                <a:path w="5670550" h="708818">
                  <a:moveTo>
                    <a:pt x="0" y="0"/>
                  </a:moveTo>
                  <a:lnTo>
                    <a:pt x="5670550" y="0"/>
                  </a:lnTo>
                  <a:lnTo>
                    <a:pt x="5670550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0" y="-28575"/>
              <a:ext cx="5670550" cy="73739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125"/>
                </a:lnSpc>
              </a:pPr>
              <a:r>
                <a:rPr lang="en-US" sz="3312" b="1" spc="-100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All-in-One Project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0052" y="1087190"/>
            <a:ext cx="4715172" cy="819958"/>
            <a:chOff x="0" y="0"/>
            <a:chExt cx="6286897" cy="109327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286897" cy="1093278"/>
            </a:xfrm>
            <a:custGeom>
              <a:avLst/>
              <a:gdLst/>
              <a:ahLst/>
              <a:cxnLst/>
              <a:rect l="l" t="t" r="r" b="b"/>
              <a:pathLst>
                <a:path w="6286897" h="1093278">
                  <a:moveTo>
                    <a:pt x="0" y="0"/>
                  </a:moveTo>
                  <a:lnTo>
                    <a:pt x="6286897" y="0"/>
                  </a:lnTo>
                  <a:lnTo>
                    <a:pt x="6286897" y="1093278"/>
                  </a:lnTo>
                  <a:lnTo>
                    <a:pt x="0" y="10932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6286897" cy="11218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750"/>
                </a:lnSpc>
              </a:pPr>
              <a:r>
                <a:rPr lang="en-US" sz="3787" b="1" spc="-114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Regular Expressions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60052" y="2053679"/>
            <a:ext cx="16967895" cy="414614"/>
            <a:chOff x="0" y="0"/>
            <a:chExt cx="22623860" cy="55281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623859" cy="552819"/>
            </a:xfrm>
            <a:custGeom>
              <a:avLst/>
              <a:gdLst/>
              <a:ahLst/>
              <a:cxnLst/>
              <a:rect l="l" t="t" r="r" b="b"/>
              <a:pathLst>
                <a:path w="22623859" h="552819">
                  <a:moveTo>
                    <a:pt x="0" y="0"/>
                  </a:moveTo>
                  <a:lnTo>
                    <a:pt x="22623859" y="0"/>
                  </a:lnTo>
                  <a:lnTo>
                    <a:pt x="22623859" y="552819"/>
                  </a:lnTo>
                  <a:lnTo>
                    <a:pt x="0" y="55281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95250"/>
              <a:ext cx="22623860" cy="6480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292198" lvl="1" indent="-146099" algn="l">
                <a:lnSpc>
                  <a:spcPts val="3201"/>
                </a:lnSpc>
                <a:buFont typeface="Arial"/>
                <a:buChar char="•"/>
              </a:pPr>
              <a:r>
                <a:rPr lang="en-US" sz="1937" spc="-40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Regular expressions are also referred as "regex".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60052" y="2496741"/>
            <a:ext cx="16967895" cy="414614"/>
            <a:chOff x="0" y="0"/>
            <a:chExt cx="22623860" cy="552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623859" cy="552819"/>
            </a:xfrm>
            <a:custGeom>
              <a:avLst/>
              <a:gdLst/>
              <a:ahLst/>
              <a:cxnLst/>
              <a:rect l="l" t="t" r="r" b="b"/>
              <a:pathLst>
                <a:path w="22623859" h="552819">
                  <a:moveTo>
                    <a:pt x="0" y="0"/>
                  </a:moveTo>
                  <a:lnTo>
                    <a:pt x="22623859" y="0"/>
                  </a:lnTo>
                  <a:lnTo>
                    <a:pt x="22623859" y="552819"/>
                  </a:lnTo>
                  <a:lnTo>
                    <a:pt x="0" y="55281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95250"/>
              <a:ext cx="22623860" cy="6480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292198" lvl="1" indent="-146099" algn="l">
                <a:lnSpc>
                  <a:spcPts val="3201"/>
                </a:lnSpc>
                <a:buFont typeface="Arial"/>
                <a:buChar char="•"/>
              </a:pPr>
              <a:r>
                <a:rPr lang="en-US" sz="1937" spc="-40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These expressions allow validating or extract specific information from the input.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60052" y="3474839"/>
            <a:ext cx="16967895" cy="377130"/>
            <a:chOff x="0" y="0"/>
            <a:chExt cx="22623860" cy="50284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2623859" cy="502840"/>
            </a:xfrm>
            <a:custGeom>
              <a:avLst/>
              <a:gdLst/>
              <a:ahLst/>
              <a:cxnLst/>
              <a:rect l="l" t="t" r="r" b="b"/>
              <a:pathLst>
                <a:path w="22623859" h="502840">
                  <a:moveTo>
                    <a:pt x="0" y="0"/>
                  </a:moveTo>
                  <a:lnTo>
                    <a:pt x="22623859" y="0"/>
                  </a:lnTo>
                  <a:lnTo>
                    <a:pt x="22623859" y="502840"/>
                  </a:lnTo>
                  <a:lnTo>
                    <a:pt x="0" y="5028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76200"/>
              <a:ext cx="22623860" cy="5790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37"/>
                </a:lnSpc>
              </a:pPr>
              <a:r>
                <a:rPr lang="en-US" sz="1812" spc="-30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Let's take a common usage of regex in real-world used cases: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372445" y="4409718"/>
            <a:ext cx="2829074" cy="518725"/>
            <a:chOff x="0" y="0"/>
            <a:chExt cx="3772098" cy="69163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772098" cy="691634"/>
            </a:xfrm>
            <a:custGeom>
              <a:avLst/>
              <a:gdLst/>
              <a:ahLst/>
              <a:cxnLst/>
              <a:rect l="l" t="t" r="r" b="b"/>
              <a:pathLst>
                <a:path w="3772098" h="691634">
                  <a:moveTo>
                    <a:pt x="0" y="0"/>
                  </a:moveTo>
                  <a:lnTo>
                    <a:pt x="3772098" y="0"/>
                  </a:lnTo>
                  <a:lnTo>
                    <a:pt x="3772098" y="691634"/>
                  </a:lnTo>
                  <a:lnTo>
                    <a:pt x="0" y="69163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28575"/>
              <a:ext cx="3772098" cy="72020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01"/>
                </a:lnSpc>
              </a:pPr>
              <a:r>
                <a:rPr lang="en-US" sz="2387" b="1" u="sng" spc="-72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Email Validation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60052" y="4995119"/>
            <a:ext cx="8253859" cy="432750"/>
            <a:chOff x="0" y="0"/>
            <a:chExt cx="11005145" cy="5770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1005145" cy="577000"/>
            </a:xfrm>
            <a:custGeom>
              <a:avLst/>
              <a:gdLst/>
              <a:ahLst/>
              <a:cxnLst/>
              <a:rect l="l" t="t" r="r" b="b"/>
              <a:pathLst>
                <a:path w="11005145" h="577000">
                  <a:moveTo>
                    <a:pt x="0" y="0"/>
                  </a:moveTo>
                  <a:lnTo>
                    <a:pt x="11005145" y="0"/>
                  </a:lnTo>
                  <a:lnTo>
                    <a:pt x="11005145" y="577000"/>
                  </a:lnTo>
                  <a:lnTo>
                    <a:pt x="0" y="577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85725"/>
              <a:ext cx="11005145" cy="662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61"/>
                </a:lnSpc>
              </a:pPr>
              <a:r>
                <a:rPr lang="en-US" sz="2012" spc="-33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Matches standard email format (e.g. username@domain.com)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60052" y="5541912"/>
            <a:ext cx="8253859" cy="394813"/>
            <a:chOff x="0" y="0"/>
            <a:chExt cx="11005145" cy="526417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1005145" cy="526417"/>
            </a:xfrm>
            <a:custGeom>
              <a:avLst/>
              <a:gdLst/>
              <a:ahLst/>
              <a:cxnLst/>
              <a:rect l="l" t="t" r="r" b="b"/>
              <a:pathLst>
                <a:path w="11005145" h="526417">
                  <a:moveTo>
                    <a:pt x="0" y="0"/>
                  </a:moveTo>
                  <a:lnTo>
                    <a:pt x="11005145" y="0"/>
                  </a:lnTo>
                  <a:lnTo>
                    <a:pt x="11005145" y="526417"/>
                  </a:lnTo>
                  <a:lnTo>
                    <a:pt x="0" y="5264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85725"/>
              <a:ext cx="11005145" cy="6121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277117" lvl="1" indent="-138558" algn="l">
                <a:lnSpc>
                  <a:spcPts val="3035"/>
                </a:lnSpc>
                <a:buFont typeface="Arial"/>
                <a:buChar char="•"/>
              </a:pPr>
              <a:r>
                <a:rPr lang="en-US" sz="1837" b="1" spc="-38">
                  <a:solidFill>
                    <a:srgbClr val="1F713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Regex: ^\[a-zA-Z0-9._%+-\]+@\[a-zA-Z0-9.-\]+.\[a-zA-Z\]{2,}$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60052" y="5984974"/>
            <a:ext cx="8253859" cy="1508522"/>
            <a:chOff x="0" y="0"/>
            <a:chExt cx="11005145" cy="2011363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1005145" cy="2011363"/>
            </a:xfrm>
            <a:custGeom>
              <a:avLst/>
              <a:gdLst/>
              <a:ahLst/>
              <a:cxnLst/>
              <a:rect l="l" t="t" r="r" b="b"/>
              <a:pathLst>
                <a:path w="11005145" h="2011363">
                  <a:moveTo>
                    <a:pt x="0" y="0"/>
                  </a:moveTo>
                  <a:lnTo>
                    <a:pt x="11005145" y="0"/>
                  </a:lnTo>
                  <a:lnTo>
                    <a:pt x="11005145" y="2011363"/>
                  </a:lnTo>
                  <a:lnTo>
                    <a:pt x="0" y="20113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85725"/>
              <a:ext cx="11005145" cy="20970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246955" lvl="1" indent="-123478" algn="l">
                <a:lnSpc>
                  <a:spcPts val="2705"/>
                </a:lnSpc>
                <a:buFont typeface="Arial"/>
                <a:buChar char="•"/>
              </a:pPr>
              <a:r>
                <a:rPr lang="en-US" sz="1637" spc="-34">
                  <a:solidFill>
                    <a:srgbClr val="1F7135"/>
                  </a:solidFill>
                  <a:latin typeface="Inter"/>
                  <a:ea typeface="Inter"/>
                  <a:cs typeface="Inter"/>
                  <a:sym typeface="Inter"/>
                </a:rPr>
                <a:t>^[a-zA-Z0-9._%+-]+</a:t>
              </a:r>
              <a:r>
                <a:rPr lang="en-US" sz="1637" spc="-34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: Matches the beginning of the string (^), and then looks for one or more (+) characters that can be uppercase letters (A-Z), lowercase letters (a-z), digits (0-9), dots (.), underscores (_), percentage signs (%), plus signs (+), or hyphens (-).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60052" y="7559428"/>
            <a:ext cx="8253859" cy="754261"/>
            <a:chOff x="0" y="0"/>
            <a:chExt cx="11005145" cy="1005682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1005145" cy="1005682"/>
            </a:xfrm>
            <a:custGeom>
              <a:avLst/>
              <a:gdLst/>
              <a:ahLst/>
              <a:cxnLst/>
              <a:rect l="l" t="t" r="r" b="b"/>
              <a:pathLst>
                <a:path w="11005145" h="1005682">
                  <a:moveTo>
                    <a:pt x="0" y="0"/>
                  </a:moveTo>
                  <a:lnTo>
                    <a:pt x="11005145" y="0"/>
                  </a:lnTo>
                  <a:lnTo>
                    <a:pt x="11005145" y="1005682"/>
                  </a:lnTo>
                  <a:lnTo>
                    <a:pt x="0" y="10056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85725"/>
              <a:ext cx="11005145" cy="109140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246955" lvl="1" indent="-123478" algn="l">
                <a:lnSpc>
                  <a:spcPts val="2705"/>
                </a:lnSpc>
                <a:buFont typeface="Arial"/>
                <a:buChar char="•"/>
              </a:pPr>
              <a:r>
                <a:rPr lang="en-US" sz="1637" spc="-34">
                  <a:solidFill>
                    <a:srgbClr val="1F7135"/>
                  </a:solidFill>
                  <a:latin typeface="Inter"/>
                  <a:ea typeface="Inter"/>
                  <a:cs typeface="Inter"/>
                  <a:sym typeface="Inter"/>
                </a:rPr>
                <a:t>@[a-zA-Z0-9.-]+</a:t>
              </a:r>
              <a:r>
                <a:rPr lang="en-US" sz="1637" spc="-34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: The @ symbol is mandatory. After the @, the domain part of the email can contain letters, digits, dots, and hyphens.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60052" y="8379619"/>
            <a:ext cx="8253859" cy="754261"/>
            <a:chOff x="0" y="0"/>
            <a:chExt cx="11005145" cy="1005682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1005145" cy="1005682"/>
            </a:xfrm>
            <a:custGeom>
              <a:avLst/>
              <a:gdLst/>
              <a:ahLst/>
              <a:cxnLst/>
              <a:rect l="l" t="t" r="r" b="b"/>
              <a:pathLst>
                <a:path w="11005145" h="1005682">
                  <a:moveTo>
                    <a:pt x="0" y="0"/>
                  </a:moveTo>
                  <a:lnTo>
                    <a:pt x="11005145" y="0"/>
                  </a:lnTo>
                  <a:lnTo>
                    <a:pt x="11005145" y="1005682"/>
                  </a:lnTo>
                  <a:lnTo>
                    <a:pt x="0" y="10056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85725"/>
              <a:ext cx="11005145" cy="109140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246955" lvl="1" indent="-123478" algn="l">
                <a:lnSpc>
                  <a:spcPts val="2705"/>
                </a:lnSpc>
                <a:buFont typeface="Arial"/>
                <a:buChar char="•"/>
              </a:pPr>
              <a:r>
                <a:rPr lang="en-US" sz="1637" spc="-34">
                  <a:solidFill>
                    <a:srgbClr val="1F7135"/>
                  </a:solidFill>
                  <a:latin typeface="Inter"/>
                  <a:ea typeface="Inter"/>
                  <a:cs typeface="Inter"/>
                  <a:sym typeface="Inter"/>
                </a:rPr>
                <a:t>\.[a-zA-Z]{2,}$</a:t>
              </a:r>
              <a:r>
                <a:rPr lang="en-US" sz="1637" spc="-34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: Ensures the domain ends with a period (.), followed by at least two letters (e.g., .com, .org), ensuring a valid domain extension.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1869918" y="4409718"/>
            <a:ext cx="3281251" cy="518725"/>
            <a:chOff x="0" y="0"/>
            <a:chExt cx="4375001" cy="691634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4375001" cy="691634"/>
            </a:xfrm>
            <a:custGeom>
              <a:avLst/>
              <a:gdLst/>
              <a:ahLst/>
              <a:cxnLst/>
              <a:rect l="l" t="t" r="r" b="b"/>
              <a:pathLst>
                <a:path w="4375001" h="691634">
                  <a:moveTo>
                    <a:pt x="0" y="0"/>
                  </a:moveTo>
                  <a:lnTo>
                    <a:pt x="4375001" y="0"/>
                  </a:lnTo>
                  <a:lnTo>
                    <a:pt x="4375001" y="691634"/>
                  </a:lnTo>
                  <a:lnTo>
                    <a:pt x="0" y="69163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28575"/>
              <a:ext cx="4375001" cy="72020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01"/>
                </a:lnSpc>
              </a:pPr>
              <a:r>
                <a:rPr lang="en-US" sz="2387" b="1" u="sng" spc="-72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IP Address Validation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383614" y="4995119"/>
            <a:ext cx="8253859" cy="432750"/>
            <a:chOff x="0" y="0"/>
            <a:chExt cx="11005145" cy="5770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1005145" cy="577000"/>
            </a:xfrm>
            <a:custGeom>
              <a:avLst/>
              <a:gdLst/>
              <a:ahLst/>
              <a:cxnLst/>
              <a:rect l="l" t="t" r="r" b="b"/>
              <a:pathLst>
                <a:path w="11005145" h="577000">
                  <a:moveTo>
                    <a:pt x="0" y="0"/>
                  </a:moveTo>
                  <a:lnTo>
                    <a:pt x="11005145" y="0"/>
                  </a:lnTo>
                  <a:lnTo>
                    <a:pt x="11005145" y="577000"/>
                  </a:lnTo>
                  <a:lnTo>
                    <a:pt x="0" y="577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85725"/>
              <a:ext cx="11005145" cy="662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61"/>
                </a:lnSpc>
              </a:pPr>
              <a:r>
                <a:rPr lang="en-US" sz="2012" spc="-33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Validates sequence of four numbers (0-255) separated by dots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9383614" y="5541912"/>
            <a:ext cx="8253859" cy="394813"/>
            <a:chOff x="0" y="0"/>
            <a:chExt cx="11005145" cy="526417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1005145" cy="526417"/>
            </a:xfrm>
            <a:custGeom>
              <a:avLst/>
              <a:gdLst/>
              <a:ahLst/>
              <a:cxnLst/>
              <a:rect l="l" t="t" r="r" b="b"/>
              <a:pathLst>
                <a:path w="11005145" h="526417">
                  <a:moveTo>
                    <a:pt x="0" y="0"/>
                  </a:moveTo>
                  <a:lnTo>
                    <a:pt x="11005145" y="0"/>
                  </a:lnTo>
                  <a:lnTo>
                    <a:pt x="11005145" y="526417"/>
                  </a:lnTo>
                  <a:lnTo>
                    <a:pt x="0" y="5264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85725"/>
              <a:ext cx="11005145" cy="6121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277117" lvl="1" indent="-138558" algn="l">
                <a:lnSpc>
                  <a:spcPts val="3035"/>
                </a:lnSpc>
                <a:buFont typeface="Arial"/>
                <a:buChar char="•"/>
              </a:pPr>
              <a:r>
                <a:rPr lang="en-US" sz="1837" b="1" spc="-38">
                  <a:solidFill>
                    <a:srgbClr val="1F713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Regex: ^(\[0-9\]{1,3}.){3}\[0-9\]{1,3}$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9383614" y="5984974"/>
            <a:ext cx="8253859" cy="1508522"/>
            <a:chOff x="0" y="0"/>
            <a:chExt cx="11005145" cy="2011363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1005145" cy="2011363"/>
            </a:xfrm>
            <a:custGeom>
              <a:avLst/>
              <a:gdLst/>
              <a:ahLst/>
              <a:cxnLst/>
              <a:rect l="l" t="t" r="r" b="b"/>
              <a:pathLst>
                <a:path w="11005145" h="2011363">
                  <a:moveTo>
                    <a:pt x="0" y="0"/>
                  </a:moveTo>
                  <a:lnTo>
                    <a:pt x="11005145" y="0"/>
                  </a:lnTo>
                  <a:lnTo>
                    <a:pt x="11005145" y="2011363"/>
                  </a:lnTo>
                  <a:lnTo>
                    <a:pt x="0" y="20113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85725"/>
              <a:ext cx="11005145" cy="20970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246955" lvl="1" indent="-123478" algn="l">
                <a:lnSpc>
                  <a:spcPts val="2705"/>
                </a:lnSpc>
                <a:buFont typeface="Arial"/>
                <a:buChar char="•"/>
              </a:pPr>
              <a:r>
                <a:rPr lang="en-US" sz="1637" spc="-34">
                  <a:solidFill>
                    <a:srgbClr val="1F7135"/>
                  </a:solidFill>
                  <a:latin typeface="Inter"/>
                  <a:ea typeface="Inter"/>
                  <a:cs typeface="Inter"/>
                  <a:sym typeface="Inter"/>
                </a:rPr>
                <a:t>^([0-9]{1,3}\.){3}</a:t>
              </a:r>
              <a:r>
                <a:rPr lang="en-US" sz="1637" spc="-34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: Matches the first three segments of the IP address. Each segment consists of 1 to 3 digits ([0-9]{1,3}), followed by a literal dot (\.). {3} means this pattern is repeated 3 times, handling the first three parts of the IP address.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9383614" y="7559428"/>
            <a:ext cx="8253859" cy="754261"/>
            <a:chOff x="0" y="0"/>
            <a:chExt cx="11005145" cy="1005682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1005145" cy="1005682"/>
            </a:xfrm>
            <a:custGeom>
              <a:avLst/>
              <a:gdLst/>
              <a:ahLst/>
              <a:cxnLst/>
              <a:rect l="l" t="t" r="r" b="b"/>
              <a:pathLst>
                <a:path w="11005145" h="1005682">
                  <a:moveTo>
                    <a:pt x="0" y="0"/>
                  </a:moveTo>
                  <a:lnTo>
                    <a:pt x="11005145" y="0"/>
                  </a:lnTo>
                  <a:lnTo>
                    <a:pt x="11005145" y="1005682"/>
                  </a:lnTo>
                  <a:lnTo>
                    <a:pt x="0" y="10056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-85725"/>
              <a:ext cx="11005145" cy="109140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246955" lvl="1" indent="-123478" algn="l">
                <a:lnSpc>
                  <a:spcPts val="2705"/>
                </a:lnSpc>
                <a:buFont typeface="Arial"/>
                <a:buChar char="•"/>
              </a:pPr>
              <a:r>
                <a:rPr lang="en-US" sz="1637" spc="-34">
                  <a:solidFill>
                    <a:srgbClr val="1F7135"/>
                  </a:solidFill>
                  <a:latin typeface="Inter"/>
                  <a:ea typeface="Inter"/>
                  <a:cs typeface="Inter"/>
                  <a:sym typeface="Inter"/>
                </a:rPr>
                <a:t>[0-9]{1,3}$</a:t>
              </a:r>
              <a:r>
                <a:rPr lang="en-US" sz="1637" spc="-34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: The final part of the IP address is simply 1 to 3 digits, ensuring it ends with a valid numeric segment.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 descr="preencoded.png">
            <a:hlinkClick r:id="rId3" tooltip="https://gamma.app/?utm_source=made-with-gamma"/>
          </p:cNvPr>
          <p:cNvSpPr/>
          <p:nvPr/>
        </p:nvSpPr>
        <p:spPr>
          <a:xfrm>
            <a:off x="16049019" y="9686925"/>
            <a:ext cx="2153256" cy="514350"/>
          </a:xfrm>
          <a:custGeom>
            <a:avLst/>
            <a:gdLst/>
            <a:ahLst/>
            <a:cxnLst/>
            <a:rect l="l" t="t" r="r" b="b"/>
            <a:pathLst>
              <a:path w="2153256" h="514350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 descr="preencoded.png"/>
          <p:cNvSpPr/>
          <p:nvPr/>
        </p:nvSpPr>
        <p:spPr>
          <a:xfrm>
            <a:off x="0" y="0"/>
            <a:ext cx="18288000" cy="10291465"/>
          </a:xfrm>
          <a:custGeom>
            <a:avLst/>
            <a:gdLst/>
            <a:ahLst/>
            <a:cxnLst/>
            <a:rect l="l" t="t" r="r" b="b"/>
            <a:pathLst>
              <a:path w="18288000" h="10291465">
                <a:moveTo>
                  <a:pt x="0" y="0"/>
                </a:moveTo>
                <a:lnTo>
                  <a:pt x="18288000" y="0"/>
                </a:lnTo>
                <a:lnTo>
                  <a:pt x="18288000" y="10291465"/>
                </a:lnTo>
                <a:lnTo>
                  <a:pt x="0" y="102914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1" r="-21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0" y="0"/>
            <a:ext cx="18288000" cy="10291465"/>
            <a:chOff x="0" y="0"/>
            <a:chExt cx="24384000" cy="1372195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384000" cy="13721969"/>
            </a:xfrm>
            <a:custGeom>
              <a:avLst/>
              <a:gdLst/>
              <a:ahLst/>
              <a:cxnLst/>
              <a:rect l="l" t="t" r="r" b="b"/>
              <a:pathLst>
                <a:path w="24384000" h="13721969">
                  <a:moveTo>
                    <a:pt x="0" y="0"/>
                  </a:moveTo>
                  <a:lnTo>
                    <a:pt x="24384000" y="0"/>
                  </a:lnTo>
                  <a:lnTo>
                    <a:pt x="24384000" y="13721969"/>
                  </a:lnTo>
                  <a:lnTo>
                    <a:pt x="0" y="13721969"/>
                  </a:lnTo>
                  <a:close/>
                </a:path>
              </a:pathLst>
            </a:custGeom>
            <a:solidFill>
              <a:srgbClr val="FFFFFF">
                <a:alpha val="72157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66626" y="680889"/>
            <a:ext cx="6190506" cy="773906"/>
            <a:chOff x="0" y="0"/>
            <a:chExt cx="8254008" cy="103187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254009" cy="1031875"/>
            </a:xfrm>
            <a:custGeom>
              <a:avLst/>
              <a:gdLst/>
              <a:ahLst/>
              <a:cxnLst/>
              <a:rect l="l" t="t" r="r" b="b"/>
              <a:pathLst>
                <a:path w="8254009" h="1031875">
                  <a:moveTo>
                    <a:pt x="0" y="0"/>
                  </a:moveTo>
                  <a:lnTo>
                    <a:pt x="8254009" y="0"/>
                  </a:lnTo>
                  <a:lnTo>
                    <a:pt x="8254009" y="1031875"/>
                  </a:lnTo>
                  <a:lnTo>
                    <a:pt x="0" y="10318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8254008" cy="106045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062"/>
                </a:lnSpc>
              </a:pPr>
              <a:r>
                <a:rPr lang="en-US" sz="4812" b="1" spc="-146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Practical Activity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66626" y="1826121"/>
            <a:ext cx="16554747" cy="495300"/>
            <a:chOff x="0" y="0"/>
            <a:chExt cx="22072997" cy="6604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072997" cy="660400"/>
            </a:xfrm>
            <a:custGeom>
              <a:avLst/>
              <a:gdLst/>
              <a:ahLst/>
              <a:cxnLst/>
              <a:rect l="l" t="t" r="r" b="b"/>
              <a:pathLst>
                <a:path w="22072997" h="660400">
                  <a:moveTo>
                    <a:pt x="0" y="0"/>
                  </a:moveTo>
                  <a:lnTo>
                    <a:pt x="22072997" y="0"/>
                  </a:lnTo>
                  <a:lnTo>
                    <a:pt x="22072997" y="660400"/>
                  </a:lnTo>
                  <a:lnTo>
                    <a:pt x="0" y="660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104775"/>
              <a:ext cx="22072997" cy="76517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875"/>
                </a:lnSpc>
              </a:pPr>
              <a:r>
                <a:rPr lang="en-US" sz="2375" spc="-38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A simple bash script that validates an email input using the regex pattern.</a:t>
              </a:r>
            </a:p>
          </p:txBody>
        </p:sp>
      </p:grpSp>
      <p:sp>
        <p:nvSpPr>
          <p:cNvPr id="16" name="Freeform 16" descr="preencoded.png"/>
          <p:cNvSpPr/>
          <p:nvPr/>
        </p:nvSpPr>
        <p:spPr>
          <a:xfrm>
            <a:off x="866626" y="2599879"/>
            <a:ext cx="10783668" cy="7691586"/>
          </a:xfrm>
          <a:custGeom>
            <a:avLst/>
            <a:gdLst/>
            <a:ahLst/>
            <a:cxnLst/>
            <a:rect l="l" t="t" r="r" b="b"/>
            <a:pathLst>
              <a:path w="10783668" h="7691586">
                <a:moveTo>
                  <a:pt x="0" y="0"/>
                </a:moveTo>
                <a:lnTo>
                  <a:pt x="10783668" y="0"/>
                </a:lnTo>
                <a:lnTo>
                  <a:pt x="10783668" y="7691586"/>
                </a:lnTo>
                <a:lnTo>
                  <a:pt x="0" y="769158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5" r="-5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 descr="preencoded.png">
            <a:hlinkClick r:id="rId3" tooltip="https://gamma.app/?utm_source=made-with-gamma"/>
          </p:cNvPr>
          <p:cNvSpPr/>
          <p:nvPr/>
        </p:nvSpPr>
        <p:spPr>
          <a:xfrm>
            <a:off x="16049019" y="9686925"/>
            <a:ext cx="2153256" cy="514350"/>
          </a:xfrm>
          <a:custGeom>
            <a:avLst/>
            <a:gdLst/>
            <a:ahLst/>
            <a:cxnLst/>
            <a:rect l="l" t="t" r="r" b="b"/>
            <a:pathLst>
              <a:path w="2153256" h="514350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72157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43694" y="586234"/>
            <a:ext cx="7598271" cy="664071"/>
            <a:chOff x="0" y="0"/>
            <a:chExt cx="10131028" cy="88542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131028" cy="885428"/>
            </a:xfrm>
            <a:custGeom>
              <a:avLst/>
              <a:gdLst/>
              <a:ahLst/>
              <a:cxnLst/>
              <a:rect l="l" t="t" r="r" b="b"/>
              <a:pathLst>
                <a:path w="10131028" h="885428">
                  <a:moveTo>
                    <a:pt x="0" y="0"/>
                  </a:moveTo>
                  <a:lnTo>
                    <a:pt x="10131028" y="0"/>
                  </a:lnTo>
                  <a:lnTo>
                    <a:pt x="10131028" y="885428"/>
                  </a:lnTo>
                  <a:lnTo>
                    <a:pt x="0" y="8854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10131028" cy="9140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187"/>
                </a:lnSpc>
              </a:pPr>
              <a:r>
                <a:rPr lang="en-US" sz="4124" b="1" spc="-125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Bash Variables and Parameters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43694" y="1568946"/>
            <a:ext cx="16800611" cy="425054"/>
            <a:chOff x="0" y="0"/>
            <a:chExt cx="22400815" cy="56673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400816" cy="566738"/>
            </a:xfrm>
            <a:custGeom>
              <a:avLst/>
              <a:gdLst/>
              <a:ahLst/>
              <a:cxnLst/>
              <a:rect l="l" t="t" r="r" b="b"/>
              <a:pathLst>
                <a:path w="22400816" h="566738">
                  <a:moveTo>
                    <a:pt x="0" y="0"/>
                  </a:moveTo>
                  <a:lnTo>
                    <a:pt x="22400816" y="0"/>
                  </a:lnTo>
                  <a:lnTo>
                    <a:pt x="22400816" y="566738"/>
                  </a:lnTo>
                  <a:lnTo>
                    <a:pt x="0" y="5667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95250"/>
              <a:ext cx="22400815" cy="6619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12"/>
                </a:lnSpc>
              </a:pPr>
              <a:r>
                <a:rPr lang="en-US" sz="2062" spc="-33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Variables &amp; parameters are essential for storing and working with data.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43694" y="2233018"/>
            <a:ext cx="16800611" cy="425054"/>
            <a:chOff x="0" y="0"/>
            <a:chExt cx="22400815" cy="56673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2400816" cy="566738"/>
            </a:xfrm>
            <a:custGeom>
              <a:avLst/>
              <a:gdLst/>
              <a:ahLst/>
              <a:cxnLst/>
              <a:rect l="l" t="t" r="r" b="b"/>
              <a:pathLst>
                <a:path w="22400816" h="566738">
                  <a:moveTo>
                    <a:pt x="0" y="0"/>
                  </a:moveTo>
                  <a:lnTo>
                    <a:pt x="22400816" y="0"/>
                  </a:lnTo>
                  <a:lnTo>
                    <a:pt x="22400816" y="566738"/>
                  </a:lnTo>
                  <a:lnTo>
                    <a:pt x="0" y="5667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95250"/>
              <a:ext cx="22400815" cy="6619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12"/>
                </a:lnSpc>
              </a:pPr>
              <a:r>
                <a:rPr lang="en-US" sz="2062" spc="-33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Variables are </a:t>
              </a:r>
              <a:r>
                <a:rPr lang="en-US" sz="2062" b="1" spc="-33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used to store values</a:t>
              </a:r>
              <a:r>
                <a:rPr lang="en-US" sz="2062" spc="-33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 that can be used later in the script. [Types: Local &amp; Global]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43694" y="2897089"/>
            <a:ext cx="16800611" cy="425054"/>
            <a:chOff x="0" y="0"/>
            <a:chExt cx="22400815" cy="56673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2400816" cy="566738"/>
            </a:xfrm>
            <a:custGeom>
              <a:avLst/>
              <a:gdLst/>
              <a:ahLst/>
              <a:cxnLst/>
              <a:rect l="l" t="t" r="r" b="b"/>
              <a:pathLst>
                <a:path w="22400816" h="566738">
                  <a:moveTo>
                    <a:pt x="0" y="0"/>
                  </a:moveTo>
                  <a:lnTo>
                    <a:pt x="22400816" y="0"/>
                  </a:lnTo>
                  <a:lnTo>
                    <a:pt x="22400816" y="566738"/>
                  </a:lnTo>
                  <a:lnTo>
                    <a:pt x="0" y="5667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95250"/>
              <a:ext cx="22400815" cy="6619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12"/>
                </a:lnSpc>
              </a:pPr>
              <a:r>
                <a:rPr lang="en-US" sz="2062" spc="-33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Parameters are special types of variables that can be </a:t>
              </a:r>
              <a:r>
                <a:rPr lang="en-US" sz="2062" b="1" spc="-33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used to pass information</a:t>
              </a:r>
              <a:r>
                <a:rPr lang="en-US" sz="2062" spc="-33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 to scripts or functions.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48047" y="3561160"/>
            <a:ext cx="28575" cy="6139606"/>
            <a:chOff x="0" y="0"/>
            <a:chExt cx="38100" cy="818614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8100" cy="8186166"/>
            </a:xfrm>
            <a:custGeom>
              <a:avLst/>
              <a:gdLst/>
              <a:ahLst/>
              <a:cxnLst/>
              <a:rect l="l" t="t" r="r" b="b"/>
              <a:pathLst>
                <a:path w="38100" h="8186166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8167116"/>
                  </a:lnTo>
                  <a:cubicBezTo>
                    <a:pt x="38100" y="8177657"/>
                    <a:pt x="29591" y="8186166"/>
                    <a:pt x="19050" y="8186166"/>
                  </a:cubicBezTo>
                  <a:cubicBezTo>
                    <a:pt x="8509" y="8186166"/>
                    <a:pt x="0" y="8177657"/>
                    <a:pt x="0" y="8167116"/>
                  </a:cubicBezTo>
                  <a:close/>
                </a:path>
              </a:pathLst>
            </a:custGeom>
            <a:solidFill>
              <a:srgbClr val="C0C1D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272779" y="4024907"/>
            <a:ext cx="743694" cy="28575"/>
            <a:chOff x="0" y="0"/>
            <a:chExt cx="991592" cy="381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91616" cy="38100"/>
            </a:xfrm>
            <a:custGeom>
              <a:avLst/>
              <a:gdLst/>
              <a:ahLst/>
              <a:cxnLst/>
              <a:rect l="l" t="t" r="r" b="b"/>
              <a:pathLst>
                <a:path w="991616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972566" y="0"/>
                  </a:lnTo>
                  <a:cubicBezTo>
                    <a:pt x="983107" y="0"/>
                    <a:pt x="991616" y="8509"/>
                    <a:pt x="991616" y="19050"/>
                  </a:cubicBezTo>
                  <a:cubicBezTo>
                    <a:pt x="991616" y="29591"/>
                    <a:pt x="983107" y="38100"/>
                    <a:pt x="972566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6269D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18555" y="3795415"/>
            <a:ext cx="487561" cy="487561"/>
            <a:chOff x="0" y="0"/>
            <a:chExt cx="650082" cy="650082"/>
          </a:xfrm>
        </p:grpSpPr>
        <p:sp>
          <p:nvSpPr>
            <p:cNvPr id="27" name="Freeform 27"/>
            <p:cNvSpPr/>
            <p:nvPr/>
          </p:nvSpPr>
          <p:spPr>
            <a:xfrm>
              <a:off x="6350" y="6350"/>
              <a:ext cx="637413" cy="637413"/>
            </a:xfrm>
            <a:custGeom>
              <a:avLst/>
              <a:gdLst/>
              <a:ahLst/>
              <a:cxnLst/>
              <a:rect l="l" t="t" r="r" b="b"/>
              <a:pathLst>
                <a:path w="637413" h="637413">
                  <a:moveTo>
                    <a:pt x="0" y="118999"/>
                  </a:moveTo>
                  <a:cubicBezTo>
                    <a:pt x="0" y="53340"/>
                    <a:pt x="53340" y="0"/>
                    <a:pt x="118999" y="0"/>
                  </a:cubicBezTo>
                  <a:lnTo>
                    <a:pt x="518414" y="0"/>
                  </a:lnTo>
                  <a:cubicBezTo>
                    <a:pt x="584200" y="0"/>
                    <a:pt x="637413" y="53340"/>
                    <a:pt x="637413" y="118999"/>
                  </a:cubicBezTo>
                  <a:lnTo>
                    <a:pt x="637413" y="518414"/>
                  </a:lnTo>
                  <a:cubicBezTo>
                    <a:pt x="637413" y="584200"/>
                    <a:pt x="584073" y="637413"/>
                    <a:pt x="518414" y="637413"/>
                  </a:cubicBezTo>
                  <a:lnTo>
                    <a:pt x="118999" y="637413"/>
                  </a:lnTo>
                  <a:cubicBezTo>
                    <a:pt x="53340" y="637413"/>
                    <a:pt x="0" y="584073"/>
                    <a:pt x="0" y="518414"/>
                  </a:cubicBezTo>
                  <a:close/>
                </a:path>
              </a:pathLst>
            </a:custGeom>
            <a:solidFill>
              <a:srgbClr val="4950B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8"/>
            <p:cNvSpPr/>
            <p:nvPr/>
          </p:nvSpPr>
          <p:spPr>
            <a:xfrm>
              <a:off x="0" y="0"/>
              <a:ext cx="650113" cy="650113"/>
            </a:xfrm>
            <a:custGeom>
              <a:avLst/>
              <a:gdLst/>
              <a:ahLst/>
              <a:cxnLst/>
              <a:rect l="l" t="t" r="r" b="b"/>
              <a:pathLst>
                <a:path w="650113" h="650113">
                  <a:moveTo>
                    <a:pt x="0" y="125349"/>
                  </a:moveTo>
                  <a:cubicBezTo>
                    <a:pt x="0" y="56134"/>
                    <a:pt x="56134" y="0"/>
                    <a:pt x="125349" y="0"/>
                  </a:cubicBezTo>
                  <a:lnTo>
                    <a:pt x="524764" y="0"/>
                  </a:lnTo>
                  <a:lnTo>
                    <a:pt x="524764" y="6350"/>
                  </a:lnTo>
                  <a:lnTo>
                    <a:pt x="524764" y="0"/>
                  </a:lnTo>
                  <a:cubicBezTo>
                    <a:pt x="593979" y="0"/>
                    <a:pt x="650113" y="56134"/>
                    <a:pt x="650113" y="125349"/>
                  </a:cubicBezTo>
                  <a:lnTo>
                    <a:pt x="643763" y="125349"/>
                  </a:lnTo>
                  <a:lnTo>
                    <a:pt x="650113" y="125349"/>
                  </a:lnTo>
                  <a:lnTo>
                    <a:pt x="650113" y="524764"/>
                  </a:lnTo>
                  <a:lnTo>
                    <a:pt x="643763" y="524764"/>
                  </a:lnTo>
                  <a:lnTo>
                    <a:pt x="650113" y="524764"/>
                  </a:lnTo>
                  <a:cubicBezTo>
                    <a:pt x="650113" y="593979"/>
                    <a:pt x="593979" y="650113"/>
                    <a:pt x="524764" y="650113"/>
                  </a:cubicBezTo>
                  <a:lnTo>
                    <a:pt x="524764" y="643763"/>
                  </a:lnTo>
                  <a:lnTo>
                    <a:pt x="524764" y="650113"/>
                  </a:lnTo>
                  <a:lnTo>
                    <a:pt x="125349" y="650113"/>
                  </a:lnTo>
                  <a:lnTo>
                    <a:pt x="125349" y="643763"/>
                  </a:lnTo>
                  <a:lnTo>
                    <a:pt x="125349" y="650113"/>
                  </a:lnTo>
                  <a:cubicBezTo>
                    <a:pt x="56134" y="650113"/>
                    <a:pt x="0" y="593979"/>
                    <a:pt x="0" y="524764"/>
                  </a:cubicBezTo>
                  <a:lnTo>
                    <a:pt x="0" y="125349"/>
                  </a:lnTo>
                  <a:lnTo>
                    <a:pt x="6350" y="125349"/>
                  </a:lnTo>
                  <a:lnTo>
                    <a:pt x="0" y="125349"/>
                  </a:lnTo>
                  <a:moveTo>
                    <a:pt x="12700" y="125349"/>
                  </a:moveTo>
                  <a:lnTo>
                    <a:pt x="12700" y="524764"/>
                  </a:lnTo>
                  <a:lnTo>
                    <a:pt x="6350" y="524764"/>
                  </a:lnTo>
                  <a:lnTo>
                    <a:pt x="12700" y="524764"/>
                  </a:lnTo>
                  <a:cubicBezTo>
                    <a:pt x="12700" y="586994"/>
                    <a:pt x="63119" y="637413"/>
                    <a:pt x="125349" y="637413"/>
                  </a:cubicBezTo>
                  <a:lnTo>
                    <a:pt x="524764" y="637413"/>
                  </a:lnTo>
                  <a:cubicBezTo>
                    <a:pt x="586994" y="637413"/>
                    <a:pt x="637413" y="586994"/>
                    <a:pt x="637413" y="524764"/>
                  </a:cubicBezTo>
                  <a:lnTo>
                    <a:pt x="637413" y="125349"/>
                  </a:lnTo>
                  <a:cubicBezTo>
                    <a:pt x="637413" y="63119"/>
                    <a:pt x="586994" y="12700"/>
                    <a:pt x="524764" y="12700"/>
                  </a:cubicBezTo>
                  <a:lnTo>
                    <a:pt x="125349" y="12700"/>
                  </a:lnTo>
                  <a:lnTo>
                    <a:pt x="125349" y="6350"/>
                  </a:lnTo>
                  <a:lnTo>
                    <a:pt x="125349" y="12700"/>
                  </a:lnTo>
                  <a:cubicBezTo>
                    <a:pt x="63119" y="12700"/>
                    <a:pt x="12700" y="63119"/>
                    <a:pt x="12700" y="125349"/>
                  </a:cubicBezTo>
                  <a:close/>
                </a:path>
              </a:pathLst>
            </a:custGeom>
            <a:solidFill>
              <a:srgbClr val="6269D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98339" y="3879800"/>
            <a:ext cx="127844" cy="318790"/>
            <a:chOff x="0" y="0"/>
            <a:chExt cx="170458" cy="425053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70458" cy="425053"/>
            </a:xfrm>
            <a:custGeom>
              <a:avLst/>
              <a:gdLst/>
              <a:ahLst/>
              <a:cxnLst/>
              <a:rect l="l" t="t" r="r" b="b"/>
              <a:pathLst>
                <a:path w="170458" h="425053">
                  <a:moveTo>
                    <a:pt x="0" y="0"/>
                  </a:moveTo>
                  <a:lnTo>
                    <a:pt x="170458" y="0"/>
                  </a:lnTo>
                  <a:lnTo>
                    <a:pt x="170458" y="425053"/>
                  </a:lnTo>
                  <a:lnTo>
                    <a:pt x="0" y="42505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47625"/>
              <a:ext cx="170458" cy="3774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99"/>
                </a:lnSpc>
              </a:pPr>
              <a:r>
                <a:rPr lang="en-US" sz="2499" b="1" spc="-74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2231082" y="3773538"/>
            <a:ext cx="3187452" cy="398412"/>
            <a:chOff x="0" y="0"/>
            <a:chExt cx="4249937" cy="531217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249937" cy="531217"/>
            </a:xfrm>
            <a:custGeom>
              <a:avLst/>
              <a:gdLst/>
              <a:ahLst/>
              <a:cxnLst/>
              <a:rect l="l" t="t" r="r" b="b"/>
              <a:pathLst>
                <a:path w="4249937" h="531217">
                  <a:moveTo>
                    <a:pt x="0" y="0"/>
                  </a:moveTo>
                  <a:lnTo>
                    <a:pt x="4249937" y="0"/>
                  </a:lnTo>
                  <a:lnTo>
                    <a:pt x="4249937" y="531217"/>
                  </a:lnTo>
                  <a:lnTo>
                    <a:pt x="0" y="5312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19050"/>
              <a:ext cx="4249937" cy="55026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4"/>
                </a:lnSpc>
              </a:pPr>
              <a:r>
                <a:rPr lang="en-US" sz="2499" b="1" spc="-74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Global Variables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2231082" y="4299348"/>
            <a:ext cx="15313224" cy="425054"/>
            <a:chOff x="0" y="0"/>
            <a:chExt cx="20417632" cy="566738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0417631" cy="566738"/>
            </a:xfrm>
            <a:custGeom>
              <a:avLst/>
              <a:gdLst/>
              <a:ahLst/>
              <a:cxnLst/>
              <a:rect l="l" t="t" r="r" b="b"/>
              <a:pathLst>
                <a:path w="20417631" h="566738">
                  <a:moveTo>
                    <a:pt x="0" y="0"/>
                  </a:moveTo>
                  <a:lnTo>
                    <a:pt x="20417631" y="0"/>
                  </a:lnTo>
                  <a:lnTo>
                    <a:pt x="20417631" y="566738"/>
                  </a:lnTo>
                  <a:lnTo>
                    <a:pt x="0" y="5667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95250"/>
              <a:ext cx="20417632" cy="6619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12"/>
                </a:lnSpc>
              </a:pPr>
              <a:r>
                <a:rPr lang="en-US" sz="2062" spc="-33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Accessible </a:t>
              </a:r>
              <a:r>
                <a:rPr lang="en-US" sz="2062" u="sng" spc="-33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throughout</a:t>
              </a:r>
              <a:r>
                <a:rPr lang="en-US" sz="2062" spc="-33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 the script.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272779" y="5612904"/>
            <a:ext cx="743694" cy="28575"/>
            <a:chOff x="0" y="0"/>
            <a:chExt cx="991592" cy="381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991616" cy="38100"/>
            </a:xfrm>
            <a:custGeom>
              <a:avLst/>
              <a:gdLst/>
              <a:ahLst/>
              <a:cxnLst/>
              <a:rect l="l" t="t" r="r" b="b"/>
              <a:pathLst>
                <a:path w="991616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972566" y="0"/>
                  </a:lnTo>
                  <a:cubicBezTo>
                    <a:pt x="983107" y="0"/>
                    <a:pt x="991616" y="8509"/>
                    <a:pt x="991616" y="19050"/>
                  </a:cubicBezTo>
                  <a:cubicBezTo>
                    <a:pt x="991616" y="29591"/>
                    <a:pt x="983107" y="38100"/>
                    <a:pt x="972566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6269D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818555" y="5383411"/>
            <a:ext cx="487561" cy="487561"/>
            <a:chOff x="0" y="0"/>
            <a:chExt cx="650082" cy="650082"/>
          </a:xfrm>
        </p:grpSpPr>
        <p:sp>
          <p:nvSpPr>
            <p:cNvPr id="41" name="Freeform 41"/>
            <p:cNvSpPr/>
            <p:nvPr/>
          </p:nvSpPr>
          <p:spPr>
            <a:xfrm>
              <a:off x="6350" y="6350"/>
              <a:ext cx="637413" cy="637413"/>
            </a:xfrm>
            <a:custGeom>
              <a:avLst/>
              <a:gdLst/>
              <a:ahLst/>
              <a:cxnLst/>
              <a:rect l="l" t="t" r="r" b="b"/>
              <a:pathLst>
                <a:path w="637413" h="637413">
                  <a:moveTo>
                    <a:pt x="0" y="118999"/>
                  </a:moveTo>
                  <a:cubicBezTo>
                    <a:pt x="0" y="53340"/>
                    <a:pt x="53340" y="0"/>
                    <a:pt x="118999" y="0"/>
                  </a:cubicBezTo>
                  <a:lnTo>
                    <a:pt x="518414" y="0"/>
                  </a:lnTo>
                  <a:cubicBezTo>
                    <a:pt x="584200" y="0"/>
                    <a:pt x="637413" y="53340"/>
                    <a:pt x="637413" y="118999"/>
                  </a:cubicBezTo>
                  <a:lnTo>
                    <a:pt x="637413" y="518414"/>
                  </a:lnTo>
                  <a:cubicBezTo>
                    <a:pt x="637413" y="584200"/>
                    <a:pt x="584073" y="637413"/>
                    <a:pt x="518414" y="637413"/>
                  </a:cubicBezTo>
                  <a:lnTo>
                    <a:pt x="118999" y="637413"/>
                  </a:lnTo>
                  <a:cubicBezTo>
                    <a:pt x="53340" y="637413"/>
                    <a:pt x="0" y="584073"/>
                    <a:pt x="0" y="518414"/>
                  </a:cubicBezTo>
                  <a:close/>
                </a:path>
              </a:pathLst>
            </a:custGeom>
            <a:solidFill>
              <a:srgbClr val="4950B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42"/>
            <p:cNvSpPr/>
            <p:nvPr/>
          </p:nvSpPr>
          <p:spPr>
            <a:xfrm>
              <a:off x="0" y="0"/>
              <a:ext cx="650113" cy="650113"/>
            </a:xfrm>
            <a:custGeom>
              <a:avLst/>
              <a:gdLst/>
              <a:ahLst/>
              <a:cxnLst/>
              <a:rect l="l" t="t" r="r" b="b"/>
              <a:pathLst>
                <a:path w="650113" h="650113">
                  <a:moveTo>
                    <a:pt x="0" y="125349"/>
                  </a:moveTo>
                  <a:cubicBezTo>
                    <a:pt x="0" y="56134"/>
                    <a:pt x="56134" y="0"/>
                    <a:pt x="125349" y="0"/>
                  </a:cubicBezTo>
                  <a:lnTo>
                    <a:pt x="524764" y="0"/>
                  </a:lnTo>
                  <a:lnTo>
                    <a:pt x="524764" y="6350"/>
                  </a:lnTo>
                  <a:lnTo>
                    <a:pt x="524764" y="0"/>
                  </a:lnTo>
                  <a:cubicBezTo>
                    <a:pt x="593979" y="0"/>
                    <a:pt x="650113" y="56134"/>
                    <a:pt x="650113" y="125349"/>
                  </a:cubicBezTo>
                  <a:lnTo>
                    <a:pt x="643763" y="125349"/>
                  </a:lnTo>
                  <a:lnTo>
                    <a:pt x="650113" y="125349"/>
                  </a:lnTo>
                  <a:lnTo>
                    <a:pt x="650113" y="524764"/>
                  </a:lnTo>
                  <a:lnTo>
                    <a:pt x="643763" y="524764"/>
                  </a:lnTo>
                  <a:lnTo>
                    <a:pt x="650113" y="524764"/>
                  </a:lnTo>
                  <a:cubicBezTo>
                    <a:pt x="650113" y="593979"/>
                    <a:pt x="593979" y="650113"/>
                    <a:pt x="524764" y="650113"/>
                  </a:cubicBezTo>
                  <a:lnTo>
                    <a:pt x="524764" y="643763"/>
                  </a:lnTo>
                  <a:lnTo>
                    <a:pt x="524764" y="650113"/>
                  </a:lnTo>
                  <a:lnTo>
                    <a:pt x="125349" y="650113"/>
                  </a:lnTo>
                  <a:lnTo>
                    <a:pt x="125349" y="643763"/>
                  </a:lnTo>
                  <a:lnTo>
                    <a:pt x="125349" y="650113"/>
                  </a:lnTo>
                  <a:cubicBezTo>
                    <a:pt x="56134" y="650113"/>
                    <a:pt x="0" y="593979"/>
                    <a:pt x="0" y="524764"/>
                  </a:cubicBezTo>
                  <a:lnTo>
                    <a:pt x="0" y="125349"/>
                  </a:lnTo>
                  <a:lnTo>
                    <a:pt x="6350" y="125349"/>
                  </a:lnTo>
                  <a:lnTo>
                    <a:pt x="0" y="125349"/>
                  </a:lnTo>
                  <a:moveTo>
                    <a:pt x="12700" y="125349"/>
                  </a:moveTo>
                  <a:lnTo>
                    <a:pt x="12700" y="524764"/>
                  </a:lnTo>
                  <a:lnTo>
                    <a:pt x="6350" y="524764"/>
                  </a:lnTo>
                  <a:lnTo>
                    <a:pt x="12700" y="524764"/>
                  </a:lnTo>
                  <a:cubicBezTo>
                    <a:pt x="12700" y="586994"/>
                    <a:pt x="63119" y="637413"/>
                    <a:pt x="125349" y="637413"/>
                  </a:cubicBezTo>
                  <a:lnTo>
                    <a:pt x="524764" y="637413"/>
                  </a:lnTo>
                  <a:cubicBezTo>
                    <a:pt x="586994" y="637413"/>
                    <a:pt x="637413" y="586994"/>
                    <a:pt x="637413" y="524764"/>
                  </a:cubicBezTo>
                  <a:lnTo>
                    <a:pt x="637413" y="125349"/>
                  </a:lnTo>
                  <a:cubicBezTo>
                    <a:pt x="637413" y="63119"/>
                    <a:pt x="586994" y="12700"/>
                    <a:pt x="524764" y="12700"/>
                  </a:cubicBezTo>
                  <a:lnTo>
                    <a:pt x="125349" y="12700"/>
                  </a:lnTo>
                  <a:lnTo>
                    <a:pt x="125349" y="6350"/>
                  </a:lnTo>
                  <a:lnTo>
                    <a:pt x="125349" y="12700"/>
                  </a:lnTo>
                  <a:cubicBezTo>
                    <a:pt x="63119" y="12700"/>
                    <a:pt x="12700" y="63119"/>
                    <a:pt x="12700" y="125349"/>
                  </a:cubicBezTo>
                  <a:close/>
                </a:path>
              </a:pathLst>
            </a:custGeom>
            <a:solidFill>
              <a:srgbClr val="6269D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66787" y="5467796"/>
            <a:ext cx="191095" cy="318790"/>
            <a:chOff x="0" y="0"/>
            <a:chExt cx="254793" cy="425053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254793" cy="425053"/>
            </a:xfrm>
            <a:custGeom>
              <a:avLst/>
              <a:gdLst/>
              <a:ahLst/>
              <a:cxnLst/>
              <a:rect l="l" t="t" r="r" b="b"/>
              <a:pathLst>
                <a:path w="254793" h="425053">
                  <a:moveTo>
                    <a:pt x="0" y="0"/>
                  </a:moveTo>
                  <a:lnTo>
                    <a:pt x="254793" y="0"/>
                  </a:lnTo>
                  <a:lnTo>
                    <a:pt x="254793" y="425053"/>
                  </a:lnTo>
                  <a:lnTo>
                    <a:pt x="0" y="42505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47625"/>
              <a:ext cx="254793" cy="3774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99"/>
                </a:lnSpc>
              </a:pPr>
              <a:r>
                <a:rPr lang="en-US" sz="2499" b="1" spc="-74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2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2231082" y="5361534"/>
            <a:ext cx="3187452" cy="398413"/>
            <a:chOff x="0" y="0"/>
            <a:chExt cx="4249937" cy="531217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4249937" cy="531217"/>
            </a:xfrm>
            <a:custGeom>
              <a:avLst/>
              <a:gdLst/>
              <a:ahLst/>
              <a:cxnLst/>
              <a:rect l="l" t="t" r="r" b="b"/>
              <a:pathLst>
                <a:path w="4249937" h="531217">
                  <a:moveTo>
                    <a:pt x="0" y="0"/>
                  </a:moveTo>
                  <a:lnTo>
                    <a:pt x="4249937" y="0"/>
                  </a:lnTo>
                  <a:lnTo>
                    <a:pt x="4249937" y="531217"/>
                  </a:lnTo>
                  <a:lnTo>
                    <a:pt x="0" y="5312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19050"/>
              <a:ext cx="4249937" cy="55026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4"/>
                </a:lnSpc>
              </a:pPr>
              <a:r>
                <a:rPr lang="en-US" sz="2499" b="1" spc="-74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Local Variables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2231082" y="5887342"/>
            <a:ext cx="15313224" cy="425054"/>
            <a:chOff x="0" y="0"/>
            <a:chExt cx="20417632" cy="566738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20417631" cy="566738"/>
            </a:xfrm>
            <a:custGeom>
              <a:avLst/>
              <a:gdLst/>
              <a:ahLst/>
              <a:cxnLst/>
              <a:rect l="l" t="t" r="r" b="b"/>
              <a:pathLst>
                <a:path w="20417631" h="566738">
                  <a:moveTo>
                    <a:pt x="0" y="0"/>
                  </a:moveTo>
                  <a:lnTo>
                    <a:pt x="20417631" y="0"/>
                  </a:lnTo>
                  <a:lnTo>
                    <a:pt x="20417631" y="566738"/>
                  </a:lnTo>
                  <a:lnTo>
                    <a:pt x="0" y="5667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95250"/>
              <a:ext cx="20417632" cy="6619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12"/>
                </a:lnSpc>
              </a:pPr>
              <a:r>
                <a:rPr lang="en-US" sz="2062" spc="-33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Only accessible </a:t>
              </a:r>
              <a:r>
                <a:rPr lang="en-US" sz="2062" u="sng" spc="-33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within the function</a:t>
              </a:r>
              <a:r>
                <a:rPr lang="en-US" sz="2062" spc="-33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 where defined.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272779" y="7200900"/>
            <a:ext cx="743694" cy="28575"/>
            <a:chOff x="0" y="0"/>
            <a:chExt cx="991592" cy="3810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991616" cy="38100"/>
            </a:xfrm>
            <a:custGeom>
              <a:avLst/>
              <a:gdLst/>
              <a:ahLst/>
              <a:cxnLst/>
              <a:rect l="l" t="t" r="r" b="b"/>
              <a:pathLst>
                <a:path w="991616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972566" y="0"/>
                  </a:lnTo>
                  <a:cubicBezTo>
                    <a:pt x="983107" y="0"/>
                    <a:pt x="991616" y="8509"/>
                    <a:pt x="991616" y="19050"/>
                  </a:cubicBezTo>
                  <a:cubicBezTo>
                    <a:pt x="991616" y="29591"/>
                    <a:pt x="983107" y="38100"/>
                    <a:pt x="972566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6269D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818555" y="6971408"/>
            <a:ext cx="487561" cy="487561"/>
            <a:chOff x="0" y="0"/>
            <a:chExt cx="650082" cy="650082"/>
          </a:xfrm>
        </p:grpSpPr>
        <p:sp>
          <p:nvSpPr>
            <p:cNvPr id="55" name="Freeform 55"/>
            <p:cNvSpPr/>
            <p:nvPr/>
          </p:nvSpPr>
          <p:spPr>
            <a:xfrm>
              <a:off x="6350" y="6350"/>
              <a:ext cx="637413" cy="637413"/>
            </a:xfrm>
            <a:custGeom>
              <a:avLst/>
              <a:gdLst/>
              <a:ahLst/>
              <a:cxnLst/>
              <a:rect l="l" t="t" r="r" b="b"/>
              <a:pathLst>
                <a:path w="637413" h="637413">
                  <a:moveTo>
                    <a:pt x="0" y="118999"/>
                  </a:moveTo>
                  <a:cubicBezTo>
                    <a:pt x="0" y="53340"/>
                    <a:pt x="53340" y="0"/>
                    <a:pt x="118999" y="0"/>
                  </a:cubicBezTo>
                  <a:lnTo>
                    <a:pt x="518414" y="0"/>
                  </a:lnTo>
                  <a:cubicBezTo>
                    <a:pt x="584200" y="0"/>
                    <a:pt x="637413" y="53340"/>
                    <a:pt x="637413" y="118999"/>
                  </a:cubicBezTo>
                  <a:lnTo>
                    <a:pt x="637413" y="518414"/>
                  </a:lnTo>
                  <a:cubicBezTo>
                    <a:pt x="637413" y="584200"/>
                    <a:pt x="584073" y="637413"/>
                    <a:pt x="518414" y="637413"/>
                  </a:cubicBezTo>
                  <a:lnTo>
                    <a:pt x="118999" y="637413"/>
                  </a:lnTo>
                  <a:cubicBezTo>
                    <a:pt x="53340" y="637413"/>
                    <a:pt x="0" y="584073"/>
                    <a:pt x="0" y="518414"/>
                  </a:cubicBezTo>
                  <a:close/>
                </a:path>
              </a:pathLst>
            </a:custGeom>
            <a:solidFill>
              <a:srgbClr val="4950B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56"/>
            <p:cNvSpPr/>
            <p:nvPr/>
          </p:nvSpPr>
          <p:spPr>
            <a:xfrm>
              <a:off x="0" y="0"/>
              <a:ext cx="650113" cy="650113"/>
            </a:xfrm>
            <a:custGeom>
              <a:avLst/>
              <a:gdLst/>
              <a:ahLst/>
              <a:cxnLst/>
              <a:rect l="l" t="t" r="r" b="b"/>
              <a:pathLst>
                <a:path w="650113" h="650113">
                  <a:moveTo>
                    <a:pt x="0" y="125349"/>
                  </a:moveTo>
                  <a:cubicBezTo>
                    <a:pt x="0" y="56134"/>
                    <a:pt x="56134" y="0"/>
                    <a:pt x="125349" y="0"/>
                  </a:cubicBezTo>
                  <a:lnTo>
                    <a:pt x="524764" y="0"/>
                  </a:lnTo>
                  <a:lnTo>
                    <a:pt x="524764" y="6350"/>
                  </a:lnTo>
                  <a:lnTo>
                    <a:pt x="524764" y="0"/>
                  </a:lnTo>
                  <a:cubicBezTo>
                    <a:pt x="593979" y="0"/>
                    <a:pt x="650113" y="56134"/>
                    <a:pt x="650113" y="125349"/>
                  </a:cubicBezTo>
                  <a:lnTo>
                    <a:pt x="643763" y="125349"/>
                  </a:lnTo>
                  <a:lnTo>
                    <a:pt x="650113" y="125349"/>
                  </a:lnTo>
                  <a:lnTo>
                    <a:pt x="650113" y="524764"/>
                  </a:lnTo>
                  <a:lnTo>
                    <a:pt x="643763" y="524764"/>
                  </a:lnTo>
                  <a:lnTo>
                    <a:pt x="650113" y="524764"/>
                  </a:lnTo>
                  <a:cubicBezTo>
                    <a:pt x="650113" y="593979"/>
                    <a:pt x="593979" y="650113"/>
                    <a:pt x="524764" y="650113"/>
                  </a:cubicBezTo>
                  <a:lnTo>
                    <a:pt x="524764" y="643763"/>
                  </a:lnTo>
                  <a:lnTo>
                    <a:pt x="524764" y="650113"/>
                  </a:lnTo>
                  <a:lnTo>
                    <a:pt x="125349" y="650113"/>
                  </a:lnTo>
                  <a:lnTo>
                    <a:pt x="125349" y="643763"/>
                  </a:lnTo>
                  <a:lnTo>
                    <a:pt x="125349" y="650113"/>
                  </a:lnTo>
                  <a:cubicBezTo>
                    <a:pt x="56134" y="650113"/>
                    <a:pt x="0" y="593979"/>
                    <a:pt x="0" y="524764"/>
                  </a:cubicBezTo>
                  <a:lnTo>
                    <a:pt x="0" y="125349"/>
                  </a:lnTo>
                  <a:lnTo>
                    <a:pt x="6350" y="125349"/>
                  </a:lnTo>
                  <a:lnTo>
                    <a:pt x="0" y="125349"/>
                  </a:lnTo>
                  <a:moveTo>
                    <a:pt x="12700" y="125349"/>
                  </a:moveTo>
                  <a:lnTo>
                    <a:pt x="12700" y="524764"/>
                  </a:lnTo>
                  <a:lnTo>
                    <a:pt x="6350" y="524764"/>
                  </a:lnTo>
                  <a:lnTo>
                    <a:pt x="12700" y="524764"/>
                  </a:lnTo>
                  <a:cubicBezTo>
                    <a:pt x="12700" y="586994"/>
                    <a:pt x="63119" y="637413"/>
                    <a:pt x="125349" y="637413"/>
                  </a:cubicBezTo>
                  <a:lnTo>
                    <a:pt x="524764" y="637413"/>
                  </a:lnTo>
                  <a:cubicBezTo>
                    <a:pt x="586994" y="637413"/>
                    <a:pt x="637413" y="586994"/>
                    <a:pt x="637413" y="524764"/>
                  </a:cubicBezTo>
                  <a:lnTo>
                    <a:pt x="637413" y="125349"/>
                  </a:lnTo>
                  <a:cubicBezTo>
                    <a:pt x="637413" y="63119"/>
                    <a:pt x="586994" y="12700"/>
                    <a:pt x="524764" y="12700"/>
                  </a:cubicBezTo>
                  <a:lnTo>
                    <a:pt x="125349" y="12700"/>
                  </a:lnTo>
                  <a:lnTo>
                    <a:pt x="125349" y="6350"/>
                  </a:lnTo>
                  <a:lnTo>
                    <a:pt x="125349" y="12700"/>
                  </a:lnTo>
                  <a:cubicBezTo>
                    <a:pt x="63119" y="12700"/>
                    <a:pt x="12700" y="63119"/>
                    <a:pt x="12700" y="125349"/>
                  </a:cubicBezTo>
                  <a:close/>
                </a:path>
              </a:pathLst>
            </a:custGeom>
            <a:solidFill>
              <a:srgbClr val="6269D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964258" y="7055792"/>
            <a:ext cx="196155" cy="318790"/>
            <a:chOff x="0" y="0"/>
            <a:chExt cx="261540" cy="425053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261540" cy="425053"/>
            </a:xfrm>
            <a:custGeom>
              <a:avLst/>
              <a:gdLst/>
              <a:ahLst/>
              <a:cxnLst/>
              <a:rect l="l" t="t" r="r" b="b"/>
              <a:pathLst>
                <a:path w="261540" h="425053">
                  <a:moveTo>
                    <a:pt x="0" y="0"/>
                  </a:moveTo>
                  <a:lnTo>
                    <a:pt x="261540" y="0"/>
                  </a:lnTo>
                  <a:lnTo>
                    <a:pt x="261540" y="425053"/>
                  </a:lnTo>
                  <a:lnTo>
                    <a:pt x="0" y="42505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0" y="47625"/>
              <a:ext cx="261540" cy="3774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99"/>
                </a:lnSpc>
              </a:pPr>
              <a:r>
                <a:rPr lang="en-US" sz="2499" b="1" spc="-74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3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2231082" y="6880231"/>
            <a:ext cx="4882740" cy="537008"/>
            <a:chOff x="0" y="0"/>
            <a:chExt cx="6510319" cy="716011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6510320" cy="716011"/>
            </a:xfrm>
            <a:custGeom>
              <a:avLst/>
              <a:gdLst/>
              <a:ahLst/>
              <a:cxnLst/>
              <a:rect l="l" t="t" r="r" b="b"/>
              <a:pathLst>
                <a:path w="6510320" h="716011">
                  <a:moveTo>
                    <a:pt x="0" y="0"/>
                  </a:moveTo>
                  <a:lnTo>
                    <a:pt x="6510320" y="0"/>
                  </a:lnTo>
                  <a:lnTo>
                    <a:pt x="6510320" y="716011"/>
                  </a:lnTo>
                  <a:lnTo>
                    <a:pt x="0" y="71601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0" y="-19050"/>
              <a:ext cx="6510319" cy="7350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4"/>
                </a:lnSpc>
              </a:pPr>
              <a:r>
                <a:rPr lang="en-US" sz="2499" b="1" spc="-74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Command-Line Arguments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2231082" y="7475339"/>
            <a:ext cx="15313224" cy="425054"/>
            <a:chOff x="0" y="0"/>
            <a:chExt cx="20417632" cy="566738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20417631" cy="566738"/>
            </a:xfrm>
            <a:custGeom>
              <a:avLst/>
              <a:gdLst/>
              <a:ahLst/>
              <a:cxnLst/>
              <a:rect l="l" t="t" r="r" b="b"/>
              <a:pathLst>
                <a:path w="20417631" h="566738">
                  <a:moveTo>
                    <a:pt x="0" y="0"/>
                  </a:moveTo>
                  <a:lnTo>
                    <a:pt x="20417631" y="0"/>
                  </a:lnTo>
                  <a:lnTo>
                    <a:pt x="20417631" y="566738"/>
                  </a:lnTo>
                  <a:lnTo>
                    <a:pt x="0" y="5667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0" y="-95250"/>
              <a:ext cx="20417632" cy="6619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12"/>
                </a:lnSpc>
              </a:pPr>
              <a:r>
                <a:rPr lang="en-US" sz="2062" spc="-33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Stored in special variables like $1, $2 and passing them while execution.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272779" y="8788896"/>
            <a:ext cx="743694" cy="28575"/>
            <a:chOff x="0" y="0"/>
            <a:chExt cx="991592" cy="3810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991616" cy="38100"/>
            </a:xfrm>
            <a:custGeom>
              <a:avLst/>
              <a:gdLst/>
              <a:ahLst/>
              <a:cxnLst/>
              <a:rect l="l" t="t" r="r" b="b"/>
              <a:pathLst>
                <a:path w="991616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972566" y="0"/>
                  </a:lnTo>
                  <a:cubicBezTo>
                    <a:pt x="983107" y="0"/>
                    <a:pt x="991616" y="8509"/>
                    <a:pt x="991616" y="19050"/>
                  </a:cubicBezTo>
                  <a:cubicBezTo>
                    <a:pt x="991616" y="29591"/>
                    <a:pt x="983107" y="38100"/>
                    <a:pt x="972566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6269D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818555" y="8559404"/>
            <a:ext cx="487561" cy="487561"/>
            <a:chOff x="0" y="0"/>
            <a:chExt cx="650082" cy="650082"/>
          </a:xfrm>
        </p:grpSpPr>
        <p:sp>
          <p:nvSpPr>
            <p:cNvPr id="69" name="Freeform 69"/>
            <p:cNvSpPr/>
            <p:nvPr/>
          </p:nvSpPr>
          <p:spPr>
            <a:xfrm>
              <a:off x="6350" y="6350"/>
              <a:ext cx="637413" cy="637413"/>
            </a:xfrm>
            <a:custGeom>
              <a:avLst/>
              <a:gdLst/>
              <a:ahLst/>
              <a:cxnLst/>
              <a:rect l="l" t="t" r="r" b="b"/>
              <a:pathLst>
                <a:path w="637413" h="637413">
                  <a:moveTo>
                    <a:pt x="0" y="118999"/>
                  </a:moveTo>
                  <a:cubicBezTo>
                    <a:pt x="0" y="53340"/>
                    <a:pt x="53340" y="0"/>
                    <a:pt x="118999" y="0"/>
                  </a:cubicBezTo>
                  <a:lnTo>
                    <a:pt x="518414" y="0"/>
                  </a:lnTo>
                  <a:cubicBezTo>
                    <a:pt x="584200" y="0"/>
                    <a:pt x="637413" y="53340"/>
                    <a:pt x="637413" y="118999"/>
                  </a:cubicBezTo>
                  <a:lnTo>
                    <a:pt x="637413" y="518414"/>
                  </a:lnTo>
                  <a:cubicBezTo>
                    <a:pt x="637413" y="584200"/>
                    <a:pt x="584073" y="637413"/>
                    <a:pt x="518414" y="637413"/>
                  </a:cubicBezTo>
                  <a:lnTo>
                    <a:pt x="118999" y="637413"/>
                  </a:lnTo>
                  <a:cubicBezTo>
                    <a:pt x="53340" y="637413"/>
                    <a:pt x="0" y="584073"/>
                    <a:pt x="0" y="518414"/>
                  </a:cubicBezTo>
                  <a:close/>
                </a:path>
              </a:pathLst>
            </a:custGeom>
            <a:solidFill>
              <a:srgbClr val="4950B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Freeform 70"/>
            <p:cNvSpPr/>
            <p:nvPr/>
          </p:nvSpPr>
          <p:spPr>
            <a:xfrm>
              <a:off x="0" y="0"/>
              <a:ext cx="650113" cy="650113"/>
            </a:xfrm>
            <a:custGeom>
              <a:avLst/>
              <a:gdLst/>
              <a:ahLst/>
              <a:cxnLst/>
              <a:rect l="l" t="t" r="r" b="b"/>
              <a:pathLst>
                <a:path w="650113" h="650113">
                  <a:moveTo>
                    <a:pt x="0" y="125349"/>
                  </a:moveTo>
                  <a:cubicBezTo>
                    <a:pt x="0" y="56134"/>
                    <a:pt x="56134" y="0"/>
                    <a:pt x="125349" y="0"/>
                  </a:cubicBezTo>
                  <a:lnTo>
                    <a:pt x="524764" y="0"/>
                  </a:lnTo>
                  <a:lnTo>
                    <a:pt x="524764" y="6350"/>
                  </a:lnTo>
                  <a:lnTo>
                    <a:pt x="524764" y="0"/>
                  </a:lnTo>
                  <a:cubicBezTo>
                    <a:pt x="593979" y="0"/>
                    <a:pt x="650113" y="56134"/>
                    <a:pt x="650113" y="125349"/>
                  </a:cubicBezTo>
                  <a:lnTo>
                    <a:pt x="643763" y="125349"/>
                  </a:lnTo>
                  <a:lnTo>
                    <a:pt x="650113" y="125349"/>
                  </a:lnTo>
                  <a:lnTo>
                    <a:pt x="650113" y="524764"/>
                  </a:lnTo>
                  <a:lnTo>
                    <a:pt x="643763" y="524764"/>
                  </a:lnTo>
                  <a:lnTo>
                    <a:pt x="650113" y="524764"/>
                  </a:lnTo>
                  <a:cubicBezTo>
                    <a:pt x="650113" y="593979"/>
                    <a:pt x="593979" y="650113"/>
                    <a:pt x="524764" y="650113"/>
                  </a:cubicBezTo>
                  <a:lnTo>
                    <a:pt x="524764" y="643763"/>
                  </a:lnTo>
                  <a:lnTo>
                    <a:pt x="524764" y="650113"/>
                  </a:lnTo>
                  <a:lnTo>
                    <a:pt x="125349" y="650113"/>
                  </a:lnTo>
                  <a:lnTo>
                    <a:pt x="125349" y="643763"/>
                  </a:lnTo>
                  <a:lnTo>
                    <a:pt x="125349" y="650113"/>
                  </a:lnTo>
                  <a:cubicBezTo>
                    <a:pt x="56134" y="650113"/>
                    <a:pt x="0" y="593979"/>
                    <a:pt x="0" y="524764"/>
                  </a:cubicBezTo>
                  <a:lnTo>
                    <a:pt x="0" y="125349"/>
                  </a:lnTo>
                  <a:lnTo>
                    <a:pt x="6350" y="125349"/>
                  </a:lnTo>
                  <a:lnTo>
                    <a:pt x="0" y="125349"/>
                  </a:lnTo>
                  <a:moveTo>
                    <a:pt x="12700" y="125349"/>
                  </a:moveTo>
                  <a:lnTo>
                    <a:pt x="12700" y="524764"/>
                  </a:lnTo>
                  <a:lnTo>
                    <a:pt x="6350" y="524764"/>
                  </a:lnTo>
                  <a:lnTo>
                    <a:pt x="12700" y="524764"/>
                  </a:lnTo>
                  <a:cubicBezTo>
                    <a:pt x="12700" y="586994"/>
                    <a:pt x="63119" y="637413"/>
                    <a:pt x="125349" y="637413"/>
                  </a:cubicBezTo>
                  <a:lnTo>
                    <a:pt x="524764" y="637413"/>
                  </a:lnTo>
                  <a:cubicBezTo>
                    <a:pt x="586994" y="637413"/>
                    <a:pt x="637413" y="586994"/>
                    <a:pt x="637413" y="524764"/>
                  </a:cubicBezTo>
                  <a:lnTo>
                    <a:pt x="637413" y="125349"/>
                  </a:lnTo>
                  <a:cubicBezTo>
                    <a:pt x="637413" y="63119"/>
                    <a:pt x="586994" y="12700"/>
                    <a:pt x="524764" y="12700"/>
                  </a:cubicBezTo>
                  <a:lnTo>
                    <a:pt x="125349" y="12700"/>
                  </a:lnTo>
                  <a:lnTo>
                    <a:pt x="125349" y="6350"/>
                  </a:lnTo>
                  <a:lnTo>
                    <a:pt x="125349" y="12700"/>
                  </a:lnTo>
                  <a:cubicBezTo>
                    <a:pt x="63119" y="12700"/>
                    <a:pt x="12700" y="63119"/>
                    <a:pt x="12700" y="125349"/>
                  </a:cubicBezTo>
                  <a:close/>
                </a:path>
              </a:pathLst>
            </a:custGeom>
            <a:solidFill>
              <a:srgbClr val="6269D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959346" y="8643789"/>
            <a:ext cx="205979" cy="318790"/>
            <a:chOff x="0" y="0"/>
            <a:chExt cx="274638" cy="425053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274638" cy="425053"/>
            </a:xfrm>
            <a:custGeom>
              <a:avLst/>
              <a:gdLst/>
              <a:ahLst/>
              <a:cxnLst/>
              <a:rect l="l" t="t" r="r" b="b"/>
              <a:pathLst>
                <a:path w="274638" h="425053">
                  <a:moveTo>
                    <a:pt x="0" y="0"/>
                  </a:moveTo>
                  <a:lnTo>
                    <a:pt x="274638" y="0"/>
                  </a:lnTo>
                  <a:lnTo>
                    <a:pt x="274638" y="425053"/>
                  </a:lnTo>
                  <a:lnTo>
                    <a:pt x="0" y="42505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0" y="47625"/>
              <a:ext cx="274638" cy="3774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99"/>
                </a:lnSpc>
              </a:pPr>
              <a:r>
                <a:rPr lang="en-US" sz="2499" b="1" spc="-74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4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2231082" y="8468227"/>
            <a:ext cx="4150422" cy="537008"/>
            <a:chOff x="0" y="0"/>
            <a:chExt cx="5533895" cy="716011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5533896" cy="716011"/>
            </a:xfrm>
            <a:custGeom>
              <a:avLst/>
              <a:gdLst/>
              <a:ahLst/>
              <a:cxnLst/>
              <a:rect l="l" t="t" r="r" b="b"/>
              <a:pathLst>
                <a:path w="5533896" h="716011">
                  <a:moveTo>
                    <a:pt x="0" y="0"/>
                  </a:moveTo>
                  <a:lnTo>
                    <a:pt x="5533896" y="0"/>
                  </a:lnTo>
                  <a:lnTo>
                    <a:pt x="5533896" y="716011"/>
                  </a:lnTo>
                  <a:lnTo>
                    <a:pt x="0" y="71601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0" y="-19050"/>
              <a:ext cx="5533895" cy="7350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4"/>
                </a:lnSpc>
              </a:pPr>
              <a:r>
                <a:rPr lang="en-US" sz="2499" b="1" spc="-74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Parameter Substitution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2231082" y="9063335"/>
            <a:ext cx="15313224" cy="425054"/>
            <a:chOff x="0" y="0"/>
            <a:chExt cx="20417632" cy="566738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20417631" cy="566738"/>
            </a:xfrm>
            <a:custGeom>
              <a:avLst/>
              <a:gdLst/>
              <a:ahLst/>
              <a:cxnLst/>
              <a:rect l="l" t="t" r="r" b="b"/>
              <a:pathLst>
                <a:path w="20417631" h="566738">
                  <a:moveTo>
                    <a:pt x="0" y="0"/>
                  </a:moveTo>
                  <a:lnTo>
                    <a:pt x="20417631" y="0"/>
                  </a:lnTo>
                  <a:lnTo>
                    <a:pt x="20417631" y="566738"/>
                  </a:lnTo>
                  <a:lnTo>
                    <a:pt x="0" y="5667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0" y="-95250"/>
              <a:ext cx="20417632" cy="6619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12"/>
                </a:lnSpc>
              </a:pPr>
              <a:r>
                <a:rPr lang="en-US" sz="2062" spc="-33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Modify variable values or set defaults.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33450" y="733425"/>
            <a:ext cx="11616067" cy="1136289"/>
            <a:chOff x="0" y="0"/>
            <a:chExt cx="15488089" cy="151505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488090" cy="1515052"/>
            </a:xfrm>
            <a:custGeom>
              <a:avLst/>
              <a:gdLst/>
              <a:ahLst/>
              <a:cxnLst/>
              <a:rect l="l" t="t" r="r" b="b"/>
              <a:pathLst>
                <a:path w="15488090" h="1515052">
                  <a:moveTo>
                    <a:pt x="0" y="0"/>
                  </a:moveTo>
                  <a:lnTo>
                    <a:pt x="15488090" y="0"/>
                  </a:lnTo>
                  <a:lnTo>
                    <a:pt x="15488090" y="1515052"/>
                  </a:lnTo>
                  <a:lnTo>
                    <a:pt x="0" y="151505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15488089" cy="154362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562"/>
                </a:lnSpc>
              </a:pPr>
              <a:r>
                <a:rPr lang="en-US" sz="5250" b="1" spc="-157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Examples: Variables &amp; Parameters</a:t>
              </a:r>
            </a:p>
          </p:txBody>
        </p:sp>
      </p:grpSp>
      <p:sp>
        <p:nvSpPr>
          <p:cNvPr id="9" name="Freeform 9" descr="preencoded.png"/>
          <p:cNvSpPr/>
          <p:nvPr/>
        </p:nvSpPr>
        <p:spPr>
          <a:xfrm>
            <a:off x="933450" y="2267099"/>
            <a:ext cx="7418040" cy="5612458"/>
          </a:xfrm>
          <a:custGeom>
            <a:avLst/>
            <a:gdLst/>
            <a:ahLst/>
            <a:cxnLst/>
            <a:rect l="l" t="t" r="r" b="b"/>
            <a:pathLst>
              <a:path w="7418040" h="5612458">
                <a:moveTo>
                  <a:pt x="0" y="0"/>
                </a:moveTo>
                <a:lnTo>
                  <a:pt x="7418040" y="0"/>
                </a:lnTo>
                <a:lnTo>
                  <a:pt x="7418040" y="5612457"/>
                </a:lnTo>
                <a:lnTo>
                  <a:pt x="0" y="56124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2" r="-3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2875509" y="8179594"/>
            <a:ext cx="4001095" cy="500062"/>
            <a:chOff x="0" y="0"/>
            <a:chExt cx="5334793" cy="6667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334793" cy="666750"/>
            </a:xfrm>
            <a:custGeom>
              <a:avLst/>
              <a:gdLst/>
              <a:ahLst/>
              <a:cxnLst/>
              <a:rect l="l" t="t" r="r" b="b"/>
              <a:pathLst>
                <a:path w="5334793" h="666750">
                  <a:moveTo>
                    <a:pt x="0" y="0"/>
                  </a:moveTo>
                  <a:lnTo>
                    <a:pt x="5334793" y="0"/>
                  </a:lnTo>
                  <a:lnTo>
                    <a:pt x="5334793" y="666750"/>
                  </a:lnTo>
                  <a:lnTo>
                    <a:pt x="0" y="6667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5334793" cy="6858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937"/>
                </a:lnSpc>
              </a:pPr>
              <a:r>
                <a:rPr lang="en-US" sz="3125" b="1" spc="-95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Using Variables</a:t>
              </a:r>
            </a:p>
          </p:txBody>
        </p:sp>
      </p:grpSp>
      <p:sp>
        <p:nvSpPr>
          <p:cNvPr id="13" name="Freeform 13" descr="preencoded.png"/>
          <p:cNvSpPr/>
          <p:nvPr/>
        </p:nvSpPr>
        <p:spPr>
          <a:xfrm>
            <a:off x="8351490" y="2267099"/>
            <a:ext cx="9936510" cy="4502052"/>
          </a:xfrm>
          <a:custGeom>
            <a:avLst/>
            <a:gdLst/>
            <a:ahLst/>
            <a:cxnLst/>
            <a:rect l="l" t="t" r="r" b="b"/>
            <a:pathLst>
              <a:path w="9936510" h="4502052">
                <a:moveTo>
                  <a:pt x="0" y="0"/>
                </a:moveTo>
                <a:lnTo>
                  <a:pt x="9936510" y="0"/>
                </a:lnTo>
                <a:lnTo>
                  <a:pt x="9936510" y="4502052"/>
                </a:lnTo>
                <a:lnTo>
                  <a:pt x="0" y="45020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57" b="-52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4" name="Group 14"/>
          <p:cNvGrpSpPr/>
          <p:nvPr/>
        </p:nvGrpSpPr>
        <p:grpSpPr>
          <a:xfrm>
            <a:off x="11006484" y="7169201"/>
            <a:ext cx="4001095" cy="500062"/>
            <a:chOff x="0" y="0"/>
            <a:chExt cx="5334793" cy="66675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334793" cy="666750"/>
            </a:xfrm>
            <a:custGeom>
              <a:avLst/>
              <a:gdLst/>
              <a:ahLst/>
              <a:cxnLst/>
              <a:rect l="l" t="t" r="r" b="b"/>
              <a:pathLst>
                <a:path w="5334793" h="666750">
                  <a:moveTo>
                    <a:pt x="0" y="0"/>
                  </a:moveTo>
                  <a:lnTo>
                    <a:pt x="5334793" y="0"/>
                  </a:lnTo>
                  <a:lnTo>
                    <a:pt x="5334793" y="666750"/>
                  </a:lnTo>
                  <a:lnTo>
                    <a:pt x="0" y="6667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5334793" cy="6858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937"/>
                </a:lnSpc>
              </a:pPr>
              <a:r>
                <a:rPr lang="en-US" sz="3125" b="1" spc="-95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Using Parameters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64208" y="413859"/>
            <a:ext cx="4030861" cy="779296"/>
            <a:chOff x="0" y="0"/>
            <a:chExt cx="5374482" cy="103906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374482" cy="1039061"/>
            </a:xfrm>
            <a:custGeom>
              <a:avLst/>
              <a:gdLst/>
              <a:ahLst/>
              <a:cxnLst/>
              <a:rect l="l" t="t" r="r" b="b"/>
              <a:pathLst>
                <a:path w="5374482" h="1039061">
                  <a:moveTo>
                    <a:pt x="0" y="0"/>
                  </a:moveTo>
                  <a:lnTo>
                    <a:pt x="5374482" y="0"/>
                  </a:lnTo>
                  <a:lnTo>
                    <a:pt x="5374482" y="1039061"/>
                  </a:lnTo>
                  <a:lnTo>
                    <a:pt x="0" y="103906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5374482" cy="10676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67"/>
                </a:lnSpc>
              </a:pPr>
              <a:r>
                <a:rPr lang="en-US" sz="3624" b="1" spc="-110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Functions</a:t>
              </a:r>
            </a:p>
          </p:txBody>
        </p:sp>
      </p:grpSp>
      <p:sp>
        <p:nvSpPr>
          <p:cNvPr id="9" name="Freeform 9" descr="preencoded.png"/>
          <p:cNvSpPr/>
          <p:nvPr/>
        </p:nvSpPr>
        <p:spPr>
          <a:xfrm>
            <a:off x="564208" y="1345555"/>
            <a:ext cx="4289822" cy="644872"/>
          </a:xfrm>
          <a:custGeom>
            <a:avLst/>
            <a:gdLst/>
            <a:ahLst/>
            <a:cxnLst/>
            <a:rect l="l" t="t" r="r" b="b"/>
            <a:pathLst>
              <a:path w="4289822" h="644872">
                <a:moveTo>
                  <a:pt x="0" y="0"/>
                </a:moveTo>
                <a:lnTo>
                  <a:pt x="4289822" y="0"/>
                </a:lnTo>
                <a:lnTo>
                  <a:pt x="4289822" y="644872"/>
                </a:lnTo>
                <a:lnTo>
                  <a:pt x="0" y="6448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61" b="-261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1701404" y="2232272"/>
            <a:ext cx="2015430" cy="447317"/>
            <a:chOff x="0" y="0"/>
            <a:chExt cx="2687240" cy="59642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687240" cy="596423"/>
            </a:xfrm>
            <a:custGeom>
              <a:avLst/>
              <a:gdLst/>
              <a:ahLst/>
              <a:cxnLst/>
              <a:rect l="l" t="t" r="r" b="b"/>
              <a:pathLst>
                <a:path w="2687240" h="596423">
                  <a:moveTo>
                    <a:pt x="0" y="0"/>
                  </a:moveTo>
                  <a:lnTo>
                    <a:pt x="2687240" y="0"/>
                  </a:lnTo>
                  <a:lnTo>
                    <a:pt x="2687240" y="596423"/>
                  </a:lnTo>
                  <a:lnTo>
                    <a:pt x="0" y="5964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2687240" cy="6154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57"/>
                </a:lnSpc>
              </a:pPr>
              <a:r>
                <a:rPr lang="en-US" sz="2062" b="1" spc="-62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Define Function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25389" y="2580829"/>
            <a:ext cx="3967460" cy="438745"/>
            <a:chOff x="0" y="0"/>
            <a:chExt cx="5289947" cy="58499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289947" cy="584994"/>
            </a:xfrm>
            <a:custGeom>
              <a:avLst/>
              <a:gdLst/>
              <a:ahLst/>
              <a:cxnLst/>
              <a:rect l="l" t="t" r="r" b="b"/>
              <a:pathLst>
                <a:path w="5289947" h="584994">
                  <a:moveTo>
                    <a:pt x="0" y="0"/>
                  </a:moveTo>
                  <a:lnTo>
                    <a:pt x="5289947" y="0"/>
                  </a:lnTo>
                  <a:lnTo>
                    <a:pt x="5289947" y="584994"/>
                  </a:lnTo>
                  <a:lnTo>
                    <a:pt x="0" y="58499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85725"/>
              <a:ext cx="5289947" cy="6707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99"/>
                </a:lnSpc>
              </a:pPr>
              <a:r>
                <a:rPr lang="en-US" sz="2062" spc="-32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Create reusable blocks of code</a:t>
              </a:r>
            </a:p>
          </p:txBody>
        </p:sp>
      </p:grpSp>
      <p:sp>
        <p:nvSpPr>
          <p:cNvPr id="16" name="Freeform 16" descr="preencoded.png"/>
          <p:cNvSpPr/>
          <p:nvPr/>
        </p:nvSpPr>
        <p:spPr>
          <a:xfrm>
            <a:off x="4854029" y="1345555"/>
            <a:ext cx="4289971" cy="644872"/>
          </a:xfrm>
          <a:custGeom>
            <a:avLst/>
            <a:gdLst/>
            <a:ahLst/>
            <a:cxnLst/>
            <a:rect l="l" t="t" r="r" b="b"/>
            <a:pathLst>
              <a:path w="4289971" h="644872">
                <a:moveTo>
                  <a:pt x="0" y="0"/>
                </a:moveTo>
                <a:lnTo>
                  <a:pt x="4289971" y="0"/>
                </a:lnTo>
                <a:lnTo>
                  <a:pt x="4289971" y="644872"/>
                </a:lnTo>
                <a:lnTo>
                  <a:pt x="0" y="6448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62" b="-26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7" name="Group 17"/>
          <p:cNvGrpSpPr/>
          <p:nvPr/>
        </p:nvGrpSpPr>
        <p:grpSpPr>
          <a:xfrm>
            <a:off x="5991225" y="2232272"/>
            <a:ext cx="2015430" cy="447317"/>
            <a:chOff x="0" y="0"/>
            <a:chExt cx="2687240" cy="59642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687240" cy="596423"/>
            </a:xfrm>
            <a:custGeom>
              <a:avLst/>
              <a:gdLst/>
              <a:ahLst/>
              <a:cxnLst/>
              <a:rect l="l" t="t" r="r" b="b"/>
              <a:pathLst>
                <a:path w="2687240" h="596423">
                  <a:moveTo>
                    <a:pt x="0" y="0"/>
                  </a:moveTo>
                  <a:lnTo>
                    <a:pt x="2687240" y="0"/>
                  </a:lnTo>
                  <a:lnTo>
                    <a:pt x="2687240" y="596423"/>
                  </a:lnTo>
                  <a:lnTo>
                    <a:pt x="0" y="5964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2687240" cy="6154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57"/>
                </a:lnSpc>
              </a:pPr>
              <a:r>
                <a:rPr lang="en-US" sz="2062" b="1" spc="-62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Call Function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015210" y="2580829"/>
            <a:ext cx="3967609" cy="438745"/>
            <a:chOff x="0" y="0"/>
            <a:chExt cx="5290145" cy="58499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290145" cy="584994"/>
            </a:xfrm>
            <a:custGeom>
              <a:avLst/>
              <a:gdLst/>
              <a:ahLst/>
              <a:cxnLst/>
              <a:rect l="l" t="t" r="r" b="b"/>
              <a:pathLst>
                <a:path w="5290145" h="584994">
                  <a:moveTo>
                    <a:pt x="0" y="0"/>
                  </a:moveTo>
                  <a:lnTo>
                    <a:pt x="5290145" y="0"/>
                  </a:lnTo>
                  <a:lnTo>
                    <a:pt x="5290145" y="584994"/>
                  </a:lnTo>
                  <a:lnTo>
                    <a:pt x="0" y="58499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85725"/>
              <a:ext cx="5290145" cy="6707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99"/>
                </a:lnSpc>
              </a:pPr>
              <a:r>
                <a:rPr lang="en-US" sz="2062" spc="-32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Execute the function by name</a:t>
              </a:r>
            </a:p>
          </p:txBody>
        </p:sp>
      </p:grpSp>
      <p:sp>
        <p:nvSpPr>
          <p:cNvPr id="23" name="Freeform 23" descr="preencoded.png"/>
          <p:cNvSpPr/>
          <p:nvPr/>
        </p:nvSpPr>
        <p:spPr>
          <a:xfrm>
            <a:off x="9144000" y="1345555"/>
            <a:ext cx="4289822" cy="644872"/>
          </a:xfrm>
          <a:custGeom>
            <a:avLst/>
            <a:gdLst/>
            <a:ahLst/>
            <a:cxnLst/>
            <a:rect l="l" t="t" r="r" b="b"/>
            <a:pathLst>
              <a:path w="4289822" h="644872">
                <a:moveTo>
                  <a:pt x="0" y="0"/>
                </a:moveTo>
                <a:lnTo>
                  <a:pt x="4289822" y="0"/>
                </a:lnTo>
                <a:lnTo>
                  <a:pt x="4289822" y="644872"/>
                </a:lnTo>
                <a:lnTo>
                  <a:pt x="0" y="6448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61" b="-261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4" name="Group 24"/>
          <p:cNvGrpSpPr/>
          <p:nvPr/>
        </p:nvGrpSpPr>
        <p:grpSpPr>
          <a:xfrm>
            <a:off x="10281196" y="2232272"/>
            <a:ext cx="2015430" cy="447317"/>
            <a:chOff x="0" y="0"/>
            <a:chExt cx="2687240" cy="59642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687240" cy="596423"/>
            </a:xfrm>
            <a:custGeom>
              <a:avLst/>
              <a:gdLst/>
              <a:ahLst/>
              <a:cxnLst/>
              <a:rect l="l" t="t" r="r" b="b"/>
              <a:pathLst>
                <a:path w="2687240" h="596423">
                  <a:moveTo>
                    <a:pt x="0" y="0"/>
                  </a:moveTo>
                  <a:lnTo>
                    <a:pt x="2687240" y="0"/>
                  </a:lnTo>
                  <a:lnTo>
                    <a:pt x="2687240" y="596423"/>
                  </a:lnTo>
                  <a:lnTo>
                    <a:pt x="0" y="5964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19050"/>
              <a:ext cx="2687240" cy="6154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57"/>
                </a:lnSpc>
              </a:pPr>
              <a:r>
                <a:rPr lang="en-US" sz="2062" b="1" spc="-62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Pass Arguments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305181" y="2580829"/>
            <a:ext cx="3967460" cy="438745"/>
            <a:chOff x="0" y="0"/>
            <a:chExt cx="5289947" cy="584994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289947" cy="584994"/>
            </a:xfrm>
            <a:custGeom>
              <a:avLst/>
              <a:gdLst/>
              <a:ahLst/>
              <a:cxnLst/>
              <a:rect l="l" t="t" r="r" b="b"/>
              <a:pathLst>
                <a:path w="5289947" h="584994">
                  <a:moveTo>
                    <a:pt x="0" y="0"/>
                  </a:moveTo>
                  <a:lnTo>
                    <a:pt x="5289947" y="0"/>
                  </a:lnTo>
                  <a:lnTo>
                    <a:pt x="5289947" y="584994"/>
                  </a:lnTo>
                  <a:lnTo>
                    <a:pt x="0" y="58499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85725"/>
              <a:ext cx="5289947" cy="6707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99"/>
                </a:lnSpc>
              </a:pPr>
              <a:r>
                <a:rPr lang="en-US" sz="2062" spc="-32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Send data to the function</a:t>
              </a:r>
            </a:p>
          </p:txBody>
        </p:sp>
      </p:grpSp>
      <p:sp>
        <p:nvSpPr>
          <p:cNvPr id="30" name="Freeform 30" descr="preencoded.png"/>
          <p:cNvSpPr/>
          <p:nvPr/>
        </p:nvSpPr>
        <p:spPr>
          <a:xfrm>
            <a:off x="13433822" y="1345555"/>
            <a:ext cx="4289971" cy="644872"/>
          </a:xfrm>
          <a:custGeom>
            <a:avLst/>
            <a:gdLst/>
            <a:ahLst/>
            <a:cxnLst/>
            <a:rect l="l" t="t" r="r" b="b"/>
            <a:pathLst>
              <a:path w="4289971" h="644872">
                <a:moveTo>
                  <a:pt x="0" y="0"/>
                </a:moveTo>
                <a:lnTo>
                  <a:pt x="4289972" y="0"/>
                </a:lnTo>
                <a:lnTo>
                  <a:pt x="4289972" y="644872"/>
                </a:lnTo>
                <a:lnTo>
                  <a:pt x="0" y="6448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262" b="-26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1" name="Group 31"/>
          <p:cNvGrpSpPr/>
          <p:nvPr/>
        </p:nvGrpSpPr>
        <p:grpSpPr>
          <a:xfrm>
            <a:off x="14571018" y="2232272"/>
            <a:ext cx="2015430" cy="447317"/>
            <a:chOff x="0" y="0"/>
            <a:chExt cx="2687240" cy="596423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687240" cy="596423"/>
            </a:xfrm>
            <a:custGeom>
              <a:avLst/>
              <a:gdLst/>
              <a:ahLst/>
              <a:cxnLst/>
              <a:rect l="l" t="t" r="r" b="b"/>
              <a:pathLst>
                <a:path w="2687240" h="596423">
                  <a:moveTo>
                    <a:pt x="0" y="0"/>
                  </a:moveTo>
                  <a:lnTo>
                    <a:pt x="2687240" y="0"/>
                  </a:lnTo>
                  <a:lnTo>
                    <a:pt x="2687240" y="596423"/>
                  </a:lnTo>
                  <a:lnTo>
                    <a:pt x="0" y="5964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19050"/>
              <a:ext cx="2687240" cy="6154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57"/>
                </a:lnSpc>
              </a:pPr>
              <a:r>
                <a:rPr lang="en-US" sz="2062" b="1" spc="-62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Return Values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3595002" y="2580829"/>
            <a:ext cx="3967609" cy="848320"/>
            <a:chOff x="0" y="0"/>
            <a:chExt cx="5290145" cy="1131094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5290145" cy="1131094"/>
            </a:xfrm>
            <a:custGeom>
              <a:avLst/>
              <a:gdLst/>
              <a:ahLst/>
              <a:cxnLst/>
              <a:rect l="l" t="t" r="r" b="b"/>
              <a:pathLst>
                <a:path w="5290145" h="1131094">
                  <a:moveTo>
                    <a:pt x="0" y="0"/>
                  </a:moveTo>
                  <a:lnTo>
                    <a:pt x="5290145" y="0"/>
                  </a:lnTo>
                  <a:lnTo>
                    <a:pt x="5290145" y="1131094"/>
                  </a:lnTo>
                  <a:lnTo>
                    <a:pt x="0" y="113109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85725"/>
              <a:ext cx="5290145" cy="12168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99"/>
                </a:lnSpc>
              </a:pPr>
              <a:r>
                <a:rPr lang="en-US" sz="2062" spc="-32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Use return keyword or echo output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64208" y="3473468"/>
            <a:ext cx="4030861" cy="779296"/>
            <a:chOff x="0" y="0"/>
            <a:chExt cx="5374482" cy="1039061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5374482" cy="1039061"/>
            </a:xfrm>
            <a:custGeom>
              <a:avLst/>
              <a:gdLst/>
              <a:ahLst/>
              <a:cxnLst/>
              <a:rect l="l" t="t" r="r" b="b"/>
              <a:pathLst>
                <a:path w="5374482" h="1039061">
                  <a:moveTo>
                    <a:pt x="0" y="0"/>
                  </a:moveTo>
                  <a:lnTo>
                    <a:pt x="5374482" y="0"/>
                  </a:lnTo>
                  <a:lnTo>
                    <a:pt x="5374482" y="1039061"/>
                  </a:lnTo>
                  <a:lnTo>
                    <a:pt x="0" y="103906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28575"/>
              <a:ext cx="5374482" cy="10676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67"/>
                </a:lnSpc>
              </a:pPr>
              <a:r>
                <a:rPr lang="en-US" sz="3624" b="1" spc="-110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Conditions</a:t>
              </a:r>
            </a:p>
          </p:txBody>
        </p:sp>
      </p:grpSp>
      <p:sp>
        <p:nvSpPr>
          <p:cNvPr id="40" name="Freeform 40" descr="preencoded.png"/>
          <p:cNvSpPr/>
          <p:nvPr/>
        </p:nvSpPr>
        <p:spPr>
          <a:xfrm>
            <a:off x="564208" y="4490889"/>
            <a:ext cx="5719762" cy="644873"/>
          </a:xfrm>
          <a:custGeom>
            <a:avLst/>
            <a:gdLst/>
            <a:ahLst/>
            <a:cxnLst/>
            <a:rect l="l" t="t" r="r" b="b"/>
            <a:pathLst>
              <a:path w="5719762" h="644873">
                <a:moveTo>
                  <a:pt x="0" y="0"/>
                </a:moveTo>
                <a:lnTo>
                  <a:pt x="5719762" y="0"/>
                </a:lnTo>
                <a:lnTo>
                  <a:pt x="5719762" y="644872"/>
                </a:lnTo>
                <a:lnTo>
                  <a:pt x="0" y="6448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177" b="-177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1" name="Group 41"/>
          <p:cNvGrpSpPr/>
          <p:nvPr/>
        </p:nvGrpSpPr>
        <p:grpSpPr>
          <a:xfrm>
            <a:off x="2416374" y="5377606"/>
            <a:ext cx="2015430" cy="447317"/>
            <a:chOff x="0" y="0"/>
            <a:chExt cx="2687240" cy="596423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2687240" cy="596423"/>
            </a:xfrm>
            <a:custGeom>
              <a:avLst/>
              <a:gdLst/>
              <a:ahLst/>
              <a:cxnLst/>
              <a:rect l="l" t="t" r="r" b="b"/>
              <a:pathLst>
                <a:path w="2687240" h="596423">
                  <a:moveTo>
                    <a:pt x="0" y="0"/>
                  </a:moveTo>
                  <a:lnTo>
                    <a:pt x="2687240" y="0"/>
                  </a:lnTo>
                  <a:lnTo>
                    <a:pt x="2687240" y="596423"/>
                  </a:lnTo>
                  <a:lnTo>
                    <a:pt x="0" y="5964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19050"/>
              <a:ext cx="2687240" cy="6154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57"/>
                </a:lnSpc>
              </a:pPr>
              <a:r>
                <a:rPr lang="en-US" sz="2062" b="1" spc="-62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IF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725389" y="5726162"/>
            <a:ext cx="5397401" cy="848320"/>
            <a:chOff x="0" y="0"/>
            <a:chExt cx="7196535" cy="1131094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7196535" cy="1131094"/>
            </a:xfrm>
            <a:custGeom>
              <a:avLst/>
              <a:gdLst/>
              <a:ahLst/>
              <a:cxnLst/>
              <a:rect l="l" t="t" r="r" b="b"/>
              <a:pathLst>
                <a:path w="7196535" h="1131094">
                  <a:moveTo>
                    <a:pt x="0" y="0"/>
                  </a:moveTo>
                  <a:lnTo>
                    <a:pt x="7196535" y="0"/>
                  </a:lnTo>
                  <a:lnTo>
                    <a:pt x="7196535" y="1131094"/>
                  </a:lnTo>
                  <a:lnTo>
                    <a:pt x="0" y="113109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85725"/>
              <a:ext cx="7196535" cy="12168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99"/>
                </a:lnSpc>
              </a:pPr>
              <a:r>
                <a:rPr lang="en-US" sz="2062" spc="-32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Executes a block of code if the given condition is true.</a:t>
              </a:r>
            </a:p>
          </p:txBody>
        </p:sp>
      </p:grpSp>
      <p:sp>
        <p:nvSpPr>
          <p:cNvPr id="47" name="Freeform 47" descr="preencoded.png"/>
          <p:cNvSpPr/>
          <p:nvPr/>
        </p:nvSpPr>
        <p:spPr>
          <a:xfrm>
            <a:off x="6283970" y="4490889"/>
            <a:ext cx="5719911" cy="644873"/>
          </a:xfrm>
          <a:custGeom>
            <a:avLst/>
            <a:gdLst/>
            <a:ahLst/>
            <a:cxnLst/>
            <a:rect l="l" t="t" r="r" b="b"/>
            <a:pathLst>
              <a:path w="5719911" h="644873">
                <a:moveTo>
                  <a:pt x="0" y="0"/>
                </a:moveTo>
                <a:lnTo>
                  <a:pt x="5719911" y="0"/>
                </a:lnTo>
                <a:lnTo>
                  <a:pt x="5719911" y="644872"/>
                </a:lnTo>
                <a:lnTo>
                  <a:pt x="0" y="64487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178" b="-17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8" name="Group 48"/>
          <p:cNvGrpSpPr/>
          <p:nvPr/>
        </p:nvGrpSpPr>
        <p:grpSpPr>
          <a:xfrm>
            <a:off x="8136136" y="5377606"/>
            <a:ext cx="2015430" cy="447317"/>
            <a:chOff x="0" y="0"/>
            <a:chExt cx="2687240" cy="596423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2687240" cy="596423"/>
            </a:xfrm>
            <a:custGeom>
              <a:avLst/>
              <a:gdLst/>
              <a:ahLst/>
              <a:cxnLst/>
              <a:rect l="l" t="t" r="r" b="b"/>
              <a:pathLst>
                <a:path w="2687240" h="596423">
                  <a:moveTo>
                    <a:pt x="0" y="0"/>
                  </a:moveTo>
                  <a:lnTo>
                    <a:pt x="2687240" y="0"/>
                  </a:lnTo>
                  <a:lnTo>
                    <a:pt x="2687240" y="596423"/>
                  </a:lnTo>
                  <a:lnTo>
                    <a:pt x="0" y="5964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-19050"/>
              <a:ext cx="2687240" cy="6154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57"/>
                </a:lnSpc>
              </a:pPr>
              <a:r>
                <a:rPr lang="en-US" sz="2062" b="1" spc="-62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ELIF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445151" y="5726163"/>
            <a:ext cx="5397550" cy="848320"/>
            <a:chOff x="0" y="0"/>
            <a:chExt cx="7196733" cy="1131094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7196734" cy="1131094"/>
            </a:xfrm>
            <a:custGeom>
              <a:avLst/>
              <a:gdLst/>
              <a:ahLst/>
              <a:cxnLst/>
              <a:rect l="l" t="t" r="r" b="b"/>
              <a:pathLst>
                <a:path w="7196734" h="1131094">
                  <a:moveTo>
                    <a:pt x="0" y="0"/>
                  </a:moveTo>
                  <a:lnTo>
                    <a:pt x="7196734" y="0"/>
                  </a:lnTo>
                  <a:lnTo>
                    <a:pt x="7196734" y="1131094"/>
                  </a:lnTo>
                  <a:lnTo>
                    <a:pt x="0" y="113109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-85725"/>
              <a:ext cx="7196733" cy="12168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99"/>
                </a:lnSpc>
              </a:pPr>
              <a:r>
                <a:rPr lang="en-US" sz="2062" spc="-32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Used to check another condition if the previous if or elif condition is false.</a:t>
              </a:r>
            </a:p>
          </p:txBody>
        </p:sp>
      </p:grpSp>
      <p:sp>
        <p:nvSpPr>
          <p:cNvPr id="54" name="Freeform 54" descr="preencoded.png"/>
          <p:cNvSpPr/>
          <p:nvPr/>
        </p:nvSpPr>
        <p:spPr>
          <a:xfrm>
            <a:off x="12003881" y="4490889"/>
            <a:ext cx="5719911" cy="644873"/>
          </a:xfrm>
          <a:custGeom>
            <a:avLst/>
            <a:gdLst/>
            <a:ahLst/>
            <a:cxnLst/>
            <a:rect l="l" t="t" r="r" b="b"/>
            <a:pathLst>
              <a:path w="5719911" h="644873">
                <a:moveTo>
                  <a:pt x="0" y="0"/>
                </a:moveTo>
                <a:lnTo>
                  <a:pt x="5719911" y="0"/>
                </a:lnTo>
                <a:lnTo>
                  <a:pt x="5719911" y="644872"/>
                </a:lnTo>
                <a:lnTo>
                  <a:pt x="0" y="64487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t="-178" b="-17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5" name="Group 55"/>
          <p:cNvGrpSpPr/>
          <p:nvPr/>
        </p:nvGrpSpPr>
        <p:grpSpPr>
          <a:xfrm>
            <a:off x="13856048" y="5377606"/>
            <a:ext cx="2015430" cy="447317"/>
            <a:chOff x="0" y="0"/>
            <a:chExt cx="2687240" cy="596423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2687240" cy="596423"/>
            </a:xfrm>
            <a:custGeom>
              <a:avLst/>
              <a:gdLst/>
              <a:ahLst/>
              <a:cxnLst/>
              <a:rect l="l" t="t" r="r" b="b"/>
              <a:pathLst>
                <a:path w="2687240" h="596423">
                  <a:moveTo>
                    <a:pt x="0" y="0"/>
                  </a:moveTo>
                  <a:lnTo>
                    <a:pt x="2687240" y="0"/>
                  </a:lnTo>
                  <a:lnTo>
                    <a:pt x="2687240" y="596423"/>
                  </a:lnTo>
                  <a:lnTo>
                    <a:pt x="0" y="5964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0" y="-19050"/>
              <a:ext cx="2687240" cy="6154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57"/>
                </a:lnSpc>
              </a:pPr>
              <a:r>
                <a:rPr lang="en-US" sz="2062" b="1" spc="-62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ELSE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2165063" y="5726163"/>
            <a:ext cx="5397550" cy="848320"/>
            <a:chOff x="0" y="0"/>
            <a:chExt cx="7196733" cy="1131094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7196734" cy="1131094"/>
            </a:xfrm>
            <a:custGeom>
              <a:avLst/>
              <a:gdLst/>
              <a:ahLst/>
              <a:cxnLst/>
              <a:rect l="l" t="t" r="r" b="b"/>
              <a:pathLst>
                <a:path w="7196734" h="1131094">
                  <a:moveTo>
                    <a:pt x="0" y="0"/>
                  </a:moveTo>
                  <a:lnTo>
                    <a:pt x="7196734" y="0"/>
                  </a:lnTo>
                  <a:lnTo>
                    <a:pt x="7196734" y="1131094"/>
                  </a:lnTo>
                  <a:lnTo>
                    <a:pt x="0" y="113109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0" y="-85725"/>
              <a:ext cx="7196733" cy="12168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99"/>
                </a:lnSpc>
              </a:pPr>
              <a:r>
                <a:rPr lang="en-US" sz="2062" spc="-32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Executes a block of code if none of the preceding if or elif conditions are true.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564208" y="7031683"/>
            <a:ext cx="4030861" cy="779296"/>
            <a:chOff x="0" y="0"/>
            <a:chExt cx="5374482" cy="1039061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5374482" cy="1039061"/>
            </a:xfrm>
            <a:custGeom>
              <a:avLst/>
              <a:gdLst/>
              <a:ahLst/>
              <a:cxnLst/>
              <a:rect l="l" t="t" r="r" b="b"/>
              <a:pathLst>
                <a:path w="5374482" h="1039061">
                  <a:moveTo>
                    <a:pt x="0" y="0"/>
                  </a:moveTo>
                  <a:lnTo>
                    <a:pt x="5374482" y="0"/>
                  </a:lnTo>
                  <a:lnTo>
                    <a:pt x="5374482" y="1039061"/>
                  </a:lnTo>
                  <a:lnTo>
                    <a:pt x="0" y="103906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0" y="-28575"/>
              <a:ext cx="5374482" cy="10676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67"/>
                </a:lnSpc>
              </a:pPr>
              <a:r>
                <a:rPr lang="en-US" sz="3624" b="1" spc="-110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Loops</a:t>
              </a:r>
            </a:p>
          </p:txBody>
        </p:sp>
      </p:grpSp>
      <p:sp>
        <p:nvSpPr>
          <p:cNvPr id="64" name="Freeform 64" descr="preencoded.png"/>
          <p:cNvSpPr/>
          <p:nvPr/>
        </p:nvSpPr>
        <p:spPr>
          <a:xfrm>
            <a:off x="564208" y="7968109"/>
            <a:ext cx="5719762" cy="644873"/>
          </a:xfrm>
          <a:custGeom>
            <a:avLst/>
            <a:gdLst/>
            <a:ahLst/>
            <a:cxnLst/>
            <a:rect l="l" t="t" r="r" b="b"/>
            <a:pathLst>
              <a:path w="5719762" h="644873">
                <a:moveTo>
                  <a:pt x="0" y="0"/>
                </a:moveTo>
                <a:lnTo>
                  <a:pt x="5719762" y="0"/>
                </a:lnTo>
                <a:lnTo>
                  <a:pt x="5719762" y="644872"/>
                </a:lnTo>
                <a:lnTo>
                  <a:pt x="0" y="6448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177" b="-177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5" name="Group 65"/>
          <p:cNvGrpSpPr/>
          <p:nvPr/>
        </p:nvGrpSpPr>
        <p:grpSpPr>
          <a:xfrm>
            <a:off x="2416374" y="8854828"/>
            <a:ext cx="2015430" cy="447317"/>
            <a:chOff x="0" y="0"/>
            <a:chExt cx="2687240" cy="596423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2687240" cy="596423"/>
            </a:xfrm>
            <a:custGeom>
              <a:avLst/>
              <a:gdLst/>
              <a:ahLst/>
              <a:cxnLst/>
              <a:rect l="l" t="t" r="r" b="b"/>
              <a:pathLst>
                <a:path w="2687240" h="596423">
                  <a:moveTo>
                    <a:pt x="0" y="0"/>
                  </a:moveTo>
                  <a:lnTo>
                    <a:pt x="2687240" y="0"/>
                  </a:lnTo>
                  <a:lnTo>
                    <a:pt x="2687240" y="596423"/>
                  </a:lnTo>
                  <a:lnTo>
                    <a:pt x="0" y="5964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0" y="-19050"/>
              <a:ext cx="2687240" cy="6154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57"/>
                </a:lnSpc>
              </a:pPr>
              <a:r>
                <a:rPr lang="en-US" sz="2062" b="1" spc="-62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FOR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725389" y="9203382"/>
            <a:ext cx="5397401" cy="438745"/>
            <a:chOff x="0" y="0"/>
            <a:chExt cx="7196535" cy="584994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7196535" cy="584994"/>
            </a:xfrm>
            <a:custGeom>
              <a:avLst/>
              <a:gdLst/>
              <a:ahLst/>
              <a:cxnLst/>
              <a:rect l="l" t="t" r="r" b="b"/>
              <a:pathLst>
                <a:path w="7196535" h="584994">
                  <a:moveTo>
                    <a:pt x="0" y="0"/>
                  </a:moveTo>
                  <a:lnTo>
                    <a:pt x="7196535" y="0"/>
                  </a:lnTo>
                  <a:lnTo>
                    <a:pt x="7196535" y="584994"/>
                  </a:lnTo>
                  <a:lnTo>
                    <a:pt x="0" y="58499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0" y="-85725"/>
              <a:ext cx="7196535" cy="6707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99"/>
                </a:lnSpc>
              </a:pPr>
              <a:r>
                <a:rPr lang="en-US" sz="2062" spc="-32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Iterate over a list or range of numbers</a:t>
              </a:r>
            </a:p>
          </p:txBody>
        </p:sp>
      </p:grpSp>
      <p:sp>
        <p:nvSpPr>
          <p:cNvPr id="71" name="Freeform 71" descr="preencoded.png"/>
          <p:cNvSpPr/>
          <p:nvPr/>
        </p:nvSpPr>
        <p:spPr>
          <a:xfrm>
            <a:off x="6283970" y="7968109"/>
            <a:ext cx="5719911" cy="644873"/>
          </a:xfrm>
          <a:custGeom>
            <a:avLst/>
            <a:gdLst/>
            <a:ahLst/>
            <a:cxnLst/>
            <a:rect l="l" t="t" r="r" b="b"/>
            <a:pathLst>
              <a:path w="5719911" h="644873">
                <a:moveTo>
                  <a:pt x="0" y="0"/>
                </a:moveTo>
                <a:lnTo>
                  <a:pt x="5719911" y="0"/>
                </a:lnTo>
                <a:lnTo>
                  <a:pt x="5719911" y="644872"/>
                </a:lnTo>
                <a:lnTo>
                  <a:pt x="0" y="64487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178" b="-17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2" name="Group 72"/>
          <p:cNvGrpSpPr/>
          <p:nvPr/>
        </p:nvGrpSpPr>
        <p:grpSpPr>
          <a:xfrm>
            <a:off x="8136136" y="8854828"/>
            <a:ext cx="2015430" cy="447317"/>
            <a:chOff x="0" y="0"/>
            <a:chExt cx="2687240" cy="596423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2687240" cy="596423"/>
            </a:xfrm>
            <a:custGeom>
              <a:avLst/>
              <a:gdLst/>
              <a:ahLst/>
              <a:cxnLst/>
              <a:rect l="l" t="t" r="r" b="b"/>
              <a:pathLst>
                <a:path w="2687240" h="596423">
                  <a:moveTo>
                    <a:pt x="0" y="0"/>
                  </a:moveTo>
                  <a:lnTo>
                    <a:pt x="2687240" y="0"/>
                  </a:lnTo>
                  <a:lnTo>
                    <a:pt x="2687240" y="596423"/>
                  </a:lnTo>
                  <a:lnTo>
                    <a:pt x="0" y="5964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0" y="-19050"/>
              <a:ext cx="2687240" cy="6154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57"/>
                </a:lnSpc>
              </a:pPr>
              <a:r>
                <a:rPr lang="en-US" sz="2062" b="1" spc="-62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WHILE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6445151" y="9203382"/>
            <a:ext cx="5397550" cy="438745"/>
            <a:chOff x="0" y="0"/>
            <a:chExt cx="7196733" cy="584994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7196734" cy="584994"/>
            </a:xfrm>
            <a:custGeom>
              <a:avLst/>
              <a:gdLst/>
              <a:ahLst/>
              <a:cxnLst/>
              <a:rect l="l" t="t" r="r" b="b"/>
              <a:pathLst>
                <a:path w="7196734" h="584994">
                  <a:moveTo>
                    <a:pt x="0" y="0"/>
                  </a:moveTo>
                  <a:lnTo>
                    <a:pt x="7196734" y="0"/>
                  </a:lnTo>
                  <a:lnTo>
                    <a:pt x="7196734" y="584994"/>
                  </a:lnTo>
                  <a:lnTo>
                    <a:pt x="0" y="58499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0" y="-85725"/>
              <a:ext cx="7196733" cy="6707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99"/>
                </a:lnSpc>
              </a:pPr>
              <a:r>
                <a:rPr lang="en-US" sz="2062" spc="-32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Execute while condition is true</a:t>
              </a:r>
            </a:p>
          </p:txBody>
        </p:sp>
      </p:grpSp>
      <p:sp>
        <p:nvSpPr>
          <p:cNvPr id="78" name="Freeform 78" descr="preencoded.png"/>
          <p:cNvSpPr/>
          <p:nvPr/>
        </p:nvSpPr>
        <p:spPr>
          <a:xfrm>
            <a:off x="12003881" y="7968109"/>
            <a:ext cx="5719911" cy="644873"/>
          </a:xfrm>
          <a:custGeom>
            <a:avLst/>
            <a:gdLst/>
            <a:ahLst/>
            <a:cxnLst/>
            <a:rect l="l" t="t" r="r" b="b"/>
            <a:pathLst>
              <a:path w="5719911" h="644873">
                <a:moveTo>
                  <a:pt x="0" y="0"/>
                </a:moveTo>
                <a:lnTo>
                  <a:pt x="5719911" y="0"/>
                </a:lnTo>
                <a:lnTo>
                  <a:pt x="5719911" y="644872"/>
                </a:lnTo>
                <a:lnTo>
                  <a:pt x="0" y="64487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t="-178" b="-17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9" name="Group 79"/>
          <p:cNvGrpSpPr/>
          <p:nvPr/>
        </p:nvGrpSpPr>
        <p:grpSpPr>
          <a:xfrm>
            <a:off x="13856048" y="8854828"/>
            <a:ext cx="2015430" cy="447317"/>
            <a:chOff x="0" y="0"/>
            <a:chExt cx="2687240" cy="596423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2687240" cy="596423"/>
            </a:xfrm>
            <a:custGeom>
              <a:avLst/>
              <a:gdLst/>
              <a:ahLst/>
              <a:cxnLst/>
              <a:rect l="l" t="t" r="r" b="b"/>
              <a:pathLst>
                <a:path w="2687240" h="596423">
                  <a:moveTo>
                    <a:pt x="0" y="0"/>
                  </a:moveTo>
                  <a:lnTo>
                    <a:pt x="2687240" y="0"/>
                  </a:lnTo>
                  <a:lnTo>
                    <a:pt x="2687240" y="596423"/>
                  </a:lnTo>
                  <a:lnTo>
                    <a:pt x="0" y="5964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0" y="-19050"/>
              <a:ext cx="2687240" cy="6154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57"/>
                </a:lnSpc>
              </a:pPr>
              <a:r>
                <a:rPr lang="en-US" sz="2062" b="1" spc="-62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UNTIL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12165063" y="9203382"/>
            <a:ext cx="5397550" cy="438745"/>
            <a:chOff x="0" y="0"/>
            <a:chExt cx="7196733" cy="584994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7196734" cy="584994"/>
            </a:xfrm>
            <a:custGeom>
              <a:avLst/>
              <a:gdLst/>
              <a:ahLst/>
              <a:cxnLst/>
              <a:rect l="l" t="t" r="r" b="b"/>
              <a:pathLst>
                <a:path w="7196734" h="584994">
                  <a:moveTo>
                    <a:pt x="0" y="0"/>
                  </a:moveTo>
                  <a:lnTo>
                    <a:pt x="7196734" y="0"/>
                  </a:lnTo>
                  <a:lnTo>
                    <a:pt x="7196734" y="584994"/>
                  </a:lnTo>
                  <a:lnTo>
                    <a:pt x="0" y="58499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0" y="-85725"/>
              <a:ext cx="7196733" cy="6707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99"/>
                </a:lnSpc>
              </a:pPr>
              <a:r>
                <a:rPr lang="en-US" sz="2062" spc="-32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Execute until condition </a:t>
              </a:r>
              <a:r>
                <a:rPr lang="en-US" sz="2062" b="1" spc="-32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becomes</a:t>
              </a:r>
              <a:r>
                <a:rPr lang="en-US" sz="2062" spc="-32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 true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92238" y="4177754"/>
            <a:ext cx="7805886" cy="1222773"/>
            <a:chOff x="0" y="0"/>
            <a:chExt cx="10407848" cy="163036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407848" cy="1630363"/>
            </a:xfrm>
            <a:custGeom>
              <a:avLst/>
              <a:gdLst/>
              <a:ahLst/>
              <a:cxnLst/>
              <a:rect l="l" t="t" r="r" b="b"/>
              <a:pathLst>
                <a:path w="10407848" h="1630363">
                  <a:moveTo>
                    <a:pt x="0" y="0"/>
                  </a:moveTo>
                  <a:lnTo>
                    <a:pt x="10407848" y="0"/>
                  </a:lnTo>
                  <a:lnTo>
                    <a:pt x="10407848" y="1630363"/>
                  </a:lnTo>
                  <a:lnTo>
                    <a:pt x="0" y="16303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0407848" cy="16779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9625"/>
                </a:lnSpc>
              </a:pPr>
              <a:r>
                <a:rPr lang="en-US" sz="7687" b="1" spc="-231">
                  <a:solidFill>
                    <a:srgbClr val="4950B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Arrays</a:t>
              </a:r>
            </a:p>
          </p:txBody>
        </p:sp>
      </p:grpSp>
      <p:sp>
        <p:nvSpPr>
          <p:cNvPr id="9" name="Freeform 9" descr="preencoded.png"/>
          <p:cNvSpPr/>
          <p:nvPr/>
        </p:nvSpPr>
        <p:spPr>
          <a:xfrm>
            <a:off x="9499401" y="2733378"/>
            <a:ext cx="7805886" cy="4820245"/>
          </a:xfrm>
          <a:custGeom>
            <a:avLst/>
            <a:gdLst/>
            <a:ahLst/>
            <a:cxnLst/>
            <a:rect l="l" t="t" r="r" b="b"/>
            <a:pathLst>
              <a:path w="7805886" h="4820245">
                <a:moveTo>
                  <a:pt x="0" y="0"/>
                </a:moveTo>
                <a:lnTo>
                  <a:pt x="7805886" y="0"/>
                </a:lnTo>
                <a:lnTo>
                  <a:pt x="7805886" y="4820245"/>
                </a:lnTo>
                <a:lnTo>
                  <a:pt x="0" y="48202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5" r="-35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00695" y="629096"/>
            <a:ext cx="5720209" cy="715119"/>
            <a:chOff x="0" y="0"/>
            <a:chExt cx="7626945" cy="95349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626945" cy="953492"/>
            </a:xfrm>
            <a:custGeom>
              <a:avLst/>
              <a:gdLst/>
              <a:ahLst/>
              <a:cxnLst/>
              <a:rect l="l" t="t" r="r" b="b"/>
              <a:pathLst>
                <a:path w="7626945" h="953492">
                  <a:moveTo>
                    <a:pt x="0" y="0"/>
                  </a:moveTo>
                  <a:lnTo>
                    <a:pt x="7626945" y="0"/>
                  </a:lnTo>
                  <a:lnTo>
                    <a:pt x="7626945" y="953492"/>
                  </a:lnTo>
                  <a:lnTo>
                    <a:pt x="0" y="95349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7626945" cy="98206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625"/>
                </a:lnSpc>
              </a:pPr>
              <a:r>
                <a:rPr lang="en-US" sz="4499" b="1" spc="-134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Arrays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00695" y="1687414"/>
            <a:ext cx="16686609" cy="466381"/>
            <a:chOff x="0" y="0"/>
            <a:chExt cx="22248812" cy="62184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248812" cy="621841"/>
            </a:xfrm>
            <a:custGeom>
              <a:avLst/>
              <a:gdLst/>
              <a:ahLst/>
              <a:cxnLst/>
              <a:rect l="l" t="t" r="r" b="b"/>
              <a:pathLst>
                <a:path w="22248812" h="621841">
                  <a:moveTo>
                    <a:pt x="0" y="0"/>
                  </a:moveTo>
                  <a:lnTo>
                    <a:pt x="22248812" y="0"/>
                  </a:lnTo>
                  <a:lnTo>
                    <a:pt x="22248812" y="621841"/>
                  </a:lnTo>
                  <a:lnTo>
                    <a:pt x="0" y="62184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95250"/>
              <a:ext cx="22248812" cy="71709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24246" lvl="1" indent="-162123" algn="l">
                <a:lnSpc>
                  <a:spcPts val="3532"/>
                </a:lnSpc>
                <a:buFont typeface="Arial"/>
                <a:buChar char="•"/>
              </a:pPr>
              <a:r>
                <a:rPr lang="en-US" sz="2149" spc="-44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Arrays have a</a:t>
              </a:r>
              <a:r>
                <a:rPr lang="en-US" sz="2149" b="1" spc="-44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 fixed size</a:t>
              </a:r>
              <a:r>
                <a:rPr lang="en-US" sz="2149" spc="-44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 (like a fixed number of mailboxes in a row).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00695" y="2225129"/>
            <a:ext cx="16686609" cy="466381"/>
            <a:chOff x="0" y="0"/>
            <a:chExt cx="22248812" cy="62184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248812" cy="621841"/>
            </a:xfrm>
            <a:custGeom>
              <a:avLst/>
              <a:gdLst/>
              <a:ahLst/>
              <a:cxnLst/>
              <a:rect l="l" t="t" r="r" b="b"/>
              <a:pathLst>
                <a:path w="22248812" h="621841">
                  <a:moveTo>
                    <a:pt x="0" y="0"/>
                  </a:moveTo>
                  <a:lnTo>
                    <a:pt x="22248812" y="0"/>
                  </a:lnTo>
                  <a:lnTo>
                    <a:pt x="22248812" y="621841"/>
                  </a:lnTo>
                  <a:lnTo>
                    <a:pt x="0" y="62184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95250"/>
              <a:ext cx="22248812" cy="71709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24246" lvl="1" indent="-162123" algn="l">
                <a:lnSpc>
                  <a:spcPts val="3532"/>
                </a:lnSpc>
                <a:buFont typeface="Arial"/>
                <a:buChar char="•"/>
              </a:pPr>
              <a:r>
                <a:rPr lang="en-US" sz="2149" spc="-44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Arrays</a:t>
              </a:r>
              <a:r>
                <a:rPr lang="en-US" sz="2149" b="1" spc="-44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 store multiple items of the same type</a:t>
              </a:r>
              <a:r>
                <a:rPr lang="en-US" sz="2149" spc="-44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 (like storing only letters in all mailboxes).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00695" y="2762845"/>
            <a:ext cx="16686609" cy="466381"/>
            <a:chOff x="0" y="0"/>
            <a:chExt cx="22248812" cy="62184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2248812" cy="621841"/>
            </a:xfrm>
            <a:custGeom>
              <a:avLst/>
              <a:gdLst/>
              <a:ahLst/>
              <a:cxnLst/>
              <a:rect l="l" t="t" r="r" b="b"/>
              <a:pathLst>
                <a:path w="22248812" h="621841">
                  <a:moveTo>
                    <a:pt x="0" y="0"/>
                  </a:moveTo>
                  <a:lnTo>
                    <a:pt x="22248812" y="0"/>
                  </a:lnTo>
                  <a:lnTo>
                    <a:pt x="22248812" y="621841"/>
                  </a:lnTo>
                  <a:lnTo>
                    <a:pt x="0" y="62184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95250"/>
              <a:ext cx="22248812" cy="71709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24246" lvl="1" indent="-162123" algn="l">
                <a:lnSpc>
                  <a:spcPts val="3532"/>
                </a:lnSpc>
                <a:buFont typeface="Arial"/>
                <a:buChar char="•"/>
              </a:pPr>
              <a:r>
                <a:rPr lang="en-US" sz="2149" spc="-44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Each</a:t>
              </a:r>
              <a:r>
                <a:rPr lang="en-US" sz="2149" b="1" spc="-44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 </a:t>
              </a:r>
              <a:r>
                <a:rPr lang="en-US" sz="2149" spc="-44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item</a:t>
              </a:r>
              <a:r>
                <a:rPr lang="en-US" sz="2149" b="1" spc="-44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 </a:t>
              </a:r>
              <a:r>
                <a:rPr lang="en-US" sz="2149" spc="-44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in an array</a:t>
              </a:r>
              <a:r>
                <a:rPr lang="en-US" sz="2149" b="1" spc="-44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 can be accessed individually using an index</a:t>
              </a:r>
              <a:r>
                <a:rPr lang="en-US" sz="2149" spc="-44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 (like opening a specific mailbox). 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00695" y="3300561"/>
            <a:ext cx="16686609" cy="466381"/>
            <a:chOff x="0" y="0"/>
            <a:chExt cx="22248812" cy="62184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2248812" cy="621841"/>
            </a:xfrm>
            <a:custGeom>
              <a:avLst/>
              <a:gdLst/>
              <a:ahLst/>
              <a:cxnLst/>
              <a:rect l="l" t="t" r="r" b="b"/>
              <a:pathLst>
                <a:path w="22248812" h="621841">
                  <a:moveTo>
                    <a:pt x="0" y="0"/>
                  </a:moveTo>
                  <a:lnTo>
                    <a:pt x="22248812" y="0"/>
                  </a:lnTo>
                  <a:lnTo>
                    <a:pt x="22248812" y="621841"/>
                  </a:lnTo>
                  <a:lnTo>
                    <a:pt x="0" y="62184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95250"/>
              <a:ext cx="22248812" cy="71709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24246" lvl="1" indent="-162123" algn="l">
                <a:lnSpc>
                  <a:spcPts val="3532"/>
                </a:lnSpc>
                <a:buFont typeface="Arial"/>
                <a:buChar char="•"/>
              </a:pPr>
              <a:r>
                <a:rPr lang="en-US" sz="2149" u="sng" spc="-44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Example</a:t>
              </a:r>
              <a:r>
                <a:rPr lang="en-US" sz="2149" spc="-44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: If we want to access the 1st item from an array, then we access it using array[0]. (</a:t>
              </a:r>
              <a:r>
                <a:rPr lang="en-US" sz="2149" b="1" spc="-44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Indexing starts from 0</a:t>
              </a:r>
              <a:r>
                <a:rPr lang="en-US" sz="2149" spc="-44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.)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00695" y="4730502"/>
            <a:ext cx="16686609" cy="566963"/>
            <a:chOff x="0" y="0"/>
            <a:chExt cx="22248812" cy="75595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2248812" cy="755951"/>
            </a:xfrm>
            <a:custGeom>
              <a:avLst/>
              <a:gdLst/>
              <a:ahLst/>
              <a:cxnLst/>
              <a:rect l="l" t="t" r="r" b="b"/>
              <a:pathLst>
                <a:path w="22248812" h="755951">
                  <a:moveTo>
                    <a:pt x="0" y="0"/>
                  </a:moveTo>
                  <a:lnTo>
                    <a:pt x="22248812" y="0"/>
                  </a:lnTo>
                  <a:lnTo>
                    <a:pt x="22248812" y="755951"/>
                  </a:lnTo>
                  <a:lnTo>
                    <a:pt x="0" y="7559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95250"/>
              <a:ext cx="22248812" cy="8512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195"/>
                </a:lnSpc>
              </a:pPr>
              <a:r>
                <a:rPr lang="en-US" sz="2649" u="sng" spc="-42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Used cases</a:t>
              </a:r>
              <a:r>
                <a:rPr lang="en-US" sz="2649" spc="-42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: 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00695" y="5445472"/>
            <a:ext cx="16686609" cy="466381"/>
            <a:chOff x="0" y="0"/>
            <a:chExt cx="22248812" cy="621841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2248812" cy="621841"/>
            </a:xfrm>
            <a:custGeom>
              <a:avLst/>
              <a:gdLst/>
              <a:ahLst/>
              <a:cxnLst/>
              <a:rect l="l" t="t" r="r" b="b"/>
              <a:pathLst>
                <a:path w="22248812" h="621841">
                  <a:moveTo>
                    <a:pt x="0" y="0"/>
                  </a:moveTo>
                  <a:lnTo>
                    <a:pt x="22248812" y="0"/>
                  </a:lnTo>
                  <a:lnTo>
                    <a:pt x="22248812" y="621841"/>
                  </a:lnTo>
                  <a:lnTo>
                    <a:pt x="0" y="62184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95250"/>
              <a:ext cx="22248812" cy="71709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24246" lvl="1" indent="-162123" algn="l">
                <a:lnSpc>
                  <a:spcPts val="3532"/>
                </a:lnSpc>
                <a:buFont typeface="Arial"/>
                <a:buChar char="•"/>
              </a:pPr>
              <a:r>
                <a:rPr lang="en-US" sz="2149" spc="-44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Managing multiple server upgrades.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00695" y="5983189"/>
            <a:ext cx="16686609" cy="466381"/>
            <a:chOff x="0" y="0"/>
            <a:chExt cx="22248812" cy="62184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2248812" cy="621841"/>
            </a:xfrm>
            <a:custGeom>
              <a:avLst/>
              <a:gdLst/>
              <a:ahLst/>
              <a:cxnLst/>
              <a:rect l="l" t="t" r="r" b="b"/>
              <a:pathLst>
                <a:path w="22248812" h="621841">
                  <a:moveTo>
                    <a:pt x="0" y="0"/>
                  </a:moveTo>
                  <a:lnTo>
                    <a:pt x="22248812" y="0"/>
                  </a:lnTo>
                  <a:lnTo>
                    <a:pt x="22248812" y="621841"/>
                  </a:lnTo>
                  <a:lnTo>
                    <a:pt x="0" y="62184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95250"/>
              <a:ext cx="22248812" cy="71709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24246" lvl="1" indent="-162123" algn="l">
                <a:lnSpc>
                  <a:spcPts val="3532"/>
                </a:lnSpc>
                <a:buFont typeface="Arial"/>
                <a:buChar char="•"/>
              </a:pPr>
              <a:r>
                <a:rPr lang="en-US" sz="2149" spc="-44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Scaling remote servers using AWS.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00695" y="6520904"/>
            <a:ext cx="16686609" cy="466381"/>
            <a:chOff x="0" y="0"/>
            <a:chExt cx="22248812" cy="621841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2248812" cy="621841"/>
            </a:xfrm>
            <a:custGeom>
              <a:avLst/>
              <a:gdLst/>
              <a:ahLst/>
              <a:cxnLst/>
              <a:rect l="l" t="t" r="r" b="b"/>
              <a:pathLst>
                <a:path w="22248812" h="621841">
                  <a:moveTo>
                    <a:pt x="0" y="0"/>
                  </a:moveTo>
                  <a:lnTo>
                    <a:pt x="22248812" y="0"/>
                  </a:lnTo>
                  <a:lnTo>
                    <a:pt x="22248812" y="621841"/>
                  </a:lnTo>
                  <a:lnTo>
                    <a:pt x="0" y="62184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95250"/>
              <a:ext cx="22248812" cy="71709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24246" lvl="1" indent="-162123" algn="l">
                <a:lnSpc>
                  <a:spcPts val="3532"/>
                </a:lnSpc>
                <a:buFont typeface="Arial"/>
                <a:buChar char="•"/>
              </a:pPr>
              <a:r>
                <a:rPr lang="en-US" sz="2149" spc="-44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Backup automation for multiple directories.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00695" y="7950845"/>
            <a:ext cx="16686609" cy="566963"/>
            <a:chOff x="0" y="0"/>
            <a:chExt cx="22248812" cy="755951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2248812" cy="755951"/>
            </a:xfrm>
            <a:custGeom>
              <a:avLst/>
              <a:gdLst/>
              <a:ahLst/>
              <a:cxnLst/>
              <a:rect l="l" t="t" r="r" b="b"/>
              <a:pathLst>
                <a:path w="22248812" h="755951">
                  <a:moveTo>
                    <a:pt x="0" y="0"/>
                  </a:moveTo>
                  <a:lnTo>
                    <a:pt x="22248812" y="0"/>
                  </a:lnTo>
                  <a:lnTo>
                    <a:pt x="22248812" y="755951"/>
                  </a:lnTo>
                  <a:lnTo>
                    <a:pt x="0" y="7559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95250"/>
              <a:ext cx="22248812" cy="8512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195"/>
                </a:lnSpc>
              </a:pPr>
              <a:r>
                <a:rPr lang="en-US" sz="2649" u="sng" spc="-42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Types of Arrays</a:t>
              </a:r>
              <a:r>
                <a:rPr lang="en-US" sz="2649" spc="-42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: 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00695" y="8665815"/>
            <a:ext cx="16686609" cy="466381"/>
            <a:chOff x="0" y="0"/>
            <a:chExt cx="22248812" cy="621841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2248812" cy="621841"/>
            </a:xfrm>
            <a:custGeom>
              <a:avLst/>
              <a:gdLst/>
              <a:ahLst/>
              <a:cxnLst/>
              <a:rect l="l" t="t" r="r" b="b"/>
              <a:pathLst>
                <a:path w="22248812" h="621841">
                  <a:moveTo>
                    <a:pt x="0" y="0"/>
                  </a:moveTo>
                  <a:lnTo>
                    <a:pt x="22248812" y="0"/>
                  </a:lnTo>
                  <a:lnTo>
                    <a:pt x="22248812" y="621841"/>
                  </a:lnTo>
                  <a:lnTo>
                    <a:pt x="0" y="62184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95250"/>
              <a:ext cx="22248812" cy="71709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24246" lvl="1" indent="-162123" algn="l">
                <a:lnSpc>
                  <a:spcPts val="3532"/>
                </a:lnSpc>
                <a:buFont typeface="Arial"/>
                <a:buChar char="•"/>
              </a:pPr>
              <a:r>
                <a:rPr lang="en-US" sz="2149" spc="-44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Indexed arrays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800695" y="9203531"/>
            <a:ext cx="16686609" cy="466381"/>
            <a:chOff x="0" y="0"/>
            <a:chExt cx="22248812" cy="621841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22248812" cy="621841"/>
            </a:xfrm>
            <a:custGeom>
              <a:avLst/>
              <a:gdLst/>
              <a:ahLst/>
              <a:cxnLst/>
              <a:rect l="l" t="t" r="r" b="b"/>
              <a:pathLst>
                <a:path w="22248812" h="621841">
                  <a:moveTo>
                    <a:pt x="0" y="0"/>
                  </a:moveTo>
                  <a:lnTo>
                    <a:pt x="22248812" y="0"/>
                  </a:lnTo>
                  <a:lnTo>
                    <a:pt x="22248812" y="621841"/>
                  </a:lnTo>
                  <a:lnTo>
                    <a:pt x="0" y="62184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95250"/>
              <a:ext cx="22248812" cy="71709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24246" lvl="1" indent="-162123" algn="l">
                <a:lnSpc>
                  <a:spcPts val="3532"/>
                </a:lnSpc>
                <a:buFont typeface="Arial"/>
                <a:buChar char="•"/>
              </a:pPr>
              <a:r>
                <a:rPr lang="en-US" sz="2149" spc="-44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Associative arrays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76411" y="797797"/>
            <a:ext cx="8567589" cy="729775"/>
            <a:chOff x="0" y="0"/>
            <a:chExt cx="11423452" cy="97303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423452" cy="973034"/>
            </a:xfrm>
            <a:custGeom>
              <a:avLst/>
              <a:gdLst/>
              <a:ahLst/>
              <a:cxnLst/>
              <a:rect l="l" t="t" r="r" b="b"/>
              <a:pathLst>
                <a:path w="11423452" h="973034">
                  <a:moveTo>
                    <a:pt x="0" y="0"/>
                  </a:moveTo>
                  <a:lnTo>
                    <a:pt x="11423452" y="0"/>
                  </a:lnTo>
                  <a:lnTo>
                    <a:pt x="11423452" y="973034"/>
                  </a:lnTo>
                  <a:lnTo>
                    <a:pt x="0" y="97303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11423452" cy="100160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250"/>
                </a:lnSpc>
              </a:pPr>
              <a:r>
                <a:rPr lang="en-US" sz="3387" b="1" spc="-103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Indexed &amp; Associative Arrays: Example-1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76411" y="1584722"/>
            <a:ext cx="17135178" cy="375588"/>
            <a:chOff x="0" y="0"/>
            <a:chExt cx="22846903" cy="50078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846903" cy="500784"/>
            </a:xfrm>
            <a:custGeom>
              <a:avLst/>
              <a:gdLst/>
              <a:ahLst/>
              <a:cxnLst/>
              <a:rect l="l" t="t" r="r" b="b"/>
              <a:pathLst>
                <a:path w="22846903" h="500784">
                  <a:moveTo>
                    <a:pt x="0" y="0"/>
                  </a:moveTo>
                  <a:lnTo>
                    <a:pt x="22846903" y="0"/>
                  </a:lnTo>
                  <a:lnTo>
                    <a:pt x="22846903" y="500784"/>
                  </a:lnTo>
                  <a:lnTo>
                    <a:pt x="0" y="5007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76200"/>
              <a:ext cx="22846903" cy="5769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263920" lvl="1" indent="-131960" algn="l">
                <a:lnSpc>
                  <a:spcPts val="2887"/>
                </a:lnSpc>
                <a:buFont typeface="Arial"/>
                <a:buChar char="•"/>
              </a:pPr>
              <a:r>
                <a:rPr lang="en-US" sz="1749" spc="-36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An indexed array stores multiple elements by </a:t>
              </a:r>
              <a:r>
                <a:rPr lang="en-US" sz="1749" b="1" spc="-36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numeric index</a:t>
              </a:r>
              <a:r>
                <a:rPr lang="en-US" sz="1749" spc="-36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, starting from 0 &amp; an associative array stores values using </a:t>
              </a:r>
              <a:r>
                <a:rPr lang="en-US" sz="1749" b="1" spc="-36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keys</a:t>
              </a:r>
              <a:r>
                <a:rPr lang="en-US" sz="1749" spc="-36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, which can be strings instead of numbers.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76411" y="1971526"/>
            <a:ext cx="17135178" cy="375588"/>
            <a:chOff x="0" y="0"/>
            <a:chExt cx="22846903" cy="50078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846903" cy="500784"/>
            </a:xfrm>
            <a:custGeom>
              <a:avLst/>
              <a:gdLst/>
              <a:ahLst/>
              <a:cxnLst/>
              <a:rect l="l" t="t" r="r" b="b"/>
              <a:pathLst>
                <a:path w="22846903" h="500784">
                  <a:moveTo>
                    <a:pt x="0" y="0"/>
                  </a:moveTo>
                  <a:lnTo>
                    <a:pt x="22846903" y="0"/>
                  </a:lnTo>
                  <a:lnTo>
                    <a:pt x="22846903" y="500784"/>
                  </a:lnTo>
                  <a:lnTo>
                    <a:pt x="0" y="5007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76200"/>
              <a:ext cx="22846903" cy="5769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263920" lvl="1" indent="-131960" algn="l">
                <a:lnSpc>
                  <a:spcPts val="2887"/>
                </a:lnSpc>
                <a:buFont typeface="Arial"/>
                <a:buChar char="•"/>
              </a:pPr>
              <a:r>
                <a:rPr lang="en-US" sz="1749" spc="-36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Indexed arrays — used when values are static, associative arrays — used when </a:t>
              </a:r>
              <a:r>
                <a:rPr lang="en-US" sz="1749" b="1" spc="-36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values need to be dynamic</a:t>
              </a:r>
              <a:r>
                <a:rPr lang="en-US" sz="1749" spc="-36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 or vary based on specific conditions.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76411" y="2358330"/>
            <a:ext cx="17135178" cy="375588"/>
            <a:chOff x="0" y="0"/>
            <a:chExt cx="22846903" cy="50078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2846903" cy="500784"/>
            </a:xfrm>
            <a:custGeom>
              <a:avLst/>
              <a:gdLst/>
              <a:ahLst/>
              <a:cxnLst/>
              <a:rect l="l" t="t" r="r" b="b"/>
              <a:pathLst>
                <a:path w="22846903" h="500784">
                  <a:moveTo>
                    <a:pt x="0" y="0"/>
                  </a:moveTo>
                  <a:lnTo>
                    <a:pt x="22846903" y="0"/>
                  </a:lnTo>
                  <a:lnTo>
                    <a:pt x="22846903" y="500784"/>
                  </a:lnTo>
                  <a:lnTo>
                    <a:pt x="0" y="5007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76200"/>
              <a:ext cx="22846903" cy="5769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263920" lvl="1" indent="-131960" algn="l">
                <a:lnSpc>
                  <a:spcPts val="2887"/>
                </a:lnSpc>
                <a:buFont typeface="Arial"/>
                <a:buChar char="•"/>
              </a:pPr>
              <a:r>
                <a:rPr lang="en-US" sz="1749" spc="-36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Indexed arrays: array_name[</a:t>
              </a:r>
              <a:r>
                <a:rPr lang="en-US" sz="1749" b="1" spc="-36">
                  <a:solidFill>
                    <a:srgbClr val="1F713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</a:t>
              </a:r>
              <a:r>
                <a:rPr lang="en-US" sz="1749" spc="-36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]="value"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76411" y="2745135"/>
            <a:ext cx="17135178" cy="375588"/>
            <a:chOff x="0" y="0"/>
            <a:chExt cx="22846903" cy="50078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2846903" cy="500784"/>
            </a:xfrm>
            <a:custGeom>
              <a:avLst/>
              <a:gdLst/>
              <a:ahLst/>
              <a:cxnLst/>
              <a:rect l="l" t="t" r="r" b="b"/>
              <a:pathLst>
                <a:path w="22846903" h="500784">
                  <a:moveTo>
                    <a:pt x="0" y="0"/>
                  </a:moveTo>
                  <a:lnTo>
                    <a:pt x="22846903" y="0"/>
                  </a:lnTo>
                  <a:lnTo>
                    <a:pt x="22846903" y="500784"/>
                  </a:lnTo>
                  <a:lnTo>
                    <a:pt x="0" y="5007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76200"/>
              <a:ext cx="22846903" cy="5769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263920" lvl="1" indent="-131960" algn="l">
                <a:lnSpc>
                  <a:spcPts val="2887"/>
                </a:lnSpc>
                <a:buFont typeface="Arial"/>
                <a:buChar char="•"/>
              </a:pPr>
              <a:r>
                <a:rPr lang="en-US" sz="1749" spc="-36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Associative arrays: array_name["</a:t>
              </a:r>
              <a:r>
                <a:rPr lang="en-US" sz="1749" b="1" spc="-36">
                  <a:solidFill>
                    <a:srgbClr val="1F713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key</a:t>
              </a:r>
              <a:r>
                <a:rPr lang="en-US" sz="1749" spc="-36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"]="value"</a:t>
              </a:r>
            </a:p>
          </p:txBody>
        </p:sp>
      </p:grpSp>
      <p:sp>
        <p:nvSpPr>
          <p:cNvPr id="21" name="Freeform 21" descr="preencoded.png"/>
          <p:cNvSpPr/>
          <p:nvPr/>
        </p:nvSpPr>
        <p:spPr>
          <a:xfrm>
            <a:off x="576411" y="3444627"/>
            <a:ext cx="4859982" cy="3627239"/>
          </a:xfrm>
          <a:custGeom>
            <a:avLst/>
            <a:gdLst/>
            <a:ahLst/>
            <a:cxnLst/>
            <a:rect l="l" t="t" r="r" b="b"/>
            <a:pathLst>
              <a:path w="4859982" h="3627239">
                <a:moveTo>
                  <a:pt x="0" y="0"/>
                </a:moveTo>
                <a:lnTo>
                  <a:pt x="4859983" y="0"/>
                </a:lnTo>
                <a:lnTo>
                  <a:pt x="4859983" y="3627239"/>
                </a:lnTo>
                <a:lnTo>
                  <a:pt x="0" y="3627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7" b="-47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2" name="Group 22"/>
          <p:cNvGrpSpPr/>
          <p:nvPr/>
        </p:nvGrpSpPr>
        <p:grpSpPr>
          <a:xfrm>
            <a:off x="1298495" y="7346926"/>
            <a:ext cx="3415815" cy="455661"/>
            <a:chOff x="0" y="0"/>
            <a:chExt cx="4554419" cy="607547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554419" cy="607547"/>
            </a:xfrm>
            <a:custGeom>
              <a:avLst/>
              <a:gdLst/>
              <a:ahLst/>
              <a:cxnLst/>
              <a:rect l="l" t="t" r="r" b="b"/>
              <a:pathLst>
                <a:path w="4554419" h="607547">
                  <a:moveTo>
                    <a:pt x="0" y="0"/>
                  </a:moveTo>
                  <a:lnTo>
                    <a:pt x="4554419" y="0"/>
                  </a:lnTo>
                  <a:lnTo>
                    <a:pt x="4554419" y="607547"/>
                  </a:lnTo>
                  <a:lnTo>
                    <a:pt x="0" y="6075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4554419" cy="617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20"/>
                </a:lnSpc>
              </a:pPr>
              <a:r>
                <a:rPr lang="en-US" sz="2137" b="1" spc="-64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Example: Indexed Arrays</a:t>
              </a:r>
            </a:p>
          </p:txBody>
        </p:sp>
      </p:grpSp>
      <p:sp>
        <p:nvSpPr>
          <p:cNvPr id="25" name="Freeform 25" descr="preencoded.png"/>
          <p:cNvSpPr/>
          <p:nvPr/>
        </p:nvSpPr>
        <p:spPr>
          <a:xfrm>
            <a:off x="9354442" y="3444627"/>
            <a:ext cx="4859982" cy="4130129"/>
          </a:xfrm>
          <a:custGeom>
            <a:avLst/>
            <a:gdLst/>
            <a:ahLst/>
            <a:cxnLst/>
            <a:rect l="l" t="t" r="r" b="b"/>
            <a:pathLst>
              <a:path w="4859982" h="4130129">
                <a:moveTo>
                  <a:pt x="0" y="0"/>
                </a:moveTo>
                <a:lnTo>
                  <a:pt x="4859983" y="0"/>
                </a:lnTo>
                <a:lnTo>
                  <a:pt x="4859983" y="4130129"/>
                </a:lnTo>
                <a:lnTo>
                  <a:pt x="0" y="41301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68" b="-6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6" name="Group 26"/>
          <p:cNvGrpSpPr/>
          <p:nvPr/>
        </p:nvGrpSpPr>
        <p:grpSpPr>
          <a:xfrm>
            <a:off x="10253030" y="7346926"/>
            <a:ext cx="3799763" cy="455661"/>
            <a:chOff x="0" y="0"/>
            <a:chExt cx="5066351" cy="607547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066351" cy="607547"/>
            </a:xfrm>
            <a:custGeom>
              <a:avLst/>
              <a:gdLst/>
              <a:ahLst/>
              <a:cxnLst/>
              <a:rect l="l" t="t" r="r" b="b"/>
              <a:pathLst>
                <a:path w="5066351" h="607547">
                  <a:moveTo>
                    <a:pt x="0" y="0"/>
                  </a:moveTo>
                  <a:lnTo>
                    <a:pt x="5066351" y="0"/>
                  </a:lnTo>
                  <a:lnTo>
                    <a:pt x="5066351" y="607547"/>
                  </a:lnTo>
                  <a:lnTo>
                    <a:pt x="0" y="6075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9525"/>
              <a:ext cx="5066351" cy="617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20"/>
                </a:lnSpc>
              </a:pPr>
              <a:r>
                <a:rPr lang="en-US" sz="2137" b="1" spc="-64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Example: Associative Arrays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76411" y="8830121"/>
            <a:ext cx="17135178" cy="395417"/>
            <a:chOff x="0" y="0"/>
            <a:chExt cx="22846903" cy="527223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2846903" cy="527223"/>
            </a:xfrm>
            <a:custGeom>
              <a:avLst/>
              <a:gdLst/>
              <a:ahLst/>
              <a:cxnLst/>
              <a:rect l="l" t="t" r="r" b="b"/>
              <a:pathLst>
                <a:path w="22846903" h="527223">
                  <a:moveTo>
                    <a:pt x="0" y="0"/>
                  </a:moveTo>
                  <a:lnTo>
                    <a:pt x="22846903" y="0"/>
                  </a:lnTo>
                  <a:lnTo>
                    <a:pt x="22846903" y="527223"/>
                  </a:lnTo>
                  <a:lnTo>
                    <a:pt x="0" y="5272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85725"/>
              <a:ext cx="22846903" cy="6129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279001" lvl="1" indent="-139501" algn="l">
                <a:lnSpc>
                  <a:spcPts val="3052"/>
                </a:lnSpc>
                <a:buFont typeface="Arial"/>
                <a:buChar char="•"/>
              </a:pPr>
              <a:r>
                <a:rPr lang="en-US" sz="1849" spc="-38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The -A flag is necessary to explicitly declare that the array uses </a:t>
              </a:r>
              <a:r>
                <a:rPr lang="en-US" sz="1849" b="1" spc="-38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keys</a:t>
              </a:r>
              <a:r>
                <a:rPr lang="en-US" sz="1849" spc="-38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 that are </a:t>
              </a:r>
              <a:r>
                <a:rPr lang="en-US" sz="1849" b="1" spc="-38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strings, </a:t>
              </a:r>
              <a:r>
                <a:rPr lang="en-US" sz="1849" spc="-38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Without -A, the array would be treated as an indexed array. 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76411" y="9216926"/>
            <a:ext cx="17135178" cy="395417"/>
            <a:chOff x="0" y="0"/>
            <a:chExt cx="22846903" cy="527223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2846903" cy="527223"/>
            </a:xfrm>
            <a:custGeom>
              <a:avLst/>
              <a:gdLst/>
              <a:ahLst/>
              <a:cxnLst/>
              <a:rect l="l" t="t" r="r" b="b"/>
              <a:pathLst>
                <a:path w="22846903" h="527223">
                  <a:moveTo>
                    <a:pt x="0" y="0"/>
                  </a:moveTo>
                  <a:lnTo>
                    <a:pt x="22846903" y="0"/>
                  </a:lnTo>
                  <a:lnTo>
                    <a:pt x="22846903" y="527223"/>
                  </a:lnTo>
                  <a:lnTo>
                    <a:pt x="0" y="5272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85725"/>
              <a:ext cx="22846903" cy="6129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279001" lvl="1" indent="-139501" algn="l">
                <a:lnSpc>
                  <a:spcPts val="3052"/>
                </a:lnSpc>
                <a:buFont typeface="Arial"/>
                <a:buChar char="•"/>
              </a:pPr>
              <a:r>
                <a:rPr lang="en-US" sz="1849" spc="-38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It's recommended to use -a for indexed arrays for better script understanding for fellow teammates.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71351" y="555505"/>
            <a:ext cx="8781306" cy="729775"/>
            <a:chOff x="0" y="0"/>
            <a:chExt cx="11708408" cy="97303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708409" cy="973034"/>
            </a:xfrm>
            <a:custGeom>
              <a:avLst/>
              <a:gdLst/>
              <a:ahLst/>
              <a:cxnLst/>
              <a:rect l="l" t="t" r="r" b="b"/>
              <a:pathLst>
                <a:path w="11708409" h="973034">
                  <a:moveTo>
                    <a:pt x="0" y="0"/>
                  </a:moveTo>
                  <a:lnTo>
                    <a:pt x="11708409" y="0"/>
                  </a:lnTo>
                  <a:lnTo>
                    <a:pt x="11708409" y="973034"/>
                  </a:lnTo>
                  <a:lnTo>
                    <a:pt x="0" y="97303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11708408" cy="100160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250"/>
                </a:lnSpc>
              </a:pPr>
              <a:r>
                <a:rPr lang="en-US" sz="3387" b="1" spc="-102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Indexed &amp; Associative Arrays: Example-2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71351" y="1285280"/>
            <a:ext cx="17145297" cy="356711"/>
            <a:chOff x="0" y="0"/>
            <a:chExt cx="22860397" cy="47561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860397" cy="475615"/>
            </a:xfrm>
            <a:custGeom>
              <a:avLst/>
              <a:gdLst/>
              <a:ahLst/>
              <a:cxnLst/>
              <a:rect l="l" t="t" r="r" b="b"/>
              <a:pathLst>
                <a:path w="22860397" h="475615">
                  <a:moveTo>
                    <a:pt x="0" y="0"/>
                  </a:moveTo>
                  <a:lnTo>
                    <a:pt x="22860397" y="0"/>
                  </a:lnTo>
                  <a:lnTo>
                    <a:pt x="22860397" y="475615"/>
                  </a:lnTo>
                  <a:lnTo>
                    <a:pt x="0" y="475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76200"/>
              <a:ext cx="22860397" cy="5518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248839" lvl="1" indent="-124420" algn="l">
                <a:lnSpc>
                  <a:spcPts val="2639"/>
                </a:lnSpc>
                <a:buFont typeface="Arial"/>
                <a:buChar char="•"/>
              </a:pPr>
              <a:r>
                <a:rPr lang="en-US" sz="1649" spc="-34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Let's look into a common example where we can automate the backup of specific directories through arrays concepts using bash scripting.</a:t>
              </a:r>
            </a:p>
          </p:txBody>
        </p:sp>
      </p:grpSp>
      <p:sp>
        <p:nvSpPr>
          <p:cNvPr id="12" name="Freeform 12" descr="preencoded.png"/>
          <p:cNvSpPr/>
          <p:nvPr/>
        </p:nvSpPr>
        <p:spPr>
          <a:xfrm>
            <a:off x="571351" y="1978968"/>
            <a:ext cx="5462713" cy="5065931"/>
          </a:xfrm>
          <a:custGeom>
            <a:avLst/>
            <a:gdLst/>
            <a:ahLst/>
            <a:cxnLst/>
            <a:rect l="l" t="t" r="r" b="b"/>
            <a:pathLst>
              <a:path w="5462713" h="5065931">
                <a:moveTo>
                  <a:pt x="0" y="0"/>
                </a:moveTo>
                <a:lnTo>
                  <a:pt x="5462713" y="0"/>
                </a:lnTo>
                <a:lnTo>
                  <a:pt x="5462713" y="5065930"/>
                </a:lnTo>
                <a:lnTo>
                  <a:pt x="0" y="50659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6" r="-26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3" name="Group 13"/>
          <p:cNvGrpSpPr/>
          <p:nvPr/>
        </p:nvGrpSpPr>
        <p:grpSpPr>
          <a:xfrm>
            <a:off x="1757586" y="7102048"/>
            <a:ext cx="2448817" cy="450563"/>
            <a:chOff x="0" y="0"/>
            <a:chExt cx="3265090" cy="60075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265090" cy="600751"/>
            </a:xfrm>
            <a:custGeom>
              <a:avLst/>
              <a:gdLst/>
              <a:ahLst/>
              <a:cxnLst/>
              <a:rect l="l" t="t" r="r" b="b"/>
              <a:pathLst>
                <a:path w="3265090" h="600751">
                  <a:moveTo>
                    <a:pt x="0" y="0"/>
                  </a:moveTo>
                  <a:lnTo>
                    <a:pt x="3265090" y="0"/>
                  </a:lnTo>
                  <a:lnTo>
                    <a:pt x="3265090" y="600751"/>
                  </a:lnTo>
                  <a:lnTo>
                    <a:pt x="0" y="6007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3265090" cy="6293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28"/>
                </a:lnSpc>
              </a:pPr>
              <a:r>
                <a:rPr lang="en-US" sz="2074" b="1" spc="-63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Indexed Array</a:t>
              </a:r>
            </a:p>
          </p:txBody>
        </p:sp>
      </p:grpSp>
      <p:sp>
        <p:nvSpPr>
          <p:cNvPr id="16" name="Freeform 16" descr="preencoded.png"/>
          <p:cNvSpPr/>
          <p:nvPr/>
        </p:nvSpPr>
        <p:spPr>
          <a:xfrm>
            <a:off x="9352658" y="1978968"/>
            <a:ext cx="7005521" cy="4434488"/>
          </a:xfrm>
          <a:custGeom>
            <a:avLst/>
            <a:gdLst/>
            <a:ahLst/>
            <a:cxnLst/>
            <a:rect l="l" t="t" r="r" b="b"/>
            <a:pathLst>
              <a:path w="7005521" h="4434488">
                <a:moveTo>
                  <a:pt x="0" y="0"/>
                </a:moveTo>
                <a:lnTo>
                  <a:pt x="7005520" y="0"/>
                </a:lnTo>
                <a:lnTo>
                  <a:pt x="7005520" y="4434487"/>
                </a:lnTo>
                <a:lnTo>
                  <a:pt x="0" y="44344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6" r="-46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7" name="Group 17"/>
          <p:cNvGrpSpPr/>
          <p:nvPr/>
        </p:nvGrpSpPr>
        <p:grpSpPr>
          <a:xfrm>
            <a:off x="11292521" y="6876767"/>
            <a:ext cx="2448817" cy="450563"/>
            <a:chOff x="0" y="0"/>
            <a:chExt cx="3265090" cy="60075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265090" cy="600751"/>
            </a:xfrm>
            <a:custGeom>
              <a:avLst/>
              <a:gdLst/>
              <a:ahLst/>
              <a:cxnLst/>
              <a:rect l="l" t="t" r="r" b="b"/>
              <a:pathLst>
                <a:path w="3265090" h="600751">
                  <a:moveTo>
                    <a:pt x="0" y="0"/>
                  </a:moveTo>
                  <a:lnTo>
                    <a:pt x="3265090" y="0"/>
                  </a:lnTo>
                  <a:lnTo>
                    <a:pt x="3265090" y="600751"/>
                  </a:lnTo>
                  <a:lnTo>
                    <a:pt x="0" y="6007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3265090" cy="6293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28"/>
                </a:lnSpc>
              </a:pPr>
              <a:r>
                <a:rPr lang="en-US" sz="2074" b="1" spc="-63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Associative Array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71351" y="7694562"/>
            <a:ext cx="17145297" cy="377924"/>
            <a:chOff x="0" y="0"/>
            <a:chExt cx="22860397" cy="50389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2860397" cy="503899"/>
            </a:xfrm>
            <a:custGeom>
              <a:avLst/>
              <a:gdLst/>
              <a:ahLst/>
              <a:cxnLst/>
              <a:rect l="l" t="t" r="r" b="b"/>
              <a:pathLst>
                <a:path w="22860397" h="503899">
                  <a:moveTo>
                    <a:pt x="0" y="0"/>
                  </a:moveTo>
                  <a:lnTo>
                    <a:pt x="22860397" y="0"/>
                  </a:lnTo>
                  <a:lnTo>
                    <a:pt x="22860397" y="503899"/>
                  </a:lnTo>
                  <a:lnTo>
                    <a:pt x="0" y="50389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76200"/>
              <a:ext cx="22860397" cy="5800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90"/>
                </a:lnSpc>
              </a:pPr>
              <a:r>
                <a:rPr lang="en-US" sz="1762" b="1" spc="-29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Note: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71351" y="8204598"/>
            <a:ext cx="17145297" cy="377924"/>
            <a:chOff x="0" y="0"/>
            <a:chExt cx="22860397" cy="50389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2860397" cy="503899"/>
            </a:xfrm>
            <a:custGeom>
              <a:avLst/>
              <a:gdLst/>
              <a:ahLst/>
              <a:cxnLst/>
              <a:rect l="l" t="t" r="r" b="b"/>
              <a:pathLst>
                <a:path w="22860397" h="503899">
                  <a:moveTo>
                    <a:pt x="0" y="0"/>
                  </a:moveTo>
                  <a:lnTo>
                    <a:pt x="22860397" y="0"/>
                  </a:lnTo>
                  <a:lnTo>
                    <a:pt x="22860397" y="503899"/>
                  </a:lnTo>
                  <a:lnTo>
                    <a:pt x="0" y="50389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76200"/>
              <a:ext cx="22860397" cy="5800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90"/>
                </a:lnSpc>
              </a:pPr>
              <a:r>
                <a:rPr lang="en-US" sz="1762" spc="-29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@ is used for accessing </a:t>
              </a:r>
              <a:r>
                <a:rPr lang="en-US" sz="1762" b="1" spc="-29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values</a:t>
              </a:r>
              <a:r>
                <a:rPr lang="en-US" sz="1762" spc="-29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 (whole list within array) in both indexed and associative arrays.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71351" y="8714631"/>
            <a:ext cx="17145297" cy="377924"/>
            <a:chOff x="0" y="0"/>
            <a:chExt cx="22860397" cy="50389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2860397" cy="503899"/>
            </a:xfrm>
            <a:custGeom>
              <a:avLst/>
              <a:gdLst/>
              <a:ahLst/>
              <a:cxnLst/>
              <a:rect l="l" t="t" r="r" b="b"/>
              <a:pathLst>
                <a:path w="22860397" h="503899">
                  <a:moveTo>
                    <a:pt x="0" y="0"/>
                  </a:moveTo>
                  <a:lnTo>
                    <a:pt x="22860397" y="0"/>
                  </a:lnTo>
                  <a:lnTo>
                    <a:pt x="22860397" y="503899"/>
                  </a:lnTo>
                  <a:lnTo>
                    <a:pt x="0" y="50389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76200"/>
              <a:ext cx="22860397" cy="5800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90"/>
                </a:lnSpc>
              </a:pPr>
              <a:r>
                <a:rPr lang="en-US" sz="1762" spc="-29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! symbol is used in both indexed &amp; associative arrays, but it serves different purposes: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71351" y="9224665"/>
            <a:ext cx="17145297" cy="326380"/>
            <a:chOff x="0" y="0"/>
            <a:chExt cx="22860397" cy="435173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2860397" cy="435173"/>
            </a:xfrm>
            <a:custGeom>
              <a:avLst/>
              <a:gdLst/>
              <a:ahLst/>
              <a:cxnLst/>
              <a:rect l="l" t="t" r="r" b="b"/>
              <a:pathLst>
                <a:path w="22860397" h="435173">
                  <a:moveTo>
                    <a:pt x="0" y="0"/>
                  </a:moveTo>
                  <a:lnTo>
                    <a:pt x="22860397" y="0"/>
                  </a:lnTo>
                  <a:lnTo>
                    <a:pt x="22860397" y="435173"/>
                  </a:lnTo>
                  <a:lnTo>
                    <a:pt x="0" y="4351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66675"/>
              <a:ext cx="22860397" cy="5018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218678" lvl="1" indent="-109339" algn="l">
                <a:lnSpc>
                  <a:spcPts val="2319"/>
                </a:lnSpc>
                <a:buFont typeface="Arial"/>
                <a:buChar char="•"/>
              </a:pPr>
              <a:r>
                <a:rPr lang="en-US" sz="1449" b="1" spc="-30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In indexed arrays</a:t>
              </a:r>
              <a:r>
                <a:rPr lang="en-US" sz="1449" spc="-30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, it refers to the </a:t>
              </a:r>
              <a:r>
                <a:rPr lang="en-US" sz="1449" b="1" spc="-30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indices (0, 1, 2)</a:t>
              </a:r>
              <a:r>
                <a:rPr lang="en-US" sz="1449" spc="-30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71351" y="9608046"/>
            <a:ext cx="17145297" cy="326380"/>
            <a:chOff x="0" y="0"/>
            <a:chExt cx="22860397" cy="435173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2860397" cy="435173"/>
            </a:xfrm>
            <a:custGeom>
              <a:avLst/>
              <a:gdLst/>
              <a:ahLst/>
              <a:cxnLst/>
              <a:rect l="l" t="t" r="r" b="b"/>
              <a:pathLst>
                <a:path w="22860397" h="435173">
                  <a:moveTo>
                    <a:pt x="0" y="0"/>
                  </a:moveTo>
                  <a:lnTo>
                    <a:pt x="22860397" y="0"/>
                  </a:lnTo>
                  <a:lnTo>
                    <a:pt x="22860397" y="435173"/>
                  </a:lnTo>
                  <a:lnTo>
                    <a:pt x="0" y="4351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66675"/>
              <a:ext cx="22860397" cy="5018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218678" lvl="1" indent="-109339" algn="l">
                <a:lnSpc>
                  <a:spcPts val="2319"/>
                </a:lnSpc>
                <a:buFont typeface="Arial"/>
                <a:buChar char="•"/>
              </a:pPr>
              <a:r>
                <a:rPr lang="en-US" sz="1449" b="1" spc="-30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In associative arrays</a:t>
              </a:r>
              <a:r>
                <a:rPr lang="en-US" sz="1449" spc="-30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, it refers to the </a:t>
              </a:r>
              <a:r>
                <a:rPr lang="en-US" sz="1449" b="1" spc="-30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keys (directory paths)</a:t>
              </a:r>
              <a:r>
                <a:rPr lang="en-US" sz="1449" spc="-30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18679" y="486072"/>
            <a:ext cx="5757565" cy="552450"/>
            <a:chOff x="0" y="0"/>
            <a:chExt cx="7676753" cy="7366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676753" cy="736600"/>
            </a:xfrm>
            <a:custGeom>
              <a:avLst/>
              <a:gdLst/>
              <a:ahLst/>
              <a:cxnLst/>
              <a:rect l="l" t="t" r="r" b="b"/>
              <a:pathLst>
                <a:path w="7676753" h="736600">
                  <a:moveTo>
                    <a:pt x="0" y="0"/>
                  </a:moveTo>
                  <a:lnTo>
                    <a:pt x="7676753" y="0"/>
                  </a:lnTo>
                  <a:lnTo>
                    <a:pt x="7676753" y="736600"/>
                  </a:lnTo>
                  <a:lnTo>
                    <a:pt x="0" y="736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7676753" cy="755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12"/>
                </a:lnSpc>
              </a:pPr>
              <a:r>
                <a:rPr lang="en-US" sz="3437" b="1" spc="-105">
                  <a:solidFill>
                    <a:srgbClr val="204C8E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Polishing your bash scripts!!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18679" y="1303585"/>
            <a:ext cx="2651969" cy="331440"/>
            <a:chOff x="0" y="0"/>
            <a:chExt cx="3535958" cy="44192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535958" cy="441920"/>
            </a:xfrm>
            <a:custGeom>
              <a:avLst/>
              <a:gdLst/>
              <a:ahLst/>
              <a:cxnLst/>
              <a:rect l="l" t="t" r="r" b="b"/>
              <a:pathLst>
                <a:path w="3535958" h="441920">
                  <a:moveTo>
                    <a:pt x="0" y="0"/>
                  </a:moveTo>
                  <a:lnTo>
                    <a:pt x="3535958" y="0"/>
                  </a:lnTo>
                  <a:lnTo>
                    <a:pt x="3535958" y="441920"/>
                  </a:lnTo>
                  <a:lnTo>
                    <a:pt x="0" y="4419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3535958" cy="4609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62"/>
                </a:lnSpc>
              </a:pPr>
              <a:r>
                <a:rPr lang="en-US" sz="2062" b="1" spc="-62">
                  <a:solidFill>
                    <a:srgbClr val="4950B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Script Refactoring: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18679" y="1900089"/>
            <a:ext cx="17050642" cy="353616"/>
            <a:chOff x="0" y="0"/>
            <a:chExt cx="22734190" cy="4714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734191" cy="471488"/>
            </a:xfrm>
            <a:custGeom>
              <a:avLst/>
              <a:gdLst/>
              <a:ahLst/>
              <a:cxnLst/>
              <a:rect l="l" t="t" r="r" b="b"/>
              <a:pathLst>
                <a:path w="22734191" h="471488">
                  <a:moveTo>
                    <a:pt x="0" y="0"/>
                  </a:moveTo>
                  <a:lnTo>
                    <a:pt x="22734191" y="0"/>
                  </a:lnTo>
                  <a:lnTo>
                    <a:pt x="22734191" y="471488"/>
                  </a:lnTo>
                  <a:lnTo>
                    <a:pt x="0" y="4714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22734190" cy="5191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207367" lvl="1" indent="-103684" algn="l">
                <a:lnSpc>
                  <a:spcPts val="2187"/>
                </a:lnSpc>
                <a:buFont typeface="Arial"/>
                <a:buChar char="•"/>
              </a:pPr>
              <a:r>
                <a:rPr lang="en-US" sz="1375" spc="-2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Improving the quality of the existing code.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13916" y="2447776"/>
            <a:ext cx="4139654" cy="1526530"/>
            <a:chOff x="0" y="0"/>
            <a:chExt cx="5519538" cy="2035373"/>
          </a:xfrm>
        </p:grpSpPr>
        <p:sp>
          <p:nvSpPr>
            <p:cNvPr id="16" name="Freeform 16"/>
            <p:cNvSpPr/>
            <p:nvPr/>
          </p:nvSpPr>
          <p:spPr>
            <a:xfrm>
              <a:off x="6350" y="6350"/>
              <a:ext cx="5506847" cy="2022729"/>
            </a:xfrm>
            <a:custGeom>
              <a:avLst/>
              <a:gdLst/>
              <a:ahLst/>
              <a:cxnLst/>
              <a:rect l="l" t="t" r="r" b="b"/>
              <a:pathLst>
                <a:path w="5506847" h="2022729">
                  <a:moveTo>
                    <a:pt x="0" y="99060"/>
                  </a:moveTo>
                  <a:cubicBezTo>
                    <a:pt x="0" y="44323"/>
                    <a:pt x="44450" y="0"/>
                    <a:pt x="99441" y="0"/>
                  </a:cubicBezTo>
                  <a:lnTo>
                    <a:pt x="5407406" y="0"/>
                  </a:lnTo>
                  <a:cubicBezTo>
                    <a:pt x="5462270" y="0"/>
                    <a:pt x="5506847" y="44323"/>
                    <a:pt x="5506847" y="99060"/>
                  </a:cubicBezTo>
                  <a:lnTo>
                    <a:pt x="5506847" y="1923669"/>
                  </a:lnTo>
                  <a:cubicBezTo>
                    <a:pt x="5506847" y="1978406"/>
                    <a:pt x="5462397" y="2022729"/>
                    <a:pt x="5407406" y="2022729"/>
                  </a:cubicBezTo>
                  <a:lnTo>
                    <a:pt x="99441" y="2022729"/>
                  </a:lnTo>
                  <a:cubicBezTo>
                    <a:pt x="44450" y="2022729"/>
                    <a:pt x="0" y="1978406"/>
                    <a:pt x="0" y="1923669"/>
                  </a:cubicBezTo>
                  <a:close/>
                </a:path>
              </a:pathLst>
            </a:custGeom>
            <a:solidFill>
              <a:srgbClr val="DADBF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0" y="0"/>
              <a:ext cx="5519547" cy="2035429"/>
            </a:xfrm>
            <a:custGeom>
              <a:avLst/>
              <a:gdLst/>
              <a:ahLst/>
              <a:cxnLst/>
              <a:rect l="l" t="t" r="r" b="b"/>
              <a:pathLst>
                <a:path w="5519547" h="2035429">
                  <a:moveTo>
                    <a:pt x="0" y="105410"/>
                  </a:moveTo>
                  <a:cubicBezTo>
                    <a:pt x="0" y="47117"/>
                    <a:pt x="47371" y="0"/>
                    <a:pt x="105791" y="0"/>
                  </a:cubicBezTo>
                  <a:lnTo>
                    <a:pt x="5413756" y="0"/>
                  </a:lnTo>
                  <a:lnTo>
                    <a:pt x="5413756" y="6350"/>
                  </a:lnTo>
                  <a:lnTo>
                    <a:pt x="5413756" y="0"/>
                  </a:lnTo>
                  <a:cubicBezTo>
                    <a:pt x="5472176" y="0"/>
                    <a:pt x="5519547" y="47117"/>
                    <a:pt x="5519547" y="105410"/>
                  </a:cubicBezTo>
                  <a:lnTo>
                    <a:pt x="5513197" y="105410"/>
                  </a:lnTo>
                  <a:lnTo>
                    <a:pt x="5519547" y="105410"/>
                  </a:lnTo>
                  <a:lnTo>
                    <a:pt x="5519547" y="1930019"/>
                  </a:lnTo>
                  <a:lnTo>
                    <a:pt x="5513197" y="1930019"/>
                  </a:lnTo>
                  <a:lnTo>
                    <a:pt x="5519547" y="1930019"/>
                  </a:lnTo>
                  <a:cubicBezTo>
                    <a:pt x="5519547" y="1988185"/>
                    <a:pt x="5472176" y="2035429"/>
                    <a:pt x="5413756" y="2035429"/>
                  </a:cubicBezTo>
                  <a:lnTo>
                    <a:pt x="5413756" y="2029079"/>
                  </a:lnTo>
                  <a:lnTo>
                    <a:pt x="5413756" y="2035429"/>
                  </a:lnTo>
                  <a:lnTo>
                    <a:pt x="105791" y="2035429"/>
                  </a:lnTo>
                  <a:lnTo>
                    <a:pt x="105791" y="2029079"/>
                  </a:lnTo>
                  <a:lnTo>
                    <a:pt x="105791" y="2035429"/>
                  </a:lnTo>
                  <a:cubicBezTo>
                    <a:pt x="47371" y="2035429"/>
                    <a:pt x="0" y="1988312"/>
                    <a:pt x="0" y="1930019"/>
                  </a:cubicBezTo>
                  <a:lnTo>
                    <a:pt x="0" y="105410"/>
                  </a:lnTo>
                  <a:lnTo>
                    <a:pt x="6350" y="105410"/>
                  </a:lnTo>
                  <a:lnTo>
                    <a:pt x="0" y="105410"/>
                  </a:lnTo>
                  <a:moveTo>
                    <a:pt x="12700" y="105410"/>
                  </a:moveTo>
                  <a:lnTo>
                    <a:pt x="12700" y="1930019"/>
                  </a:lnTo>
                  <a:lnTo>
                    <a:pt x="6350" y="1930019"/>
                  </a:lnTo>
                  <a:lnTo>
                    <a:pt x="12700" y="1930019"/>
                  </a:lnTo>
                  <a:cubicBezTo>
                    <a:pt x="12700" y="1981200"/>
                    <a:pt x="54356" y="2022729"/>
                    <a:pt x="105791" y="2022729"/>
                  </a:cubicBezTo>
                  <a:lnTo>
                    <a:pt x="5413756" y="2022729"/>
                  </a:lnTo>
                  <a:cubicBezTo>
                    <a:pt x="5465191" y="2022729"/>
                    <a:pt x="5506847" y="1981200"/>
                    <a:pt x="5506847" y="1930019"/>
                  </a:cubicBezTo>
                  <a:lnTo>
                    <a:pt x="5506847" y="105410"/>
                  </a:lnTo>
                  <a:cubicBezTo>
                    <a:pt x="5506847" y="54229"/>
                    <a:pt x="5465191" y="12700"/>
                    <a:pt x="5413756" y="12700"/>
                  </a:cubicBezTo>
                  <a:lnTo>
                    <a:pt x="105791" y="12700"/>
                  </a:lnTo>
                  <a:lnTo>
                    <a:pt x="105791" y="6350"/>
                  </a:lnTo>
                  <a:lnTo>
                    <a:pt x="105791" y="12700"/>
                  </a:lnTo>
                  <a:cubicBezTo>
                    <a:pt x="54356" y="12700"/>
                    <a:pt x="12700" y="54229"/>
                    <a:pt x="12700" y="105410"/>
                  </a:cubicBezTo>
                  <a:close/>
                </a:path>
              </a:pathLst>
            </a:custGeom>
            <a:solidFill>
              <a:srgbClr val="C0C1D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04862" y="2638722"/>
            <a:ext cx="2920305" cy="331440"/>
            <a:chOff x="0" y="0"/>
            <a:chExt cx="3893740" cy="44192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893740" cy="441920"/>
            </a:xfrm>
            <a:custGeom>
              <a:avLst/>
              <a:gdLst/>
              <a:ahLst/>
              <a:cxnLst/>
              <a:rect l="l" t="t" r="r" b="b"/>
              <a:pathLst>
                <a:path w="3893740" h="441920">
                  <a:moveTo>
                    <a:pt x="0" y="0"/>
                  </a:moveTo>
                  <a:lnTo>
                    <a:pt x="3893740" y="0"/>
                  </a:lnTo>
                  <a:lnTo>
                    <a:pt x="3893740" y="441920"/>
                  </a:lnTo>
                  <a:lnTo>
                    <a:pt x="0" y="4419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19050"/>
              <a:ext cx="3893740" cy="4609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62"/>
                </a:lnSpc>
              </a:pPr>
              <a:r>
                <a:rPr lang="en-US" sz="2062" b="1" spc="-62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Identify Repetitive Code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04862" y="3076129"/>
            <a:ext cx="3757761" cy="707231"/>
            <a:chOff x="0" y="0"/>
            <a:chExt cx="5010348" cy="94297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010348" cy="942975"/>
            </a:xfrm>
            <a:custGeom>
              <a:avLst/>
              <a:gdLst/>
              <a:ahLst/>
              <a:cxnLst/>
              <a:rect l="l" t="t" r="r" b="b"/>
              <a:pathLst>
                <a:path w="5010348" h="942975">
                  <a:moveTo>
                    <a:pt x="0" y="0"/>
                  </a:moveTo>
                  <a:lnTo>
                    <a:pt x="5010348" y="0"/>
                  </a:lnTo>
                  <a:lnTo>
                    <a:pt x="5010348" y="942975"/>
                  </a:lnTo>
                  <a:lnTo>
                    <a:pt x="0" y="9429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76200"/>
              <a:ext cx="5010348" cy="10191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49"/>
                </a:lnSpc>
              </a:pPr>
              <a:r>
                <a:rPr lang="en-US" sz="1687" spc="-2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Look for sections that are repeated or similar.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920704" y="2447776"/>
            <a:ext cx="4139654" cy="1526530"/>
            <a:chOff x="0" y="0"/>
            <a:chExt cx="5519538" cy="2035373"/>
          </a:xfrm>
        </p:grpSpPr>
        <p:sp>
          <p:nvSpPr>
            <p:cNvPr id="25" name="Freeform 25"/>
            <p:cNvSpPr/>
            <p:nvPr/>
          </p:nvSpPr>
          <p:spPr>
            <a:xfrm>
              <a:off x="6350" y="6350"/>
              <a:ext cx="5506847" cy="2022729"/>
            </a:xfrm>
            <a:custGeom>
              <a:avLst/>
              <a:gdLst/>
              <a:ahLst/>
              <a:cxnLst/>
              <a:rect l="l" t="t" r="r" b="b"/>
              <a:pathLst>
                <a:path w="5506847" h="2022729">
                  <a:moveTo>
                    <a:pt x="0" y="99060"/>
                  </a:moveTo>
                  <a:cubicBezTo>
                    <a:pt x="0" y="44323"/>
                    <a:pt x="44450" y="0"/>
                    <a:pt x="99441" y="0"/>
                  </a:cubicBezTo>
                  <a:lnTo>
                    <a:pt x="5407406" y="0"/>
                  </a:lnTo>
                  <a:cubicBezTo>
                    <a:pt x="5462270" y="0"/>
                    <a:pt x="5506847" y="44323"/>
                    <a:pt x="5506847" y="99060"/>
                  </a:cubicBezTo>
                  <a:lnTo>
                    <a:pt x="5506847" y="1923669"/>
                  </a:lnTo>
                  <a:cubicBezTo>
                    <a:pt x="5506847" y="1978406"/>
                    <a:pt x="5462397" y="2022729"/>
                    <a:pt x="5407406" y="2022729"/>
                  </a:cubicBezTo>
                  <a:lnTo>
                    <a:pt x="99441" y="2022729"/>
                  </a:lnTo>
                  <a:cubicBezTo>
                    <a:pt x="44450" y="2022729"/>
                    <a:pt x="0" y="1978406"/>
                    <a:pt x="0" y="1923669"/>
                  </a:cubicBezTo>
                  <a:close/>
                </a:path>
              </a:pathLst>
            </a:custGeom>
            <a:solidFill>
              <a:srgbClr val="DADBF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0" y="0"/>
              <a:ext cx="5519547" cy="2035429"/>
            </a:xfrm>
            <a:custGeom>
              <a:avLst/>
              <a:gdLst/>
              <a:ahLst/>
              <a:cxnLst/>
              <a:rect l="l" t="t" r="r" b="b"/>
              <a:pathLst>
                <a:path w="5519547" h="2035429">
                  <a:moveTo>
                    <a:pt x="0" y="105410"/>
                  </a:moveTo>
                  <a:cubicBezTo>
                    <a:pt x="0" y="47117"/>
                    <a:pt x="47371" y="0"/>
                    <a:pt x="105791" y="0"/>
                  </a:cubicBezTo>
                  <a:lnTo>
                    <a:pt x="5413756" y="0"/>
                  </a:lnTo>
                  <a:lnTo>
                    <a:pt x="5413756" y="6350"/>
                  </a:lnTo>
                  <a:lnTo>
                    <a:pt x="5413756" y="0"/>
                  </a:lnTo>
                  <a:cubicBezTo>
                    <a:pt x="5472176" y="0"/>
                    <a:pt x="5519547" y="47117"/>
                    <a:pt x="5519547" y="105410"/>
                  </a:cubicBezTo>
                  <a:lnTo>
                    <a:pt x="5513197" y="105410"/>
                  </a:lnTo>
                  <a:lnTo>
                    <a:pt x="5519547" y="105410"/>
                  </a:lnTo>
                  <a:lnTo>
                    <a:pt x="5519547" y="1930019"/>
                  </a:lnTo>
                  <a:lnTo>
                    <a:pt x="5513197" y="1930019"/>
                  </a:lnTo>
                  <a:lnTo>
                    <a:pt x="5519547" y="1930019"/>
                  </a:lnTo>
                  <a:cubicBezTo>
                    <a:pt x="5519547" y="1988185"/>
                    <a:pt x="5472176" y="2035429"/>
                    <a:pt x="5413756" y="2035429"/>
                  </a:cubicBezTo>
                  <a:lnTo>
                    <a:pt x="5413756" y="2029079"/>
                  </a:lnTo>
                  <a:lnTo>
                    <a:pt x="5413756" y="2035429"/>
                  </a:lnTo>
                  <a:lnTo>
                    <a:pt x="105791" y="2035429"/>
                  </a:lnTo>
                  <a:lnTo>
                    <a:pt x="105791" y="2029079"/>
                  </a:lnTo>
                  <a:lnTo>
                    <a:pt x="105791" y="2035429"/>
                  </a:lnTo>
                  <a:cubicBezTo>
                    <a:pt x="47371" y="2035429"/>
                    <a:pt x="0" y="1988312"/>
                    <a:pt x="0" y="1930019"/>
                  </a:cubicBezTo>
                  <a:lnTo>
                    <a:pt x="0" y="105410"/>
                  </a:lnTo>
                  <a:lnTo>
                    <a:pt x="6350" y="105410"/>
                  </a:lnTo>
                  <a:lnTo>
                    <a:pt x="0" y="105410"/>
                  </a:lnTo>
                  <a:moveTo>
                    <a:pt x="12700" y="105410"/>
                  </a:moveTo>
                  <a:lnTo>
                    <a:pt x="12700" y="1930019"/>
                  </a:lnTo>
                  <a:lnTo>
                    <a:pt x="6350" y="1930019"/>
                  </a:lnTo>
                  <a:lnTo>
                    <a:pt x="12700" y="1930019"/>
                  </a:lnTo>
                  <a:cubicBezTo>
                    <a:pt x="12700" y="1981200"/>
                    <a:pt x="54356" y="2022729"/>
                    <a:pt x="105791" y="2022729"/>
                  </a:cubicBezTo>
                  <a:lnTo>
                    <a:pt x="5413756" y="2022729"/>
                  </a:lnTo>
                  <a:cubicBezTo>
                    <a:pt x="5465191" y="2022729"/>
                    <a:pt x="5506847" y="1981200"/>
                    <a:pt x="5506847" y="1930019"/>
                  </a:cubicBezTo>
                  <a:lnTo>
                    <a:pt x="5506847" y="105410"/>
                  </a:lnTo>
                  <a:cubicBezTo>
                    <a:pt x="5506847" y="54229"/>
                    <a:pt x="5465191" y="12700"/>
                    <a:pt x="5413756" y="12700"/>
                  </a:cubicBezTo>
                  <a:lnTo>
                    <a:pt x="105791" y="12700"/>
                  </a:lnTo>
                  <a:lnTo>
                    <a:pt x="105791" y="6350"/>
                  </a:lnTo>
                  <a:lnTo>
                    <a:pt x="105791" y="12700"/>
                  </a:lnTo>
                  <a:cubicBezTo>
                    <a:pt x="54356" y="12700"/>
                    <a:pt x="12700" y="54229"/>
                    <a:pt x="12700" y="105410"/>
                  </a:cubicBezTo>
                  <a:close/>
                </a:path>
              </a:pathLst>
            </a:custGeom>
            <a:solidFill>
              <a:srgbClr val="C0C1D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111651" y="2638722"/>
            <a:ext cx="2651969" cy="331440"/>
            <a:chOff x="0" y="0"/>
            <a:chExt cx="3535958" cy="44192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535958" cy="441920"/>
            </a:xfrm>
            <a:custGeom>
              <a:avLst/>
              <a:gdLst/>
              <a:ahLst/>
              <a:cxnLst/>
              <a:rect l="l" t="t" r="r" b="b"/>
              <a:pathLst>
                <a:path w="3535958" h="441920">
                  <a:moveTo>
                    <a:pt x="0" y="0"/>
                  </a:moveTo>
                  <a:lnTo>
                    <a:pt x="3535958" y="0"/>
                  </a:lnTo>
                  <a:lnTo>
                    <a:pt x="3535958" y="441920"/>
                  </a:lnTo>
                  <a:lnTo>
                    <a:pt x="0" y="4419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19050"/>
              <a:ext cx="3535958" cy="4609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62"/>
                </a:lnSpc>
              </a:pPr>
              <a:r>
                <a:rPr lang="en-US" sz="2062" b="1" spc="-62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Create Functions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111651" y="3076129"/>
            <a:ext cx="3757761" cy="707231"/>
            <a:chOff x="0" y="0"/>
            <a:chExt cx="5010348" cy="942975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5010348" cy="942975"/>
            </a:xfrm>
            <a:custGeom>
              <a:avLst/>
              <a:gdLst/>
              <a:ahLst/>
              <a:cxnLst/>
              <a:rect l="l" t="t" r="r" b="b"/>
              <a:pathLst>
                <a:path w="5010348" h="942975">
                  <a:moveTo>
                    <a:pt x="0" y="0"/>
                  </a:moveTo>
                  <a:lnTo>
                    <a:pt x="5010348" y="0"/>
                  </a:lnTo>
                  <a:lnTo>
                    <a:pt x="5010348" y="942975"/>
                  </a:lnTo>
                  <a:lnTo>
                    <a:pt x="0" y="9429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76200"/>
              <a:ext cx="5010348" cy="10191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49"/>
                </a:lnSpc>
              </a:pPr>
              <a:r>
                <a:rPr lang="en-US" sz="1687" spc="-2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Break down large sections into smaller, reusable functions.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227492" y="2447776"/>
            <a:ext cx="4139654" cy="1526530"/>
            <a:chOff x="0" y="0"/>
            <a:chExt cx="5519538" cy="2035373"/>
          </a:xfrm>
        </p:grpSpPr>
        <p:sp>
          <p:nvSpPr>
            <p:cNvPr id="34" name="Freeform 34"/>
            <p:cNvSpPr/>
            <p:nvPr/>
          </p:nvSpPr>
          <p:spPr>
            <a:xfrm>
              <a:off x="6350" y="6350"/>
              <a:ext cx="5506847" cy="2022729"/>
            </a:xfrm>
            <a:custGeom>
              <a:avLst/>
              <a:gdLst/>
              <a:ahLst/>
              <a:cxnLst/>
              <a:rect l="l" t="t" r="r" b="b"/>
              <a:pathLst>
                <a:path w="5506847" h="2022729">
                  <a:moveTo>
                    <a:pt x="0" y="99060"/>
                  </a:moveTo>
                  <a:cubicBezTo>
                    <a:pt x="0" y="44323"/>
                    <a:pt x="44450" y="0"/>
                    <a:pt x="99441" y="0"/>
                  </a:cubicBezTo>
                  <a:lnTo>
                    <a:pt x="5407406" y="0"/>
                  </a:lnTo>
                  <a:cubicBezTo>
                    <a:pt x="5462270" y="0"/>
                    <a:pt x="5506847" y="44323"/>
                    <a:pt x="5506847" y="99060"/>
                  </a:cubicBezTo>
                  <a:lnTo>
                    <a:pt x="5506847" y="1923669"/>
                  </a:lnTo>
                  <a:cubicBezTo>
                    <a:pt x="5506847" y="1978406"/>
                    <a:pt x="5462397" y="2022729"/>
                    <a:pt x="5407406" y="2022729"/>
                  </a:cubicBezTo>
                  <a:lnTo>
                    <a:pt x="99441" y="2022729"/>
                  </a:lnTo>
                  <a:cubicBezTo>
                    <a:pt x="44450" y="2022729"/>
                    <a:pt x="0" y="1978406"/>
                    <a:pt x="0" y="1923669"/>
                  </a:cubicBezTo>
                  <a:close/>
                </a:path>
              </a:pathLst>
            </a:custGeom>
            <a:solidFill>
              <a:srgbClr val="DADBF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5"/>
            <p:cNvSpPr/>
            <p:nvPr/>
          </p:nvSpPr>
          <p:spPr>
            <a:xfrm>
              <a:off x="0" y="0"/>
              <a:ext cx="5519547" cy="2035429"/>
            </a:xfrm>
            <a:custGeom>
              <a:avLst/>
              <a:gdLst/>
              <a:ahLst/>
              <a:cxnLst/>
              <a:rect l="l" t="t" r="r" b="b"/>
              <a:pathLst>
                <a:path w="5519547" h="2035429">
                  <a:moveTo>
                    <a:pt x="0" y="105410"/>
                  </a:moveTo>
                  <a:cubicBezTo>
                    <a:pt x="0" y="47117"/>
                    <a:pt x="47371" y="0"/>
                    <a:pt x="105791" y="0"/>
                  </a:cubicBezTo>
                  <a:lnTo>
                    <a:pt x="5413756" y="0"/>
                  </a:lnTo>
                  <a:lnTo>
                    <a:pt x="5413756" y="6350"/>
                  </a:lnTo>
                  <a:lnTo>
                    <a:pt x="5413756" y="0"/>
                  </a:lnTo>
                  <a:cubicBezTo>
                    <a:pt x="5472176" y="0"/>
                    <a:pt x="5519547" y="47117"/>
                    <a:pt x="5519547" y="105410"/>
                  </a:cubicBezTo>
                  <a:lnTo>
                    <a:pt x="5513197" y="105410"/>
                  </a:lnTo>
                  <a:lnTo>
                    <a:pt x="5519547" y="105410"/>
                  </a:lnTo>
                  <a:lnTo>
                    <a:pt x="5519547" y="1930019"/>
                  </a:lnTo>
                  <a:lnTo>
                    <a:pt x="5513197" y="1930019"/>
                  </a:lnTo>
                  <a:lnTo>
                    <a:pt x="5519547" y="1930019"/>
                  </a:lnTo>
                  <a:cubicBezTo>
                    <a:pt x="5519547" y="1988185"/>
                    <a:pt x="5472176" y="2035429"/>
                    <a:pt x="5413756" y="2035429"/>
                  </a:cubicBezTo>
                  <a:lnTo>
                    <a:pt x="5413756" y="2029079"/>
                  </a:lnTo>
                  <a:lnTo>
                    <a:pt x="5413756" y="2035429"/>
                  </a:lnTo>
                  <a:lnTo>
                    <a:pt x="105791" y="2035429"/>
                  </a:lnTo>
                  <a:lnTo>
                    <a:pt x="105791" y="2029079"/>
                  </a:lnTo>
                  <a:lnTo>
                    <a:pt x="105791" y="2035429"/>
                  </a:lnTo>
                  <a:cubicBezTo>
                    <a:pt x="47371" y="2035429"/>
                    <a:pt x="0" y="1988312"/>
                    <a:pt x="0" y="1930019"/>
                  </a:cubicBezTo>
                  <a:lnTo>
                    <a:pt x="0" y="105410"/>
                  </a:lnTo>
                  <a:lnTo>
                    <a:pt x="6350" y="105410"/>
                  </a:lnTo>
                  <a:lnTo>
                    <a:pt x="0" y="105410"/>
                  </a:lnTo>
                  <a:moveTo>
                    <a:pt x="12700" y="105410"/>
                  </a:moveTo>
                  <a:lnTo>
                    <a:pt x="12700" y="1930019"/>
                  </a:lnTo>
                  <a:lnTo>
                    <a:pt x="6350" y="1930019"/>
                  </a:lnTo>
                  <a:lnTo>
                    <a:pt x="12700" y="1930019"/>
                  </a:lnTo>
                  <a:cubicBezTo>
                    <a:pt x="12700" y="1981200"/>
                    <a:pt x="54356" y="2022729"/>
                    <a:pt x="105791" y="2022729"/>
                  </a:cubicBezTo>
                  <a:lnTo>
                    <a:pt x="5413756" y="2022729"/>
                  </a:lnTo>
                  <a:cubicBezTo>
                    <a:pt x="5465191" y="2022729"/>
                    <a:pt x="5506847" y="1981200"/>
                    <a:pt x="5506847" y="1930019"/>
                  </a:cubicBezTo>
                  <a:lnTo>
                    <a:pt x="5506847" y="105410"/>
                  </a:lnTo>
                  <a:cubicBezTo>
                    <a:pt x="5506847" y="54229"/>
                    <a:pt x="5465191" y="12700"/>
                    <a:pt x="5413756" y="12700"/>
                  </a:cubicBezTo>
                  <a:lnTo>
                    <a:pt x="105791" y="12700"/>
                  </a:lnTo>
                  <a:lnTo>
                    <a:pt x="105791" y="6350"/>
                  </a:lnTo>
                  <a:lnTo>
                    <a:pt x="105791" y="12700"/>
                  </a:lnTo>
                  <a:cubicBezTo>
                    <a:pt x="54356" y="12700"/>
                    <a:pt x="12700" y="54229"/>
                    <a:pt x="12700" y="105410"/>
                  </a:cubicBezTo>
                  <a:close/>
                </a:path>
              </a:pathLst>
            </a:custGeom>
            <a:solidFill>
              <a:srgbClr val="C0C1D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18439" y="2638722"/>
            <a:ext cx="2651969" cy="331440"/>
            <a:chOff x="0" y="0"/>
            <a:chExt cx="3535958" cy="44192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3535958" cy="441920"/>
            </a:xfrm>
            <a:custGeom>
              <a:avLst/>
              <a:gdLst/>
              <a:ahLst/>
              <a:cxnLst/>
              <a:rect l="l" t="t" r="r" b="b"/>
              <a:pathLst>
                <a:path w="3535958" h="441920">
                  <a:moveTo>
                    <a:pt x="0" y="0"/>
                  </a:moveTo>
                  <a:lnTo>
                    <a:pt x="3535958" y="0"/>
                  </a:lnTo>
                  <a:lnTo>
                    <a:pt x="3535958" y="441920"/>
                  </a:lnTo>
                  <a:lnTo>
                    <a:pt x="0" y="4419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19050"/>
              <a:ext cx="3535958" cy="4609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62"/>
                </a:lnSpc>
              </a:pPr>
              <a:r>
                <a:rPr lang="en-US" sz="2062" b="1" spc="-62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Improve Readability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18439" y="3076129"/>
            <a:ext cx="3757761" cy="707231"/>
            <a:chOff x="0" y="0"/>
            <a:chExt cx="5010348" cy="942975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5010348" cy="942975"/>
            </a:xfrm>
            <a:custGeom>
              <a:avLst/>
              <a:gdLst/>
              <a:ahLst/>
              <a:cxnLst/>
              <a:rect l="l" t="t" r="r" b="b"/>
              <a:pathLst>
                <a:path w="5010348" h="942975">
                  <a:moveTo>
                    <a:pt x="0" y="0"/>
                  </a:moveTo>
                  <a:lnTo>
                    <a:pt x="5010348" y="0"/>
                  </a:lnTo>
                  <a:lnTo>
                    <a:pt x="5010348" y="942975"/>
                  </a:lnTo>
                  <a:lnTo>
                    <a:pt x="0" y="9429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76200"/>
              <a:ext cx="5010348" cy="10191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49"/>
                </a:lnSpc>
              </a:pPr>
              <a:r>
                <a:rPr lang="en-US" sz="1687" spc="-2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Use meaningful variable and function names, add comments.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3534281" y="2447776"/>
            <a:ext cx="4139654" cy="1526530"/>
            <a:chOff x="0" y="0"/>
            <a:chExt cx="5519538" cy="2035373"/>
          </a:xfrm>
        </p:grpSpPr>
        <p:sp>
          <p:nvSpPr>
            <p:cNvPr id="43" name="Freeform 43"/>
            <p:cNvSpPr/>
            <p:nvPr/>
          </p:nvSpPr>
          <p:spPr>
            <a:xfrm>
              <a:off x="6350" y="6350"/>
              <a:ext cx="5506847" cy="2022729"/>
            </a:xfrm>
            <a:custGeom>
              <a:avLst/>
              <a:gdLst/>
              <a:ahLst/>
              <a:cxnLst/>
              <a:rect l="l" t="t" r="r" b="b"/>
              <a:pathLst>
                <a:path w="5506847" h="2022729">
                  <a:moveTo>
                    <a:pt x="0" y="99060"/>
                  </a:moveTo>
                  <a:cubicBezTo>
                    <a:pt x="0" y="44323"/>
                    <a:pt x="44450" y="0"/>
                    <a:pt x="99441" y="0"/>
                  </a:cubicBezTo>
                  <a:lnTo>
                    <a:pt x="5407406" y="0"/>
                  </a:lnTo>
                  <a:cubicBezTo>
                    <a:pt x="5462270" y="0"/>
                    <a:pt x="5506847" y="44323"/>
                    <a:pt x="5506847" y="99060"/>
                  </a:cubicBezTo>
                  <a:lnTo>
                    <a:pt x="5506847" y="1923669"/>
                  </a:lnTo>
                  <a:cubicBezTo>
                    <a:pt x="5506847" y="1978406"/>
                    <a:pt x="5462397" y="2022729"/>
                    <a:pt x="5407406" y="2022729"/>
                  </a:cubicBezTo>
                  <a:lnTo>
                    <a:pt x="99441" y="2022729"/>
                  </a:lnTo>
                  <a:cubicBezTo>
                    <a:pt x="44450" y="2022729"/>
                    <a:pt x="0" y="1978406"/>
                    <a:pt x="0" y="1923669"/>
                  </a:cubicBezTo>
                  <a:close/>
                </a:path>
              </a:pathLst>
            </a:custGeom>
            <a:solidFill>
              <a:srgbClr val="DADBF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44"/>
            <p:cNvSpPr/>
            <p:nvPr/>
          </p:nvSpPr>
          <p:spPr>
            <a:xfrm>
              <a:off x="0" y="0"/>
              <a:ext cx="5519547" cy="2035429"/>
            </a:xfrm>
            <a:custGeom>
              <a:avLst/>
              <a:gdLst/>
              <a:ahLst/>
              <a:cxnLst/>
              <a:rect l="l" t="t" r="r" b="b"/>
              <a:pathLst>
                <a:path w="5519547" h="2035429">
                  <a:moveTo>
                    <a:pt x="0" y="105410"/>
                  </a:moveTo>
                  <a:cubicBezTo>
                    <a:pt x="0" y="47117"/>
                    <a:pt x="47371" y="0"/>
                    <a:pt x="105791" y="0"/>
                  </a:cubicBezTo>
                  <a:lnTo>
                    <a:pt x="5413756" y="0"/>
                  </a:lnTo>
                  <a:lnTo>
                    <a:pt x="5413756" y="6350"/>
                  </a:lnTo>
                  <a:lnTo>
                    <a:pt x="5413756" y="0"/>
                  </a:lnTo>
                  <a:cubicBezTo>
                    <a:pt x="5472176" y="0"/>
                    <a:pt x="5519547" y="47117"/>
                    <a:pt x="5519547" y="105410"/>
                  </a:cubicBezTo>
                  <a:lnTo>
                    <a:pt x="5513197" y="105410"/>
                  </a:lnTo>
                  <a:lnTo>
                    <a:pt x="5519547" y="105410"/>
                  </a:lnTo>
                  <a:lnTo>
                    <a:pt x="5519547" y="1930019"/>
                  </a:lnTo>
                  <a:lnTo>
                    <a:pt x="5513197" y="1930019"/>
                  </a:lnTo>
                  <a:lnTo>
                    <a:pt x="5519547" y="1930019"/>
                  </a:lnTo>
                  <a:cubicBezTo>
                    <a:pt x="5519547" y="1988185"/>
                    <a:pt x="5472176" y="2035429"/>
                    <a:pt x="5413756" y="2035429"/>
                  </a:cubicBezTo>
                  <a:lnTo>
                    <a:pt x="5413756" y="2029079"/>
                  </a:lnTo>
                  <a:lnTo>
                    <a:pt x="5413756" y="2035429"/>
                  </a:lnTo>
                  <a:lnTo>
                    <a:pt x="105791" y="2035429"/>
                  </a:lnTo>
                  <a:lnTo>
                    <a:pt x="105791" y="2029079"/>
                  </a:lnTo>
                  <a:lnTo>
                    <a:pt x="105791" y="2035429"/>
                  </a:lnTo>
                  <a:cubicBezTo>
                    <a:pt x="47371" y="2035429"/>
                    <a:pt x="0" y="1988312"/>
                    <a:pt x="0" y="1930019"/>
                  </a:cubicBezTo>
                  <a:lnTo>
                    <a:pt x="0" y="105410"/>
                  </a:lnTo>
                  <a:lnTo>
                    <a:pt x="6350" y="105410"/>
                  </a:lnTo>
                  <a:lnTo>
                    <a:pt x="0" y="105410"/>
                  </a:lnTo>
                  <a:moveTo>
                    <a:pt x="12700" y="105410"/>
                  </a:moveTo>
                  <a:lnTo>
                    <a:pt x="12700" y="1930019"/>
                  </a:lnTo>
                  <a:lnTo>
                    <a:pt x="6350" y="1930019"/>
                  </a:lnTo>
                  <a:lnTo>
                    <a:pt x="12700" y="1930019"/>
                  </a:lnTo>
                  <a:cubicBezTo>
                    <a:pt x="12700" y="1981200"/>
                    <a:pt x="54356" y="2022729"/>
                    <a:pt x="105791" y="2022729"/>
                  </a:cubicBezTo>
                  <a:lnTo>
                    <a:pt x="5413756" y="2022729"/>
                  </a:lnTo>
                  <a:cubicBezTo>
                    <a:pt x="5465191" y="2022729"/>
                    <a:pt x="5506847" y="1981200"/>
                    <a:pt x="5506847" y="1930019"/>
                  </a:cubicBezTo>
                  <a:lnTo>
                    <a:pt x="5506847" y="105410"/>
                  </a:lnTo>
                  <a:cubicBezTo>
                    <a:pt x="5506847" y="54229"/>
                    <a:pt x="5465191" y="12700"/>
                    <a:pt x="5413756" y="12700"/>
                  </a:cubicBezTo>
                  <a:lnTo>
                    <a:pt x="105791" y="12700"/>
                  </a:lnTo>
                  <a:lnTo>
                    <a:pt x="105791" y="6350"/>
                  </a:lnTo>
                  <a:lnTo>
                    <a:pt x="105791" y="12700"/>
                  </a:lnTo>
                  <a:cubicBezTo>
                    <a:pt x="54356" y="12700"/>
                    <a:pt x="12700" y="54229"/>
                    <a:pt x="12700" y="105410"/>
                  </a:cubicBezTo>
                  <a:close/>
                </a:path>
              </a:pathLst>
            </a:custGeom>
            <a:solidFill>
              <a:srgbClr val="C0C1D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3725228" y="2638722"/>
            <a:ext cx="2651969" cy="331440"/>
            <a:chOff x="0" y="0"/>
            <a:chExt cx="3535958" cy="44192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3535958" cy="441920"/>
            </a:xfrm>
            <a:custGeom>
              <a:avLst/>
              <a:gdLst/>
              <a:ahLst/>
              <a:cxnLst/>
              <a:rect l="l" t="t" r="r" b="b"/>
              <a:pathLst>
                <a:path w="3535958" h="441920">
                  <a:moveTo>
                    <a:pt x="0" y="0"/>
                  </a:moveTo>
                  <a:lnTo>
                    <a:pt x="3535958" y="0"/>
                  </a:lnTo>
                  <a:lnTo>
                    <a:pt x="3535958" y="441920"/>
                  </a:lnTo>
                  <a:lnTo>
                    <a:pt x="0" y="4419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19050"/>
              <a:ext cx="3535958" cy="4609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62"/>
                </a:lnSpc>
              </a:pPr>
              <a:r>
                <a:rPr lang="en-US" sz="2062" b="1" spc="-62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Optimize Logic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3725228" y="3076129"/>
            <a:ext cx="3757761" cy="707231"/>
            <a:chOff x="0" y="0"/>
            <a:chExt cx="5010348" cy="942975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5010348" cy="942975"/>
            </a:xfrm>
            <a:custGeom>
              <a:avLst/>
              <a:gdLst/>
              <a:ahLst/>
              <a:cxnLst/>
              <a:rect l="l" t="t" r="r" b="b"/>
              <a:pathLst>
                <a:path w="5010348" h="942975">
                  <a:moveTo>
                    <a:pt x="0" y="0"/>
                  </a:moveTo>
                  <a:lnTo>
                    <a:pt x="5010348" y="0"/>
                  </a:lnTo>
                  <a:lnTo>
                    <a:pt x="5010348" y="942975"/>
                  </a:lnTo>
                  <a:lnTo>
                    <a:pt x="0" y="9429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-76200"/>
              <a:ext cx="5010348" cy="10191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49"/>
                </a:lnSpc>
              </a:pPr>
              <a:r>
                <a:rPr lang="en-US" sz="1687" spc="-2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Simplify complex conditions, use more efficient constructs.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13916" y="4141440"/>
            <a:ext cx="17060168" cy="2288828"/>
            <a:chOff x="0" y="0"/>
            <a:chExt cx="22746890" cy="3051770"/>
          </a:xfrm>
        </p:grpSpPr>
        <p:sp>
          <p:nvSpPr>
            <p:cNvPr id="52" name="Freeform 52"/>
            <p:cNvSpPr/>
            <p:nvPr/>
          </p:nvSpPr>
          <p:spPr>
            <a:xfrm>
              <a:off x="6350" y="6350"/>
              <a:ext cx="22734143" cy="3039110"/>
            </a:xfrm>
            <a:custGeom>
              <a:avLst/>
              <a:gdLst/>
              <a:ahLst/>
              <a:cxnLst/>
              <a:rect l="l" t="t" r="r" b="b"/>
              <a:pathLst>
                <a:path w="22734143" h="3039110">
                  <a:moveTo>
                    <a:pt x="0" y="99060"/>
                  </a:moveTo>
                  <a:cubicBezTo>
                    <a:pt x="0" y="44323"/>
                    <a:pt x="44450" y="0"/>
                    <a:pt x="99314" y="0"/>
                  </a:cubicBezTo>
                  <a:lnTo>
                    <a:pt x="22634829" y="0"/>
                  </a:lnTo>
                  <a:cubicBezTo>
                    <a:pt x="22689693" y="0"/>
                    <a:pt x="22734143" y="44323"/>
                    <a:pt x="22734143" y="99060"/>
                  </a:cubicBezTo>
                  <a:lnTo>
                    <a:pt x="22734143" y="2940050"/>
                  </a:lnTo>
                  <a:cubicBezTo>
                    <a:pt x="22734143" y="2994787"/>
                    <a:pt x="22689693" y="3039110"/>
                    <a:pt x="22634829" y="3039110"/>
                  </a:cubicBezTo>
                  <a:lnTo>
                    <a:pt x="99314" y="3039110"/>
                  </a:lnTo>
                  <a:cubicBezTo>
                    <a:pt x="44450" y="3039110"/>
                    <a:pt x="0" y="2994787"/>
                    <a:pt x="0" y="2940050"/>
                  </a:cubicBezTo>
                  <a:close/>
                </a:path>
              </a:pathLst>
            </a:custGeom>
            <a:solidFill>
              <a:srgbClr val="DADBF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53"/>
            <p:cNvSpPr/>
            <p:nvPr/>
          </p:nvSpPr>
          <p:spPr>
            <a:xfrm>
              <a:off x="0" y="0"/>
              <a:ext cx="22746843" cy="3051810"/>
            </a:xfrm>
            <a:custGeom>
              <a:avLst/>
              <a:gdLst/>
              <a:ahLst/>
              <a:cxnLst/>
              <a:rect l="l" t="t" r="r" b="b"/>
              <a:pathLst>
                <a:path w="22746843" h="3051810">
                  <a:moveTo>
                    <a:pt x="0" y="105410"/>
                  </a:moveTo>
                  <a:cubicBezTo>
                    <a:pt x="0" y="47117"/>
                    <a:pt x="47371" y="0"/>
                    <a:pt x="105664" y="0"/>
                  </a:cubicBezTo>
                  <a:lnTo>
                    <a:pt x="22641179" y="0"/>
                  </a:lnTo>
                  <a:lnTo>
                    <a:pt x="22641179" y="6350"/>
                  </a:lnTo>
                  <a:lnTo>
                    <a:pt x="22641179" y="0"/>
                  </a:lnTo>
                  <a:cubicBezTo>
                    <a:pt x="22699599" y="0"/>
                    <a:pt x="22746843" y="47117"/>
                    <a:pt x="22746843" y="105410"/>
                  </a:cubicBezTo>
                  <a:lnTo>
                    <a:pt x="22740493" y="105410"/>
                  </a:lnTo>
                  <a:lnTo>
                    <a:pt x="22746843" y="105410"/>
                  </a:lnTo>
                  <a:lnTo>
                    <a:pt x="22746843" y="2946400"/>
                  </a:lnTo>
                  <a:lnTo>
                    <a:pt x="22740493" y="2946400"/>
                  </a:lnTo>
                  <a:lnTo>
                    <a:pt x="22746843" y="2946400"/>
                  </a:lnTo>
                  <a:cubicBezTo>
                    <a:pt x="22746843" y="3004566"/>
                    <a:pt x="22699472" y="3051810"/>
                    <a:pt x="22641179" y="3051810"/>
                  </a:cubicBezTo>
                  <a:lnTo>
                    <a:pt x="22641179" y="3045460"/>
                  </a:lnTo>
                  <a:lnTo>
                    <a:pt x="22641179" y="3051810"/>
                  </a:lnTo>
                  <a:lnTo>
                    <a:pt x="105664" y="3051810"/>
                  </a:lnTo>
                  <a:lnTo>
                    <a:pt x="105664" y="3045460"/>
                  </a:lnTo>
                  <a:lnTo>
                    <a:pt x="105664" y="3051810"/>
                  </a:lnTo>
                  <a:cubicBezTo>
                    <a:pt x="47371" y="3051810"/>
                    <a:pt x="0" y="3004566"/>
                    <a:pt x="0" y="2946400"/>
                  </a:cubicBezTo>
                  <a:lnTo>
                    <a:pt x="0" y="105410"/>
                  </a:lnTo>
                  <a:lnTo>
                    <a:pt x="6350" y="105410"/>
                  </a:lnTo>
                  <a:lnTo>
                    <a:pt x="0" y="105410"/>
                  </a:lnTo>
                  <a:moveTo>
                    <a:pt x="12700" y="105410"/>
                  </a:moveTo>
                  <a:lnTo>
                    <a:pt x="12700" y="2946400"/>
                  </a:lnTo>
                  <a:lnTo>
                    <a:pt x="6350" y="2946400"/>
                  </a:lnTo>
                  <a:lnTo>
                    <a:pt x="12700" y="2946400"/>
                  </a:lnTo>
                  <a:cubicBezTo>
                    <a:pt x="12700" y="2997581"/>
                    <a:pt x="54356" y="3039110"/>
                    <a:pt x="105664" y="3039110"/>
                  </a:cubicBezTo>
                  <a:lnTo>
                    <a:pt x="22641179" y="3039110"/>
                  </a:lnTo>
                  <a:cubicBezTo>
                    <a:pt x="22692615" y="3039110"/>
                    <a:pt x="22734143" y="2997581"/>
                    <a:pt x="22734143" y="2946400"/>
                  </a:cubicBezTo>
                  <a:lnTo>
                    <a:pt x="22734143" y="105410"/>
                  </a:lnTo>
                  <a:cubicBezTo>
                    <a:pt x="22734143" y="54229"/>
                    <a:pt x="22692488" y="12700"/>
                    <a:pt x="22641179" y="12700"/>
                  </a:cubicBezTo>
                  <a:lnTo>
                    <a:pt x="105664" y="12700"/>
                  </a:lnTo>
                  <a:lnTo>
                    <a:pt x="105664" y="6350"/>
                  </a:lnTo>
                  <a:lnTo>
                    <a:pt x="105664" y="12700"/>
                  </a:lnTo>
                  <a:cubicBezTo>
                    <a:pt x="54356" y="12700"/>
                    <a:pt x="12700" y="54229"/>
                    <a:pt x="12700" y="105410"/>
                  </a:cubicBezTo>
                  <a:close/>
                </a:path>
              </a:pathLst>
            </a:custGeom>
            <a:solidFill>
              <a:srgbClr val="C0C1D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804862" y="4332386"/>
            <a:ext cx="7970787" cy="340965"/>
            <a:chOff x="0" y="0"/>
            <a:chExt cx="10627717" cy="45462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0627716" cy="454620"/>
            </a:xfrm>
            <a:custGeom>
              <a:avLst/>
              <a:gdLst/>
              <a:ahLst/>
              <a:cxnLst/>
              <a:rect l="l" t="t" r="r" b="b"/>
              <a:pathLst>
                <a:path w="10627716" h="454620">
                  <a:moveTo>
                    <a:pt x="0" y="0"/>
                  </a:moveTo>
                  <a:lnTo>
                    <a:pt x="10627716" y="0"/>
                  </a:lnTo>
                  <a:lnTo>
                    <a:pt x="10627716" y="454620"/>
                  </a:lnTo>
                  <a:lnTo>
                    <a:pt x="0" y="4546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19050"/>
              <a:ext cx="10627717" cy="4736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62"/>
                </a:lnSpc>
              </a:pPr>
              <a:r>
                <a:rPr lang="en-US" sz="2062" b="1" spc="-62" dirty="0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Make your scripts more robust using: set -e, set -u,  set -o </a:t>
              </a:r>
              <a:r>
                <a:rPr lang="en-US" sz="2062" b="1" spc="-62" dirty="0" err="1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pipefail</a:t>
              </a:r>
              <a:r>
                <a:rPr lang="en-US" sz="2062" b="1" spc="-62" dirty="0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 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804862" y="4779317"/>
            <a:ext cx="16678275" cy="353616"/>
            <a:chOff x="0" y="0"/>
            <a:chExt cx="22237700" cy="471488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22237700" cy="471488"/>
            </a:xfrm>
            <a:custGeom>
              <a:avLst/>
              <a:gdLst/>
              <a:ahLst/>
              <a:cxnLst/>
              <a:rect l="l" t="t" r="r" b="b"/>
              <a:pathLst>
                <a:path w="22237700" h="471488">
                  <a:moveTo>
                    <a:pt x="0" y="0"/>
                  </a:moveTo>
                  <a:lnTo>
                    <a:pt x="22237700" y="0"/>
                  </a:lnTo>
                  <a:lnTo>
                    <a:pt x="22237700" y="471488"/>
                  </a:lnTo>
                  <a:lnTo>
                    <a:pt x="0" y="4714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0" y="-76200"/>
              <a:ext cx="22237700" cy="5476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49"/>
                </a:lnSpc>
              </a:pPr>
              <a:r>
                <a:rPr lang="en-US" sz="1687" spc="-27" dirty="0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To prevent unintended behavior and catching errors if any, use above flags right after shebang line in the script.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804862" y="5238899"/>
            <a:ext cx="16678275" cy="292299"/>
            <a:chOff x="0" y="0"/>
            <a:chExt cx="22237700" cy="389732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22237700" cy="389732"/>
            </a:xfrm>
            <a:custGeom>
              <a:avLst/>
              <a:gdLst/>
              <a:ahLst/>
              <a:cxnLst/>
              <a:rect l="l" t="t" r="r" b="b"/>
              <a:pathLst>
                <a:path w="22237700" h="389732">
                  <a:moveTo>
                    <a:pt x="0" y="0"/>
                  </a:moveTo>
                  <a:lnTo>
                    <a:pt x="22237700" y="0"/>
                  </a:lnTo>
                  <a:lnTo>
                    <a:pt x="22237700" y="389732"/>
                  </a:lnTo>
                  <a:lnTo>
                    <a:pt x="0" y="3897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0" y="-47625"/>
              <a:ext cx="22237700" cy="4373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207367" lvl="1" indent="-103684" algn="l">
                <a:lnSpc>
                  <a:spcPts val="2187"/>
                </a:lnSpc>
                <a:buFont typeface="Arial"/>
                <a:buChar char="•"/>
              </a:pPr>
              <a:r>
                <a:rPr lang="en-US" sz="1375" spc="-2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Scripts stop on errors (-e).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804862" y="5592961"/>
            <a:ext cx="16678275" cy="292299"/>
            <a:chOff x="0" y="0"/>
            <a:chExt cx="22237700" cy="389732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22237700" cy="389732"/>
            </a:xfrm>
            <a:custGeom>
              <a:avLst/>
              <a:gdLst/>
              <a:ahLst/>
              <a:cxnLst/>
              <a:rect l="l" t="t" r="r" b="b"/>
              <a:pathLst>
                <a:path w="22237700" h="389732">
                  <a:moveTo>
                    <a:pt x="0" y="0"/>
                  </a:moveTo>
                  <a:lnTo>
                    <a:pt x="22237700" y="0"/>
                  </a:lnTo>
                  <a:lnTo>
                    <a:pt x="22237700" y="389732"/>
                  </a:lnTo>
                  <a:lnTo>
                    <a:pt x="0" y="3897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0" y="-47625"/>
              <a:ext cx="22237700" cy="4373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207367" lvl="1" indent="-103684" algn="l">
                <a:lnSpc>
                  <a:spcPts val="2187"/>
                </a:lnSpc>
                <a:buFont typeface="Arial"/>
                <a:buChar char="•"/>
              </a:pPr>
              <a:r>
                <a:rPr lang="en-US" sz="1375" spc="-2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Unset variables are caught (-u).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804862" y="5947022"/>
            <a:ext cx="16678275" cy="292299"/>
            <a:chOff x="0" y="0"/>
            <a:chExt cx="22237700" cy="389732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22237700" cy="389732"/>
            </a:xfrm>
            <a:custGeom>
              <a:avLst/>
              <a:gdLst/>
              <a:ahLst/>
              <a:cxnLst/>
              <a:rect l="l" t="t" r="r" b="b"/>
              <a:pathLst>
                <a:path w="22237700" h="389732">
                  <a:moveTo>
                    <a:pt x="0" y="0"/>
                  </a:moveTo>
                  <a:lnTo>
                    <a:pt x="22237700" y="0"/>
                  </a:lnTo>
                  <a:lnTo>
                    <a:pt x="22237700" y="389732"/>
                  </a:lnTo>
                  <a:lnTo>
                    <a:pt x="0" y="3897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0" y="-47625"/>
              <a:ext cx="22237700" cy="4373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207367" lvl="1" indent="-103684" algn="l">
                <a:lnSpc>
                  <a:spcPts val="2187"/>
                </a:lnSpc>
                <a:buFont typeface="Arial"/>
                <a:buChar char="•"/>
              </a:pPr>
              <a:r>
                <a:rPr lang="en-US" sz="1375" spc="-2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Pipeline failures are properly reported (-o pipefail).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618679" y="7172176"/>
            <a:ext cx="4106019" cy="331440"/>
            <a:chOff x="0" y="0"/>
            <a:chExt cx="5474692" cy="441920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5474692" cy="441920"/>
            </a:xfrm>
            <a:custGeom>
              <a:avLst/>
              <a:gdLst/>
              <a:ahLst/>
              <a:cxnLst/>
              <a:rect l="l" t="t" r="r" b="b"/>
              <a:pathLst>
                <a:path w="5474692" h="441920">
                  <a:moveTo>
                    <a:pt x="0" y="0"/>
                  </a:moveTo>
                  <a:lnTo>
                    <a:pt x="5474692" y="0"/>
                  </a:lnTo>
                  <a:lnTo>
                    <a:pt x="5474692" y="441920"/>
                  </a:lnTo>
                  <a:lnTo>
                    <a:pt x="0" y="4419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0" y="-19050"/>
              <a:ext cx="5474692" cy="4609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62"/>
                </a:lnSpc>
              </a:pPr>
              <a:r>
                <a:rPr lang="en-US" sz="2062" b="1" spc="-62">
                  <a:solidFill>
                    <a:srgbClr val="4950B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Modular Scripting with Functions: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618679" y="7768679"/>
            <a:ext cx="17050642" cy="353616"/>
            <a:chOff x="0" y="0"/>
            <a:chExt cx="22734190" cy="471488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22734191" cy="471488"/>
            </a:xfrm>
            <a:custGeom>
              <a:avLst/>
              <a:gdLst/>
              <a:ahLst/>
              <a:cxnLst/>
              <a:rect l="l" t="t" r="r" b="b"/>
              <a:pathLst>
                <a:path w="22734191" h="471488">
                  <a:moveTo>
                    <a:pt x="0" y="0"/>
                  </a:moveTo>
                  <a:lnTo>
                    <a:pt x="22734191" y="0"/>
                  </a:lnTo>
                  <a:lnTo>
                    <a:pt x="22734191" y="471488"/>
                  </a:lnTo>
                  <a:lnTo>
                    <a:pt x="0" y="4714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0" y="-47625"/>
              <a:ext cx="22734190" cy="5191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207367" lvl="1" indent="-103684" algn="l">
                <a:lnSpc>
                  <a:spcPts val="2187"/>
                </a:lnSpc>
                <a:buFont typeface="Arial"/>
                <a:buChar char="•"/>
              </a:pPr>
              <a:r>
                <a:rPr lang="en-US" sz="1375" spc="-2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Organizing and structuring code in a way that it can be reused and maintained more easily.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613916" y="8316366"/>
            <a:ext cx="4139654" cy="1526530"/>
            <a:chOff x="0" y="0"/>
            <a:chExt cx="5519538" cy="2035373"/>
          </a:xfrm>
        </p:grpSpPr>
        <p:sp>
          <p:nvSpPr>
            <p:cNvPr id="76" name="Freeform 76"/>
            <p:cNvSpPr/>
            <p:nvPr/>
          </p:nvSpPr>
          <p:spPr>
            <a:xfrm>
              <a:off x="6350" y="6350"/>
              <a:ext cx="5506847" cy="2022729"/>
            </a:xfrm>
            <a:custGeom>
              <a:avLst/>
              <a:gdLst/>
              <a:ahLst/>
              <a:cxnLst/>
              <a:rect l="l" t="t" r="r" b="b"/>
              <a:pathLst>
                <a:path w="5506847" h="2022729">
                  <a:moveTo>
                    <a:pt x="0" y="99060"/>
                  </a:moveTo>
                  <a:cubicBezTo>
                    <a:pt x="0" y="44323"/>
                    <a:pt x="44450" y="0"/>
                    <a:pt x="99441" y="0"/>
                  </a:cubicBezTo>
                  <a:lnTo>
                    <a:pt x="5407406" y="0"/>
                  </a:lnTo>
                  <a:cubicBezTo>
                    <a:pt x="5462270" y="0"/>
                    <a:pt x="5506847" y="44323"/>
                    <a:pt x="5506847" y="99060"/>
                  </a:cubicBezTo>
                  <a:lnTo>
                    <a:pt x="5506847" y="1923669"/>
                  </a:lnTo>
                  <a:cubicBezTo>
                    <a:pt x="5506847" y="1978406"/>
                    <a:pt x="5462397" y="2022729"/>
                    <a:pt x="5407406" y="2022729"/>
                  </a:cubicBezTo>
                  <a:lnTo>
                    <a:pt x="99441" y="2022729"/>
                  </a:lnTo>
                  <a:cubicBezTo>
                    <a:pt x="44450" y="2022729"/>
                    <a:pt x="0" y="1978406"/>
                    <a:pt x="0" y="1923669"/>
                  </a:cubicBezTo>
                  <a:close/>
                </a:path>
              </a:pathLst>
            </a:custGeom>
            <a:solidFill>
              <a:srgbClr val="DADBF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Freeform 77"/>
            <p:cNvSpPr/>
            <p:nvPr/>
          </p:nvSpPr>
          <p:spPr>
            <a:xfrm>
              <a:off x="0" y="0"/>
              <a:ext cx="5519547" cy="2035429"/>
            </a:xfrm>
            <a:custGeom>
              <a:avLst/>
              <a:gdLst/>
              <a:ahLst/>
              <a:cxnLst/>
              <a:rect l="l" t="t" r="r" b="b"/>
              <a:pathLst>
                <a:path w="5519547" h="2035429">
                  <a:moveTo>
                    <a:pt x="0" y="105410"/>
                  </a:moveTo>
                  <a:cubicBezTo>
                    <a:pt x="0" y="47117"/>
                    <a:pt x="47371" y="0"/>
                    <a:pt x="105791" y="0"/>
                  </a:cubicBezTo>
                  <a:lnTo>
                    <a:pt x="5413756" y="0"/>
                  </a:lnTo>
                  <a:lnTo>
                    <a:pt x="5413756" y="6350"/>
                  </a:lnTo>
                  <a:lnTo>
                    <a:pt x="5413756" y="0"/>
                  </a:lnTo>
                  <a:cubicBezTo>
                    <a:pt x="5472176" y="0"/>
                    <a:pt x="5519547" y="47117"/>
                    <a:pt x="5519547" y="105410"/>
                  </a:cubicBezTo>
                  <a:lnTo>
                    <a:pt x="5513197" y="105410"/>
                  </a:lnTo>
                  <a:lnTo>
                    <a:pt x="5519547" y="105410"/>
                  </a:lnTo>
                  <a:lnTo>
                    <a:pt x="5519547" y="1930019"/>
                  </a:lnTo>
                  <a:lnTo>
                    <a:pt x="5513197" y="1930019"/>
                  </a:lnTo>
                  <a:lnTo>
                    <a:pt x="5519547" y="1930019"/>
                  </a:lnTo>
                  <a:cubicBezTo>
                    <a:pt x="5519547" y="1988185"/>
                    <a:pt x="5472176" y="2035429"/>
                    <a:pt x="5413756" y="2035429"/>
                  </a:cubicBezTo>
                  <a:lnTo>
                    <a:pt x="5413756" y="2029079"/>
                  </a:lnTo>
                  <a:lnTo>
                    <a:pt x="5413756" y="2035429"/>
                  </a:lnTo>
                  <a:lnTo>
                    <a:pt x="105791" y="2035429"/>
                  </a:lnTo>
                  <a:lnTo>
                    <a:pt x="105791" y="2029079"/>
                  </a:lnTo>
                  <a:lnTo>
                    <a:pt x="105791" y="2035429"/>
                  </a:lnTo>
                  <a:cubicBezTo>
                    <a:pt x="47371" y="2035429"/>
                    <a:pt x="0" y="1988312"/>
                    <a:pt x="0" y="1930019"/>
                  </a:cubicBezTo>
                  <a:lnTo>
                    <a:pt x="0" y="105410"/>
                  </a:lnTo>
                  <a:lnTo>
                    <a:pt x="6350" y="105410"/>
                  </a:lnTo>
                  <a:lnTo>
                    <a:pt x="0" y="105410"/>
                  </a:lnTo>
                  <a:moveTo>
                    <a:pt x="12700" y="105410"/>
                  </a:moveTo>
                  <a:lnTo>
                    <a:pt x="12700" y="1930019"/>
                  </a:lnTo>
                  <a:lnTo>
                    <a:pt x="6350" y="1930019"/>
                  </a:lnTo>
                  <a:lnTo>
                    <a:pt x="12700" y="1930019"/>
                  </a:lnTo>
                  <a:cubicBezTo>
                    <a:pt x="12700" y="1981200"/>
                    <a:pt x="54356" y="2022729"/>
                    <a:pt x="105791" y="2022729"/>
                  </a:cubicBezTo>
                  <a:lnTo>
                    <a:pt x="5413756" y="2022729"/>
                  </a:lnTo>
                  <a:cubicBezTo>
                    <a:pt x="5465191" y="2022729"/>
                    <a:pt x="5506847" y="1981200"/>
                    <a:pt x="5506847" y="1930019"/>
                  </a:cubicBezTo>
                  <a:lnTo>
                    <a:pt x="5506847" y="105410"/>
                  </a:lnTo>
                  <a:cubicBezTo>
                    <a:pt x="5506847" y="54229"/>
                    <a:pt x="5465191" y="12700"/>
                    <a:pt x="5413756" y="12700"/>
                  </a:cubicBezTo>
                  <a:lnTo>
                    <a:pt x="105791" y="12700"/>
                  </a:lnTo>
                  <a:lnTo>
                    <a:pt x="105791" y="6350"/>
                  </a:lnTo>
                  <a:lnTo>
                    <a:pt x="105791" y="12700"/>
                  </a:lnTo>
                  <a:cubicBezTo>
                    <a:pt x="54356" y="12700"/>
                    <a:pt x="12700" y="54229"/>
                    <a:pt x="12700" y="105410"/>
                  </a:cubicBezTo>
                  <a:close/>
                </a:path>
              </a:pathLst>
            </a:custGeom>
            <a:solidFill>
              <a:srgbClr val="C0C1D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804862" y="8507314"/>
            <a:ext cx="2651969" cy="331440"/>
            <a:chOff x="0" y="0"/>
            <a:chExt cx="3535958" cy="441920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3535958" cy="441920"/>
            </a:xfrm>
            <a:custGeom>
              <a:avLst/>
              <a:gdLst/>
              <a:ahLst/>
              <a:cxnLst/>
              <a:rect l="l" t="t" r="r" b="b"/>
              <a:pathLst>
                <a:path w="3535958" h="441920">
                  <a:moveTo>
                    <a:pt x="0" y="0"/>
                  </a:moveTo>
                  <a:lnTo>
                    <a:pt x="3535958" y="0"/>
                  </a:lnTo>
                  <a:lnTo>
                    <a:pt x="3535958" y="441920"/>
                  </a:lnTo>
                  <a:lnTo>
                    <a:pt x="0" y="4419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0" y="-19050"/>
              <a:ext cx="3535958" cy="4609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62"/>
                </a:lnSpc>
              </a:pPr>
              <a:r>
                <a:rPr lang="en-US" sz="2062" b="1" spc="-62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Reusability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804862" y="8944719"/>
            <a:ext cx="3757761" cy="707231"/>
            <a:chOff x="0" y="0"/>
            <a:chExt cx="5010348" cy="942975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5010348" cy="942975"/>
            </a:xfrm>
            <a:custGeom>
              <a:avLst/>
              <a:gdLst/>
              <a:ahLst/>
              <a:cxnLst/>
              <a:rect l="l" t="t" r="r" b="b"/>
              <a:pathLst>
                <a:path w="5010348" h="942975">
                  <a:moveTo>
                    <a:pt x="0" y="0"/>
                  </a:moveTo>
                  <a:lnTo>
                    <a:pt x="5010348" y="0"/>
                  </a:lnTo>
                  <a:lnTo>
                    <a:pt x="5010348" y="942975"/>
                  </a:lnTo>
                  <a:lnTo>
                    <a:pt x="0" y="9429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0" y="-76200"/>
              <a:ext cx="5010348" cy="10191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49"/>
                </a:lnSpc>
              </a:pPr>
              <a:r>
                <a:rPr lang="en-US" sz="1687" spc="-2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Functions can be reused throughout the script.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4920704" y="8316366"/>
            <a:ext cx="4139654" cy="1526530"/>
            <a:chOff x="0" y="0"/>
            <a:chExt cx="5519538" cy="2035373"/>
          </a:xfrm>
        </p:grpSpPr>
        <p:sp>
          <p:nvSpPr>
            <p:cNvPr id="85" name="Freeform 85"/>
            <p:cNvSpPr/>
            <p:nvPr/>
          </p:nvSpPr>
          <p:spPr>
            <a:xfrm>
              <a:off x="6350" y="6350"/>
              <a:ext cx="5506847" cy="2022729"/>
            </a:xfrm>
            <a:custGeom>
              <a:avLst/>
              <a:gdLst/>
              <a:ahLst/>
              <a:cxnLst/>
              <a:rect l="l" t="t" r="r" b="b"/>
              <a:pathLst>
                <a:path w="5506847" h="2022729">
                  <a:moveTo>
                    <a:pt x="0" y="99060"/>
                  </a:moveTo>
                  <a:cubicBezTo>
                    <a:pt x="0" y="44323"/>
                    <a:pt x="44450" y="0"/>
                    <a:pt x="99441" y="0"/>
                  </a:cubicBezTo>
                  <a:lnTo>
                    <a:pt x="5407406" y="0"/>
                  </a:lnTo>
                  <a:cubicBezTo>
                    <a:pt x="5462270" y="0"/>
                    <a:pt x="5506847" y="44323"/>
                    <a:pt x="5506847" y="99060"/>
                  </a:cubicBezTo>
                  <a:lnTo>
                    <a:pt x="5506847" y="1923669"/>
                  </a:lnTo>
                  <a:cubicBezTo>
                    <a:pt x="5506847" y="1978406"/>
                    <a:pt x="5462397" y="2022729"/>
                    <a:pt x="5407406" y="2022729"/>
                  </a:cubicBezTo>
                  <a:lnTo>
                    <a:pt x="99441" y="2022729"/>
                  </a:lnTo>
                  <a:cubicBezTo>
                    <a:pt x="44450" y="2022729"/>
                    <a:pt x="0" y="1978406"/>
                    <a:pt x="0" y="1923669"/>
                  </a:cubicBezTo>
                  <a:close/>
                </a:path>
              </a:pathLst>
            </a:custGeom>
            <a:solidFill>
              <a:srgbClr val="DADBF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 86"/>
            <p:cNvSpPr/>
            <p:nvPr/>
          </p:nvSpPr>
          <p:spPr>
            <a:xfrm>
              <a:off x="0" y="0"/>
              <a:ext cx="5519547" cy="2035429"/>
            </a:xfrm>
            <a:custGeom>
              <a:avLst/>
              <a:gdLst/>
              <a:ahLst/>
              <a:cxnLst/>
              <a:rect l="l" t="t" r="r" b="b"/>
              <a:pathLst>
                <a:path w="5519547" h="2035429">
                  <a:moveTo>
                    <a:pt x="0" y="105410"/>
                  </a:moveTo>
                  <a:cubicBezTo>
                    <a:pt x="0" y="47117"/>
                    <a:pt x="47371" y="0"/>
                    <a:pt x="105791" y="0"/>
                  </a:cubicBezTo>
                  <a:lnTo>
                    <a:pt x="5413756" y="0"/>
                  </a:lnTo>
                  <a:lnTo>
                    <a:pt x="5413756" y="6350"/>
                  </a:lnTo>
                  <a:lnTo>
                    <a:pt x="5413756" y="0"/>
                  </a:lnTo>
                  <a:cubicBezTo>
                    <a:pt x="5472176" y="0"/>
                    <a:pt x="5519547" y="47117"/>
                    <a:pt x="5519547" y="105410"/>
                  </a:cubicBezTo>
                  <a:lnTo>
                    <a:pt x="5513197" y="105410"/>
                  </a:lnTo>
                  <a:lnTo>
                    <a:pt x="5519547" y="105410"/>
                  </a:lnTo>
                  <a:lnTo>
                    <a:pt x="5519547" y="1930019"/>
                  </a:lnTo>
                  <a:lnTo>
                    <a:pt x="5513197" y="1930019"/>
                  </a:lnTo>
                  <a:lnTo>
                    <a:pt x="5519547" y="1930019"/>
                  </a:lnTo>
                  <a:cubicBezTo>
                    <a:pt x="5519547" y="1988185"/>
                    <a:pt x="5472176" y="2035429"/>
                    <a:pt x="5413756" y="2035429"/>
                  </a:cubicBezTo>
                  <a:lnTo>
                    <a:pt x="5413756" y="2029079"/>
                  </a:lnTo>
                  <a:lnTo>
                    <a:pt x="5413756" y="2035429"/>
                  </a:lnTo>
                  <a:lnTo>
                    <a:pt x="105791" y="2035429"/>
                  </a:lnTo>
                  <a:lnTo>
                    <a:pt x="105791" y="2029079"/>
                  </a:lnTo>
                  <a:lnTo>
                    <a:pt x="105791" y="2035429"/>
                  </a:lnTo>
                  <a:cubicBezTo>
                    <a:pt x="47371" y="2035429"/>
                    <a:pt x="0" y="1988312"/>
                    <a:pt x="0" y="1930019"/>
                  </a:cubicBezTo>
                  <a:lnTo>
                    <a:pt x="0" y="105410"/>
                  </a:lnTo>
                  <a:lnTo>
                    <a:pt x="6350" y="105410"/>
                  </a:lnTo>
                  <a:lnTo>
                    <a:pt x="0" y="105410"/>
                  </a:lnTo>
                  <a:moveTo>
                    <a:pt x="12700" y="105410"/>
                  </a:moveTo>
                  <a:lnTo>
                    <a:pt x="12700" y="1930019"/>
                  </a:lnTo>
                  <a:lnTo>
                    <a:pt x="6350" y="1930019"/>
                  </a:lnTo>
                  <a:lnTo>
                    <a:pt x="12700" y="1930019"/>
                  </a:lnTo>
                  <a:cubicBezTo>
                    <a:pt x="12700" y="1981200"/>
                    <a:pt x="54356" y="2022729"/>
                    <a:pt x="105791" y="2022729"/>
                  </a:cubicBezTo>
                  <a:lnTo>
                    <a:pt x="5413756" y="2022729"/>
                  </a:lnTo>
                  <a:cubicBezTo>
                    <a:pt x="5465191" y="2022729"/>
                    <a:pt x="5506847" y="1981200"/>
                    <a:pt x="5506847" y="1930019"/>
                  </a:cubicBezTo>
                  <a:lnTo>
                    <a:pt x="5506847" y="105410"/>
                  </a:lnTo>
                  <a:cubicBezTo>
                    <a:pt x="5506847" y="54229"/>
                    <a:pt x="5465191" y="12700"/>
                    <a:pt x="5413756" y="12700"/>
                  </a:cubicBezTo>
                  <a:lnTo>
                    <a:pt x="105791" y="12700"/>
                  </a:lnTo>
                  <a:lnTo>
                    <a:pt x="105791" y="6350"/>
                  </a:lnTo>
                  <a:lnTo>
                    <a:pt x="105791" y="12700"/>
                  </a:lnTo>
                  <a:cubicBezTo>
                    <a:pt x="54356" y="12700"/>
                    <a:pt x="12700" y="54229"/>
                    <a:pt x="12700" y="105410"/>
                  </a:cubicBezTo>
                  <a:close/>
                </a:path>
              </a:pathLst>
            </a:custGeom>
            <a:solidFill>
              <a:srgbClr val="C0C1D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5111651" y="8507314"/>
            <a:ext cx="2651969" cy="331440"/>
            <a:chOff x="0" y="0"/>
            <a:chExt cx="3535958" cy="441920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3535958" cy="441920"/>
            </a:xfrm>
            <a:custGeom>
              <a:avLst/>
              <a:gdLst/>
              <a:ahLst/>
              <a:cxnLst/>
              <a:rect l="l" t="t" r="r" b="b"/>
              <a:pathLst>
                <a:path w="3535958" h="441920">
                  <a:moveTo>
                    <a:pt x="0" y="0"/>
                  </a:moveTo>
                  <a:lnTo>
                    <a:pt x="3535958" y="0"/>
                  </a:lnTo>
                  <a:lnTo>
                    <a:pt x="3535958" y="441920"/>
                  </a:lnTo>
                  <a:lnTo>
                    <a:pt x="0" y="4419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0" y="-19050"/>
              <a:ext cx="3535958" cy="4609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62"/>
                </a:lnSpc>
              </a:pPr>
              <a:r>
                <a:rPr lang="en-US" sz="2062" b="1" spc="-62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Maintainability</a:t>
              </a: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5111651" y="8944719"/>
            <a:ext cx="3757761" cy="707231"/>
            <a:chOff x="0" y="0"/>
            <a:chExt cx="5010348" cy="942975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5010348" cy="942975"/>
            </a:xfrm>
            <a:custGeom>
              <a:avLst/>
              <a:gdLst/>
              <a:ahLst/>
              <a:cxnLst/>
              <a:rect l="l" t="t" r="r" b="b"/>
              <a:pathLst>
                <a:path w="5010348" h="942975">
                  <a:moveTo>
                    <a:pt x="0" y="0"/>
                  </a:moveTo>
                  <a:lnTo>
                    <a:pt x="5010348" y="0"/>
                  </a:lnTo>
                  <a:lnTo>
                    <a:pt x="5010348" y="942975"/>
                  </a:lnTo>
                  <a:lnTo>
                    <a:pt x="0" y="9429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0" y="-76200"/>
              <a:ext cx="5010348" cy="10191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49"/>
                </a:lnSpc>
              </a:pPr>
              <a:r>
                <a:rPr lang="en-US" sz="1687" spc="-2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Easier to update and modify specific tasks.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9227492" y="8316366"/>
            <a:ext cx="4139654" cy="1526530"/>
            <a:chOff x="0" y="0"/>
            <a:chExt cx="5519538" cy="2035373"/>
          </a:xfrm>
        </p:grpSpPr>
        <p:sp>
          <p:nvSpPr>
            <p:cNvPr id="94" name="Freeform 94"/>
            <p:cNvSpPr/>
            <p:nvPr/>
          </p:nvSpPr>
          <p:spPr>
            <a:xfrm>
              <a:off x="6350" y="6350"/>
              <a:ext cx="5506847" cy="2022729"/>
            </a:xfrm>
            <a:custGeom>
              <a:avLst/>
              <a:gdLst/>
              <a:ahLst/>
              <a:cxnLst/>
              <a:rect l="l" t="t" r="r" b="b"/>
              <a:pathLst>
                <a:path w="5506847" h="2022729">
                  <a:moveTo>
                    <a:pt x="0" y="99060"/>
                  </a:moveTo>
                  <a:cubicBezTo>
                    <a:pt x="0" y="44323"/>
                    <a:pt x="44450" y="0"/>
                    <a:pt x="99441" y="0"/>
                  </a:cubicBezTo>
                  <a:lnTo>
                    <a:pt x="5407406" y="0"/>
                  </a:lnTo>
                  <a:cubicBezTo>
                    <a:pt x="5462270" y="0"/>
                    <a:pt x="5506847" y="44323"/>
                    <a:pt x="5506847" y="99060"/>
                  </a:cubicBezTo>
                  <a:lnTo>
                    <a:pt x="5506847" y="1923669"/>
                  </a:lnTo>
                  <a:cubicBezTo>
                    <a:pt x="5506847" y="1978406"/>
                    <a:pt x="5462397" y="2022729"/>
                    <a:pt x="5407406" y="2022729"/>
                  </a:cubicBezTo>
                  <a:lnTo>
                    <a:pt x="99441" y="2022729"/>
                  </a:lnTo>
                  <a:cubicBezTo>
                    <a:pt x="44450" y="2022729"/>
                    <a:pt x="0" y="1978406"/>
                    <a:pt x="0" y="1923669"/>
                  </a:cubicBezTo>
                  <a:close/>
                </a:path>
              </a:pathLst>
            </a:custGeom>
            <a:solidFill>
              <a:srgbClr val="DADBF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95"/>
            <p:cNvSpPr/>
            <p:nvPr/>
          </p:nvSpPr>
          <p:spPr>
            <a:xfrm>
              <a:off x="0" y="0"/>
              <a:ext cx="5519547" cy="2035429"/>
            </a:xfrm>
            <a:custGeom>
              <a:avLst/>
              <a:gdLst/>
              <a:ahLst/>
              <a:cxnLst/>
              <a:rect l="l" t="t" r="r" b="b"/>
              <a:pathLst>
                <a:path w="5519547" h="2035429">
                  <a:moveTo>
                    <a:pt x="0" y="105410"/>
                  </a:moveTo>
                  <a:cubicBezTo>
                    <a:pt x="0" y="47117"/>
                    <a:pt x="47371" y="0"/>
                    <a:pt x="105791" y="0"/>
                  </a:cubicBezTo>
                  <a:lnTo>
                    <a:pt x="5413756" y="0"/>
                  </a:lnTo>
                  <a:lnTo>
                    <a:pt x="5413756" y="6350"/>
                  </a:lnTo>
                  <a:lnTo>
                    <a:pt x="5413756" y="0"/>
                  </a:lnTo>
                  <a:cubicBezTo>
                    <a:pt x="5472176" y="0"/>
                    <a:pt x="5519547" y="47117"/>
                    <a:pt x="5519547" y="105410"/>
                  </a:cubicBezTo>
                  <a:lnTo>
                    <a:pt x="5513197" y="105410"/>
                  </a:lnTo>
                  <a:lnTo>
                    <a:pt x="5519547" y="105410"/>
                  </a:lnTo>
                  <a:lnTo>
                    <a:pt x="5519547" y="1930019"/>
                  </a:lnTo>
                  <a:lnTo>
                    <a:pt x="5513197" y="1930019"/>
                  </a:lnTo>
                  <a:lnTo>
                    <a:pt x="5519547" y="1930019"/>
                  </a:lnTo>
                  <a:cubicBezTo>
                    <a:pt x="5519547" y="1988185"/>
                    <a:pt x="5472176" y="2035429"/>
                    <a:pt x="5413756" y="2035429"/>
                  </a:cubicBezTo>
                  <a:lnTo>
                    <a:pt x="5413756" y="2029079"/>
                  </a:lnTo>
                  <a:lnTo>
                    <a:pt x="5413756" y="2035429"/>
                  </a:lnTo>
                  <a:lnTo>
                    <a:pt x="105791" y="2035429"/>
                  </a:lnTo>
                  <a:lnTo>
                    <a:pt x="105791" y="2029079"/>
                  </a:lnTo>
                  <a:lnTo>
                    <a:pt x="105791" y="2035429"/>
                  </a:lnTo>
                  <a:cubicBezTo>
                    <a:pt x="47371" y="2035429"/>
                    <a:pt x="0" y="1988312"/>
                    <a:pt x="0" y="1930019"/>
                  </a:cubicBezTo>
                  <a:lnTo>
                    <a:pt x="0" y="105410"/>
                  </a:lnTo>
                  <a:lnTo>
                    <a:pt x="6350" y="105410"/>
                  </a:lnTo>
                  <a:lnTo>
                    <a:pt x="0" y="105410"/>
                  </a:lnTo>
                  <a:moveTo>
                    <a:pt x="12700" y="105410"/>
                  </a:moveTo>
                  <a:lnTo>
                    <a:pt x="12700" y="1930019"/>
                  </a:lnTo>
                  <a:lnTo>
                    <a:pt x="6350" y="1930019"/>
                  </a:lnTo>
                  <a:lnTo>
                    <a:pt x="12700" y="1930019"/>
                  </a:lnTo>
                  <a:cubicBezTo>
                    <a:pt x="12700" y="1981200"/>
                    <a:pt x="54356" y="2022729"/>
                    <a:pt x="105791" y="2022729"/>
                  </a:cubicBezTo>
                  <a:lnTo>
                    <a:pt x="5413756" y="2022729"/>
                  </a:lnTo>
                  <a:cubicBezTo>
                    <a:pt x="5465191" y="2022729"/>
                    <a:pt x="5506847" y="1981200"/>
                    <a:pt x="5506847" y="1930019"/>
                  </a:cubicBezTo>
                  <a:lnTo>
                    <a:pt x="5506847" y="105410"/>
                  </a:lnTo>
                  <a:cubicBezTo>
                    <a:pt x="5506847" y="54229"/>
                    <a:pt x="5465191" y="12700"/>
                    <a:pt x="5413756" y="12700"/>
                  </a:cubicBezTo>
                  <a:lnTo>
                    <a:pt x="105791" y="12700"/>
                  </a:lnTo>
                  <a:lnTo>
                    <a:pt x="105791" y="6350"/>
                  </a:lnTo>
                  <a:lnTo>
                    <a:pt x="105791" y="12700"/>
                  </a:lnTo>
                  <a:cubicBezTo>
                    <a:pt x="54356" y="12700"/>
                    <a:pt x="12700" y="54229"/>
                    <a:pt x="12700" y="105410"/>
                  </a:cubicBezTo>
                  <a:close/>
                </a:path>
              </a:pathLst>
            </a:custGeom>
            <a:solidFill>
              <a:srgbClr val="C0C1D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9418439" y="8507314"/>
            <a:ext cx="2651969" cy="331440"/>
            <a:chOff x="0" y="0"/>
            <a:chExt cx="3535958" cy="441920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3535958" cy="441920"/>
            </a:xfrm>
            <a:custGeom>
              <a:avLst/>
              <a:gdLst/>
              <a:ahLst/>
              <a:cxnLst/>
              <a:rect l="l" t="t" r="r" b="b"/>
              <a:pathLst>
                <a:path w="3535958" h="441920">
                  <a:moveTo>
                    <a:pt x="0" y="0"/>
                  </a:moveTo>
                  <a:lnTo>
                    <a:pt x="3535958" y="0"/>
                  </a:lnTo>
                  <a:lnTo>
                    <a:pt x="3535958" y="441920"/>
                  </a:lnTo>
                  <a:lnTo>
                    <a:pt x="0" y="4419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0" y="-19050"/>
              <a:ext cx="3535958" cy="4609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62"/>
                </a:lnSpc>
              </a:pPr>
              <a:r>
                <a:rPr lang="en-US" sz="2062" b="1" spc="-62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Readability</a:t>
              </a: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9418439" y="8944719"/>
            <a:ext cx="3757761" cy="707231"/>
            <a:chOff x="0" y="0"/>
            <a:chExt cx="5010348" cy="942975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5010348" cy="942975"/>
            </a:xfrm>
            <a:custGeom>
              <a:avLst/>
              <a:gdLst/>
              <a:ahLst/>
              <a:cxnLst/>
              <a:rect l="l" t="t" r="r" b="b"/>
              <a:pathLst>
                <a:path w="5010348" h="942975">
                  <a:moveTo>
                    <a:pt x="0" y="0"/>
                  </a:moveTo>
                  <a:lnTo>
                    <a:pt x="5010348" y="0"/>
                  </a:lnTo>
                  <a:lnTo>
                    <a:pt x="5010348" y="942975"/>
                  </a:lnTo>
                  <a:lnTo>
                    <a:pt x="0" y="9429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0" y="-76200"/>
              <a:ext cx="5010348" cy="10191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49"/>
                </a:lnSpc>
              </a:pPr>
              <a:r>
                <a:rPr lang="en-US" sz="1687" spc="-2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Improves code organization and understanding.</a:t>
              </a:r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13534281" y="8316366"/>
            <a:ext cx="4139654" cy="1526530"/>
            <a:chOff x="0" y="0"/>
            <a:chExt cx="5519538" cy="2035373"/>
          </a:xfrm>
        </p:grpSpPr>
        <p:sp>
          <p:nvSpPr>
            <p:cNvPr id="103" name="Freeform 103"/>
            <p:cNvSpPr/>
            <p:nvPr/>
          </p:nvSpPr>
          <p:spPr>
            <a:xfrm>
              <a:off x="6350" y="6350"/>
              <a:ext cx="5506847" cy="2022729"/>
            </a:xfrm>
            <a:custGeom>
              <a:avLst/>
              <a:gdLst/>
              <a:ahLst/>
              <a:cxnLst/>
              <a:rect l="l" t="t" r="r" b="b"/>
              <a:pathLst>
                <a:path w="5506847" h="2022729">
                  <a:moveTo>
                    <a:pt x="0" y="99060"/>
                  </a:moveTo>
                  <a:cubicBezTo>
                    <a:pt x="0" y="44323"/>
                    <a:pt x="44450" y="0"/>
                    <a:pt x="99441" y="0"/>
                  </a:cubicBezTo>
                  <a:lnTo>
                    <a:pt x="5407406" y="0"/>
                  </a:lnTo>
                  <a:cubicBezTo>
                    <a:pt x="5462270" y="0"/>
                    <a:pt x="5506847" y="44323"/>
                    <a:pt x="5506847" y="99060"/>
                  </a:cubicBezTo>
                  <a:lnTo>
                    <a:pt x="5506847" y="1923669"/>
                  </a:lnTo>
                  <a:cubicBezTo>
                    <a:pt x="5506847" y="1978406"/>
                    <a:pt x="5462397" y="2022729"/>
                    <a:pt x="5407406" y="2022729"/>
                  </a:cubicBezTo>
                  <a:lnTo>
                    <a:pt x="99441" y="2022729"/>
                  </a:lnTo>
                  <a:cubicBezTo>
                    <a:pt x="44450" y="2022729"/>
                    <a:pt x="0" y="1978406"/>
                    <a:pt x="0" y="1923669"/>
                  </a:cubicBezTo>
                  <a:close/>
                </a:path>
              </a:pathLst>
            </a:custGeom>
            <a:solidFill>
              <a:srgbClr val="DADBF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Freeform 104"/>
            <p:cNvSpPr/>
            <p:nvPr/>
          </p:nvSpPr>
          <p:spPr>
            <a:xfrm>
              <a:off x="0" y="0"/>
              <a:ext cx="5519547" cy="2035429"/>
            </a:xfrm>
            <a:custGeom>
              <a:avLst/>
              <a:gdLst/>
              <a:ahLst/>
              <a:cxnLst/>
              <a:rect l="l" t="t" r="r" b="b"/>
              <a:pathLst>
                <a:path w="5519547" h="2035429">
                  <a:moveTo>
                    <a:pt x="0" y="105410"/>
                  </a:moveTo>
                  <a:cubicBezTo>
                    <a:pt x="0" y="47117"/>
                    <a:pt x="47371" y="0"/>
                    <a:pt x="105791" y="0"/>
                  </a:cubicBezTo>
                  <a:lnTo>
                    <a:pt x="5413756" y="0"/>
                  </a:lnTo>
                  <a:lnTo>
                    <a:pt x="5413756" y="6350"/>
                  </a:lnTo>
                  <a:lnTo>
                    <a:pt x="5413756" y="0"/>
                  </a:lnTo>
                  <a:cubicBezTo>
                    <a:pt x="5472176" y="0"/>
                    <a:pt x="5519547" y="47117"/>
                    <a:pt x="5519547" y="105410"/>
                  </a:cubicBezTo>
                  <a:lnTo>
                    <a:pt x="5513197" y="105410"/>
                  </a:lnTo>
                  <a:lnTo>
                    <a:pt x="5519547" y="105410"/>
                  </a:lnTo>
                  <a:lnTo>
                    <a:pt x="5519547" y="1930019"/>
                  </a:lnTo>
                  <a:lnTo>
                    <a:pt x="5513197" y="1930019"/>
                  </a:lnTo>
                  <a:lnTo>
                    <a:pt x="5519547" y="1930019"/>
                  </a:lnTo>
                  <a:cubicBezTo>
                    <a:pt x="5519547" y="1988185"/>
                    <a:pt x="5472176" y="2035429"/>
                    <a:pt x="5413756" y="2035429"/>
                  </a:cubicBezTo>
                  <a:lnTo>
                    <a:pt x="5413756" y="2029079"/>
                  </a:lnTo>
                  <a:lnTo>
                    <a:pt x="5413756" y="2035429"/>
                  </a:lnTo>
                  <a:lnTo>
                    <a:pt x="105791" y="2035429"/>
                  </a:lnTo>
                  <a:lnTo>
                    <a:pt x="105791" y="2029079"/>
                  </a:lnTo>
                  <a:lnTo>
                    <a:pt x="105791" y="2035429"/>
                  </a:lnTo>
                  <a:cubicBezTo>
                    <a:pt x="47371" y="2035429"/>
                    <a:pt x="0" y="1988312"/>
                    <a:pt x="0" y="1930019"/>
                  </a:cubicBezTo>
                  <a:lnTo>
                    <a:pt x="0" y="105410"/>
                  </a:lnTo>
                  <a:lnTo>
                    <a:pt x="6350" y="105410"/>
                  </a:lnTo>
                  <a:lnTo>
                    <a:pt x="0" y="105410"/>
                  </a:lnTo>
                  <a:moveTo>
                    <a:pt x="12700" y="105410"/>
                  </a:moveTo>
                  <a:lnTo>
                    <a:pt x="12700" y="1930019"/>
                  </a:lnTo>
                  <a:lnTo>
                    <a:pt x="6350" y="1930019"/>
                  </a:lnTo>
                  <a:lnTo>
                    <a:pt x="12700" y="1930019"/>
                  </a:lnTo>
                  <a:cubicBezTo>
                    <a:pt x="12700" y="1981200"/>
                    <a:pt x="54356" y="2022729"/>
                    <a:pt x="105791" y="2022729"/>
                  </a:cubicBezTo>
                  <a:lnTo>
                    <a:pt x="5413756" y="2022729"/>
                  </a:lnTo>
                  <a:cubicBezTo>
                    <a:pt x="5465191" y="2022729"/>
                    <a:pt x="5506847" y="1981200"/>
                    <a:pt x="5506847" y="1930019"/>
                  </a:cubicBezTo>
                  <a:lnTo>
                    <a:pt x="5506847" y="105410"/>
                  </a:lnTo>
                  <a:cubicBezTo>
                    <a:pt x="5506847" y="54229"/>
                    <a:pt x="5465191" y="12700"/>
                    <a:pt x="5413756" y="12700"/>
                  </a:cubicBezTo>
                  <a:lnTo>
                    <a:pt x="105791" y="12700"/>
                  </a:lnTo>
                  <a:lnTo>
                    <a:pt x="105791" y="6350"/>
                  </a:lnTo>
                  <a:lnTo>
                    <a:pt x="105791" y="12700"/>
                  </a:lnTo>
                  <a:cubicBezTo>
                    <a:pt x="54356" y="12700"/>
                    <a:pt x="12700" y="54229"/>
                    <a:pt x="12700" y="105410"/>
                  </a:cubicBezTo>
                  <a:close/>
                </a:path>
              </a:pathLst>
            </a:custGeom>
            <a:solidFill>
              <a:srgbClr val="C0C1D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5" name="Group 105"/>
          <p:cNvGrpSpPr/>
          <p:nvPr/>
        </p:nvGrpSpPr>
        <p:grpSpPr>
          <a:xfrm>
            <a:off x="13725228" y="8507314"/>
            <a:ext cx="2651969" cy="331440"/>
            <a:chOff x="0" y="0"/>
            <a:chExt cx="3535958" cy="441920"/>
          </a:xfrm>
        </p:grpSpPr>
        <p:sp>
          <p:nvSpPr>
            <p:cNvPr id="106" name="Freeform 106"/>
            <p:cNvSpPr/>
            <p:nvPr/>
          </p:nvSpPr>
          <p:spPr>
            <a:xfrm>
              <a:off x="0" y="0"/>
              <a:ext cx="3535958" cy="441920"/>
            </a:xfrm>
            <a:custGeom>
              <a:avLst/>
              <a:gdLst/>
              <a:ahLst/>
              <a:cxnLst/>
              <a:rect l="l" t="t" r="r" b="b"/>
              <a:pathLst>
                <a:path w="3535958" h="441920">
                  <a:moveTo>
                    <a:pt x="0" y="0"/>
                  </a:moveTo>
                  <a:lnTo>
                    <a:pt x="3535958" y="0"/>
                  </a:lnTo>
                  <a:lnTo>
                    <a:pt x="3535958" y="441920"/>
                  </a:lnTo>
                  <a:lnTo>
                    <a:pt x="0" y="4419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0" y="-19050"/>
              <a:ext cx="3535958" cy="4609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62"/>
                </a:lnSpc>
              </a:pPr>
              <a:r>
                <a:rPr lang="en-US" sz="2062" b="1" spc="-62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Debugging</a:t>
              </a:r>
            </a:p>
          </p:txBody>
        </p:sp>
      </p:grpSp>
      <p:grpSp>
        <p:nvGrpSpPr>
          <p:cNvPr id="108" name="Group 108"/>
          <p:cNvGrpSpPr/>
          <p:nvPr/>
        </p:nvGrpSpPr>
        <p:grpSpPr>
          <a:xfrm>
            <a:off x="13725228" y="8944719"/>
            <a:ext cx="3757761" cy="707231"/>
            <a:chOff x="0" y="0"/>
            <a:chExt cx="5010348" cy="942975"/>
          </a:xfrm>
        </p:grpSpPr>
        <p:sp>
          <p:nvSpPr>
            <p:cNvPr id="109" name="Freeform 109"/>
            <p:cNvSpPr/>
            <p:nvPr/>
          </p:nvSpPr>
          <p:spPr>
            <a:xfrm>
              <a:off x="0" y="0"/>
              <a:ext cx="5010348" cy="942975"/>
            </a:xfrm>
            <a:custGeom>
              <a:avLst/>
              <a:gdLst/>
              <a:ahLst/>
              <a:cxnLst/>
              <a:rect l="l" t="t" r="r" b="b"/>
              <a:pathLst>
                <a:path w="5010348" h="942975">
                  <a:moveTo>
                    <a:pt x="0" y="0"/>
                  </a:moveTo>
                  <a:lnTo>
                    <a:pt x="5010348" y="0"/>
                  </a:lnTo>
                  <a:lnTo>
                    <a:pt x="5010348" y="942975"/>
                  </a:lnTo>
                  <a:lnTo>
                    <a:pt x="0" y="9429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0" y="-76200"/>
              <a:ext cx="5010348" cy="10191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49"/>
                </a:lnSpc>
              </a:pPr>
              <a:r>
                <a:rPr lang="en-US" sz="1687" spc="-2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Easier to identify and fix issues in smaller blocks.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32706" y="3809405"/>
            <a:ext cx="6874222" cy="832842"/>
            <a:chOff x="0" y="0"/>
            <a:chExt cx="9165630" cy="111045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165630" cy="1110457"/>
            </a:xfrm>
            <a:custGeom>
              <a:avLst/>
              <a:gdLst/>
              <a:ahLst/>
              <a:cxnLst/>
              <a:rect l="l" t="t" r="r" b="b"/>
              <a:pathLst>
                <a:path w="9165630" h="1110457">
                  <a:moveTo>
                    <a:pt x="0" y="0"/>
                  </a:moveTo>
                  <a:lnTo>
                    <a:pt x="9165630" y="0"/>
                  </a:lnTo>
                  <a:lnTo>
                    <a:pt x="9165630" y="1110457"/>
                  </a:lnTo>
                  <a:lnTo>
                    <a:pt x="0" y="11104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9165630" cy="114855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500"/>
                </a:lnSpc>
              </a:pPr>
              <a:r>
                <a:rPr lang="en-US" sz="5187" b="1" spc="-157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All-in-one: Bash script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32706" y="4908649"/>
            <a:ext cx="7886254" cy="1598414"/>
            <a:chOff x="0" y="0"/>
            <a:chExt cx="10515005" cy="213121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515005" cy="2131218"/>
            </a:xfrm>
            <a:custGeom>
              <a:avLst/>
              <a:gdLst/>
              <a:ahLst/>
              <a:cxnLst/>
              <a:rect l="l" t="t" r="r" b="b"/>
              <a:pathLst>
                <a:path w="10515005" h="2131218">
                  <a:moveTo>
                    <a:pt x="0" y="0"/>
                  </a:moveTo>
                  <a:lnTo>
                    <a:pt x="10515005" y="0"/>
                  </a:lnTo>
                  <a:lnTo>
                    <a:pt x="10515005" y="2131218"/>
                  </a:lnTo>
                  <a:lnTo>
                    <a:pt x="0" y="21312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04775"/>
              <a:ext cx="10515005" cy="223599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187"/>
                </a:lnSpc>
              </a:pPr>
              <a:r>
                <a:rPr lang="en-US" sz="2562" spc="-42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Let's analyze a bash script that involves arrays, functions, loops and conditions for installing numerous tools &amp; packages.</a:t>
              </a:r>
            </a:p>
          </p:txBody>
        </p:sp>
      </p:grpSp>
      <p:sp>
        <p:nvSpPr>
          <p:cNvPr id="12" name="Freeform 12" descr="preencoded.png"/>
          <p:cNvSpPr/>
          <p:nvPr/>
        </p:nvSpPr>
        <p:spPr>
          <a:xfrm>
            <a:off x="9478566" y="1032570"/>
            <a:ext cx="7016055" cy="8224838"/>
          </a:xfrm>
          <a:custGeom>
            <a:avLst/>
            <a:gdLst/>
            <a:ahLst/>
            <a:cxnLst/>
            <a:rect l="l" t="t" r="r" b="b"/>
            <a:pathLst>
              <a:path w="7016055" h="8224838">
                <a:moveTo>
                  <a:pt x="0" y="0"/>
                </a:moveTo>
                <a:lnTo>
                  <a:pt x="7016055" y="0"/>
                </a:lnTo>
                <a:lnTo>
                  <a:pt x="7016055" y="8224838"/>
                </a:lnTo>
                <a:lnTo>
                  <a:pt x="0" y="82248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" b="-1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 descr="preencoded.png">
            <a:hlinkClick r:id="rId3" tooltip="https://gamma.app/?utm_source=made-with-gamma"/>
          </p:cNvPr>
          <p:cNvSpPr/>
          <p:nvPr/>
        </p:nvSpPr>
        <p:spPr>
          <a:xfrm>
            <a:off x="16049019" y="9686925"/>
            <a:ext cx="2153256" cy="514350"/>
          </a:xfrm>
          <a:custGeom>
            <a:avLst/>
            <a:gdLst/>
            <a:ahLst/>
            <a:cxnLst/>
            <a:rect l="l" t="t" r="r" b="b"/>
            <a:pathLst>
              <a:path w="2153256" h="514350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 descr="preencoded.png"/>
          <p:cNvSpPr/>
          <p:nvPr/>
        </p:nvSpPr>
        <p:spPr>
          <a:xfrm>
            <a:off x="11430000" y="0"/>
            <a:ext cx="6858000" cy="10287000"/>
          </a:xfrm>
          <a:custGeom>
            <a:avLst/>
            <a:gdLst/>
            <a:ahLst/>
            <a:cxnLst/>
            <a:rect l="l" t="t" r="r" b="b"/>
            <a:pathLst>
              <a:path w="6858000" h="10287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790575" y="849660"/>
            <a:ext cx="5647879" cy="705891"/>
            <a:chOff x="0" y="0"/>
            <a:chExt cx="7530505" cy="94118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530505" cy="941188"/>
            </a:xfrm>
            <a:custGeom>
              <a:avLst/>
              <a:gdLst/>
              <a:ahLst/>
              <a:cxnLst/>
              <a:rect l="l" t="t" r="r" b="b"/>
              <a:pathLst>
                <a:path w="7530505" h="941188">
                  <a:moveTo>
                    <a:pt x="0" y="0"/>
                  </a:moveTo>
                  <a:lnTo>
                    <a:pt x="7530505" y="0"/>
                  </a:lnTo>
                  <a:lnTo>
                    <a:pt x="7530505" y="941188"/>
                  </a:lnTo>
                  <a:lnTo>
                    <a:pt x="0" y="9411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7530505" cy="9697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500"/>
                </a:lnSpc>
              </a:pPr>
              <a:r>
                <a:rPr lang="en-US" sz="4437" b="1" spc="-133">
                  <a:solidFill>
                    <a:srgbClr val="204C8E"/>
                  </a:solidFill>
                  <a:latin typeface="Inter Bold"/>
                  <a:ea typeface="Inter Bold"/>
                  <a:cs typeface="Inter Bold"/>
                  <a:sym typeface="Inter Bold"/>
                </a:rPr>
                <a:t>Key Takeaways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85812" y="2143571"/>
            <a:ext cx="517773" cy="517772"/>
            <a:chOff x="0" y="0"/>
            <a:chExt cx="690363" cy="690363"/>
          </a:xfrm>
        </p:grpSpPr>
        <p:sp>
          <p:nvSpPr>
            <p:cNvPr id="12" name="Freeform 12"/>
            <p:cNvSpPr/>
            <p:nvPr/>
          </p:nvSpPr>
          <p:spPr>
            <a:xfrm>
              <a:off x="6350" y="6350"/>
              <a:ext cx="677672" cy="677672"/>
            </a:xfrm>
            <a:custGeom>
              <a:avLst/>
              <a:gdLst/>
              <a:ahLst/>
              <a:cxnLst/>
              <a:rect l="l" t="t" r="r" b="b"/>
              <a:pathLst>
                <a:path w="677672" h="677672">
                  <a:moveTo>
                    <a:pt x="0" y="126492"/>
                  </a:moveTo>
                  <a:cubicBezTo>
                    <a:pt x="0" y="56642"/>
                    <a:pt x="56642" y="0"/>
                    <a:pt x="126492" y="0"/>
                  </a:cubicBezTo>
                  <a:lnTo>
                    <a:pt x="551180" y="0"/>
                  </a:lnTo>
                  <a:cubicBezTo>
                    <a:pt x="621030" y="0"/>
                    <a:pt x="677672" y="56642"/>
                    <a:pt x="677672" y="126492"/>
                  </a:cubicBezTo>
                  <a:lnTo>
                    <a:pt x="677672" y="551180"/>
                  </a:lnTo>
                  <a:cubicBezTo>
                    <a:pt x="677672" y="621030"/>
                    <a:pt x="621030" y="677672"/>
                    <a:pt x="551180" y="677672"/>
                  </a:cubicBezTo>
                  <a:lnTo>
                    <a:pt x="126492" y="677672"/>
                  </a:lnTo>
                  <a:cubicBezTo>
                    <a:pt x="56642" y="677672"/>
                    <a:pt x="0" y="621030"/>
                    <a:pt x="0" y="551180"/>
                  </a:cubicBezTo>
                  <a:close/>
                </a:path>
              </a:pathLst>
            </a:custGeom>
            <a:solidFill>
              <a:srgbClr val="204C8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0"/>
              <a:ext cx="690372" cy="690372"/>
            </a:xfrm>
            <a:custGeom>
              <a:avLst/>
              <a:gdLst/>
              <a:ahLst/>
              <a:cxnLst/>
              <a:rect l="l" t="t" r="r" b="b"/>
              <a:pathLst>
                <a:path w="690372" h="690372">
                  <a:moveTo>
                    <a:pt x="0" y="132842"/>
                  </a:moveTo>
                  <a:cubicBezTo>
                    <a:pt x="0" y="59436"/>
                    <a:pt x="59436" y="0"/>
                    <a:pt x="132842" y="0"/>
                  </a:cubicBezTo>
                  <a:lnTo>
                    <a:pt x="557530" y="0"/>
                  </a:lnTo>
                  <a:lnTo>
                    <a:pt x="557530" y="6350"/>
                  </a:lnTo>
                  <a:lnTo>
                    <a:pt x="557530" y="0"/>
                  </a:lnTo>
                  <a:cubicBezTo>
                    <a:pt x="630936" y="0"/>
                    <a:pt x="690372" y="59436"/>
                    <a:pt x="690372" y="132842"/>
                  </a:cubicBezTo>
                  <a:lnTo>
                    <a:pt x="684022" y="132842"/>
                  </a:lnTo>
                  <a:lnTo>
                    <a:pt x="690372" y="132842"/>
                  </a:lnTo>
                  <a:lnTo>
                    <a:pt x="690372" y="557530"/>
                  </a:lnTo>
                  <a:lnTo>
                    <a:pt x="684022" y="557530"/>
                  </a:lnTo>
                  <a:lnTo>
                    <a:pt x="690372" y="557530"/>
                  </a:lnTo>
                  <a:cubicBezTo>
                    <a:pt x="690372" y="630936"/>
                    <a:pt x="630936" y="690372"/>
                    <a:pt x="557530" y="690372"/>
                  </a:cubicBezTo>
                  <a:lnTo>
                    <a:pt x="557530" y="684022"/>
                  </a:lnTo>
                  <a:lnTo>
                    <a:pt x="557530" y="690372"/>
                  </a:lnTo>
                  <a:lnTo>
                    <a:pt x="132842" y="690372"/>
                  </a:lnTo>
                  <a:lnTo>
                    <a:pt x="132842" y="684022"/>
                  </a:lnTo>
                  <a:lnTo>
                    <a:pt x="132842" y="690372"/>
                  </a:lnTo>
                  <a:cubicBezTo>
                    <a:pt x="59436" y="690372"/>
                    <a:pt x="0" y="630936"/>
                    <a:pt x="0" y="557530"/>
                  </a:cubicBezTo>
                  <a:lnTo>
                    <a:pt x="0" y="132842"/>
                  </a:lnTo>
                  <a:lnTo>
                    <a:pt x="6350" y="132842"/>
                  </a:lnTo>
                  <a:lnTo>
                    <a:pt x="0" y="132842"/>
                  </a:lnTo>
                  <a:moveTo>
                    <a:pt x="12700" y="132842"/>
                  </a:moveTo>
                  <a:lnTo>
                    <a:pt x="12700" y="557530"/>
                  </a:lnTo>
                  <a:lnTo>
                    <a:pt x="6350" y="557530"/>
                  </a:lnTo>
                  <a:lnTo>
                    <a:pt x="12700" y="557530"/>
                  </a:lnTo>
                  <a:cubicBezTo>
                    <a:pt x="12700" y="623951"/>
                    <a:pt x="66548" y="677672"/>
                    <a:pt x="132842" y="677672"/>
                  </a:cubicBezTo>
                  <a:lnTo>
                    <a:pt x="557530" y="677672"/>
                  </a:lnTo>
                  <a:cubicBezTo>
                    <a:pt x="623951" y="677672"/>
                    <a:pt x="677672" y="623824"/>
                    <a:pt x="677672" y="557530"/>
                  </a:cubicBezTo>
                  <a:lnTo>
                    <a:pt x="677672" y="132842"/>
                  </a:lnTo>
                  <a:cubicBezTo>
                    <a:pt x="677672" y="66548"/>
                    <a:pt x="623824" y="12700"/>
                    <a:pt x="557530" y="12700"/>
                  </a:cubicBezTo>
                  <a:lnTo>
                    <a:pt x="132842" y="12700"/>
                  </a:lnTo>
                  <a:lnTo>
                    <a:pt x="132842" y="6350"/>
                  </a:lnTo>
                  <a:lnTo>
                    <a:pt x="132842" y="12700"/>
                  </a:lnTo>
                  <a:cubicBezTo>
                    <a:pt x="66548" y="12700"/>
                    <a:pt x="12700" y="66548"/>
                    <a:pt x="12700" y="132842"/>
                  </a:cubicBezTo>
                  <a:close/>
                </a:path>
              </a:pathLst>
            </a:custGeom>
            <a:solidFill>
              <a:srgbClr val="3965A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76759" y="2233018"/>
            <a:ext cx="135880" cy="338881"/>
            <a:chOff x="0" y="0"/>
            <a:chExt cx="181173" cy="45184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81173" cy="451842"/>
            </a:xfrm>
            <a:custGeom>
              <a:avLst/>
              <a:gdLst/>
              <a:ahLst/>
              <a:cxnLst/>
              <a:rect l="l" t="t" r="r" b="b"/>
              <a:pathLst>
                <a:path w="181173" h="451842">
                  <a:moveTo>
                    <a:pt x="0" y="0"/>
                  </a:moveTo>
                  <a:lnTo>
                    <a:pt x="181173" y="0"/>
                  </a:lnTo>
                  <a:lnTo>
                    <a:pt x="181173" y="451842"/>
                  </a:lnTo>
                  <a:lnTo>
                    <a:pt x="0" y="4518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47625"/>
              <a:ext cx="181173" cy="4042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25"/>
                </a:lnSpc>
              </a:pPr>
              <a:r>
                <a:rPr lang="en-US" sz="2625" b="1" spc="-80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524595" y="2148334"/>
            <a:ext cx="3388667" cy="423565"/>
            <a:chOff x="0" y="0"/>
            <a:chExt cx="4518223" cy="56475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518223" cy="564753"/>
            </a:xfrm>
            <a:custGeom>
              <a:avLst/>
              <a:gdLst/>
              <a:ahLst/>
              <a:cxnLst/>
              <a:rect l="l" t="t" r="r" b="b"/>
              <a:pathLst>
                <a:path w="4518223" h="564753">
                  <a:moveTo>
                    <a:pt x="0" y="0"/>
                  </a:moveTo>
                  <a:lnTo>
                    <a:pt x="4518223" y="0"/>
                  </a:lnTo>
                  <a:lnTo>
                    <a:pt x="4518223" y="564753"/>
                  </a:lnTo>
                  <a:lnTo>
                    <a:pt x="0" y="56475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4518223" cy="5838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12"/>
                </a:lnSpc>
              </a:pPr>
              <a:r>
                <a:rPr lang="en-US" sz="2625" b="1" spc="-80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Regular Expressions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524595" y="2707332"/>
            <a:ext cx="9114830" cy="451694"/>
            <a:chOff x="0" y="0"/>
            <a:chExt cx="12153107" cy="60225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2153107" cy="602258"/>
            </a:xfrm>
            <a:custGeom>
              <a:avLst/>
              <a:gdLst/>
              <a:ahLst/>
              <a:cxnLst/>
              <a:rect l="l" t="t" r="r" b="b"/>
              <a:pathLst>
                <a:path w="12153107" h="602258">
                  <a:moveTo>
                    <a:pt x="0" y="0"/>
                  </a:moveTo>
                  <a:lnTo>
                    <a:pt x="12153107" y="0"/>
                  </a:lnTo>
                  <a:lnTo>
                    <a:pt x="12153107" y="602258"/>
                  </a:lnTo>
                  <a:lnTo>
                    <a:pt x="0" y="6022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85725"/>
              <a:ext cx="12153107" cy="6879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00"/>
                </a:lnSpc>
              </a:pPr>
              <a:r>
                <a:rPr lang="en-US" sz="2187" spc="-35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Powerful tool for pattern matching and validation in Bash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85812" y="3634085"/>
            <a:ext cx="517773" cy="517772"/>
            <a:chOff x="0" y="0"/>
            <a:chExt cx="690363" cy="690363"/>
          </a:xfrm>
        </p:grpSpPr>
        <p:sp>
          <p:nvSpPr>
            <p:cNvPr id="24" name="Freeform 24"/>
            <p:cNvSpPr/>
            <p:nvPr/>
          </p:nvSpPr>
          <p:spPr>
            <a:xfrm>
              <a:off x="6350" y="6350"/>
              <a:ext cx="677672" cy="677672"/>
            </a:xfrm>
            <a:custGeom>
              <a:avLst/>
              <a:gdLst/>
              <a:ahLst/>
              <a:cxnLst/>
              <a:rect l="l" t="t" r="r" b="b"/>
              <a:pathLst>
                <a:path w="677672" h="677672">
                  <a:moveTo>
                    <a:pt x="0" y="126492"/>
                  </a:moveTo>
                  <a:cubicBezTo>
                    <a:pt x="0" y="56642"/>
                    <a:pt x="56642" y="0"/>
                    <a:pt x="126492" y="0"/>
                  </a:cubicBezTo>
                  <a:lnTo>
                    <a:pt x="551180" y="0"/>
                  </a:lnTo>
                  <a:cubicBezTo>
                    <a:pt x="621030" y="0"/>
                    <a:pt x="677672" y="56642"/>
                    <a:pt x="677672" y="126492"/>
                  </a:cubicBezTo>
                  <a:lnTo>
                    <a:pt x="677672" y="551180"/>
                  </a:lnTo>
                  <a:cubicBezTo>
                    <a:pt x="677672" y="621030"/>
                    <a:pt x="621030" y="677672"/>
                    <a:pt x="551180" y="677672"/>
                  </a:cubicBezTo>
                  <a:lnTo>
                    <a:pt x="126492" y="677672"/>
                  </a:lnTo>
                  <a:cubicBezTo>
                    <a:pt x="56642" y="677672"/>
                    <a:pt x="0" y="621030"/>
                    <a:pt x="0" y="551180"/>
                  </a:cubicBezTo>
                  <a:close/>
                </a:path>
              </a:pathLst>
            </a:custGeom>
            <a:solidFill>
              <a:srgbClr val="204C8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0" y="0"/>
              <a:ext cx="690372" cy="690372"/>
            </a:xfrm>
            <a:custGeom>
              <a:avLst/>
              <a:gdLst/>
              <a:ahLst/>
              <a:cxnLst/>
              <a:rect l="l" t="t" r="r" b="b"/>
              <a:pathLst>
                <a:path w="690372" h="690372">
                  <a:moveTo>
                    <a:pt x="0" y="132842"/>
                  </a:moveTo>
                  <a:cubicBezTo>
                    <a:pt x="0" y="59436"/>
                    <a:pt x="59436" y="0"/>
                    <a:pt x="132842" y="0"/>
                  </a:cubicBezTo>
                  <a:lnTo>
                    <a:pt x="557530" y="0"/>
                  </a:lnTo>
                  <a:lnTo>
                    <a:pt x="557530" y="6350"/>
                  </a:lnTo>
                  <a:lnTo>
                    <a:pt x="557530" y="0"/>
                  </a:lnTo>
                  <a:cubicBezTo>
                    <a:pt x="630936" y="0"/>
                    <a:pt x="690372" y="59436"/>
                    <a:pt x="690372" y="132842"/>
                  </a:cubicBezTo>
                  <a:lnTo>
                    <a:pt x="684022" y="132842"/>
                  </a:lnTo>
                  <a:lnTo>
                    <a:pt x="690372" y="132842"/>
                  </a:lnTo>
                  <a:lnTo>
                    <a:pt x="690372" y="557530"/>
                  </a:lnTo>
                  <a:lnTo>
                    <a:pt x="684022" y="557530"/>
                  </a:lnTo>
                  <a:lnTo>
                    <a:pt x="690372" y="557530"/>
                  </a:lnTo>
                  <a:cubicBezTo>
                    <a:pt x="690372" y="630936"/>
                    <a:pt x="630936" y="690372"/>
                    <a:pt x="557530" y="690372"/>
                  </a:cubicBezTo>
                  <a:lnTo>
                    <a:pt x="557530" y="684022"/>
                  </a:lnTo>
                  <a:lnTo>
                    <a:pt x="557530" y="690372"/>
                  </a:lnTo>
                  <a:lnTo>
                    <a:pt x="132842" y="690372"/>
                  </a:lnTo>
                  <a:lnTo>
                    <a:pt x="132842" y="684022"/>
                  </a:lnTo>
                  <a:lnTo>
                    <a:pt x="132842" y="690372"/>
                  </a:lnTo>
                  <a:cubicBezTo>
                    <a:pt x="59436" y="690372"/>
                    <a:pt x="0" y="630936"/>
                    <a:pt x="0" y="557530"/>
                  </a:cubicBezTo>
                  <a:lnTo>
                    <a:pt x="0" y="132842"/>
                  </a:lnTo>
                  <a:lnTo>
                    <a:pt x="6350" y="132842"/>
                  </a:lnTo>
                  <a:lnTo>
                    <a:pt x="0" y="132842"/>
                  </a:lnTo>
                  <a:moveTo>
                    <a:pt x="12700" y="132842"/>
                  </a:moveTo>
                  <a:lnTo>
                    <a:pt x="12700" y="557530"/>
                  </a:lnTo>
                  <a:lnTo>
                    <a:pt x="6350" y="557530"/>
                  </a:lnTo>
                  <a:lnTo>
                    <a:pt x="12700" y="557530"/>
                  </a:lnTo>
                  <a:cubicBezTo>
                    <a:pt x="12700" y="623951"/>
                    <a:pt x="66548" y="677672"/>
                    <a:pt x="132842" y="677672"/>
                  </a:cubicBezTo>
                  <a:lnTo>
                    <a:pt x="557530" y="677672"/>
                  </a:lnTo>
                  <a:cubicBezTo>
                    <a:pt x="623951" y="677672"/>
                    <a:pt x="677672" y="623824"/>
                    <a:pt x="677672" y="557530"/>
                  </a:cubicBezTo>
                  <a:lnTo>
                    <a:pt x="677672" y="132842"/>
                  </a:lnTo>
                  <a:cubicBezTo>
                    <a:pt x="677672" y="66548"/>
                    <a:pt x="623824" y="12700"/>
                    <a:pt x="557530" y="12700"/>
                  </a:cubicBezTo>
                  <a:lnTo>
                    <a:pt x="132842" y="12700"/>
                  </a:lnTo>
                  <a:lnTo>
                    <a:pt x="132842" y="6350"/>
                  </a:lnTo>
                  <a:lnTo>
                    <a:pt x="132842" y="12700"/>
                  </a:lnTo>
                  <a:cubicBezTo>
                    <a:pt x="66548" y="12700"/>
                    <a:pt x="12700" y="66548"/>
                    <a:pt x="12700" y="132842"/>
                  </a:cubicBezTo>
                  <a:close/>
                </a:path>
              </a:pathLst>
            </a:custGeom>
            <a:solidFill>
              <a:srgbClr val="3965A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43124" y="3723531"/>
            <a:ext cx="203150" cy="338881"/>
            <a:chOff x="0" y="0"/>
            <a:chExt cx="270867" cy="45184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70867" cy="451842"/>
            </a:xfrm>
            <a:custGeom>
              <a:avLst/>
              <a:gdLst/>
              <a:ahLst/>
              <a:cxnLst/>
              <a:rect l="l" t="t" r="r" b="b"/>
              <a:pathLst>
                <a:path w="270867" h="451842">
                  <a:moveTo>
                    <a:pt x="0" y="0"/>
                  </a:moveTo>
                  <a:lnTo>
                    <a:pt x="270867" y="0"/>
                  </a:lnTo>
                  <a:lnTo>
                    <a:pt x="270867" y="451842"/>
                  </a:lnTo>
                  <a:lnTo>
                    <a:pt x="0" y="4518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47625"/>
              <a:ext cx="270867" cy="4042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25"/>
                </a:lnSpc>
              </a:pPr>
              <a:r>
                <a:rPr lang="en-US" sz="2625" b="1" spc="-80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524595" y="3566161"/>
            <a:ext cx="4186805" cy="568938"/>
            <a:chOff x="0" y="0"/>
            <a:chExt cx="5582407" cy="758584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5582407" cy="758584"/>
            </a:xfrm>
            <a:custGeom>
              <a:avLst/>
              <a:gdLst/>
              <a:ahLst/>
              <a:cxnLst/>
              <a:rect l="l" t="t" r="r" b="b"/>
              <a:pathLst>
                <a:path w="5582407" h="758584">
                  <a:moveTo>
                    <a:pt x="0" y="0"/>
                  </a:moveTo>
                  <a:lnTo>
                    <a:pt x="5582407" y="0"/>
                  </a:lnTo>
                  <a:lnTo>
                    <a:pt x="5582407" y="758584"/>
                  </a:lnTo>
                  <a:lnTo>
                    <a:pt x="0" y="7585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19050"/>
              <a:ext cx="5582407" cy="77763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12"/>
                </a:lnSpc>
              </a:pPr>
              <a:r>
                <a:rPr lang="en-US" sz="2625" b="1" spc="-80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Variables &amp; Parameters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524595" y="4197846"/>
            <a:ext cx="9114830" cy="903386"/>
            <a:chOff x="0" y="0"/>
            <a:chExt cx="12153107" cy="1204515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2153107" cy="1204515"/>
            </a:xfrm>
            <a:custGeom>
              <a:avLst/>
              <a:gdLst/>
              <a:ahLst/>
              <a:cxnLst/>
              <a:rect l="l" t="t" r="r" b="b"/>
              <a:pathLst>
                <a:path w="12153107" h="1204515">
                  <a:moveTo>
                    <a:pt x="0" y="0"/>
                  </a:moveTo>
                  <a:lnTo>
                    <a:pt x="12153107" y="0"/>
                  </a:lnTo>
                  <a:lnTo>
                    <a:pt x="12153107" y="1204515"/>
                  </a:lnTo>
                  <a:lnTo>
                    <a:pt x="0" y="12045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85725"/>
              <a:ext cx="12153107" cy="12902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00"/>
                </a:lnSpc>
              </a:pPr>
              <a:r>
                <a:rPr lang="en-US" sz="2187" spc="-35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Variables store data, and parameters allow passing values to scripts or functions for dynamic behavior.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85812" y="5576292"/>
            <a:ext cx="517773" cy="517772"/>
            <a:chOff x="0" y="0"/>
            <a:chExt cx="690363" cy="690363"/>
          </a:xfrm>
        </p:grpSpPr>
        <p:sp>
          <p:nvSpPr>
            <p:cNvPr id="36" name="Freeform 36"/>
            <p:cNvSpPr/>
            <p:nvPr/>
          </p:nvSpPr>
          <p:spPr>
            <a:xfrm>
              <a:off x="6350" y="6350"/>
              <a:ext cx="677672" cy="677672"/>
            </a:xfrm>
            <a:custGeom>
              <a:avLst/>
              <a:gdLst/>
              <a:ahLst/>
              <a:cxnLst/>
              <a:rect l="l" t="t" r="r" b="b"/>
              <a:pathLst>
                <a:path w="677672" h="677672">
                  <a:moveTo>
                    <a:pt x="0" y="126492"/>
                  </a:moveTo>
                  <a:cubicBezTo>
                    <a:pt x="0" y="56642"/>
                    <a:pt x="56642" y="0"/>
                    <a:pt x="126492" y="0"/>
                  </a:cubicBezTo>
                  <a:lnTo>
                    <a:pt x="551180" y="0"/>
                  </a:lnTo>
                  <a:cubicBezTo>
                    <a:pt x="621030" y="0"/>
                    <a:pt x="677672" y="56642"/>
                    <a:pt x="677672" y="126492"/>
                  </a:cubicBezTo>
                  <a:lnTo>
                    <a:pt x="677672" y="551180"/>
                  </a:lnTo>
                  <a:cubicBezTo>
                    <a:pt x="677672" y="621030"/>
                    <a:pt x="621030" y="677672"/>
                    <a:pt x="551180" y="677672"/>
                  </a:cubicBezTo>
                  <a:lnTo>
                    <a:pt x="126492" y="677672"/>
                  </a:lnTo>
                  <a:cubicBezTo>
                    <a:pt x="56642" y="677672"/>
                    <a:pt x="0" y="621030"/>
                    <a:pt x="0" y="551180"/>
                  </a:cubicBezTo>
                  <a:close/>
                </a:path>
              </a:pathLst>
            </a:custGeom>
            <a:solidFill>
              <a:srgbClr val="204C8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7"/>
            <p:cNvSpPr/>
            <p:nvPr/>
          </p:nvSpPr>
          <p:spPr>
            <a:xfrm>
              <a:off x="0" y="0"/>
              <a:ext cx="690372" cy="690372"/>
            </a:xfrm>
            <a:custGeom>
              <a:avLst/>
              <a:gdLst/>
              <a:ahLst/>
              <a:cxnLst/>
              <a:rect l="l" t="t" r="r" b="b"/>
              <a:pathLst>
                <a:path w="690372" h="690372">
                  <a:moveTo>
                    <a:pt x="0" y="132842"/>
                  </a:moveTo>
                  <a:cubicBezTo>
                    <a:pt x="0" y="59436"/>
                    <a:pt x="59436" y="0"/>
                    <a:pt x="132842" y="0"/>
                  </a:cubicBezTo>
                  <a:lnTo>
                    <a:pt x="557530" y="0"/>
                  </a:lnTo>
                  <a:lnTo>
                    <a:pt x="557530" y="6350"/>
                  </a:lnTo>
                  <a:lnTo>
                    <a:pt x="557530" y="0"/>
                  </a:lnTo>
                  <a:cubicBezTo>
                    <a:pt x="630936" y="0"/>
                    <a:pt x="690372" y="59436"/>
                    <a:pt x="690372" y="132842"/>
                  </a:cubicBezTo>
                  <a:lnTo>
                    <a:pt x="684022" y="132842"/>
                  </a:lnTo>
                  <a:lnTo>
                    <a:pt x="690372" y="132842"/>
                  </a:lnTo>
                  <a:lnTo>
                    <a:pt x="690372" y="557530"/>
                  </a:lnTo>
                  <a:lnTo>
                    <a:pt x="684022" y="557530"/>
                  </a:lnTo>
                  <a:lnTo>
                    <a:pt x="690372" y="557530"/>
                  </a:lnTo>
                  <a:cubicBezTo>
                    <a:pt x="690372" y="630936"/>
                    <a:pt x="630936" y="690372"/>
                    <a:pt x="557530" y="690372"/>
                  </a:cubicBezTo>
                  <a:lnTo>
                    <a:pt x="557530" y="684022"/>
                  </a:lnTo>
                  <a:lnTo>
                    <a:pt x="557530" y="690372"/>
                  </a:lnTo>
                  <a:lnTo>
                    <a:pt x="132842" y="690372"/>
                  </a:lnTo>
                  <a:lnTo>
                    <a:pt x="132842" y="684022"/>
                  </a:lnTo>
                  <a:lnTo>
                    <a:pt x="132842" y="690372"/>
                  </a:lnTo>
                  <a:cubicBezTo>
                    <a:pt x="59436" y="690372"/>
                    <a:pt x="0" y="630936"/>
                    <a:pt x="0" y="557530"/>
                  </a:cubicBezTo>
                  <a:lnTo>
                    <a:pt x="0" y="132842"/>
                  </a:lnTo>
                  <a:lnTo>
                    <a:pt x="6350" y="132842"/>
                  </a:lnTo>
                  <a:lnTo>
                    <a:pt x="0" y="132842"/>
                  </a:lnTo>
                  <a:moveTo>
                    <a:pt x="12700" y="132842"/>
                  </a:moveTo>
                  <a:lnTo>
                    <a:pt x="12700" y="557530"/>
                  </a:lnTo>
                  <a:lnTo>
                    <a:pt x="6350" y="557530"/>
                  </a:lnTo>
                  <a:lnTo>
                    <a:pt x="12700" y="557530"/>
                  </a:lnTo>
                  <a:cubicBezTo>
                    <a:pt x="12700" y="623951"/>
                    <a:pt x="66548" y="677672"/>
                    <a:pt x="132842" y="677672"/>
                  </a:cubicBezTo>
                  <a:lnTo>
                    <a:pt x="557530" y="677672"/>
                  </a:lnTo>
                  <a:cubicBezTo>
                    <a:pt x="623951" y="677672"/>
                    <a:pt x="677672" y="623824"/>
                    <a:pt x="677672" y="557530"/>
                  </a:cubicBezTo>
                  <a:lnTo>
                    <a:pt x="677672" y="132842"/>
                  </a:lnTo>
                  <a:cubicBezTo>
                    <a:pt x="677672" y="66548"/>
                    <a:pt x="623824" y="12700"/>
                    <a:pt x="557530" y="12700"/>
                  </a:cubicBezTo>
                  <a:lnTo>
                    <a:pt x="132842" y="12700"/>
                  </a:lnTo>
                  <a:lnTo>
                    <a:pt x="132842" y="6350"/>
                  </a:lnTo>
                  <a:lnTo>
                    <a:pt x="132842" y="12700"/>
                  </a:lnTo>
                  <a:cubicBezTo>
                    <a:pt x="66548" y="12700"/>
                    <a:pt x="12700" y="66548"/>
                    <a:pt x="12700" y="132842"/>
                  </a:cubicBezTo>
                  <a:close/>
                </a:path>
              </a:pathLst>
            </a:custGeom>
            <a:solidFill>
              <a:srgbClr val="3965A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40445" y="5665737"/>
            <a:ext cx="208509" cy="338881"/>
            <a:chOff x="0" y="0"/>
            <a:chExt cx="278012" cy="451842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278012" cy="451842"/>
            </a:xfrm>
            <a:custGeom>
              <a:avLst/>
              <a:gdLst/>
              <a:ahLst/>
              <a:cxnLst/>
              <a:rect l="l" t="t" r="r" b="b"/>
              <a:pathLst>
                <a:path w="278012" h="451842">
                  <a:moveTo>
                    <a:pt x="0" y="0"/>
                  </a:moveTo>
                  <a:lnTo>
                    <a:pt x="278012" y="0"/>
                  </a:lnTo>
                  <a:lnTo>
                    <a:pt x="278012" y="451842"/>
                  </a:lnTo>
                  <a:lnTo>
                    <a:pt x="0" y="4518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47625"/>
              <a:ext cx="278012" cy="4042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25"/>
                </a:lnSpc>
              </a:pPr>
              <a:r>
                <a:rPr lang="en-US" sz="2625" b="1" spc="-80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3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524595" y="5581055"/>
            <a:ext cx="4552950" cy="423565"/>
            <a:chOff x="0" y="0"/>
            <a:chExt cx="6070600" cy="564753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6070600" cy="564753"/>
            </a:xfrm>
            <a:custGeom>
              <a:avLst/>
              <a:gdLst/>
              <a:ahLst/>
              <a:cxnLst/>
              <a:rect l="l" t="t" r="r" b="b"/>
              <a:pathLst>
                <a:path w="6070600" h="564753">
                  <a:moveTo>
                    <a:pt x="0" y="0"/>
                  </a:moveTo>
                  <a:lnTo>
                    <a:pt x="6070600" y="0"/>
                  </a:lnTo>
                  <a:lnTo>
                    <a:pt x="6070600" y="564753"/>
                  </a:lnTo>
                  <a:lnTo>
                    <a:pt x="0" y="56475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19050"/>
              <a:ext cx="6070600" cy="5838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12"/>
                </a:lnSpc>
              </a:pPr>
              <a:r>
                <a:rPr lang="en-US" sz="2625" b="1" spc="-80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Indexed &amp; Associative Arrays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524595" y="6140054"/>
            <a:ext cx="9114830" cy="903386"/>
            <a:chOff x="0" y="0"/>
            <a:chExt cx="12153107" cy="1204515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2153107" cy="1204515"/>
            </a:xfrm>
            <a:custGeom>
              <a:avLst/>
              <a:gdLst/>
              <a:ahLst/>
              <a:cxnLst/>
              <a:rect l="l" t="t" r="r" b="b"/>
              <a:pathLst>
                <a:path w="12153107" h="1204515">
                  <a:moveTo>
                    <a:pt x="0" y="0"/>
                  </a:moveTo>
                  <a:lnTo>
                    <a:pt x="12153107" y="0"/>
                  </a:lnTo>
                  <a:lnTo>
                    <a:pt x="12153107" y="1204515"/>
                  </a:lnTo>
                  <a:lnTo>
                    <a:pt x="0" y="12045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85725"/>
              <a:ext cx="12153107" cy="12902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00"/>
                </a:lnSpc>
              </a:pPr>
              <a:r>
                <a:rPr lang="en-US" sz="2187" spc="-35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Indexed arrays use numeric indices for ordered data, while associative arrays use custom string keys to store and retrieve key-value pairs.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785812" y="7518499"/>
            <a:ext cx="517773" cy="517772"/>
            <a:chOff x="0" y="0"/>
            <a:chExt cx="690363" cy="690363"/>
          </a:xfrm>
        </p:grpSpPr>
        <p:sp>
          <p:nvSpPr>
            <p:cNvPr id="48" name="Freeform 48"/>
            <p:cNvSpPr/>
            <p:nvPr/>
          </p:nvSpPr>
          <p:spPr>
            <a:xfrm>
              <a:off x="6350" y="6350"/>
              <a:ext cx="677672" cy="677672"/>
            </a:xfrm>
            <a:custGeom>
              <a:avLst/>
              <a:gdLst/>
              <a:ahLst/>
              <a:cxnLst/>
              <a:rect l="l" t="t" r="r" b="b"/>
              <a:pathLst>
                <a:path w="677672" h="677672">
                  <a:moveTo>
                    <a:pt x="0" y="126492"/>
                  </a:moveTo>
                  <a:cubicBezTo>
                    <a:pt x="0" y="56642"/>
                    <a:pt x="56642" y="0"/>
                    <a:pt x="126492" y="0"/>
                  </a:cubicBezTo>
                  <a:lnTo>
                    <a:pt x="551180" y="0"/>
                  </a:lnTo>
                  <a:cubicBezTo>
                    <a:pt x="621030" y="0"/>
                    <a:pt x="677672" y="56642"/>
                    <a:pt x="677672" y="126492"/>
                  </a:cubicBezTo>
                  <a:lnTo>
                    <a:pt x="677672" y="551180"/>
                  </a:lnTo>
                  <a:cubicBezTo>
                    <a:pt x="677672" y="621030"/>
                    <a:pt x="621030" y="677672"/>
                    <a:pt x="551180" y="677672"/>
                  </a:cubicBezTo>
                  <a:lnTo>
                    <a:pt x="126492" y="677672"/>
                  </a:lnTo>
                  <a:cubicBezTo>
                    <a:pt x="56642" y="677672"/>
                    <a:pt x="0" y="621030"/>
                    <a:pt x="0" y="551180"/>
                  </a:cubicBezTo>
                  <a:close/>
                </a:path>
              </a:pathLst>
            </a:custGeom>
            <a:solidFill>
              <a:srgbClr val="204C8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9"/>
            <p:cNvSpPr/>
            <p:nvPr/>
          </p:nvSpPr>
          <p:spPr>
            <a:xfrm>
              <a:off x="0" y="0"/>
              <a:ext cx="690372" cy="690372"/>
            </a:xfrm>
            <a:custGeom>
              <a:avLst/>
              <a:gdLst/>
              <a:ahLst/>
              <a:cxnLst/>
              <a:rect l="l" t="t" r="r" b="b"/>
              <a:pathLst>
                <a:path w="690372" h="690372">
                  <a:moveTo>
                    <a:pt x="0" y="132842"/>
                  </a:moveTo>
                  <a:cubicBezTo>
                    <a:pt x="0" y="59436"/>
                    <a:pt x="59436" y="0"/>
                    <a:pt x="132842" y="0"/>
                  </a:cubicBezTo>
                  <a:lnTo>
                    <a:pt x="557530" y="0"/>
                  </a:lnTo>
                  <a:lnTo>
                    <a:pt x="557530" y="6350"/>
                  </a:lnTo>
                  <a:lnTo>
                    <a:pt x="557530" y="0"/>
                  </a:lnTo>
                  <a:cubicBezTo>
                    <a:pt x="630936" y="0"/>
                    <a:pt x="690372" y="59436"/>
                    <a:pt x="690372" y="132842"/>
                  </a:cubicBezTo>
                  <a:lnTo>
                    <a:pt x="684022" y="132842"/>
                  </a:lnTo>
                  <a:lnTo>
                    <a:pt x="690372" y="132842"/>
                  </a:lnTo>
                  <a:lnTo>
                    <a:pt x="690372" y="557530"/>
                  </a:lnTo>
                  <a:lnTo>
                    <a:pt x="684022" y="557530"/>
                  </a:lnTo>
                  <a:lnTo>
                    <a:pt x="690372" y="557530"/>
                  </a:lnTo>
                  <a:cubicBezTo>
                    <a:pt x="690372" y="630936"/>
                    <a:pt x="630936" y="690372"/>
                    <a:pt x="557530" y="690372"/>
                  </a:cubicBezTo>
                  <a:lnTo>
                    <a:pt x="557530" y="684022"/>
                  </a:lnTo>
                  <a:lnTo>
                    <a:pt x="557530" y="690372"/>
                  </a:lnTo>
                  <a:lnTo>
                    <a:pt x="132842" y="690372"/>
                  </a:lnTo>
                  <a:lnTo>
                    <a:pt x="132842" y="684022"/>
                  </a:lnTo>
                  <a:lnTo>
                    <a:pt x="132842" y="690372"/>
                  </a:lnTo>
                  <a:cubicBezTo>
                    <a:pt x="59436" y="690372"/>
                    <a:pt x="0" y="630936"/>
                    <a:pt x="0" y="557530"/>
                  </a:cubicBezTo>
                  <a:lnTo>
                    <a:pt x="0" y="132842"/>
                  </a:lnTo>
                  <a:lnTo>
                    <a:pt x="6350" y="132842"/>
                  </a:lnTo>
                  <a:lnTo>
                    <a:pt x="0" y="132842"/>
                  </a:lnTo>
                  <a:moveTo>
                    <a:pt x="12700" y="132842"/>
                  </a:moveTo>
                  <a:lnTo>
                    <a:pt x="12700" y="557530"/>
                  </a:lnTo>
                  <a:lnTo>
                    <a:pt x="6350" y="557530"/>
                  </a:lnTo>
                  <a:lnTo>
                    <a:pt x="12700" y="557530"/>
                  </a:lnTo>
                  <a:cubicBezTo>
                    <a:pt x="12700" y="623951"/>
                    <a:pt x="66548" y="677672"/>
                    <a:pt x="132842" y="677672"/>
                  </a:cubicBezTo>
                  <a:lnTo>
                    <a:pt x="557530" y="677672"/>
                  </a:lnTo>
                  <a:cubicBezTo>
                    <a:pt x="623951" y="677672"/>
                    <a:pt x="677672" y="623824"/>
                    <a:pt x="677672" y="557530"/>
                  </a:cubicBezTo>
                  <a:lnTo>
                    <a:pt x="677672" y="132842"/>
                  </a:lnTo>
                  <a:cubicBezTo>
                    <a:pt x="677672" y="66548"/>
                    <a:pt x="623824" y="12700"/>
                    <a:pt x="557530" y="12700"/>
                  </a:cubicBezTo>
                  <a:lnTo>
                    <a:pt x="132842" y="12700"/>
                  </a:lnTo>
                  <a:lnTo>
                    <a:pt x="132842" y="6350"/>
                  </a:lnTo>
                  <a:lnTo>
                    <a:pt x="132842" y="12700"/>
                  </a:lnTo>
                  <a:cubicBezTo>
                    <a:pt x="66548" y="12700"/>
                    <a:pt x="12700" y="66548"/>
                    <a:pt x="12700" y="132842"/>
                  </a:cubicBezTo>
                  <a:close/>
                </a:path>
              </a:pathLst>
            </a:custGeom>
            <a:solidFill>
              <a:srgbClr val="3965A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935236" y="7607945"/>
            <a:ext cx="218926" cy="338881"/>
            <a:chOff x="0" y="0"/>
            <a:chExt cx="291902" cy="451842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291902" cy="451842"/>
            </a:xfrm>
            <a:custGeom>
              <a:avLst/>
              <a:gdLst/>
              <a:ahLst/>
              <a:cxnLst/>
              <a:rect l="l" t="t" r="r" b="b"/>
              <a:pathLst>
                <a:path w="291902" h="451842">
                  <a:moveTo>
                    <a:pt x="0" y="0"/>
                  </a:moveTo>
                  <a:lnTo>
                    <a:pt x="291902" y="0"/>
                  </a:lnTo>
                  <a:lnTo>
                    <a:pt x="291902" y="451842"/>
                  </a:lnTo>
                  <a:lnTo>
                    <a:pt x="0" y="4518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47625"/>
              <a:ext cx="291902" cy="4042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25"/>
                </a:lnSpc>
              </a:pPr>
              <a:r>
                <a:rPr lang="en-US" sz="2625" b="1" spc="-80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4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524595" y="7523261"/>
            <a:ext cx="3587354" cy="423565"/>
            <a:chOff x="0" y="0"/>
            <a:chExt cx="4783138" cy="564753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4783138" cy="564753"/>
            </a:xfrm>
            <a:custGeom>
              <a:avLst/>
              <a:gdLst/>
              <a:ahLst/>
              <a:cxnLst/>
              <a:rect l="l" t="t" r="r" b="b"/>
              <a:pathLst>
                <a:path w="4783138" h="564753">
                  <a:moveTo>
                    <a:pt x="0" y="0"/>
                  </a:moveTo>
                  <a:lnTo>
                    <a:pt x="4783138" y="0"/>
                  </a:lnTo>
                  <a:lnTo>
                    <a:pt x="4783138" y="564753"/>
                  </a:lnTo>
                  <a:lnTo>
                    <a:pt x="0" y="56475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19050"/>
              <a:ext cx="4783138" cy="5838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12"/>
                </a:lnSpc>
              </a:pPr>
              <a:r>
                <a:rPr lang="en-US" sz="2625" b="1" spc="-80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Enhancing your scripts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524595" y="8082260"/>
            <a:ext cx="9114830" cy="1355080"/>
            <a:chOff x="0" y="0"/>
            <a:chExt cx="12153107" cy="1806773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2153107" cy="1806773"/>
            </a:xfrm>
            <a:custGeom>
              <a:avLst/>
              <a:gdLst/>
              <a:ahLst/>
              <a:cxnLst/>
              <a:rect l="l" t="t" r="r" b="b"/>
              <a:pathLst>
                <a:path w="12153107" h="1806773">
                  <a:moveTo>
                    <a:pt x="0" y="0"/>
                  </a:moveTo>
                  <a:lnTo>
                    <a:pt x="12153107" y="0"/>
                  </a:lnTo>
                  <a:lnTo>
                    <a:pt x="12153107" y="1806773"/>
                  </a:lnTo>
                  <a:lnTo>
                    <a:pt x="0" y="18067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0" y="-85725"/>
              <a:ext cx="12153107" cy="18924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00"/>
                </a:lnSpc>
              </a:pPr>
              <a:r>
                <a:rPr lang="en-US" sz="2187" spc="-35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Refactoring improves script structure and readability, while modular scripting organizes code into reusable functions for better maintainability.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1260</Words>
  <Application>Microsoft Macintosh PowerPoint</Application>
  <PresentationFormat>Custom</PresentationFormat>
  <Paragraphs>188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Inter Bold</vt:lpstr>
      <vt:lpstr>Calibri</vt:lpstr>
      <vt:lpstr>Inter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Advanced-Bash.pptx</dc:title>
  <cp:lastModifiedBy>Mohammad Anees Alam</cp:lastModifiedBy>
  <cp:revision>2</cp:revision>
  <dcterms:created xsi:type="dcterms:W3CDTF">2006-08-16T00:00:00Z</dcterms:created>
  <dcterms:modified xsi:type="dcterms:W3CDTF">2025-09-27T03:36:58Z</dcterms:modified>
  <dc:identifier>DAGfzcRciC8</dc:identifier>
</cp:coreProperties>
</file>