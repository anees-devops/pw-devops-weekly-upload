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77"/>
      <p:regular r:id="rId17"/>
    </p:embeddedFont>
    <p:embeddedFont>
      <p:font typeface="DM Sans Bold" pitchFamily="2" charset="77"/>
      <p:regular r:id="rId18"/>
      <p:bold r:id="rId19"/>
    </p:embeddedFont>
    <p:embeddedFont>
      <p:font typeface="PT Serif" panose="020A0603040505020204" pitchFamily="18" charset="77"/>
      <p:regular r:id="rId20"/>
    </p:embeddedFont>
    <p:embeddedFont>
      <p:font typeface="PT Serif Bold" panose="020A0603040505020204" pitchFamily="18" charset="77"/>
      <p:regular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 autoAdjust="0"/>
    <p:restoredTop sz="94638" autoAdjust="0"/>
  </p:normalViewPr>
  <p:slideViewPr>
    <p:cSldViewPr>
      <p:cViewPr varScale="1">
        <p:scale>
          <a:sx n="84" d="100"/>
          <a:sy n="84" d="100"/>
        </p:scale>
        <p:origin x="232" y="2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01.03.2025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gamma.app/?utm_source=made-with-gamma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oto3.amazonaws.com/v1/documentation/api/latest/index.html" TargetMode="External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0668000" y="0"/>
            <a:ext cx="7620000" cy="10287000"/>
          </a:xfrm>
          <a:custGeom>
            <a:avLst/>
            <a:gdLst/>
            <a:ahLst/>
            <a:cxnLst/>
            <a:rect l="l" t="t" r="r" b="b"/>
            <a:pathLst>
              <a:path w="6858000" h="10287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92237" y="3295353"/>
            <a:ext cx="10137564" cy="2191808"/>
            <a:chOff x="0" y="0"/>
            <a:chExt cx="13516752" cy="29224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516752" cy="2922411"/>
            </a:xfrm>
            <a:custGeom>
              <a:avLst/>
              <a:gdLst/>
              <a:ahLst/>
              <a:cxnLst/>
              <a:rect l="l" t="t" r="r" b="b"/>
              <a:pathLst>
                <a:path w="13516752" h="2922411">
                  <a:moveTo>
                    <a:pt x="0" y="0"/>
                  </a:moveTo>
                  <a:lnTo>
                    <a:pt x="13516752" y="0"/>
                  </a:lnTo>
                  <a:lnTo>
                    <a:pt x="13516752" y="2922411"/>
                  </a:lnTo>
                  <a:lnTo>
                    <a:pt x="0" y="29224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3516752" cy="2960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7815"/>
                </a:lnSpc>
              </a:pPr>
              <a:r>
                <a:rPr lang="en-US" sz="6212" dirty="0">
                  <a:solidFill>
                    <a:srgbClr val="E04F00"/>
                  </a:solidFill>
                  <a:latin typeface="PT Serif"/>
                  <a:ea typeface="PT Serif"/>
                  <a:cs typeface="PT Serif"/>
                  <a:sym typeface="PT Serif"/>
                </a:rPr>
                <a:t>Python: Object-Oriented programming &amp; Libraries.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92237" y="9012058"/>
            <a:ext cx="1596146" cy="340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50"/>
              </a:lnSpc>
              <a:spcBef>
                <a:spcPct val="0"/>
              </a:spcBef>
            </a:pPr>
            <a:r>
              <a:rPr lang="en-US" sz="2400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Presenter</a:t>
            </a:r>
            <a:endParaRPr lang="en-US" sz="2550" dirty="0">
              <a:solidFill>
                <a:srgbClr val="000000"/>
              </a:solidFill>
              <a:latin typeface="PT Serif"/>
              <a:ea typeface="PT Serif"/>
              <a:cs typeface="PT Serif"/>
              <a:sym typeface="PT Serif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2237" y="9516427"/>
            <a:ext cx="4678142" cy="34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5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4AAD"/>
                </a:solidFill>
                <a:latin typeface="PT Serif Bold"/>
                <a:ea typeface="PT Serif Bold"/>
                <a:cs typeface="PT Serif Bold"/>
                <a:sym typeface="PT Serif Bold"/>
              </a:rPr>
              <a:t>Mohammad</a:t>
            </a:r>
            <a:r>
              <a:rPr lang="en-US" sz="2550" b="1" dirty="0">
                <a:solidFill>
                  <a:srgbClr val="004AAD"/>
                </a:solidFill>
                <a:latin typeface="PT Serif Bold"/>
                <a:ea typeface="PT Serif Bold"/>
                <a:cs typeface="PT Serif Bold"/>
                <a:sym typeface="PT Serif Bold"/>
              </a:rPr>
              <a:t> Anees Alam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967680"/>
            <a:ext cx="7442746" cy="930325"/>
            <a:chOff x="0" y="0"/>
            <a:chExt cx="9923662" cy="1240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923662" cy="1240433"/>
            </a:xfrm>
            <a:custGeom>
              <a:avLst/>
              <a:gdLst/>
              <a:ahLst/>
              <a:cxnLst/>
              <a:rect l="l" t="t" r="r" b="b"/>
              <a:pathLst>
                <a:path w="9923662" h="1240433">
                  <a:moveTo>
                    <a:pt x="0" y="0"/>
                  </a:moveTo>
                  <a:lnTo>
                    <a:pt x="9923662" y="0"/>
                  </a:lnTo>
                  <a:lnTo>
                    <a:pt x="9923662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923662" cy="12785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E04F00"/>
                  </a:solidFill>
                  <a:latin typeface="PT Serif"/>
                  <a:ea typeface="PT Serif"/>
                  <a:cs typeface="PT Serif"/>
                  <a:sym typeface="PT Serif"/>
                </a:rPr>
                <a:t>Topics for today!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8" y="2783979"/>
            <a:ext cx="637878" cy="637878"/>
            <a:chOff x="0" y="0"/>
            <a:chExt cx="850503" cy="85050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92114" y="2879526"/>
            <a:ext cx="237976" cy="446634"/>
            <a:chOff x="0" y="0"/>
            <a:chExt cx="317302" cy="5955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7302" cy="595512"/>
            </a:xfrm>
            <a:custGeom>
              <a:avLst/>
              <a:gdLst/>
              <a:ahLst/>
              <a:cxnLst/>
              <a:rect l="l" t="t" r="r" b="b"/>
              <a:pathLst>
                <a:path w="317302" h="595512">
                  <a:moveTo>
                    <a:pt x="0" y="0"/>
                  </a:moveTo>
                  <a:lnTo>
                    <a:pt x="317302" y="0"/>
                  </a:lnTo>
                  <a:lnTo>
                    <a:pt x="317302" y="595512"/>
                  </a:lnTo>
                  <a:lnTo>
                    <a:pt x="0" y="595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66675"/>
              <a:ext cx="317302" cy="528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913632" y="2783979"/>
            <a:ext cx="7383959" cy="558254"/>
            <a:chOff x="0" y="0"/>
            <a:chExt cx="9845278" cy="7443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845278" cy="744338"/>
            </a:xfrm>
            <a:custGeom>
              <a:avLst/>
              <a:gdLst/>
              <a:ahLst/>
              <a:cxnLst/>
              <a:rect l="l" t="t" r="r" b="b"/>
              <a:pathLst>
                <a:path w="9845278" h="744338">
                  <a:moveTo>
                    <a:pt x="0" y="0"/>
                  </a:moveTo>
                  <a:lnTo>
                    <a:pt x="9845278" y="0"/>
                  </a:lnTo>
                  <a:lnTo>
                    <a:pt x="9845278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845278" cy="753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Intro &amp; deep-dive into OOP concepts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92238" y="4568429"/>
            <a:ext cx="637878" cy="637878"/>
            <a:chOff x="0" y="0"/>
            <a:chExt cx="850503" cy="8505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192114" y="4663976"/>
            <a:ext cx="237976" cy="446634"/>
            <a:chOff x="0" y="0"/>
            <a:chExt cx="317302" cy="5955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302" cy="595512"/>
            </a:xfrm>
            <a:custGeom>
              <a:avLst/>
              <a:gdLst/>
              <a:ahLst/>
              <a:cxnLst/>
              <a:rect l="l" t="t" r="r" b="b"/>
              <a:pathLst>
                <a:path w="317302" h="595512">
                  <a:moveTo>
                    <a:pt x="0" y="0"/>
                  </a:moveTo>
                  <a:lnTo>
                    <a:pt x="317302" y="0"/>
                  </a:lnTo>
                  <a:lnTo>
                    <a:pt x="317302" y="595512"/>
                  </a:lnTo>
                  <a:lnTo>
                    <a:pt x="0" y="595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66675"/>
              <a:ext cx="317302" cy="528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913632" y="4568429"/>
            <a:ext cx="4465588" cy="558254"/>
            <a:chOff x="0" y="0"/>
            <a:chExt cx="5954117" cy="7443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Python Libraries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2238" y="6352877"/>
            <a:ext cx="637878" cy="637877"/>
            <a:chOff x="0" y="0"/>
            <a:chExt cx="850503" cy="85050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192114" y="6448425"/>
            <a:ext cx="237976" cy="446634"/>
            <a:chOff x="0" y="0"/>
            <a:chExt cx="317302" cy="5955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17302" cy="595512"/>
            </a:xfrm>
            <a:custGeom>
              <a:avLst/>
              <a:gdLst/>
              <a:ahLst/>
              <a:cxnLst/>
              <a:rect l="l" t="t" r="r" b="b"/>
              <a:pathLst>
                <a:path w="317302" h="595512">
                  <a:moveTo>
                    <a:pt x="0" y="0"/>
                  </a:moveTo>
                  <a:lnTo>
                    <a:pt x="317302" y="0"/>
                  </a:lnTo>
                  <a:lnTo>
                    <a:pt x="317302" y="595512"/>
                  </a:lnTo>
                  <a:lnTo>
                    <a:pt x="0" y="595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66675"/>
              <a:ext cx="317302" cy="528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913632" y="6352877"/>
            <a:ext cx="4465588" cy="558254"/>
            <a:chOff x="0" y="0"/>
            <a:chExt cx="5954117" cy="7443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Regular Expressions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92238" y="8137326"/>
            <a:ext cx="637878" cy="637878"/>
            <a:chOff x="0" y="0"/>
            <a:chExt cx="850503" cy="8505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50392" cy="850519"/>
            </a:xfrm>
            <a:custGeom>
              <a:avLst/>
              <a:gdLst/>
              <a:ahLst/>
              <a:cxnLst/>
              <a:rect l="l" t="t" r="r" b="b"/>
              <a:pathLst>
                <a:path w="850392" h="85051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192114" y="8232874"/>
            <a:ext cx="237976" cy="446634"/>
            <a:chOff x="0" y="0"/>
            <a:chExt cx="317302" cy="59551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7302" cy="595512"/>
            </a:xfrm>
            <a:custGeom>
              <a:avLst/>
              <a:gdLst/>
              <a:ahLst/>
              <a:cxnLst/>
              <a:rect l="l" t="t" r="r" b="b"/>
              <a:pathLst>
                <a:path w="317302" h="595512">
                  <a:moveTo>
                    <a:pt x="0" y="0"/>
                  </a:moveTo>
                  <a:lnTo>
                    <a:pt x="317302" y="0"/>
                  </a:lnTo>
                  <a:lnTo>
                    <a:pt x="317302" y="595512"/>
                  </a:lnTo>
                  <a:lnTo>
                    <a:pt x="0" y="5955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66675"/>
              <a:ext cx="317302" cy="5288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913632" y="8137326"/>
            <a:ext cx="4465588" cy="558254"/>
            <a:chOff x="0" y="0"/>
            <a:chExt cx="5954117" cy="74433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954117" cy="744338"/>
            </a:xfrm>
            <a:custGeom>
              <a:avLst/>
              <a:gdLst/>
              <a:ahLst/>
              <a:cxnLst/>
              <a:rect l="l" t="t" r="r" b="b"/>
              <a:pathLst>
                <a:path w="5954117" h="744338">
                  <a:moveTo>
                    <a:pt x="0" y="0"/>
                  </a:moveTo>
                  <a:lnTo>
                    <a:pt x="5954117" y="0"/>
                  </a:lnTo>
                  <a:lnTo>
                    <a:pt x="5954117" y="744338"/>
                  </a:lnTo>
                  <a:lnTo>
                    <a:pt x="0" y="7443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5954117" cy="7538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5"/>
                </a:lnSpc>
              </a:pPr>
              <a:r>
                <a:rPr lang="en-US" sz="350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activity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4897802" y="9704986"/>
            <a:ext cx="3062594" cy="28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1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31180" y="313221"/>
            <a:ext cx="4883555" cy="788256"/>
            <a:chOff x="0" y="0"/>
            <a:chExt cx="6511406" cy="105100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511406" cy="1051008"/>
            </a:xfrm>
            <a:custGeom>
              <a:avLst/>
              <a:gdLst/>
              <a:ahLst/>
              <a:cxnLst/>
              <a:rect l="l" t="t" r="r" b="b"/>
              <a:pathLst>
                <a:path w="6511406" h="1051008">
                  <a:moveTo>
                    <a:pt x="0" y="0"/>
                  </a:moveTo>
                  <a:lnTo>
                    <a:pt x="6511406" y="0"/>
                  </a:lnTo>
                  <a:lnTo>
                    <a:pt x="6511406" y="1051008"/>
                  </a:lnTo>
                  <a:lnTo>
                    <a:pt x="0" y="10510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6511406" cy="10795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126"/>
                </a:lnSpc>
              </a:pPr>
              <a:r>
                <a:rPr lang="en-US" sz="40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Key OOP Concepts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31180" y="1140381"/>
            <a:ext cx="17025640" cy="847591"/>
            <a:chOff x="0" y="0"/>
            <a:chExt cx="22700853" cy="11301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700853" cy="1130121"/>
            </a:xfrm>
            <a:custGeom>
              <a:avLst/>
              <a:gdLst/>
              <a:ahLst/>
              <a:cxnLst/>
              <a:rect l="l" t="t" r="r" b="b"/>
              <a:pathLst>
                <a:path w="22700853" h="1130121">
                  <a:moveTo>
                    <a:pt x="0" y="0"/>
                  </a:moveTo>
                  <a:lnTo>
                    <a:pt x="22700853" y="0"/>
                  </a:lnTo>
                  <a:lnTo>
                    <a:pt x="22700853" y="1130121"/>
                  </a:lnTo>
                  <a:lnTo>
                    <a:pt x="0" y="1130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700853" cy="12158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4184" lvl="1" indent="-232092" algn="l">
                <a:lnSpc>
                  <a:spcPts val="3455"/>
                </a:lnSpc>
                <a:buFont typeface="Arial"/>
                <a:buChar char="•"/>
              </a:pPr>
              <a:r>
                <a:rPr lang="en-US" sz="21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Object-Oriented Programming (OOP) is a programming approach that organizes code by using "objects," which are specific instances of classes.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1180" y="2026875"/>
            <a:ext cx="17025640" cy="847591"/>
            <a:chOff x="0" y="0"/>
            <a:chExt cx="22700853" cy="11301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700853" cy="1130121"/>
            </a:xfrm>
            <a:custGeom>
              <a:avLst/>
              <a:gdLst/>
              <a:ahLst/>
              <a:cxnLst/>
              <a:rect l="l" t="t" r="r" b="b"/>
              <a:pathLst>
                <a:path w="22700853" h="1130121">
                  <a:moveTo>
                    <a:pt x="0" y="0"/>
                  </a:moveTo>
                  <a:lnTo>
                    <a:pt x="22700853" y="0"/>
                  </a:lnTo>
                  <a:lnTo>
                    <a:pt x="22700853" y="1130121"/>
                  </a:lnTo>
                  <a:lnTo>
                    <a:pt x="0" y="1130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22700853" cy="12158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4184" lvl="1" indent="-232092" algn="l">
                <a:lnSpc>
                  <a:spcPts val="3455"/>
                </a:lnSpc>
                <a:buFont typeface="Arial"/>
                <a:buChar char="•"/>
              </a:pPr>
              <a:r>
                <a:rPr lang="en-US" sz="21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method </a:t>
              </a:r>
              <a:r>
                <a:rPr lang="en-US" sz="2149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focuses on creating modular and reusable code</a:t>
              </a:r>
              <a:r>
                <a:rPr lang="en-US" sz="21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by grouping related data and functions into objects, making it easier to manage and extend the code.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34475" y="2846635"/>
            <a:ext cx="19050" cy="6943874"/>
            <a:chOff x="0" y="0"/>
            <a:chExt cx="25400" cy="92584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5400" cy="9258554"/>
            </a:xfrm>
            <a:custGeom>
              <a:avLst/>
              <a:gdLst/>
              <a:ahLst/>
              <a:cxnLst/>
              <a:rect l="l" t="t" r="r" b="b"/>
              <a:pathLst>
                <a:path w="25400" h="9258554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cubicBezTo>
                    <a:pt x="19685" y="0"/>
                    <a:pt x="25400" y="5715"/>
                    <a:pt x="25400" y="12700"/>
                  </a:cubicBezTo>
                  <a:lnTo>
                    <a:pt x="25400" y="9245854"/>
                  </a:lnTo>
                  <a:cubicBezTo>
                    <a:pt x="25400" y="9252839"/>
                    <a:pt x="19685" y="9258554"/>
                    <a:pt x="12700" y="9258554"/>
                  </a:cubicBezTo>
                  <a:cubicBezTo>
                    <a:pt x="5715" y="9258554"/>
                    <a:pt x="0" y="9252839"/>
                    <a:pt x="0" y="9245854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329017" y="3242816"/>
            <a:ext cx="631180" cy="19050"/>
            <a:chOff x="0" y="0"/>
            <a:chExt cx="841573" cy="25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41629" cy="25400"/>
            </a:xfrm>
            <a:custGeom>
              <a:avLst/>
              <a:gdLst/>
              <a:ahLst/>
              <a:cxnLst/>
              <a:rect l="l" t="t" r="r" b="b"/>
              <a:pathLst>
                <a:path w="84162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28929" y="0"/>
                  </a:lnTo>
                  <a:cubicBezTo>
                    <a:pt x="835914" y="0"/>
                    <a:pt x="841629" y="5715"/>
                    <a:pt x="841629" y="12700"/>
                  </a:cubicBezTo>
                  <a:cubicBezTo>
                    <a:pt x="841629" y="19685"/>
                    <a:pt x="835914" y="25400"/>
                    <a:pt x="82892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8941147" y="3049489"/>
            <a:ext cx="405705" cy="405705"/>
            <a:chOff x="0" y="0"/>
            <a:chExt cx="540940" cy="5409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0893" cy="540893"/>
            </a:xfrm>
            <a:custGeom>
              <a:avLst/>
              <a:gdLst/>
              <a:ahLst/>
              <a:cxnLst/>
              <a:rect l="l" t="t" r="r" b="b"/>
              <a:pathLst>
                <a:path w="540893" h="540893">
                  <a:moveTo>
                    <a:pt x="0" y="36068"/>
                  </a:moveTo>
                  <a:cubicBezTo>
                    <a:pt x="0" y="16129"/>
                    <a:pt x="16129" y="0"/>
                    <a:pt x="36068" y="0"/>
                  </a:cubicBezTo>
                  <a:lnTo>
                    <a:pt x="504825" y="0"/>
                  </a:lnTo>
                  <a:cubicBezTo>
                    <a:pt x="524764" y="0"/>
                    <a:pt x="540893" y="16129"/>
                    <a:pt x="540893" y="36068"/>
                  </a:cubicBezTo>
                  <a:lnTo>
                    <a:pt x="540893" y="504825"/>
                  </a:lnTo>
                  <a:cubicBezTo>
                    <a:pt x="540893" y="524764"/>
                    <a:pt x="524764" y="540893"/>
                    <a:pt x="504825" y="540893"/>
                  </a:cubicBezTo>
                  <a:lnTo>
                    <a:pt x="36068" y="540893"/>
                  </a:lnTo>
                  <a:cubicBezTo>
                    <a:pt x="16129" y="540893"/>
                    <a:pt x="0" y="524764"/>
                    <a:pt x="0" y="5048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068246" y="3028091"/>
            <a:ext cx="151359" cy="496371"/>
            <a:chOff x="0" y="0"/>
            <a:chExt cx="201812" cy="6618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1812" cy="661828"/>
            </a:xfrm>
            <a:custGeom>
              <a:avLst/>
              <a:gdLst/>
              <a:ahLst/>
              <a:cxnLst/>
              <a:rect l="l" t="t" r="r" b="b"/>
              <a:pathLst>
                <a:path w="201812" h="661828">
                  <a:moveTo>
                    <a:pt x="0" y="0"/>
                  </a:moveTo>
                  <a:lnTo>
                    <a:pt x="201812" y="0"/>
                  </a:lnTo>
                  <a:lnTo>
                    <a:pt x="201812" y="661828"/>
                  </a:lnTo>
                  <a:lnTo>
                    <a:pt x="0" y="661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47625"/>
              <a:ext cx="201812" cy="6142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587"/>
                </a:lnSpc>
              </a:pPr>
              <a:r>
                <a:rPr lang="en-US" sz="25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971502" y="3026866"/>
            <a:ext cx="2840236" cy="497596"/>
            <a:chOff x="0" y="0"/>
            <a:chExt cx="3786982" cy="66346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786982" cy="663461"/>
            </a:xfrm>
            <a:custGeom>
              <a:avLst/>
              <a:gdLst/>
              <a:ahLst/>
              <a:cxnLst/>
              <a:rect l="l" t="t" r="r" b="b"/>
              <a:pathLst>
                <a:path w="3786982" h="663461">
                  <a:moveTo>
                    <a:pt x="0" y="0"/>
                  </a:moveTo>
                  <a:lnTo>
                    <a:pt x="3786982" y="0"/>
                  </a:lnTo>
                  <a:lnTo>
                    <a:pt x="3786982" y="663461"/>
                  </a:lnTo>
                  <a:lnTo>
                    <a:pt x="0" y="66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3786982" cy="682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2"/>
                </a:lnSpc>
              </a:pPr>
              <a:r>
                <a:rPr lang="en-US" sz="258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Class &amp; Object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1180" y="3583441"/>
            <a:ext cx="7521029" cy="847591"/>
            <a:chOff x="0" y="0"/>
            <a:chExt cx="10028038" cy="113012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28038" cy="1130121"/>
            </a:xfrm>
            <a:custGeom>
              <a:avLst/>
              <a:gdLst/>
              <a:ahLst/>
              <a:cxnLst/>
              <a:rect l="l" t="t" r="r" b="b"/>
              <a:pathLst>
                <a:path w="10028038" h="1130121">
                  <a:moveTo>
                    <a:pt x="0" y="0"/>
                  </a:moveTo>
                  <a:lnTo>
                    <a:pt x="10028038" y="0"/>
                  </a:lnTo>
                  <a:lnTo>
                    <a:pt x="10028038" y="1130121"/>
                  </a:lnTo>
                  <a:lnTo>
                    <a:pt x="0" y="1130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85725"/>
              <a:ext cx="10028038" cy="12158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 class is like a blueprint that defines the attributes &amp; methods (functions).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31180" y="4490011"/>
            <a:ext cx="7521029" cy="1285741"/>
            <a:chOff x="0" y="0"/>
            <a:chExt cx="10028038" cy="171432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28038" cy="1714321"/>
            </a:xfrm>
            <a:custGeom>
              <a:avLst/>
              <a:gdLst/>
              <a:ahLst/>
              <a:cxnLst/>
              <a:rect l="l" t="t" r="r" b="b"/>
              <a:pathLst>
                <a:path w="10028038" h="1714321">
                  <a:moveTo>
                    <a:pt x="0" y="0"/>
                  </a:moveTo>
                  <a:lnTo>
                    <a:pt x="10028038" y="0"/>
                  </a:lnTo>
                  <a:lnTo>
                    <a:pt x="10028038" y="1714321"/>
                  </a:lnTo>
                  <a:lnTo>
                    <a:pt x="0" y="1714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85725"/>
              <a:ext cx="10028038" cy="1800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An instance (object) is a concrete realization of that blueprint that holds the data &amp; performs the operations defined in class.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327802" y="4144267"/>
            <a:ext cx="631180" cy="19050"/>
            <a:chOff x="0" y="0"/>
            <a:chExt cx="841573" cy="25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41629" cy="25400"/>
            </a:xfrm>
            <a:custGeom>
              <a:avLst/>
              <a:gdLst/>
              <a:ahLst/>
              <a:cxnLst/>
              <a:rect l="l" t="t" r="r" b="b"/>
              <a:pathLst>
                <a:path w="84162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28929" y="0"/>
                  </a:lnTo>
                  <a:cubicBezTo>
                    <a:pt x="835914" y="0"/>
                    <a:pt x="841629" y="5715"/>
                    <a:pt x="841629" y="12700"/>
                  </a:cubicBezTo>
                  <a:cubicBezTo>
                    <a:pt x="841629" y="19685"/>
                    <a:pt x="835914" y="25400"/>
                    <a:pt x="82892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8941147" y="3950940"/>
            <a:ext cx="405705" cy="405705"/>
            <a:chOff x="0" y="0"/>
            <a:chExt cx="540940" cy="5409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40893" cy="540893"/>
            </a:xfrm>
            <a:custGeom>
              <a:avLst/>
              <a:gdLst/>
              <a:ahLst/>
              <a:cxnLst/>
              <a:rect l="l" t="t" r="r" b="b"/>
              <a:pathLst>
                <a:path w="540893" h="540893">
                  <a:moveTo>
                    <a:pt x="0" y="36068"/>
                  </a:moveTo>
                  <a:cubicBezTo>
                    <a:pt x="0" y="16129"/>
                    <a:pt x="16129" y="0"/>
                    <a:pt x="36068" y="0"/>
                  </a:cubicBezTo>
                  <a:lnTo>
                    <a:pt x="504825" y="0"/>
                  </a:lnTo>
                  <a:cubicBezTo>
                    <a:pt x="524764" y="0"/>
                    <a:pt x="540893" y="16129"/>
                    <a:pt x="540893" y="36068"/>
                  </a:cubicBezTo>
                  <a:lnTo>
                    <a:pt x="540893" y="504825"/>
                  </a:lnTo>
                  <a:cubicBezTo>
                    <a:pt x="540893" y="524764"/>
                    <a:pt x="524764" y="540893"/>
                    <a:pt x="504825" y="540893"/>
                  </a:cubicBezTo>
                  <a:lnTo>
                    <a:pt x="36068" y="540893"/>
                  </a:lnTo>
                  <a:cubicBezTo>
                    <a:pt x="16129" y="540893"/>
                    <a:pt x="0" y="524764"/>
                    <a:pt x="0" y="5048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058796" y="3939027"/>
            <a:ext cx="151359" cy="496371"/>
            <a:chOff x="0" y="0"/>
            <a:chExt cx="201812" cy="66182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01812" cy="661828"/>
            </a:xfrm>
            <a:custGeom>
              <a:avLst/>
              <a:gdLst/>
              <a:ahLst/>
              <a:cxnLst/>
              <a:rect l="l" t="t" r="r" b="b"/>
              <a:pathLst>
                <a:path w="201812" h="661828">
                  <a:moveTo>
                    <a:pt x="0" y="0"/>
                  </a:moveTo>
                  <a:lnTo>
                    <a:pt x="201812" y="0"/>
                  </a:lnTo>
                  <a:lnTo>
                    <a:pt x="201812" y="661828"/>
                  </a:lnTo>
                  <a:lnTo>
                    <a:pt x="0" y="661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47625"/>
              <a:ext cx="201812" cy="6142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587"/>
                </a:lnSpc>
              </a:pPr>
              <a:r>
                <a:rPr lang="en-US" sz="25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476113" y="3702142"/>
            <a:ext cx="2840236" cy="497596"/>
            <a:chOff x="0" y="0"/>
            <a:chExt cx="3786982" cy="66346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786982" cy="663461"/>
            </a:xfrm>
            <a:custGeom>
              <a:avLst/>
              <a:gdLst/>
              <a:ahLst/>
              <a:cxnLst/>
              <a:rect l="l" t="t" r="r" b="b"/>
              <a:pathLst>
                <a:path w="3786982" h="663461">
                  <a:moveTo>
                    <a:pt x="0" y="0"/>
                  </a:moveTo>
                  <a:lnTo>
                    <a:pt x="3786982" y="0"/>
                  </a:lnTo>
                  <a:lnTo>
                    <a:pt x="3786982" y="663461"/>
                  </a:lnTo>
                  <a:lnTo>
                    <a:pt x="0" y="66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786982" cy="682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2"/>
                </a:lnSpc>
              </a:pPr>
              <a:r>
                <a:rPr lang="en-US" sz="258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Encapsulation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0135791" y="4318829"/>
            <a:ext cx="7521029" cy="1285741"/>
            <a:chOff x="0" y="0"/>
            <a:chExt cx="10028038" cy="1714321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028038" cy="1714321"/>
            </a:xfrm>
            <a:custGeom>
              <a:avLst/>
              <a:gdLst/>
              <a:ahLst/>
              <a:cxnLst/>
              <a:rect l="l" t="t" r="r" b="b"/>
              <a:pathLst>
                <a:path w="10028038" h="1714321">
                  <a:moveTo>
                    <a:pt x="0" y="0"/>
                  </a:moveTo>
                  <a:lnTo>
                    <a:pt x="10028038" y="0"/>
                  </a:lnTo>
                  <a:lnTo>
                    <a:pt x="10028038" y="1714321"/>
                  </a:lnTo>
                  <a:lnTo>
                    <a:pt x="0" y="1714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85725"/>
              <a:ext cx="10028038" cy="1800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It’s the practice of </a:t>
              </a:r>
              <a:r>
                <a:rPr lang="en-US" sz="2149" u="sng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storing</a:t>
              </a: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149" u="sng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data</a:t>
              </a: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and, the functions that work with that data together in one class. This keeps the details hidden and only allows controlled access.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135791" y="5662862"/>
            <a:ext cx="7521029" cy="409441"/>
            <a:chOff x="0" y="0"/>
            <a:chExt cx="10028038" cy="545921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028038" cy="545921"/>
            </a:xfrm>
            <a:custGeom>
              <a:avLst/>
              <a:gdLst/>
              <a:ahLst/>
              <a:cxnLst/>
              <a:rect l="l" t="t" r="r" b="b"/>
              <a:pathLst>
                <a:path w="10028038" h="545921">
                  <a:moveTo>
                    <a:pt x="0" y="0"/>
                  </a:moveTo>
                  <a:lnTo>
                    <a:pt x="10028038" y="0"/>
                  </a:lnTo>
                  <a:lnTo>
                    <a:pt x="10028038" y="545921"/>
                  </a:lnTo>
                  <a:lnTo>
                    <a:pt x="0" y="545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10028038" cy="6316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Ex: Behind the scenes of your software or app.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329017" y="5797897"/>
            <a:ext cx="631180" cy="19050"/>
            <a:chOff x="0" y="0"/>
            <a:chExt cx="841573" cy="25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41629" cy="25400"/>
            </a:xfrm>
            <a:custGeom>
              <a:avLst/>
              <a:gdLst/>
              <a:ahLst/>
              <a:cxnLst/>
              <a:rect l="l" t="t" r="r" b="b"/>
              <a:pathLst>
                <a:path w="84162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28929" y="0"/>
                  </a:lnTo>
                  <a:cubicBezTo>
                    <a:pt x="835914" y="0"/>
                    <a:pt x="841629" y="5715"/>
                    <a:pt x="841629" y="12700"/>
                  </a:cubicBezTo>
                  <a:cubicBezTo>
                    <a:pt x="841629" y="19685"/>
                    <a:pt x="835914" y="25400"/>
                    <a:pt x="82892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8941147" y="5604570"/>
            <a:ext cx="405705" cy="405705"/>
            <a:chOff x="0" y="0"/>
            <a:chExt cx="540940" cy="5409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0893" cy="540893"/>
            </a:xfrm>
            <a:custGeom>
              <a:avLst/>
              <a:gdLst/>
              <a:ahLst/>
              <a:cxnLst/>
              <a:rect l="l" t="t" r="r" b="b"/>
              <a:pathLst>
                <a:path w="540893" h="540893">
                  <a:moveTo>
                    <a:pt x="0" y="36068"/>
                  </a:moveTo>
                  <a:cubicBezTo>
                    <a:pt x="0" y="16129"/>
                    <a:pt x="16129" y="0"/>
                    <a:pt x="36068" y="0"/>
                  </a:cubicBezTo>
                  <a:lnTo>
                    <a:pt x="504825" y="0"/>
                  </a:lnTo>
                  <a:cubicBezTo>
                    <a:pt x="524764" y="0"/>
                    <a:pt x="540893" y="16129"/>
                    <a:pt x="540893" y="36068"/>
                  </a:cubicBezTo>
                  <a:lnTo>
                    <a:pt x="540893" y="504825"/>
                  </a:lnTo>
                  <a:cubicBezTo>
                    <a:pt x="540893" y="524764"/>
                    <a:pt x="524764" y="540893"/>
                    <a:pt x="504825" y="540893"/>
                  </a:cubicBezTo>
                  <a:lnTo>
                    <a:pt x="36068" y="540893"/>
                  </a:lnTo>
                  <a:cubicBezTo>
                    <a:pt x="16129" y="540893"/>
                    <a:pt x="0" y="524764"/>
                    <a:pt x="0" y="5048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068246" y="5583172"/>
            <a:ext cx="151359" cy="496371"/>
            <a:chOff x="0" y="0"/>
            <a:chExt cx="201812" cy="66182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01812" cy="661828"/>
            </a:xfrm>
            <a:custGeom>
              <a:avLst/>
              <a:gdLst/>
              <a:ahLst/>
              <a:cxnLst/>
              <a:rect l="l" t="t" r="r" b="b"/>
              <a:pathLst>
                <a:path w="201812" h="661828">
                  <a:moveTo>
                    <a:pt x="0" y="0"/>
                  </a:moveTo>
                  <a:lnTo>
                    <a:pt x="201812" y="0"/>
                  </a:lnTo>
                  <a:lnTo>
                    <a:pt x="201812" y="661828"/>
                  </a:lnTo>
                  <a:lnTo>
                    <a:pt x="0" y="661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47625"/>
              <a:ext cx="201812" cy="6142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587"/>
                </a:lnSpc>
              </a:pPr>
              <a:r>
                <a:rPr lang="en-US" sz="25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969940" y="5988097"/>
            <a:ext cx="2840236" cy="497596"/>
            <a:chOff x="0" y="0"/>
            <a:chExt cx="3786982" cy="663461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786982" cy="663461"/>
            </a:xfrm>
            <a:custGeom>
              <a:avLst/>
              <a:gdLst/>
              <a:ahLst/>
              <a:cxnLst/>
              <a:rect l="l" t="t" r="r" b="b"/>
              <a:pathLst>
                <a:path w="3786982" h="663461">
                  <a:moveTo>
                    <a:pt x="0" y="0"/>
                  </a:moveTo>
                  <a:lnTo>
                    <a:pt x="3786982" y="0"/>
                  </a:lnTo>
                  <a:lnTo>
                    <a:pt x="3786982" y="663461"/>
                  </a:lnTo>
                  <a:lnTo>
                    <a:pt x="0" y="66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3786982" cy="682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2"/>
                </a:lnSpc>
              </a:pPr>
              <a:r>
                <a:rPr lang="en-US" sz="258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Inheritance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9544" y="6560692"/>
            <a:ext cx="7521029" cy="1285741"/>
            <a:chOff x="0" y="0"/>
            <a:chExt cx="10028038" cy="171432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028038" cy="1714321"/>
            </a:xfrm>
            <a:custGeom>
              <a:avLst/>
              <a:gdLst/>
              <a:ahLst/>
              <a:cxnLst/>
              <a:rect l="l" t="t" r="r" b="b"/>
              <a:pathLst>
                <a:path w="10028038" h="1714321">
                  <a:moveTo>
                    <a:pt x="0" y="0"/>
                  </a:moveTo>
                  <a:lnTo>
                    <a:pt x="10028038" y="0"/>
                  </a:lnTo>
                  <a:lnTo>
                    <a:pt x="10028038" y="1714321"/>
                  </a:lnTo>
                  <a:lnTo>
                    <a:pt x="0" y="1714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85725"/>
              <a:ext cx="10028038" cy="1800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 mechanism where a new class (child) inherits attributes and methods from an existing class (parent), promoting code reuse.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327802" y="7075437"/>
            <a:ext cx="631180" cy="19050"/>
            <a:chOff x="0" y="0"/>
            <a:chExt cx="841573" cy="2540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841629" cy="25400"/>
            </a:xfrm>
            <a:custGeom>
              <a:avLst/>
              <a:gdLst/>
              <a:ahLst/>
              <a:cxnLst/>
              <a:rect l="l" t="t" r="r" b="b"/>
              <a:pathLst>
                <a:path w="84162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28929" y="0"/>
                  </a:lnTo>
                  <a:cubicBezTo>
                    <a:pt x="835914" y="0"/>
                    <a:pt x="841629" y="5715"/>
                    <a:pt x="841629" y="12700"/>
                  </a:cubicBezTo>
                  <a:cubicBezTo>
                    <a:pt x="841629" y="19685"/>
                    <a:pt x="835914" y="25400"/>
                    <a:pt x="82892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8941147" y="6882110"/>
            <a:ext cx="405705" cy="405705"/>
            <a:chOff x="0" y="0"/>
            <a:chExt cx="540940" cy="5409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40893" cy="540893"/>
            </a:xfrm>
            <a:custGeom>
              <a:avLst/>
              <a:gdLst/>
              <a:ahLst/>
              <a:cxnLst/>
              <a:rect l="l" t="t" r="r" b="b"/>
              <a:pathLst>
                <a:path w="540893" h="540893">
                  <a:moveTo>
                    <a:pt x="0" y="36068"/>
                  </a:moveTo>
                  <a:cubicBezTo>
                    <a:pt x="0" y="16129"/>
                    <a:pt x="16129" y="0"/>
                    <a:pt x="36068" y="0"/>
                  </a:cubicBezTo>
                  <a:lnTo>
                    <a:pt x="504825" y="0"/>
                  </a:lnTo>
                  <a:cubicBezTo>
                    <a:pt x="524764" y="0"/>
                    <a:pt x="540893" y="16129"/>
                    <a:pt x="540893" y="36068"/>
                  </a:cubicBezTo>
                  <a:lnTo>
                    <a:pt x="540893" y="504825"/>
                  </a:lnTo>
                  <a:cubicBezTo>
                    <a:pt x="540893" y="524764"/>
                    <a:pt x="524764" y="540893"/>
                    <a:pt x="504825" y="540893"/>
                  </a:cubicBezTo>
                  <a:lnTo>
                    <a:pt x="36068" y="540893"/>
                  </a:lnTo>
                  <a:cubicBezTo>
                    <a:pt x="16129" y="540893"/>
                    <a:pt x="0" y="524764"/>
                    <a:pt x="0" y="5048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9058796" y="6860714"/>
            <a:ext cx="151359" cy="496371"/>
            <a:chOff x="0" y="0"/>
            <a:chExt cx="201812" cy="66182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1812" cy="661828"/>
            </a:xfrm>
            <a:custGeom>
              <a:avLst/>
              <a:gdLst/>
              <a:ahLst/>
              <a:cxnLst/>
              <a:rect l="l" t="t" r="r" b="b"/>
              <a:pathLst>
                <a:path w="201812" h="661828">
                  <a:moveTo>
                    <a:pt x="0" y="0"/>
                  </a:moveTo>
                  <a:lnTo>
                    <a:pt x="201812" y="0"/>
                  </a:lnTo>
                  <a:lnTo>
                    <a:pt x="201812" y="661828"/>
                  </a:lnTo>
                  <a:lnTo>
                    <a:pt x="0" y="661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47625"/>
              <a:ext cx="201812" cy="6142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587"/>
                </a:lnSpc>
              </a:pPr>
              <a:r>
                <a:rPr lang="en-US" sz="25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2474996" y="6633312"/>
            <a:ext cx="2840236" cy="497596"/>
            <a:chOff x="0" y="0"/>
            <a:chExt cx="3786982" cy="663461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786982" cy="663461"/>
            </a:xfrm>
            <a:custGeom>
              <a:avLst/>
              <a:gdLst/>
              <a:ahLst/>
              <a:cxnLst/>
              <a:rect l="l" t="t" r="r" b="b"/>
              <a:pathLst>
                <a:path w="3786982" h="663461">
                  <a:moveTo>
                    <a:pt x="0" y="0"/>
                  </a:moveTo>
                  <a:lnTo>
                    <a:pt x="3786982" y="0"/>
                  </a:lnTo>
                  <a:lnTo>
                    <a:pt x="3786982" y="663461"/>
                  </a:lnTo>
                  <a:lnTo>
                    <a:pt x="0" y="66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3786982" cy="682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2"/>
                </a:lnSpc>
              </a:pPr>
              <a:r>
                <a:rPr lang="en-US" sz="258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Polymorphism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135791" y="7176142"/>
            <a:ext cx="7521029" cy="1285741"/>
            <a:chOff x="0" y="0"/>
            <a:chExt cx="10028038" cy="1714321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028038" cy="1714321"/>
            </a:xfrm>
            <a:custGeom>
              <a:avLst/>
              <a:gdLst/>
              <a:ahLst/>
              <a:cxnLst/>
              <a:rect l="l" t="t" r="r" b="b"/>
              <a:pathLst>
                <a:path w="10028038" h="1714321">
                  <a:moveTo>
                    <a:pt x="0" y="0"/>
                  </a:moveTo>
                  <a:lnTo>
                    <a:pt x="10028038" y="0"/>
                  </a:lnTo>
                  <a:lnTo>
                    <a:pt x="10028038" y="1714321"/>
                  </a:lnTo>
                  <a:lnTo>
                    <a:pt x="0" y="17143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85725"/>
              <a:ext cx="10028038" cy="18000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Allows you to reuse methods or objects from different classes without having to rewrite or recreate the code for each object. 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0134600" y="8461883"/>
            <a:ext cx="7521029" cy="409441"/>
            <a:chOff x="0" y="0"/>
            <a:chExt cx="10028038" cy="545921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028038" cy="545921"/>
            </a:xfrm>
            <a:custGeom>
              <a:avLst/>
              <a:gdLst/>
              <a:ahLst/>
              <a:cxnLst/>
              <a:rect l="l" t="t" r="r" b="b"/>
              <a:pathLst>
                <a:path w="10028038" h="545921">
                  <a:moveTo>
                    <a:pt x="0" y="0"/>
                  </a:moveTo>
                  <a:lnTo>
                    <a:pt x="10028038" y="0"/>
                  </a:lnTo>
                  <a:lnTo>
                    <a:pt x="10028038" y="545921"/>
                  </a:lnTo>
                  <a:lnTo>
                    <a:pt x="0" y="545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10028038" cy="6316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Ex: Referencing objects from different classes.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329017" y="8172599"/>
            <a:ext cx="631180" cy="19050"/>
            <a:chOff x="0" y="0"/>
            <a:chExt cx="841573" cy="254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841629" cy="25400"/>
            </a:xfrm>
            <a:custGeom>
              <a:avLst/>
              <a:gdLst/>
              <a:ahLst/>
              <a:cxnLst/>
              <a:rect l="l" t="t" r="r" b="b"/>
              <a:pathLst>
                <a:path w="841629" h="25400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828929" y="0"/>
                  </a:lnTo>
                  <a:cubicBezTo>
                    <a:pt x="835914" y="0"/>
                    <a:pt x="841629" y="5715"/>
                    <a:pt x="841629" y="12700"/>
                  </a:cubicBezTo>
                  <a:cubicBezTo>
                    <a:pt x="841629" y="19685"/>
                    <a:pt x="835914" y="25400"/>
                    <a:pt x="82892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941147" y="7979271"/>
            <a:ext cx="405705" cy="405705"/>
            <a:chOff x="0" y="0"/>
            <a:chExt cx="540940" cy="5409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40893" cy="540893"/>
            </a:xfrm>
            <a:custGeom>
              <a:avLst/>
              <a:gdLst/>
              <a:ahLst/>
              <a:cxnLst/>
              <a:rect l="l" t="t" r="r" b="b"/>
              <a:pathLst>
                <a:path w="540893" h="540893">
                  <a:moveTo>
                    <a:pt x="0" y="36068"/>
                  </a:moveTo>
                  <a:cubicBezTo>
                    <a:pt x="0" y="16129"/>
                    <a:pt x="16129" y="0"/>
                    <a:pt x="36068" y="0"/>
                  </a:cubicBezTo>
                  <a:lnTo>
                    <a:pt x="504825" y="0"/>
                  </a:lnTo>
                  <a:cubicBezTo>
                    <a:pt x="524764" y="0"/>
                    <a:pt x="540893" y="16129"/>
                    <a:pt x="540893" y="36068"/>
                  </a:cubicBezTo>
                  <a:lnTo>
                    <a:pt x="540893" y="504825"/>
                  </a:lnTo>
                  <a:cubicBezTo>
                    <a:pt x="540893" y="524764"/>
                    <a:pt x="524764" y="540893"/>
                    <a:pt x="504825" y="540893"/>
                  </a:cubicBezTo>
                  <a:lnTo>
                    <a:pt x="36068" y="540893"/>
                  </a:lnTo>
                  <a:cubicBezTo>
                    <a:pt x="16129" y="540893"/>
                    <a:pt x="0" y="524764"/>
                    <a:pt x="0" y="504825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82" name="Group 82"/>
          <p:cNvGrpSpPr/>
          <p:nvPr/>
        </p:nvGrpSpPr>
        <p:grpSpPr>
          <a:xfrm>
            <a:off x="9058796" y="7965512"/>
            <a:ext cx="151359" cy="496371"/>
            <a:chOff x="0" y="0"/>
            <a:chExt cx="201812" cy="66182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01812" cy="661828"/>
            </a:xfrm>
            <a:custGeom>
              <a:avLst/>
              <a:gdLst/>
              <a:ahLst/>
              <a:cxnLst/>
              <a:rect l="l" t="t" r="r" b="b"/>
              <a:pathLst>
                <a:path w="201812" h="661828">
                  <a:moveTo>
                    <a:pt x="0" y="0"/>
                  </a:moveTo>
                  <a:lnTo>
                    <a:pt x="201812" y="0"/>
                  </a:lnTo>
                  <a:lnTo>
                    <a:pt x="201812" y="661828"/>
                  </a:lnTo>
                  <a:lnTo>
                    <a:pt x="0" y="661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47625"/>
              <a:ext cx="201812" cy="61420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2587"/>
                </a:lnSpc>
              </a:pPr>
              <a:r>
                <a:rPr lang="en-US" sz="25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5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2971502" y="8136178"/>
            <a:ext cx="2840236" cy="497596"/>
            <a:chOff x="0" y="0"/>
            <a:chExt cx="3786982" cy="663461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3786982" cy="663461"/>
            </a:xfrm>
            <a:custGeom>
              <a:avLst/>
              <a:gdLst/>
              <a:ahLst/>
              <a:cxnLst/>
              <a:rect l="l" t="t" r="r" b="b"/>
              <a:pathLst>
                <a:path w="3786982" h="663461">
                  <a:moveTo>
                    <a:pt x="0" y="0"/>
                  </a:moveTo>
                  <a:lnTo>
                    <a:pt x="3786982" y="0"/>
                  </a:lnTo>
                  <a:lnTo>
                    <a:pt x="3786982" y="663461"/>
                  </a:lnTo>
                  <a:lnTo>
                    <a:pt x="0" y="663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19050"/>
              <a:ext cx="3786982" cy="6825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2"/>
                </a:lnSpc>
              </a:pPr>
              <a:r>
                <a:rPr lang="en-US" sz="2587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Abstraction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31180" y="8666603"/>
            <a:ext cx="7521029" cy="847591"/>
            <a:chOff x="0" y="0"/>
            <a:chExt cx="10028038" cy="1130121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10028038" cy="1130121"/>
            </a:xfrm>
            <a:custGeom>
              <a:avLst/>
              <a:gdLst/>
              <a:ahLst/>
              <a:cxnLst/>
              <a:rect l="l" t="t" r="r" b="b"/>
              <a:pathLst>
                <a:path w="10028038" h="1130121">
                  <a:moveTo>
                    <a:pt x="0" y="0"/>
                  </a:moveTo>
                  <a:lnTo>
                    <a:pt x="10028038" y="0"/>
                  </a:lnTo>
                  <a:lnTo>
                    <a:pt x="10028038" y="1130121"/>
                  </a:lnTo>
                  <a:lnTo>
                    <a:pt x="0" y="11301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85725"/>
              <a:ext cx="10028038" cy="12158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Hiding complex implementation details and showing only essential features to the user. 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31106" y="9541088"/>
            <a:ext cx="7521029" cy="409441"/>
            <a:chOff x="0" y="0"/>
            <a:chExt cx="10028038" cy="545921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0028038" cy="545921"/>
            </a:xfrm>
            <a:custGeom>
              <a:avLst/>
              <a:gdLst/>
              <a:ahLst/>
              <a:cxnLst/>
              <a:rect l="l" t="t" r="r" b="b"/>
              <a:pathLst>
                <a:path w="10028038" h="545921">
                  <a:moveTo>
                    <a:pt x="0" y="0"/>
                  </a:moveTo>
                  <a:lnTo>
                    <a:pt x="10028038" y="0"/>
                  </a:lnTo>
                  <a:lnTo>
                    <a:pt x="10028038" y="545921"/>
                  </a:lnTo>
                  <a:lnTo>
                    <a:pt x="0" y="54592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3" name="TextBox 93"/>
            <p:cNvSpPr txBox="1"/>
            <p:nvPr/>
          </p:nvSpPr>
          <p:spPr>
            <a:xfrm>
              <a:off x="0" y="-85725"/>
              <a:ext cx="10028038" cy="6316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455"/>
                </a:lnSpc>
              </a:pPr>
              <a:r>
                <a:rPr lang="en-US" sz="2149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Ex: Using a TV remote.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15315232" y="9838195"/>
            <a:ext cx="3062594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31639" y="428278"/>
            <a:ext cx="7645483" cy="828873"/>
            <a:chOff x="0" y="0"/>
            <a:chExt cx="10193977" cy="11051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93977" cy="1105165"/>
            </a:xfrm>
            <a:custGeom>
              <a:avLst/>
              <a:gdLst/>
              <a:ahLst/>
              <a:cxnLst/>
              <a:rect l="l" t="t" r="r" b="b"/>
              <a:pathLst>
                <a:path w="10193977" h="1105165">
                  <a:moveTo>
                    <a:pt x="0" y="0"/>
                  </a:moveTo>
                  <a:lnTo>
                    <a:pt x="10193977" y="0"/>
                  </a:lnTo>
                  <a:lnTo>
                    <a:pt x="10193977" y="1105165"/>
                  </a:lnTo>
                  <a:lnTo>
                    <a:pt x="0" y="11051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0193977" cy="1124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374"/>
                </a:lnSpc>
              </a:pPr>
              <a:r>
                <a:rPr lang="en-US" sz="43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Creating Classes and Objects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31639" y="1647676"/>
            <a:ext cx="7290644" cy="418059"/>
            <a:chOff x="0" y="0"/>
            <a:chExt cx="9720858" cy="55741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720859" cy="557412"/>
            </a:xfrm>
            <a:custGeom>
              <a:avLst/>
              <a:gdLst/>
              <a:ahLst/>
              <a:cxnLst/>
              <a:rect l="l" t="t" r="r" b="b"/>
              <a:pathLst>
                <a:path w="9720859" h="557412">
                  <a:moveTo>
                    <a:pt x="0" y="0"/>
                  </a:moveTo>
                  <a:lnTo>
                    <a:pt x="9720859" y="0"/>
                  </a:lnTo>
                  <a:lnTo>
                    <a:pt x="9720859" y="557412"/>
                  </a:lnTo>
                  <a:lnTo>
                    <a:pt x="0" y="5574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9720858" cy="6431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"</a:t>
              </a:r>
              <a:r>
                <a:rPr lang="en-US" sz="2224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Server"</a:t>
              </a: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class is created with functions inside it.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31639" y="2545226"/>
            <a:ext cx="7290644" cy="1310986"/>
            <a:chOff x="0" y="0"/>
            <a:chExt cx="9720858" cy="17479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20859" cy="1747981"/>
            </a:xfrm>
            <a:custGeom>
              <a:avLst/>
              <a:gdLst/>
              <a:ahLst/>
              <a:cxnLst/>
              <a:rect l="l" t="t" r="r" b="b"/>
              <a:pathLst>
                <a:path w="9720859" h="1747981">
                  <a:moveTo>
                    <a:pt x="0" y="0"/>
                  </a:moveTo>
                  <a:lnTo>
                    <a:pt x="9720859" y="0"/>
                  </a:lnTo>
                  <a:lnTo>
                    <a:pt x="9720859" y="1747981"/>
                  </a:lnTo>
                  <a:lnTo>
                    <a:pt x="0" y="1747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9720858" cy="1833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sz="222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init</a:t>
              </a: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method is a special method called the </a:t>
              </a:r>
              <a:r>
                <a:rPr lang="en-US" sz="222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constructor</a:t>
              </a: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. It is automatically invoked when a new object of the class is created.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1639" y="4335703"/>
            <a:ext cx="7290644" cy="1310986"/>
            <a:chOff x="0" y="0"/>
            <a:chExt cx="9720858" cy="17479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720859" cy="1747981"/>
            </a:xfrm>
            <a:custGeom>
              <a:avLst/>
              <a:gdLst/>
              <a:ahLst/>
              <a:cxnLst/>
              <a:rect l="l" t="t" r="r" b="b"/>
              <a:pathLst>
                <a:path w="9720859" h="1747981">
                  <a:moveTo>
                    <a:pt x="0" y="0"/>
                  </a:moveTo>
                  <a:lnTo>
                    <a:pt x="9720859" y="0"/>
                  </a:lnTo>
                  <a:lnTo>
                    <a:pt x="9720859" y="1747981"/>
                  </a:lnTo>
                  <a:lnTo>
                    <a:pt x="0" y="17479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9720858" cy="18337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self</a:t>
              </a: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in constructor refers to the object being created, it allows you to access and modify the attributes and methods of the object.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31639" y="6037213"/>
            <a:ext cx="7290644" cy="863311"/>
            <a:chOff x="0" y="0"/>
            <a:chExt cx="9720858" cy="115108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20859" cy="1151081"/>
            </a:xfrm>
            <a:custGeom>
              <a:avLst/>
              <a:gdLst/>
              <a:ahLst/>
              <a:cxnLst/>
              <a:rect l="l" t="t" r="r" b="b"/>
              <a:pathLst>
                <a:path w="9720859" h="1151081">
                  <a:moveTo>
                    <a:pt x="0" y="0"/>
                  </a:moveTo>
                  <a:lnTo>
                    <a:pt x="9720859" y="0"/>
                  </a:lnTo>
                  <a:lnTo>
                    <a:pt x="9720859" y="1151081"/>
                  </a:lnTo>
                  <a:lnTo>
                    <a:pt x="0" y="11510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9720858" cy="12368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When we create a server object with </a:t>
              </a:r>
              <a:r>
                <a:rPr lang="en-US" sz="2224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server1 = Server("WebServer1", "192.168.0.1")</a:t>
              </a: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31639" y="7446899"/>
            <a:ext cx="3292971" cy="527244"/>
            <a:chOff x="0" y="0"/>
            <a:chExt cx="4390628" cy="70299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90629" cy="702993"/>
            </a:xfrm>
            <a:custGeom>
              <a:avLst/>
              <a:gdLst/>
              <a:ahLst/>
              <a:cxnLst/>
              <a:rect l="l" t="t" r="r" b="b"/>
              <a:pathLst>
                <a:path w="4390629" h="702993">
                  <a:moveTo>
                    <a:pt x="0" y="0"/>
                  </a:moveTo>
                  <a:lnTo>
                    <a:pt x="4390629" y="0"/>
                  </a:lnTo>
                  <a:lnTo>
                    <a:pt x="4390629" y="702993"/>
                  </a:lnTo>
                  <a:lnTo>
                    <a:pt x="0" y="7029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390628" cy="7220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36"/>
                </a:lnSpc>
              </a:pPr>
              <a:r>
                <a:rPr lang="en-US" sz="2762" b="1">
                  <a:solidFill>
                    <a:srgbClr val="020202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Key points: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31639" y="8104919"/>
            <a:ext cx="7290644" cy="863311"/>
            <a:chOff x="0" y="0"/>
            <a:chExt cx="9720858" cy="115108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720859" cy="1151081"/>
            </a:xfrm>
            <a:custGeom>
              <a:avLst/>
              <a:gdLst/>
              <a:ahLst/>
              <a:cxnLst/>
              <a:rect l="l" t="t" r="r" b="b"/>
              <a:pathLst>
                <a:path w="9720859" h="1151081">
                  <a:moveTo>
                    <a:pt x="0" y="0"/>
                  </a:moveTo>
                  <a:lnTo>
                    <a:pt x="9720859" y="0"/>
                  </a:lnTo>
                  <a:lnTo>
                    <a:pt x="9720859" y="1151081"/>
                  </a:lnTo>
                  <a:lnTo>
                    <a:pt x="0" y="11510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9720858" cy="12368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35556" lvl="1" indent="-167778" algn="l">
                <a:lnSpc>
                  <a:spcPts val="3594"/>
                </a:lnSpc>
                <a:buFont typeface="Arial"/>
                <a:buChar char="•"/>
              </a:pPr>
              <a:r>
                <a:rPr lang="en-US" sz="2224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Encapsulation: The name and ip_address attributes are encapsulated inside the Server object.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41692" y="1809750"/>
            <a:ext cx="9024045" cy="7673876"/>
            <a:chOff x="0" y="0"/>
            <a:chExt cx="12032060" cy="1023183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032107" cy="10231882"/>
            </a:xfrm>
            <a:custGeom>
              <a:avLst/>
              <a:gdLst/>
              <a:ahLst/>
              <a:cxnLst/>
              <a:rect l="l" t="t" r="r" b="b"/>
              <a:pathLst>
                <a:path w="12032107" h="10231882">
                  <a:moveTo>
                    <a:pt x="0" y="41910"/>
                  </a:moveTo>
                  <a:cubicBezTo>
                    <a:pt x="0" y="18796"/>
                    <a:pt x="18796" y="0"/>
                    <a:pt x="41910" y="0"/>
                  </a:cubicBezTo>
                  <a:lnTo>
                    <a:pt x="11990197" y="0"/>
                  </a:lnTo>
                  <a:cubicBezTo>
                    <a:pt x="12013311" y="0"/>
                    <a:pt x="12032107" y="18796"/>
                    <a:pt x="12032107" y="41910"/>
                  </a:cubicBezTo>
                  <a:lnTo>
                    <a:pt x="12032107" y="10189972"/>
                  </a:lnTo>
                  <a:cubicBezTo>
                    <a:pt x="12032107" y="10213086"/>
                    <a:pt x="12013311" y="10231882"/>
                    <a:pt x="11990197" y="10231882"/>
                  </a:cubicBezTo>
                  <a:lnTo>
                    <a:pt x="41910" y="10231882"/>
                  </a:lnTo>
                  <a:cubicBezTo>
                    <a:pt x="18796" y="10231882"/>
                    <a:pt x="0" y="10213086"/>
                    <a:pt x="0" y="10189972"/>
                  </a:cubicBezTo>
                  <a:close/>
                </a:path>
              </a:pathLst>
            </a:custGeom>
            <a:solidFill>
              <a:srgbClr val="FFDECC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520857" y="1647676"/>
            <a:ext cx="9044880" cy="8485763"/>
            <a:chOff x="0" y="0"/>
            <a:chExt cx="12059840" cy="113143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059920" cy="11314397"/>
            </a:xfrm>
            <a:custGeom>
              <a:avLst/>
              <a:gdLst/>
              <a:ahLst/>
              <a:cxnLst/>
              <a:rect l="l" t="t" r="r" b="b"/>
              <a:pathLst>
                <a:path w="12059920" h="11314397">
                  <a:moveTo>
                    <a:pt x="0" y="46344"/>
                  </a:moveTo>
                  <a:cubicBezTo>
                    <a:pt x="0" y="20785"/>
                    <a:pt x="18796" y="0"/>
                    <a:pt x="41910" y="0"/>
                  </a:cubicBezTo>
                  <a:lnTo>
                    <a:pt x="12018010" y="0"/>
                  </a:lnTo>
                  <a:cubicBezTo>
                    <a:pt x="12041124" y="0"/>
                    <a:pt x="12059920" y="20785"/>
                    <a:pt x="12059920" y="46344"/>
                  </a:cubicBezTo>
                  <a:lnTo>
                    <a:pt x="12059920" y="11268059"/>
                  </a:lnTo>
                  <a:cubicBezTo>
                    <a:pt x="12059920" y="11293618"/>
                    <a:pt x="12041124" y="11314397"/>
                    <a:pt x="12018010" y="11314397"/>
                  </a:cubicBezTo>
                  <a:lnTo>
                    <a:pt x="41910" y="11314397"/>
                  </a:lnTo>
                  <a:cubicBezTo>
                    <a:pt x="18796" y="11314397"/>
                    <a:pt x="0" y="11293618"/>
                    <a:pt x="0" y="11268059"/>
                  </a:cubicBezTo>
                  <a:close/>
                </a:path>
              </a:pathLst>
            </a:custGeom>
            <a:solidFill>
              <a:srgbClr val="FFDECC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8740229" y="1809750"/>
            <a:ext cx="8626971" cy="8579170"/>
            <a:chOff x="0" y="0"/>
            <a:chExt cx="11502628" cy="1143889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502628" cy="11438893"/>
            </a:xfrm>
            <a:custGeom>
              <a:avLst/>
              <a:gdLst/>
              <a:ahLst/>
              <a:cxnLst/>
              <a:rect l="l" t="t" r="r" b="b"/>
              <a:pathLst>
                <a:path w="11502628" h="11438893">
                  <a:moveTo>
                    <a:pt x="0" y="0"/>
                  </a:moveTo>
                  <a:lnTo>
                    <a:pt x="11502628" y="0"/>
                  </a:lnTo>
                  <a:lnTo>
                    <a:pt x="11502628" y="11438893"/>
                  </a:lnTo>
                  <a:lnTo>
                    <a:pt x="0" y="114388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123825"/>
              <a:ext cx="11502628" cy="1156271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class Server: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def __init__(self, name, ip_address):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self.name = name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self.ip_address = ip_address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def start(self):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f"Server {self.name} is starting."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def stop(self):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f"Server {self.name} is stopping."</a:t>
              </a:r>
            </a:p>
            <a:p>
              <a:pPr algn="l">
                <a:lnSpc>
                  <a:spcPts val="3109"/>
                </a:lnSpc>
              </a:pPr>
              <a:endParaRPr lang="en-US" sz="1924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# Creating an object of the Server class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server1 = Server("WebServer1", "192.168.0.1")</a:t>
              </a:r>
            </a:p>
            <a:p>
              <a:pPr algn="l">
                <a:lnSpc>
                  <a:spcPts val="3109"/>
                </a:lnSpc>
              </a:pPr>
              <a:endParaRPr lang="en-US" sz="1924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# Accessing attributes and methods</a:t>
              </a:r>
            </a:p>
            <a:p>
              <a:pPr algn="l">
                <a:lnSpc>
                  <a:spcPts val="3109"/>
                </a:lnSpc>
              </a:pPr>
              <a:endParaRPr lang="en-US" sz="1924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print(server1.name)     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# Output: WebServer1</a:t>
              </a:r>
            </a:p>
            <a:p>
              <a:pPr algn="l">
                <a:lnSpc>
                  <a:spcPts val="3109"/>
                </a:lnSpc>
              </a:pPr>
              <a:endParaRPr lang="en-US" sz="1924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print(server1.start())  </a:t>
              </a:r>
            </a:p>
            <a:p>
              <a:pPr algn="l">
                <a:lnSpc>
                  <a:spcPts val="3109"/>
                </a:lnSpc>
              </a:pPr>
              <a:r>
                <a:rPr lang="en-US" sz="1924">
                  <a:solidFill>
                    <a:srgbClr val="383838"/>
                  </a:solidFill>
                  <a:latin typeface="Consolas"/>
                  <a:ea typeface="Consolas"/>
                  <a:cs typeface="Consolas"/>
                  <a:sym typeface="Consolas"/>
                </a:rPr>
                <a:t># Output: Server WebServer1 is starting.</a:t>
              </a:r>
            </a:p>
            <a:p>
              <a:pPr algn="l">
                <a:lnSpc>
                  <a:spcPts val="3109"/>
                </a:lnSpc>
              </a:pPr>
              <a:endParaRPr lang="en-US" sz="1924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23925" y="1026908"/>
            <a:ext cx="10905679" cy="916204"/>
            <a:chOff x="0" y="0"/>
            <a:chExt cx="14540905" cy="12216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540905" cy="1221605"/>
            </a:xfrm>
            <a:custGeom>
              <a:avLst/>
              <a:gdLst/>
              <a:ahLst/>
              <a:cxnLst/>
              <a:rect l="l" t="t" r="r" b="b"/>
              <a:pathLst>
                <a:path w="14540905" h="1221605">
                  <a:moveTo>
                    <a:pt x="0" y="0"/>
                  </a:moveTo>
                  <a:lnTo>
                    <a:pt x="14540905" y="0"/>
                  </a:lnTo>
                  <a:lnTo>
                    <a:pt x="14540905" y="1221605"/>
                  </a:lnTo>
                  <a:lnTo>
                    <a:pt x="0" y="12216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4540905" cy="12406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35"/>
                </a:lnSpc>
              </a:pPr>
              <a:r>
                <a:rPr lang="en-US" sz="473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Inheritance and Method Overriding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3925" y="2163067"/>
            <a:ext cx="16440150" cy="527894"/>
            <a:chOff x="0" y="0"/>
            <a:chExt cx="21920200" cy="7038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0200" cy="703858"/>
            </a:xfrm>
            <a:custGeom>
              <a:avLst/>
              <a:gdLst/>
              <a:ahLst/>
              <a:cxnLst/>
              <a:rect l="l" t="t" r="r" b="b"/>
              <a:pathLst>
                <a:path w="21920200" h="703858">
                  <a:moveTo>
                    <a:pt x="0" y="0"/>
                  </a:moveTo>
                  <a:lnTo>
                    <a:pt x="21920200" y="0"/>
                  </a:lnTo>
                  <a:lnTo>
                    <a:pt x="21920200" y="703858"/>
                  </a:lnTo>
                  <a:lnTo>
                    <a:pt x="0" y="703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1920200" cy="8086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Let's analyze a code that demonstrates the use of Inheritance &amp; method overriding.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3925" y="3664149"/>
            <a:ext cx="16440150" cy="28575"/>
            <a:chOff x="0" y="0"/>
            <a:chExt cx="21920200" cy="38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20200" cy="38100"/>
            </a:xfrm>
            <a:custGeom>
              <a:avLst/>
              <a:gdLst/>
              <a:ahLst/>
              <a:cxnLst/>
              <a:rect l="l" t="t" r="r" b="b"/>
              <a:pathLst>
                <a:path w="21920200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01150" y="0"/>
                  </a:lnTo>
                  <a:cubicBezTo>
                    <a:pt x="21911690" y="0"/>
                    <a:pt x="21920200" y="8509"/>
                    <a:pt x="21920200" y="19050"/>
                  </a:cubicBezTo>
                  <a:cubicBezTo>
                    <a:pt x="21920200" y="29591"/>
                    <a:pt x="21911690" y="38100"/>
                    <a:pt x="219011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865685" y="3664149"/>
            <a:ext cx="28575" cy="923925"/>
            <a:chOff x="0" y="0"/>
            <a:chExt cx="38100" cy="12319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100" cy="1231900"/>
            </a:xfrm>
            <a:custGeom>
              <a:avLst/>
              <a:gdLst/>
              <a:ahLst/>
              <a:cxnLst/>
              <a:rect l="l" t="t" r="r" b="b"/>
              <a:pathLst>
                <a:path w="38100" h="12319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2850"/>
                  </a:lnTo>
                  <a:cubicBezTo>
                    <a:pt x="38100" y="1223391"/>
                    <a:pt x="29591" y="1231900"/>
                    <a:pt x="19050" y="1231900"/>
                  </a:cubicBezTo>
                  <a:cubicBezTo>
                    <a:pt x="8509" y="1231900"/>
                    <a:pt x="0" y="1223391"/>
                    <a:pt x="0" y="12128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2583061" y="3367236"/>
            <a:ext cx="593824" cy="593824"/>
            <a:chOff x="0" y="0"/>
            <a:chExt cx="791765" cy="79176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91845" cy="791845"/>
            </a:xfrm>
            <a:custGeom>
              <a:avLst/>
              <a:gdLst/>
              <a:ahLst/>
              <a:cxnLst/>
              <a:rect l="l" t="t" r="r" b="b"/>
              <a:pathLst>
                <a:path w="791845" h="79184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39013" y="0"/>
                  </a:lnTo>
                  <a:cubicBezTo>
                    <a:pt x="768223" y="0"/>
                    <a:pt x="791845" y="23622"/>
                    <a:pt x="791845" y="52832"/>
                  </a:cubicBezTo>
                  <a:lnTo>
                    <a:pt x="791845" y="739013"/>
                  </a:lnTo>
                  <a:cubicBezTo>
                    <a:pt x="791845" y="768223"/>
                    <a:pt x="768223" y="791845"/>
                    <a:pt x="739013" y="791845"/>
                  </a:cubicBezTo>
                  <a:lnTo>
                    <a:pt x="52832" y="791845"/>
                  </a:lnTo>
                  <a:cubicBezTo>
                    <a:pt x="23622" y="791718"/>
                    <a:pt x="0" y="768096"/>
                    <a:pt x="0" y="73901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2769096" y="3456235"/>
            <a:ext cx="221605" cy="415826"/>
            <a:chOff x="0" y="0"/>
            <a:chExt cx="295473" cy="5544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5473" cy="554435"/>
            </a:xfrm>
            <a:custGeom>
              <a:avLst/>
              <a:gdLst/>
              <a:ahLst/>
              <a:cxnLst/>
              <a:rect l="l" t="t" r="r" b="b"/>
              <a:pathLst>
                <a:path w="295473" h="554435">
                  <a:moveTo>
                    <a:pt x="0" y="0"/>
                  </a:moveTo>
                  <a:lnTo>
                    <a:pt x="295473" y="0"/>
                  </a:lnTo>
                  <a:lnTo>
                    <a:pt x="295473" y="554435"/>
                  </a:lnTo>
                  <a:lnTo>
                    <a:pt x="0" y="554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57150"/>
              <a:ext cx="295473" cy="497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87797" y="4851946"/>
            <a:ext cx="3384351" cy="1039415"/>
            <a:chOff x="0" y="0"/>
            <a:chExt cx="4512468" cy="138588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512468" cy="1385887"/>
            </a:xfrm>
            <a:custGeom>
              <a:avLst/>
              <a:gdLst/>
              <a:ahLst/>
              <a:cxnLst/>
              <a:rect l="l" t="t" r="r" b="b"/>
              <a:pathLst>
                <a:path w="4512468" h="1385887">
                  <a:moveTo>
                    <a:pt x="0" y="0"/>
                  </a:moveTo>
                  <a:lnTo>
                    <a:pt x="4512468" y="0"/>
                  </a:lnTo>
                  <a:lnTo>
                    <a:pt x="4512468" y="1385887"/>
                  </a:lnTo>
                  <a:lnTo>
                    <a:pt x="0" y="13858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512468" cy="14049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2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Create Parent Class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87797" y="6049715"/>
            <a:ext cx="3384351" cy="1724021"/>
            <a:chOff x="0" y="0"/>
            <a:chExt cx="4512468" cy="229869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12468" cy="2298695"/>
            </a:xfrm>
            <a:custGeom>
              <a:avLst/>
              <a:gdLst/>
              <a:ahLst/>
              <a:cxnLst/>
              <a:rect l="l" t="t" r="r" b="b"/>
              <a:pathLst>
                <a:path w="4512468" h="2298695">
                  <a:moveTo>
                    <a:pt x="0" y="0"/>
                  </a:moveTo>
                  <a:lnTo>
                    <a:pt x="4512468" y="0"/>
                  </a:lnTo>
                  <a:lnTo>
                    <a:pt x="4512468" y="2298695"/>
                  </a:lnTo>
                  <a:lnTo>
                    <a:pt x="0" y="2298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85725"/>
              <a:ext cx="4512468" cy="2384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6883" lvl="1" indent="-233442" algn="ctr">
                <a:lnSpc>
                  <a:spcPts val="3473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Define the </a:t>
              </a:r>
              <a:r>
                <a:rPr lang="en-US" sz="2162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Server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class with basic attributes and methods that all servers will share.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41654" y="3664149"/>
            <a:ext cx="28575" cy="923925"/>
            <a:chOff x="0" y="0"/>
            <a:chExt cx="38100" cy="12319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100" cy="1231900"/>
            </a:xfrm>
            <a:custGeom>
              <a:avLst/>
              <a:gdLst/>
              <a:ahLst/>
              <a:cxnLst/>
              <a:rect l="l" t="t" r="r" b="b"/>
              <a:pathLst>
                <a:path w="38100" h="12319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2850"/>
                  </a:lnTo>
                  <a:cubicBezTo>
                    <a:pt x="38100" y="1223391"/>
                    <a:pt x="29591" y="1231900"/>
                    <a:pt x="19050" y="1231900"/>
                  </a:cubicBezTo>
                  <a:cubicBezTo>
                    <a:pt x="8509" y="1231900"/>
                    <a:pt x="0" y="1223391"/>
                    <a:pt x="0" y="12128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759029" y="3367236"/>
            <a:ext cx="593824" cy="593824"/>
            <a:chOff x="0" y="0"/>
            <a:chExt cx="791765" cy="7917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91845" cy="791845"/>
            </a:xfrm>
            <a:custGeom>
              <a:avLst/>
              <a:gdLst/>
              <a:ahLst/>
              <a:cxnLst/>
              <a:rect l="l" t="t" r="r" b="b"/>
              <a:pathLst>
                <a:path w="791845" h="79184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39013" y="0"/>
                  </a:lnTo>
                  <a:cubicBezTo>
                    <a:pt x="768223" y="0"/>
                    <a:pt x="791845" y="23622"/>
                    <a:pt x="791845" y="52832"/>
                  </a:cubicBezTo>
                  <a:lnTo>
                    <a:pt x="791845" y="739013"/>
                  </a:lnTo>
                  <a:cubicBezTo>
                    <a:pt x="791845" y="768223"/>
                    <a:pt x="768223" y="791845"/>
                    <a:pt x="739013" y="791845"/>
                  </a:cubicBezTo>
                  <a:lnTo>
                    <a:pt x="52832" y="791845"/>
                  </a:lnTo>
                  <a:cubicBezTo>
                    <a:pt x="23622" y="791718"/>
                    <a:pt x="0" y="768096"/>
                    <a:pt x="0" y="73901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6945065" y="3456235"/>
            <a:ext cx="221605" cy="415826"/>
            <a:chOff x="0" y="0"/>
            <a:chExt cx="295473" cy="55443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95473" cy="554435"/>
            </a:xfrm>
            <a:custGeom>
              <a:avLst/>
              <a:gdLst/>
              <a:ahLst/>
              <a:cxnLst/>
              <a:rect l="l" t="t" r="r" b="b"/>
              <a:pathLst>
                <a:path w="295473" h="554435">
                  <a:moveTo>
                    <a:pt x="0" y="0"/>
                  </a:moveTo>
                  <a:lnTo>
                    <a:pt x="295473" y="0"/>
                  </a:lnTo>
                  <a:lnTo>
                    <a:pt x="295473" y="554435"/>
                  </a:lnTo>
                  <a:lnTo>
                    <a:pt x="0" y="554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57150"/>
              <a:ext cx="295473" cy="497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363766" y="4851946"/>
            <a:ext cx="3384351" cy="519708"/>
            <a:chOff x="0" y="0"/>
            <a:chExt cx="4512468" cy="69294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512468" cy="692943"/>
            </a:xfrm>
            <a:custGeom>
              <a:avLst/>
              <a:gdLst/>
              <a:ahLst/>
              <a:cxnLst/>
              <a:rect l="l" t="t" r="r" b="b"/>
              <a:pathLst>
                <a:path w="4512468" h="692943">
                  <a:moveTo>
                    <a:pt x="0" y="0"/>
                  </a:moveTo>
                  <a:lnTo>
                    <a:pt x="4512468" y="0"/>
                  </a:lnTo>
                  <a:lnTo>
                    <a:pt x="4512468" y="692943"/>
                  </a:lnTo>
                  <a:lnTo>
                    <a:pt x="0" y="692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4512468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2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Create Child Class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63766" y="5749081"/>
            <a:ext cx="3780234" cy="2162171"/>
            <a:chOff x="0" y="0"/>
            <a:chExt cx="5040312" cy="288289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40312" cy="2882895"/>
            </a:xfrm>
            <a:custGeom>
              <a:avLst/>
              <a:gdLst/>
              <a:ahLst/>
              <a:cxnLst/>
              <a:rect l="l" t="t" r="r" b="b"/>
              <a:pathLst>
                <a:path w="5040312" h="2882895">
                  <a:moveTo>
                    <a:pt x="0" y="0"/>
                  </a:moveTo>
                  <a:lnTo>
                    <a:pt x="5040312" y="0"/>
                  </a:lnTo>
                  <a:lnTo>
                    <a:pt x="5040312" y="2882895"/>
                  </a:lnTo>
                  <a:lnTo>
                    <a:pt x="0" y="2882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85725"/>
              <a:ext cx="5040312" cy="2968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6883" lvl="1" indent="-233442" algn="ctr">
                <a:lnSpc>
                  <a:spcPts val="3473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Define the </a:t>
              </a:r>
              <a:r>
                <a:rPr lang="en-US" sz="2162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DatabaseServer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class that inherits from Server using </a:t>
              </a:r>
              <a:r>
                <a:rPr lang="en-US" sz="2162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class </a:t>
              </a:r>
              <a:r>
                <a:rPr lang="en-US" sz="2162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DatabaseServer</a:t>
              </a:r>
              <a:r>
                <a:rPr lang="en-US" sz="2162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(Server)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. 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349478" y="8349252"/>
            <a:ext cx="3794522" cy="1286172"/>
            <a:chOff x="0" y="0"/>
            <a:chExt cx="5059362" cy="171489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059362" cy="1714897"/>
            </a:xfrm>
            <a:custGeom>
              <a:avLst/>
              <a:gdLst/>
              <a:ahLst/>
              <a:cxnLst/>
              <a:rect l="l" t="t" r="r" b="b"/>
              <a:pathLst>
                <a:path w="5059362" h="1714897">
                  <a:moveTo>
                    <a:pt x="0" y="0"/>
                  </a:moveTo>
                  <a:lnTo>
                    <a:pt x="5059362" y="0"/>
                  </a:lnTo>
                  <a:lnTo>
                    <a:pt x="5059362" y="1714897"/>
                  </a:lnTo>
                  <a:lnTo>
                    <a:pt x="0" y="17148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85725"/>
              <a:ext cx="5059362" cy="18006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6883" lvl="1" indent="-233442" algn="ctr">
                <a:lnSpc>
                  <a:spcPts val="3473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Add the database_name attribute specific to database servers.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217622" y="3664149"/>
            <a:ext cx="28575" cy="923925"/>
            <a:chOff x="0" y="0"/>
            <a:chExt cx="38100" cy="12319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8100" cy="1231900"/>
            </a:xfrm>
            <a:custGeom>
              <a:avLst/>
              <a:gdLst/>
              <a:ahLst/>
              <a:cxnLst/>
              <a:rect l="l" t="t" r="r" b="b"/>
              <a:pathLst>
                <a:path w="38100" h="12319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2850"/>
                  </a:lnTo>
                  <a:cubicBezTo>
                    <a:pt x="38100" y="1223391"/>
                    <a:pt x="29591" y="1231900"/>
                    <a:pt x="19050" y="1231900"/>
                  </a:cubicBezTo>
                  <a:cubicBezTo>
                    <a:pt x="8509" y="1231900"/>
                    <a:pt x="0" y="1223391"/>
                    <a:pt x="0" y="12128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0934997" y="3367236"/>
            <a:ext cx="593824" cy="593824"/>
            <a:chOff x="0" y="0"/>
            <a:chExt cx="791765" cy="79176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91845" cy="791845"/>
            </a:xfrm>
            <a:custGeom>
              <a:avLst/>
              <a:gdLst/>
              <a:ahLst/>
              <a:cxnLst/>
              <a:rect l="l" t="t" r="r" b="b"/>
              <a:pathLst>
                <a:path w="791845" h="79184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39013" y="0"/>
                  </a:lnTo>
                  <a:cubicBezTo>
                    <a:pt x="768223" y="0"/>
                    <a:pt x="791845" y="23622"/>
                    <a:pt x="791845" y="52832"/>
                  </a:cubicBezTo>
                  <a:lnTo>
                    <a:pt x="791845" y="739013"/>
                  </a:lnTo>
                  <a:cubicBezTo>
                    <a:pt x="791845" y="768223"/>
                    <a:pt x="768223" y="791845"/>
                    <a:pt x="739013" y="791845"/>
                  </a:cubicBezTo>
                  <a:lnTo>
                    <a:pt x="52832" y="791845"/>
                  </a:lnTo>
                  <a:cubicBezTo>
                    <a:pt x="23622" y="791718"/>
                    <a:pt x="0" y="768096"/>
                    <a:pt x="0" y="73901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121032" y="3456235"/>
            <a:ext cx="221605" cy="415826"/>
            <a:chOff x="0" y="0"/>
            <a:chExt cx="295473" cy="55443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95473" cy="554435"/>
            </a:xfrm>
            <a:custGeom>
              <a:avLst/>
              <a:gdLst/>
              <a:ahLst/>
              <a:cxnLst/>
              <a:rect l="l" t="t" r="r" b="b"/>
              <a:pathLst>
                <a:path w="295473" h="554435">
                  <a:moveTo>
                    <a:pt x="0" y="0"/>
                  </a:moveTo>
                  <a:lnTo>
                    <a:pt x="295473" y="0"/>
                  </a:lnTo>
                  <a:lnTo>
                    <a:pt x="295473" y="554435"/>
                  </a:lnTo>
                  <a:lnTo>
                    <a:pt x="0" y="554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57150"/>
              <a:ext cx="295473" cy="497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39734" y="4851946"/>
            <a:ext cx="3384351" cy="519708"/>
            <a:chOff x="0" y="0"/>
            <a:chExt cx="4512468" cy="69294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512468" cy="692943"/>
            </a:xfrm>
            <a:custGeom>
              <a:avLst/>
              <a:gdLst/>
              <a:ahLst/>
              <a:cxnLst/>
              <a:rect l="l" t="t" r="r" b="b"/>
              <a:pathLst>
                <a:path w="4512468" h="692943">
                  <a:moveTo>
                    <a:pt x="0" y="0"/>
                  </a:moveTo>
                  <a:lnTo>
                    <a:pt x="4512468" y="0"/>
                  </a:lnTo>
                  <a:lnTo>
                    <a:pt x="4512468" y="692943"/>
                  </a:lnTo>
                  <a:lnTo>
                    <a:pt x="0" y="692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512468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2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Use Inheritance 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539734" y="5530006"/>
            <a:ext cx="3384351" cy="2162171"/>
            <a:chOff x="0" y="0"/>
            <a:chExt cx="4512468" cy="2882895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512468" cy="2882895"/>
            </a:xfrm>
            <a:custGeom>
              <a:avLst/>
              <a:gdLst/>
              <a:ahLst/>
              <a:cxnLst/>
              <a:rect l="l" t="t" r="r" b="b"/>
              <a:pathLst>
                <a:path w="4512468" h="2882895">
                  <a:moveTo>
                    <a:pt x="0" y="0"/>
                  </a:moveTo>
                  <a:lnTo>
                    <a:pt x="4512468" y="0"/>
                  </a:lnTo>
                  <a:lnTo>
                    <a:pt x="4512468" y="2882895"/>
                  </a:lnTo>
                  <a:lnTo>
                    <a:pt x="0" y="2882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5" name="TextBox 55"/>
            <p:cNvSpPr txBox="1"/>
            <p:nvPr/>
          </p:nvSpPr>
          <p:spPr>
            <a:xfrm>
              <a:off x="0" y="-85725"/>
              <a:ext cx="4512468" cy="2968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6883" lvl="1" indent="-233442" algn="ctr">
                <a:lnSpc>
                  <a:spcPts val="3473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super().__init__(name, ip_address) allows </a:t>
              </a:r>
              <a:r>
                <a:rPr lang="en-US" sz="2162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DatabaseServer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to initialize the inherited attributes from </a:t>
              </a:r>
              <a:r>
                <a:rPr lang="en-US" sz="2162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Server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539734" y="7838331"/>
            <a:ext cx="3384351" cy="1724021"/>
            <a:chOff x="0" y="0"/>
            <a:chExt cx="4512468" cy="2298695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4512468" cy="2298695"/>
            </a:xfrm>
            <a:custGeom>
              <a:avLst/>
              <a:gdLst/>
              <a:ahLst/>
              <a:cxnLst/>
              <a:rect l="l" t="t" r="r" b="b"/>
              <a:pathLst>
                <a:path w="4512468" h="2298695">
                  <a:moveTo>
                    <a:pt x="0" y="0"/>
                  </a:moveTo>
                  <a:lnTo>
                    <a:pt x="4512468" y="0"/>
                  </a:lnTo>
                  <a:lnTo>
                    <a:pt x="4512468" y="2298695"/>
                  </a:lnTo>
                  <a:lnTo>
                    <a:pt x="0" y="2298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-85725"/>
              <a:ext cx="4512468" cy="2384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6883" lvl="1" indent="-233442" algn="ctr">
                <a:lnSpc>
                  <a:spcPts val="3473"/>
                </a:lnSpc>
                <a:buFont typeface="Arial"/>
                <a:buChar char="•"/>
              </a:pPr>
              <a:r>
                <a:rPr lang="en-US" sz="2162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DatabaseServer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inherits from </a:t>
              </a:r>
              <a:r>
                <a:rPr lang="en-US" sz="2162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Server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, gaining its attributes and methods.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393591" y="3664149"/>
            <a:ext cx="28575" cy="923925"/>
            <a:chOff x="0" y="0"/>
            <a:chExt cx="38100" cy="12319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8100" cy="1231900"/>
            </a:xfrm>
            <a:custGeom>
              <a:avLst/>
              <a:gdLst/>
              <a:ahLst/>
              <a:cxnLst/>
              <a:rect l="l" t="t" r="r" b="b"/>
              <a:pathLst>
                <a:path w="38100" h="12319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2850"/>
                  </a:lnTo>
                  <a:cubicBezTo>
                    <a:pt x="38100" y="1223391"/>
                    <a:pt x="29591" y="1231900"/>
                    <a:pt x="19050" y="1231900"/>
                  </a:cubicBezTo>
                  <a:cubicBezTo>
                    <a:pt x="8509" y="1231900"/>
                    <a:pt x="0" y="1223391"/>
                    <a:pt x="0" y="12128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61" name="Group 61"/>
          <p:cNvGrpSpPr/>
          <p:nvPr/>
        </p:nvGrpSpPr>
        <p:grpSpPr>
          <a:xfrm>
            <a:off x="15110966" y="3367236"/>
            <a:ext cx="593824" cy="593824"/>
            <a:chOff x="0" y="0"/>
            <a:chExt cx="791765" cy="791765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91845" cy="791845"/>
            </a:xfrm>
            <a:custGeom>
              <a:avLst/>
              <a:gdLst/>
              <a:ahLst/>
              <a:cxnLst/>
              <a:rect l="l" t="t" r="r" b="b"/>
              <a:pathLst>
                <a:path w="791845" h="791845">
                  <a:moveTo>
                    <a:pt x="0" y="52832"/>
                  </a:moveTo>
                  <a:cubicBezTo>
                    <a:pt x="0" y="23622"/>
                    <a:pt x="23622" y="0"/>
                    <a:pt x="52832" y="0"/>
                  </a:cubicBezTo>
                  <a:lnTo>
                    <a:pt x="739013" y="0"/>
                  </a:lnTo>
                  <a:cubicBezTo>
                    <a:pt x="768223" y="0"/>
                    <a:pt x="791845" y="23622"/>
                    <a:pt x="791845" y="52832"/>
                  </a:cubicBezTo>
                  <a:lnTo>
                    <a:pt x="791845" y="739013"/>
                  </a:lnTo>
                  <a:cubicBezTo>
                    <a:pt x="791845" y="768223"/>
                    <a:pt x="768223" y="791845"/>
                    <a:pt x="739013" y="791845"/>
                  </a:cubicBezTo>
                  <a:lnTo>
                    <a:pt x="52832" y="791845"/>
                  </a:lnTo>
                  <a:cubicBezTo>
                    <a:pt x="23622" y="791718"/>
                    <a:pt x="0" y="768096"/>
                    <a:pt x="0" y="739013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5297001" y="3456235"/>
            <a:ext cx="221605" cy="415826"/>
            <a:chOff x="0" y="0"/>
            <a:chExt cx="295473" cy="55443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95473" cy="554435"/>
            </a:xfrm>
            <a:custGeom>
              <a:avLst/>
              <a:gdLst/>
              <a:ahLst/>
              <a:cxnLst/>
              <a:rect l="l" t="t" r="r" b="b"/>
              <a:pathLst>
                <a:path w="295473" h="554435">
                  <a:moveTo>
                    <a:pt x="0" y="0"/>
                  </a:moveTo>
                  <a:lnTo>
                    <a:pt x="295473" y="0"/>
                  </a:lnTo>
                  <a:lnTo>
                    <a:pt x="295473" y="554435"/>
                  </a:lnTo>
                  <a:lnTo>
                    <a:pt x="0" y="554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57150"/>
              <a:ext cx="295473" cy="497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715702" y="4851946"/>
            <a:ext cx="3384500" cy="519708"/>
            <a:chOff x="0" y="0"/>
            <a:chExt cx="4512667" cy="69294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512667" cy="692943"/>
            </a:xfrm>
            <a:custGeom>
              <a:avLst/>
              <a:gdLst/>
              <a:ahLst/>
              <a:cxnLst/>
              <a:rect l="l" t="t" r="r" b="b"/>
              <a:pathLst>
                <a:path w="4512667" h="692943">
                  <a:moveTo>
                    <a:pt x="0" y="0"/>
                  </a:moveTo>
                  <a:lnTo>
                    <a:pt x="4512667" y="0"/>
                  </a:lnTo>
                  <a:lnTo>
                    <a:pt x="4512667" y="692943"/>
                  </a:lnTo>
                  <a:lnTo>
                    <a:pt x="0" y="6929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4512667" cy="7119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62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Override Methods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715702" y="5530006"/>
            <a:ext cx="3648373" cy="1724021"/>
            <a:chOff x="0" y="0"/>
            <a:chExt cx="4864497" cy="229869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4864497" cy="2298695"/>
            </a:xfrm>
            <a:custGeom>
              <a:avLst/>
              <a:gdLst/>
              <a:ahLst/>
              <a:cxnLst/>
              <a:rect l="l" t="t" r="r" b="b"/>
              <a:pathLst>
                <a:path w="4864497" h="2298695">
                  <a:moveTo>
                    <a:pt x="0" y="0"/>
                  </a:moveTo>
                  <a:lnTo>
                    <a:pt x="4864497" y="0"/>
                  </a:lnTo>
                  <a:lnTo>
                    <a:pt x="4864497" y="2298695"/>
                  </a:lnTo>
                  <a:lnTo>
                    <a:pt x="0" y="22986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85725"/>
              <a:ext cx="4864497" cy="23844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466883" lvl="1" indent="-233442" algn="ctr">
                <a:lnSpc>
                  <a:spcPts val="3473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Override the start method to provide custom functionality: </a:t>
              </a:r>
              <a:r>
                <a:rPr lang="en-US" sz="2162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def start(self): 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4991320" y="9835911"/>
            <a:ext cx="3062594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>
            <a:hlinkClick r:id="rId3" tooltip="https://gamma.app/?utm_source=made-with-gamma"/>
          </p:cNvPr>
          <p:cNvSpPr/>
          <p:nvPr/>
        </p:nvSpPr>
        <p:spPr>
          <a:xfrm>
            <a:off x="16049019" y="9686925"/>
            <a:ext cx="2153256" cy="514350"/>
          </a:xfrm>
          <a:custGeom>
            <a:avLst/>
            <a:gdLst/>
            <a:ahLst/>
            <a:cxnLst/>
            <a:rect l="l" t="t" r="r" b="b"/>
            <a:pathLst>
              <a:path w="2153256" h="514350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 descr="preencoded.png"/>
          <p:cNvSpPr/>
          <p:nvPr/>
        </p:nvSpPr>
        <p:spPr>
          <a:xfrm>
            <a:off x="11430000" y="0"/>
            <a:ext cx="6858000" cy="10287595"/>
          </a:xfrm>
          <a:custGeom>
            <a:avLst/>
            <a:gdLst/>
            <a:ahLst/>
            <a:cxnLst/>
            <a:rect l="l" t="t" r="r" b="b"/>
            <a:pathLst>
              <a:path w="6858000" h="10287595">
                <a:moveTo>
                  <a:pt x="0" y="0"/>
                </a:moveTo>
                <a:lnTo>
                  <a:pt x="6858000" y="0"/>
                </a:lnTo>
                <a:lnTo>
                  <a:pt x="6858000" y="10287595"/>
                </a:lnTo>
                <a:lnTo>
                  <a:pt x="0" y="102875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" r="-2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805904" y="633264"/>
            <a:ext cx="6045250" cy="755600"/>
            <a:chOff x="0" y="0"/>
            <a:chExt cx="8060333" cy="100746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060334" cy="1007467"/>
            </a:xfrm>
            <a:custGeom>
              <a:avLst/>
              <a:gdLst/>
              <a:ahLst/>
              <a:cxnLst/>
              <a:rect l="l" t="t" r="r" b="b"/>
              <a:pathLst>
                <a:path w="8060334" h="1007467">
                  <a:moveTo>
                    <a:pt x="0" y="0"/>
                  </a:moveTo>
                  <a:lnTo>
                    <a:pt x="8060334" y="0"/>
                  </a:lnTo>
                  <a:lnTo>
                    <a:pt x="8060334" y="1007467"/>
                  </a:lnTo>
                  <a:lnTo>
                    <a:pt x="0" y="100746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060333" cy="10265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937"/>
                </a:lnSpc>
              </a:pPr>
              <a:r>
                <a:rPr lang="en-US" sz="4750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Activty</a:t>
              </a:r>
            </a:p>
          </p:txBody>
        </p:sp>
      </p:grpSp>
      <p:sp>
        <p:nvSpPr>
          <p:cNvPr id="11" name="Freeform 11" descr="preencoded.png"/>
          <p:cNvSpPr/>
          <p:nvPr/>
        </p:nvSpPr>
        <p:spPr>
          <a:xfrm>
            <a:off x="805904" y="1734294"/>
            <a:ext cx="1151484" cy="2452390"/>
          </a:xfrm>
          <a:custGeom>
            <a:avLst/>
            <a:gdLst/>
            <a:ahLst/>
            <a:cxnLst/>
            <a:rect l="l" t="t" r="r" b="b"/>
            <a:pathLst>
              <a:path w="1151484" h="2452390">
                <a:moveTo>
                  <a:pt x="0" y="0"/>
                </a:moveTo>
                <a:lnTo>
                  <a:pt x="1151484" y="0"/>
                </a:lnTo>
                <a:lnTo>
                  <a:pt x="1151484" y="2452390"/>
                </a:lnTo>
                <a:lnTo>
                  <a:pt x="0" y="24523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36" r="-136"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2302817" y="1964531"/>
            <a:ext cx="3627090" cy="453330"/>
            <a:chOff x="0" y="0"/>
            <a:chExt cx="4836120" cy="6044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36120" cy="604440"/>
            </a:xfrm>
            <a:custGeom>
              <a:avLst/>
              <a:gdLst/>
              <a:ahLst/>
              <a:cxnLst/>
              <a:rect l="l" t="t" r="r" b="b"/>
              <a:pathLst>
                <a:path w="4836120" h="604440">
                  <a:moveTo>
                    <a:pt x="0" y="0"/>
                  </a:moveTo>
                  <a:lnTo>
                    <a:pt x="4836120" y="0"/>
                  </a:lnTo>
                  <a:lnTo>
                    <a:pt x="4836120" y="604440"/>
                  </a:lnTo>
                  <a:lnTo>
                    <a:pt x="0" y="6044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836120" cy="613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Define the Class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302817" y="2555974"/>
            <a:ext cx="8321279" cy="1400472"/>
            <a:chOff x="0" y="0"/>
            <a:chExt cx="11095038" cy="18672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095038" cy="1867297"/>
            </a:xfrm>
            <a:custGeom>
              <a:avLst/>
              <a:gdLst/>
              <a:ahLst/>
              <a:cxnLst/>
              <a:rect l="l" t="t" r="r" b="b"/>
              <a:pathLst>
                <a:path w="11095038" h="1867297">
                  <a:moveTo>
                    <a:pt x="0" y="0"/>
                  </a:moveTo>
                  <a:lnTo>
                    <a:pt x="11095038" y="0"/>
                  </a:lnTo>
                  <a:lnTo>
                    <a:pt x="11095038" y="1867297"/>
                  </a:lnTo>
                  <a:lnTo>
                    <a:pt x="0" y="18672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0"/>
              <a:ext cx="11095038" cy="19625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 </a:t>
              </a:r>
              <a:r>
                <a:rPr lang="en-US" sz="2249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VirtualMachine</a:t>
              </a: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class with attributes hostname, cpu, and ram and an additional method def start() to define the behavior of the class.</a:t>
              </a:r>
            </a:p>
          </p:txBody>
        </p:sp>
      </p:grpSp>
      <p:sp>
        <p:nvSpPr>
          <p:cNvPr id="18" name="Freeform 18" descr="preencoded.png"/>
          <p:cNvSpPr/>
          <p:nvPr/>
        </p:nvSpPr>
        <p:spPr>
          <a:xfrm>
            <a:off x="805904" y="4186684"/>
            <a:ext cx="1151484" cy="2442865"/>
          </a:xfrm>
          <a:custGeom>
            <a:avLst/>
            <a:gdLst/>
            <a:ahLst/>
            <a:cxnLst/>
            <a:rect l="l" t="t" r="r" b="b"/>
            <a:pathLst>
              <a:path w="1151484" h="2442865">
                <a:moveTo>
                  <a:pt x="0" y="0"/>
                </a:moveTo>
                <a:lnTo>
                  <a:pt x="1151484" y="0"/>
                </a:lnTo>
                <a:lnTo>
                  <a:pt x="1151484" y="2442865"/>
                </a:lnTo>
                <a:lnTo>
                  <a:pt x="0" y="24428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6" r="-136"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2302817" y="4416921"/>
            <a:ext cx="3627090" cy="453330"/>
            <a:chOff x="0" y="0"/>
            <a:chExt cx="4836120" cy="6044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836120" cy="604440"/>
            </a:xfrm>
            <a:custGeom>
              <a:avLst/>
              <a:gdLst/>
              <a:ahLst/>
              <a:cxnLst/>
              <a:rect l="l" t="t" r="r" b="b"/>
              <a:pathLst>
                <a:path w="4836120" h="604440">
                  <a:moveTo>
                    <a:pt x="0" y="0"/>
                  </a:moveTo>
                  <a:lnTo>
                    <a:pt x="4836120" y="0"/>
                  </a:lnTo>
                  <a:lnTo>
                    <a:pt x="4836120" y="604440"/>
                  </a:lnTo>
                  <a:lnTo>
                    <a:pt x="0" y="6044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4836120" cy="613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Add Methods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302817" y="5008364"/>
            <a:ext cx="8321279" cy="1390947"/>
            <a:chOff x="0" y="0"/>
            <a:chExt cx="11095038" cy="185459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095038" cy="1854597"/>
            </a:xfrm>
            <a:custGeom>
              <a:avLst/>
              <a:gdLst/>
              <a:ahLst/>
              <a:cxnLst/>
              <a:rect l="l" t="t" r="r" b="b"/>
              <a:pathLst>
                <a:path w="11095038" h="1854597">
                  <a:moveTo>
                    <a:pt x="0" y="0"/>
                  </a:moveTo>
                  <a:lnTo>
                    <a:pt x="11095038" y="0"/>
                  </a:lnTo>
                  <a:lnTo>
                    <a:pt x="11095038" y="1854597"/>
                  </a:lnTo>
                  <a:lnTo>
                    <a:pt x="0" y="1854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95250"/>
              <a:ext cx="11095038" cy="194984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 subclass </a:t>
              </a:r>
              <a:r>
                <a:rPr lang="en-US" sz="2249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WebServerVM</a:t>
              </a: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with an additional method </a:t>
              </a:r>
              <a:r>
                <a:rPr lang="en-US" sz="2249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host_website</a:t>
              </a: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and an additional attribute data_name to inherit the behavior of the parent class in this child class.</a:t>
              </a:r>
            </a:p>
          </p:txBody>
        </p:sp>
      </p:grpSp>
      <p:sp>
        <p:nvSpPr>
          <p:cNvPr id="25" name="Freeform 25" descr="preencoded.png"/>
          <p:cNvSpPr/>
          <p:nvPr/>
        </p:nvSpPr>
        <p:spPr>
          <a:xfrm>
            <a:off x="805904" y="6629549"/>
            <a:ext cx="1151484" cy="1742629"/>
          </a:xfrm>
          <a:custGeom>
            <a:avLst/>
            <a:gdLst/>
            <a:ahLst/>
            <a:cxnLst/>
            <a:rect l="l" t="t" r="r" b="b"/>
            <a:pathLst>
              <a:path w="1151484" h="1742629">
                <a:moveTo>
                  <a:pt x="0" y="0"/>
                </a:moveTo>
                <a:lnTo>
                  <a:pt x="1151484" y="0"/>
                </a:lnTo>
                <a:lnTo>
                  <a:pt x="1151484" y="1742628"/>
                </a:lnTo>
                <a:lnTo>
                  <a:pt x="0" y="17426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7598" t="-23" r="-7598"/>
            </a:stretch>
          </a:blipFill>
        </p:spPr>
      </p:sp>
      <p:grpSp>
        <p:nvGrpSpPr>
          <p:cNvPr id="26" name="Group 26"/>
          <p:cNvGrpSpPr/>
          <p:nvPr/>
        </p:nvGrpSpPr>
        <p:grpSpPr>
          <a:xfrm>
            <a:off x="2302817" y="6859786"/>
            <a:ext cx="3627090" cy="453330"/>
            <a:chOff x="0" y="0"/>
            <a:chExt cx="4836120" cy="6044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36120" cy="604440"/>
            </a:xfrm>
            <a:custGeom>
              <a:avLst/>
              <a:gdLst/>
              <a:ahLst/>
              <a:cxnLst/>
              <a:rect l="l" t="t" r="r" b="b"/>
              <a:pathLst>
                <a:path w="4836120" h="604440">
                  <a:moveTo>
                    <a:pt x="0" y="0"/>
                  </a:moveTo>
                  <a:lnTo>
                    <a:pt x="4836120" y="0"/>
                  </a:lnTo>
                  <a:lnTo>
                    <a:pt x="4836120" y="604440"/>
                  </a:lnTo>
                  <a:lnTo>
                    <a:pt x="0" y="6044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836120" cy="613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Create an Object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302817" y="7451229"/>
            <a:ext cx="8321279" cy="460474"/>
            <a:chOff x="0" y="0"/>
            <a:chExt cx="11095038" cy="61396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095038" cy="613965"/>
            </a:xfrm>
            <a:custGeom>
              <a:avLst/>
              <a:gdLst/>
              <a:ahLst/>
              <a:cxnLst/>
              <a:rect l="l" t="t" r="r" b="b"/>
              <a:pathLst>
                <a:path w="11095038" h="613965">
                  <a:moveTo>
                    <a:pt x="0" y="0"/>
                  </a:moveTo>
                  <a:lnTo>
                    <a:pt x="11095038" y="0"/>
                  </a:lnTo>
                  <a:lnTo>
                    <a:pt x="11095038" y="613965"/>
                  </a:lnTo>
                  <a:lnTo>
                    <a:pt x="0" y="613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095038" cy="7092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an object of the </a:t>
              </a:r>
              <a:r>
                <a:rPr lang="en-US" sz="2249">
                  <a:solidFill>
                    <a:srgbClr val="1F7135"/>
                  </a:solidFill>
                  <a:latin typeface="DM Sans"/>
                  <a:ea typeface="DM Sans"/>
                  <a:cs typeface="DM Sans"/>
                  <a:sym typeface="DM Sans"/>
                </a:rPr>
                <a:t>WebServerVM</a:t>
              </a: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class.</a:t>
              </a:r>
            </a:p>
          </p:txBody>
        </p:sp>
      </p:grpSp>
      <p:sp>
        <p:nvSpPr>
          <p:cNvPr id="32" name="Freeform 32" descr="preencoded.png"/>
          <p:cNvSpPr/>
          <p:nvPr/>
        </p:nvSpPr>
        <p:spPr>
          <a:xfrm>
            <a:off x="805904" y="8372178"/>
            <a:ext cx="1151484" cy="1512391"/>
          </a:xfrm>
          <a:custGeom>
            <a:avLst/>
            <a:gdLst/>
            <a:ahLst/>
            <a:cxnLst/>
            <a:rect l="l" t="t" r="r" b="b"/>
            <a:pathLst>
              <a:path w="1151484" h="1512391">
                <a:moveTo>
                  <a:pt x="0" y="0"/>
                </a:moveTo>
                <a:lnTo>
                  <a:pt x="1151484" y="0"/>
                </a:lnTo>
                <a:lnTo>
                  <a:pt x="1151484" y="1512391"/>
                </a:lnTo>
                <a:lnTo>
                  <a:pt x="0" y="15123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3" b="-23"/>
            </a:stretch>
          </a:blipFill>
        </p:spPr>
      </p:sp>
      <p:grpSp>
        <p:nvGrpSpPr>
          <p:cNvPr id="33" name="Group 33"/>
          <p:cNvGrpSpPr/>
          <p:nvPr/>
        </p:nvGrpSpPr>
        <p:grpSpPr>
          <a:xfrm>
            <a:off x="2302817" y="8372178"/>
            <a:ext cx="3627090" cy="453330"/>
            <a:chOff x="0" y="0"/>
            <a:chExt cx="4836120" cy="6044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36120" cy="604440"/>
            </a:xfrm>
            <a:custGeom>
              <a:avLst/>
              <a:gdLst/>
              <a:ahLst/>
              <a:cxnLst/>
              <a:rect l="l" t="t" r="r" b="b"/>
              <a:pathLst>
                <a:path w="4836120" h="604440">
                  <a:moveTo>
                    <a:pt x="0" y="0"/>
                  </a:moveTo>
                  <a:lnTo>
                    <a:pt x="4836120" y="0"/>
                  </a:lnTo>
                  <a:lnTo>
                    <a:pt x="4836120" y="604440"/>
                  </a:lnTo>
                  <a:lnTo>
                    <a:pt x="0" y="6044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4836120" cy="61396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562"/>
                </a:lnSpc>
              </a:pPr>
              <a:r>
                <a:rPr lang="en-US" sz="2812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Use the Methods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302817" y="8963620"/>
            <a:ext cx="8321279" cy="460474"/>
            <a:chOff x="0" y="0"/>
            <a:chExt cx="11095038" cy="61396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095038" cy="613965"/>
            </a:xfrm>
            <a:custGeom>
              <a:avLst/>
              <a:gdLst/>
              <a:ahLst/>
              <a:cxnLst/>
              <a:rect l="l" t="t" r="r" b="b"/>
              <a:pathLst>
                <a:path w="11095038" h="613965">
                  <a:moveTo>
                    <a:pt x="0" y="0"/>
                  </a:moveTo>
                  <a:lnTo>
                    <a:pt x="11095038" y="0"/>
                  </a:lnTo>
                  <a:lnTo>
                    <a:pt x="11095038" y="613965"/>
                  </a:lnTo>
                  <a:lnTo>
                    <a:pt x="0" y="613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0"/>
              <a:ext cx="11095038" cy="70921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624"/>
                </a:lnSpc>
              </a:pPr>
              <a:r>
                <a:rPr lang="en-US" sz="2249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Call both inherited and new methods.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Freeform 6" descr="preencoded.png"/>
          <p:cNvSpPr/>
          <p:nvPr/>
        </p:nvSpPr>
        <p:spPr>
          <a:xfrm>
            <a:off x="0" y="0"/>
            <a:ext cx="18288000" cy="2641401"/>
          </a:xfrm>
          <a:custGeom>
            <a:avLst/>
            <a:gdLst/>
            <a:ahLst/>
            <a:cxnLst/>
            <a:rect l="l" t="t" r="r" b="b"/>
            <a:pathLst>
              <a:path w="18288000" h="2641401">
                <a:moveTo>
                  <a:pt x="0" y="0"/>
                </a:moveTo>
                <a:lnTo>
                  <a:pt x="18288000" y="0"/>
                </a:lnTo>
                <a:lnTo>
                  <a:pt x="18288000" y="2641401"/>
                </a:lnTo>
                <a:lnTo>
                  <a:pt x="0" y="2641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" r="-56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39527" y="3300784"/>
            <a:ext cx="8462219" cy="693241"/>
            <a:chOff x="0" y="0"/>
            <a:chExt cx="11282958" cy="9243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282959" cy="924322"/>
            </a:xfrm>
            <a:custGeom>
              <a:avLst/>
              <a:gdLst/>
              <a:ahLst/>
              <a:cxnLst/>
              <a:rect l="l" t="t" r="r" b="b"/>
              <a:pathLst>
                <a:path w="11282959" h="924322">
                  <a:moveTo>
                    <a:pt x="0" y="0"/>
                  </a:moveTo>
                  <a:lnTo>
                    <a:pt x="11282959" y="0"/>
                  </a:lnTo>
                  <a:lnTo>
                    <a:pt x="11282959" y="924322"/>
                  </a:lnTo>
                  <a:lnTo>
                    <a:pt x="0" y="9243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1282958" cy="95289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5437"/>
                </a:lnSpc>
              </a:pPr>
              <a:r>
                <a:rPr lang="en-US" sz="43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Python Libraries for DevOps Tasks</a:t>
              </a:r>
            </a:p>
          </p:txBody>
        </p:sp>
      </p:grpSp>
      <p:sp>
        <p:nvSpPr>
          <p:cNvPr id="10" name="Freeform 10" descr="preencoded.png"/>
          <p:cNvSpPr/>
          <p:nvPr/>
        </p:nvSpPr>
        <p:spPr>
          <a:xfrm>
            <a:off x="739527" y="4653409"/>
            <a:ext cx="528191" cy="528191"/>
          </a:xfrm>
          <a:custGeom>
            <a:avLst/>
            <a:gdLst/>
            <a:ahLst/>
            <a:cxnLst/>
            <a:rect l="l" t="t" r="r" b="b"/>
            <a:pathLst>
              <a:path w="528191" h="528191">
                <a:moveTo>
                  <a:pt x="0" y="0"/>
                </a:moveTo>
                <a:lnTo>
                  <a:pt x="528192" y="0"/>
                </a:lnTo>
                <a:lnTo>
                  <a:pt x="528192" y="528191"/>
                </a:lnTo>
                <a:lnTo>
                  <a:pt x="0" y="5281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39527" y="5392788"/>
            <a:ext cx="3328244" cy="493117"/>
            <a:chOff x="0" y="0"/>
            <a:chExt cx="4437658" cy="6574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37658" cy="657490"/>
            </a:xfrm>
            <a:custGeom>
              <a:avLst/>
              <a:gdLst/>
              <a:ahLst/>
              <a:cxnLst/>
              <a:rect l="l" t="t" r="r" b="b"/>
              <a:pathLst>
                <a:path w="4437658" h="657490">
                  <a:moveTo>
                    <a:pt x="0" y="0"/>
                  </a:moveTo>
                  <a:lnTo>
                    <a:pt x="4437658" y="0"/>
                  </a:lnTo>
                  <a:lnTo>
                    <a:pt x="4437658" y="657490"/>
                  </a:lnTo>
                  <a:lnTo>
                    <a:pt x="0" y="657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437658" cy="676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os and subprocess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9527" y="5935415"/>
            <a:ext cx="3964484" cy="2113359"/>
            <a:chOff x="0" y="0"/>
            <a:chExt cx="5285978" cy="28178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85979" cy="2817812"/>
            </a:xfrm>
            <a:custGeom>
              <a:avLst/>
              <a:gdLst/>
              <a:ahLst/>
              <a:cxnLst/>
              <a:rect l="l" t="t" r="r" b="b"/>
              <a:pathLst>
                <a:path w="5285979" h="2817812">
                  <a:moveTo>
                    <a:pt x="0" y="0"/>
                  </a:moveTo>
                  <a:lnTo>
                    <a:pt x="5285979" y="0"/>
                  </a:lnTo>
                  <a:lnTo>
                    <a:pt x="5285979" y="2817812"/>
                  </a:lnTo>
                  <a:lnTo>
                    <a:pt x="0" y="2817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85725"/>
              <a:ext cx="5285978" cy="29035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Used for system operations like interacting with the file system, executing commands, and managing processes. Essential for automation scripts.</a:t>
              </a:r>
            </a:p>
          </p:txBody>
        </p:sp>
      </p:grpSp>
      <p:sp>
        <p:nvSpPr>
          <p:cNvPr id="17" name="Freeform 17" descr="preencoded.png"/>
          <p:cNvSpPr/>
          <p:nvPr/>
        </p:nvSpPr>
        <p:spPr>
          <a:xfrm>
            <a:off x="5020866" y="4653409"/>
            <a:ext cx="528191" cy="528191"/>
          </a:xfrm>
          <a:custGeom>
            <a:avLst/>
            <a:gdLst/>
            <a:ahLst/>
            <a:cxnLst/>
            <a:rect l="l" t="t" r="r" b="b"/>
            <a:pathLst>
              <a:path w="528191" h="528191">
                <a:moveTo>
                  <a:pt x="0" y="0"/>
                </a:moveTo>
                <a:lnTo>
                  <a:pt x="528192" y="0"/>
                </a:lnTo>
                <a:lnTo>
                  <a:pt x="528192" y="528191"/>
                </a:lnTo>
                <a:lnTo>
                  <a:pt x="0" y="5281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5020866" y="5392788"/>
            <a:ext cx="3328244" cy="493117"/>
            <a:chOff x="0" y="0"/>
            <a:chExt cx="4437658" cy="6574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37658" cy="657490"/>
            </a:xfrm>
            <a:custGeom>
              <a:avLst/>
              <a:gdLst/>
              <a:ahLst/>
              <a:cxnLst/>
              <a:rect l="l" t="t" r="r" b="b"/>
              <a:pathLst>
                <a:path w="4437658" h="657490">
                  <a:moveTo>
                    <a:pt x="0" y="0"/>
                  </a:moveTo>
                  <a:lnTo>
                    <a:pt x="4437658" y="0"/>
                  </a:lnTo>
                  <a:lnTo>
                    <a:pt x="4437658" y="657490"/>
                  </a:lnTo>
                  <a:lnTo>
                    <a:pt x="0" y="657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4437658" cy="676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boto3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020866" y="5935415"/>
            <a:ext cx="3964632" cy="2113359"/>
            <a:chOff x="0" y="0"/>
            <a:chExt cx="5286177" cy="281781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286177" cy="2817812"/>
            </a:xfrm>
            <a:custGeom>
              <a:avLst/>
              <a:gdLst/>
              <a:ahLst/>
              <a:cxnLst/>
              <a:rect l="l" t="t" r="r" b="b"/>
              <a:pathLst>
                <a:path w="5286177" h="2817812">
                  <a:moveTo>
                    <a:pt x="0" y="0"/>
                  </a:moveTo>
                  <a:lnTo>
                    <a:pt x="5286177" y="0"/>
                  </a:lnTo>
                  <a:lnTo>
                    <a:pt x="5286177" y="2817812"/>
                  </a:lnTo>
                  <a:lnTo>
                    <a:pt x="0" y="28178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5286177" cy="2903537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AWS SDK for Python that helps manage AWS resources programmatically. Perfect for automating cloud infrastructure tasks.</a:t>
              </a:r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9302354" y="4653409"/>
            <a:ext cx="528191" cy="528191"/>
          </a:xfrm>
          <a:custGeom>
            <a:avLst/>
            <a:gdLst/>
            <a:ahLst/>
            <a:cxnLst/>
            <a:rect l="l" t="t" r="r" b="b"/>
            <a:pathLst>
              <a:path w="528191" h="528191">
                <a:moveTo>
                  <a:pt x="0" y="0"/>
                </a:moveTo>
                <a:lnTo>
                  <a:pt x="528191" y="0"/>
                </a:lnTo>
                <a:lnTo>
                  <a:pt x="528191" y="528191"/>
                </a:lnTo>
                <a:lnTo>
                  <a:pt x="0" y="5281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9302354" y="5392788"/>
            <a:ext cx="3328244" cy="493117"/>
            <a:chOff x="0" y="0"/>
            <a:chExt cx="4437658" cy="6574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437658" cy="657490"/>
            </a:xfrm>
            <a:custGeom>
              <a:avLst/>
              <a:gdLst/>
              <a:ahLst/>
              <a:cxnLst/>
              <a:rect l="l" t="t" r="r" b="b"/>
              <a:pathLst>
                <a:path w="4437658" h="657490">
                  <a:moveTo>
                    <a:pt x="0" y="0"/>
                  </a:moveTo>
                  <a:lnTo>
                    <a:pt x="4437658" y="0"/>
                  </a:lnTo>
                  <a:lnTo>
                    <a:pt x="4437658" y="657490"/>
                  </a:lnTo>
                  <a:lnTo>
                    <a:pt x="0" y="657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437658" cy="676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paramiko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02354" y="5935415"/>
            <a:ext cx="3964632" cy="1690688"/>
            <a:chOff x="0" y="0"/>
            <a:chExt cx="5286177" cy="225425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286177" cy="2254250"/>
            </a:xfrm>
            <a:custGeom>
              <a:avLst/>
              <a:gdLst/>
              <a:ahLst/>
              <a:cxnLst/>
              <a:rect l="l" t="t" r="r" b="b"/>
              <a:pathLst>
                <a:path w="5286177" h="2254250">
                  <a:moveTo>
                    <a:pt x="0" y="0"/>
                  </a:moveTo>
                  <a:lnTo>
                    <a:pt x="5286177" y="0"/>
                  </a:lnTo>
                  <a:lnTo>
                    <a:pt x="5286177" y="2254250"/>
                  </a:lnTo>
                  <a:lnTo>
                    <a:pt x="0" y="225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85725"/>
              <a:ext cx="5286177" cy="23399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Used for SSH connections and remote server management, allowing secure execution of commands on remote systems.</a:t>
              </a:r>
            </a:p>
          </p:txBody>
        </p:sp>
      </p:grpSp>
      <p:sp>
        <p:nvSpPr>
          <p:cNvPr id="31" name="Freeform 31" descr="preencoded.png"/>
          <p:cNvSpPr/>
          <p:nvPr/>
        </p:nvSpPr>
        <p:spPr>
          <a:xfrm>
            <a:off x="13583841" y="4653409"/>
            <a:ext cx="528191" cy="528191"/>
          </a:xfrm>
          <a:custGeom>
            <a:avLst/>
            <a:gdLst/>
            <a:ahLst/>
            <a:cxnLst/>
            <a:rect l="l" t="t" r="r" b="b"/>
            <a:pathLst>
              <a:path w="528191" h="528191">
                <a:moveTo>
                  <a:pt x="0" y="0"/>
                </a:moveTo>
                <a:lnTo>
                  <a:pt x="528191" y="0"/>
                </a:lnTo>
                <a:lnTo>
                  <a:pt x="528191" y="528191"/>
                </a:lnTo>
                <a:lnTo>
                  <a:pt x="0" y="5281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3583841" y="5392788"/>
            <a:ext cx="3328244" cy="493117"/>
            <a:chOff x="0" y="0"/>
            <a:chExt cx="4437658" cy="65749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437658" cy="657490"/>
            </a:xfrm>
            <a:custGeom>
              <a:avLst/>
              <a:gdLst/>
              <a:ahLst/>
              <a:cxnLst/>
              <a:rect l="l" t="t" r="r" b="b"/>
              <a:pathLst>
                <a:path w="4437658" h="657490">
                  <a:moveTo>
                    <a:pt x="0" y="0"/>
                  </a:moveTo>
                  <a:lnTo>
                    <a:pt x="4437658" y="0"/>
                  </a:lnTo>
                  <a:lnTo>
                    <a:pt x="4437658" y="657490"/>
                  </a:lnTo>
                  <a:lnTo>
                    <a:pt x="0" y="65749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4437658" cy="67654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250"/>
                </a:lnSpc>
              </a:pPr>
              <a:r>
                <a:rPr lang="en-US" sz="2562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ansible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583841" y="5935415"/>
            <a:ext cx="3964632" cy="1690688"/>
            <a:chOff x="0" y="0"/>
            <a:chExt cx="5286177" cy="225425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86177" cy="2254250"/>
            </a:xfrm>
            <a:custGeom>
              <a:avLst/>
              <a:gdLst/>
              <a:ahLst/>
              <a:cxnLst/>
              <a:rect l="l" t="t" r="r" b="b"/>
              <a:pathLst>
                <a:path w="5286177" h="2254250">
                  <a:moveTo>
                    <a:pt x="0" y="0"/>
                  </a:moveTo>
                  <a:lnTo>
                    <a:pt x="5286177" y="0"/>
                  </a:lnTo>
                  <a:lnTo>
                    <a:pt x="5286177" y="2254250"/>
                  </a:lnTo>
                  <a:lnTo>
                    <a:pt x="0" y="2254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5286177" cy="2339975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Infrastructure automation tool that helps manage servers, configurations, and deployments at scale.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39528" y="8716719"/>
            <a:ext cx="16808946" cy="422672"/>
            <a:chOff x="0" y="0"/>
            <a:chExt cx="22411928" cy="56356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2411928" cy="563563"/>
            </a:xfrm>
            <a:custGeom>
              <a:avLst/>
              <a:gdLst/>
              <a:ahLst/>
              <a:cxnLst/>
              <a:rect l="l" t="t" r="r" b="b"/>
              <a:pathLst>
                <a:path w="22411928" h="563563">
                  <a:moveTo>
                    <a:pt x="0" y="0"/>
                  </a:moveTo>
                  <a:lnTo>
                    <a:pt x="22411928" y="0"/>
                  </a:lnTo>
                  <a:lnTo>
                    <a:pt x="22411928" y="563563"/>
                  </a:lnTo>
                  <a:lnTo>
                    <a:pt x="0" y="5635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0" y="-85725"/>
              <a:ext cx="22411928" cy="649288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marL="316707" lvl="1" indent="-158354" algn="l">
                <a:lnSpc>
                  <a:spcPts val="3392"/>
                </a:lnSpc>
                <a:buFont typeface="Arial"/>
                <a:buChar char="•"/>
              </a:pPr>
              <a:r>
                <a:rPr lang="en-US" sz="21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 encourage you all to refer to this </a:t>
              </a:r>
              <a:r>
                <a:rPr lang="en-US" sz="210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boto3</a:t>
              </a:r>
              <a:r>
                <a:rPr lang="en-US" sz="21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100" b="1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documentation</a:t>
              </a:r>
              <a:r>
                <a:rPr lang="en-US" sz="210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 </a:t>
              </a:r>
              <a:r>
                <a:rPr lang="en-US" sz="2100" u="sng">
                  <a:solidFill>
                    <a:srgbClr val="E04F00"/>
                  </a:solidFill>
                  <a:latin typeface="DM Sans"/>
                  <a:ea typeface="DM Sans"/>
                  <a:cs typeface="DM Sans"/>
                  <a:sym typeface="DM Sans"/>
                  <a:hlinkClick r:id="rId8" tooltip="https://boto3.amazonaws.com/v1/documentation/api/latest/index.html"/>
                </a:rPr>
                <a:t>https://boto3.amazonaws.com/v1/documentation/api/latest/index.html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5247963" y="9883957"/>
            <a:ext cx="3062594" cy="24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09315" y="447410"/>
            <a:ext cx="8992048" cy="903800"/>
            <a:chOff x="0" y="0"/>
            <a:chExt cx="11989397" cy="120506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989397" cy="1205066"/>
            </a:xfrm>
            <a:custGeom>
              <a:avLst/>
              <a:gdLst/>
              <a:ahLst/>
              <a:cxnLst/>
              <a:rect l="l" t="t" r="r" b="b"/>
              <a:pathLst>
                <a:path w="11989397" h="1205066">
                  <a:moveTo>
                    <a:pt x="0" y="0"/>
                  </a:moveTo>
                  <a:lnTo>
                    <a:pt x="11989397" y="0"/>
                  </a:lnTo>
                  <a:lnTo>
                    <a:pt x="11989397" y="1205066"/>
                  </a:lnTo>
                  <a:lnTo>
                    <a:pt x="0" y="12050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11989397" cy="12241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806"/>
                </a:lnSpc>
              </a:pPr>
              <a:r>
                <a:rPr lang="en-US" sz="468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Regular Expressions for DevOps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09315" y="1514441"/>
            <a:ext cx="16869370" cy="460508"/>
            <a:chOff x="0" y="0"/>
            <a:chExt cx="22492493" cy="61401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92494" cy="614010"/>
            </a:xfrm>
            <a:custGeom>
              <a:avLst/>
              <a:gdLst/>
              <a:ahLst/>
              <a:cxnLst/>
              <a:rect l="l" t="t" r="r" b="b"/>
              <a:pathLst>
                <a:path w="22492494" h="614010">
                  <a:moveTo>
                    <a:pt x="0" y="0"/>
                  </a:moveTo>
                  <a:lnTo>
                    <a:pt x="22492494" y="0"/>
                  </a:lnTo>
                  <a:lnTo>
                    <a:pt x="22492494" y="614010"/>
                  </a:lnTo>
                  <a:lnTo>
                    <a:pt x="0" y="614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104775"/>
              <a:ext cx="22492493" cy="71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26255" lvl="1" indent="-263127" algn="l">
                <a:lnSpc>
                  <a:spcPts val="4010"/>
                </a:lnSpc>
                <a:buFont typeface="Arial"/>
                <a:buChar char="•"/>
              </a:pP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Regular expressions (regex) are patterns used to match character combinations in strings.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9315" y="2155445"/>
            <a:ext cx="16869370" cy="460508"/>
            <a:chOff x="0" y="0"/>
            <a:chExt cx="22492493" cy="6140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2492494" cy="614010"/>
            </a:xfrm>
            <a:custGeom>
              <a:avLst/>
              <a:gdLst/>
              <a:ahLst/>
              <a:cxnLst/>
              <a:rect l="l" t="t" r="r" b="b"/>
              <a:pathLst>
                <a:path w="22492494" h="614010">
                  <a:moveTo>
                    <a:pt x="0" y="0"/>
                  </a:moveTo>
                  <a:lnTo>
                    <a:pt x="22492494" y="0"/>
                  </a:lnTo>
                  <a:lnTo>
                    <a:pt x="22492494" y="614010"/>
                  </a:lnTo>
                  <a:lnTo>
                    <a:pt x="0" y="614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22492493" cy="71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26255" lvl="1" indent="-263127" algn="l">
                <a:lnSpc>
                  <a:spcPts val="4010"/>
                </a:lnSpc>
                <a:buFont typeface="Arial"/>
                <a:buChar char="•"/>
              </a:pP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In Python, the re module is used for regex operations like search, match, and replace.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9315" y="3121967"/>
            <a:ext cx="456010" cy="456010"/>
            <a:chOff x="0" y="0"/>
            <a:chExt cx="608013" cy="60801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07949" cy="608076"/>
            </a:xfrm>
            <a:custGeom>
              <a:avLst/>
              <a:gdLst/>
              <a:ahLst/>
              <a:cxnLst/>
              <a:rect l="l" t="t" r="r" b="b"/>
              <a:pathLst>
                <a:path w="607949" h="608076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7436" y="0"/>
                  </a:lnTo>
                  <a:cubicBezTo>
                    <a:pt x="589788" y="0"/>
                    <a:pt x="607949" y="18161"/>
                    <a:pt x="607949" y="40513"/>
                  </a:cubicBezTo>
                  <a:lnTo>
                    <a:pt x="607949" y="567436"/>
                  </a:lnTo>
                  <a:cubicBezTo>
                    <a:pt x="607949" y="589788"/>
                    <a:pt x="589788" y="607949"/>
                    <a:pt x="567436" y="607949"/>
                  </a:cubicBezTo>
                  <a:lnTo>
                    <a:pt x="40513" y="607949"/>
                  </a:lnTo>
                  <a:cubicBezTo>
                    <a:pt x="18161" y="608076"/>
                    <a:pt x="0" y="589915"/>
                    <a:pt x="0" y="5674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852190" y="3046781"/>
            <a:ext cx="170110" cy="571499"/>
            <a:chOff x="0" y="0"/>
            <a:chExt cx="226813" cy="76199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6813" cy="761999"/>
            </a:xfrm>
            <a:custGeom>
              <a:avLst/>
              <a:gdLst/>
              <a:ahLst/>
              <a:cxnLst/>
              <a:rect l="l" t="t" r="r" b="b"/>
              <a:pathLst>
                <a:path w="226813" h="761999">
                  <a:moveTo>
                    <a:pt x="0" y="0"/>
                  </a:moveTo>
                  <a:lnTo>
                    <a:pt x="226813" y="0"/>
                  </a:lnTo>
                  <a:lnTo>
                    <a:pt x="226813" y="761999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66675"/>
              <a:ext cx="226813" cy="6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67879" y="3006478"/>
            <a:ext cx="3192066" cy="535940"/>
            <a:chOff x="0" y="0"/>
            <a:chExt cx="4256088" cy="71458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256088" cy="714587"/>
            </a:xfrm>
            <a:custGeom>
              <a:avLst/>
              <a:gdLst/>
              <a:ahLst/>
              <a:cxnLst/>
              <a:rect l="l" t="t" r="r" b="b"/>
              <a:pathLst>
                <a:path w="4256088" h="714587">
                  <a:moveTo>
                    <a:pt x="0" y="0"/>
                  </a:moveTo>
                  <a:lnTo>
                    <a:pt x="4256088" y="0"/>
                  </a:lnTo>
                  <a:lnTo>
                    <a:pt x="4256088" y="714587"/>
                  </a:lnTo>
                  <a:lnTo>
                    <a:pt x="0" y="714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256088" cy="714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799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Key Components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67879" y="3713868"/>
            <a:ext cx="7674917" cy="411236"/>
            <a:chOff x="0" y="0"/>
            <a:chExt cx="10233223" cy="5483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33223" cy="548314"/>
            </a:xfrm>
            <a:custGeom>
              <a:avLst/>
              <a:gdLst/>
              <a:ahLst/>
              <a:cxnLst/>
              <a:rect l="l" t="t" r="r" b="b"/>
              <a:pathLst>
                <a:path w="10233223" h="548314">
                  <a:moveTo>
                    <a:pt x="0" y="0"/>
                  </a:moveTo>
                  <a:lnTo>
                    <a:pt x="10233223" y="0"/>
                  </a:lnTo>
                  <a:lnTo>
                    <a:pt x="10233223" y="548314"/>
                  </a:lnTo>
                  <a:lnTo>
                    <a:pt x="0" y="54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85725"/>
              <a:ext cx="10233223" cy="634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Literals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match actual characters (a, 1, @).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67879" y="4329184"/>
            <a:ext cx="7674917" cy="411236"/>
            <a:chOff x="0" y="0"/>
            <a:chExt cx="10233223" cy="54831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233223" cy="548314"/>
            </a:xfrm>
            <a:custGeom>
              <a:avLst/>
              <a:gdLst/>
              <a:ahLst/>
              <a:cxnLst/>
              <a:rect l="l" t="t" r="r" b="b"/>
              <a:pathLst>
                <a:path w="10233223" h="548314">
                  <a:moveTo>
                    <a:pt x="0" y="0"/>
                  </a:moveTo>
                  <a:lnTo>
                    <a:pt x="10233223" y="0"/>
                  </a:lnTo>
                  <a:lnTo>
                    <a:pt x="10233223" y="548314"/>
                  </a:lnTo>
                  <a:lnTo>
                    <a:pt x="0" y="54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85725"/>
              <a:ext cx="10233223" cy="634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Meta-characters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like ^, $, *, + have special meanings. 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67879" y="5015799"/>
            <a:ext cx="7674917" cy="849386"/>
            <a:chOff x="0" y="0"/>
            <a:chExt cx="10233223" cy="11325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233223" cy="1132514"/>
            </a:xfrm>
            <a:custGeom>
              <a:avLst/>
              <a:gdLst/>
              <a:ahLst/>
              <a:cxnLst/>
              <a:rect l="l" t="t" r="r" b="b"/>
              <a:pathLst>
                <a:path w="10233223" h="1132514">
                  <a:moveTo>
                    <a:pt x="0" y="0"/>
                  </a:moveTo>
                  <a:lnTo>
                    <a:pt x="10233223" y="0"/>
                  </a:lnTo>
                  <a:lnTo>
                    <a:pt x="10233223" y="1132514"/>
                  </a:lnTo>
                  <a:lnTo>
                    <a:pt x="0" y="1132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85725"/>
              <a:ext cx="10233223" cy="121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Anchors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(^ and $) match the start and end of strings. Character classes: like [a-z] and \d match digits, etc.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67879" y="6027110"/>
            <a:ext cx="7674917" cy="849386"/>
            <a:chOff x="0" y="0"/>
            <a:chExt cx="10233223" cy="113251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233223" cy="1132514"/>
            </a:xfrm>
            <a:custGeom>
              <a:avLst/>
              <a:gdLst/>
              <a:ahLst/>
              <a:cxnLst/>
              <a:rect l="l" t="t" r="r" b="b"/>
              <a:pathLst>
                <a:path w="10233223" h="1132514">
                  <a:moveTo>
                    <a:pt x="0" y="0"/>
                  </a:moveTo>
                  <a:lnTo>
                    <a:pt x="10233223" y="0"/>
                  </a:lnTo>
                  <a:lnTo>
                    <a:pt x="10233223" y="1132514"/>
                  </a:lnTo>
                  <a:lnTo>
                    <a:pt x="0" y="1132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85725"/>
              <a:ext cx="10233223" cy="121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 u="sng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Groups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() to group parts of the regex and apply quantifiers.(like *, +, ?)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245352" y="3121967"/>
            <a:ext cx="456010" cy="456010"/>
            <a:chOff x="0" y="0"/>
            <a:chExt cx="608013" cy="60801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07949" cy="608076"/>
            </a:xfrm>
            <a:custGeom>
              <a:avLst/>
              <a:gdLst/>
              <a:ahLst/>
              <a:cxnLst/>
              <a:rect l="l" t="t" r="r" b="b"/>
              <a:pathLst>
                <a:path w="607949" h="608076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7436" y="0"/>
                  </a:lnTo>
                  <a:cubicBezTo>
                    <a:pt x="589788" y="0"/>
                    <a:pt x="607949" y="18161"/>
                    <a:pt x="607949" y="40513"/>
                  </a:cubicBezTo>
                  <a:lnTo>
                    <a:pt x="607949" y="567436"/>
                  </a:lnTo>
                  <a:cubicBezTo>
                    <a:pt x="607949" y="589788"/>
                    <a:pt x="589788" y="607949"/>
                    <a:pt x="567436" y="607949"/>
                  </a:cubicBezTo>
                  <a:lnTo>
                    <a:pt x="40513" y="607949"/>
                  </a:lnTo>
                  <a:cubicBezTo>
                    <a:pt x="18161" y="608076"/>
                    <a:pt x="0" y="589915"/>
                    <a:pt x="0" y="5674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388228" y="3064223"/>
            <a:ext cx="170110" cy="571499"/>
            <a:chOff x="0" y="0"/>
            <a:chExt cx="226813" cy="76199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26813" cy="761999"/>
            </a:xfrm>
            <a:custGeom>
              <a:avLst/>
              <a:gdLst/>
              <a:ahLst/>
              <a:cxnLst/>
              <a:rect l="l" t="t" r="r" b="b"/>
              <a:pathLst>
                <a:path w="226813" h="761999">
                  <a:moveTo>
                    <a:pt x="0" y="0"/>
                  </a:moveTo>
                  <a:lnTo>
                    <a:pt x="226813" y="0"/>
                  </a:lnTo>
                  <a:lnTo>
                    <a:pt x="226813" y="761999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66675"/>
              <a:ext cx="226813" cy="6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903916" y="3071069"/>
            <a:ext cx="5410920" cy="522922"/>
            <a:chOff x="0" y="0"/>
            <a:chExt cx="7214560" cy="6972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214560" cy="697230"/>
            </a:xfrm>
            <a:custGeom>
              <a:avLst/>
              <a:gdLst/>
              <a:ahLst/>
              <a:cxnLst/>
              <a:rect l="l" t="t" r="r" b="b"/>
              <a:pathLst>
                <a:path w="7214560" h="697230">
                  <a:moveTo>
                    <a:pt x="0" y="0"/>
                  </a:moveTo>
                  <a:lnTo>
                    <a:pt x="7214560" y="0"/>
                  </a:lnTo>
                  <a:lnTo>
                    <a:pt x="7214560" y="697230"/>
                  </a:lnTo>
                  <a:lnTo>
                    <a:pt x="0" y="69723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7214560" cy="7067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75"/>
                </a:lnSpc>
              </a:pPr>
              <a:r>
                <a:rPr lang="en-US" sz="2700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Phone Number Extraction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903916" y="3728294"/>
            <a:ext cx="7674917" cy="460508"/>
            <a:chOff x="0" y="0"/>
            <a:chExt cx="10233223" cy="61401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233223" cy="614010"/>
            </a:xfrm>
            <a:custGeom>
              <a:avLst/>
              <a:gdLst/>
              <a:ahLst/>
              <a:cxnLst/>
              <a:rect l="l" t="t" r="r" b="b"/>
              <a:pathLst>
                <a:path w="10233223" h="614010">
                  <a:moveTo>
                    <a:pt x="0" y="0"/>
                  </a:moveTo>
                  <a:lnTo>
                    <a:pt x="10233223" y="0"/>
                  </a:lnTo>
                  <a:lnTo>
                    <a:pt x="10233223" y="614010"/>
                  </a:lnTo>
                  <a:lnTo>
                    <a:pt x="0" y="614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104775"/>
              <a:ext cx="10233223" cy="71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10"/>
                </a:lnSpc>
              </a:pP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9846193114 —&gt; </a:t>
              </a:r>
              <a:r>
                <a:rPr lang="en-US" sz="243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^\d{10}$ 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903916" y="4274527"/>
            <a:ext cx="7674917" cy="849386"/>
            <a:chOff x="0" y="0"/>
            <a:chExt cx="10233223" cy="113251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233223" cy="1132514"/>
            </a:xfrm>
            <a:custGeom>
              <a:avLst/>
              <a:gdLst/>
              <a:ahLst/>
              <a:cxnLst/>
              <a:rect l="l" t="t" r="r" b="b"/>
              <a:pathLst>
                <a:path w="10233223" h="1132514">
                  <a:moveTo>
                    <a:pt x="0" y="0"/>
                  </a:moveTo>
                  <a:lnTo>
                    <a:pt x="10233223" y="0"/>
                  </a:lnTo>
                  <a:lnTo>
                    <a:pt x="10233223" y="1132514"/>
                  </a:lnTo>
                  <a:lnTo>
                    <a:pt x="0" y="1132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85725"/>
              <a:ext cx="10233223" cy="121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pattern will match any 10-digit phone number, which is the standard format for Indian mobile numbers.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903916" y="5476131"/>
            <a:ext cx="7674917" cy="460508"/>
            <a:chOff x="0" y="0"/>
            <a:chExt cx="10233223" cy="61401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233223" cy="614010"/>
            </a:xfrm>
            <a:custGeom>
              <a:avLst/>
              <a:gdLst/>
              <a:ahLst/>
              <a:cxnLst/>
              <a:rect l="l" t="t" r="r" b="b"/>
              <a:pathLst>
                <a:path w="10233223" h="614010">
                  <a:moveTo>
                    <a:pt x="0" y="0"/>
                  </a:moveTo>
                  <a:lnTo>
                    <a:pt x="10233223" y="0"/>
                  </a:lnTo>
                  <a:lnTo>
                    <a:pt x="10233223" y="614010"/>
                  </a:lnTo>
                  <a:lnTo>
                    <a:pt x="0" y="6140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104775"/>
              <a:ext cx="10233223" cy="718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10"/>
                </a:lnSpc>
              </a:pPr>
              <a:r>
                <a:rPr lang="en-US" sz="243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^\d{4}[-\s]?\d{3}[-\s]?\d{3}$</a:t>
              </a:r>
              <a:r>
                <a:rPr lang="en-US" sz="24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—&gt; 9846 193 114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903916" y="6022364"/>
            <a:ext cx="7674917" cy="849386"/>
            <a:chOff x="0" y="0"/>
            <a:chExt cx="10233223" cy="113251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0233223" cy="1132514"/>
            </a:xfrm>
            <a:custGeom>
              <a:avLst/>
              <a:gdLst/>
              <a:ahLst/>
              <a:cxnLst/>
              <a:rect l="l" t="t" r="r" b="b"/>
              <a:pathLst>
                <a:path w="10233223" h="1132514">
                  <a:moveTo>
                    <a:pt x="0" y="0"/>
                  </a:moveTo>
                  <a:lnTo>
                    <a:pt x="10233223" y="0"/>
                  </a:lnTo>
                  <a:lnTo>
                    <a:pt x="10233223" y="1132514"/>
                  </a:lnTo>
                  <a:lnTo>
                    <a:pt x="0" y="1132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0" y="-85725"/>
              <a:ext cx="10233223" cy="121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pattern allows phone numbers with optional spaces or dashes between the groups of digits.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09315" y="7396311"/>
            <a:ext cx="456010" cy="456010"/>
            <a:chOff x="0" y="0"/>
            <a:chExt cx="608013" cy="608013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07949" cy="608076"/>
            </a:xfrm>
            <a:custGeom>
              <a:avLst/>
              <a:gdLst/>
              <a:ahLst/>
              <a:cxnLst/>
              <a:rect l="l" t="t" r="r" b="b"/>
              <a:pathLst>
                <a:path w="607949" h="608076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7436" y="0"/>
                  </a:lnTo>
                  <a:cubicBezTo>
                    <a:pt x="589788" y="0"/>
                    <a:pt x="607949" y="18161"/>
                    <a:pt x="607949" y="40513"/>
                  </a:cubicBezTo>
                  <a:lnTo>
                    <a:pt x="607949" y="567436"/>
                  </a:lnTo>
                  <a:cubicBezTo>
                    <a:pt x="607949" y="589788"/>
                    <a:pt x="589788" y="607949"/>
                    <a:pt x="567436" y="607949"/>
                  </a:cubicBezTo>
                  <a:lnTo>
                    <a:pt x="40513" y="607949"/>
                  </a:lnTo>
                  <a:cubicBezTo>
                    <a:pt x="18161" y="608076"/>
                    <a:pt x="0" y="589915"/>
                    <a:pt x="0" y="5674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709315" y="7320787"/>
            <a:ext cx="380999" cy="571499"/>
            <a:chOff x="0" y="0"/>
            <a:chExt cx="507999" cy="761999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07999" cy="761999"/>
            </a:xfrm>
            <a:custGeom>
              <a:avLst/>
              <a:gdLst/>
              <a:ahLst/>
              <a:cxnLst/>
              <a:rect l="l" t="t" r="r" b="b"/>
              <a:pathLst>
                <a:path w="507999" h="761999">
                  <a:moveTo>
                    <a:pt x="0" y="0"/>
                  </a:moveTo>
                  <a:lnTo>
                    <a:pt x="507999" y="0"/>
                  </a:lnTo>
                  <a:lnTo>
                    <a:pt x="507999" y="761999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66675"/>
              <a:ext cx="507999" cy="6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67879" y="7338566"/>
            <a:ext cx="3192066" cy="535940"/>
            <a:chOff x="0" y="0"/>
            <a:chExt cx="4256088" cy="714587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256088" cy="714587"/>
            </a:xfrm>
            <a:custGeom>
              <a:avLst/>
              <a:gdLst/>
              <a:ahLst/>
              <a:cxnLst/>
              <a:rect l="l" t="t" r="r" b="b"/>
              <a:pathLst>
                <a:path w="4256088" h="714587">
                  <a:moveTo>
                    <a:pt x="0" y="0"/>
                  </a:moveTo>
                  <a:lnTo>
                    <a:pt x="4256088" y="0"/>
                  </a:lnTo>
                  <a:lnTo>
                    <a:pt x="4256088" y="714587"/>
                  </a:lnTo>
                  <a:lnTo>
                    <a:pt x="0" y="714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4256088" cy="714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799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Email Extraction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67879" y="7916912"/>
            <a:ext cx="7674917" cy="929051"/>
            <a:chOff x="0" y="0"/>
            <a:chExt cx="10233223" cy="123873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233223" cy="1238735"/>
            </a:xfrm>
            <a:custGeom>
              <a:avLst/>
              <a:gdLst/>
              <a:ahLst/>
              <a:cxnLst/>
              <a:rect l="l" t="t" r="r" b="b"/>
              <a:pathLst>
                <a:path w="10233223" h="1238735">
                  <a:moveTo>
                    <a:pt x="0" y="0"/>
                  </a:moveTo>
                  <a:lnTo>
                    <a:pt x="10233223" y="0"/>
                  </a:lnTo>
                  <a:lnTo>
                    <a:pt x="10233223" y="1238735"/>
                  </a:lnTo>
                  <a:lnTo>
                    <a:pt x="0" y="12387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0"/>
              <a:ext cx="10233223" cy="1333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5"/>
                </a:lnSpc>
              </a:pPr>
              <a:r>
                <a:rPr lang="en-US" sz="23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2337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r'[a-zA-Z0-9._%+-]+@[a-zA-Z0-9.-]+\.[a-zA-Z]{2,}'</a:t>
              </a:r>
              <a:r>
                <a:rPr lang="en-US" sz="233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 —&gt; sample.mail.id@gmail.com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367879" y="9017413"/>
            <a:ext cx="7674917" cy="411236"/>
            <a:chOff x="0" y="0"/>
            <a:chExt cx="10233223" cy="54831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0233223" cy="548314"/>
            </a:xfrm>
            <a:custGeom>
              <a:avLst/>
              <a:gdLst/>
              <a:ahLst/>
              <a:cxnLst/>
              <a:rect l="l" t="t" r="r" b="b"/>
              <a:pathLst>
                <a:path w="10233223" h="548314">
                  <a:moveTo>
                    <a:pt x="0" y="0"/>
                  </a:moveTo>
                  <a:lnTo>
                    <a:pt x="10233223" y="0"/>
                  </a:lnTo>
                  <a:lnTo>
                    <a:pt x="10233223" y="548314"/>
                  </a:lnTo>
                  <a:lnTo>
                    <a:pt x="0" y="54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8" name="TextBox 68"/>
            <p:cNvSpPr txBox="1"/>
            <p:nvPr/>
          </p:nvSpPr>
          <p:spPr>
            <a:xfrm>
              <a:off x="0" y="-85725"/>
              <a:ext cx="10233223" cy="634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This pattern extracts email addresses from text. 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367879" y="9460772"/>
            <a:ext cx="7674917" cy="411236"/>
            <a:chOff x="0" y="0"/>
            <a:chExt cx="10233223" cy="548314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0233223" cy="548314"/>
            </a:xfrm>
            <a:custGeom>
              <a:avLst/>
              <a:gdLst/>
              <a:ahLst/>
              <a:cxnLst/>
              <a:rect l="l" t="t" r="r" b="b"/>
              <a:pathLst>
                <a:path w="10233223" h="548314">
                  <a:moveTo>
                    <a:pt x="0" y="0"/>
                  </a:moveTo>
                  <a:lnTo>
                    <a:pt x="10233223" y="0"/>
                  </a:lnTo>
                  <a:lnTo>
                    <a:pt x="10233223" y="548314"/>
                  </a:lnTo>
                  <a:lnTo>
                    <a:pt x="0" y="5483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-85725"/>
              <a:ext cx="10233223" cy="6340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With re.findall(), you can quickly identify all emails in logs.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245352" y="7396311"/>
            <a:ext cx="456010" cy="456010"/>
            <a:chOff x="0" y="0"/>
            <a:chExt cx="608013" cy="60801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607949" cy="608076"/>
            </a:xfrm>
            <a:custGeom>
              <a:avLst/>
              <a:gdLst/>
              <a:ahLst/>
              <a:cxnLst/>
              <a:rect l="l" t="t" r="r" b="b"/>
              <a:pathLst>
                <a:path w="607949" h="608076">
                  <a:moveTo>
                    <a:pt x="0" y="40513"/>
                  </a:moveTo>
                  <a:cubicBezTo>
                    <a:pt x="0" y="18161"/>
                    <a:pt x="18161" y="0"/>
                    <a:pt x="40513" y="0"/>
                  </a:cubicBezTo>
                  <a:lnTo>
                    <a:pt x="567436" y="0"/>
                  </a:lnTo>
                  <a:cubicBezTo>
                    <a:pt x="589788" y="0"/>
                    <a:pt x="607949" y="18161"/>
                    <a:pt x="607949" y="40513"/>
                  </a:cubicBezTo>
                  <a:lnTo>
                    <a:pt x="607949" y="567436"/>
                  </a:lnTo>
                  <a:cubicBezTo>
                    <a:pt x="607949" y="589788"/>
                    <a:pt x="589788" y="607949"/>
                    <a:pt x="567436" y="607949"/>
                  </a:cubicBezTo>
                  <a:lnTo>
                    <a:pt x="40513" y="607949"/>
                  </a:lnTo>
                  <a:cubicBezTo>
                    <a:pt x="18161" y="608076"/>
                    <a:pt x="0" y="589915"/>
                    <a:pt x="0" y="5674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74" name="Group 74"/>
          <p:cNvGrpSpPr/>
          <p:nvPr/>
        </p:nvGrpSpPr>
        <p:grpSpPr>
          <a:xfrm>
            <a:off x="9388228" y="7345413"/>
            <a:ext cx="170110" cy="571499"/>
            <a:chOff x="0" y="0"/>
            <a:chExt cx="226813" cy="761999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26813" cy="761999"/>
            </a:xfrm>
            <a:custGeom>
              <a:avLst/>
              <a:gdLst/>
              <a:ahLst/>
              <a:cxnLst/>
              <a:rect l="l" t="t" r="r" b="b"/>
              <a:pathLst>
                <a:path w="226813" h="761999">
                  <a:moveTo>
                    <a:pt x="0" y="0"/>
                  </a:moveTo>
                  <a:lnTo>
                    <a:pt x="226813" y="0"/>
                  </a:lnTo>
                  <a:lnTo>
                    <a:pt x="226813" y="761999"/>
                  </a:lnTo>
                  <a:lnTo>
                    <a:pt x="0" y="76199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6" name="TextBox 76"/>
            <p:cNvSpPr txBox="1"/>
            <p:nvPr/>
          </p:nvSpPr>
          <p:spPr>
            <a:xfrm>
              <a:off x="0" y="66675"/>
              <a:ext cx="226813" cy="6953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99"/>
                </a:lnSpc>
              </a:pPr>
              <a:r>
                <a:rPr lang="en-US" sz="2999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044262" y="7345413"/>
            <a:ext cx="4431124" cy="535940"/>
            <a:chOff x="0" y="0"/>
            <a:chExt cx="5908166" cy="714587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908166" cy="714587"/>
            </a:xfrm>
            <a:custGeom>
              <a:avLst/>
              <a:gdLst/>
              <a:ahLst/>
              <a:cxnLst/>
              <a:rect l="l" t="t" r="r" b="b"/>
              <a:pathLst>
                <a:path w="5908166" h="714587">
                  <a:moveTo>
                    <a:pt x="0" y="0"/>
                  </a:moveTo>
                  <a:lnTo>
                    <a:pt x="5908166" y="0"/>
                  </a:lnTo>
                  <a:lnTo>
                    <a:pt x="5908166" y="714587"/>
                  </a:lnTo>
                  <a:lnTo>
                    <a:pt x="0" y="7145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5908166" cy="714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99"/>
                </a:lnSpc>
              </a:pPr>
              <a:r>
                <a:rPr lang="en-US" sz="2799" b="1">
                  <a:solidFill>
                    <a:srgbClr val="383838"/>
                  </a:solidFill>
                  <a:latin typeface="PT Serif Bold"/>
                  <a:ea typeface="PT Serif Bold"/>
                  <a:cs typeface="PT Serif Bold"/>
                  <a:sym typeface="PT Serif Bold"/>
                </a:rPr>
                <a:t>Log Parsing Example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9903768" y="8025921"/>
            <a:ext cx="7674917" cy="849386"/>
            <a:chOff x="0" y="0"/>
            <a:chExt cx="10233223" cy="113251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0233223" cy="1132514"/>
            </a:xfrm>
            <a:custGeom>
              <a:avLst/>
              <a:gdLst/>
              <a:ahLst/>
              <a:cxnLst/>
              <a:rect l="l" t="t" r="r" b="b"/>
              <a:pathLst>
                <a:path w="10233223" h="1132514">
                  <a:moveTo>
                    <a:pt x="0" y="0"/>
                  </a:moveTo>
                  <a:lnTo>
                    <a:pt x="10233223" y="0"/>
                  </a:lnTo>
                  <a:lnTo>
                    <a:pt x="10233223" y="1132514"/>
                  </a:lnTo>
                  <a:lnTo>
                    <a:pt x="0" y="1132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85725"/>
              <a:ext cx="10233223" cy="121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 regex patterns like </a:t>
              </a:r>
              <a:r>
                <a:rPr lang="en-US" sz="2162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r'(error|warning)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' with re.findall() to extract error messages from log files. 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9903916" y="9017413"/>
            <a:ext cx="7674917" cy="849386"/>
            <a:chOff x="0" y="0"/>
            <a:chExt cx="10233223" cy="113251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0233223" cy="1132514"/>
            </a:xfrm>
            <a:custGeom>
              <a:avLst/>
              <a:gdLst/>
              <a:ahLst/>
              <a:cxnLst/>
              <a:rect l="l" t="t" r="r" b="b"/>
              <a:pathLst>
                <a:path w="10233223" h="1132514">
                  <a:moveTo>
                    <a:pt x="0" y="0"/>
                  </a:moveTo>
                  <a:lnTo>
                    <a:pt x="10233223" y="0"/>
                  </a:lnTo>
                  <a:lnTo>
                    <a:pt x="10233223" y="1132514"/>
                  </a:lnTo>
                  <a:lnTo>
                    <a:pt x="0" y="11325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5" name="TextBox 85"/>
            <p:cNvSpPr txBox="1"/>
            <p:nvPr/>
          </p:nvSpPr>
          <p:spPr>
            <a:xfrm>
              <a:off x="0" y="-85725"/>
              <a:ext cx="10233223" cy="12182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26131" lvl="1" indent="-163065" algn="l">
                <a:lnSpc>
                  <a:spcPts val="3459"/>
                </a:lnSpc>
                <a:buFont typeface="Arial"/>
                <a:buChar char="•"/>
              </a:pP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The </a:t>
              </a:r>
              <a:r>
                <a:rPr lang="en-US" sz="2162" b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re.IGNORECASE</a:t>
              </a:r>
              <a:r>
                <a:rPr lang="en-US" sz="21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flag makes matching case-insensitive.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5388245" y="9866799"/>
            <a:ext cx="3062594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929134"/>
            <a:ext cx="9024937" cy="930325"/>
            <a:chOff x="0" y="0"/>
            <a:chExt cx="12033250" cy="12404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33250" cy="1240433"/>
            </a:xfrm>
            <a:custGeom>
              <a:avLst/>
              <a:gdLst/>
              <a:ahLst/>
              <a:cxnLst/>
              <a:rect l="l" t="t" r="r" b="b"/>
              <a:pathLst>
                <a:path w="12033250" h="1240433">
                  <a:moveTo>
                    <a:pt x="0" y="0"/>
                  </a:moveTo>
                  <a:lnTo>
                    <a:pt x="12033250" y="0"/>
                  </a:lnTo>
                  <a:lnTo>
                    <a:pt x="12033250" y="1240433"/>
                  </a:lnTo>
                  <a:lnTo>
                    <a:pt x="0" y="12404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033250" cy="12785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312"/>
                </a:lnSpc>
              </a:pPr>
              <a:r>
                <a:rPr lang="en-US" sz="5812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Hands-on Activity on regex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92237" y="2094560"/>
            <a:ext cx="16303526" cy="809317"/>
            <a:chOff x="-1" y="-323241"/>
            <a:chExt cx="21738035" cy="107908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738034" cy="755848"/>
            </a:xfrm>
            <a:custGeom>
              <a:avLst/>
              <a:gdLst/>
              <a:ahLst/>
              <a:cxnLst/>
              <a:rect l="l" t="t" r="r" b="b"/>
              <a:pathLst>
                <a:path w="21738034" h="755848">
                  <a:moveTo>
                    <a:pt x="0" y="0"/>
                  </a:moveTo>
                  <a:lnTo>
                    <a:pt x="21738034" y="0"/>
                  </a:lnTo>
                  <a:lnTo>
                    <a:pt x="21738034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-1" y="-323241"/>
              <a:ext cx="21738035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437"/>
                </a:lnSpc>
              </a:pPr>
              <a:r>
                <a:rPr lang="en-US" sz="2750" b="1" dirty="0">
                  <a:solidFill>
                    <a:srgbClr val="38383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</a:t>
              </a:r>
              <a:r>
                <a:rPr lang="en-US" sz="2750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: Write a script to extract email addresses from a log file using regex.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92238" y="4069736"/>
            <a:ext cx="7805886" cy="566886"/>
            <a:chOff x="0" y="0"/>
            <a:chExt cx="10407848" cy="7558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10407848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 the appropriate module.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2238" y="4843791"/>
            <a:ext cx="7039034" cy="1133772"/>
            <a:chOff x="0" y="0"/>
            <a:chExt cx="9385378" cy="151169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85378" cy="1511697"/>
            </a:xfrm>
            <a:custGeom>
              <a:avLst/>
              <a:gdLst/>
              <a:ahLst/>
              <a:cxnLst/>
              <a:rect l="l" t="t" r="r" b="b"/>
              <a:pathLst>
                <a:path w="9385378" h="1511697">
                  <a:moveTo>
                    <a:pt x="0" y="0"/>
                  </a:moveTo>
                  <a:lnTo>
                    <a:pt x="9385378" y="0"/>
                  </a:lnTo>
                  <a:lnTo>
                    <a:pt x="938537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04775"/>
              <a:ext cx="9385378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Define a function with regex pattern for your task.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2238" y="6184732"/>
            <a:ext cx="7039034" cy="1133772"/>
            <a:chOff x="0" y="0"/>
            <a:chExt cx="9385378" cy="15116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385378" cy="1511697"/>
            </a:xfrm>
            <a:custGeom>
              <a:avLst/>
              <a:gdLst/>
              <a:ahLst/>
              <a:cxnLst/>
              <a:rect l="l" t="t" r="r" b="b"/>
              <a:pathLst>
                <a:path w="9385378" h="1511697">
                  <a:moveTo>
                    <a:pt x="0" y="0"/>
                  </a:moveTo>
                  <a:lnTo>
                    <a:pt x="9385378" y="0"/>
                  </a:lnTo>
                  <a:lnTo>
                    <a:pt x="9385378" y="1511697"/>
                  </a:lnTo>
                  <a:lnTo>
                    <a:pt x="0" y="15116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104775"/>
              <a:ext cx="9385378" cy="16164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4987" lvl="1" indent="-187494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Call the function by passing in the file along with its path.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2238" y="7456617"/>
            <a:ext cx="7805886" cy="566886"/>
            <a:chOff x="0" y="0"/>
            <a:chExt cx="10407848" cy="7558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07848" cy="755848"/>
            </a:xfrm>
            <a:custGeom>
              <a:avLst/>
              <a:gdLst/>
              <a:ahLst/>
              <a:cxnLst/>
              <a:rect l="l" t="t" r="r" b="b"/>
              <a:pathLst>
                <a:path w="10407848" h="755848">
                  <a:moveTo>
                    <a:pt x="0" y="0"/>
                  </a:moveTo>
                  <a:lnTo>
                    <a:pt x="10407848" y="0"/>
                  </a:lnTo>
                  <a:lnTo>
                    <a:pt x="10407848" y="755848"/>
                  </a:lnTo>
                  <a:lnTo>
                    <a:pt x="0" y="75584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104775"/>
              <a:ext cx="10407848" cy="86062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75145" lvl="1" indent="-187573" algn="l">
                <a:lnSpc>
                  <a:spcPts val="4051"/>
                </a:lnSpc>
                <a:buFont typeface="Arial"/>
                <a:buChar char="•"/>
              </a:pPr>
              <a:r>
                <a:rPr lang="en-US" sz="2487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Print the result.</a:t>
              </a:r>
            </a:p>
          </p:txBody>
        </p:sp>
      </p:grpSp>
      <p:sp>
        <p:nvSpPr>
          <p:cNvPr id="24" name="Freeform 24" descr="preencoded.png"/>
          <p:cNvSpPr/>
          <p:nvPr/>
        </p:nvSpPr>
        <p:spPr>
          <a:xfrm>
            <a:off x="8031271" y="3381410"/>
            <a:ext cx="9860839" cy="5805146"/>
          </a:xfrm>
          <a:custGeom>
            <a:avLst/>
            <a:gdLst/>
            <a:ahLst/>
            <a:cxnLst/>
            <a:rect l="l" t="t" r="r" b="b"/>
            <a:pathLst>
              <a:path w="9860839" h="5805146">
                <a:moveTo>
                  <a:pt x="0" y="0"/>
                </a:moveTo>
                <a:lnTo>
                  <a:pt x="9860839" y="0"/>
                </a:lnTo>
                <a:lnTo>
                  <a:pt x="9860839" y="5805146"/>
                </a:lnTo>
                <a:lnTo>
                  <a:pt x="0" y="5805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6" r="-1573"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5203635" y="9867900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 dirty="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3429035"/>
            <a:ext cx="1012106" cy="36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0"/>
              </a:lnSpc>
              <a:spcBef>
                <a:spcPct val="0"/>
              </a:spcBef>
            </a:pPr>
            <a:r>
              <a:rPr lang="en-US" sz="2750" b="1">
                <a:solidFill>
                  <a:srgbClr val="000000"/>
                </a:solidFill>
                <a:latin typeface="PT Serif Bold"/>
                <a:ea typeface="PT Serif Bold"/>
                <a:cs typeface="PT Serif Bold"/>
                <a:sym typeface="PT Serif Bold"/>
              </a:rPr>
              <a:t>Steps: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23032" y="635372"/>
            <a:ext cx="12792967" cy="1045170"/>
            <a:chOff x="0" y="0"/>
            <a:chExt cx="17057290" cy="13935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57291" cy="1393560"/>
            </a:xfrm>
            <a:custGeom>
              <a:avLst/>
              <a:gdLst/>
              <a:ahLst/>
              <a:cxnLst/>
              <a:rect l="l" t="t" r="r" b="b"/>
              <a:pathLst>
                <a:path w="17057291" h="1393560">
                  <a:moveTo>
                    <a:pt x="0" y="0"/>
                  </a:moveTo>
                  <a:lnTo>
                    <a:pt x="17057291" y="0"/>
                  </a:lnTo>
                  <a:lnTo>
                    <a:pt x="17057291" y="1393560"/>
                  </a:lnTo>
                  <a:lnTo>
                    <a:pt x="0" y="139356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7057290" cy="14221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812"/>
                </a:lnSpc>
              </a:pPr>
              <a:r>
                <a:rPr lang="en-US" sz="5437">
                  <a:solidFill>
                    <a:srgbClr val="020202"/>
                  </a:solidFill>
                  <a:latin typeface="PT Serif"/>
                  <a:ea typeface="PT Serif"/>
                  <a:cs typeface="PT Serif"/>
                  <a:sym typeface="PT Serif"/>
                </a:rPr>
                <a:t>Practical Exercise: TaskManager Class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3032" y="1810491"/>
            <a:ext cx="16441936" cy="835078"/>
            <a:chOff x="0" y="-410175"/>
            <a:chExt cx="21922582" cy="11134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10175"/>
              <a:ext cx="21922582" cy="8080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Let's analyze an all-in-one python code that involves OOP, regex and libraries concept.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23031" y="2863603"/>
            <a:ext cx="16441936" cy="606028"/>
            <a:chOff x="-1" y="-104775"/>
            <a:chExt cx="21922582" cy="8080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-1" y="-104775"/>
              <a:ext cx="21922582" cy="8080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25"/>
                </a:lnSpc>
              </a:pPr>
              <a:r>
                <a:rPr lang="en-US" sz="2562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Create a </a:t>
              </a:r>
              <a:r>
                <a:rPr lang="en-US" sz="2562" b="1" dirty="0" err="1">
                  <a:solidFill>
                    <a:srgbClr val="1F7135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TaskManager</a:t>
              </a:r>
              <a:r>
                <a:rPr lang="en-US" sz="2562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 class that: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23031" y="3538193"/>
            <a:ext cx="16441937" cy="755499"/>
            <a:chOff x="-1" y="-304069"/>
            <a:chExt cx="21922583" cy="1007332"/>
          </a:xfrm>
        </p:grpSpPr>
        <p:sp>
          <p:nvSpPr>
            <p:cNvPr id="16" name="Freeform 16"/>
            <p:cNvSpPr/>
            <p:nvPr/>
          </p:nvSpPr>
          <p:spPr>
            <a:xfrm>
              <a:off x="-1" y="-304069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21922582" cy="788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3" lvl="1" indent="-170606" algn="l">
                <a:lnSpc>
                  <a:spcPts val="3633"/>
                </a:lnSpc>
                <a:buFont typeface="Arial"/>
                <a:buChar char="•"/>
              </a:pPr>
              <a:r>
                <a:rPr lang="en-US" sz="2262" dirty="0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Executes system commands.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23032" y="4385965"/>
            <a:ext cx="16441936" cy="527447"/>
            <a:chOff x="0" y="0"/>
            <a:chExt cx="21922582" cy="70326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85725"/>
              <a:ext cx="21922582" cy="788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3" lvl="1" indent="-170606" algn="l">
                <a:lnSpc>
                  <a:spcPts val="3633"/>
                </a:lnSpc>
                <a:buFont typeface="Arial"/>
                <a:buChar char="•"/>
              </a:pPr>
              <a:r>
                <a:rPr lang="en-US" sz="22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Logs the output.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23032" y="5005685"/>
            <a:ext cx="16441936" cy="527447"/>
            <a:chOff x="0" y="0"/>
            <a:chExt cx="21922582" cy="70326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22581" cy="703263"/>
            </a:xfrm>
            <a:custGeom>
              <a:avLst/>
              <a:gdLst/>
              <a:ahLst/>
              <a:cxnLst/>
              <a:rect l="l" t="t" r="r" b="b"/>
              <a:pathLst>
                <a:path w="21922581" h="703263">
                  <a:moveTo>
                    <a:pt x="0" y="0"/>
                  </a:moveTo>
                  <a:lnTo>
                    <a:pt x="21922581" y="0"/>
                  </a:lnTo>
                  <a:lnTo>
                    <a:pt x="21922581" y="703263"/>
                  </a:lnTo>
                  <a:lnTo>
                    <a:pt x="0" y="7032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21922582" cy="7889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341213" lvl="1" indent="-170606" algn="l">
                <a:lnSpc>
                  <a:spcPts val="3633"/>
                </a:lnSpc>
                <a:buFont typeface="Arial"/>
                <a:buChar char="•"/>
              </a:pPr>
              <a:r>
                <a:rPr lang="en-US" sz="22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Uses regex to parse logs for specific patterns like errors or warnings.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3032" y="6225331"/>
            <a:ext cx="16441936" cy="28575"/>
            <a:chOff x="0" y="0"/>
            <a:chExt cx="21922582" cy="381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22612" cy="38100"/>
            </a:xfrm>
            <a:custGeom>
              <a:avLst/>
              <a:gdLst/>
              <a:ahLst/>
              <a:cxnLst/>
              <a:rect l="l" t="t" r="r" b="b"/>
              <a:pathLst>
                <a:path w="21922612" h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21903562" y="0"/>
                  </a:lnTo>
                  <a:cubicBezTo>
                    <a:pt x="21914103" y="0"/>
                    <a:pt x="21922612" y="8509"/>
                    <a:pt x="21922612" y="19050"/>
                  </a:cubicBezTo>
                  <a:cubicBezTo>
                    <a:pt x="21922612" y="29591"/>
                    <a:pt x="21914103" y="38100"/>
                    <a:pt x="21903562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2864941" y="6225257"/>
            <a:ext cx="28575" cy="923033"/>
            <a:chOff x="0" y="0"/>
            <a:chExt cx="38100" cy="123071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8100" cy="1230757"/>
            </a:xfrm>
            <a:custGeom>
              <a:avLst/>
              <a:gdLst/>
              <a:ahLst/>
              <a:cxnLst/>
              <a:rect l="l" t="t" r="r" b="b"/>
              <a:pathLst>
                <a:path w="38100" h="12307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1707"/>
                  </a:lnTo>
                  <a:cubicBezTo>
                    <a:pt x="38100" y="1222248"/>
                    <a:pt x="29591" y="1230757"/>
                    <a:pt x="19050" y="1230757"/>
                  </a:cubicBezTo>
                  <a:cubicBezTo>
                    <a:pt x="8509" y="1230757"/>
                    <a:pt x="0" y="1222121"/>
                    <a:pt x="0" y="12117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2582615" y="5928642"/>
            <a:ext cx="593377" cy="593377"/>
            <a:chOff x="0" y="0"/>
            <a:chExt cx="791170" cy="79117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1083" cy="791210"/>
            </a:xfrm>
            <a:custGeom>
              <a:avLst/>
              <a:gdLst/>
              <a:ahLst/>
              <a:cxnLst/>
              <a:rect l="l" t="t" r="r" b="b"/>
              <a:pathLst>
                <a:path w="791083" h="791210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8378" y="0"/>
                  </a:lnTo>
                  <a:cubicBezTo>
                    <a:pt x="767461" y="0"/>
                    <a:pt x="791083" y="23622"/>
                    <a:pt x="791083" y="52705"/>
                  </a:cubicBezTo>
                  <a:lnTo>
                    <a:pt x="791083" y="738378"/>
                  </a:lnTo>
                  <a:cubicBezTo>
                    <a:pt x="791083" y="767461"/>
                    <a:pt x="767461" y="791083"/>
                    <a:pt x="738378" y="791083"/>
                  </a:cubicBezTo>
                  <a:lnTo>
                    <a:pt x="52705" y="791083"/>
                  </a:lnTo>
                  <a:cubicBezTo>
                    <a:pt x="23622" y="791210"/>
                    <a:pt x="0" y="767588"/>
                    <a:pt x="0" y="73837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2768501" y="6017642"/>
            <a:ext cx="221456" cy="415379"/>
            <a:chOff x="0" y="0"/>
            <a:chExt cx="295275" cy="55383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95275" cy="553838"/>
            </a:xfrm>
            <a:custGeom>
              <a:avLst/>
              <a:gdLst/>
              <a:ahLst/>
              <a:cxnLst/>
              <a:rect l="l" t="t" r="r" b="b"/>
              <a:pathLst>
                <a:path w="295275" h="553838">
                  <a:moveTo>
                    <a:pt x="0" y="0"/>
                  </a:moveTo>
                  <a:lnTo>
                    <a:pt x="295275" y="0"/>
                  </a:lnTo>
                  <a:lnTo>
                    <a:pt x="295275" y="553838"/>
                  </a:lnTo>
                  <a:lnTo>
                    <a:pt x="0" y="553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57150"/>
              <a:ext cx="295275" cy="496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1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86755" y="7412088"/>
            <a:ext cx="3385245" cy="432644"/>
            <a:chOff x="0" y="0"/>
            <a:chExt cx="4513660" cy="57685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13660" cy="576858"/>
            </a:xfrm>
            <a:custGeom>
              <a:avLst/>
              <a:gdLst/>
              <a:ahLst/>
              <a:cxnLst/>
              <a:rect l="l" t="t" r="r" b="b"/>
              <a:pathLst>
                <a:path w="4513660" h="576858">
                  <a:moveTo>
                    <a:pt x="0" y="0"/>
                  </a:moveTo>
                  <a:lnTo>
                    <a:pt x="4513660" y="0"/>
                  </a:lnTo>
                  <a:lnTo>
                    <a:pt x="4513660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513660" cy="595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Execute Commands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86755" y="8002935"/>
            <a:ext cx="3385245" cy="843855"/>
            <a:chOff x="0" y="0"/>
            <a:chExt cx="4513660" cy="11251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513660" cy="1125140"/>
            </a:xfrm>
            <a:custGeom>
              <a:avLst/>
              <a:gdLst/>
              <a:ahLst/>
              <a:cxnLst/>
              <a:rect l="l" t="t" r="r" b="b"/>
              <a:pathLst>
                <a:path w="4513660" h="1125140">
                  <a:moveTo>
                    <a:pt x="0" y="0"/>
                  </a:moveTo>
                  <a:lnTo>
                    <a:pt x="4513660" y="0"/>
                  </a:lnTo>
                  <a:lnTo>
                    <a:pt x="4513660" y="1125140"/>
                  </a:lnTo>
                  <a:lnTo>
                    <a:pt x="0" y="1125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85725"/>
              <a:ext cx="4513660" cy="1210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Run system commands with subprocess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41356" y="6225257"/>
            <a:ext cx="28575" cy="923033"/>
            <a:chOff x="0" y="0"/>
            <a:chExt cx="38100" cy="123071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8100" cy="1230757"/>
            </a:xfrm>
            <a:custGeom>
              <a:avLst/>
              <a:gdLst/>
              <a:ahLst/>
              <a:cxnLst/>
              <a:rect l="l" t="t" r="r" b="b"/>
              <a:pathLst>
                <a:path w="38100" h="12307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1707"/>
                  </a:lnTo>
                  <a:cubicBezTo>
                    <a:pt x="38100" y="1222248"/>
                    <a:pt x="29591" y="1230757"/>
                    <a:pt x="19050" y="1230757"/>
                  </a:cubicBezTo>
                  <a:cubicBezTo>
                    <a:pt x="8509" y="1230757"/>
                    <a:pt x="0" y="1222121"/>
                    <a:pt x="0" y="12117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6759029" y="5928642"/>
            <a:ext cx="593377" cy="593377"/>
            <a:chOff x="0" y="0"/>
            <a:chExt cx="791170" cy="79117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91083" cy="791210"/>
            </a:xfrm>
            <a:custGeom>
              <a:avLst/>
              <a:gdLst/>
              <a:ahLst/>
              <a:cxnLst/>
              <a:rect l="l" t="t" r="r" b="b"/>
              <a:pathLst>
                <a:path w="791083" h="791210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8378" y="0"/>
                  </a:lnTo>
                  <a:cubicBezTo>
                    <a:pt x="767461" y="0"/>
                    <a:pt x="791083" y="23622"/>
                    <a:pt x="791083" y="52705"/>
                  </a:cubicBezTo>
                  <a:lnTo>
                    <a:pt x="791083" y="738378"/>
                  </a:lnTo>
                  <a:cubicBezTo>
                    <a:pt x="791083" y="767461"/>
                    <a:pt x="767461" y="791083"/>
                    <a:pt x="738378" y="791083"/>
                  </a:cubicBezTo>
                  <a:lnTo>
                    <a:pt x="52705" y="791083"/>
                  </a:lnTo>
                  <a:cubicBezTo>
                    <a:pt x="23622" y="791210"/>
                    <a:pt x="0" y="767588"/>
                    <a:pt x="0" y="73837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6944915" y="6017642"/>
            <a:ext cx="221456" cy="415379"/>
            <a:chOff x="0" y="0"/>
            <a:chExt cx="295275" cy="55383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95275" cy="553838"/>
            </a:xfrm>
            <a:custGeom>
              <a:avLst/>
              <a:gdLst/>
              <a:ahLst/>
              <a:cxnLst/>
              <a:rect l="l" t="t" r="r" b="b"/>
              <a:pathLst>
                <a:path w="295275" h="553838">
                  <a:moveTo>
                    <a:pt x="0" y="0"/>
                  </a:moveTo>
                  <a:lnTo>
                    <a:pt x="295275" y="0"/>
                  </a:lnTo>
                  <a:lnTo>
                    <a:pt x="295275" y="553838"/>
                  </a:lnTo>
                  <a:lnTo>
                    <a:pt x="0" y="553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57150"/>
              <a:ext cx="295275" cy="496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2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363170" y="7412088"/>
            <a:ext cx="3385245" cy="432644"/>
            <a:chOff x="0" y="0"/>
            <a:chExt cx="4513660" cy="57685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513660" cy="576858"/>
            </a:xfrm>
            <a:custGeom>
              <a:avLst/>
              <a:gdLst/>
              <a:ahLst/>
              <a:cxnLst/>
              <a:rect l="l" t="t" r="r" b="b"/>
              <a:pathLst>
                <a:path w="4513660" h="576858">
                  <a:moveTo>
                    <a:pt x="0" y="0"/>
                  </a:moveTo>
                  <a:lnTo>
                    <a:pt x="4513660" y="0"/>
                  </a:lnTo>
                  <a:lnTo>
                    <a:pt x="4513660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4513660" cy="595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Log Outputs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63170" y="8002935"/>
            <a:ext cx="3385245" cy="843855"/>
            <a:chOff x="0" y="0"/>
            <a:chExt cx="4513660" cy="11251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513660" cy="1125140"/>
            </a:xfrm>
            <a:custGeom>
              <a:avLst/>
              <a:gdLst/>
              <a:ahLst/>
              <a:cxnLst/>
              <a:rect l="l" t="t" r="r" b="b"/>
              <a:pathLst>
                <a:path w="4513660" h="1125140">
                  <a:moveTo>
                    <a:pt x="0" y="0"/>
                  </a:moveTo>
                  <a:lnTo>
                    <a:pt x="4513660" y="0"/>
                  </a:lnTo>
                  <a:lnTo>
                    <a:pt x="4513660" y="1125140"/>
                  </a:lnTo>
                  <a:lnTo>
                    <a:pt x="0" y="1125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4513660" cy="1210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Store command outputs in logs list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217771" y="6225257"/>
            <a:ext cx="28575" cy="923033"/>
            <a:chOff x="0" y="0"/>
            <a:chExt cx="38100" cy="123071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8100" cy="1230757"/>
            </a:xfrm>
            <a:custGeom>
              <a:avLst/>
              <a:gdLst/>
              <a:ahLst/>
              <a:cxnLst/>
              <a:rect l="l" t="t" r="r" b="b"/>
              <a:pathLst>
                <a:path w="38100" h="12307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1707"/>
                  </a:lnTo>
                  <a:cubicBezTo>
                    <a:pt x="38100" y="1222248"/>
                    <a:pt x="29591" y="1230757"/>
                    <a:pt x="19050" y="1230757"/>
                  </a:cubicBezTo>
                  <a:cubicBezTo>
                    <a:pt x="8509" y="1230757"/>
                    <a:pt x="0" y="1222121"/>
                    <a:pt x="0" y="12117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10935444" y="5928642"/>
            <a:ext cx="593378" cy="593377"/>
            <a:chOff x="0" y="0"/>
            <a:chExt cx="791170" cy="79117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91083" cy="791210"/>
            </a:xfrm>
            <a:custGeom>
              <a:avLst/>
              <a:gdLst/>
              <a:ahLst/>
              <a:cxnLst/>
              <a:rect l="l" t="t" r="r" b="b"/>
              <a:pathLst>
                <a:path w="791083" h="791210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8378" y="0"/>
                  </a:lnTo>
                  <a:cubicBezTo>
                    <a:pt x="767461" y="0"/>
                    <a:pt x="791083" y="23622"/>
                    <a:pt x="791083" y="52705"/>
                  </a:cubicBezTo>
                  <a:lnTo>
                    <a:pt x="791083" y="738378"/>
                  </a:lnTo>
                  <a:cubicBezTo>
                    <a:pt x="791083" y="767461"/>
                    <a:pt x="767461" y="791083"/>
                    <a:pt x="738378" y="791083"/>
                  </a:cubicBezTo>
                  <a:lnTo>
                    <a:pt x="52705" y="791083"/>
                  </a:lnTo>
                  <a:cubicBezTo>
                    <a:pt x="23622" y="791210"/>
                    <a:pt x="0" y="767588"/>
                    <a:pt x="0" y="73837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6" name="Group 56"/>
          <p:cNvGrpSpPr/>
          <p:nvPr/>
        </p:nvGrpSpPr>
        <p:grpSpPr>
          <a:xfrm>
            <a:off x="11121330" y="6017642"/>
            <a:ext cx="221456" cy="415379"/>
            <a:chOff x="0" y="0"/>
            <a:chExt cx="295275" cy="55383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95275" cy="553838"/>
            </a:xfrm>
            <a:custGeom>
              <a:avLst/>
              <a:gdLst/>
              <a:ahLst/>
              <a:cxnLst/>
              <a:rect l="l" t="t" r="r" b="b"/>
              <a:pathLst>
                <a:path w="295275" h="553838">
                  <a:moveTo>
                    <a:pt x="0" y="0"/>
                  </a:moveTo>
                  <a:lnTo>
                    <a:pt x="295275" y="0"/>
                  </a:lnTo>
                  <a:lnTo>
                    <a:pt x="295275" y="553838"/>
                  </a:lnTo>
                  <a:lnTo>
                    <a:pt x="0" y="553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0" y="57150"/>
              <a:ext cx="295275" cy="496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539585" y="7412088"/>
            <a:ext cx="3385245" cy="432644"/>
            <a:chOff x="0" y="0"/>
            <a:chExt cx="4513660" cy="57685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513660" cy="576858"/>
            </a:xfrm>
            <a:custGeom>
              <a:avLst/>
              <a:gdLst/>
              <a:ahLst/>
              <a:cxnLst/>
              <a:rect l="l" t="t" r="r" b="b"/>
              <a:pathLst>
                <a:path w="4513660" h="576858">
                  <a:moveTo>
                    <a:pt x="0" y="0"/>
                  </a:moveTo>
                  <a:lnTo>
                    <a:pt x="4513660" y="0"/>
                  </a:lnTo>
                  <a:lnTo>
                    <a:pt x="4513660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4513660" cy="595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Parse for Patterns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9539585" y="8002935"/>
            <a:ext cx="3385245" cy="843855"/>
            <a:chOff x="0" y="0"/>
            <a:chExt cx="4513660" cy="11251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513660" cy="1125140"/>
            </a:xfrm>
            <a:custGeom>
              <a:avLst/>
              <a:gdLst/>
              <a:ahLst/>
              <a:cxnLst/>
              <a:rect l="l" t="t" r="r" b="b"/>
              <a:pathLst>
                <a:path w="4513660" h="1125140">
                  <a:moveTo>
                    <a:pt x="0" y="0"/>
                  </a:moveTo>
                  <a:lnTo>
                    <a:pt x="4513660" y="0"/>
                  </a:lnTo>
                  <a:lnTo>
                    <a:pt x="4513660" y="1125140"/>
                  </a:lnTo>
                  <a:lnTo>
                    <a:pt x="0" y="1125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85725"/>
              <a:ext cx="4513660" cy="1210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Use regex to find errors/warnings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5394186" y="6225257"/>
            <a:ext cx="28575" cy="923033"/>
            <a:chOff x="0" y="0"/>
            <a:chExt cx="38100" cy="123071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38100" cy="1230757"/>
            </a:xfrm>
            <a:custGeom>
              <a:avLst/>
              <a:gdLst/>
              <a:ahLst/>
              <a:cxnLst/>
              <a:rect l="l" t="t" r="r" b="b"/>
              <a:pathLst>
                <a:path w="38100" h="1230757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1211707"/>
                  </a:lnTo>
                  <a:cubicBezTo>
                    <a:pt x="38100" y="1222248"/>
                    <a:pt x="29591" y="1230757"/>
                    <a:pt x="19050" y="1230757"/>
                  </a:cubicBezTo>
                  <a:cubicBezTo>
                    <a:pt x="8509" y="1230757"/>
                    <a:pt x="0" y="1222121"/>
                    <a:pt x="0" y="1211707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5111859" y="5928642"/>
            <a:ext cx="593378" cy="593377"/>
            <a:chOff x="0" y="0"/>
            <a:chExt cx="791170" cy="79117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91083" cy="791210"/>
            </a:xfrm>
            <a:custGeom>
              <a:avLst/>
              <a:gdLst/>
              <a:ahLst/>
              <a:cxnLst/>
              <a:rect l="l" t="t" r="r" b="b"/>
              <a:pathLst>
                <a:path w="791083" h="791210">
                  <a:moveTo>
                    <a:pt x="0" y="52705"/>
                  </a:moveTo>
                  <a:cubicBezTo>
                    <a:pt x="0" y="23622"/>
                    <a:pt x="23622" y="0"/>
                    <a:pt x="52705" y="0"/>
                  </a:cubicBezTo>
                  <a:lnTo>
                    <a:pt x="738378" y="0"/>
                  </a:lnTo>
                  <a:cubicBezTo>
                    <a:pt x="767461" y="0"/>
                    <a:pt x="791083" y="23622"/>
                    <a:pt x="791083" y="52705"/>
                  </a:cubicBezTo>
                  <a:lnTo>
                    <a:pt x="791083" y="738378"/>
                  </a:lnTo>
                  <a:cubicBezTo>
                    <a:pt x="791083" y="767461"/>
                    <a:pt x="767461" y="791083"/>
                    <a:pt x="738378" y="791083"/>
                  </a:cubicBezTo>
                  <a:lnTo>
                    <a:pt x="52705" y="791083"/>
                  </a:lnTo>
                  <a:cubicBezTo>
                    <a:pt x="23622" y="791210"/>
                    <a:pt x="0" y="767588"/>
                    <a:pt x="0" y="738378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15297745" y="6017642"/>
            <a:ext cx="221456" cy="415379"/>
            <a:chOff x="0" y="0"/>
            <a:chExt cx="295275" cy="55383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95275" cy="553838"/>
            </a:xfrm>
            <a:custGeom>
              <a:avLst/>
              <a:gdLst/>
              <a:ahLst/>
              <a:cxnLst/>
              <a:rect l="l" t="t" r="r" b="b"/>
              <a:pathLst>
                <a:path w="295275" h="553838">
                  <a:moveTo>
                    <a:pt x="0" y="0"/>
                  </a:moveTo>
                  <a:lnTo>
                    <a:pt x="295275" y="0"/>
                  </a:lnTo>
                  <a:lnTo>
                    <a:pt x="295275" y="553838"/>
                  </a:lnTo>
                  <a:lnTo>
                    <a:pt x="0" y="553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1" name="TextBox 71"/>
            <p:cNvSpPr txBox="1"/>
            <p:nvPr/>
          </p:nvSpPr>
          <p:spPr>
            <a:xfrm>
              <a:off x="0" y="57150"/>
              <a:ext cx="295275" cy="4966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50"/>
                </a:lnSpc>
              </a:pPr>
              <a:r>
                <a:rPr lang="en-US" sz="3250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4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3716000" y="7412088"/>
            <a:ext cx="3385245" cy="432644"/>
            <a:chOff x="0" y="0"/>
            <a:chExt cx="4513660" cy="576858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513660" cy="576858"/>
            </a:xfrm>
            <a:custGeom>
              <a:avLst/>
              <a:gdLst/>
              <a:ahLst/>
              <a:cxnLst/>
              <a:rect l="l" t="t" r="r" b="b"/>
              <a:pathLst>
                <a:path w="4513660" h="576858">
                  <a:moveTo>
                    <a:pt x="0" y="0"/>
                  </a:moveTo>
                  <a:lnTo>
                    <a:pt x="4513660" y="0"/>
                  </a:lnTo>
                  <a:lnTo>
                    <a:pt x="4513660" y="576858"/>
                  </a:lnTo>
                  <a:lnTo>
                    <a:pt x="0" y="5768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4513660" cy="5959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74"/>
                </a:lnSpc>
              </a:pPr>
              <a:r>
                <a:rPr lang="en-US" sz="2687">
                  <a:solidFill>
                    <a:srgbClr val="383838"/>
                  </a:solidFill>
                  <a:latin typeface="PT Serif"/>
                  <a:ea typeface="PT Serif"/>
                  <a:cs typeface="PT Serif"/>
                  <a:sym typeface="PT Serif"/>
                </a:rPr>
                <a:t>Take Action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3716000" y="8002935"/>
            <a:ext cx="3385245" cy="843855"/>
            <a:chOff x="0" y="0"/>
            <a:chExt cx="4513660" cy="11251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513660" cy="1125140"/>
            </a:xfrm>
            <a:custGeom>
              <a:avLst/>
              <a:gdLst/>
              <a:ahLst/>
              <a:cxnLst/>
              <a:rect l="l" t="t" r="r" b="b"/>
              <a:pathLst>
                <a:path w="4513660" h="1125140">
                  <a:moveTo>
                    <a:pt x="0" y="0"/>
                  </a:moveTo>
                  <a:lnTo>
                    <a:pt x="4513660" y="0"/>
                  </a:lnTo>
                  <a:lnTo>
                    <a:pt x="4513660" y="1125140"/>
                  </a:lnTo>
                  <a:lnTo>
                    <a:pt x="0" y="112514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85725"/>
              <a:ext cx="4513660" cy="1210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062">
                  <a:solidFill>
                    <a:srgbClr val="383838"/>
                  </a:solidFill>
                  <a:latin typeface="DM Sans"/>
                  <a:ea typeface="DM Sans"/>
                  <a:cs typeface="DM Sans"/>
                  <a:sym typeface="DM Sans"/>
                </a:rPr>
                <a:t>Respond based on detected patterns</a:t>
              </a:r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14991320" y="9841944"/>
            <a:ext cx="3062594" cy="24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PT Serif"/>
                <a:ea typeface="PT Serif"/>
                <a:cs typeface="PT Serif"/>
                <a:sym typeface="PT Serif"/>
              </a:rPr>
              <a:t>Mohammad Anees Alam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1236</Words>
  <Application>Microsoft Macintosh PowerPoint</Application>
  <PresentationFormat>Custom</PresentationFormat>
  <Paragraphs>183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Consolas</vt:lpstr>
      <vt:lpstr>DM Sans Bold</vt:lpstr>
      <vt:lpstr>PT Serif</vt:lpstr>
      <vt:lpstr>DM Sans</vt:lpstr>
      <vt:lpstr>Calibri</vt:lpstr>
      <vt:lpstr>PT Serif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Python-Object-Oriented-programming-and-Libraries.pptx</dc:title>
  <cp:lastModifiedBy>Alam, Anees</cp:lastModifiedBy>
  <cp:revision>4</cp:revision>
  <dcterms:created xsi:type="dcterms:W3CDTF">2006-08-16T00:00:00Z</dcterms:created>
  <dcterms:modified xsi:type="dcterms:W3CDTF">2025-03-02T08:30:27Z</dcterms:modified>
  <dc:identifier>DAGgdDb_aeQ</dc:identifier>
</cp:coreProperties>
</file>