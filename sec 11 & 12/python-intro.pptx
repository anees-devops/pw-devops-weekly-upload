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onsolas" panose="020B0609020204030204" pitchFamily="49" charset="0"/>
      <p:regular r:id="rId20"/>
      <p:bold r:id="rId21"/>
      <p:italic r:id="rId22"/>
      <p:boldItalic r:id="rId23"/>
    </p:embeddedFont>
    <p:embeddedFont>
      <p:font typeface="Inter" panose="020B0604020202020204" charset="0"/>
      <p:regular r:id="rId24"/>
    </p:embeddedFont>
    <p:embeddedFont>
      <p:font typeface="Inter Bold" panose="020B0604020202020204" charset="0"/>
      <p:regular r:id="rId25"/>
      <p:bold r:id="rId26"/>
    </p:embeddedFont>
    <p:embeddedFont>
      <p:font typeface="Inter Italics" panose="020B0604020202020204" charset="0"/>
      <p:regular r:id="rId27"/>
      <p:italic r:id="rId28"/>
    </p:embeddedFont>
    <p:embeddedFont>
      <p:font typeface="Petrona"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55" autoAdjust="0"/>
  </p:normalViewPr>
  <p:slideViewPr>
    <p:cSldViewPr>
      <p:cViewPr varScale="1">
        <p:scale>
          <a:sx n="58" d="100"/>
          <a:sy n="58" d="100"/>
        </p:scale>
        <p:origin x="5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grpSp>
        <p:nvGrpSpPr>
          <p:cNvPr id="8" name="Group 8"/>
          <p:cNvGrpSpPr/>
          <p:nvPr/>
        </p:nvGrpSpPr>
        <p:grpSpPr>
          <a:xfrm>
            <a:off x="992238" y="3804791"/>
            <a:ext cx="9445526" cy="1455131"/>
            <a:chOff x="0" y="0"/>
            <a:chExt cx="12594035" cy="1940175"/>
          </a:xfrm>
        </p:grpSpPr>
        <p:sp>
          <p:nvSpPr>
            <p:cNvPr id="9" name="Freeform 9"/>
            <p:cNvSpPr/>
            <p:nvPr/>
          </p:nvSpPr>
          <p:spPr>
            <a:xfrm>
              <a:off x="0" y="0"/>
              <a:ext cx="12594035" cy="1940175"/>
            </a:xfrm>
            <a:custGeom>
              <a:avLst/>
              <a:gdLst/>
              <a:ahLst/>
              <a:cxnLst/>
              <a:rect l="l" t="t" r="r" b="b"/>
              <a:pathLst>
                <a:path w="12594035" h="1940175">
                  <a:moveTo>
                    <a:pt x="0" y="0"/>
                  </a:moveTo>
                  <a:lnTo>
                    <a:pt x="12594035" y="0"/>
                  </a:lnTo>
                  <a:lnTo>
                    <a:pt x="12594035" y="1940175"/>
                  </a:lnTo>
                  <a:lnTo>
                    <a:pt x="0" y="1940175"/>
                  </a:lnTo>
                  <a:close/>
                </a:path>
              </a:pathLst>
            </a:custGeom>
            <a:solidFill>
              <a:srgbClr val="000000">
                <a:alpha val="0"/>
              </a:srgbClr>
            </a:solidFill>
          </p:spPr>
        </p:sp>
        <p:sp>
          <p:nvSpPr>
            <p:cNvPr id="10" name="TextBox 10"/>
            <p:cNvSpPr txBox="1"/>
            <p:nvPr/>
          </p:nvSpPr>
          <p:spPr>
            <a:xfrm>
              <a:off x="0" y="-47625"/>
              <a:ext cx="12594035" cy="1987800"/>
            </a:xfrm>
            <a:prstGeom prst="rect">
              <a:avLst/>
            </a:prstGeom>
          </p:spPr>
          <p:txBody>
            <a:bodyPr lIns="0" tIns="0" rIns="0" bIns="0" rtlCol="0" anchor="t"/>
            <a:lstStyle/>
            <a:p>
              <a:pPr algn="ctr">
                <a:lnSpc>
                  <a:spcPts val="10812"/>
                </a:lnSpc>
              </a:pPr>
              <a:r>
                <a:rPr lang="en-US" sz="8637" spc="-174">
                  <a:solidFill>
                    <a:srgbClr val="F95F88"/>
                  </a:solidFill>
                  <a:latin typeface="Petrona"/>
                  <a:ea typeface="Petrona"/>
                  <a:cs typeface="Petrona"/>
                  <a:sym typeface="Petrona"/>
                </a:rPr>
                <a:t>Python for DevOps</a:t>
              </a:r>
            </a:p>
          </p:txBody>
        </p:sp>
      </p:grpSp>
      <p:sp>
        <p:nvSpPr>
          <p:cNvPr id="11" name="TextBox 11"/>
          <p:cNvSpPr txBox="1"/>
          <p:nvPr/>
        </p:nvSpPr>
        <p:spPr>
          <a:xfrm>
            <a:off x="999009" y="8832750"/>
            <a:ext cx="1384622" cy="448849"/>
          </a:xfrm>
          <a:prstGeom prst="rect">
            <a:avLst/>
          </a:prstGeom>
        </p:spPr>
        <p:txBody>
          <a:bodyPr lIns="0" tIns="0" rIns="0" bIns="0" rtlCol="0" anchor="t">
            <a:spAutoFit/>
          </a:bodyPr>
          <a:lstStyle/>
          <a:p>
            <a:pPr algn="ctr">
              <a:lnSpc>
                <a:spcPts val="3755"/>
              </a:lnSpc>
              <a:spcBef>
                <a:spcPct val="0"/>
              </a:spcBef>
            </a:pPr>
            <a:r>
              <a:rPr lang="en-US" sz="2324" b="1" spc="-46">
                <a:solidFill>
                  <a:srgbClr val="000000"/>
                </a:solidFill>
                <a:latin typeface="Inter Bold"/>
                <a:ea typeface="Inter Bold"/>
                <a:cs typeface="Inter Bold"/>
                <a:sym typeface="Inter Bold"/>
              </a:rPr>
              <a:t>Presenter</a:t>
            </a:r>
          </a:p>
        </p:txBody>
      </p:sp>
      <p:sp>
        <p:nvSpPr>
          <p:cNvPr id="12" name="TextBox 12"/>
          <p:cNvSpPr txBox="1"/>
          <p:nvPr/>
        </p:nvSpPr>
        <p:spPr>
          <a:xfrm>
            <a:off x="1028700" y="9261375"/>
            <a:ext cx="3543263" cy="448849"/>
          </a:xfrm>
          <a:prstGeom prst="rect">
            <a:avLst/>
          </a:prstGeom>
        </p:spPr>
        <p:txBody>
          <a:bodyPr lIns="0" tIns="0" rIns="0" bIns="0" rtlCol="0" anchor="t">
            <a:spAutoFit/>
          </a:bodyPr>
          <a:lstStyle/>
          <a:p>
            <a:pPr algn="l">
              <a:lnSpc>
                <a:spcPts val="3755"/>
              </a:lnSpc>
              <a:spcBef>
                <a:spcPct val="0"/>
              </a:spcBef>
            </a:pPr>
            <a:r>
              <a:rPr lang="en-US" sz="2324" b="1" spc="-46">
                <a:solidFill>
                  <a:srgbClr val="FFA44F"/>
                </a:solidFill>
                <a:latin typeface="Inter Bold"/>
                <a:ea typeface="Inter Bold"/>
                <a:cs typeface="Inter Bold"/>
                <a:sym typeface="Inter Bold"/>
              </a:rPr>
              <a:t>Mohammad Anees Alam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992237" y="1798290"/>
            <a:ext cx="7797105" cy="1077459"/>
            <a:chOff x="0" y="0"/>
            <a:chExt cx="10396140" cy="1436612"/>
          </a:xfrm>
        </p:grpSpPr>
        <p:sp>
          <p:nvSpPr>
            <p:cNvPr id="7" name="Freeform 7"/>
            <p:cNvSpPr/>
            <p:nvPr/>
          </p:nvSpPr>
          <p:spPr>
            <a:xfrm>
              <a:off x="0" y="0"/>
              <a:ext cx="10396140" cy="1436612"/>
            </a:xfrm>
            <a:custGeom>
              <a:avLst/>
              <a:gdLst/>
              <a:ahLst/>
              <a:cxnLst/>
              <a:rect l="l" t="t" r="r" b="b"/>
              <a:pathLst>
                <a:path w="10396140" h="1436612">
                  <a:moveTo>
                    <a:pt x="0" y="0"/>
                  </a:moveTo>
                  <a:lnTo>
                    <a:pt x="10396140" y="0"/>
                  </a:lnTo>
                  <a:lnTo>
                    <a:pt x="10396140" y="1436612"/>
                  </a:lnTo>
                  <a:lnTo>
                    <a:pt x="0" y="1436612"/>
                  </a:lnTo>
                  <a:close/>
                </a:path>
              </a:pathLst>
            </a:custGeom>
            <a:solidFill>
              <a:srgbClr val="000000">
                <a:alpha val="0"/>
              </a:srgbClr>
            </a:solidFill>
          </p:spPr>
        </p:sp>
        <p:sp>
          <p:nvSpPr>
            <p:cNvPr id="8" name="TextBox 8"/>
            <p:cNvSpPr txBox="1"/>
            <p:nvPr/>
          </p:nvSpPr>
          <p:spPr>
            <a:xfrm>
              <a:off x="0" y="-28575"/>
              <a:ext cx="10396140" cy="1465187"/>
            </a:xfrm>
            <a:prstGeom prst="rect">
              <a:avLst/>
            </a:prstGeom>
          </p:spPr>
          <p:txBody>
            <a:bodyPr lIns="0" tIns="0" rIns="0" bIns="0" rtlCol="0" anchor="t"/>
            <a:lstStyle/>
            <a:p>
              <a:pPr algn="l">
                <a:lnSpc>
                  <a:spcPts val="7998"/>
                </a:lnSpc>
              </a:pPr>
              <a:r>
                <a:rPr lang="en-US" sz="6424" spc="-128">
                  <a:solidFill>
                    <a:srgbClr val="F95F88"/>
                  </a:solidFill>
                  <a:latin typeface="Petrona"/>
                  <a:ea typeface="Petrona"/>
                  <a:cs typeface="Petrona"/>
                  <a:sym typeface="Petrona"/>
                </a:rPr>
                <a:t>Topics for today!</a:t>
              </a:r>
            </a:p>
          </p:txBody>
        </p:sp>
      </p:grpSp>
      <p:grpSp>
        <p:nvGrpSpPr>
          <p:cNvPr id="9" name="Group 9"/>
          <p:cNvGrpSpPr/>
          <p:nvPr/>
        </p:nvGrpSpPr>
        <p:grpSpPr>
          <a:xfrm>
            <a:off x="987475" y="3654027"/>
            <a:ext cx="647402" cy="647402"/>
            <a:chOff x="0" y="0"/>
            <a:chExt cx="863203" cy="863203"/>
          </a:xfrm>
        </p:grpSpPr>
        <p:sp>
          <p:nvSpPr>
            <p:cNvPr id="10" name="Freeform 10"/>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id="11" name="Freeform 11"/>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12" name="Group 12"/>
          <p:cNvGrpSpPr/>
          <p:nvPr/>
        </p:nvGrpSpPr>
        <p:grpSpPr>
          <a:xfrm>
            <a:off x="1215629" y="3743771"/>
            <a:ext cx="190946" cy="467766"/>
            <a:chOff x="0" y="0"/>
            <a:chExt cx="254595" cy="623688"/>
          </a:xfrm>
        </p:grpSpPr>
        <p:sp>
          <p:nvSpPr>
            <p:cNvPr id="13" name="Freeform 13"/>
            <p:cNvSpPr/>
            <p:nvPr/>
          </p:nvSpPr>
          <p:spPr>
            <a:xfrm>
              <a:off x="0" y="0"/>
              <a:ext cx="254595" cy="623688"/>
            </a:xfrm>
            <a:custGeom>
              <a:avLst/>
              <a:gdLst/>
              <a:ahLst/>
              <a:cxnLst/>
              <a:rect l="l" t="t" r="r" b="b"/>
              <a:pathLst>
                <a:path w="254595" h="623688">
                  <a:moveTo>
                    <a:pt x="0" y="0"/>
                  </a:moveTo>
                  <a:lnTo>
                    <a:pt x="254595" y="0"/>
                  </a:lnTo>
                  <a:lnTo>
                    <a:pt x="254595" y="623688"/>
                  </a:lnTo>
                  <a:lnTo>
                    <a:pt x="0" y="623688"/>
                  </a:lnTo>
                  <a:close/>
                </a:path>
              </a:pathLst>
            </a:custGeom>
            <a:solidFill>
              <a:srgbClr val="000000">
                <a:alpha val="0"/>
              </a:srgbClr>
            </a:solidFill>
          </p:spPr>
        </p:sp>
        <p:sp>
          <p:nvSpPr>
            <p:cNvPr id="14" name="TextBox 14"/>
            <p:cNvSpPr txBox="1"/>
            <p:nvPr/>
          </p:nvSpPr>
          <p:spPr>
            <a:xfrm>
              <a:off x="0" y="57150"/>
              <a:ext cx="254595" cy="566538"/>
            </a:xfrm>
            <a:prstGeom prst="rect">
              <a:avLst/>
            </a:prstGeom>
          </p:spPr>
          <p:txBody>
            <a:bodyPr lIns="0" tIns="0" rIns="0" bIns="0" rtlCol="0" anchor="t"/>
            <a:lstStyle/>
            <a:p>
              <a:pPr algn="ctr">
                <a:lnSpc>
                  <a:spcPts val="3625"/>
                </a:lnSpc>
              </a:pPr>
              <a:r>
                <a:rPr lang="en-US" sz="3625" spc="-73">
                  <a:solidFill>
                    <a:srgbClr val="272525"/>
                  </a:solidFill>
                  <a:latin typeface="Petrona"/>
                  <a:ea typeface="Petrona"/>
                  <a:cs typeface="Petrona"/>
                  <a:sym typeface="Petrona"/>
                </a:rPr>
                <a:t>1</a:t>
              </a:r>
            </a:p>
          </p:txBody>
        </p:sp>
      </p:grpSp>
      <p:grpSp>
        <p:nvGrpSpPr>
          <p:cNvPr id="15" name="Group 15"/>
          <p:cNvGrpSpPr/>
          <p:nvPr/>
        </p:nvGrpSpPr>
        <p:grpSpPr>
          <a:xfrm>
            <a:off x="1913632" y="3658790"/>
            <a:ext cx="4678264" cy="584597"/>
            <a:chOff x="0" y="0"/>
            <a:chExt cx="6237685" cy="779463"/>
          </a:xfrm>
        </p:grpSpPr>
        <p:sp>
          <p:nvSpPr>
            <p:cNvPr id="16" name="Freeform 16"/>
            <p:cNvSpPr/>
            <p:nvPr/>
          </p:nvSpPr>
          <p:spPr>
            <a:xfrm>
              <a:off x="0" y="0"/>
              <a:ext cx="6237685" cy="779463"/>
            </a:xfrm>
            <a:custGeom>
              <a:avLst/>
              <a:gdLst/>
              <a:ahLst/>
              <a:cxnLst/>
              <a:rect l="l" t="t" r="r" b="b"/>
              <a:pathLst>
                <a:path w="6237685" h="779463">
                  <a:moveTo>
                    <a:pt x="0" y="0"/>
                  </a:moveTo>
                  <a:lnTo>
                    <a:pt x="6237685" y="0"/>
                  </a:lnTo>
                  <a:lnTo>
                    <a:pt x="6237685" y="779463"/>
                  </a:lnTo>
                  <a:lnTo>
                    <a:pt x="0" y="779463"/>
                  </a:lnTo>
                  <a:close/>
                </a:path>
              </a:pathLst>
            </a:custGeom>
            <a:solidFill>
              <a:srgbClr val="000000">
                <a:alpha val="0"/>
              </a:srgbClr>
            </a:solidFill>
          </p:spPr>
        </p:sp>
        <p:sp>
          <p:nvSpPr>
            <p:cNvPr id="17" name="TextBox 17"/>
            <p:cNvSpPr txBox="1"/>
            <p:nvPr/>
          </p:nvSpPr>
          <p:spPr>
            <a:xfrm>
              <a:off x="0" y="-28575"/>
              <a:ext cx="6237685" cy="808038"/>
            </a:xfrm>
            <a:prstGeom prst="rect">
              <a:avLst/>
            </a:prstGeom>
          </p:spPr>
          <p:txBody>
            <a:bodyPr lIns="0" tIns="0" rIns="0" bIns="0" rtlCol="0" anchor="t"/>
            <a:lstStyle/>
            <a:p>
              <a:pPr algn="l">
                <a:lnSpc>
                  <a:spcPts val="4562"/>
                </a:lnSpc>
              </a:pPr>
              <a:r>
                <a:rPr lang="en-US" sz="3625" spc="-73">
                  <a:solidFill>
                    <a:srgbClr val="272525"/>
                  </a:solidFill>
                  <a:latin typeface="Petrona"/>
                  <a:ea typeface="Petrona"/>
                  <a:cs typeface="Petrona"/>
                  <a:sym typeface="Petrona"/>
                </a:rPr>
                <a:t>Why Python?</a:t>
              </a:r>
            </a:p>
          </p:txBody>
        </p:sp>
      </p:grpSp>
      <p:grpSp>
        <p:nvGrpSpPr>
          <p:cNvPr id="18" name="Group 18"/>
          <p:cNvGrpSpPr/>
          <p:nvPr/>
        </p:nvGrpSpPr>
        <p:grpSpPr>
          <a:xfrm>
            <a:off x="9281071" y="3654027"/>
            <a:ext cx="647402" cy="647402"/>
            <a:chOff x="0" y="0"/>
            <a:chExt cx="863203" cy="863203"/>
          </a:xfrm>
        </p:grpSpPr>
        <p:sp>
          <p:nvSpPr>
            <p:cNvPr id="19" name="Freeform 19"/>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id="20" name="Freeform 20"/>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21" name="Group 21"/>
          <p:cNvGrpSpPr/>
          <p:nvPr/>
        </p:nvGrpSpPr>
        <p:grpSpPr>
          <a:xfrm>
            <a:off x="9476780" y="3743771"/>
            <a:ext cx="255984" cy="467766"/>
            <a:chOff x="0" y="0"/>
            <a:chExt cx="341312" cy="623688"/>
          </a:xfrm>
        </p:grpSpPr>
        <p:sp>
          <p:nvSpPr>
            <p:cNvPr id="22" name="Freeform 22"/>
            <p:cNvSpPr/>
            <p:nvPr/>
          </p:nvSpPr>
          <p:spPr>
            <a:xfrm>
              <a:off x="0" y="0"/>
              <a:ext cx="341312" cy="623688"/>
            </a:xfrm>
            <a:custGeom>
              <a:avLst/>
              <a:gdLst/>
              <a:ahLst/>
              <a:cxnLst/>
              <a:rect l="l" t="t" r="r" b="b"/>
              <a:pathLst>
                <a:path w="341312" h="623688">
                  <a:moveTo>
                    <a:pt x="0" y="0"/>
                  </a:moveTo>
                  <a:lnTo>
                    <a:pt x="341312" y="0"/>
                  </a:lnTo>
                  <a:lnTo>
                    <a:pt x="341312" y="623688"/>
                  </a:lnTo>
                  <a:lnTo>
                    <a:pt x="0" y="623688"/>
                  </a:lnTo>
                  <a:close/>
                </a:path>
              </a:pathLst>
            </a:custGeom>
            <a:solidFill>
              <a:srgbClr val="000000">
                <a:alpha val="0"/>
              </a:srgbClr>
            </a:solidFill>
          </p:spPr>
        </p:sp>
        <p:sp>
          <p:nvSpPr>
            <p:cNvPr id="23" name="TextBox 23"/>
            <p:cNvSpPr txBox="1"/>
            <p:nvPr/>
          </p:nvSpPr>
          <p:spPr>
            <a:xfrm>
              <a:off x="0" y="57150"/>
              <a:ext cx="341312" cy="566538"/>
            </a:xfrm>
            <a:prstGeom prst="rect">
              <a:avLst/>
            </a:prstGeom>
          </p:spPr>
          <p:txBody>
            <a:bodyPr lIns="0" tIns="0" rIns="0" bIns="0" rtlCol="0" anchor="t"/>
            <a:lstStyle/>
            <a:p>
              <a:pPr algn="ctr">
                <a:lnSpc>
                  <a:spcPts val="3625"/>
                </a:lnSpc>
              </a:pPr>
              <a:r>
                <a:rPr lang="en-US" sz="3625" spc="-73">
                  <a:solidFill>
                    <a:srgbClr val="272525"/>
                  </a:solidFill>
                  <a:latin typeface="Petrona"/>
                  <a:ea typeface="Petrona"/>
                  <a:cs typeface="Petrona"/>
                  <a:sym typeface="Petrona"/>
                </a:rPr>
                <a:t>2</a:t>
              </a:r>
            </a:p>
          </p:txBody>
        </p:sp>
      </p:grpSp>
      <p:grpSp>
        <p:nvGrpSpPr>
          <p:cNvPr id="24" name="Group 24"/>
          <p:cNvGrpSpPr/>
          <p:nvPr/>
        </p:nvGrpSpPr>
        <p:grpSpPr>
          <a:xfrm>
            <a:off x="10207229" y="3658790"/>
            <a:ext cx="4678264" cy="584597"/>
            <a:chOff x="0" y="0"/>
            <a:chExt cx="6237685" cy="779463"/>
          </a:xfrm>
        </p:grpSpPr>
        <p:sp>
          <p:nvSpPr>
            <p:cNvPr id="25" name="Freeform 25"/>
            <p:cNvSpPr/>
            <p:nvPr/>
          </p:nvSpPr>
          <p:spPr>
            <a:xfrm>
              <a:off x="0" y="0"/>
              <a:ext cx="6237685" cy="779463"/>
            </a:xfrm>
            <a:custGeom>
              <a:avLst/>
              <a:gdLst/>
              <a:ahLst/>
              <a:cxnLst/>
              <a:rect l="l" t="t" r="r" b="b"/>
              <a:pathLst>
                <a:path w="6237685" h="779463">
                  <a:moveTo>
                    <a:pt x="0" y="0"/>
                  </a:moveTo>
                  <a:lnTo>
                    <a:pt x="6237685" y="0"/>
                  </a:lnTo>
                  <a:lnTo>
                    <a:pt x="6237685" y="779463"/>
                  </a:lnTo>
                  <a:lnTo>
                    <a:pt x="0" y="779463"/>
                  </a:lnTo>
                  <a:close/>
                </a:path>
              </a:pathLst>
            </a:custGeom>
            <a:solidFill>
              <a:srgbClr val="000000">
                <a:alpha val="0"/>
              </a:srgbClr>
            </a:solidFill>
          </p:spPr>
        </p:sp>
        <p:sp>
          <p:nvSpPr>
            <p:cNvPr id="26" name="TextBox 26"/>
            <p:cNvSpPr txBox="1"/>
            <p:nvPr/>
          </p:nvSpPr>
          <p:spPr>
            <a:xfrm>
              <a:off x="0" y="-28575"/>
              <a:ext cx="6237685" cy="808038"/>
            </a:xfrm>
            <a:prstGeom prst="rect">
              <a:avLst/>
            </a:prstGeom>
          </p:spPr>
          <p:txBody>
            <a:bodyPr lIns="0" tIns="0" rIns="0" bIns="0" rtlCol="0" anchor="t"/>
            <a:lstStyle/>
            <a:p>
              <a:pPr algn="l">
                <a:lnSpc>
                  <a:spcPts val="4562"/>
                </a:lnSpc>
              </a:pPr>
              <a:r>
                <a:rPr lang="en-US" sz="3625" spc="-73">
                  <a:solidFill>
                    <a:srgbClr val="272525"/>
                  </a:solidFill>
                  <a:latin typeface="Petrona"/>
                  <a:ea typeface="Petrona"/>
                  <a:cs typeface="Petrona"/>
                  <a:sym typeface="Petrona"/>
                </a:rPr>
                <a:t>Python based tools</a:t>
              </a:r>
            </a:p>
          </p:txBody>
        </p:sp>
      </p:grpSp>
      <p:grpSp>
        <p:nvGrpSpPr>
          <p:cNvPr id="27" name="Group 27"/>
          <p:cNvGrpSpPr/>
          <p:nvPr/>
        </p:nvGrpSpPr>
        <p:grpSpPr>
          <a:xfrm>
            <a:off x="987475" y="5464820"/>
            <a:ext cx="647402" cy="647402"/>
            <a:chOff x="0" y="0"/>
            <a:chExt cx="863203" cy="863203"/>
          </a:xfrm>
        </p:grpSpPr>
        <p:sp>
          <p:nvSpPr>
            <p:cNvPr id="28" name="Freeform 28"/>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id="29" name="Freeform 29"/>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30" name="Group 30"/>
          <p:cNvGrpSpPr/>
          <p:nvPr/>
        </p:nvGrpSpPr>
        <p:grpSpPr>
          <a:xfrm>
            <a:off x="1183332" y="5554564"/>
            <a:ext cx="255537" cy="467766"/>
            <a:chOff x="0" y="0"/>
            <a:chExt cx="340717" cy="623688"/>
          </a:xfrm>
        </p:grpSpPr>
        <p:sp>
          <p:nvSpPr>
            <p:cNvPr id="31" name="Freeform 31"/>
            <p:cNvSpPr/>
            <p:nvPr/>
          </p:nvSpPr>
          <p:spPr>
            <a:xfrm>
              <a:off x="0" y="0"/>
              <a:ext cx="340717" cy="623688"/>
            </a:xfrm>
            <a:custGeom>
              <a:avLst/>
              <a:gdLst/>
              <a:ahLst/>
              <a:cxnLst/>
              <a:rect l="l" t="t" r="r" b="b"/>
              <a:pathLst>
                <a:path w="340717" h="623688">
                  <a:moveTo>
                    <a:pt x="0" y="0"/>
                  </a:moveTo>
                  <a:lnTo>
                    <a:pt x="340717" y="0"/>
                  </a:lnTo>
                  <a:lnTo>
                    <a:pt x="340717" y="623688"/>
                  </a:lnTo>
                  <a:lnTo>
                    <a:pt x="0" y="623688"/>
                  </a:lnTo>
                  <a:close/>
                </a:path>
              </a:pathLst>
            </a:custGeom>
            <a:solidFill>
              <a:srgbClr val="000000">
                <a:alpha val="0"/>
              </a:srgbClr>
            </a:solidFill>
          </p:spPr>
        </p:sp>
        <p:sp>
          <p:nvSpPr>
            <p:cNvPr id="32" name="TextBox 32"/>
            <p:cNvSpPr txBox="1"/>
            <p:nvPr/>
          </p:nvSpPr>
          <p:spPr>
            <a:xfrm>
              <a:off x="0" y="57150"/>
              <a:ext cx="340717" cy="566538"/>
            </a:xfrm>
            <a:prstGeom prst="rect">
              <a:avLst/>
            </a:prstGeom>
          </p:spPr>
          <p:txBody>
            <a:bodyPr lIns="0" tIns="0" rIns="0" bIns="0" rtlCol="0" anchor="t"/>
            <a:lstStyle/>
            <a:p>
              <a:pPr algn="ctr">
                <a:lnSpc>
                  <a:spcPts val="3625"/>
                </a:lnSpc>
              </a:pPr>
              <a:r>
                <a:rPr lang="en-US" sz="3625" spc="-73">
                  <a:solidFill>
                    <a:srgbClr val="272525"/>
                  </a:solidFill>
                  <a:latin typeface="Petrona"/>
                  <a:ea typeface="Petrona"/>
                  <a:cs typeface="Petrona"/>
                  <a:sym typeface="Petrona"/>
                </a:rPr>
                <a:t>3</a:t>
              </a:r>
            </a:p>
          </p:txBody>
        </p:sp>
      </p:grpSp>
      <p:grpSp>
        <p:nvGrpSpPr>
          <p:cNvPr id="33" name="Group 33"/>
          <p:cNvGrpSpPr/>
          <p:nvPr/>
        </p:nvGrpSpPr>
        <p:grpSpPr>
          <a:xfrm>
            <a:off x="1913632" y="5469582"/>
            <a:ext cx="4699695" cy="584597"/>
            <a:chOff x="0" y="0"/>
            <a:chExt cx="6266260" cy="779463"/>
          </a:xfrm>
        </p:grpSpPr>
        <p:sp>
          <p:nvSpPr>
            <p:cNvPr id="34" name="Freeform 34"/>
            <p:cNvSpPr/>
            <p:nvPr/>
          </p:nvSpPr>
          <p:spPr>
            <a:xfrm>
              <a:off x="0" y="0"/>
              <a:ext cx="6266260" cy="779463"/>
            </a:xfrm>
            <a:custGeom>
              <a:avLst/>
              <a:gdLst/>
              <a:ahLst/>
              <a:cxnLst/>
              <a:rect l="l" t="t" r="r" b="b"/>
              <a:pathLst>
                <a:path w="6266260" h="779463">
                  <a:moveTo>
                    <a:pt x="0" y="0"/>
                  </a:moveTo>
                  <a:lnTo>
                    <a:pt x="6266260" y="0"/>
                  </a:lnTo>
                  <a:lnTo>
                    <a:pt x="6266260" y="779463"/>
                  </a:lnTo>
                  <a:lnTo>
                    <a:pt x="0" y="779463"/>
                  </a:lnTo>
                  <a:close/>
                </a:path>
              </a:pathLst>
            </a:custGeom>
            <a:solidFill>
              <a:srgbClr val="000000">
                <a:alpha val="0"/>
              </a:srgbClr>
            </a:solidFill>
          </p:spPr>
        </p:sp>
        <p:sp>
          <p:nvSpPr>
            <p:cNvPr id="35" name="TextBox 35"/>
            <p:cNvSpPr txBox="1"/>
            <p:nvPr/>
          </p:nvSpPr>
          <p:spPr>
            <a:xfrm>
              <a:off x="0" y="-28575"/>
              <a:ext cx="6266260" cy="808038"/>
            </a:xfrm>
            <a:prstGeom prst="rect">
              <a:avLst/>
            </a:prstGeom>
          </p:spPr>
          <p:txBody>
            <a:bodyPr lIns="0" tIns="0" rIns="0" bIns="0" rtlCol="0" anchor="t"/>
            <a:lstStyle/>
            <a:p>
              <a:pPr algn="l">
                <a:lnSpc>
                  <a:spcPts val="4562"/>
                </a:lnSpc>
              </a:pPr>
              <a:r>
                <a:rPr lang="en-US" sz="3625" spc="-73">
                  <a:solidFill>
                    <a:srgbClr val="272525"/>
                  </a:solidFill>
                  <a:latin typeface="Petrona"/>
                  <a:ea typeface="Petrona"/>
                  <a:cs typeface="Petrona"/>
                  <a:sym typeface="Petrona"/>
                </a:rPr>
                <a:t>Fundamental concepts</a:t>
              </a:r>
            </a:p>
          </p:txBody>
        </p:sp>
      </p:grpSp>
      <p:grpSp>
        <p:nvGrpSpPr>
          <p:cNvPr id="36" name="Group 36"/>
          <p:cNvGrpSpPr/>
          <p:nvPr/>
        </p:nvGrpSpPr>
        <p:grpSpPr>
          <a:xfrm>
            <a:off x="9281071" y="5464820"/>
            <a:ext cx="647402" cy="647402"/>
            <a:chOff x="0" y="0"/>
            <a:chExt cx="863203" cy="863203"/>
          </a:xfrm>
        </p:grpSpPr>
        <p:sp>
          <p:nvSpPr>
            <p:cNvPr id="37" name="Freeform 37"/>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id="38" name="Freeform 38"/>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39" name="Group 39"/>
          <p:cNvGrpSpPr/>
          <p:nvPr/>
        </p:nvGrpSpPr>
        <p:grpSpPr>
          <a:xfrm>
            <a:off x="9483329" y="5554564"/>
            <a:ext cx="242888" cy="467766"/>
            <a:chOff x="0" y="0"/>
            <a:chExt cx="323850" cy="623688"/>
          </a:xfrm>
        </p:grpSpPr>
        <p:sp>
          <p:nvSpPr>
            <p:cNvPr id="40" name="Freeform 40"/>
            <p:cNvSpPr/>
            <p:nvPr/>
          </p:nvSpPr>
          <p:spPr>
            <a:xfrm>
              <a:off x="0" y="0"/>
              <a:ext cx="323850" cy="623688"/>
            </a:xfrm>
            <a:custGeom>
              <a:avLst/>
              <a:gdLst/>
              <a:ahLst/>
              <a:cxnLst/>
              <a:rect l="l" t="t" r="r" b="b"/>
              <a:pathLst>
                <a:path w="323850" h="623688">
                  <a:moveTo>
                    <a:pt x="0" y="0"/>
                  </a:moveTo>
                  <a:lnTo>
                    <a:pt x="323850" y="0"/>
                  </a:lnTo>
                  <a:lnTo>
                    <a:pt x="323850" y="623688"/>
                  </a:lnTo>
                  <a:lnTo>
                    <a:pt x="0" y="623688"/>
                  </a:lnTo>
                  <a:close/>
                </a:path>
              </a:pathLst>
            </a:custGeom>
            <a:solidFill>
              <a:srgbClr val="000000">
                <a:alpha val="0"/>
              </a:srgbClr>
            </a:solidFill>
          </p:spPr>
        </p:sp>
        <p:sp>
          <p:nvSpPr>
            <p:cNvPr id="41" name="TextBox 41"/>
            <p:cNvSpPr txBox="1"/>
            <p:nvPr/>
          </p:nvSpPr>
          <p:spPr>
            <a:xfrm>
              <a:off x="0" y="57150"/>
              <a:ext cx="323850" cy="566538"/>
            </a:xfrm>
            <a:prstGeom prst="rect">
              <a:avLst/>
            </a:prstGeom>
          </p:spPr>
          <p:txBody>
            <a:bodyPr lIns="0" tIns="0" rIns="0" bIns="0" rtlCol="0" anchor="t"/>
            <a:lstStyle/>
            <a:p>
              <a:pPr algn="ctr">
                <a:lnSpc>
                  <a:spcPts val="3625"/>
                </a:lnSpc>
              </a:pPr>
              <a:r>
                <a:rPr lang="en-US" sz="3625" spc="-73">
                  <a:solidFill>
                    <a:srgbClr val="272525"/>
                  </a:solidFill>
                  <a:latin typeface="Petrona"/>
                  <a:ea typeface="Petrona"/>
                  <a:cs typeface="Petrona"/>
                  <a:sym typeface="Petrona"/>
                </a:rPr>
                <a:t>4</a:t>
              </a:r>
            </a:p>
          </p:txBody>
        </p:sp>
      </p:grpSp>
      <p:grpSp>
        <p:nvGrpSpPr>
          <p:cNvPr id="42" name="Group 42"/>
          <p:cNvGrpSpPr/>
          <p:nvPr/>
        </p:nvGrpSpPr>
        <p:grpSpPr>
          <a:xfrm>
            <a:off x="10207229" y="5469582"/>
            <a:ext cx="4678264" cy="584597"/>
            <a:chOff x="0" y="0"/>
            <a:chExt cx="6237685" cy="779463"/>
          </a:xfrm>
        </p:grpSpPr>
        <p:sp>
          <p:nvSpPr>
            <p:cNvPr id="43" name="Freeform 43"/>
            <p:cNvSpPr/>
            <p:nvPr/>
          </p:nvSpPr>
          <p:spPr>
            <a:xfrm>
              <a:off x="0" y="0"/>
              <a:ext cx="6237685" cy="779463"/>
            </a:xfrm>
            <a:custGeom>
              <a:avLst/>
              <a:gdLst/>
              <a:ahLst/>
              <a:cxnLst/>
              <a:rect l="l" t="t" r="r" b="b"/>
              <a:pathLst>
                <a:path w="6237685" h="779463">
                  <a:moveTo>
                    <a:pt x="0" y="0"/>
                  </a:moveTo>
                  <a:lnTo>
                    <a:pt x="6237685" y="0"/>
                  </a:lnTo>
                  <a:lnTo>
                    <a:pt x="6237685" y="779463"/>
                  </a:lnTo>
                  <a:lnTo>
                    <a:pt x="0" y="779463"/>
                  </a:lnTo>
                  <a:close/>
                </a:path>
              </a:pathLst>
            </a:custGeom>
            <a:solidFill>
              <a:srgbClr val="000000">
                <a:alpha val="0"/>
              </a:srgbClr>
            </a:solidFill>
          </p:spPr>
        </p:sp>
        <p:sp>
          <p:nvSpPr>
            <p:cNvPr id="44" name="TextBox 44"/>
            <p:cNvSpPr txBox="1"/>
            <p:nvPr/>
          </p:nvSpPr>
          <p:spPr>
            <a:xfrm>
              <a:off x="0" y="-28575"/>
              <a:ext cx="6237685" cy="808038"/>
            </a:xfrm>
            <a:prstGeom prst="rect">
              <a:avLst/>
            </a:prstGeom>
          </p:spPr>
          <p:txBody>
            <a:bodyPr lIns="0" tIns="0" rIns="0" bIns="0" rtlCol="0" anchor="t"/>
            <a:lstStyle/>
            <a:p>
              <a:pPr algn="l">
                <a:lnSpc>
                  <a:spcPts val="4562"/>
                </a:lnSpc>
              </a:pPr>
              <a:r>
                <a:rPr lang="en-US" sz="3625" spc="-73">
                  <a:solidFill>
                    <a:srgbClr val="272525"/>
                  </a:solidFill>
                  <a:latin typeface="Petrona"/>
                  <a:ea typeface="Petrona"/>
                  <a:cs typeface="Petrona"/>
                  <a:sym typeface="Petrona"/>
                </a:rPr>
                <a:t>Control Structures</a:t>
              </a:r>
            </a:p>
          </p:txBody>
        </p:sp>
      </p:grpSp>
      <p:grpSp>
        <p:nvGrpSpPr>
          <p:cNvPr id="45" name="Group 45"/>
          <p:cNvGrpSpPr/>
          <p:nvPr/>
        </p:nvGrpSpPr>
        <p:grpSpPr>
          <a:xfrm>
            <a:off x="987475" y="7275611"/>
            <a:ext cx="647402" cy="647402"/>
            <a:chOff x="0" y="0"/>
            <a:chExt cx="863203" cy="863203"/>
          </a:xfrm>
        </p:grpSpPr>
        <p:sp>
          <p:nvSpPr>
            <p:cNvPr id="46" name="Freeform 46"/>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id="47" name="Freeform 47"/>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48" name="Group 48"/>
          <p:cNvGrpSpPr/>
          <p:nvPr/>
        </p:nvGrpSpPr>
        <p:grpSpPr>
          <a:xfrm>
            <a:off x="1182886" y="7365355"/>
            <a:ext cx="256431" cy="467766"/>
            <a:chOff x="0" y="0"/>
            <a:chExt cx="341908" cy="623688"/>
          </a:xfrm>
        </p:grpSpPr>
        <p:sp>
          <p:nvSpPr>
            <p:cNvPr id="49" name="Freeform 49"/>
            <p:cNvSpPr/>
            <p:nvPr/>
          </p:nvSpPr>
          <p:spPr>
            <a:xfrm>
              <a:off x="0" y="0"/>
              <a:ext cx="341908" cy="623688"/>
            </a:xfrm>
            <a:custGeom>
              <a:avLst/>
              <a:gdLst/>
              <a:ahLst/>
              <a:cxnLst/>
              <a:rect l="l" t="t" r="r" b="b"/>
              <a:pathLst>
                <a:path w="341908" h="623688">
                  <a:moveTo>
                    <a:pt x="0" y="0"/>
                  </a:moveTo>
                  <a:lnTo>
                    <a:pt x="341908" y="0"/>
                  </a:lnTo>
                  <a:lnTo>
                    <a:pt x="341908" y="623688"/>
                  </a:lnTo>
                  <a:lnTo>
                    <a:pt x="0" y="623688"/>
                  </a:lnTo>
                  <a:close/>
                </a:path>
              </a:pathLst>
            </a:custGeom>
            <a:solidFill>
              <a:srgbClr val="000000">
                <a:alpha val="0"/>
              </a:srgbClr>
            </a:solidFill>
          </p:spPr>
        </p:sp>
        <p:sp>
          <p:nvSpPr>
            <p:cNvPr id="50" name="TextBox 50"/>
            <p:cNvSpPr txBox="1"/>
            <p:nvPr/>
          </p:nvSpPr>
          <p:spPr>
            <a:xfrm>
              <a:off x="0" y="57150"/>
              <a:ext cx="341908" cy="566538"/>
            </a:xfrm>
            <a:prstGeom prst="rect">
              <a:avLst/>
            </a:prstGeom>
          </p:spPr>
          <p:txBody>
            <a:bodyPr lIns="0" tIns="0" rIns="0" bIns="0" rtlCol="0" anchor="t"/>
            <a:lstStyle/>
            <a:p>
              <a:pPr algn="ctr">
                <a:lnSpc>
                  <a:spcPts val="3625"/>
                </a:lnSpc>
              </a:pPr>
              <a:r>
                <a:rPr lang="en-US" sz="3625" spc="-73">
                  <a:solidFill>
                    <a:srgbClr val="272525"/>
                  </a:solidFill>
                  <a:latin typeface="Petrona"/>
                  <a:ea typeface="Petrona"/>
                  <a:cs typeface="Petrona"/>
                  <a:sym typeface="Petrona"/>
                </a:rPr>
                <a:t>5</a:t>
              </a:r>
            </a:p>
          </p:txBody>
        </p:sp>
      </p:grpSp>
      <p:grpSp>
        <p:nvGrpSpPr>
          <p:cNvPr id="51" name="Group 51"/>
          <p:cNvGrpSpPr/>
          <p:nvPr/>
        </p:nvGrpSpPr>
        <p:grpSpPr>
          <a:xfrm>
            <a:off x="1913632" y="7280374"/>
            <a:ext cx="4678264" cy="584597"/>
            <a:chOff x="0" y="0"/>
            <a:chExt cx="6237685" cy="779463"/>
          </a:xfrm>
        </p:grpSpPr>
        <p:sp>
          <p:nvSpPr>
            <p:cNvPr id="52" name="Freeform 52"/>
            <p:cNvSpPr/>
            <p:nvPr/>
          </p:nvSpPr>
          <p:spPr>
            <a:xfrm>
              <a:off x="0" y="0"/>
              <a:ext cx="6237685" cy="779463"/>
            </a:xfrm>
            <a:custGeom>
              <a:avLst/>
              <a:gdLst/>
              <a:ahLst/>
              <a:cxnLst/>
              <a:rect l="l" t="t" r="r" b="b"/>
              <a:pathLst>
                <a:path w="6237685" h="779463">
                  <a:moveTo>
                    <a:pt x="0" y="0"/>
                  </a:moveTo>
                  <a:lnTo>
                    <a:pt x="6237685" y="0"/>
                  </a:lnTo>
                  <a:lnTo>
                    <a:pt x="6237685" y="779463"/>
                  </a:lnTo>
                  <a:lnTo>
                    <a:pt x="0" y="779463"/>
                  </a:lnTo>
                  <a:close/>
                </a:path>
              </a:pathLst>
            </a:custGeom>
            <a:solidFill>
              <a:srgbClr val="000000">
                <a:alpha val="0"/>
              </a:srgbClr>
            </a:solidFill>
          </p:spPr>
        </p:sp>
        <p:sp>
          <p:nvSpPr>
            <p:cNvPr id="53" name="TextBox 53"/>
            <p:cNvSpPr txBox="1"/>
            <p:nvPr/>
          </p:nvSpPr>
          <p:spPr>
            <a:xfrm>
              <a:off x="0" y="-28575"/>
              <a:ext cx="6237685" cy="808038"/>
            </a:xfrm>
            <a:prstGeom prst="rect">
              <a:avLst/>
            </a:prstGeom>
          </p:spPr>
          <p:txBody>
            <a:bodyPr lIns="0" tIns="0" rIns="0" bIns="0" rtlCol="0" anchor="t"/>
            <a:lstStyle/>
            <a:p>
              <a:pPr algn="l">
                <a:lnSpc>
                  <a:spcPts val="4562"/>
                </a:lnSpc>
              </a:pPr>
              <a:r>
                <a:rPr lang="en-US" sz="3625" spc="-73">
                  <a:solidFill>
                    <a:srgbClr val="272525"/>
                  </a:solidFill>
                  <a:latin typeface="Petrona"/>
                  <a:ea typeface="Petrona"/>
                  <a:cs typeface="Petrona"/>
                  <a:sym typeface="Petrona"/>
                </a:rPr>
                <a:t>Functions &amp; Modules</a:t>
              </a:r>
            </a:p>
          </p:txBody>
        </p:sp>
      </p:grpSp>
      <p:grpSp>
        <p:nvGrpSpPr>
          <p:cNvPr id="54" name="Group 54"/>
          <p:cNvGrpSpPr/>
          <p:nvPr/>
        </p:nvGrpSpPr>
        <p:grpSpPr>
          <a:xfrm>
            <a:off x="9281071" y="7275611"/>
            <a:ext cx="647402" cy="647402"/>
            <a:chOff x="0" y="0"/>
            <a:chExt cx="863203" cy="863203"/>
          </a:xfrm>
        </p:grpSpPr>
        <p:sp>
          <p:nvSpPr>
            <p:cNvPr id="55" name="Freeform 55"/>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id="56" name="Freeform 56"/>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57" name="Group 57"/>
          <p:cNvGrpSpPr/>
          <p:nvPr/>
        </p:nvGrpSpPr>
        <p:grpSpPr>
          <a:xfrm>
            <a:off x="9467701" y="7365355"/>
            <a:ext cx="274141" cy="467766"/>
            <a:chOff x="0" y="0"/>
            <a:chExt cx="365522" cy="623688"/>
          </a:xfrm>
        </p:grpSpPr>
        <p:sp>
          <p:nvSpPr>
            <p:cNvPr id="58" name="Freeform 58"/>
            <p:cNvSpPr/>
            <p:nvPr/>
          </p:nvSpPr>
          <p:spPr>
            <a:xfrm>
              <a:off x="0" y="0"/>
              <a:ext cx="365522" cy="623688"/>
            </a:xfrm>
            <a:custGeom>
              <a:avLst/>
              <a:gdLst/>
              <a:ahLst/>
              <a:cxnLst/>
              <a:rect l="l" t="t" r="r" b="b"/>
              <a:pathLst>
                <a:path w="365522" h="623688">
                  <a:moveTo>
                    <a:pt x="0" y="0"/>
                  </a:moveTo>
                  <a:lnTo>
                    <a:pt x="365522" y="0"/>
                  </a:lnTo>
                  <a:lnTo>
                    <a:pt x="365522" y="623688"/>
                  </a:lnTo>
                  <a:lnTo>
                    <a:pt x="0" y="623688"/>
                  </a:lnTo>
                  <a:close/>
                </a:path>
              </a:pathLst>
            </a:custGeom>
            <a:solidFill>
              <a:srgbClr val="000000">
                <a:alpha val="0"/>
              </a:srgbClr>
            </a:solidFill>
          </p:spPr>
        </p:sp>
        <p:sp>
          <p:nvSpPr>
            <p:cNvPr id="59" name="TextBox 59"/>
            <p:cNvSpPr txBox="1"/>
            <p:nvPr/>
          </p:nvSpPr>
          <p:spPr>
            <a:xfrm>
              <a:off x="0" y="57150"/>
              <a:ext cx="365522" cy="566538"/>
            </a:xfrm>
            <a:prstGeom prst="rect">
              <a:avLst/>
            </a:prstGeom>
          </p:spPr>
          <p:txBody>
            <a:bodyPr lIns="0" tIns="0" rIns="0" bIns="0" rtlCol="0" anchor="t"/>
            <a:lstStyle/>
            <a:p>
              <a:pPr algn="ctr">
                <a:lnSpc>
                  <a:spcPts val="3625"/>
                </a:lnSpc>
              </a:pPr>
              <a:r>
                <a:rPr lang="en-US" sz="3625" spc="-73">
                  <a:solidFill>
                    <a:srgbClr val="272525"/>
                  </a:solidFill>
                  <a:latin typeface="Petrona"/>
                  <a:ea typeface="Petrona"/>
                  <a:cs typeface="Petrona"/>
                  <a:sym typeface="Petrona"/>
                </a:rPr>
                <a:t>6</a:t>
              </a:r>
            </a:p>
          </p:txBody>
        </p:sp>
      </p:grpSp>
      <p:grpSp>
        <p:nvGrpSpPr>
          <p:cNvPr id="60" name="Group 60"/>
          <p:cNvGrpSpPr/>
          <p:nvPr/>
        </p:nvGrpSpPr>
        <p:grpSpPr>
          <a:xfrm>
            <a:off x="10207229" y="7280374"/>
            <a:ext cx="4678264" cy="584597"/>
            <a:chOff x="0" y="0"/>
            <a:chExt cx="6237685" cy="779463"/>
          </a:xfrm>
        </p:grpSpPr>
        <p:sp>
          <p:nvSpPr>
            <p:cNvPr id="61" name="Freeform 61"/>
            <p:cNvSpPr/>
            <p:nvPr/>
          </p:nvSpPr>
          <p:spPr>
            <a:xfrm>
              <a:off x="0" y="0"/>
              <a:ext cx="6237685" cy="779463"/>
            </a:xfrm>
            <a:custGeom>
              <a:avLst/>
              <a:gdLst/>
              <a:ahLst/>
              <a:cxnLst/>
              <a:rect l="l" t="t" r="r" b="b"/>
              <a:pathLst>
                <a:path w="6237685" h="779463">
                  <a:moveTo>
                    <a:pt x="0" y="0"/>
                  </a:moveTo>
                  <a:lnTo>
                    <a:pt x="6237685" y="0"/>
                  </a:lnTo>
                  <a:lnTo>
                    <a:pt x="6237685" y="779463"/>
                  </a:lnTo>
                  <a:lnTo>
                    <a:pt x="0" y="779463"/>
                  </a:lnTo>
                  <a:close/>
                </a:path>
              </a:pathLst>
            </a:custGeom>
            <a:solidFill>
              <a:srgbClr val="000000">
                <a:alpha val="0"/>
              </a:srgbClr>
            </a:solidFill>
          </p:spPr>
        </p:sp>
        <p:sp>
          <p:nvSpPr>
            <p:cNvPr id="62" name="TextBox 62"/>
            <p:cNvSpPr txBox="1"/>
            <p:nvPr/>
          </p:nvSpPr>
          <p:spPr>
            <a:xfrm>
              <a:off x="0" y="-28575"/>
              <a:ext cx="6237685" cy="808038"/>
            </a:xfrm>
            <a:prstGeom prst="rect">
              <a:avLst/>
            </a:prstGeom>
          </p:spPr>
          <p:txBody>
            <a:bodyPr lIns="0" tIns="0" rIns="0" bIns="0" rtlCol="0" anchor="t"/>
            <a:lstStyle/>
            <a:p>
              <a:pPr algn="l">
                <a:lnSpc>
                  <a:spcPts val="4562"/>
                </a:lnSpc>
              </a:pPr>
              <a:r>
                <a:rPr lang="en-US" sz="3625" spc="-73">
                  <a:solidFill>
                    <a:srgbClr val="272525"/>
                  </a:solidFill>
                  <a:latin typeface="Petrona"/>
                  <a:ea typeface="Petrona"/>
                  <a:cs typeface="Petrona"/>
                  <a:sym typeface="Petrona"/>
                </a:rPr>
                <a:t>Hands-on Activity</a:t>
              </a:r>
            </a:p>
          </p:txBody>
        </p:sp>
      </p:grpSp>
      <p:sp>
        <p:nvSpPr>
          <p:cNvPr id="63" name="TextBox 63"/>
          <p:cNvSpPr txBox="1"/>
          <p:nvPr/>
        </p:nvSpPr>
        <p:spPr>
          <a:xfrm>
            <a:off x="15487669" y="9709650"/>
            <a:ext cx="3543263" cy="351400"/>
          </a:xfrm>
          <a:prstGeom prst="rect">
            <a:avLst/>
          </a:prstGeom>
        </p:spPr>
        <p:txBody>
          <a:bodyPr lIns="0" tIns="0" rIns="0" bIns="0" rtlCol="0" anchor="t">
            <a:spAutoFit/>
          </a:bodyPr>
          <a:lstStyle/>
          <a:p>
            <a:pPr algn="l">
              <a:lnSpc>
                <a:spcPts val="2948"/>
              </a:lnSpc>
              <a:spcBef>
                <a:spcPct val="0"/>
              </a:spcBef>
            </a:pPr>
            <a:r>
              <a:rPr lang="en-US" sz="1824" spc="-36">
                <a:solidFill>
                  <a:srgbClr val="272525"/>
                </a:solidFill>
                <a:latin typeface="Inter"/>
                <a:ea typeface="Inter"/>
                <a:cs typeface="Inter"/>
                <a:sym typeface="Inter"/>
              </a:rPr>
              <a:t>Mohammad Anees Alam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772566" y="608856"/>
            <a:ext cx="11573321" cy="810044"/>
            <a:chOff x="0" y="0"/>
            <a:chExt cx="15431095" cy="1080059"/>
          </a:xfrm>
        </p:grpSpPr>
        <p:sp>
          <p:nvSpPr>
            <p:cNvPr id="7" name="Freeform 7"/>
            <p:cNvSpPr/>
            <p:nvPr/>
          </p:nvSpPr>
          <p:spPr>
            <a:xfrm>
              <a:off x="0" y="0"/>
              <a:ext cx="15431095" cy="1080059"/>
            </a:xfrm>
            <a:custGeom>
              <a:avLst/>
              <a:gdLst/>
              <a:ahLst/>
              <a:cxnLst/>
              <a:rect l="l" t="t" r="r" b="b"/>
              <a:pathLst>
                <a:path w="15431095" h="1080059">
                  <a:moveTo>
                    <a:pt x="0" y="0"/>
                  </a:moveTo>
                  <a:lnTo>
                    <a:pt x="15431095" y="0"/>
                  </a:lnTo>
                  <a:lnTo>
                    <a:pt x="15431095" y="1080059"/>
                  </a:lnTo>
                  <a:lnTo>
                    <a:pt x="0" y="1080059"/>
                  </a:lnTo>
                  <a:close/>
                </a:path>
              </a:pathLst>
            </a:custGeom>
            <a:solidFill>
              <a:srgbClr val="000000">
                <a:alpha val="0"/>
              </a:srgbClr>
            </a:solidFill>
          </p:spPr>
        </p:sp>
        <p:sp>
          <p:nvSpPr>
            <p:cNvPr id="8" name="TextBox 8"/>
            <p:cNvSpPr txBox="1"/>
            <p:nvPr/>
          </p:nvSpPr>
          <p:spPr>
            <a:xfrm>
              <a:off x="0" y="-28575"/>
              <a:ext cx="15431095" cy="1108634"/>
            </a:xfrm>
            <a:prstGeom prst="rect">
              <a:avLst/>
            </a:prstGeom>
          </p:spPr>
          <p:txBody>
            <a:bodyPr lIns="0" tIns="0" rIns="0" bIns="0" rtlCol="0" anchor="t"/>
            <a:lstStyle/>
            <a:p>
              <a:pPr algn="l">
                <a:lnSpc>
                  <a:spcPts val="6062"/>
                </a:lnSpc>
              </a:pPr>
              <a:r>
                <a:rPr lang="en-US" sz="4850" spc="-97">
                  <a:solidFill>
                    <a:srgbClr val="F95F88"/>
                  </a:solidFill>
                  <a:latin typeface="Petrona"/>
                  <a:ea typeface="Petrona"/>
                  <a:cs typeface="Petrona"/>
                  <a:sym typeface="Petrona"/>
                </a:rPr>
                <a:t>Why Python is a Popular Choice in DevOps?</a:t>
              </a:r>
            </a:p>
          </p:txBody>
        </p:sp>
      </p:grpSp>
      <p:grpSp>
        <p:nvGrpSpPr>
          <p:cNvPr id="9" name="Group 9"/>
          <p:cNvGrpSpPr/>
          <p:nvPr/>
        </p:nvGrpSpPr>
        <p:grpSpPr>
          <a:xfrm>
            <a:off x="9129712" y="1698575"/>
            <a:ext cx="28575" cy="7979569"/>
            <a:chOff x="0" y="0"/>
            <a:chExt cx="38100" cy="10639425"/>
          </a:xfrm>
        </p:grpSpPr>
        <p:sp>
          <p:nvSpPr>
            <p:cNvPr id="10" name="Freeform 10"/>
            <p:cNvSpPr/>
            <p:nvPr/>
          </p:nvSpPr>
          <p:spPr>
            <a:xfrm>
              <a:off x="0" y="0"/>
              <a:ext cx="38100" cy="10639425"/>
            </a:xfrm>
            <a:custGeom>
              <a:avLst/>
              <a:gdLst/>
              <a:ahLst/>
              <a:cxnLst/>
              <a:rect l="l" t="t" r="r" b="b"/>
              <a:pathLst>
                <a:path w="38100" h="10639425">
                  <a:moveTo>
                    <a:pt x="0" y="19050"/>
                  </a:moveTo>
                  <a:cubicBezTo>
                    <a:pt x="0" y="8509"/>
                    <a:pt x="8509" y="0"/>
                    <a:pt x="19050" y="0"/>
                  </a:cubicBezTo>
                  <a:cubicBezTo>
                    <a:pt x="29591" y="0"/>
                    <a:pt x="38100" y="8509"/>
                    <a:pt x="38100" y="19050"/>
                  </a:cubicBezTo>
                  <a:lnTo>
                    <a:pt x="38100" y="10620375"/>
                  </a:lnTo>
                  <a:cubicBezTo>
                    <a:pt x="38100" y="10630916"/>
                    <a:pt x="29591" y="10639425"/>
                    <a:pt x="19050" y="10639425"/>
                  </a:cubicBezTo>
                  <a:cubicBezTo>
                    <a:pt x="8509" y="10639425"/>
                    <a:pt x="0" y="10630916"/>
                    <a:pt x="0" y="10620375"/>
                  </a:cubicBezTo>
                  <a:close/>
                </a:path>
              </a:pathLst>
            </a:custGeom>
            <a:solidFill>
              <a:srgbClr val="C6BDDA"/>
            </a:solidFill>
          </p:spPr>
        </p:sp>
      </p:grpSp>
      <p:grpSp>
        <p:nvGrpSpPr>
          <p:cNvPr id="11" name="Group 11"/>
          <p:cNvGrpSpPr/>
          <p:nvPr/>
        </p:nvGrpSpPr>
        <p:grpSpPr>
          <a:xfrm>
            <a:off x="8151689" y="2180779"/>
            <a:ext cx="772566" cy="28575"/>
            <a:chOff x="0" y="0"/>
            <a:chExt cx="1030088" cy="38100"/>
          </a:xfrm>
        </p:grpSpPr>
        <p:sp>
          <p:nvSpPr>
            <p:cNvPr id="12" name="Freeform 12"/>
            <p:cNvSpPr/>
            <p:nvPr/>
          </p:nvSpPr>
          <p:spPr>
            <a:xfrm>
              <a:off x="0" y="0"/>
              <a:ext cx="1030097" cy="38100"/>
            </a:xfrm>
            <a:custGeom>
              <a:avLst/>
              <a:gdLst/>
              <a:ahLst/>
              <a:cxnLst/>
              <a:rect l="l" t="t" r="r" b="b"/>
              <a:pathLst>
                <a:path w="1030097" h="38100">
                  <a:moveTo>
                    <a:pt x="0" y="19050"/>
                  </a:moveTo>
                  <a:cubicBezTo>
                    <a:pt x="0" y="8509"/>
                    <a:pt x="8509" y="0"/>
                    <a:pt x="19050" y="0"/>
                  </a:cubicBezTo>
                  <a:lnTo>
                    <a:pt x="1011047" y="0"/>
                  </a:lnTo>
                  <a:cubicBezTo>
                    <a:pt x="1021588" y="0"/>
                    <a:pt x="1030097" y="8509"/>
                    <a:pt x="1030097" y="19050"/>
                  </a:cubicBezTo>
                  <a:cubicBezTo>
                    <a:pt x="1030097" y="29591"/>
                    <a:pt x="1021588" y="38100"/>
                    <a:pt x="1011047" y="38100"/>
                  </a:cubicBezTo>
                  <a:lnTo>
                    <a:pt x="19050" y="38100"/>
                  </a:lnTo>
                  <a:cubicBezTo>
                    <a:pt x="8509" y="38100"/>
                    <a:pt x="0" y="29591"/>
                    <a:pt x="0" y="19050"/>
                  </a:cubicBezTo>
                  <a:close/>
                </a:path>
              </a:pathLst>
            </a:custGeom>
            <a:solidFill>
              <a:srgbClr val="C6BDDA"/>
            </a:solidFill>
          </p:spPr>
        </p:sp>
      </p:grpSp>
      <p:grpSp>
        <p:nvGrpSpPr>
          <p:cNvPr id="13" name="Group 13"/>
          <p:cNvGrpSpPr/>
          <p:nvPr/>
        </p:nvGrpSpPr>
        <p:grpSpPr>
          <a:xfrm>
            <a:off x="8890918" y="1942059"/>
            <a:ext cx="506165" cy="506165"/>
            <a:chOff x="0" y="0"/>
            <a:chExt cx="674887" cy="674887"/>
          </a:xfrm>
        </p:grpSpPr>
        <p:sp>
          <p:nvSpPr>
            <p:cNvPr id="14" name="Freeform 14"/>
            <p:cNvSpPr/>
            <p:nvPr/>
          </p:nvSpPr>
          <p:spPr>
            <a:xfrm>
              <a:off x="6350" y="6350"/>
              <a:ext cx="662178" cy="662178"/>
            </a:xfrm>
            <a:custGeom>
              <a:avLst/>
              <a:gdLst/>
              <a:ahLst/>
              <a:cxnLst/>
              <a:rect l="l" t="t" r="r" b="b"/>
              <a:pathLst>
                <a:path w="662178" h="662178">
                  <a:moveTo>
                    <a:pt x="0" y="123571"/>
                  </a:moveTo>
                  <a:cubicBezTo>
                    <a:pt x="0" y="55372"/>
                    <a:pt x="55372" y="0"/>
                    <a:pt x="123571" y="0"/>
                  </a:cubicBezTo>
                  <a:lnTo>
                    <a:pt x="538607" y="0"/>
                  </a:lnTo>
                  <a:cubicBezTo>
                    <a:pt x="606933" y="0"/>
                    <a:pt x="662178" y="55372"/>
                    <a:pt x="662178" y="123571"/>
                  </a:cubicBezTo>
                  <a:lnTo>
                    <a:pt x="662178" y="538607"/>
                  </a:lnTo>
                  <a:cubicBezTo>
                    <a:pt x="662178" y="606933"/>
                    <a:pt x="606806" y="662178"/>
                    <a:pt x="538607" y="662178"/>
                  </a:cubicBezTo>
                  <a:lnTo>
                    <a:pt x="123571" y="662178"/>
                  </a:lnTo>
                  <a:cubicBezTo>
                    <a:pt x="55372" y="662178"/>
                    <a:pt x="0" y="606806"/>
                    <a:pt x="0" y="538607"/>
                  </a:cubicBezTo>
                  <a:close/>
                </a:path>
              </a:pathLst>
            </a:custGeom>
            <a:solidFill>
              <a:srgbClr val="E0D7F4"/>
            </a:solidFill>
          </p:spPr>
        </p:sp>
        <p:sp>
          <p:nvSpPr>
            <p:cNvPr id="15" name="Freeform 15"/>
            <p:cNvSpPr/>
            <p:nvPr/>
          </p:nvSpPr>
          <p:spPr>
            <a:xfrm>
              <a:off x="0" y="0"/>
              <a:ext cx="674878" cy="674878"/>
            </a:xfrm>
            <a:custGeom>
              <a:avLst/>
              <a:gdLst/>
              <a:ahLst/>
              <a:cxnLst/>
              <a:rect l="l" t="t" r="r" b="b"/>
              <a:pathLst>
                <a:path w="674878" h="674878">
                  <a:moveTo>
                    <a:pt x="0" y="129921"/>
                  </a:moveTo>
                  <a:cubicBezTo>
                    <a:pt x="0" y="58166"/>
                    <a:pt x="58166" y="0"/>
                    <a:pt x="129921" y="0"/>
                  </a:cubicBezTo>
                  <a:lnTo>
                    <a:pt x="544957" y="0"/>
                  </a:lnTo>
                  <a:lnTo>
                    <a:pt x="544957" y="6350"/>
                  </a:lnTo>
                  <a:lnTo>
                    <a:pt x="544957" y="0"/>
                  </a:lnTo>
                  <a:cubicBezTo>
                    <a:pt x="616712" y="0"/>
                    <a:pt x="674878" y="58166"/>
                    <a:pt x="674878" y="129921"/>
                  </a:cubicBezTo>
                  <a:lnTo>
                    <a:pt x="668528" y="129921"/>
                  </a:lnTo>
                  <a:lnTo>
                    <a:pt x="674878" y="129921"/>
                  </a:lnTo>
                  <a:lnTo>
                    <a:pt x="674878" y="544957"/>
                  </a:lnTo>
                  <a:lnTo>
                    <a:pt x="668528" y="544957"/>
                  </a:lnTo>
                  <a:lnTo>
                    <a:pt x="674878" y="544957"/>
                  </a:lnTo>
                  <a:cubicBezTo>
                    <a:pt x="674878" y="616712"/>
                    <a:pt x="616712" y="674878"/>
                    <a:pt x="544957" y="674878"/>
                  </a:cubicBezTo>
                  <a:lnTo>
                    <a:pt x="544957" y="668528"/>
                  </a:lnTo>
                  <a:lnTo>
                    <a:pt x="544957" y="674878"/>
                  </a:lnTo>
                  <a:lnTo>
                    <a:pt x="129921" y="674878"/>
                  </a:lnTo>
                  <a:lnTo>
                    <a:pt x="129921" y="668528"/>
                  </a:lnTo>
                  <a:lnTo>
                    <a:pt x="129921" y="674878"/>
                  </a:lnTo>
                  <a:cubicBezTo>
                    <a:pt x="58166" y="674878"/>
                    <a:pt x="0" y="616712"/>
                    <a:pt x="0" y="544957"/>
                  </a:cubicBezTo>
                  <a:lnTo>
                    <a:pt x="0" y="129921"/>
                  </a:lnTo>
                  <a:lnTo>
                    <a:pt x="6350" y="129921"/>
                  </a:lnTo>
                  <a:lnTo>
                    <a:pt x="0" y="129921"/>
                  </a:lnTo>
                  <a:moveTo>
                    <a:pt x="12700" y="129921"/>
                  </a:moveTo>
                  <a:lnTo>
                    <a:pt x="12700" y="544957"/>
                  </a:lnTo>
                  <a:lnTo>
                    <a:pt x="6350" y="544957"/>
                  </a:lnTo>
                  <a:lnTo>
                    <a:pt x="12700" y="544957"/>
                  </a:lnTo>
                  <a:cubicBezTo>
                    <a:pt x="12700" y="609727"/>
                    <a:pt x="65151" y="662178"/>
                    <a:pt x="129921" y="662178"/>
                  </a:cubicBezTo>
                  <a:lnTo>
                    <a:pt x="544957" y="662178"/>
                  </a:lnTo>
                  <a:cubicBezTo>
                    <a:pt x="609727" y="662178"/>
                    <a:pt x="662178" y="609727"/>
                    <a:pt x="662178" y="544957"/>
                  </a:cubicBezTo>
                  <a:lnTo>
                    <a:pt x="662178" y="129921"/>
                  </a:lnTo>
                  <a:cubicBezTo>
                    <a:pt x="662178" y="65151"/>
                    <a:pt x="609727" y="12700"/>
                    <a:pt x="544957" y="12700"/>
                  </a:cubicBezTo>
                  <a:lnTo>
                    <a:pt x="129921" y="12700"/>
                  </a:lnTo>
                  <a:lnTo>
                    <a:pt x="129921" y="6350"/>
                  </a:lnTo>
                  <a:lnTo>
                    <a:pt x="129921" y="12700"/>
                  </a:lnTo>
                  <a:cubicBezTo>
                    <a:pt x="65151" y="12700"/>
                    <a:pt x="12700" y="65151"/>
                    <a:pt x="12700" y="129921"/>
                  </a:cubicBezTo>
                  <a:close/>
                </a:path>
              </a:pathLst>
            </a:custGeom>
            <a:solidFill>
              <a:srgbClr val="C6BDDA"/>
            </a:solidFill>
          </p:spPr>
        </p:sp>
      </p:grpSp>
      <p:grpSp>
        <p:nvGrpSpPr>
          <p:cNvPr id="16" name="Group 16"/>
          <p:cNvGrpSpPr/>
          <p:nvPr/>
        </p:nvGrpSpPr>
        <p:grpSpPr>
          <a:xfrm>
            <a:off x="9069660" y="2013049"/>
            <a:ext cx="148679" cy="364182"/>
            <a:chOff x="0" y="0"/>
            <a:chExt cx="198238" cy="485577"/>
          </a:xfrm>
        </p:grpSpPr>
        <p:sp>
          <p:nvSpPr>
            <p:cNvPr id="17" name="Freeform 17"/>
            <p:cNvSpPr/>
            <p:nvPr/>
          </p:nvSpPr>
          <p:spPr>
            <a:xfrm>
              <a:off x="0" y="0"/>
              <a:ext cx="198238" cy="485577"/>
            </a:xfrm>
            <a:custGeom>
              <a:avLst/>
              <a:gdLst/>
              <a:ahLst/>
              <a:cxnLst/>
              <a:rect l="l" t="t" r="r" b="b"/>
              <a:pathLst>
                <a:path w="198238" h="485577">
                  <a:moveTo>
                    <a:pt x="0" y="0"/>
                  </a:moveTo>
                  <a:lnTo>
                    <a:pt x="198238" y="0"/>
                  </a:lnTo>
                  <a:lnTo>
                    <a:pt x="198238" y="485577"/>
                  </a:lnTo>
                  <a:lnTo>
                    <a:pt x="0" y="485577"/>
                  </a:lnTo>
                  <a:close/>
                </a:path>
              </a:pathLst>
            </a:custGeom>
            <a:solidFill>
              <a:srgbClr val="000000">
                <a:alpha val="0"/>
              </a:srgbClr>
            </a:solidFill>
          </p:spPr>
        </p:sp>
        <p:sp>
          <p:nvSpPr>
            <p:cNvPr id="18" name="TextBox 18"/>
            <p:cNvSpPr txBox="1"/>
            <p:nvPr/>
          </p:nvSpPr>
          <p:spPr>
            <a:xfrm>
              <a:off x="0" y="47625"/>
              <a:ext cx="198238" cy="437952"/>
            </a:xfrm>
            <a:prstGeom prst="rect">
              <a:avLst/>
            </a:prstGeom>
          </p:spPr>
          <p:txBody>
            <a:bodyPr lIns="0" tIns="0" rIns="0" bIns="0" rtlCol="0" anchor="t"/>
            <a:lstStyle/>
            <a:p>
              <a:pPr algn="ctr">
                <a:lnSpc>
                  <a:spcPts val="2812"/>
                </a:lnSpc>
              </a:pPr>
              <a:r>
                <a:rPr lang="en-US" sz="2812" spc="-57">
                  <a:solidFill>
                    <a:srgbClr val="272525"/>
                  </a:solidFill>
                  <a:latin typeface="Petrona"/>
                  <a:ea typeface="Petrona"/>
                  <a:cs typeface="Petrona"/>
                  <a:sym typeface="Petrona"/>
                </a:rPr>
                <a:t>1</a:t>
              </a:r>
            </a:p>
          </p:txBody>
        </p:sp>
      </p:grpSp>
      <p:grpSp>
        <p:nvGrpSpPr>
          <p:cNvPr id="19" name="Group 19"/>
          <p:cNvGrpSpPr/>
          <p:nvPr/>
        </p:nvGrpSpPr>
        <p:grpSpPr>
          <a:xfrm>
            <a:off x="2529929" y="1919288"/>
            <a:ext cx="3642420" cy="499715"/>
            <a:chOff x="0" y="0"/>
            <a:chExt cx="4856560" cy="666287"/>
          </a:xfrm>
        </p:grpSpPr>
        <p:sp>
          <p:nvSpPr>
            <p:cNvPr id="20" name="Freeform 20"/>
            <p:cNvSpPr/>
            <p:nvPr/>
          </p:nvSpPr>
          <p:spPr>
            <a:xfrm>
              <a:off x="0" y="0"/>
              <a:ext cx="4856560" cy="666287"/>
            </a:xfrm>
            <a:custGeom>
              <a:avLst/>
              <a:gdLst/>
              <a:ahLst/>
              <a:cxnLst/>
              <a:rect l="l" t="t" r="r" b="b"/>
              <a:pathLst>
                <a:path w="4856560" h="666287">
                  <a:moveTo>
                    <a:pt x="0" y="0"/>
                  </a:moveTo>
                  <a:lnTo>
                    <a:pt x="4856560" y="0"/>
                  </a:lnTo>
                  <a:lnTo>
                    <a:pt x="4856560" y="666287"/>
                  </a:lnTo>
                  <a:lnTo>
                    <a:pt x="0" y="666287"/>
                  </a:lnTo>
                  <a:close/>
                </a:path>
              </a:pathLst>
            </a:custGeom>
            <a:solidFill>
              <a:srgbClr val="000000">
                <a:alpha val="0"/>
              </a:srgbClr>
            </a:solidFill>
          </p:spPr>
        </p:sp>
        <p:sp>
          <p:nvSpPr>
            <p:cNvPr id="21" name="TextBox 21"/>
            <p:cNvSpPr txBox="1"/>
            <p:nvPr/>
          </p:nvSpPr>
          <p:spPr>
            <a:xfrm>
              <a:off x="0" y="-28575"/>
              <a:ext cx="4856560" cy="694862"/>
            </a:xfrm>
            <a:prstGeom prst="rect">
              <a:avLst/>
            </a:prstGeom>
          </p:spPr>
          <p:txBody>
            <a:bodyPr lIns="0" tIns="0" rIns="0" bIns="0" rtlCol="0" anchor="t"/>
            <a:lstStyle/>
            <a:p>
              <a:pPr algn="ctr">
                <a:lnSpc>
                  <a:spcPts val="3815"/>
                </a:lnSpc>
              </a:pPr>
              <a:r>
                <a:rPr lang="en-US" sz="3012" u="sng" spc="-61">
                  <a:solidFill>
                    <a:srgbClr val="272525"/>
                  </a:solidFill>
                  <a:latin typeface="Petrona"/>
                  <a:ea typeface="Petrona"/>
                  <a:cs typeface="Petrona"/>
                  <a:sym typeface="Petrona"/>
                </a:rPr>
                <a:t>Automation</a:t>
              </a:r>
            </a:p>
          </p:txBody>
        </p:sp>
      </p:grpSp>
      <p:grpSp>
        <p:nvGrpSpPr>
          <p:cNvPr id="22" name="Group 22"/>
          <p:cNvGrpSpPr/>
          <p:nvPr/>
        </p:nvGrpSpPr>
        <p:grpSpPr>
          <a:xfrm>
            <a:off x="772566" y="2506713"/>
            <a:ext cx="7157294" cy="2207121"/>
            <a:chOff x="0" y="0"/>
            <a:chExt cx="9543058" cy="2942828"/>
          </a:xfrm>
        </p:grpSpPr>
        <p:sp>
          <p:nvSpPr>
            <p:cNvPr id="23" name="Freeform 23"/>
            <p:cNvSpPr/>
            <p:nvPr/>
          </p:nvSpPr>
          <p:spPr>
            <a:xfrm>
              <a:off x="0" y="0"/>
              <a:ext cx="9543059" cy="2942828"/>
            </a:xfrm>
            <a:custGeom>
              <a:avLst/>
              <a:gdLst/>
              <a:ahLst/>
              <a:cxnLst/>
              <a:rect l="l" t="t" r="r" b="b"/>
              <a:pathLst>
                <a:path w="9543059" h="2942828">
                  <a:moveTo>
                    <a:pt x="0" y="0"/>
                  </a:moveTo>
                  <a:lnTo>
                    <a:pt x="9543059" y="0"/>
                  </a:lnTo>
                  <a:lnTo>
                    <a:pt x="9543059" y="2942828"/>
                  </a:lnTo>
                  <a:lnTo>
                    <a:pt x="0" y="2942828"/>
                  </a:lnTo>
                  <a:close/>
                </a:path>
              </a:pathLst>
            </a:custGeom>
            <a:solidFill>
              <a:srgbClr val="000000">
                <a:alpha val="0"/>
              </a:srgbClr>
            </a:solidFill>
          </p:spPr>
        </p:sp>
        <p:sp>
          <p:nvSpPr>
            <p:cNvPr id="24" name="TextBox 24"/>
            <p:cNvSpPr txBox="1"/>
            <p:nvPr/>
          </p:nvSpPr>
          <p:spPr>
            <a:xfrm>
              <a:off x="0" y="-95250"/>
              <a:ext cx="9543058" cy="3038078"/>
            </a:xfrm>
            <a:prstGeom prst="rect">
              <a:avLst/>
            </a:prstGeom>
          </p:spPr>
          <p:txBody>
            <a:bodyPr lIns="0" tIns="0" rIns="0" bIns="0" rtlCol="0" anchor="t"/>
            <a:lstStyle/>
            <a:p>
              <a:pPr algn="ctr">
                <a:lnSpc>
                  <a:spcPts val="3437"/>
                </a:lnSpc>
              </a:pPr>
              <a:r>
                <a:rPr lang="en-US" sz="2125" spc="-35">
                  <a:solidFill>
                    <a:srgbClr val="272525"/>
                  </a:solidFill>
                  <a:latin typeface="Inter"/>
                  <a:ea typeface="Inter"/>
                  <a:cs typeface="Inter"/>
                  <a:sym typeface="Inter"/>
                </a:rPr>
                <a:t>Python is good for automating repetitive tasks like updating servers or checking server health. For example, you can write a Python script to pull the latest code from GitHub and deploy it automatically to a server.</a:t>
              </a:r>
            </a:p>
          </p:txBody>
        </p:sp>
      </p:grpSp>
      <p:grpSp>
        <p:nvGrpSpPr>
          <p:cNvPr id="25" name="Group 25"/>
          <p:cNvGrpSpPr/>
          <p:nvPr/>
        </p:nvGrpSpPr>
        <p:grpSpPr>
          <a:xfrm>
            <a:off x="9363745" y="3284488"/>
            <a:ext cx="772566" cy="28575"/>
            <a:chOff x="0" y="0"/>
            <a:chExt cx="1030088" cy="38100"/>
          </a:xfrm>
        </p:grpSpPr>
        <p:sp>
          <p:nvSpPr>
            <p:cNvPr id="26" name="Freeform 26"/>
            <p:cNvSpPr/>
            <p:nvPr/>
          </p:nvSpPr>
          <p:spPr>
            <a:xfrm>
              <a:off x="0" y="0"/>
              <a:ext cx="1030097" cy="38100"/>
            </a:xfrm>
            <a:custGeom>
              <a:avLst/>
              <a:gdLst/>
              <a:ahLst/>
              <a:cxnLst/>
              <a:rect l="l" t="t" r="r" b="b"/>
              <a:pathLst>
                <a:path w="1030097" h="38100">
                  <a:moveTo>
                    <a:pt x="0" y="19050"/>
                  </a:moveTo>
                  <a:cubicBezTo>
                    <a:pt x="0" y="8509"/>
                    <a:pt x="8509" y="0"/>
                    <a:pt x="19050" y="0"/>
                  </a:cubicBezTo>
                  <a:lnTo>
                    <a:pt x="1011047" y="0"/>
                  </a:lnTo>
                  <a:cubicBezTo>
                    <a:pt x="1021588" y="0"/>
                    <a:pt x="1030097" y="8509"/>
                    <a:pt x="1030097" y="19050"/>
                  </a:cubicBezTo>
                  <a:cubicBezTo>
                    <a:pt x="1030097" y="29591"/>
                    <a:pt x="1021588" y="38100"/>
                    <a:pt x="1011047" y="38100"/>
                  </a:cubicBezTo>
                  <a:lnTo>
                    <a:pt x="19050" y="38100"/>
                  </a:lnTo>
                  <a:cubicBezTo>
                    <a:pt x="8509" y="38100"/>
                    <a:pt x="0" y="29591"/>
                    <a:pt x="0" y="19050"/>
                  </a:cubicBezTo>
                  <a:close/>
                </a:path>
              </a:pathLst>
            </a:custGeom>
            <a:solidFill>
              <a:srgbClr val="C6BDDA"/>
            </a:solidFill>
          </p:spPr>
        </p:sp>
      </p:grpSp>
      <p:grpSp>
        <p:nvGrpSpPr>
          <p:cNvPr id="27" name="Group 27"/>
          <p:cNvGrpSpPr/>
          <p:nvPr/>
        </p:nvGrpSpPr>
        <p:grpSpPr>
          <a:xfrm>
            <a:off x="8890918" y="3045767"/>
            <a:ext cx="506165" cy="506165"/>
            <a:chOff x="0" y="0"/>
            <a:chExt cx="674887" cy="674887"/>
          </a:xfrm>
        </p:grpSpPr>
        <p:sp>
          <p:nvSpPr>
            <p:cNvPr id="28" name="Freeform 28"/>
            <p:cNvSpPr/>
            <p:nvPr/>
          </p:nvSpPr>
          <p:spPr>
            <a:xfrm>
              <a:off x="6350" y="6350"/>
              <a:ext cx="662178" cy="662178"/>
            </a:xfrm>
            <a:custGeom>
              <a:avLst/>
              <a:gdLst/>
              <a:ahLst/>
              <a:cxnLst/>
              <a:rect l="l" t="t" r="r" b="b"/>
              <a:pathLst>
                <a:path w="662178" h="662178">
                  <a:moveTo>
                    <a:pt x="0" y="123571"/>
                  </a:moveTo>
                  <a:cubicBezTo>
                    <a:pt x="0" y="55372"/>
                    <a:pt x="55372" y="0"/>
                    <a:pt x="123571" y="0"/>
                  </a:cubicBezTo>
                  <a:lnTo>
                    <a:pt x="538607" y="0"/>
                  </a:lnTo>
                  <a:cubicBezTo>
                    <a:pt x="606933" y="0"/>
                    <a:pt x="662178" y="55372"/>
                    <a:pt x="662178" y="123571"/>
                  </a:cubicBezTo>
                  <a:lnTo>
                    <a:pt x="662178" y="538607"/>
                  </a:lnTo>
                  <a:cubicBezTo>
                    <a:pt x="662178" y="606933"/>
                    <a:pt x="606806" y="662178"/>
                    <a:pt x="538607" y="662178"/>
                  </a:cubicBezTo>
                  <a:lnTo>
                    <a:pt x="123571" y="662178"/>
                  </a:lnTo>
                  <a:cubicBezTo>
                    <a:pt x="55372" y="662178"/>
                    <a:pt x="0" y="606806"/>
                    <a:pt x="0" y="538607"/>
                  </a:cubicBezTo>
                  <a:close/>
                </a:path>
              </a:pathLst>
            </a:custGeom>
            <a:solidFill>
              <a:srgbClr val="E0D7F4"/>
            </a:solidFill>
          </p:spPr>
        </p:sp>
        <p:sp>
          <p:nvSpPr>
            <p:cNvPr id="29" name="Freeform 29"/>
            <p:cNvSpPr/>
            <p:nvPr/>
          </p:nvSpPr>
          <p:spPr>
            <a:xfrm>
              <a:off x="0" y="0"/>
              <a:ext cx="674878" cy="674878"/>
            </a:xfrm>
            <a:custGeom>
              <a:avLst/>
              <a:gdLst/>
              <a:ahLst/>
              <a:cxnLst/>
              <a:rect l="l" t="t" r="r" b="b"/>
              <a:pathLst>
                <a:path w="674878" h="674878">
                  <a:moveTo>
                    <a:pt x="0" y="129921"/>
                  </a:moveTo>
                  <a:cubicBezTo>
                    <a:pt x="0" y="58166"/>
                    <a:pt x="58166" y="0"/>
                    <a:pt x="129921" y="0"/>
                  </a:cubicBezTo>
                  <a:lnTo>
                    <a:pt x="544957" y="0"/>
                  </a:lnTo>
                  <a:lnTo>
                    <a:pt x="544957" y="6350"/>
                  </a:lnTo>
                  <a:lnTo>
                    <a:pt x="544957" y="0"/>
                  </a:lnTo>
                  <a:cubicBezTo>
                    <a:pt x="616712" y="0"/>
                    <a:pt x="674878" y="58166"/>
                    <a:pt x="674878" y="129921"/>
                  </a:cubicBezTo>
                  <a:lnTo>
                    <a:pt x="668528" y="129921"/>
                  </a:lnTo>
                  <a:lnTo>
                    <a:pt x="674878" y="129921"/>
                  </a:lnTo>
                  <a:lnTo>
                    <a:pt x="674878" y="544957"/>
                  </a:lnTo>
                  <a:lnTo>
                    <a:pt x="668528" y="544957"/>
                  </a:lnTo>
                  <a:lnTo>
                    <a:pt x="674878" y="544957"/>
                  </a:lnTo>
                  <a:cubicBezTo>
                    <a:pt x="674878" y="616712"/>
                    <a:pt x="616712" y="674878"/>
                    <a:pt x="544957" y="674878"/>
                  </a:cubicBezTo>
                  <a:lnTo>
                    <a:pt x="544957" y="668528"/>
                  </a:lnTo>
                  <a:lnTo>
                    <a:pt x="544957" y="674878"/>
                  </a:lnTo>
                  <a:lnTo>
                    <a:pt x="129921" y="674878"/>
                  </a:lnTo>
                  <a:lnTo>
                    <a:pt x="129921" y="668528"/>
                  </a:lnTo>
                  <a:lnTo>
                    <a:pt x="129921" y="674878"/>
                  </a:lnTo>
                  <a:cubicBezTo>
                    <a:pt x="58166" y="674878"/>
                    <a:pt x="0" y="616712"/>
                    <a:pt x="0" y="544957"/>
                  </a:cubicBezTo>
                  <a:lnTo>
                    <a:pt x="0" y="129921"/>
                  </a:lnTo>
                  <a:lnTo>
                    <a:pt x="6350" y="129921"/>
                  </a:lnTo>
                  <a:lnTo>
                    <a:pt x="0" y="129921"/>
                  </a:lnTo>
                  <a:moveTo>
                    <a:pt x="12700" y="129921"/>
                  </a:moveTo>
                  <a:lnTo>
                    <a:pt x="12700" y="544957"/>
                  </a:lnTo>
                  <a:lnTo>
                    <a:pt x="6350" y="544957"/>
                  </a:lnTo>
                  <a:lnTo>
                    <a:pt x="12700" y="544957"/>
                  </a:lnTo>
                  <a:cubicBezTo>
                    <a:pt x="12700" y="609727"/>
                    <a:pt x="65151" y="662178"/>
                    <a:pt x="129921" y="662178"/>
                  </a:cubicBezTo>
                  <a:lnTo>
                    <a:pt x="544957" y="662178"/>
                  </a:lnTo>
                  <a:cubicBezTo>
                    <a:pt x="609727" y="662178"/>
                    <a:pt x="662178" y="609727"/>
                    <a:pt x="662178" y="544957"/>
                  </a:cubicBezTo>
                  <a:lnTo>
                    <a:pt x="662178" y="129921"/>
                  </a:lnTo>
                  <a:cubicBezTo>
                    <a:pt x="662178" y="65151"/>
                    <a:pt x="609727" y="12700"/>
                    <a:pt x="544957" y="12700"/>
                  </a:cubicBezTo>
                  <a:lnTo>
                    <a:pt x="129921" y="12700"/>
                  </a:lnTo>
                  <a:lnTo>
                    <a:pt x="129921" y="6350"/>
                  </a:lnTo>
                  <a:lnTo>
                    <a:pt x="129921" y="12700"/>
                  </a:lnTo>
                  <a:cubicBezTo>
                    <a:pt x="65151" y="12700"/>
                    <a:pt x="12700" y="65151"/>
                    <a:pt x="12700" y="129921"/>
                  </a:cubicBezTo>
                  <a:close/>
                </a:path>
              </a:pathLst>
            </a:custGeom>
            <a:solidFill>
              <a:srgbClr val="C6BDDA"/>
            </a:solidFill>
          </p:spPr>
        </p:sp>
      </p:grpSp>
      <p:grpSp>
        <p:nvGrpSpPr>
          <p:cNvPr id="30" name="Group 30"/>
          <p:cNvGrpSpPr/>
          <p:nvPr/>
        </p:nvGrpSpPr>
        <p:grpSpPr>
          <a:xfrm>
            <a:off x="9044360" y="3116759"/>
            <a:ext cx="199281" cy="364182"/>
            <a:chOff x="0" y="0"/>
            <a:chExt cx="265708" cy="485577"/>
          </a:xfrm>
        </p:grpSpPr>
        <p:sp>
          <p:nvSpPr>
            <p:cNvPr id="31" name="Freeform 31"/>
            <p:cNvSpPr/>
            <p:nvPr/>
          </p:nvSpPr>
          <p:spPr>
            <a:xfrm>
              <a:off x="0" y="0"/>
              <a:ext cx="265708" cy="485577"/>
            </a:xfrm>
            <a:custGeom>
              <a:avLst/>
              <a:gdLst/>
              <a:ahLst/>
              <a:cxnLst/>
              <a:rect l="l" t="t" r="r" b="b"/>
              <a:pathLst>
                <a:path w="265708" h="485577">
                  <a:moveTo>
                    <a:pt x="0" y="0"/>
                  </a:moveTo>
                  <a:lnTo>
                    <a:pt x="265708" y="0"/>
                  </a:lnTo>
                  <a:lnTo>
                    <a:pt x="265708" y="485577"/>
                  </a:lnTo>
                  <a:lnTo>
                    <a:pt x="0" y="485577"/>
                  </a:lnTo>
                  <a:close/>
                </a:path>
              </a:pathLst>
            </a:custGeom>
            <a:solidFill>
              <a:srgbClr val="000000">
                <a:alpha val="0"/>
              </a:srgbClr>
            </a:solidFill>
          </p:spPr>
        </p:sp>
        <p:sp>
          <p:nvSpPr>
            <p:cNvPr id="32" name="TextBox 32"/>
            <p:cNvSpPr txBox="1"/>
            <p:nvPr/>
          </p:nvSpPr>
          <p:spPr>
            <a:xfrm>
              <a:off x="0" y="47625"/>
              <a:ext cx="265708" cy="437952"/>
            </a:xfrm>
            <a:prstGeom prst="rect">
              <a:avLst/>
            </a:prstGeom>
          </p:spPr>
          <p:txBody>
            <a:bodyPr lIns="0" tIns="0" rIns="0" bIns="0" rtlCol="0" anchor="t"/>
            <a:lstStyle/>
            <a:p>
              <a:pPr algn="ctr">
                <a:lnSpc>
                  <a:spcPts val="2812"/>
                </a:lnSpc>
              </a:pPr>
              <a:r>
                <a:rPr lang="en-US" sz="2812" spc="-57">
                  <a:solidFill>
                    <a:srgbClr val="272525"/>
                  </a:solidFill>
                  <a:latin typeface="Petrona"/>
                  <a:ea typeface="Petrona"/>
                  <a:cs typeface="Petrona"/>
                  <a:sym typeface="Petrona"/>
                </a:rPr>
                <a:t>2</a:t>
              </a:r>
            </a:p>
          </p:txBody>
        </p:sp>
      </p:grpSp>
      <p:grpSp>
        <p:nvGrpSpPr>
          <p:cNvPr id="33" name="Group 33"/>
          <p:cNvGrpSpPr/>
          <p:nvPr/>
        </p:nvGrpSpPr>
        <p:grpSpPr>
          <a:xfrm>
            <a:off x="12115502" y="3022998"/>
            <a:ext cx="3642420" cy="499715"/>
            <a:chOff x="0" y="0"/>
            <a:chExt cx="4856560" cy="666287"/>
          </a:xfrm>
        </p:grpSpPr>
        <p:sp>
          <p:nvSpPr>
            <p:cNvPr id="34" name="Freeform 34"/>
            <p:cNvSpPr/>
            <p:nvPr/>
          </p:nvSpPr>
          <p:spPr>
            <a:xfrm>
              <a:off x="0" y="0"/>
              <a:ext cx="4856560" cy="666287"/>
            </a:xfrm>
            <a:custGeom>
              <a:avLst/>
              <a:gdLst/>
              <a:ahLst/>
              <a:cxnLst/>
              <a:rect l="l" t="t" r="r" b="b"/>
              <a:pathLst>
                <a:path w="4856560" h="666287">
                  <a:moveTo>
                    <a:pt x="0" y="0"/>
                  </a:moveTo>
                  <a:lnTo>
                    <a:pt x="4856560" y="0"/>
                  </a:lnTo>
                  <a:lnTo>
                    <a:pt x="4856560" y="666287"/>
                  </a:lnTo>
                  <a:lnTo>
                    <a:pt x="0" y="666287"/>
                  </a:lnTo>
                  <a:close/>
                </a:path>
              </a:pathLst>
            </a:custGeom>
            <a:solidFill>
              <a:srgbClr val="000000">
                <a:alpha val="0"/>
              </a:srgbClr>
            </a:solidFill>
          </p:spPr>
        </p:sp>
        <p:sp>
          <p:nvSpPr>
            <p:cNvPr id="35" name="TextBox 35"/>
            <p:cNvSpPr txBox="1"/>
            <p:nvPr/>
          </p:nvSpPr>
          <p:spPr>
            <a:xfrm>
              <a:off x="0" y="-28575"/>
              <a:ext cx="4856560" cy="694862"/>
            </a:xfrm>
            <a:prstGeom prst="rect">
              <a:avLst/>
            </a:prstGeom>
          </p:spPr>
          <p:txBody>
            <a:bodyPr lIns="0" tIns="0" rIns="0" bIns="0" rtlCol="0" anchor="t"/>
            <a:lstStyle/>
            <a:p>
              <a:pPr algn="ctr">
                <a:lnSpc>
                  <a:spcPts val="3815"/>
                </a:lnSpc>
              </a:pPr>
              <a:r>
                <a:rPr lang="en-US" sz="3012" u="sng" spc="-61">
                  <a:solidFill>
                    <a:srgbClr val="272525"/>
                  </a:solidFill>
                  <a:latin typeface="Petrona"/>
                  <a:ea typeface="Petrona"/>
                  <a:cs typeface="Petrona"/>
                  <a:sym typeface="Petrona"/>
                </a:rPr>
                <a:t>CI/CD Pipelines</a:t>
              </a:r>
            </a:p>
          </p:txBody>
        </p:sp>
      </p:grpSp>
      <p:grpSp>
        <p:nvGrpSpPr>
          <p:cNvPr id="36" name="Group 36"/>
          <p:cNvGrpSpPr/>
          <p:nvPr/>
        </p:nvGrpSpPr>
        <p:grpSpPr>
          <a:xfrm>
            <a:off x="10358140" y="3610421"/>
            <a:ext cx="7157294" cy="2207121"/>
            <a:chOff x="0" y="0"/>
            <a:chExt cx="9543058" cy="2942828"/>
          </a:xfrm>
        </p:grpSpPr>
        <p:sp>
          <p:nvSpPr>
            <p:cNvPr id="37" name="Freeform 37"/>
            <p:cNvSpPr/>
            <p:nvPr/>
          </p:nvSpPr>
          <p:spPr>
            <a:xfrm>
              <a:off x="0" y="0"/>
              <a:ext cx="9543059" cy="2942828"/>
            </a:xfrm>
            <a:custGeom>
              <a:avLst/>
              <a:gdLst/>
              <a:ahLst/>
              <a:cxnLst/>
              <a:rect l="l" t="t" r="r" b="b"/>
              <a:pathLst>
                <a:path w="9543059" h="2942828">
                  <a:moveTo>
                    <a:pt x="0" y="0"/>
                  </a:moveTo>
                  <a:lnTo>
                    <a:pt x="9543059" y="0"/>
                  </a:lnTo>
                  <a:lnTo>
                    <a:pt x="9543059" y="2942828"/>
                  </a:lnTo>
                  <a:lnTo>
                    <a:pt x="0" y="2942828"/>
                  </a:lnTo>
                  <a:close/>
                </a:path>
              </a:pathLst>
            </a:custGeom>
            <a:solidFill>
              <a:srgbClr val="000000">
                <a:alpha val="0"/>
              </a:srgbClr>
            </a:solidFill>
          </p:spPr>
        </p:sp>
        <p:sp>
          <p:nvSpPr>
            <p:cNvPr id="38" name="TextBox 38"/>
            <p:cNvSpPr txBox="1"/>
            <p:nvPr/>
          </p:nvSpPr>
          <p:spPr>
            <a:xfrm>
              <a:off x="0" y="-95250"/>
              <a:ext cx="9543058" cy="3038078"/>
            </a:xfrm>
            <a:prstGeom prst="rect">
              <a:avLst/>
            </a:prstGeom>
          </p:spPr>
          <p:txBody>
            <a:bodyPr lIns="0" tIns="0" rIns="0" bIns="0" rtlCol="0" anchor="t"/>
            <a:lstStyle/>
            <a:p>
              <a:pPr algn="ctr">
                <a:lnSpc>
                  <a:spcPts val="3437"/>
                </a:lnSpc>
              </a:pPr>
              <a:r>
                <a:rPr lang="en-US" sz="2125" spc="-35">
                  <a:solidFill>
                    <a:srgbClr val="272525"/>
                  </a:solidFill>
                  <a:latin typeface="Inter"/>
                  <a:ea typeface="Inter"/>
                  <a:cs typeface="Inter"/>
                  <a:sym typeface="Inter"/>
                </a:rPr>
                <a:t>Python helps automate processes like testing and deploying code, which speeds up software development. You can use Python to trigger actions in tools like Jenkins when new code is ready to be deployed.</a:t>
              </a:r>
            </a:p>
          </p:txBody>
        </p:sp>
      </p:grpSp>
      <p:grpSp>
        <p:nvGrpSpPr>
          <p:cNvPr id="39" name="Group 39"/>
          <p:cNvGrpSpPr/>
          <p:nvPr/>
        </p:nvGrpSpPr>
        <p:grpSpPr>
          <a:xfrm>
            <a:off x="8151689" y="5637460"/>
            <a:ext cx="772566" cy="28575"/>
            <a:chOff x="0" y="0"/>
            <a:chExt cx="1030088" cy="38100"/>
          </a:xfrm>
        </p:grpSpPr>
        <p:sp>
          <p:nvSpPr>
            <p:cNvPr id="40" name="Freeform 40"/>
            <p:cNvSpPr/>
            <p:nvPr/>
          </p:nvSpPr>
          <p:spPr>
            <a:xfrm>
              <a:off x="0" y="0"/>
              <a:ext cx="1030097" cy="38100"/>
            </a:xfrm>
            <a:custGeom>
              <a:avLst/>
              <a:gdLst/>
              <a:ahLst/>
              <a:cxnLst/>
              <a:rect l="l" t="t" r="r" b="b"/>
              <a:pathLst>
                <a:path w="1030097" h="38100">
                  <a:moveTo>
                    <a:pt x="0" y="19050"/>
                  </a:moveTo>
                  <a:cubicBezTo>
                    <a:pt x="0" y="8509"/>
                    <a:pt x="8509" y="0"/>
                    <a:pt x="19050" y="0"/>
                  </a:cubicBezTo>
                  <a:lnTo>
                    <a:pt x="1011047" y="0"/>
                  </a:lnTo>
                  <a:cubicBezTo>
                    <a:pt x="1021588" y="0"/>
                    <a:pt x="1030097" y="8509"/>
                    <a:pt x="1030097" y="19050"/>
                  </a:cubicBezTo>
                  <a:cubicBezTo>
                    <a:pt x="1030097" y="29591"/>
                    <a:pt x="1021588" y="38100"/>
                    <a:pt x="1011047" y="38100"/>
                  </a:cubicBezTo>
                  <a:lnTo>
                    <a:pt x="19050" y="38100"/>
                  </a:lnTo>
                  <a:cubicBezTo>
                    <a:pt x="8509" y="38100"/>
                    <a:pt x="0" y="29591"/>
                    <a:pt x="0" y="19050"/>
                  </a:cubicBezTo>
                  <a:close/>
                </a:path>
              </a:pathLst>
            </a:custGeom>
            <a:solidFill>
              <a:srgbClr val="C6BDDA"/>
            </a:solidFill>
          </p:spPr>
        </p:sp>
      </p:grpSp>
      <p:grpSp>
        <p:nvGrpSpPr>
          <p:cNvPr id="41" name="Group 41"/>
          <p:cNvGrpSpPr/>
          <p:nvPr/>
        </p:nvGrpSpPr>
        <p:grpSpPr>
          <a:xfrm>
            <a:off x="8890918" y="5398740"/>
            <a:ext cx="506165" cy="506165"/>
            <a:chOff x="0" y="0"/>
            <a:chExt cx="674887" cy="674887"/>
          </a:xfrm>
        </p:grpSpPr>
        <p:sp>
          <p:nvSpPr>
            <p:cNvPr id="42" name="Freeform 42"/>
            <p:cNvSpPr/>
            <p:nvPr/>
          </p:nvSpPr>
          <p:spPr>
            <a:xfrm>
              <a:off x="6350" y="6350"/>
              <a:ext cx="662178" cy="662178"/>
            </a:xfrm>
            <a:custGeom>
              <a:avLst/>
              <a:gdLst/>
              <a:ahLst/>
              <a:cxnLst/>
              <a:rect l="l" t="t" r="r" b="b"/>
              <a:pathLst>
                <a:path w="662178" h="662178">
                  <a:moveTo>
                    <a:pt x="0" y="123571"/>
                  </a:moveTo>
                  <a:cubicBezTo>
                    <a:pt x="0" y="55372"/>
                    <a:pt x="55372" y="0"/>
                    <a:pt x="123571" y="0"/>
                  </a:cubicBezTo>
                  <a:lnTo>
                    <a:pt x="538607" y="0"/>
                  </a:lnTo>
                  <a:cubicBezTo>
                    <a:pt x="606933" y="0"/>
                    <a:pt x="662178" y="55372"/>
                    <a:pt x="662178" y="123571"/>
                  </a:cubicBezTo>
                  <a:lnTo>
                    <a:pt x="662178" y="538607"/>
                  </a:lnTo>
                  <a:cubicBezTo>
                    <a:pt x="662178" y="606933"/>
                    <a:pt x="606806" y="662178"/>
                    <a:pt x="538607" y="662178"/>
                  </a:cubicBezTo>
                  <a:lnTo>
                    <a:pt x="123571" y="662178"/>
                  </a:lnTo>
                  <a:cubicBezTo>
                    <a:pt x="55372" y="662178"/>
                    <a:pt x="0" y="606806"/>
                    <a:pt x="0" y="538607"/>
                  </a:cubicBezTo>
                  <a:close/>
                </a:path>
              </a:pathLst>
            </a:custGeom>
            <a:solidFill>
              <a:srgbClr val="E0D7F4"/>
            </a:solidFill>
          </p:spPr>
        </p:sp>
        <p:sp>
          <p:nvSpPr>
            <p:cNvPr id="43" name="Freeform 43"/>
            <p:cNvSpPr/>
            <p:nvPr/>
          </p:nvSpPr>
          <p:spPr>
            <a:xfrm>
              <a:off x="0" y="0"/>
              <a:ext cx="674878" cy="674878"/>
            </a:xfrm>
            <a:custGeom>
              <a:avLst/>
              <a:gdLst/>
              <a:ahLst/>
              <a:cxnLst/>
              <a:rect l="l" t="t" r="r" b="b"/>
              <a:pathLst>
                <a:path w="674878" h="674878">
                  <a:moveTo>
                    <a:pt x="0" y="129921"/>
                  </a:moveTo>
                  <a:cubicBezTo>
                    <a:pt x="0" y="58166"/>
                    <a:pt x="58166" y="0"/>
                    <a:pt x="129921" y="0"/>
                  </a:cubicBezTo>
                  <a:lnTo>
                    <a:pt x="544957" y="0"/>
                  </a:lnTo>
                  <a:lnTo>
                    <a:pt x="544957" y="6350"/>
                  </a:lnTo>
                  <a:lnTo>
                    <a:pt x="544957" y="0"/>
                  </a:lnTo>
                  <a:cubicBezTo>
                    <a:pt x="616712" y="0"/>
                    <a:pt x="674878" y="58166"/>
                    <a:pt x="674878" y="129921"/>
                  </a:cubicBezTo>
                  <a:lnTo>
                    <a:pt x="668528" y="129921"/>
                  </a:lnTo>
                  <a:lnTo>
                    <a:pt x="674878" y="129921"/>
                  </a:lnTo>
                  <a:lnTo>
                    <a:pt x="674878" y="544957"/>
                  </a:lnTo>
                  <a:lnTo>
                    <a:pt x="668528" y="544957"/>
                  </a:lnTo>
                  <a:lnTo>
                    <a:pt x="674878" y="544957"/>
                  </a:lnTo>
                  <a:cubicBezTo>
                    <a:pt x="674878" y="616712"/>
                    <a:pt x="616712" y="674878"/>
                    <a:pt x="544957" y="674878"/>
                  </a:cubicBezTo>
                  <a:lnTo>
                    <a:pt x="544957" y="668528"/>
                  </a:lnTo>
                  <a:lnTo>
                    <a:pt x="544957" y="674878"/>
                  </a:lnTo>
                  <a:lnTo>
                    <a:pt x="129921" y="674878"/>
                  </a:lnTo>
                  <a:lnTo>
                    <a:pt x="129921" y="668528"/>
                  </a:lnTo>
                  <a:lnTo>
                    <a:pt x="129921" y="674878"/>
                  </a:lnTo>
                  <a:cubicBezTo>
                    <a:pt x="58166" y="674878"/>
                    <a:pt x="0" y="616712"/>
                    <a:pt x="0" y="544957"/>
                  </a:cubicBezTo>
                  <a:lnTo>
                    <a:pt x="0" y="129921"/>
                  </a:lnTo>
                  <a:lnTo>
                    <a:pt x="6350" y="129921"/>
                  </a:lnTo>
                  <a:lnTo>
                    <a:pt x="0" y="129921"/>
                  </a:lnTo>
                  <a:moveTo>
                    <a:pt x="12700" y="129921"/>
                  </a:moveTo>
                  <a:lnTo>
                    <a:pt x="12700" y="544957"/>
                  </a:lnTo>
                  <a:lnTo>
                    <a:pt x="6350" y="544957"/>
                  </a:lnTo>
                  <a:lnTo>
                    <a:pt x="12700" y="544957"/>
                  </a:lnTo>
                  <a:cubicBezTo>
                    <a:pt x="12700" y="609727"/>
                    <a:pt x="65151" y="662178"/>
                    <a:pt x="129921" y="662178"/>
                  </a:cubicBezTo>
                  <a:lnTo>
                    <a:pt x="544957" y="662178"/>
                  </a:lnTo>
                  <a:cubicBezTo>
                    <a:pt x="609727" y="662178"/>
                    <a:pt x="662178" y="609727"/>
                    <a:pt x="662178" y="544957"/>
                  </a:cubicBezTo>
                  <a:lnTo>
                    <a:pt x="662178" y="129921"/>
                  </a:lnTo>
                  <a:cubicBezTo>
                    <a:pt x="662178" y="65151"/>
                    <a:pt x="609727" y="12700"/>
                    <a:pt x="544957" y="12700"/>
                  </a:cubicBezTo>
                  <a:lnTo>
                    <a:pt x="129921" y="12700"/>
                  </a:lnTo>
                  <a:lnTo>
                    <a:pt x="129921" y="6350"/>
                  </a:lnTo>
                  <a:lnTo>
                    <a:pt x="129921" y="12700"/>
                  </a:lnTo>
                  <a:cubicBezTo>
                    <a:pt x="65151" y="12700"/>
                    <a:pt x="12700" y="65151"/>
                    <a:pt x="12700" y="129921"/>
                  </a:cubicBezTo>
                  <a:close/>
                </a:path>
              </a:pathLst>
            </a:custGeom>
            <a:solidFill>
              <a:srgbClr val="C6BDDA"/>
            </a:solidFill>
          </p:spPr>
        </p:sp>
      </p:grpSp>
      <p:grpSp>
        <p:nvGrpSpPr>
          <p:cNvPr id="44" name="Group 44"/>
          <p:cNvGrpSpPr/>
          <p:nvPr/>
        </p:nvGrpSpPr>
        <p:grpSpPr>
          <a:xfrm>
            <a:off x="9044509" y="5469731"/>
            <a:ext cx="198984" cy="364182"/>
            <a:chOff x="0" y="0"/>
            <a:chExt cx="265312" cy="485577"/>
          </a:xfrm>
        </p:grpSpPr>
        <p:sp>
          <p:nvSpPr>
            <p:cNvPr id="45" name="Freeform 45"/>
            <p:cNvSpPr/>
            <p:nvPr/>
          </p:nvSpPr>
          <p:spPr>
            <a:xfrm>
              <a:off x="0" y="0"/>
              <a:ext cx="265312" cy="485577"/>
            </a:xfrm>
            <a:custGeom>
              <a:avLst/>
              <a:gdLst/>
              <a:ahLst/>
              <a:cxnLst/>
              <a:rect l="l" t="t" r="r" b="b"/>
              <a:pathLst>
                <a:path w="265312" h="485577">
                  <a:moveTo>
                    <a:pt x="0" y="0"/>
                  </a:moveTo>
                  <a:lnTo>
                    <a:pt x="265312" y="0"/>
                  </a:lnTo>
                  <a:lnTo>
                    <a:pt x="265312" y="485577"/>
                  </a:lnTo>
                  <a:lnTo>
                    <a:pt x="0" y="485577"/>
                  </a:lnTo>
                  <a:close/>
                </a:path>
              </a:pathLst>
            </a:custGeom>
            <a:solidFill>
              <a:srgbClr val="000000">
                <a:alpha val="0"/>
              </a:srgbClr>
            </a:solidFill>
          </p:spPr>
        </p:sp>
        <p:sp>
          <p:nvSpPr>
            <p:cNvPr id="46" name="TextBox 46"/>
            <p:cNvSpPr txBox="1"/>
            <p:nvPr/>
          </p:nvSpPr>
          <p:spPr>
            <a:xfrm>
              <a:off x="0" y="47625"/>
              <a:ext cx="265312" cy="437952"/>
            </a:xfrm>
            <a:prstGeom prst="rect">
              <a:avLst/>
            </a:prstGeom>
          </p:spPr>
          <p:txBody>
            <a:bodyPr lIns="0" tIns="0" rIns="0" bIns="0" rtlCol="0" anchor="t"/>
            <a:lstStyle/>
            <a:p>
              <a:pPr algn="ctr">
                <a:lnSpc>
                  <a:spcPts val="2812"/>
                </a:lnSpc>
              </a:pPr>
              <a:r>
                <a:rPr lang="en-US" sz="2812" spc="-57">
                  <a:solidFill>
                    <a:srgbClr val="272525"/>
                  </a:solidFill>
                  <a:latin typeface="Petrona"/>
                  <a:ea typeface="Petrona"/>
                  <a:cs typeface="Petrona"/>
                  <a:sym typeface="Petrona"/>
                </a:rPr>
                <a:t>3</a:t>
              </a:r>
            </a:p>
          </p:txBody>
        </p:sp>
      </p:grpSp>
      <p:grpSp>
        <p:nvGrpSpPr>
          <p:cNvPr id="47" name="Group 47"/>
          <p:cNvGrpSpPr/>
          <p:nvPr/>
        </p:nvGrpSpPr>
        <p:grpSpPr>
          <a:xfrm>
            <a:off x="2116039" y="5375970"/>
            <a:ext cx="4470350" cy="499715"/>
            <a:chOff x="0" y="0"/>
            <a:chExt cx="5960467" cy="666287"/>
          </a:xfrm>
        </p:grpSpPr>
        <p:sp>
          <p:nvSpPr>
            <p:cNvPr id="48" name="Freeform 48"/>
            <p:cNvSpPr/>
            <p:nvPr/>
          </p:nvSpPr>
          <p:spPr>
            <a:xfrm>
              <a:off x="0" y="0"/>
              <a:ext cx="5960467" cy="666287"/>
            </a:xfrm>
            <a:custGeom>
              <a:avLst/>
              <a:gdLst/>
              <a:ahLst/>
              <a:cxnLst/>
              <a:rect l="l" t="t" r="r" b="b"/>
              <a:pathLst>
                <a:path w="5960467" h="666287">
                  <a:moveTo>
                    <a:pt x="0" y="0"/>
                  </a:moveTo>
                  <a:lnTo>
                    <a:pt x="5960467" y="0"/>
                  </a:lnTo>
                  <a:lnTo>
                    <a:pt x="5960467" y="666287"/>
                  </a:lnTo>
                  <a:lnTo>
                    <a:pt x="0" y="666287"/>
                  </a:lnTo>
                  <a:close/>
                </a:path>
              </a:pathLst>
            </a:custGeom>
            <a:solidFill>
              <a:srgbClr val="000000">
                <a:alpha val="0"/>
              </a:srgbClr>
            </a:solidFill>
          </p:spPr>
        </p:sp>
        <p:sp>
          <p:nvSpPr>
            <p:cNvPr id="49" name="TextBox 49"/>
            <p:cNvSpPr txBox="1"/>
            <p:nvPr/>
          </p:nvSpPr>
          <p:spPr>
            <a:xfrm>
              <a:off x="0" y="-28575"/>
              <a:ext cx="5960467" cy="694862"/>
            </a:xfrm>
            <a:prstGeom prst="rect">
              <a:avLst/>
            </a:prstGeom>
          </p:spPr>
          <p:txBody>
            <a:bodyPr lIns="0" tIns="0" rIns="0" bIns="0" rtlCol="0" anchor="t"/>
            <a:lstStyle/>
            <a:p>
              <a:pPr algn="ctr">
                <a:lnSpc>
                  <a:spcPts val="3815"/>
                </a:lnSpc>
              </a:pPr>
              <a:r>
                <a:rPr lang="en-US" sz="3012" u="sng" spc="-61">
                  <a:solidFill>
                    <a:srgbClr val="272525"/>
                  </a:solidFill>
                  <a:latin typeface="Petrona"/>
                  <a:ea typeface="Petrona"/>
                  <a:cs typeface="Petrona"/>
                  <a:sym typeface="Petrona"/>
                </a:rPr>
                <a:t>Infrastructure Management</a:t>
              </a:r>
            </a:p>
          </p:txBody>
        </p:sp>
      </p:grpSp>
      <p:grpSp>
        <p:nvGrpSpPr>
          <p:cNvPr id="50" name="Group 50"/>
          <p:cNvGrpSpPr/>
          <p:nvPr/>
        </p:nvGrpSpPr>
        <p:grpSpPr>
          <a:xfrm>
            <a:off x="772566" y="5963394"/>
            <a:ext cx="7157294" cy="1765696"/>
            <a:chOff x="0" y="0"/>
            <a:chExt cx="9543058" cy="2354262"/>
          </a:xfrm>
        </p:grpSpPr>
        <p:sp>
          <p:nvSpPr>
            <p:cNvPr id="51" name="Freeform 51"/>
            <p:cNvSpPr/>
            <p:nvPr/>
          </p:nvSpPr>
          <p:spPr>
            <a:xfrm>
              <a:off x="0" y="0"/>
              <a:ext cx="9543059" cy="2354262"/>
            </a:xfrm>
            <a:custGeom>
              <a:avLst/>
              <a:gdLst/>
              <a:ahLst/>
              <a:cxnLst/>
              <a:rect l="l" t="t" r="r" b="b"/>
              <a:pathLst>
                <a:path w="9543059" h="2354262">
                  <a:moveTo>
                    <a:pt x="0" y="0"/>
                  </a:moveTo>
                  <a:lnTo>
                    <a:pt x="9543059" y="0"/>
                  </a:lnTo>
                  <a:lnTo>
                    <a:pt x="9543059" y="2354262"/>
                  </a:lnTo>
                  <a:lnTo>
                    <a:pt x="0" y="2354262"/>
                  </a:lnTo>
                  <a:close/>
                </a:path>
              </a:pathLst>
            </a:custGeom>
            <a:solidFill>
              <a:srgbClr val="000000">
                <a:alpha val="0"/>
              </a:srgbClr>
            </a:solidFill>
          </p:spPr>
        </p:sp>
        <p:sp>
          <p:nvSpPr>
            <p:cNvPr id="52" name="TextBox 52"/>
            <p:cNvSpPr txBox="1"/>
            <p:nvPr/>
          </p:nvSpPr>
          <p:spPr>
            <a:xfrm>
              <a:off x="0" y="-95250"/>
              <a:ext cx="9543058" cy="2449512"/>
            </a:xfrm>
            <a:prstGeom prst="rect">
              <a:avLst/>
            </a:prstGeom>
          </p:spPr>
          <p:txBody>
            <a:bodyPr lIns="0" tIns="0" rIns="0" bIns="0" rtlCol="0" anchor="t"/>
            <a:lstStyle/>
            <a:p>
              <a:pPr algn="ctr">
                <a:lnSpc>
                  <a:spcPts val="3437"/>
                </a:lnSpc>
              </a:pPr>
              <a:r>
                <a:rPr lang="en-US" sz="2125" spc="-35">
                  <a:solidFill>
                    <a:srgbClr val="272525"/>
                  </a:solidFill>
                  <a:latin typeface="Inter"/>
                  <a:ea typeface="Inter"/>
                  <a:cs typeface="Inter"/>
                  <a:sym typeface="Inter"/>
                </a:rPr>
                <a:t>Python helps manage servers and cloud services automatically, reducing errors. Tools like </a:t>
              </a:r>
              <a:r>
                <a:rPr lang="en-US" sz="2125" b="1" spc="-35">
                  <a:solidFill>
                    <a:srgbClr val="272525"/>
                  </a:solidFill>
                  <a:latin typeface="Inter Bold"/>
                  <a:ea typeface="Inter Bold"/>
                  <a:cs typeface="Inter Bold"/>
                  <a:sym typeface="Inter Bold"/>
                </a:rPr>
                <a:t>Ansible</a:t>
              </a:r>
              <a:r>
                <a:rPr lang="en-US" sz="2125" spc="-35">
                  <a:solidFill>
                    <a:srgbClr val="272525"/>
                  </a:solidFill>
                  <a:latin typeface="Inter"/>
                  <a:ea typeface="Inter"/>
                  <a:cs typeface="Inter"/>
                  <a:sym typeface="Inter"/>
                </a:rPr>
                <a:t> and </a:t>
              </a:r>
              <a:r>
                <a:rPr lang="en-US" sz="2125" b="1" spc="-35">
                  <a:solidFill>
                    <a:srgbClr val="272525"/>
                  </a:solidFill>
                  <a:latin typeface="Inter Bold"/>
                  <a:ea typeface="Inter Bold"/>
                  <a:cs typeface="Inter Bold"/>
                  <a:sym typeface="Inter Bold"/>
                </a:rPr>
                <a:t>Terraform</a:t>
              </a:r>
              <a:r>
                <a:rPr lang="en-US" sz="2125" spc="-35">
                  <a:solidFill>
                    <a:srgbClr val="272525"/>
                  </a:solidFill>
                  <a:latin typeface="Inter"/>
                  <a:ea typeface="Inter"/>
                  <a:cs typeface="Inter"/>
                  <a:sym typeface="Inter"/>
                </a:rPr>
                <a:t> are powered by Python to help configure servers or set up cloud resources.</a:t>
              </a:r>
            </a:p>
          </p:txBody>
        </p:sp>
      </p:grpSp>
      <p:grpSp>
        <p:nvGrpSpPr>
          <p:cNvPr id="53" name="Group 53"/>
          <p:cNvGrpSpPr/>
          <p:nvPr/>
        </p:nvGrpSpPr>
        <p:grpSpPr>
          <a:xfrm>
            <a:off x="9363745" y="7365801"/>
            <a:ext cx="772566" cy="28575"/>
            <a:chOff x="0" y="0"/>
            <a:chExt cx="1030088" cy="38100"/>
          </a:xfrm>
        </p:grpSpPr>
        <p:sp>
          <p:nvSpPr>
            <p:cNvPr id="54" name="Freeform 54"/>
            <p:cNvSpPr/>
            <p:nvPr/>
          </p:nvSpPr>
          <p:spPr>
            <a:xfrm>
              <a:off x="0" y="0"/>
              <a:ext cx="1030097" cy="38100"/>
            </a:xfrm>
            <a:custGeom>
              <a:avLst/>
              <a:gdLst/>
              <a:ahLst/>
              <a:cxnLst/>
              <a:rect l="l" t="t" r="r" b="b"/>
              <a:pathLst>
                <a:path w="1030097" h="38100">
                  <a:moveTo>
                    <a:pt x="0" y="19050"/>
                  </a:moveTo>
                  <a:cubicBezTo>
                    <a:pt x="0" y="8509"/>
                    <a:pt x="8509" y="0"/>
                    <a:pt x="19050" y="0"/>
                  </a:cubicBezTo>
                  <a:lnTo>
                    <a:pt x="1011047" y="0"/>
                  </a:lnTo>
                  <a:cubicBezTo>
                    <a:pt x="1021588" y="0"/>
                    <a:pt x="1030097" y="8509"/>
                    <a:pt x="1030097" y="19050"/>
                  </a:cubicBezTo>
                  <a:cubicBezTo>
                    <a:pt x="1030097" y="29591"/>
                    <a:pt x="1021588" y="38100"/>
                    <a:pt x="1011047" y="38100"/>
                  </a:cubicBezTo>
                  <a:lnTo>
                    <a:pt x="19050" y="38100"/>
                  </a:lnTo>
                  <a:cubicBezTo>
                    <a:pt x="8509" y="38100"/>
                    <a:pt x="0" y="29591"/>
                    <a:pt x="0" y="19050"/>
                  </a:cubicBezTo>
                  <a:close/>
                </a:path>
              </a:pathLst>
            </a:custGeom>
            <a:solidFill>
              <a:srgbClr val="C6BDDA"/>
            </a:solidFill>
          </p:spPr>
        </p:sp>
      </p:grpSp>
      <p:grpSp>
        <p:nvGrpSpPr>
          <p:cNvPr id="55" name="Group 55"/>
          <p:cNvGrpSpPr/>
          <p:nvPr/>
        </p:nvGrpSpPr>
        <p:grpSpPr>
          <a:xfrm>
            <a:off x="8890918" y="7127081"/>
            <a:ext cx="506165" cy="506165"/>
            <a:chOff x="0" y="0"/>
            <a:chExt cx="674887" cy="674887"/>
          </a:xfrm>
        </p:grpSpPr>
        <p:sp>
          <p:nvSpPr>
            <p:cNvPr id="56" name="Freeform 56"/>
            <p:cNvSpPr/>
            <p:nvPr/>
          </p:nvSpPr>
          <p:spPr>
            <a:xfrm>
              <a:off x="6350" y="6350"/>
              <a:ext cx="662178" cy="662178"/>
            </a:xfrm>
            <a:custGeom>
              <a:avLst/>
              <a:gdLst/>
              <a:ahLst/>
              <a:cxnLst/>
              <a:rect l="l" t="t" r="r" b="b"/>
              <a:pathLst>
                <a:path w="662178" h="662178">
                  <a:moveTo>
                    <a:pt x="0" y="123571"/>
                  </a:moveTo>
                  <a:cubicBezTo>
                    <a:pt x="0" y="55372"/>
                    <a:pt x="55372" y="0"/>
                    <a:pt x="123571" y="0"/>
                  </a:cubicBezTo>
                  <a:lnTo>
                    <a:pt x="538607" y="0"/>
                  </a:lnTo>
                  <a:cubicBezTo>
                    <a:pt x="606933" y="0"/>
                    <a:pt x="662178" y="55372"/>
                    <a:pt x="662178" y="123571"/>
                  </a:cubicBezTo>
                  <a:lnTo>
                    <a:pt x="662178" y="538607"/>
                  </a:lnTo>
                  <a:cubicBezTo>
                    <a:pt x="662178" y="606933"/>
                    <a:pt x="606806" y="662178"/>
                    <a:pt x="538607" y="662178"/>
                  </a:cubicBezTo>
                  <a:lnTo>
                    <a:pt x="123571" y="662178"/>
                  </a:lnTo>
                  <a:cubicBezTo>
                    <a:pt x="55372" y="662178"/>
                    <a:pt x="0" y="606806"/>
                    <a:pt x="0" y="538607"/>
                  </a:cubicBezTo>
                  <a:close/>
                </a:path>
              </a:pathLst>
            </a:custGeom>
            <a:solidFill>
              <a:srgbClr val="E0D7F4"/>
            </a:solidFill>
          </p:spPr>
        </p:sp>
        <p:sp>
          <p:nvSpPr>
            <p:cNvPr id="57" name="Freeform 57"/>
            <p:cNvSpPr/>
            <p:nvPr/>
          </p:nvSpPr>
          <p:spPr>
            <a:xfrm>
              <a:off x="0" y="0"/>
              <a:ext cx="674878" cy="674878"/>
            </a:xfrm>
            <a:custGeom>
              <a:avLst/>
              <a:gdLst/>
              <a:ahLst/>
              <a:cxnLst/>
              <a:rect l="l" t="t" r="r" b="b"/>
              <a:pathLst>
                <a:path w="674878" h="674878">
                  <a:moveTo>
                    <a:pt x="0" y="129921"/>
                  </a:moveTo>
                  <a:cubicBezTo>
                    <a:pt x="0" y="58166"/>
                    <a:pt x="58166" y="0"/>
                    <a:pt x="129921" y="0"/>
                  </a:cubicBezTo>
                  <a:lnTo>
                    <a:pt x="544957" y="0"/>
                  </a:lnTo>
                  <a:lnTo>
                    <a:pt x="544957" y="6350"/>
                  </a:lnTo>
                  <a:lnTo>
                    <a:pt x="544957" y="0"/>
                  </a:lnTo>
                  <a:cubicBezTo>
                    <a:pt x="616712" y="0"/>
                    <a:pt x="674878" y="58166"/>
                    <a:pt x="674878" y="129921"/>
                  </a:cubicBezTo>
                  <a:lnTo>
                    <a:pt x="668528" y="129921"/>
                  </a:lnTo>
                  <a:lnTo>
                    <a:pt x="674878" y="129921"/>
                  </a:lnTo>
                  <a:lnTo>
                    <a:pt x="674878" y="544957"/>
                  </a:lnTo>
                  <a:lnTo>
                    <a:pt x="668528" y="544957"/>
                  </a:lnTo>
                  <a:lnTo>
                    <a:pt x="674878" y="544957"/>
                  </a:lnTo>
                  <a:cubicBezTo>
                    <a:pt x="674878" y="616712"/>
                    <a:pt x="616712" y="674878"/>
                    <a:pt x="544957" y="674878"/>
                  </a:cubicBezTo>
                  <a:lnTo>
                    <a:pt x="544957" y="668528"/>
                  </a:lnTo>
                  <a:lnTo>
                    <a:pt x="544957" y="674878"/>
                  </a:lnTo>
                  <a:lnTo>
                    <a:pt x="129921" y="674878"/>
                  </a:lnTo>
                  <a:lnTo>
                    <a:pt x="129921" y="668528"/>
                  </a:lnTo>
                  <a:lnTo>
                    <a:pt x="129921" y="674878"/>
                  </a:lnTo>
                  <a:cubicBezTo>
                    <a:pt x="58166" y="674878"/>
                    <a:pt x="0" y="616712"/>
                    <a:pt x="0" y="544957"/>
                  </a:cubicBezTo>
                  <a:lnTo>
                    <a:pt x="0" y="129921"/>
                  </a:lnTo>
                  <a:lnTo>
                    <a:pt x="6350" y="129921"/>
                  </a:lnTo>
                  <a:lnTo>
                    <a:pt x="0" y="129921"/>
                  </a:lnTo>
                  <a:moveTo>
                    <a:pt x="12700" y="129921"/>
                  </a:moveTo>
                  <a:lnTo>
                    <a:pt x="12700" y="544957"/>
                  </a:lnTo>
                  <a:lnTo>
                    <a:pt x="6350" y="544957"/>
                  </a:lnTo>
                  <a:lnTo>
                    <a:pt x="12700" y="544957"/>
                  </a:lnTo>
                  <a:cubicBezTo>
                    <a:pt x="12700" y="609727"/>
                    <a:pt x="65151" y="662178"/>
                    <a:pt x="129921" y="662178"/>
                  </a:cubicBezTo>
                  <a:lnTo>
                    <a:pt x="544957" y="662178"/>
                  </a:lnTo>
                  <a:cubicBezTo>
                    <a:pt x="609727" y="662178"/>
                    <a:pt x="662178" y="609727"/>
                    <a:pt x="662178" y="544957"/>
                  </a:cubicBezTo>
                  <a:lnTo>
                    <a:pt x="662178" y="129921"/>
                  </a:lnTo>
                  <a:cubicBezTo>
                    <a:pt x="662178" y="65151"/>
                    <a:pt x="609727" y="12700"/>
                    <a:pt x="544957" y="12700"/>
                  </a:cubicBezTo>
                  <a:lnTo>
                    <a:pt x="129921" y="12700"/>
                  </a:lnTo>
                  <a:lnTo>
                    <a:pt x="129921" y="6350"/>
                  </a:lnTo>
                  <a:lnTo>
                    <a:pt x="129921" y="12700"/>
                  </a:lnTo>
                  <a:cubicBezTo>
                    <a:pt x="65151" y="12700"/>
                    <a:pt x="12700" y="65151"/>
                    <a:pt x="12700" y="129921"/>
                  </a:cubicBezTo>
                  <a:close/>
                </a:path>
              </a:pathLst>
            </a:custGeom>
            <a:solidFill>
              <a:srgbClr val="C6BDDA"/>
            </a:solidFill>
          </p:spPr>
        </p:sp>
      </p:grpSp>
      <p:grpSp>
        <p:nvGrpSpPr>
          <p:cNvPr id="58" name="Group 58"/>
          <p:cNvGrpSpPr/>
          <p:nvPr/>
        </p:nvGrpSpPr>
        <p:grpSpPr>
          <a:xfrm>
            <a:off x="9049420" y="7198072"/>
            <a:ext cx="189011" cy="364182"/>
            <a:chOff x="0" y="0"/>
            <a:chExt cx="252015" cy="485577"/>
          </a:xfrm>
        </p:grpSpPr>
        <p:sp>
          <p:nvSpPr>
            <p:cNvPr id="59" name="Freeform 59"/>
            <p:cNvSpPr/>
            <p:nvPr/>
          </p:nvSpPr>
          <p:spPr>
            <a:xfrm>
              <a:off x="0" y="0"/>
              <a:ext cx="252015" cy="485577"/>
            </a:xfrm>
            <a:custGeom>
              <a:avLst/>
              <a:gdLst/>
              <a:ahLst/>
              <a:cxnLst/>
              <a:rect l="l" t="t" r="r" b="b"/>
              <a:pathLst>
                <a:path w="252015" h="485577">
                  <a:moveTo>
                    <a:pt x="0" y="0"/>
                  </a:moveTo>
                  <a:lnTo>
                    <a:pt x="252015" y="0"/>
                  </a:lnTo>
                  <a:lnTo>
                    <a:pt x="252015" y="485577"/>
                  </a:lnTo>
                  <a:lnTo>
                    <a:pt x="0" y="485577"/>
                  </a:lnTo>
                  <a:close/>
                </a:path>
              </a:pathLst>
            </a:custGeom>
            <a:solidFill>
              <a:srgbClr val="000000">
                <a:alpha val="0"/>
              </a:srgbClr>
            </a:solidFill>
          </p:spPr>
        </p:sp>
        <p:sp>
          <p:nvSpPr>
            <p:cNvPr id="60" name="TextBox 60"/>
            <p:cNvSpPr txBox="1"/>
            <p:nvPr/>
          </p:nvSpPr>
          <p:spPr>
            <a:xfrm>
              <a:off x="0" y="47625"/>
              <a:ext cx="252015" cy="437952"/>
            </a:xfrm>
            <a:prstGeom prst="rect">
              <a:avLst/>
            </a:prstGeom>
          </p:spPr>
          <p:txBody>
            <a:bodyPr lIns="0" tIns="0" rIns="0" bIns="0" rtlCol="0" anchor="t"/>
            <a:lstStyle/>
            <a:p>
              <a:pPr algn="ctr">
                <a:lnSpc>
                  <a:spcPts val="2812"/>
                </a:lnSpc>
              </a:pPr>
              <a:r>
                <a:rPr lang="en-US" sz="2812" spc="-57">
                  <a:solidFill>
                    <a:srgbClr val="272525"/>
                  </a:solidFill>
                  <a:latin typeface="Petrona"/>
                  <a:ea typeface="Petrona"/>
                  <a:cs typeface="Petrona"/>
                  <a:sym typeface="Petrona"/>
                </a:rPr>
                <a:t>4</a:t>
              </a:r>
            </a:p>
          </p:txBody>
        </p:sp>
      </p:grpSp>
      <p:grpSp>
        <p:nvGrpSpPr>
          <p:cNvPr id="61" name="Group 61"/>
          <p:cNvGrpSpPr/>
          <p:nvPr/>
        </p:nvGrpSpPr>
        <p:grpSpPr>
          <a:xfrm>
            <a:off x="12115502" y="7104310"/>
            <a:ext cx="3642420" cy="499715"/>
            <a:chOff x="0" y="0"/>
            <a:chExt cx="4856560" cy="666287"/>
          </a:xfrm>
        </p:grpSpPr>
        <p:sp>
          <p:nvSpPr>
            <p:cNvPr id="62" name="Freeform 62"/>
            <p:cNvSpPr/>
            <p:nvPr/>
          </p:nvSpPr>
          <p:spPr>
            <a:xfrm>
              <a:off x="0" y="0"/>
              <a:ext cx="4856560" cy="666287"/>
            </a:xfrm>
            <a:custGeom>
              <a:avLst/>
              <a:gdLst/>
              <a:ahLst/>
              <a:cxnLst/>
              <a:rect l="l" t="t" r="r" b="b"/>
              <a:pathLst>
                <a:path w="4856560" h="666287">
                  <a:moveTo>
                    <a:pt x="0" y="0"/>
                  </a:moveTo>
                  <a:lnTo>
                    <a:pt x="4856560" y="0"/>
                  </a:lnTo>
                  <a:lnTo>
                    <a:pt x="4856560" y="666287"/>
                  </a:lnTo>
                  <a:lnTo>
                    <a:pt x="0" y="666287"/>
                  </a:lnTo>
                  <a:close/>
                </a:path>
              </a:pathLst>
            </a:custGeom>
            <a:solidFill>
              <a:srgbClr val="000000">
                <a:alpha val="0"/>
              </a:srgbClr>
            </a:solidFill>
          </p:spPr>
        </p:sp>
        <p:sp>
          <p:nvSpPr>
            <p:cNvPr id="63" name="TextBox 63"/>
            <p:cNvSpPr txBox="1"/>
            <p:nvPr/>
          </p:nvSpPr>
          <p:spPr>
            <a:xfrm>
              <a:off x="0" y="-28575"/>
              <a:ext cx="4856560" cy="694862"/>
            </a:xfrm>
            <a:prstGeom prst="rect">
              <a:avLst/>
            </a:prstGeom>
          </p:spPr>
          <p:txBody>
            <a:bodyPr lIns="0" tIns="0" rIns="0" bIns="0" rtlCol="0" anchor="t"/>
            <a:lstStyle/>
            <a:p>
              <a:pPr algn="ctr">
                <a:lnSpc>
                  <a:spcPts val="3815"/>
                </a:lnSpc>
              </a:pPr>
              <a:r>
                <a:rPr lang="en-US" sz="3012" u="sng" spc="-61">
                  <a:solidFill>
                    <a:srgbClr val="272525"/>
                  </a:solidFill>
                  <a:latin typeface="Petrona"/>
                  <a:ea typeface="Petrona"/>
                  <a:cs typeface="Petrona"/>
                  <a:sym typeface="Petrona"/>
                </a:rPr>
                <a:t>Cloud Interaction</a:t>
              </a:r>
            </a:p>
          </p:txBody>
        </p:sp>
      </p:grpSp>
      <p:grpSp>
        <p:nvGrpSpPr>
          <p:cNvPr id="64" name="Group 64"/>
          <p:cNvGrpSpPr/>
          <p:nvPr/>
        </p:nvGrpSpPr>
        <p:grpSpPr>
          <a:xfrm>
            <a:off x="10358140" y="7691735"/>
            <a:ext cx="7157294" cy="1765696"/>
            <a:chOff x="0" y="0"/>
            <a:chExt cx="9543058" cy="2354262"/>
          </a:xfrm>
        </p:grpSpPr>
        <p:sp>
          <p:nvSpPr>
            <p:cNvPr id="65" name="Freeform 65"/>
            <p:cNvSpPr/>
            <p:nvPr/>
          </p:nvSpPr>
          <p:spPr>
            <a:xfrm>
              <a:off x="0" y="0"/>
              <a:ext cx="9543059" cy="2354262"/>
            </a:xfrm>
            <a:custGeom>
              <a:avLst/>
              <a:gdLst/>
              <a:ahLst/>
              <a:cxnLst/>
              <a:rect l="l" t="t" r="r" b="b"/>
              <a:pathLst>
                <a:path w="9543059" h="2354262">
                  <a:moveTo>
                    <a:pt x="0" y="0"/>
                  </a:moveTo>
                  <a:lnTo>
                    <a:pt x="9543059" y="0"/>
                  </a:lnTo>
                  <a:lnTo>
                    <a:pt x="9543059" y="2354262"/>
                  </a:lnTo>
                  <a:lnTo>
                    <a:pt x="0" y="2354262"/>
                  </a:lnTo>
                  <a:close/>
                </a:path>
              </a:pathLst>
            </a:custGeom>
            <a:solidFill>
              <a:srgbClr val="000000">
                <a:alpha val="0"/>
              </a:srgbClr>
            </a:solidFill>
          </p:spPr>
        </p:sp>
        <p:sp>
          <p:nvSpPr>
            <p:cNvPr id="66" name="TextBox 66"/>
            <p:cNvSpPr txBox="1"/>
            <p:nvPr/>
          </p:nvSpPr>
          <p:spPr>
            <a:xfrm>
              <a:off x="0" y="-95250"/>
              <a:ext cx="9543058" cy="2449512"/>
            </a:xfrm>
            <a:prstGeom prst="rect">
              <a:avLst/>
            </a:prstGeom>
          </p:spPr>
          <p:txBody>
            <a:bodyPr lIns="0" tIns="0" rIns="0" bIns="0" rtlCol="0" anchor="t"/>
            <a:lstStyle/>
            <a:p>
              <a:pPr algn="ctr">
                <a:lnSpc>
                  <a:spcPts val="3437"/>
                </a:lnSpc>
              </a:pPr>
              <a:r>
                <a:rPr lang="en-US" sz="2125" spc="-35">
                  <a:solidFill>
                    <a:srgbClr val="272525"/>
                  </a:solidFill>
                  <a:latin typeface="Inter"/>
                  <a:ea typeface="Inter"/>
                  <a:cs typeface="Inter"/>
                  <a:sym typeface="Inter"/>
                </a:rPr>
                <a:t>Python is great for working with cloud platforms like AWS. For instance, using Python, you can manage cloud resources like virtual machines or storage with tools like </a:t>
              </a:r>
              <a:r>
                <a:rPr lang="en-US" sz="2125" b="1" spc="-35">
                  <a:solidFill>
                    <a:srgbClr val="272525"/>
                  </a:solidFill>
                  <a:latin typeface="Inter Bold"/>
                  <a:ea typeface="Inter Bold"/>
                  <a:cs typeface="Inter Bold"/>
                  <a:sym typeface="Inter Bold"/>
                </a:rPr>
                <a:t>Boto3</a:t>
              </a:r>
              <a:r>
                <a:rPr lang="en-US" sz="2125" spc="-35">
                  <a:solidFill>
                    <a:srgbClr val="272525"/>
                  </a:solidFill>
                  <a:latin typeface="Inter"/>
                  <a:ea typeface="Inter"/>
                  <a:cs typeface="Inter"/>
                  <a:sym typeface="Inter"/>
                </a:rPr>
                <a:t>.</a:t>
              </a:r>
            </a:p>
          </p:txBody>
        </p:sp>
      </p:grpSp>
      <p:sp>
        <p:nvSpPr>
          <p:cNvPr id="67" name="TextBox 67"/>
          <p:cNvSpPr txBox="1"/>
          <p:nvPr/>
        </p:nvSpPr>
        <p:spPr>
          <a:xfrm>
            <a:off x="15487669" y="9745418"/>
            <a:ext cx="3543263" cy="314326"/>
          </a:xfrm>
          <a:prstGeom prst="rect">
            <a:avLst/>
          </a:prstGeom>
        </p:spPr>
        <p:txBody>
          <a:bodyPr lIns="0" tIns="0" rIns="0" bIns="0" rtlCol="0" anchor="t">
            <a:spAutoFit/>
          </a:bodyPr>
          <a:lstStyle/>
          <a:p>
            <a:pPr algn="l">
              <a:lnSpc>
                <a:spcPts val="2624"/>
              </a:lnSpc>
              <a:spcBef>
                <a:spcPct val="0"/>
              </a:spcBef>
            </a:pPr>
            <a:r>
              <a:rPr lang="en-US" sz="1625" spc="-32">
                <a:solidFill>
                  <a:srgbClr val="272525"/>
                </a:solidFill>
                <a:latin typeface="Inter"/>
                <a:ea typeface="Inter"/>
                <a:cs typeface="Inter"/>
                <a:sym typeface="Inter"/>
              </a:rPr>
              <a:t>Mohammad Anees Alam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987475" y="1518165"/>
            <a:ext cx="9497765" cy="974526"/>
            <a:chOff x="0" y="0"/>
            <a:chExt cx="12663687" cy="1299368"/>
          </a:xfrm>
        </p:grpSpPr>
        <p:sp>
          <p:nvSpPr>
            <p:cNvPr id="7" name="Freeform 7"/>
            <p:cNvSpPr/>
            <p:nvPr/>
          </p:nvSpPr>
          <p:spPr>
            <a:xfrm>
              <a:off x="0" y="0"/>
              <a:ext cx="12663687" cy="1299368"/>
            </a:xfrm>
            <a:custGeom>
              <a:avLst/>
              <a:gdLst/>
              <a:ahLst/>
              <a:cxnLst/>
              <a:rect l="l" t="t" r="r" b="b"/>
              <a:pathLst>
                <a:path w="12663687" h="1299368">
                  <a:moveTo>
                    <a:pt x="0" y="0"/>
                  </a:moveTo>
                  <a:lnTo>
                    <a:pt x="12663687" y="0"/>
                  </a:lnTo>
                  <a:lnTo>
                    <a:pt x="12663687" y="1299368"/>
                  </a:lnTo>
                  <a:lnTo>
                    <a:pt x="0" y="1299368"/>
                  </a:lnTo>
                  <a:close/>
                </a:path>
              </a:pathLst>
            </a:custGeom>
            <a:solidFill>
              <a:srgbClr val="000000">
                <a:alpha val="0"/>
              </a:srgbClr>
            </a:solidFill>
          </p:spPr>
        </p:sp>
        <p:sp>
          <p:nvSpPr>
            <p:cNvPr id="8" name="TextBox 8"/>
            <p:cNvSpPr txBox="1"/>
            <p:nvPr/>
          </p:nvSpPr>
          <p:spPr>
            <a:xfrm>
              <a:off x="0" y="-38100"/>
              <a:ext cx="12663687" cy="1337468"/>
            </a:xfrm>
            <a:prstGeom prst="rect">
              <a:avLst/>
            </a:prstGeom>
          </p:spPr>
          <p:txBody>
            <a:bodyPr lIns="0" tIns="0" rIns="0" bIns="0" rtlCol="0" anchor="t"/>
            <a:lstStyle/>
            <a:p>
              <a:pPr algn="l">
                <a:lnSpc>
                  <a:spcPts val="7625"/>
                </a:lnSpc>
              </a:pPr>
              <a:r>
                <a:rPr lang="en-US" sz="6124" spc="-122">
                  <a:solidFill>
                    <a:srgbClr val="F95F88"/>
                  </a:solidFill>
                  <a:latin typeface="Petrona"/>
                  <a:ea typeface="Petrona"/>
                  <a:cs typeface="Petrona"/>
                  <a:sym typeface="Petrona"/>
                </a:rPr>
                <a:t>Python-based DevOps Tools</a:t>
              </a:r>
            </a:p>
          </p:txBody>
        </p:sp>
      </p:grpSp>
      <p:grpSp>
        <p:nvGrpSpPr>
          <p:cNvPr id="9" name="Group 9"/>
          <p:cNvGrpSpPr/>
          <p:nvPr/>
        </p:nvGrpSpPr>
        <p:grpSpPr>
          <a:xfrm>
            <a:off x="987475" y="3467546"/>
            <a:ext cx="5254973" cy="4751635"/>
            <a:chOff x="0" y="0"/>
            <a:chExt cx="7006630" cy="6335513"/>
          </a:xfrm>
        </p:grpSpPr>
        <p:sp>
          <p:nvSpPr>
            <p:cNvPr id="10" name="Freeform 10"/>
            <p:cNvSpPr/>
            <p:nvPr/>
          </p:nvSpPr>
          <p:spPr>
            <a:xfrm>
              <a:off x="6350" y="6350"/>
              <a:ext cx="6993890" cy="6322822"/>
            </a:xfrm>
            <a:custGeom>
              <a:avLst/>
              <a:gdLst/>
              <a:ahLst/>
              <a:cxnLst/>
              <a:rect l="l" t="t" r="r" b="b"/>
              <a:pathLst>
                <a:path w="6993890" h="6322822">
                  <a:moveTo>
                    <a:pt x="0" y="158750"/>
                  </a:moveTo>
                  <a:cubicBezTo>
                    <a:pt x="0" y="71120"/>
                    <a:pt x="71120" y="0"/>
                    <a:pt x="158750" y="0"/>
                  </a:cubicBezTo>
                  <a:lnTo>
                    <a:pt x="6835140" y="0"/>
                  </a:lnTo>
                  <a:cubicBezTo>
                    <a:pt x="6922897" y="0"/>
                    <a:pt x="6993890" y="71120"/>
                    <a:pt x="6993890" y="158750"/>
                  </a:cubicBezTo>
                  <a:lnTo>
                    <a:pt x="6993890" y="6164072"/>
                  </a:lnTo>
                  <a:cubicBezTo>
                    <a:pt x="6993890" y="6251702"/>
                    <a:pt x="6922770" y="6322822"/>
                    <a:pt x="6835140" y="6322822"/>
                  </a:cubicBezTo>
                  <a:lnTo>
                    <a:pt x="158750" y="6322822"/>
                  </a:lnTo>
                  <a:cubicBezTo>
                    <a:pt x="70993" y="6322822"/>
                    <a:pt x="0" y="6251702"/>
                    <a:pt x="0" y="6164072"/>
                  </a:cubicBezTo>
                  <a:close/>
                </a:path>
              </a:pathLst>
            </a:custGeom>
            <a:gradFill rotWithShape="1">
              <a:gsLst>
                <a:gs pos="0">
                  <a:srgbClr val="FF66C4">
                    <a:alpha val="100000"/>
                  </a:srgbClr>
                </a:gs>
                <a:gs pos="100000">
                  <a:srgbClr val="FFDE59">
                    <a:alpha val="100000"/>
                  </a:srgbClr>
                </a:gs>
              </a:gsLst>
              <a:lin ang="0"/>
            </a:gradFill>
          </p:spPr>
        </p:sp>
        <p:sp>
          <p:nvSpPr>
            <p:cNvPr id="11" name="Freeform 11"/>
            <p:cNvSpPr/>
            <p:nvPr/>
          </p:nvSpPr>
          <p:spPr>
            <a:xfrm>
              <a:off x="0" y="0"/>
              <a:ext cx="7006590" cy="6335522"/>
            </a:xfrm>
            <a:custGeom>
              <a:avLst/>
              <a:gdLst/>
              <a:ahLst/>
              <a:cxnLst/>
              <a:rect l="l" t="t" r="r" b="b"/>
              <a:pathLst>
                <a:path w="7006590" h="6335522">
                  <a:moveTo>
                    <a:pt x="0" y="165100"/>
                  </a:moveTo>
                  <a:cubicBezTo>
                    <a:pt x="0" y="73914"/>
                    <a:pt x="73914" y="0"/>
                    <a:pt x="165100" y="0"/>
                  </a:cubicBezTo>
                  <a:lnTo>
                    <a:pt x="6841490" y="0"/>
                  </a:lnTo>
                  <a:lnTo>
                    <a:pt x="6841490" y="6350"/>
                  </a:lnTo>
                  <a:lnTo>
                    <a:pt x="6841490" y="0"/>
                  </a:lnTo>
                  <a:cubicBezTo>
                    <a:pt x="6932676" y="0"/>
                    <a:pt x="7006590" y="73914"/>
                    <a:pt x="7006590" y="165100"/>
                  </a:cubicBezTo>
                  <a:lnTo>
                    <a:pt x="7000240" y="165100"/>
                  </a:lnTo>
                  <a:lnTo>
                    <a:pt x="7006590" y="165100"/>
                  </a:lnTo>
                  <a:lnTo>
                    <a:pt x="7006590" y="6170422"/>
                  </a:lnTo>
                  <a:lnTo>
                    <a:pt x="7000240" y="6170422"/>
                  </a:lnTo>
                  <a:lnTo>
                    <a:pt x="7006590" y="6170422"/>
                  </a:lnTo>
                  <a:cubicBezTo>
                    <a:pt x="7006590" y="6261608"/>
                    <a:pt x="6932676" y="6335522"/>
                    <a:pt x="6841490" y="6335522"/>
                  </a:cubicBezTo>
                  <a:lnTo>
                    <a:pt x="6841490" y="6329172"/>
                  </a:lnTo>
                  <a:lnTo>
                    <a:pt x="6841490" y="6335522"/>
                  </a:lnTo>
                  <a:lnTo>
                    <a:pt x="165100" y="6335522"/>
                  </a:lnTo>
                  <a:lnTo>
                    <a:pt x="165100" y="6329172"/>
                  </a:lnTo>
                  <a:lnTo>
                    <a:pt x="165100" y="6335522"/>
                  </a:lnTo>
                  <a:cubicBezTo>
                    <a:pt x="73914" y="6335522"/>
                    <a:pt x="0" y="6261608"/>
                    <a:pt x="0" y="6170422"/>
                  </a:cubicBezTo>
                  <a:lnTo>
                    <a:pt x="0" y="165100"/>
                  </a:lnTo>
                  <a:lnTo>
                    <a:pt x="6350" y="165100"/>
                  </a:lnTo>
                  <a:lnTo>
                    <a:pt x="0" y="165100"/>
                  </a:lnTo>
                  <a:moveTo>
                    <a:pt x="12700" y="165100"/>
                  </a:moveTo>
                  <a:lnTo>
                    <a:pt x="12700" y="6170422"/>
                  </a:lnTo>
                  <a:lnTo>
                    <a:pt x="6350" y="6170422"/>
                  </a:lnTo>
                  <a:lnTo>
                    <a:pt x="12700" y="6170422"/>
                  </a:lnTo>
                  <a:cubicBezTo>
                    <a:pt x="12700" y="6254623"/>
                    <a:pt x="80899" y="6322822"/>
                    <a:pt x="165100" y="6322822"/>
                  </a:cubicBezTo>
                  <a:lnTo>
                    <a:pt x="6841490" y="6322822"/>
                  </a:lnTo>
                  <a:cubicBezTo>
                    <a:pt x="6925691" y="6322822"/>
                    <a:pt x="6993890" y="6254623"/>
                    <a:pt x="6993890" y="6170422"/>
                  </a:cubicBezTo>
                  <a:lnTo>
                    <a:pt x="6993890" y="165100"/>
                  </a:lnTo>
                  <a:cubicBezTo>
                    <a:pt x="6993890" y="80899"/>
                    <a:pt x="6925691" y="12700"/>
                    <a:pt x="6841490"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12" name="Group 12"/>
          <p:cNvGrpSpPr/>
          <p:nvPr/>
        </p:nvGrpSpPr>
        <p:grpSpPr>
          <a:xfrm>
            <a:off x="1285280" y="3765351"/>
            <a:ext cx="4659362" cy="603440"/>
            <a:chOff x="0" y="0"/>
            <a:chExt cx="6212483" cy="804587"/>
          </a:xfrm>
        </p:grpSpPr>
        <p:sp>
          <p:nvSpPr>
            <p:cNvPr id="13" name="Freeform 13"/>
            <p:cNvSpPr/>
            <p:nvPr/>
          </p:nvSpPr>
          <p:spPr>
            <a:xfrm>
              <a:off x="0" y="0"/>
              <a:ext cx="6212483" cy="804587"/>
            </a:xfrm>
            <a:custGeom>
              <a:avLst/>
              <a:gdLst/>
              <a:ahLst/>
              <a:cxnLst/>
              <a:rect l="l" t="t" r="r" b="b"/>
              <a:pathLst>
                <a:path w="6212483" h="804587">
                  <a:moveTo>
                    <a:pt x="0" y="0"/>
                  </a:moveTo>
                  <a:lnTo>
                    <a:pt x="6212483" y="0"/>
                  </a:lnTo>
                  <a:lnTo>
                    <a:pt x="6212483" y="804587"/>
                  </a:lnTo>
                  <a:lnTo>
                    <a:pt x="0" y="804587"/>
                  </a:lnTo>
                  <a:close/>
                </a:path>
              </a:pathLst>
            </a:custGeom>
            <a:solidFill>
              <a:srgbClr val="000000">
                <a:alpha val="0"/>
              </a:srgbClr>
            </a:solidFill>
          </p:spPr>
        </p:sp>
        <p:sp>
          <p:nvSpPr>
            <p:cNvPr id="14" name="TextBox 14"/>
            <p:cNvSpPr txBox="1"/>
            <p:nvPr/>
          </p:nvSpPr>
          <p:spPr>
            <a:xfrm>
              <a:off x="0" y="-28575"/>
              <a:ext cx="6212483" cy="833162"/>
            </a:xfrm>
            <a:prstGeom prst="rect">
              <a:avLst/>
            </a:prstGeom>
          </p:spPr>
          <p:txBody>
            <a:bodyPr lIns="0" tIns="0" rIns="0" bIns="0" rtlCol="0" anchor="t"/>
            <a:lstStyle/>
            <a:p>
              <a:pPr algn="ctr">
                <a:lnSpc>
                  <a:spcPts val="4562"/>
                </a:lnSpc>
              </a:pPr>
              <a:r>
                <a:rPr lang="en-US" sz="3625" u="sng" spc="-73">
                  <a:solidFill>
                    <a:srgbClr val="272525"/>
                  </a:solidFill>
                  <a:latin typeface="Petrona"/>
                  <a:ea typeface="Petrona"/>
                  <a:cs typeface="Petrona"/>
                  <a:sym typeface="Petrona"/>
                </a:rPr>
                <a:t>Ansible</a:t>
              </a:r>
            </a:p>
          </p:txBody>
        </p:sp>
      </p:grpSp>
      <p:grpSp>
        <p:nvGrpSpPr>
          <p:cNvPr id="15" name="Group 15"/>
          <p:cNvGrpSpPr/>
          <p:nvPr/>
        </p:nvGrpSpPr>
        <p:grpSpPr>
          <a:xfrm>
            <a:off x="1285280" y="4520059"/>
            <a:ext cx="4659362" cy="2267545"/>
            <a:chOff x="0" y="0"/>
            <a:chExt cx="6212483" cy="3023393"/>
          </a:xfrm>
        </p:grpSpPr>
        <p:sp>
          <p:nvSpPr>
            <p:cNvPr id="16" name="Freeform 16"/>
            <p:cNvSpPr/>
            <p:nvPr/>
          </p:nvSpPr>
          <p:spPr>
            <a:xfrm>
              <a:off x="0" y="0"/>
              <a:ext cx="6212483" cy="3023393"/>
            </a:xfrm>
            <a:custGeom>
              <a:avLst/>
              <a:gdLst/>
              <a:ahLst/>
              <a:cxnLst/>
              <a:rect l="l" t="t" r="r" b="b"/>
              <a:pathLst>
                <a:path w="6212483" h="3023393">
                  <a:moveTo>
                    <a:pt x="0" y="0"/>
                  </a:moveTo>
                  <a:lnTo>
                    <a:pt x="6212483" y="0"/>
                  </a:lnTo>
                  <a:lnTo>
                    <a:pt x="6212483" y="3023393"/>
                  </a:lnTo>
                  <a:lnTo>
                    <a:pt x="0" y="3023393"/>
                  </a:lnTo>
                  <a:close/>
                </a:path>
              </a:pathLst>
            </a:custGeom>
            <a:solidFill>
              <a:srgbClr val="000000">
                <a:alpha val="0"/>
              </a:srgbClr>
            </a:solidFill>
          </p:spPr>
        </p:sp>
        <p:sp>
          <p:nvSpPr>
            <p:cNvPr id="17" name="TextBox 17"/>
            <p:cNvSpPr txBox="1"/>
            <p:nvPr/>
          </p:nvSpPr>
          <p:spPr>
            <a:xfrm>
              <a:off x="0" y="-114300"/>
              <a:ext cx="6212483" cy="3137693"/>
            </a:xfrm>
            <a:prstGeom prst="rect">
              <a:avLst/>
            </a:prstGeom>
          </p:spPr>
          <p:txBody>
            <a:bodyPr lIns="0" tIns="0" rIns="0" bIns="0" rtlCol="0" anchor="t"/>
            <a:lstStyle/>
            <a:p>
              <a:pPr algn="l">
                <a:lnSpc>
                  <a:spcPts val="4437"/>
                </a:lnSpc>
              </a:pPr>
              <a:r>
                <a:rPr lang="en-US" sz="2750" spc="-45">
                  <a:solidFill>
                    <a:srgbClr val="272525"/>
                  </a:solidFill>
                  <a:latin typeface="Inter"/>
                  <a:ea typeface="Inter"/>
                  <a:cs typeface="Inter"/>
                  <a:sym typeface="Inter"/>
                </a:rPr>
                <a:t>Automates tasks like installing software or configuring multiple servers, powered by Python.</a:t>
              </a:r>
            </a:p>
          </p:txBody>
        </p:sp>
      </p:grpSp>
      <p:grpSp>
        <p:nvGrpSpPr>
          <p:cNvPr id="18" name="Group 18"/>
          <p:cNvGrpSpPr/>
          <p:nvPr/>
        </p:nvGrpSpPr>
        <p:grpSpPr>
          <a:xfrm>
            <a:off x="6516440" y="3467546"/>
            <a:ext cx="5254973" cy="4751635"/>
            <a:chOff x="0" y="0"/>
            <a:chExt cx="7006630" cy="6335513"/>
          </a:xfrm>
        </p:grpSpPr>
        <p:sp>
          <p:nvSpPr>
            <p:cNvPr id="19" name="Freeform 19"/>
            <p:cNvSpPr/>
            <p:nvPr/>
          </p:nvSpPr>
          <p:spPr>
            <a:xfrm>
              <a:off x="6350" y="6350"/>
              <a:ext cx="6993890" cy="6322822"/>
            </a:xfrm>
            <a:custGeom>
              <a:avLst/>
              <a:gdLst/>
              <a:ahLst/>
              <a:cxnLst/>
              <a:rect l="l" t="t" r="r" b="b"/>
              <a:pathLst>
                <a:path w="6993890" h="6322822">
                  <a:moveTo>
                    <a:pt x="0" y="158750"/>
                  </a:moveTo>
                  <a:cubicBezTo>
                    <a:pt x="0" y="71120"/>
                    <a:pt x="71120" y="0"/>
                    <a:pt x="158750" y="0"/>
                  </a:cubicBezTo>
                  <a:lnTo>
                    <a:pt x="6835140" y="0"/>
                  </a:lnTo>
                  <a:cubicBezTo>
                    <a:pt x="6922897" y="0"/>
                    <a:pt x="6993890" y="71120"/>
                    <a:pt x="6993890" y="158750"/>
                  </a:cubicBezTo>
                  <a:lnTo>
                    <a:pt x="6993890" y="6164072"/>
                  </a:lnTo>
                  <a:cubicBezTo>
                    <a:pt x="6993890" y="6251702"/>
                    <a:pt x="6922770" y="6322822"/>
                    <a:pt x="6835140" y="6322822"/>
                  </a:cubicBezTo>
                  <a:lnTo>
                    <a:pt x="158750" y="6322822"/>
                  </a:lnTo>
                  <a:cubicBezTo>
                    <a:pt x="70993" y="6322822"/>
                    <a:pt x="0" y="6251702"/>
                    <a:pt x="0" y="6164072"/>
                  </a:cubicBezTo>
                  <a:close/>
                </a:path>
              </a:pathLst>
            </a:custGeom>
            <a:gradFill rotWithShape="1">
              <a:gsLst>
                <a:gs pos="0">
                  <a:srgbClr val="FF66C4">
                    <a:alpha val="100000"/>
                  </a:srgbClr>
                </a:gs>
                <a:gs pos="100000">
                  <a:srgbClr val="FFDE59">
                    <a:alpha val="100000"/>
                  </a:srgbClr>
                </a:gs>
              </a:gsLst>
              <a:lin ang="0"/>
            </a:gradFill>
          </p:spPr>
        </p:sp>
        <p:sp>
          <p:nvSpPr>
            <p:cNvPr id="20" name="Freeform 20"/>
            <p:cNvSpPr/>
            <p:nvPr/>
          </p:nvSpPr>
          <p:spPr>
            <a:xfrm>
              <a:off x="0" y="0"/>
              <a:ext cx="7006590" cy="6335522"/>
            </a:xfrm>
            <a:custGeom>
              <a:avLst/>
              <a:gdLst/>
              <a:ahLst/>
              <a:cxnLst/>
              <a:rect l="l" t="t" r="r" b="b"/>
              <a:pathLst>
                <a:path w="7006590" h="6335522">
                  <a:moveTo>
                    <a:pt x="0" y="165100"/>
                  </a:moveTo>
                  <a:cubicBezTo>
                    <a:pt x="0" y="73914"/>
                    <a:pt x="73914" y="0"/>
                    <a:pt x="165100" y="0"/>
                  </a:cubicBezTo>
                  <a:lnTo>
                    <a:pt x="6841490" y="0"/>
                  </a:lnTo>
                  <a:lnTo>
                    <a:pt x="6841490" y="6350"/>
                  </a:lnTo>
                  <a:lnTo>
                    <a:pt x="6841490" y="0"/>
                  </a:lnTo>
                  <a:cubicBezTo>
                    <a:pt x="6932676" y="0"/>
                    <a:pt x="7006590" y="73914"/>
                    <a:pt x="7006590" y="165100"/>
                  </a:cubicBezTo>
                  <a:lnTo>
                    <a:pt x="7000240" y="165100"/>
                  </a:lnTo>
                  <a:lnTo>
                    <a:pt x="7006590" y="165100"/>
                  </a:lnTo>
                  <a:lnTo>
                    <a:pt x="7006590" y="6170422"/>
                  </a:lnTo>
                  <a:lnTo>
                    <a:pt x="7000240" y="6170422"/>
                  </a:lnTo>
                  <a:lnTo>
                    <a:pt x="7006590" y="6170422"/>
                  </a:lnTo>
                  <a:cubicBezTo>
                    <a:pt x="7006590" y="6261608"/>
                    <a:pt x="6932676" y="6335522"/>
                    <a:pt x="6841490" y="6335522"/>
                  </a:cubicBezTo>
                  <a:lnTo>
                    <a:pt x="6841490" y="6329172"/>
                  </a:lnTo>
                  <a:lnTo>
                    <a:pt x="6841490" y="6335522"/>
                  </a:lnTo>
                  <a:lnTo>
                    <a:pt x="165100" y="6335522"/>
                  </a:lnTo>
                  <a:lnTo>
                    <a:pt x="165100" y="6329172"/>
                  </a:lnTo>
                  <a:lnTo>
                    <a:pt x="165100" y="6335522"/>
                  </a:lnTo>
                  <a:cubicBezTo>
                    <a:pt x="73914" y="6335522"/>
                    <a:pt x="0" y="6261608"/>
                    <a:pt x="0" y="6170422"/>
                  </a:cubicBezTo>
                  <a:lnTo>
                    <a:pt x="0" y="165100"/>
                  </a:lnTo>
                  <a:lnTo>
                    <a:pt x="6350" y="165100"/>
                  </a:lnTo>
                  <a:lnTo>
                    <a:pt x="0" y="165100"/>
                  </a:lnTo>
                  <a:moveTo>
                    <a:pt x="12700" y="165100"/>
                  </a:moveTo>
                  <a:lnTo>
                    <a:pt x="12700" y="6170422"/>
                  </a:lnTo>
                  <a:lnTo>
                    <a:pt x="6350" y="6170422"/>
                  </a:lnTo>
                  <a:lnTo>
                    <a:pt x="12700" y="6170422"/>
                  </a:lnTo>
                  <a:cubicBezTo>
                    <a:pt x="12700" y="6254623"/>
                    <a:pt x="80899" y="6322822"/>
                    <a:pt x="165100" y="6322822"/>
                  </a:cubicBezTo>
                  <a:lnTo>
                    <a:pt x="6841490" y="6322822"/>
                  </a:lnTo>
                  <a:cubicBezTo>
                    <a:pt x="6925691" y="6322822"/>
                    <a:pt x="6993890" y="6254623"/>
                    <a:pt x="6993890" y="6170422"/>
                  </a:cubicBezTo>
                  <a:lnTo>
                    <a:pt x="6993890" y="165100"/>
                  </a:lnTo>
                  <a:cubicBezTo>
                    <a:pt x="6993890" y="80899"/>
                    <a:pt x="6925691" y="12700"/>
                    <a:pt x="6841490"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21" name="Group 21"/>
          <p:cNvGrpSpPr/>
          <p:nvPr/>
        </p:nvGrpSpPr>
        <p:grpSpPr>
          <a:xfrm>
            <a:off x="6814245" y="3765351"/>
            <a:ext cx="4659362" cy="603440"/>
            <a:chOff x="0" y="0"/>
            <a:chExt cx="6212483" cy="804587"/>
          </a:xfrm>
        </p:grpSpPr>
        <p:sp>
          <p:nvSpPr>
            <p:cNvPr id="22" name="Freeform 22"/>
            <p:cNvSpPr/>
            <p:nvPr/>
          </p:nvSpPr>
          <p:spPr>
            <a:xfrm>
              <a:off x="0" y="0"/>
              <a:ext cx="6212483" cy="804587"/>
            </a:xfrm>
            <a:custGeom>
              <a:avLst/>
              <a:gdLst/>
              <a:ahLst/>
              <a:cxnLst/>
              <a:rect l="l" t="t" r="r" b="b"/>
              <a:pathLst>
                <a:path w="6212483" h="804587">
                  <a:moveTo>
                    <a:pt x="0" y="0"/>
                  </a:moveTo>
                  <a:lnTo>
                    <a:pt x="6212483" y="0"/>
                  </a:lnTo>
                  <a:lnTo>
                    <a:pt x="6212483" y="804587"/>
                  </a:lnTo>
                  <a:lnTo>
                    <a:pt x="0" y="804587"/>
                  </a:lnTo>
                  <a:close/>
                </a:path>
              </a:pathLst>
            </a:custGeom>
            <a:solidFill>
              <a:srgbClr val="000000">
                <a:alpha val="0"/>
              </a:srgbClr>
            </a:solidFill>
          </p:spPr>
        </p:sp>
        <p:sp>
          <p:nvSpPr>
            <p:cNvPr id="23" name="TextBox 23"/>
            <p:cNvSpPr txBox="1"/>
            <p:nvPr/>
          </p:nvSpPr>
          <p:spPr>
            <a:xfrm>
              <a:off x="0" y="-28575"/>
              <a:ext cx="6212483" cy="833162"/>
            </a:xfrm>
            <a:prstGeom prst="rect">
              <a:avLst/>
            </a:prstGeom>
          </p:spPr>
          <p:txBody>
            <a:bodyPr lIns="0" tIns="0" rIns="0" bIns="0" rtlCol="0" anchor="t"/>
            <a:lstStyle/>
            <a:p>
              <a:pPr algn="ctr">
                <a:lnSpc>
                  <a:spcPts val="4562"/>
                </a:lnSpc>
              </a:pPr>
              <a:r>
                <a:rPr lang="en-US" sz="3625" u="sng" spc="-73">
                  <a:solidFill>
                    <a:srgbClr val="272525"/>
                  </a:solidFill>
                  <a:latin typeface="Petrona"/>
                  <a:ea typeface="Petrona"/>
                  <a:cs typeface="Petrona"/>
                  <a:sym typeface="Petrona"/>
                </a:rPr>
                <a:t>AWS Boto3</a:t>
              </a:r>
            </a:p>
          </p:txBody>
        </p:sp>
      </p:grpSp>
      <p:grpSp>
        <p:nvGrpSpPr>
          <p:cNvPr id="24" name="Group 24"/>
          <p:cNvGrpSpPr/>
          <p:nvPr/>
        </p:nvGrpSpPr>
        <p:grpSpPr>
          <a:xfrm>
            <a:off x="6814245" y="4520059"/>
            <a:ext cx="4659362" cy="2834431"/>
            <a:chOff x="0" y="0"/>
            <a:chExt cx="6212483" cy="3779242"/>
          </a:xfrm>
        </p:grpSpPr>
        <p:sp>
          <p:nvSpPr>
            <p:cNvPr id="25" name="Freeform 25"/>
            <p:cNvSpPr/>
            <p:nvPr/>
          </p:nvSpPr>
          <p:spPr>
            <a:xfrm>
              <a:off x="0" y="0"/>
              <a:ext cx="6212483" cy="3779242"/>
            </a:xfrm>
            <a:custGeom>
              <a:avLst/>
              <a:gdLst/>
              <a:ahLst/>
              <a:cxnLst/>
              <a:rect l="l" t="t" r="r" b="b"/>
              <a:pathLst>
                <a:path w="6212483" h="3779242">
                  <a:moveTo>
                    <a:pt x="0" y="0"/>
                  </a:moveTo>
                  <a:lnTo>
                    <a:pt x="6212483" y="0"/>
                  </a:lnTo>
                  <a:lnTo>
                    <a:pt x="6212483" y="3779242"/>
                  </a:lnTo>
                  <a:lnTo>
                    <a:pt x="0" y="3779242"/>
                  </a:lnTo>
                  <a:close/>
                </a:path>
              </a:pathLst>
            </a:custGeom>
            <a:solidFill>
              <a:srgbClr val="000000">
                <a:alpha val="0"/>
              </a:srgbClr>
            </a:solidFill>
          </p:spPr>
        </p:sp>
        <p:sp>
          <p:nvSpPr>
            <p:cNvPr id="26" name="TextBox 26"/>
            <p:cNvSpPr txBox="1"/>
            <p:nvPr/>
          </p:nvSpPr>
          <p:spPr>
            <a:xfrm>
              <a:off x="0" y="-114300"/>
              <a:ext cx="6212483" cy="3893542"/>
            </a:xfrm>
            <a:prstGeom prst="rect">
              <a:avLst/>
            </a:prstGeom>
          </p:spPr>
          <p:txBody>
            <a:bodyPr lIns="0" tIns="0" rIns="0" bIns="0" rtlCol="0" anchor="t"/>
            <a:lstStyle/>
            <a:p>
              <a:pPr algn="l">
                <a:lnSpc>
                  <a:spcPts val="4437"/>
                </a:lnSpc>
              </a:pPr>
              <a:r>
                <a:rPr lang="en-US" sz="2750" spc="-45">
                  <a:solidFill>
                    <a:srgbClr val="272525"/>
                  </a:solidFill>
                  <a:latin typeface="Inter"/>
                  <a:ea typeface="Inter"/>
                  <a:cs typeface="Inter"/>
                  <a:sym typeface="Inter"/>
                </a:rPr>
                <a:t>Python’s tool for automating actions in Amazon Web Services (AWS), like managing virtual machines or storage.</a:t>
              </a:r>
            </a:p>
          </p:txBody>
        </p:sp>
      </p:grpSp>
      <p:grpSp>
        <p:nvGrpSpPr>
          <p:cNvPr id="27" name="Group 27"/>
          <p:cNvGrpSpPr/>
          <p:nvPr/>
        </p:nvGrpSpPr>
        <p:grpSpPr>
          <a:xfrm>
            <a:off x="12045404" y="3467546"/>
            <a:ext cx="5254973" cy="4751635"/>
            <a:chOff x="0" y="0"/>
            <a:chExt cx="7006630" cy="6335513"/>
          </a:xfrm>
        </p:grpSpPr>
        <p:sp>
          <p:nvSpPr>
            <p:cNvPr id="28" name="Freeform 28"/>
            <p:cNvSpPr/>
            <p:nvPr/>
          </p:nvSpPr>
          <p:spPr>
            <a:xfrm>
              <a:off x="6350" y="6350"/>
              <a:ext cx="6993890" cy="6322822"/>
            </a:xfrm>
            <a:custGeom>
              <a:avLst/>
              <a:gdLst/>
              <a:ahLst/>
              <a:cxnLst/>
              <a:rect l="l" t="t" r="r" b="b"/>
              <a:pathLst>
                <a:path w="6993890" h="6322822">
                  <a:moveTo>
                    <a:pt x="0" y="158750"/>
                  </a:moveTo>
                  <a:cubicBezTo>
                    <a:pt x="0" y="71120"/>
                    <a:pt x="71120" y="0"/>
                    <a:pt x="158750" y="0"/>
                  </a:cubicBezTo>
                  <a:lnTo>
                    <a:pt x="6835140" y="0"/>
                  </a:lnTo>
                  <a:cubicBezTo>
                    <a:pt x="6922897" y="0"/>
                    <a:pt x="6993890" y="71120"/>
                    <a:pt x="6993890" y="158750"/>
                  </a:cubicBezTo>
                  <a:lnTo>
                    <a:pt x="6993890" y="6164072"/>
                  </a:lnTo>
                  <a:cubicBezTo>
                    <a:pt x="6993890" y="6251702"/>
                    <a:pt x="6922770" y="6322822"/>
                    <a:pt x="6835140" y="6322822"/>
                  </a:cubicBezTo>
                  <a:lnTo>
                    <a:pt x="158750" y="6322822"/>
                  </a:lnTo>
                  <a:cubicBezTo>
                    <a:pt x="70993" y="6322822"/>
                    <a:pt x="0" y="6251702"/>
                    <a:pt x="0" y="6164072"/>
                  </a:cubicBezTo>
                  <a:close/>
                </a:path>
              </a:pathLst>
            </a:custGeom>
            <a:gradFill rotWithShape="1">
              <a:gsLst>
                <a:gs pos="0">
                  <a:srgbClr val="FF66C4">
                    <a:alpha val="100000"/>
                  </a:srgbClr>
                </a:gs>
                <a:gs pos="100000">
                  <a:srgbClr val="FFDE59">
                    <a:alpha val="100000"/>
                  </a:srgbClr>
                </a:gs>
              </a:gsLst>
              <a:lin ang="0"/>
            </a:gradFill>
          </p:spPr>
        </p:sp>
        <p:sp>
          <p:nvSpPr>
            <p:cNvPr id="29" name="Freeform 29"/>
            <p:cNvSpPr/>
            <p:nvPr/>
          </p:nvSpPr>
          <p:spPr>
            <a:xfrm>
              <a:off x="0" y="0"/>
              <a:ext cx="7006590" cy="6335522"/>
            </a:xfrm>
            <a:custGeom>
              <a:avLst/>
              <a:gdLst/>
              <a:ahLst/>
              <a:cxnLst/>
              <a:rect l="l" t="t" r="r" b="b"/>
              <a:pathLst>
                <a:path w="7006590" h="6335522">
                  <a:moveTo>
                    <a:pt x="0" y="165100"/>
                  </a:moveTo>
                  <a:cubicBezTo>
                    <a:pt x="0" y="73914"/>
                    <a:pt x="73914" y="0"/>
                    <a:pt x="165100" y="0"/>
                  </a:cubicBezTo>
                  <a:lnTo>
                    <a:pt x="6841490" y="0"/>
                  </a:lnTo>
                  <a:lnTo>
                    <a:pt x="6841490" y="6350"/>
                  </a:lnTo>
                  <a:lnTo>
                    <a:pt x="6841490" y="0"/>
                  </a:lnTo>
                  <a:cubicBezTo>
                    <a:pt x="6932676" y="0"/>
                    <a:pt x="7006590" y="73914"/>
                    <a:pt x="7006590" y="165100"/>
                  </a:cubicBezTo>
                  <a:lnTo>
                    <a:pt x="7000240" y="165100"/>
                  </a:lnTo>
                  <a:lnTo>
                    <a:pt x="7006590" y="165100"/>
                  </a:lnTo>
                  <a:lnTo>
                    <a:pt x="7006590" y="6170422"/>
                  </a:lnTo>
                  <a:lnTo>
                    <a:pt x="7000240" y="6170422"/>
                  </a:lnTo>
                  <a:lnTo>
                    <a:pt x="7006590" y="6170422"/>
                  </a:lnTo>
                  <a:cubicBezTo>
                    <a:pt x="7006590" y="6261608"/>
                    <a:pt x="6932676" y="6335522"/>
                    <a:pt x="6841490" y="6335522"/>
                  </a:cubicBezTo>
                  <a:lnTo>
                    <a:pt x="6841490" y="6329172"/>
                  </a:lnTo>
                  <a:lnTo>
                    <a:pt x="6841490" y="6335522"/>
                  </a:lnTo>
                  <a:lnTo>
                    <a:pt x="165100" y="6335522"/>
                  </a:lnTo>
                  <a:lnTo>
                    <a:pt x="165100" y="6329172"/>
                  </a:lnTo>
                  <a:lnTo>
                    <a:pt x="165100" y="6335522"/>
                  </a:lnTo>
                  <a:cubicBezTo>
                    <a:pt x="73914" y="6335522"/>
                    <a:pt x="0" y="6261608"/>
                    <a:pt x="0" y="6170422"/>
                  </a:cubicBezTo>
                  <a:lnTo>
                    <a:pt x="0" y="165100"/>
                  </a:lnTo>
                  <a:lnTo>
                    <a:pt x="6350" y="165100"/>
                  </a:lnTo>
                  <a:lnTo>
                    <a:pt x="0" y="165100"/>
                  </a:lnTo>
                  <a:moveTo>
                    <a:pt x="12700" y="165100"/>
                  </a:moveTo>
                  <a:lnTo>
                    <a:pt x="12700" y="6170422"/>
                  </a:lnTo>
                  <a:lnTo>
                    <a:pt x="6350" y="6170422"/>
                  </a:lnTo>
                  <a:lnTo>
                    <a:pt x="12700" y="6170422"/>
                  </a:lnTo>
                  <a:cubicBezTo>
                    <a:pt x="12700" y="6254623"/>
                    <a:pt x="80899" y="6322822"/>
                    <a:pt x="165100" y="6322822"/>
                  </a:cubicBezTo>
                  <a:lnTo>
                    <a:pt x="6841490" y="6322822"/>
                  </a:lnTo>
                  <a:cubicBezTo>
                    <a:pt x="6925691" y="6322822"/>
                    <a:pt x="6993890" y="6254623"/>
                    <a:pt x="6993890" y="6170422"/>
                  </a:cubicBezTo>
                  <a:lnTo>
                    <a:pt x="6993890" y="165100"/>
                  </a:lnTo>
                  <a:cubicBezTo>
                    <a:pt x="6993890" y="80899"/>
                    <a:pt x="6925691" y="12700"/>
                    <a:pt x="6841490"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grpSp>
        <p:nvGrpSpPr>
          <p:cNvPr id="30" name="Group 30"/>
          <p:cNvGrpSpPr/>
          <p:nvPr/>
        </p:nvGrpSpPr>
        <p:grpSpPr>
          <a:xfrm>
            <a:off x="12343210" y="3765351"/>
            <a:ext cx="4659362" cy="603440"/>
            <a:chOff x="0" y="0"/>
            <a:chExt cx="6212483" cy="804587"/>
          </a:xfrm>
        </p:grpSpPr>
        <p:sp>
          <p:nvSpPr>
            <p:cNvPr id="31" name="Freeform 31"/>
            <p:cNvSpPr/>
            <p:nvPr/>
          </p:nvSpPr>
          <p:spPr>
            <a:xfrm>
              <a:off x="0" y="0"/>
              <a:ext cx="6212483" cy="804587"/>
            </a:xfrm>
            <a:custGeom>
              <a:avLst/>
              <a:gdLst/>
              <a:ahLst/>
              <a:cxnLst/>
              <a:rect l="l" t="t" r="r" b="b"/>
              <a:pathLst>
                <a:path w="6212483" h="804587">
                  <a:moveTo>
                    <a:pt x="0" y="0"/>
                  </a:moveTo>
                  <a:lnTo>
                    <a:pt x="6212483" y="0"/>
                  </a:lnTo>
                  <a:lnTo>
                    <a:pt x="6212483" y="804587"/>
                  </a:lnTo>
                  <a:lnTo>
                    <a:pt x="0" y="804587"/>
                  </a:lnTo>
                  <a:close/>
                </a:path>
              </a:pathLst>
            </a:custGeom>
            <a:solidFill>
              <a:srgbClr val="000000">
                <a:alpha val="0"/>
              </a:srgbClr>
            </a:solidFill>
          </p:spPr>
        </p:sp>
        <p:sp>
          <p:nvSpPr>
            <p:cNvPr id="32" name="TextBox 32"/>
            <p:cNvSpPr txBox="1"/>
            <p:nvPr/>
          </p:nvSpPr>
          <p:spPr>
            <a:xfrm>
              <a:off x="0" y="-28575"/>
              <a:ext cx="6212483" cy="833162"/>
            </a:xfrm>
            <a:prstGeom prst="rect">
              <a:avLst/>
            </a:prstGeom>
          </p:spPr>
          <p:txBody>
            <a:bodyPr lIns="0" tIns="0" rIns="0" bIns="0" rtlCol="0" anchor="t"/>
            <a:lstStyle/>
            <a:p>
              <a:pPr algn="ctr">
                <a:lnSpc>
                  <a:spcPts val="4562"/>
                </a:lnSpc>
              </a:pPr>
              <a:r>
                <a:rPr lang="en-US" sz="3625" u="sng" spc="-73">
                  <a:solidFill>
                    <a:srgbClr val="272525"/>
                  </a:solidFill>
                  <a:latin typeface="Petrona"/>
                  <a:ea typeface="Petrona"/>
                  <a:cs typeface="Petrona"/>
                  <a:sym typeface="Petrona"/>
                </a:rPr>
                <a:t>Terraform</a:t>
              </a:r>
            </a:p>
          </p:txBody>
        </p:sp>
      </p:grpSp>
      <p:grpSp>
        <p:nvGrpSpPr>
          <p:cNvPr id="33" name="Group 33"/>
          <p:cNvGrpSpPr/>
          <p:nvPr/>
        </p:nvGrpSpPr>
        <p:grpSpPr>
          <a:xfrm>
            <a:off x="12343210" y="4520059"/>
            <a:ext cx="4659362" cy="3401318"/>
            <a:chOff x="0" y="0"/>
            <a:chExt cx="6212483" cy="4535090"/>
          </a:xfrm>
        </p:grpSpPr>
        <p:sp>
          <p:nvSpPr>
            <p:cNvPr id="34" name="Freeform 34"/>
            <p:cNvSpPr/>
            <p:nvPr/>
          </p:nvSpPr>
          <p:spPr>
            <a:xfrm>
              <a:off x="0" y="0"/>
              <a:ext cx="6212483" cy="4535090"/>
            </a:xfrm>
            <a:custGeom>
              <a:avLst/>
              <a:gdLst/>
              <a:ahLst/>
              <a:cxnLst/>
              <a:rect l="l" t="t" r="r" b="b"/>
              <a:pathLst>
                <a:path w="6212483" h="4535090">
                  <a:moveTo>
                    <a:pt x="0" y="0"/>
                  </a:moveTo>
                  <a:lnTo>
                    <a:pt x="6212483" y="0"/>
                  </a:lnTo>
                  <a:lnTo>
                    <a:pt x="6212483" y="4535090"/>
                  </a:lnTo>
                  <a:lnTo>
                    <a:pt x="0" y="4535090"/>
                  </a:lnTo>
                  <a:close/>
                </a:path>
              </a:pathLst>
            </a:custGeom>
            <a:solidFill>
              <a:srgbClr val="000000">
                <a:alpha val="0"/>
              </a:srgbClr>
            </a:solidFill>
          </p:spPr>
        </p:sp>
        <p:sp>
          <p:nvSpPr>
            <p:cNvPr id="35" name="TextBox 35"/>
            <p:cNvSpPr txBox="1"/>
            <p:nvPr/>
          </p:nvSpPr>
          <p:spPr>
            <a:xfrm>
              <a:off x="0" y="-114300"/>
              <a:ext cx="6212483" cy="4649390"/>
            </a:xfrm>
            <a:prstGeom prst="rect">
              <a:avLst/>
            </a:prstGeom>
          </p:spPr>
          <p:txBody>
            <a:bodyPr lIns="0" tIns="0" rIns="0" bIns="0" rtlCol="0" anchor="t"/>
            <a:lstStyle/>
            <a:p>
              <a:pPr algn="l">
                <a:lnSpc>
                  <a:spcPts val="4437"/>
                </a:lnSpc>
              </a:pPr>
              <a:r>
                <a:rPr lang="en-US" sz="2750" spc="-45">
                  <a:solidFill>
                    <a:srgbClr val="272525"/>
                  </a:solidFill>
                  <a:latin typeface="Inter"/>
                  <a:ea typeface="Inter"/>
                  <a:cs typeface="Inter"/>
                  <a:sym typeface="Inter"/>
                </a:rPr>
                <a:t>Though not written in Python, Python is often used to automate related tasks like running deployment scripts or managing configurations.</a:t>
              </a:r>
            </a:p>
          </p:txBody>
        </p:sp>
      </p:grpSp>
      <p:sp>
        <p:nvSpPr>
          <p:cNvPr id="36" name="TextBox 36"/>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912911" y="849361"/>
            <a:ext cx="13066067" cy="896690"/>
            <a:chOff x="0" y="0"/>
            <a:chExt cx="17421423" cy="1195587"/>
          </a:xfrm>
        </p:grpSpPr>
        <p:sp>
          <p:nvSpPr>
            <p:cNvPr id="7" name="Freeform 7"/>
            <p:cNvSpPr/>
            <p:nvPr/>
          </p:nvSpPr>
          <p:spPr>
            <a:xfrm>
              <a:off x="0" y="0"/>
              <a:ext cx="17421423" cy="1195587"/>
            </a:xfrm>
            <a:custGeom>
              <a:avLst/>
              <a:gdLst/>
              <a:ahLst/>
              <a:cxnLst/>
              <a:rect l="l" t="t" r="r" b="b"/>
              <a:pathLst>
                <a:path w="17421423" h="1195587">
                  <a:moveTo>
                    <a:pt x="0" y="0"/>
                  </a:moveTo>
                  <a:lnTo>
                    <a:pt x="17421423" y="0"/>
                  </a:lnTo>
                  <a:lnTo>
                    <a:pt x="17421423" y="1195587"/>
                  </a:lnTo>
                  <a:lnTo>
                    <a:pt x="0" y="1195587"/>
                  </a:lnTo>
                  <a:close/>
                </a:path>
              </a:pathLst>
            </a:custGeom>
            <a:solidFill>
              <a:srgbClr val="000000">
                <a:alpha val="0"/>
              </a:srgbClr>
            </a:solidFill>
          </p:spPr>
        </p:sp>
        <p:sp>
          <p:nvSpPr>
            <p:cNvPr id="8" name="TextBox 8"/>
            <p:cNvSpPr txBox="1"/>
            <p:nvPr/>
          </p:nvSpPr>
          <p:spPr>
            <a:xfrm>
              <a:off x="0" y="-19050"/>
              <a:ext cx="17421423" cy="1214637"/>
            </a:xfrm>
            <a:prstGeom prst="rect">
              <a:avLst/>
            </a:prstGeom>
          </p:spPr>
          <p:txBody>
            <a:bodyPr lIns="0" tIns="0" rIns="0" bIns="0" rtlCol="0" anchor="t"/>
            <a:lstStyle/>
            <a:p>
              <a:pPr algn="l">
                <a:lnSpc>
                  <a:spcPts val="6999"/>
                </a:lnSpc>
              </a:pPr>
              <a:r>
                <a:rPr lang="en-US" sz="5625" spc="-112">
                  <a:solidFill>
                    <a:srgbClr val="F95F88"/>
                  </a:solidFill>
                  <a:latin typeface="Petrona"/>
                  <a:ea typeface="Petrona"/>
                  <a:cs typeface="Petrona"/>
                  <a:sym typeface="Petrona"/>
                </a:rPr>
                <a:t>Scenarios Where Python Simplifies Tasks</a:t>
              </a:r>
            </a:p>
          </p:txBody>
        </p:sp>
      </p:grpSp>
      <p:sp>
        <p:nvSpPr>
          <p:cNvPr id="9" name="Freeform 9" descr="preencoded.png"/>
          <p:cNvSpPr/>
          <p:nvPr/>
        </p:nvSpPr>
        <p:spPr>
          <a:xfrm>
            <a:off x="912911" y="2527101"/>
            <a:ext cx="912911" cy="912911"/>
          </a:xfrm>
          <a:custGeom>
            <a:avLst/>
            <a:gdLst/>
            <a:ahLst/>
            <a:cxnLst/>
            <a:rect l="l" t="t" r="r" b="b"/>
            <a:pathLst>
              <a:path w="912911" h="912911">
                <a:moveTo>
                  <a:pt x="0" y="0"/>
                </a:moveTo>
                <a:lnTo>
                  <a:pt x="912911" y="0"/>
                </a:lnTo>
                <a:lnTo>
                  <a:pt x="912911" y="912911"/>
                </a:lnTo>
                <a:lnTo>
                  <a:pt x="0" y="912911"/>
                </a:lnTo>
                <a:lnTo>
                  <a:pt x="0" y="0"/>
                </a:lnTo>
                <a:close/>
              </a:path>
            </a:pathLst>
          </a:custGeom>
          <a:blipFill>
            <a:blip r:embed="rId3"/>
            <a:stretch>
              <a:fillRect/>
            </a:stretch>
          </a:blipFill>
        </p:spPr>
      </p:sp>
      <p:grpSp>
        <p:nvGrpSpPr>
          <p:cNvPr id="10" name="Group 10"/>
          <p:cNvGrpSpPr/>
          <p:nvPr/>
        </p:nvGrpSpPr>
        <p:grpSpPr>
          <a:xfrm>
            <a:off x="2151757" y="2527101"/>
            <a:ext cx="6796682" cy="2608212"/>
            <a:chOff x="0" y="0"/>
            <a:chExt cx="9062243" cy="3477617"/>
          </a:xfrm>
        </p:grpSpPr>
        <p:sp>
          <p:nvSpPr>
            <p:cNvPr id="11" name="Freeform 11"/>
            <p:cNvSpPr/>
            <p:nvPr/>
          </p:nvSpPr>
          <p:spPr>
            <a:xfrm>
              <a:off x="0" y="0"/>
              <a:ext cx="9062243" cy="3477617"/>
            </a:xfrm>
            <a:custGeom>
              <a:avLst/>
              <a:gdLst/>
              <a:ahLst/>
              <a:cxnLst/>
              <a:rect l="l" t="t" r="r" b="b"/>
              <a:pathLst>
                <a:path w="9062243" h="3477617">
                  <a:moveTo>
                    <a:pt x="0" y="0"/>
                  </a:moveTo>
                  <a:lnTo>
                    <a:pt x="9062243" y="0"/>
                  </a:lnTo>
                  <a:lnTo>
                    <a:pt x="9062243" y="3477617"/>
                  </a:lnTo>
                  <a:lnTo>
                    <a:pt x="0" y="3477617"/>
                  </a:lnTo>
                  <a:close/>
                </a:path>
              </a:pathLst>
            </a:custGeom>
            <a:solidFill>
              <a:srgbClr val="000000">
                <a:alpha val="0"/>
              </a:srgbClr>
            </a:solidFill>
          </p:spPr>
        </p:sp>
        <p:sp>
          <p:nvSpPr>
            <p:cNvPr id="12" name="TextBox 12"/>
            <p:cNvSpPr txBox="1"/>
            <p:nvPr/>
          </p:nvSpPr>
          <p:spPr>
            <a:xfrm>
              <a:off x="0" y="-95250"/>
              <a:ext cx="9062243" cy="3572867"/>
            </a:xfrm>
            <a:prstGeom prst="rect">
              <a:avLst/>
            </a:prstGeom>
          </p:spPr>
          <p:txBody>
            <a:bodyPr lIns="0" tIns="0" rIns="0" bIns="0" rtlCol="0" anchor="t"/>
            <a:lstStyle/>
            <a:p>
              <a:pPr algn="l">
                <a:lnSpc>
                  <a:spcPts val="4062"/>
                </a:lnSpc>
              </a:pPr>
              <a:r>
                <a:rPr lang="en-US" sz="2562" spc="-41">
                  <a:solidFill>
                    <a:srgbClr val="272525"/>
                  </a:solidFill>
                  <a:latin typeface="Inter"/>
                  <a:ea typeface="Inter"/>
                  <a:cs typeface="Inter"/>
                  <a:sym typeface="Inter"/>
                </a:rPr>
                <a:t>Python scripts can be used to automate application deployment, reducing manual errors and speeding up deployment times. This is especially helpful in a CI/CD pipeline to ensure quick and error-free updates.</a:t>
              </a:r>
            </a:p>
          </p:txBody>
        </p:sp>
      </p:grpSp>
      <p:sp>
        <p:nvSpPr>
          <p:cNvPr id="13" name="Freeform 13" descr="preencoded.png"/>
          <p:cNvSpPr/>
          <p:nvPr/>
        </p:nvSpPr>
        <p:spPr>
          <a:xfrm>
            <a:off x="9339560" y="2527101"/>
            <a:ext cx="912911" cy="912911"/>
          </a:xfrm>
          <a:custGeom>
            <a:avLst/>
            <a:gdLst/>
            <a:ahLst/>
            <a:cxnLst/>
            <a:rect l="l" t="t" r="r" b="b"/>
            <a:pathLst>
              <a:path w="912911" h="912911">
                <a:moveTo>
                  <a:pt x="0" y="0"/>
                </a:moveTo>
                <a:lnTo>
                  <a:pt x="912911" y="0"/>
                </a:lnTo>
                <a:lnTo>
                  <a:pt x="912911" y="912911"/>
                </a:lnTo>
                <a:lnTo>
                  <a:pt x="0" y="912911"/>
                </a:lnTo>
                <a:lnTo>
                  <a:pt x="0" y="0"/>
                </a:lnTo>
                <a:close/>
              </a:path>
            </a:pathLst>
          </a:custGeom>
          <a:blipFill>
            <a:blip r:embed="rId4"/>
            <a:stretch>
              <a:fillRect/>
            </a:stretch>
          </a:blipFill>
        </p:spPr>
      </p:sp>
      <p:grpSp>
        <p:nvGrpSpPr>
          <p:cNvPr id="14" name="Group 14"/>
          <p:cNvGrpSpPr/>
          <p:nvPr/>
        </p:nvGrpSpPr>
        <p:grpSpPr>
          <a:xfrm>
            <a:off x="10578405" y="2527101"/>
            <a:ext cx="6796682" cy="3129855"/>
            <a:chOff x="0" y="0"/>
            <a:chExt cx="9062243" cy="4173140"/>
          </a:xfrm>
        </p:grpSpPr>
        <p:sp>
          <p:nvSpPr>
            <p:cNvPr id="15" name="Freeform 15"/>
            <p:cNvSpPr/>
            <p:nvPr/>
          </p:nvSpPr>
          <p:spPr>
            <a:xfrm>
              <a:off x="0" y="0"/>
              <a:ext cx="9062243" cy="4173140"/>
            </a:xfrm>
            <a:custGeom>
              <a:avLst/>
              <a:gdLst/>
              <a:ahLst/>
              <a:cxnLst/>
              <a:rect l="l" t="t" r="r" b="b"/>
              <a:pathLst>
                <a:path w="9062243" h="4173140">
                  <a:moveTo>
                    <a:pt x="0" y="0"/>
                  </a:moveTo>
                  <a:lnTo>
                    <a:pt x="9062243" y="0"/>
                  </a:lnTo>
                  <a:lnTo>
                    <a:pt x="9062243" y="4173140"/>
                  </a:lnTo>
                  <a:lnTo>
                    <a:pt x="0" y="4173140"/>
                  </a:lnTo>
                  <a:close/>
                </a:path>
              </a:pathLst>
            </a:custGeom>
            <a:solidFill>
              <a:srgbClr val="000000">
                <a:alpha val="0"/>
              </a:srgbClr>
            </a:solidFill>
          </p:spPr>
        </p:sp>
        <p:sp>
          <p:nvSpPr>
            <p:cNvPr id="16" name="TextBox 16"/>
            <p:cNvSpPr txBox="1"/>
            <p:nvPr/>
          </p:nvSpPr>
          <p:spPr>
            <a:xfrm>
              <a:off x="0" y="-95250"/>
              <a:ext cx="9062243" cy="4268390"/>
            </a:xfrm>
            <a:prstGeom prst="rect">
              <a:avLst/>
            </a:prstGeom>
          </p:spPr>
          <p:txBody>
            <a:bodyPr lIns="0" tIns="0" rIns="0" bIns="0" rtlCol="0" anchor="t"/>
            <a:lstStyle/>
            <a:p>
              <a:pPr algn="l">
                <a:lnSpc>
                  <a:spcPts val="4062"/>
                </a:lnSpc>
              </a:pPr>
              <a:r>
                <a:rPr lang="en-US" sz="2562" spc="-41">
                  <a:solidFill>
                    <a:srgbClr val="272525"/>
                  </a:solidFill>
                  <a:latin typeface="Inter"/>
                  <a:ea typeface="Inter"/>
                  <a:cs typeface="Inter"/>
                  <a:sym typeface="Inter"/>
                </a:rPr>
                <a:t>Python enables automation of infrastructure provisioning, which saves time and ensures consistency in the setup. For example, Python can interact with cloud providers to automatically launch, configure, and manage virtual machines, storage, and networking.</a:t>
              </a:r>
            </a:p>
          </p:txBody>
        </p:sp>
      </p:grpSp>
      <p:sp>
        <p:nvSpPr>
          <p:cNvPr id="17" name="Freeform 17" descr="preencoded.png"/>
          <p:cNvSpPr/>
          <p:nvPr/>
        </p:nvSpPr>
        <p:spPr>
          <a:xfrm>
            <a:off x="912911" y="6439346"/>
            <a:ext cx="912911" cy="912911"/>
          </a:xfrm>
          <a:custGeom>
            <a:avLst/>
            <a:gdLst/>
            <a:ahLst/>
            <a:cxnLst/>
            <a:rect l="l" t="t" r="r" b="b"/>
            <a:pathLst>
              <a:path w="912911" h="912911">
                <a:moveTo>
                  <a:pt x="0" y="0"/>
                </a:moveTo>
                <a:lnTo>
                  <a:pt x="912911" y="0"/>
                </a:lnTo>
                <a:lnTo>
                  <a:pt x="912911" y="912912"/>
                </a:lnTo>
                <a:lnTo>
                  <a:pt x="0" y="912912"/>
                </a:lnTo>
                <a:lnTo>
                  <a:pt x="0" y="0"/>
                </a:lnTo>
                <a:close/>
              </a:path>
            </a:pathLst>
          </a:custGeom>
          <a:blipFill>
            <a:blip r:embed="rId5"/>
            <a:stretch>
              <a:fillRect/>
            </a:stretch>
          </a:blipFill>
        </p:spPr>
      </p:sp>
      <p:grpSp>
        <p:nvGrpSpPr>
          <p:cNvPr id="18" name="Group 18"/>
          <p:cNvGrpSpPr/>
          <p:nvPr/>
        </p:nvGrpSpPr>
        <p:grpSpPr>
          <a:xfrm>
            <a:off x="2151757" y="6439346"/>
            <a:ext cx="6796682" cy="2608213"/>
            <a:chOff x="0" y="0"/>
            <a:chExt cx="9062243" cy="3477617"/>
          </a:xfrm>
        </p:grpSpPr>
        <p:sp>
          <p:nvSpPr>
            <p:cNvPr id="19" name="Freeform 19"/>
            <p:cNvSpPr/>
            <p:nvPr/>
          </p:nvSpPr>
          <p:spPr>
            <a:xfrm>
              <a:off x="0" y="0"/>
              <a:ext cx="9062243" cy="3477617"/>
            </a:xfrm>
            <a:custGeom>
              <a:avLst/>
              <a:gdLst/>
              <a:ahLst/>
              <a:cxnLst/>
              <a:rect l="l" t="t" r="r" b="b"/>
              <a:pathLst>
                <a:path w="9062243" h="3477617">
                  <a:moveTo>
                    <a:pt x="0" y="0"/>
                  </a:moveTo>
                  <a:lnTo>
                    <a:pt x="9062243" y="0"/>
                  </a:lnTo>
                  <a:lnTo>
                    <a:pt x="9062243" y="3477617"/>
                  </a:lnTo>
                  <a:lnTo>
                    <a:pt x="0" y="3477617"/>
                  </a:lnTo>
                  <a:close/>
                </a:path>
              </a:pathLst>
            </a:custGeom>
            <a:solidFill>
              <a:srgbClr val="000000">
                <a:alpha val="0"/>
              </a:srgbClr>
            </a:solidFill>
          </p:spPr>
        </p:sp>
        <p:sp>
          <p:nvSpPr>
            <p:cNvPr id="20" name="TextBox 20"/>
            <p:cNvSpPr txBox="1"/>
            <p:nvPr/>
          </p:nvSpPr>
          <p:spPr>
            <a:xfrm>
              <a:off x="0" y="-95250"/>
              <a:ext cx="9062243" cy="3572867"/>
            </a:xfrm>
            <a:prstGeom prst="rect">
              <a:avLst/>
            </a:prstGeom>
          </p:spPr>
          <p:txBody>
            <a:bodyPr lIns="0" tIns="0" rIns="0" bIns="0" rtlCol="0" anchor="t"/>
            <a:lstStyle/>
            <a:p>
              <a:pPr algn="l">
                <a:lnSpc>
                  <a:spcPts val="4062"/>
                </a:lnSpc>
              </a:pPr>
              <a:r>
                <a:rPr lang="en-US" sz="2562" spc="-41">
                  <a:solidFill>
                    <a:srgbClr val="272525"/>
                  </a:solidFill>
                  <a:latin typeface="Inter"/>
                  <a:ea typeface="Inter"/>
                  <a:cs typeface="Inter"/>
                  <a:sym typeface="Inter"/>
                </a:rPr>
                <a:t>Python is commonly used to create monitoring scripts that check server health, disk space, or application uptime. It can also be used to send alerts or notifications when an issue arises.</a:t>
              </a:r>
            </a:p>
          </p:txBody>
        </p:sp>
      </p:grpSp>
      <p:sp>
        <p:nvSpPr>
          <p:cNvPr id="21" name="TextBox 21"/>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677466" y="475961"/>
            <a:ext cx="5324029" cy="766341"/>
            <a:chOff x="0" y="0"/>
            <a:chExt cx="7098705" cy="1021787"/>
          </a:xfrm>
        </p:grpSpPr>
        <p:sp>
          <p:nvSpPr>
            <p:cNvPr id="7" name="Freeform 7"/>
            <p:cNvSpPr/>
            <p:nvPr/>
          </p:nvSpPr>
          <p:spPr>
            <a:xfrm>
              <a:off x="0" y="0"/>
              <a:ext cx="7098705" cy="1021787"/>
            </a:xfrm>
            <a:custGeom>
              <a:avLst/>
              <a:gdLst/>
              <a:ahLst/>
              <a:cxnLst/>
              <a:rect l="l" t="t" r="r" b="b"/>
              <a:pathLst>
                <a:path w="7098705" h="1021787">
                  <a:moveTo>
                    <a:pt x="0" y="0"/>
                  </a:moveTo>
                  <a:lnTo>
                    <a:pt x="7098705" y="0"/>
                  </a:lnTo>
                  <a:lnTo>
                    <a:pt x="7098705" y="1021787"/>
                  </a:lnTo>
                  <a:lnTo>
                    <a:pt x="0" y="1021787"/>
                  </a:lnTo>
                  <a:close/>
                </a:path>
              </a:pathLst>
            </a:custGeom>
            <a:solidFill>
              <a:srgbClr val="000000">
                <a:alpha val="0"/>
              </a:srgbClr>
            </a:solidFill>
          </p:spPr>
        </p:sp>
        <p:sp>
          <p:nvSpPr>
            <p:cNvPr id="8" name="TextBox 8"/>
            <p:cNvSpPr txBox="1"/>
            <p:nvPr/>
          </p:nvSpPr>
          <p:spPr>
            <a:xfrm>
              <a:off x="0" y="-19050"/>
              <a:ext cx="7098705" cy="1040837"/>
            </a:xfrm>
            <a:prstGeom prst="rect">
              <a:avLst/>
            </a:prstGeom>
          </p:spPr>
          <p:txBody>
            <a:bodyPr lIns="0" tIns="0" rIns="0" bIns="0" rtlCol="0" anchor="t"/>
            <a:lstStyle/>
            <a:p>
              <a:pPr algn="l">
                <a:lnSpc>
                  <a:spcPts val="5683"/>
                </a:lnSpc>
              </a:pPr>
              <a:r>
                <a:rPr lang="en-US" sz="4587" spc="-91">
                  <a:solidFill>
                    <a:srgbClr val="F95F88"/>
                  </a:solidFill>
                  <a:latin typeface="Petrona"/>
                  <a:ea typeface="Petrona"/>
                  <a:cs typeface="Petrona"/>
                  <a:sym typeface="Petrona"/>
                </a:rPr>
                <a:t>Points to remember!  </a:t>
              </a:r>
            </a:p>
          </p:txBody>
        </p:sp>
      </p:grpSp>
      <p:grpSp>
        <p:nvGrpSpPr>
          <p:cNvPr id="9" name="Group 9"/>
          <p:cNvGrpSpPr/>
          <p:nvPr/>
        </p:nvGrpSpPr>
        <p:grpSpPr>
          <a:xfrm>
            <a:off x="677466" y="1347780"/>
            <a:ext cx="3194297" cy="516484"/>
            <a:chOff x="0" y="0"/>
            <a:chExt cx="4259063" cy="688645"/>
          </a:xfrm>
        </p:grpSpPr>
        <p:sp>
          <p:nvSpPr>
            <p:cNvPr id="10" name="Freeform 10"/>
            <p:cNvSpPr/>
            <p:nvPr/>
          </p:nvSpPr>
          <p:spPr>
            <a:xfrm>
              <a:off x="0" y="0"/>
              <a:ext cx="4259063" cy="688645"/>
            </a:xfrm>
            <a:custGeom>
              <a:avLst/>
              <a:gdLst/>
              <a:ahLst/>
              <a:cxnLst/>
              <a:rect l="l" t="t" r="r" b="b"/>
              <a:pathLst>
                <a:path w="4259063" h="688645">
                  <a:moveTo>
                    <a:pt x="0" y="0"/>
                  </a:moveTo>
                  <a:lnTo>
                    <a:pt x="4259063" y="0"/>
                  </a:lnTo>
                  <a:lnTo>
                    <a:pt x="4259063" y="688645"/>
                  </a:lnTo>
                  <a:lnTo>
                    <a:pt x="0" y="688645"/>
                  </a:lnTo>
                  <a:close/>
                </a:path>
              </a:pathLst>
            </a:custGeom>
            <a:solidFill>
              <a:srgbClr val="000000">
                <a:alpha val="0"/>
              </a:srgbClr>
            </a:solidFill>
          </p:spPr>
        </p:sp>
        <p:sp>
          <p:nvSpPr>
            <p:cNvPr id="11" name="TextBox 11"/>
            <p:cNvSpPr txBox="1"/>
            <p:nvPr/>
          </p:nvSpPr>
          <p:spPr>
            <a:xfrm>
              <a:off x="0" y="-19050"/>
              <a:ext cx="4259063" cy="707695"/>
            </a:xfrm>
            <a:prstGeom prst="rect">
              <a:avLst/>
            </a:prstGeom>
          </p:spPr>
          <p:txBody>
            <a:bodyPr lIns="0" tIns="0" rIns="0" bIns="0" rtlCol="0" anchor="t"/>
            <a:lstStyle/>
            <a:p>
              <a:pPr algn="l">
                <a:lnSpc>
                  <a:spcPts val="3874"/>
                </a:lnSpc>
              </a:pPr>
              <a:r>
                <a:rPr lang="en-US" sz="3099" spc="-61">
                  <a:solidFill>
                    <a:srgbClr val="F95F88"/>
                  </a:solidFill>
                  <a:latin typeface="Petrona"/>
                  <a:ea typeface="Petrona"/>
                  <a:cs typeface="Petrona"/>
                  <a:sym typeface="Petrona"/>
                </a:rPr>
                <a:t>Syntax:</a:t>
              </a:r>
            </a:p>
          </p:txBody>
        </p:sp>
      </p:grpSp>
      <p:grpSp>
        <p:nvGrpSpPr>
          <p:cNvPr id="12" name="Group 12"/>
          <p:cNvGrpSpPr/>
          <p:nvPr/>
        </p:nvGrpSpPr>
        <p:grpSpPr>
          <a:xfrm>
            <a:off x="677466" y="2000583"/>
            <a:ext cx="16933069" cy="880283"/>
            <a:chOff x="0" y="0"/>
            <a:chExt cx="22577425" cy="1173711"/>
          </a:xfrm>
        </p:grpSpPr>
        <p:sp>
          <p:nvSpPr>
            <p:cNvPr id="13" name="Freeform 13"/>
            <p:cNvSpPr/>
            <p:nvPr/>
          </p:nvSpPr>
          <p:spPr>
            <a:xfrm>
              <a:off x="0" y="0"/>
              <a:ext cx="22577425" cy="1173711"/>
            </a:xfrm>
            <a:custGeom>
              <a:avLst/>
              <a:gdLst/>
              <a:ahLst/>
              <a:cxnLst/>
              <a:rect l="l" t="t" r="r" b="b"/>
              <a:pathLst>
                <a:path w="22577425" h="1173711">
                  <a:moveTo>
                    <a:pt x="0" y="0"/>
                  </a:moveTo>
                  <a:lnTo>
                    <a:pt x="22577425" y="0"/>
                  </a:lnTo>
                  <a:lnTo>
                    <a:pt x="22577425" y="1173711"/>
                  </a:lnTo>
                  <a:lnTo>
                    <a:pt x="0" y="1173711"/>
                  </a:lnTo>
                  <a:close/>
                </a:path>
              </a:pathLst>
            </a:custGeom>
            <a:solidFill>
              <a:srgbClr val="000000">
                <a:alpha val="0"/>
              </a:srgbClr>
            </a:solidFill>
          </p:spPr>
        </p:sp>
        <p:sp>
          <p:nvSpPr>
            <p:cNvPr id="14" name="TextBox 14"/>
            <p:cNvSpPr txBox="1"/>
            <p:nvPr/>
          </p:nvSpPr>
          <p:spPr>
            <a:xfrm>
              <a:off x="0" y="-95250"/>
              <a:ext cx="22577425" cy="12689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We don't need to explicitly define the data type of the variable, python automatically figures out the type based on the value you assign to it.</a:t>
              </a:r>
            </a:p>
          </p:txBody>
        </p:sp>
      </p:grpSp>
      <p:grpSp>
        <p:nvGrpSpPr>
          <p:cNvPr id="15" name="Group 15"/>
          <p:cNvGrpSpPr/>
          <p:nvPr/>
        </p:nvGrpSpPr>
        <p:grpSpPr>
          <a:xfrm>
            <a:off x="677466" y="2822525"/>
            <a:ext cx="16933069" cy="451658"/>
            <a:chOff x="0" y="0"/>
            <a:chExt cx="22577425" cy="602211"/>
          </a:xfrm>
        </p:grpSpPr>
        <p:sp>
          <p:nvSpPr>
            <p:cNvPr id="16" name="Freeform 16"/>
            <p:cNvSpPr/>
            <p:nvPr/>
          </p:nvSpPr>
          <p:spPr>
            <a:xfrm>
              <a:off x="0" y="0"/>
              <a:ext cx="22577425" cy="602211"/>
            </a:xfrm>
            <a:custGeom>
              <a:avLst/>
              <a:gdLst/>
              <a:ahLst/>
              <a:cxnLst/>
              <a:rect l="l" t="t" r="r" b="b"/>
              <a:pathLst>
                <a:path w="22577425" h="602211">
                  <a:moveTo>
                    <a:pt x="0" y="0"/>
                  </a:moveTo>
                  <a:lnTo>
                    <a:pt x="22577425" y="0"/>
                  </a:lnTo>
                  <a:lnTo>
                    <a:pt x="22577425" y="602211"/>
                  </a:lnTo>
                  <a:lnTo>
                    <a:pt x="0" y="602211"/>
                  </a:lnTo>
                  <a:close/>
                </a:path>
              </a:pathLst>
            </a:custGeom>
            <a:solidFill>
              <a:srgbClr val="000000">
                <a:alpha val="0"/>
              </a:srgbClr>
            </a:solidFill>
          </p:spPr>
        </p:sp>
        <p:sp>
          <p:nvSpPr>
            <p:cNvPr id="17" name="TextBox 17"/>
            <p:cNvSpPr txBox="1"/>
            <p:nvPr/>
          </p:nvSpPr>
          <p:spPr>
            <a:xfrm>
              <a:off x="0" y="-95250"/>
              <a:ext cx="22577425" cy="6974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Save the python code with .py format. (automations.py)</a:t>
              </a:r>
            </a:p>
          </p:txBody>
        </p:sp>
      </p:grpSp>
      <p:grpSp>
        <p:nvGrpSpPr>
          <p:cNvPr id="18" name="Group 18"/>
          <p:cNvGrpSpPr/>
          <p:nvPr/>
        </p:nvGrpSpPr>
        <p:grpSpPr>
          <a:xfrm>
            <a:off x="677466" y="3509516"/>
            <a:ext cx="3194297" cy="516484"/>
            <a:chOff x="0" y="0"/>
            <a:chExt cx="4259063" cy="688645"/>
          </a:xfrm>
        </p:grpSpPr>
        <p:sp>
          <p:nvSpPr>
            <p:cNvPr id="19" name="Freeform 19"/>
            <p:cNvSpPr/>
            <p:nvPr/>
          </p:nvSpPr>
          <p:spPr>
            <a:xfrm>
              <a:off x="0" y="0"/>
              <a:ext cx="4259063" cy="688645"/>
            </a:xfrm>
            <a:custGeom>
              <a:avLst/>
              <a:gdLst/>
              <a:ahLst/>
              <a:cxnLst/>
              <a:rect l="l" t="t" r="r" b="b"/>
              <a:pathLst>
                <a:path w="4259063" h="688645">
                  <a:moveTo>
                    <a:pt x="0" y="0"/>
                  </a:moveTo>
                  <a:lnTo>
                    <a:pt x="4259063" y="0"/>
                  </a:lnTo>
                  <a:lnTo>
                    <a:pt x="4259063" y="688645"/>
                  </a:lnTo>
                  <a:lnTo>
                    <a:pt x="0" y="688645"/>
                  </a:lnTo>
                  <a:close/>
                </a:path>
              </a:pathLst>
            </a:custGeom>
            <a:solidFill>
              <a:srgbClr val="000000">
                <a:alpha val="0"/>
              </a:srgbClr>
            </a:solidFill>
          </p:spPr>
        </p:sp>
        <p:sp>
          <p:nvSpPr>
            <p:cNvPr id="20" name="TextBox 20"/>
            <p:cNvSpPr txBox="1"/>
            <p:nvPr/>
          </p:nvSpPr>
          <p:spPr>
            <a:xfrm>
              <a:off x="0" y="-19050"/>
              <a:ext cx="4259063" cy="707695"/>
            </a:xfrm>
            <a:prstGeom prst="rect">
              <a:avLst/>
            </a:prstGeom>
          </p:spPr>
          <p:txBody>
            <a:bodyPr lIns="0" tIns="0" rIns="0" bIns="0" rtlCol="0" anchor="t"/>
            <a:lstStyle/>
            <a:p>
              <a:pPr algn="l">
                <a:lnSpc>
                  <a:spcPts val="3874"/>
                </a:lnSpc>
              </a:pPr>
              <a:r>
                <a:rPr lang="en-US" sz="3099" spc="-61">
                  <a:solidFill>
                    <a:srgbClr val="F95F88"/>
                  </a:solidFill>
                  <a:latin typeface="Petrona"/>
                  <a:ea typeface="Petrona"/>
                  <a:cs typeface="Petrona"/>
                  <a:sym typeface="Petrona"/>
                </a:rPr>
                <a:t>Indentation:</a:t>
              </a:r>
            </a:p>
          </p:txBody>
        </p:sp>
      </p:grpSp>
      <p:grpSp>
        <p:nvGrpSpPr>
          <p:cNvPr id="21" name="Group 21"/>
          <p:cNvGrpSpPr/>
          <p:nvPr/>
        </p:nvGrpSpPr>
        <p:grpSpPr>
          <a:xfrm>
            <a:off x="677466" y="4199036"/>
            <a:ext cx="16933069" cy="451658"/>
            <a:chOff x="0" y="0"/>
            <a:chExt cx="22577425" cy="602211"/>
          </a:xfrm>
        </p:grpSpPr>
        <p:sp>
          <p:nvSpPr>
            <p:cNvPr id="22" name="Freeform 22"/>
            <p:cNvSpPr/>
            <p:nvPr/>
          </p:nvSpPr>
          <p:spPr>
            <a:xfrm>
              <a:off x="0" y="0"/>
              <a:ext cx="22577425" cy="602211"/>
            </a:xfrm>
            <a:custGeom>
              <a:avLst/>
              <a:gdLst/>
              <a:ahLst/>
              <a:cxnLst/>
              <a:rect l="l" t="t" r="r" b="b"/>
              <a:pathLst>
                <a:path w="22577425" h="602211">
                  <a:moveTo>
                    <a:pt x="0" y="0"/>
                  </a:moveTo>
                  <a:lnTo>
                    <a:pt x="22577425" y="0"/>
                  </a:lnTo>
                  <a:lnTo>
                    <a:pt x="22577425" y="602211"/>
                  </a:lnTo>
                  <a:lnTo>
                    <a:pt x="0" y="602211"/>
                  </a:lnTo>
                  <a:close/>
                </a:path>
              </a:pathLst>
            </a:custGeom>
            <a:solidFill>
              <a:srgbClr val="000000">
                <a:alpha val="0"/>
              </a:srgbClr>
            </a:solidFill>
          </p:spPr>
        </p:sp>
        <p:sp>
          <p:nvSpPr>
            <p:cNvPr id="23" name="TextBox 23"/>
            <p:cNvSpPr txBox="1"/>
            <p:nvPr/>
          </p:nvSpPr>
          <p:spPr>
            <a:xfrm>
              <a:off x="0" y="-95250"/>
              <a:ext cx="22577425" cy="6974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Indentation is </a:t>
              </a:r>
              <a:r>
                <a:rPr lang="en-US" sz="2099" b="1" spc="-41">
                  <a:solidFill>
                    <a:srgbClr val="272525"/>
                  </a:solidFill>
                  <a:latin typeface="Inter Bold"/>
                  <a:ea typeface="Inter Bold"/>
                  <a:cs typeface="Inter Bold"/>
                  <a:sym typeface="Inter Bold"/>
                </a:rPr>
                <a:t>crucial</a:t>
              </a:r>
              <a:r>
                <a:rPr lang="en-US" sz="2099" spc="-41">
                  <a:solidFill>
                    <a:srgbClr val="272525"/>
                  </a:solidFill>
                  <a:latin typeface="Inter"/>
                  <a:ea typeface="Inter"/>
                  <a:cs typeface="Inter"/>
                  <a:sym typeface="Inter"/>
                </a:rPr>
                <a:t> in Python! </a:t>
              </a:r>
            </a:p>
          </p:txBody>
        </p:sp>
      </p:grpSp>
      <p:grpSp>
        <p:nvGrpSpPr>
          <p:cNvPr id="24" name="Group 24"/>
          <p:cNvGrpSpPr/>
          <p:nvPr/>
        </p:nvGrpSpPr>
        <p:grpSpPr>
          <a:xfrm>
            <a:off x="677466" y="4653855"/>
            <a:ext cx="16933069" cy="880283"/>
            <a:chOff x="0" y="0"/>
            <a:chExt cx="22577425" cy="1173711"/>
          </a:xfrm>
        </p:grpSpPr>
        <p:sp>
          <p:nvSpPr>
            <p:cNvPr id="25" name="Freeform 25"/>
            <p:cNvSpPr/>
            <p:nvPr/>
          </p:nvSpPr>
          <p:spPr>
            <a:xfrm>
              <a:off x="0" y="0"/>
              <a:ext cx="22577425" cy="1173711"/>
            </a:xfrm>
            <a:custGeom>
              <a:avLst/>
              <a:gdLst/>
              <a:ahLst/>
              <a:cxnLst/>
              <a:rect l="l" t="t" r="r" b="b"/>
              <a:pathLst>
                <a:path w="22577425" h="1173711">
                  <a:moveTo>
                    <a:pt x="0" y="0"/>
                  </a:moveTo>
                  <a:lnTo>
                    <a:pt x="22577425" y="0"/>
                  </a:lnTo>
                  <a:lnTo>
                    <a:pt x="22577425" y="1173711"/>
                  </a:lnTo>
                  <a:lnTo>
                    <a:pt x="0" y="1173711"/>
                  </a:lnTo>
                  <a:close/>
                </a:path>
              </a:pathLst>
            </a:custGeom>
            <a:solidFill>
              <a:srgbClr val="000000">
                <a:alpha val="0"/>
              </a:srgbClr>
            </a:solidFill>
          </p:spPr>
        </p:sp>
        <p:sp>
          <p:nvSpPr>
            <p:cNvPr id="26" name="TextBox 26"/>
            <p:cNvSpPr txBox="1"/>
            <p:nvPr/>
          </p:nvSpPr>
          <p:spPr>
            <a:xfrm>
              <a:off x="0" y="-95250"/>
              <a:ext cx="22577425" cy="12689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Unlike many other programming languages that use braces or other delimiters to define blocks of code, Python uses indentation to determine the structure of the program.</a:t>
              </a:r>
            </a:p>
          </p:txBody>
        </p:sp>
      </p:grpSp>
      <p:grpSp>
        <p:nvGrpSpPr>
          <p:cNvPr id="27" name="Group 27"/>
          <p:cNvGrpSpPr/>
          <p:nvPr/>
        </p:nvGrpSpPr>
        <p:grpSpPr>
          <a:xfrm>
            <a:off x="677466" y="5718422"/>
            <a:ext cx="3194297" cy="516484"/>
            <a:chOff x="0" y="0"/>
            <a:chExt cx="4259063" cy="688645"/>
          </a:xfrm>
        </p:grpSpPr>
        <p:sp>
          <p:nvSpPr>
            <p:cNvPr id="28" name="Freeform 28"/>
            <p:cNvSpPr/>
            <p:nvPr/>
          </p:nvSpPr>
          <p:spPr>
            <a:xfrm>
              <a:off x="0" y="0"/>
              <a:ext cx="4259063" cy="688645"/>
            </a:xfrm>
            <a:custGeom>
              <a:avLst/>
              <a:gdLst/>
              <a:ahLst/>
              <a:cxnLst/>
              <a:rect l="l" t="t" r="r" b="b"/>
              <a:pathLst>
                <a:path w="4259063" h="688645">
                  <a:moveTo>
                    <a:pt x="0" y="0"/>
                  </a:moveTo>
                  <a:lnTo>
                    <a:pt x="4259063" y="0"/>
                  </a:lnTo>
                  <a:lnTo>
                    <a:pt x="4259063" y="688645"/>
                  </a:lnTo>
                  <a:lnTo>
                    <a:pt x="0" y="688645"/>
                  </a:lnTo>
                  <a:close/>
                </a:path>
              </a:pathLst>
            </a:custGeom>
            <a:solidFill>
              <a:srgbClr val="000000">
                <a:alpha val="0"/>
              </a:srgbClr>
            </a:solidFill>
          </p:spPr>
        </p:sp>
        <p:sp>
          <p:nvSpPr>
            <p:cNvPr id="29" name="TextBox 29"/>
            <p:cNvSpPr txBox="1"/>
            <p:nvPr/>
          </p:nvSpPr>
          <p:spPr>
            <a:xfrm>
              <a:off x="0" y="-19050"/>
              <a:ext cx="4259063" cy="707695"/>
            </a:xfrm>
            <a:prstGeom prst="rect">
              <a:avLst/>
            </a:prstGeom>
          </p:spPr>
          <p:txBody>
            <a:bodyPr lIns="0" tIns="0" rIns="0" bIns="0" rtlCol="0" anchor="t"/>
            <a:lstStyle/>
            <a:p>
              <a:pPr algn="l">
                <a:lnSpc>
                  <a:spcPts val="3874"/>
                </a:lnSpc>
              </a:pPr>
              <a:r>
                <a:rPr lang="en-US" sz="3099" spc="-61">
                  <a:solidFill>
                    <a:srgbClr val="F95F88"/>
                  </a:solidFill>
                  <a:latin typeface="Petrona"/>
                  <a:ea typeface="Petrona"/>
                  <a:cs typeface="Petrona"/>
                  <a:sym typeface="Petrona"/>
                </a:rPr>
                <a:t>Naming Variables:</a:t>
              </a:r>
            </a:p>
          </p:txBody>
        </p:sp>
      </p:grpSp>
      <p:grpSp>
        <p:nvGrpSpPr>
          <p:cNvPr id="30" name="Group 30"/>
          <p:cNvGrpSpPr/>
          <p:nvPr/>
        </p:nvGrpSpPr>
        <p:grpSpPr>
          <a:xfrm>
            <a:off x="677466" y="6407944"/>
            <a:ext cx="16933069" cy="451658"/>
            <a:chOff x="0" y="0"/>
            <a:chExt cx="22577425" cy="602211"/>
          </a:xfrm>
        </p:grpSpPr>
        <p:sp>
          <p:nvSpPr>
            <p:cNvPr id="31" name="Freeform 31"/>
            <p:cNvSpPr/>
            <p:nvPr/>
          </p:nvSpPr>
          <p:spPr>
            <a:xfrm>
              <a:off x="0" y="0"/>
              <a:ext cx="22577425" cy="602211"/>
            </a:xfrm>
            <a:custGeom>
              <a:avLst/>
              <a:gdLst/>
              <a:ahLst/>
              <a:cxnLst/>
              <a:rect l="l" t="t" r="r" b="b"/>
              <a:pathLst>
                <a:path w="22577425" h="602211">
                  <a:moveTo>
                    <a:pt x="0" y="0"/>
                  </a:moveTo>
                  <a:lnTo>
                    <a:pt x="22577425" y="0"/>
                  </a:lnTo>
                  <a:lnTo>
                    <a:pt x="22577425" y="602211"/>
                  </a:lnTo>
                  <a:lnTo>
                    <a:pt x="0" y="602211"/>
                  </a:lnTo>
                  <a:close/>
                </a:path>
              </a:pathLst>
            </a:custGeom>
            <a:solidFill>
              <a:srgbClr val="000000">
                <a:alpha val="0"/>
              </a:srgbClr>
            </a:solidFill>
          </p:spPr>
        </p:sp>
        <p:sp>
          <p:nvSpPr>
            <p:cNvPr id="32" name="TextBox 32"/>
            <p:cNvSpPr txBox="1"/>
            <p:nvPr/>
          </p:nvSpPr>
          <p:spPr>
            <a:xfrm>
              <a:off x="0" y="-95250"/>
              <a:ext cx="22577425" cy="6974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Use descriptive names for variables (e.g., age, total_price).</a:t>
              </a:r>
            </a:p>
          </p:txBody>
        </p:sp>
      </p:grpSp>
      <p:grpSp>
        <p:nvGrpSpPr>
          <p:cNvPr id="33" name="Group 33"/>
          <p:cNvGrpSpPr/>
          <p:nvPr/>
        </p:nvGrpSpPr>
        <p:grpSpPr>
          <a:xfrm>
            <a:off x="677466" y="6872287"/>
            <a:ext cx="16933069" cy="451658"/>
            <a:chOff x="0" y="0"/>
            <a:chExt cx="22577425" cy="602211"/>
          </a:xfrm>
        </p:grpSpPr>
        <p:sp>
          <p:nvSpPr>
            <p:cNvPr id="34" name="Freeform 34"/>
            <p:cNvSpPr/>
            <p:nvPr/>
          </p:nvSpPr>
          <p:spPr>
            <a:xfrm>
              <a:off x="0" y="0"/>
              <a:ext cx="22577425" cy="602211"/>
            </a:xfrm>
            <a:custGeom>
              <a:avLst/>
              <a:gdLst/>
              <a:ahLst/>
              <a:cxnLst/>
              <a:rect l="l" t="t" r="r" b="b"/>
              <a:pathLst>
                <a:path w="22577425" h="602211">
                  <a:moveTo>
                    <a:pt x="0" y="0"/>
                  </a:moveTo>
                  <a:lnTo>
                    <a:pt x="22577425" y="0"/>
                  </a:lnTo>
                  <a:lnTo>
                    <a:pt x="22577425" y="602211"/>
                  </a:lnTo>
                  <a:lnTo>
                    <a:pt x="0" y="602211"/>
                  </a:lnTo>
                  <a:close/>
                </a:path>
              </a:pathLst>
            </a:custGeom>
            <a:solidFill>
              <a:srgbClr val="000000">
                <a:alpha val="0"/>
              </a:srgbClr>
            </a:solidFill>
          </p:spPr>
        </p:sp>
        <p:sp>
          <p:nvSpPr>
            <p:cNvPr id="35" name="TextBox 35"/>
            <p:cNvSpPr txBox="1"/>
            <p:nvPr/>
          </p:nvSpPr>
          <p:spPr>
            <a:xfrm>
              <a:off x="0" y="-95250"/>
              <a:ext cx="22577425" cy="6974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Follow the </a:t>
              </a:r>
              <a:r>
                <a:rPr lang="en-US" sz="2099" b="1" spc="-41">
                  <a:solidFill>
                    <a:srgbClr val="272525"/>
                  </a:solidFill>
                  <a:latin typeface="Inter Bold"/>
                  <a:ea typeface="Inter Bold"/>
                  <a:cs typeface="Inter Bold"/>
                  <a:sym typeface="Inter Bold"/>
                </a:rPr>
                <a:t>snake_case</a:t>
              </a:r>
              <a:r>
                <a:rPr lang="en-US" sz="2099" spc="-41">
                  <a:solidFill>
                    <a:srgbClr val="272525"/>
                  </a:solidFill>
                  <a:latin typeface="Inter"/>
                  <a:ea typeface="Inter"/>
                  <a:cs typeface="Inter"/>
                  <a:sym typeface="Inter"/>
                </a:rPr>
                <a:t> format (lowercase words separated by underscores).</a:t>
              </a:r>
            </a:p>
          </p:txBody>
        </p:sp>
      </p:grpSp>
      <p:grpSp>
        <p:nvGrpSpPr>
          <p:cNvPr id="36" name="Group 36"/>
          <p:cNvGrpSpPr/>
          <p:nvPr/>
        </p:nvGrpSpPr>
        <p:grpSpPr>
          <a:xfrm>
            <a:off x="677466" y="7327106"/>
            <a:ext cx="16933069" cy="451658"/>
            <a:chOff x="0" y="0"/>
            <a:chExt cx="22577425" cy="602211"/>
          </a:xfrm>
        </p:grpSpPr>
        <p:sp>
          <p:nvSpPr>
            <p:cNvPr id="37" name="Freeform 37"/>
            <p:cNvSpPr/>
            <p:nvPr/>
          </p:nvSpPr>
          <p:spPr>
            <a:xfrm>
              <a:off x="0" y="0"/>
              <a:ext cx="22577425" cy="602211"/>
            </a:xfrm>
            <a:custGeom>
              <a:avLst/>
              <a:gdLst/>
              <a:ahLst/>
              <a:cxnLst/>
              <a:rect l="l" t="t" r="r" b="b"/>
              <a:pathLst>
                <a:path w="22577425" h="602211">
                  <a:moveTo>
                    <a:pt x="0" y="0"/>
                  </a:moveTo>
                  <a:lnTo>
                    <a:pt x="22577425" y="0"/>
                  </a:lnTo>
                  <a:lnTo>
                    <a:pt x="22577425" y="602211"/>
                  </a:lnTo>
                  <a:lnTo>
                    <a:pt x="0" y="602211"/>
                  </a:lnTo>
                  <a:close/>
                </a:path>
              </a:pathLst>
            </a:custGeom>
            <a:solidFill>
              <a:srgbClr val="000000">
                <a:alpha val="0"/>
              </a:srgbClr>
            </a:solidFill>
          </p:spPr>
        </p:sp>
        <p:sp>
          <p:nvSpPr>
            <p:cNvPr id="38" name="TextBox 38"/>
            <p:cNvSpPr txBox="1"/>
            <p:nvPr/>
          </p:nvSpPr>
          <p:spPr>
            <a:xfrm>
              <a:off x="0" y="-95250"/>
              <a:ext cx="22577425" cy="6974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Don't use reserved words (like if, for, def, class) as variable names.</a:t>
              </a:r>
            </a:p>
          </p:txBody>
        </p:sp>
      </p:grpSp>
      <p:grpSp>
        <p:nvGrpSpPr>
          <p:cNvPr id="39" name="Group 39"/>
          <p:cNvGrpSpPr/>
          <p:nvPr/>
        </p:nvGrpSpPr>
        <p:grpSpPr>
          <a:xfrm>
            <a:off x="677466" y="8014097"/>
            <a:ext cx="3766597" cy="516484"/>
            <a:chOff x="0" y="0"/>
            <a:chExt cx="5022129" cy="688645"/>
          </a:xfrm>
        </p:grpSpPr>
        <p:sp>
          <p:nvSpPr>
            <p:cNvPr id="40" name="Freeform 40"/>
            <p:cNvSpPr/>
            <p:nvPr/>
          </p:nvSpPr>
          <p:spPr>
            <a:xfrm>
              <a:off x="0" y="0"/>
              <a:ext cx="5022129" cy="688645"/>
            </a:xfrm>
            <a:custGeom>
              <a:avLst/>
              <a:gdLst/>
              <a:ahLst/>
              <a:cxnLst/>
              <a:rect l="l" t="t" r="r" b="b"/>
              <a:pathLst>
                <a:path w="5022129" h="688645">
                  <a:moveTo>
                    <a:pt x="0" y="0"/>
                  </a:moveTo>
                  <a:lnTo>
                    <a:pt x="5022129" y="0"/>
                  </a:lnTo>
                  <a:lnTo>
                    <a:pt x="5022129" y="688645"/>
                  </a:lnTo>
                  <a:lnTo>
                    <a:pt x="0" y="688645"/>
                  </a:lnTo>
                  <a:close/>
                </a:path>
              </a:pathLst>
            </a:custGeom>
            <a:solidFill>
              <a:srgbClr val="000000">
                <a:alpha val="0"/>
              </a:srgbClr>
            </a:solidFill>
          </p:spPr>
        </p:sp>
        <p:sp>
          <p:nvSpPr>
            <p:cNvPr id="41" name="TextBox 41"/>
            <p:cNvSpPr txBox="1"/>
            <p:nvPr/>
          </p:nvSpPr>
          <p:spPr>
            <a:xfrm>
              <a:off x="0" y="-19050"/>
              <a:ext cx="5022129" cy="707695"/>
            </a:xfrm>
            <a:prstGeom prst="rect">
              <a:avLst/>
            </a:prstGeom>
          </p:spPr>
          <p:txBody>
            <a:bodyPr lIns="0" tIns="0" rIns="0" bIns="0" rtlCol="0" anchor="t"/>
            <a:lstStyle/>
            <a:p>
              <a:pPr algn="l">
                <a:lnSpc>
                  <a:spcPts val="3874"/>
                </a:lnSpc>
              </a:pPr>
              <a:r>
                <a:rPr lang="en-US" sz="3099" spc="-61">
                  <a:solidFill>
                    <a:srgbClr val="F95F88"/>
                  </a:solidFill>
                  <a:latin typeface="Petrona"/>
                  <a:ea typeface="Petrona"/>
                  <a:cs typeface="Petrona"/>
                  <a:sym typeface="Petrona"/>
                </a:rPr>
                <a:t>Function Definitions</a:t>
              </a:r>
            </a:p>
          </p:txBody>
        </p:sp>
      </p:grpSp>
      <p:grpSp>
        <p:nvGrpSpPr>
          <p:cNvPr id="42" name="Group 42"/>
          <p:cNvGrpSpPr/>
          <p:nvPr/>
        </p:nvGrpSpPr>
        <p:grpSpPr>
          <a:xfrm>
            <a:off x="677466" y="8703617"/>
            <a:ext cx="16933069" cy="451658"/>
            <a:chOff x="0" y="0"/>
            <a:chExt cx="22577425" cy="602211"/>
          </a:xfrm>
        </p:grpSpPr>
        <p:sp>
          <p:nvSpPr>
            <p:cNvPr id="43" name="Freeform 43"/>
            <p:cNvSpPr/>
            <p:nvPr/>
          </p:nvSpPr>
          <p:spPr>
            <a:xfrm>
              <a:off x="0" y="0"/>
              <a:ext cx="22577425" cy="602211"/>
            </a:xfrm>
            <a:custGeom>
              <a:avLst/>
              <a:gdLst/>
              <a:ahLst/>
              <a:cxnLst/>
              <a:rect l="l" t="t" r="r" b="b"/>
              <a:pathLst>
                <a:path w="22577425" h="602211">
                  <a:moveTo>
                    <a:pt x="0" y="0"/>
                  </a:moveTo>
                  <a:lnTo>
                    <a:pt x="22577425" y="0"/>
                  </a:lnTo>
                  <a:lnTo>
                    <a:pt x="22577425" y="602211"/>
                  </a:lnTo>
                  <a:lnTo>
                    <a:pt x="0" y="602211"/>
                  </a:lnTo>
                  <a:close/>
                </a:path>
              </a:pathLst>
            </a:custGeom>
            <a:solidFill>
              <a:srgbClr val="000000">
                <a:alpha val="0"/>
              </a:srgbClr>
            </a:solidFill>
          </p:spPr>
        </p:sp>
        <p:sp>
          <p:nvSpPr>
            <p:cNvPr id="44" name="TextBox 44"/>
            <p:cNvSpPr txBox="1"/>
            <p:nvPr/>
          </p:nvSpPr>
          <p:spPr>
            <a:xfrm>
              <a:off x="0" y="-95250"/>
              <a:ext cx="22577425" cy="6974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Always define functions with def and give them a meaningful name.</a:t>
              </a:r>
            </a:p>
          </p:txBody>
        </p:sp>
      </p:grpSp>
      <p:grpSp>
        <p:nvGrpSpPr>
          <p:cNvPr id="45" name="Group 45"/>
          <p:cNvGrpSpPr/>
          <p:nvPr/>
        </p:nvGrpSpPr>
        <p:grpSpPr>
          <a:xfrm>
            <a:off x="677466" y="9167961"/>
            <a:ext cx="16933069" cy="451658"/>
            <a:chOff x="0" y="0"/>
            <a:chExt cx="22577425" cy="602211"/>
          </a:xfrm>
        </p:grpSpPr>
        <p:sp>
          <p:nvSpPr>
            <p:cNvPr id="46" name="Freeform 46"/>
            <p:cNvSpPr/>
            <p:nvPr/>
          </p:nvSpPr>
          <p:spPr>
            <a:xfrm>
              <a:off x="0" y="0"/>
              <a:ext cx="22577425" cy="602211"/>
            </a:xfrm>
            <a:custGeom>
              <a:avLst/>
              <a:gdLst/>
              <a:ahLst/>
              <a:cxnLst/>
              <a:rect l="l" t="t" r="r" b="b"/>
              <a:pathLst>
                <a:path w="22577425" h="602211">
                  <a:moveTo>
                    <a:pt x="0" y="0"/>
                  </a:moveTo>
                  <a:lnTo>
                    <a:pt x="22577425" y="0"/>
                  </a:lnTo>
                  <a:lnTo>
                    <a:pt x="22577425" y="602211"/>
                  </a:lnTo>
                  <a:lnTo>
                    <a:pt x="0" y="602211"/>
                  </a:lnTo>
                  <a:close/>
                </a:path>
              </a:pathLst>
            </a:custGeom>
            <a:solidFill>
              <a:srgbClr val="000000">
                <a:alpha val="0"/>
              </a:srgbClr>
            </a:solidFill>
          </p:spPr>
        </p:sp>
        <p:sp>
          <p:nvSpPr>
            <p:cNvPr id="47" name="TextBox 47"/>
            <p:cNvSpPr txBox="1"/>
            <p:nvPr/>
          </p:nvSpPr>
          <p:spPr>
            <a:xfrm>
              <a:off x="0" y="-95250"/>
              <a:ext cx="22577425" cy="697461"/>
            </a:xfrm>
            <a:prstGeom prst="rect">
              <a:avLst/>
            </a:prstGeom>
          </p:spPr>
          <p:txBody>
            <a:bodyPr lIns="0" tIns="0" rIns="0" bIns="0" rtlCol="0" anchor="t"/>
            <a:lstStyle/>
            <a:p>
              <a:pPr marL="316704" lvl="1" indent="-158352" algn="l">
                <a:lnSpc>
                  <a:spcPts val="3412"/>
                </a:lnSpc>
                <a:buFont typeface="Arial"/>
                <a:buChar char="•"/>
              </a:pPr>
              <a:r>
                <a:rPr lang="en-US" sz="2099" spc="-41">
                  <a:solidFill>
                    <a:srgbClr val="272525"/>
                  </a:solidFill>
                  <a:latin typeface="Inter"/>
                  <a:ea typeface="Inter"/>
                  <a:cs typeface="Inter"/>
                  <a:sym typeface="Inter"/>
                </a:rPr>
                <a:t>Use parentheses () for parameters and a colon : to start the body</a:t>
              </a:r>
            </a:p>
          </p:txBody>
        </p:sp>
      </p:grpSp>
      <p:sp>
        <p:nvSpPr>
          <p:cNvPr id="48" name="TextBox 48"/>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958603" y="753070"/>
            <a:ext cx="7532042" cy="941486"/>
            <a:chOff x="0" y="0"/>
            <a:chExt cx="10042723" cy="1255315"/>
          </a:xfrm>
        </p:grpSpPr>
        <p:sp>
          <p:nvSpPr>
            <p:cNvPr id="7" name="Freeform 7"/>
            <p:cNvSpPr/>
            <p:nvPr/>
          </p:nvSpPr>
          <p:spPr>
            <a:xfrm>
              <a:off x="0" y="0"/>
              <a:ext cx="10042723" cy="1255315"/>
            </a:xfrm>
            <a:custGeom>
              <a:avLst/>
              <a:gdLst/>
              <a:ahLst/>
              <a:cxnLst/>
              <a:rect l="l" t="t" r="r" b="b"/>
              <a:pathLst>
                <a:path w="10042723" h="1255315">
                  <a:moveTo>
                    <a:pt x="0" y="0"/>
                  </a:moveTo>
                  <a:lnTo>
                    <a:pt x="10042723" y="0"/>
                  </a:lnTo>
                  <a:lnTo>
                    <a:pt x="10042723" y="1255315"/>
                  </a:lnTo>
                  <a:lnTo>
                    <a:pt x="0" y="1255315"/>
                  </a:lnTo>
                  <a:close/>
                </a:path>
              </a:pathLst>
            </a:custGeom>
            <a:solidFill>
              <a:srgbClr val="000000">
                <a:alpha val="0"/>
              </a:srgbClr>
            </a:solidFill>
          </p:spPr>
        </p:sp>
        <p:sp>
          <p:nvSpPr>
            <p:cNvPr id="8" name="TextBox 8"/>
            <p:cNvSpPr txBox="1"/>
            <p:nvPr/>
          </p:nvSpPr>
          <p:spPr>
            <a:xfrm>
              <a:off x="0" y="-38100"/>
              <a:ext cx="10042723" cy="1293415"/>
            </a:xfrm>
            <a:prstGeom prst="rect">
              <a:avLst/>
            </a:prstGeom>
          </p:spPr>
          <p:txBody>
            <a:bodyPr lIns="0" tIns="0" rIns="0" bIns="0" rtlCol="0" anchor="t"/>
            <a:lstStyle/>
            <a:p>
              <a:pPr algn="l">
                <a:lnSpc>
                  <a:spcPts val="6747"/>
                </a:lnSpc>
              </a:pPr>
              <a:r>
                <a:rPr lang="en-US" sz="5375" spc="-108">
                  <a:solidFill>
                    <a:srgbClr val="F95F88"/>
                  </a:solidFill>
                  <a:latin typeface="Petrona"/>
                  <a:ea typeface="Petrona"/>
                  <a:cs typeface="Petrona"/>
                  <a:sym typeface="Petrona"/>
                </a:rPr>
                <a:t>Sample python code</a:t>
              </a:r>
            </a:p>
          </p:txBody>
        </p:sp>
      </p:grpSp>
      <p:grpSp>
        <p:nvGrpSpPr>
          <p:cNvPr id="9" name="Group 9"/>
          <p:cNvGrpSpPr/>
          <p:nvPr/>
        </p:nvGrpSpPr>
        <p:grpSpPr>
          <a:xfrm>
            <a:off x="958602" y="1973980"/>
            <a:ext cx="16370796" cy="1095375"/>
            <a:chOff x="0" y="0"/>
            <a:chExt cx="21827728" cy="1460500"/>
          </a:xfrm>
        </p:grpSpPr>
        <p:sp>
          <p:nvSpPr>
            <p:cNvPr id="10" name="Freeform 10"/>
            <p:cNvSpPr/>
            <p:nvPr/>
          </p:nvSpPr>
          <p:spPr>
            <a:xfrm>
              <a:off x="0" y="0"/>
              <a:ext cx="21827728" cy="1460500"/>
            </a:xfrm>
            <a:custGeom>
              <a:avLst/>
              <a:gdLst/>
              <a:ahLst/>
              <a:cxnLst/>
              <a:rect l="l" t="t" r="r" b="b"/>
              <a:pathLst>
                <a:path w="21827728" h="1460500">
                  <a:moveTo>
                    <a:pt x="0" y="0"/>
                  </a:moveTo>
                  <a:lnTo>
                    <a:pt x="21827728" y="0"/>
                  </a:lnTo>
                  <a:lnTo>
                    <a:pt x="21827728" y="1460500"/>
                  </a:lnTo>
                  <a:lnTo>
                    <a:pt x="0" y="1460500"/>
                  </a:lnTo>
                  <a:close/>
                </a:path>
              </a:pathLst>
            </a:custGeom>
            <a:solidFill>
              <a:srgbClr val="000000">
                <a:alpha val="0"/>
              </a:srgbClr>
            </a:solidFill>
          </p:spPr>
        </p:sp>
        <p:sp>
          <p:nvSpPr>
            <p:cNvPr id="11" name="TextBox 11"/>
            <p:cNvSpPr txBox="1"/>
            <p:nvPr/>
          </p:nvSpPr>
          <p:spPr>
            <a:xfrm>
              <a:off x="0" y="-114300"/>
              <a:ext cx="21827728" cy="1574800"/>
            </a:xfrm>
            <a:prstGeom prst="rect">
              <a:avLst/>
            </a:prstGeom>
          </p:spPr>
          <p:txBody>
            <a:bodyPr lIns="0" tIns="0" rIns="0" bIns="0" rtlCol="0" anchor="t"/>
            <a:lstStyle/>
            <a:p>
              <a:pPr algn="l">
                <a:lnSpc>
                  <a:spcPts val="4312"/>
                </a:lnSpc>
              </a:pPr>
              <a:r>
                <a:rPr lang="en-US" sz="2687" spc="-43">
                  <a:solidFill>
                    <a:srgbClr val="272525"/>
                  </a:solidFill>
                  <a:latin typeface="Inter"/>
                  <a:ea typeface="Inter"/>
                  <a:cs typeface="Inter"/>
                  <a:sym typeface="Inter"/>
                </a:rPr>
                <a:t>The below lines of code shows us how to use indentation, how to define functions, how to use descriptive naming and avoid using reserved words from python library.</a:t>
              </a:r>
            </a:p>
          </p:txBody>
        </p:sp>
      </p:grpSp>
      <p:sp>
        <p:nvSpPr>
          <p:cNvPr id="12" name="Freeform 12" descr="preencoded.png"/>
          <p:cNvSpPr/>
          <p:nvPr/>
        </p:nvSpPr>
        <p:spPr>
          <a:xfrm>
            <a:off x="958603" y="3953767"/>
            <a:ext cx="8185397" cy="4072942"/>
          </a:xfrm>
          <a:custGeom>
            <a:avLst/>
            <a:gdLst/>
            <a:ahLst/>
            <a:cxnLst/>
            <a:rect l="l" t="t" r="r" b="b"/>
            <a:pathLst>
              <a:path w="8185397" h="4072942">
                <a:moveTo>
                  <a:pt x="0" y="0"/>
                </a:moveTo>
                <a:lnTo>
                  <a:pt x="8185397" y="0"/>
                </a:lnTo>
                <a:lnTo>
                  <a:pt x="8185397" y="4072943"/>
                </a:lnTo>
                <a:lnTo>
                  <a:pt x="0" y="4072943"/>
                </a:lnTo>
                <a:lnTo>
                  <a:pt x="0" y="0"/>
                </a:lnTo>
                <a:close/>
              </a:path>
            </a:pathLst>
          </a:custGeom>
          <a:blipFill>
            <a:blip r:embed="rId3"/>
            <a:stretch>
              <a:fillRect l="-9" r="-9"/>
            </a:stretch>
          </a:blipFill>
        </p:spPr>
      </p:sp>
      <p:sp>
        <p:nvSpPr>
          <p:cNvPr id="13" name="Freeform 13" descr="preencoded.png"/>
          <p:cNvSpPr/>
          <p:nvPr/>
        </p:nvSpPr>
        <p:spPr>
          <a:xfrm>
            <a:off x="9144001" y="3953768"/>
            <a:ext cx="8997989" cy="1752630"/>
          </a:xfrm>
          <a:custGeom>
            <a:avLst/>
            <a:gdLst/>
            <a:ahLst/>
            <a:cxnLst/>
            <a:rect l="l" t="t" r="r" b="b"/>
            <a:pathLst>
              <a:path w="8997989" h="1752630">
                <a:moveTo>
                  <a:pt x="0" y="0"/>
                </a:moveTo>
                <a:lnTo>
                  <a:pt x="8997988" y="0"/>
                </a:lnTo>
                <a:lnTo>
                  <a:pt x="8997988" y="1752629"/>
                </a:lnTo>
                <a:lnTo>
                  <a:pt x="0" y="1752629"/>
                </a:lnTo>
                <a:lnTo>
                  <a:pt x="0" y="0"/>
                </a:lnTo>
                <a:close/>
              </a:path>
            </a:pathLst>
          </a:custGeom>
          <a:blipFill>
            <a:blip r:embed="rId4"/>
            <a:stretch>
              <a:fillRect l="-14" r="-14"/>
            </a:stretch>
          </a:blipFill>
        </p:spPr>
      </p:sp>
      <p:sp>
        <p:nvSpPr>
          <p:cNvPr id="14" name="TextBox 14"/>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588615" y="324997"/>
            <a:ext cx="7471377" cy="723853"/>
            <a:chOff x="0" y="0"/>
            <a:chExt cx="9961837" cy="965138"/>
          </a:xfrm>
        </p:grpSpPr>
        <p:sp>
          <p:nvSpPr>
            <p:cNvPr id="7" name="Freeform 7"/>
            <p:cNvSpPr/>
            <p:nvPr/>
          </p:nvSpPr>
          <p:spPr>
            <a:xfrm>
              <a:off x="0" y="0"/>
              <a:ext cx="9961837" cy="965138"/>
            </a:xfrm>
            <a:custGeom>
              <a:avLst/>
              <a:gdLst/>
              <a:ahLst/>
              <a:cxnLst/>
              <a:rect l="l" t="t" r="r" b="b"/>
              <a:pathLst>
                <a:path w="9961837" h="965138">
                  <a:moveTo>
                    <a:pt x="0" y="0"/>
                  </a:moveTo>
                  <a:lnTo>
                    <a:pt x="9961837" y="0"/>
                  </a:lnTo>
                  <a:lnTo>
                    <a:pt x="9961837" y="965138"/>
                  </a:lnTo>
                  <a:lnTo>
                    <a:pt x="0" y="965138"/>
                  </a:lnTo>
                  <a:close/>
                </a:path>
              </a:pathLst>
            </a:custGeom>
            <a:solidFill>
              <a:srgbClr val="000000">
                <a:alpha val="0"/>
              </a:srgbClr>
            </a:solidFill>
          </p:spPr>
        </p:sp>
        <p:sp>
          <p:nvSpPr>
            <p:cNvPr id="8" name="TextBox 8"/>
            <p:cNvSpPr txBox="1"/>
            <p:nvPr/>
          </p:nvSpPr>
          <p:spPr>
            <a:xfrm>
              <a:off x="0" y="-19050"/>
              <a:ext cx="9961837" cy="984188"/>
            </a:xfrm>
            <a:prstGeom prst="rect">
              <a:avLst/>
            </a:prstGeom>
          </p:spPr>
          <p:txBody>
            <a:bodyPr lIns="0" tIns="0" rIns="0" bIns="0" rtlCol="0" anchor="t"/>
            <a:lstStyle/>
            <a:p>
              <a:pPr algn="l">
                <a:lnSpc>
                  <a:spcPts val="5368"/>
                </a:lnSpc>
              </a:pPr>
              <a:r>
                <a:rPr lang="en-US" sz="4324" spc="-86">
                  <a:solidFill>
                    <a:srgbClr val="F95F88"/>
                  </a:solidFill>
                  <a:latin typeface="Petrona"/>
                  <a:ea typeface="Petrona"/>
                  <a:cs typeface="Petrona"/>
                  <a:sym typeface="Petrona"/>
                </a:rPr>
                <a:t>Python: Data Types &amp; Collections</a:t>
              </a:r>
            </a:p>
          </p:txBody>
        </p:sp>
      </p:grpSp>
      <p:grpSp>
        <p:nvGrpSpPr>
          <p:cNvPr id="9" name="Group 9"/>
          <p:cNvGrpSpPr/>
          <p:nvPr/>
        </p:nvGrpSpPr>
        <p:grpSpPr>
          <a:xfrm>
            <a:off x="593378" y="1239380"/>
            <a:ext cx="17110770" cy="454527"/>
            <a:chOff x="0" y="0"/>
            <a:chExt cx="22814360" cy="606036"/>
          </a:xfrm>
        </p:grpSpPr>
        <p:sp>
          <p:nvSpPr>
            <p:cNvPr id="10" name="Freeform 10"/>
            <p:cNvSpPr/>
            <p:nvPr/>
          </p:nvSpPr>
          <p:spPr>
            <a:xfrm>
              <a:off x="0" y="0"/>
              <a:ext cx="22814359" cy="606036"/>
            </a:xfrm>
            <a:custGeom>
              <a:avLst/>
              <a:gdLst/>
              <a:ahLst/>
              <a:cxnLst/>
              <a:rect l="l" t="t" r="r" b="b"/>
              <a:pathLst>
                <a:path w="22814359" h="606036">
                  <a:moveTo>
                    <a:pt x="0" y="0"/>
                  </a:moveTo>
                  <a:lnTo>
                    <a:pt x="22814359" y="0"/>
                  </a:lnTo>
                  <a:lnTo>
                    <a:pt x="22814359" y="606036"/>
                  </a:lnTo>
                  <a:lnTo>
                    <a:pt x="0" y="606036"/>
                  </a:lnTo>
                  <a:close/>
                </a:path>
              </a:pathLst>
            </a:custGeom>
            <a:solidFill>
              <a:srgbClr val="000000">
                <a:alpha val="0"/>
              </a:srgbClr>
            </a:solidFill>
          </p:spPr>
        </p:sp>
        <p:sp>
          <p:nvSpPr>
            <p:cNvPr id="11" name="TextBox 11"/>
            <p:cNvSpPr txBox="1"/>
            <p:nvPr/>
          </p:nvSpPr>
          <p:spPr>
            <a:xfrm>
              <a:off x="0" y="-95250"/>
              <a:ext cx="22814360" cy="701286"/>
            </a:xfrm>
            <a:prstGeom prst="rect">
              <a:avLst/>
            </a:prstGeom>
          </p:spPr>
          <p:txBody>
            <a:bodyPr lIns="0" tIns="0" rIns="0" bIns="0" rtlCol="0" anchor="t"/>
            <a:lstStyle/>
            <a:p>
              <a:pPr algn="l">
                <a:lnSpc>
                  <a:spcPts val="3432"/>
                </a:lnSpc>
              </a:pPr>
              <a:r>
                <a:rPr lang="en-US" sz="2124" spc="-34">
                  <a:solidFill>
                    <a:srgbClr val="272525"/>
                  </a:solidFill>
                  <a:latin typeface="Inter"/>
                  <a:ea typeface="Inter"/>
                  <a:cs typeface="Inter"/>
                  <a:sym typeface="Inter"/>
                </a:rPr>
                <a:t>These data types and collections are essential for working with different kinds of information in Python.</a:t>
              </a:r>
            </a:p>
          </p:txBody>
        </p:sp>
      </p:grpSp>
      <p:grpSp>
        <p:nvGrpSpPr>
          <p:cNvPr id="12" name="Group 12"/>
          <p:cNvGrpSpPr/>
          <p:nvPr/>
        </p:nvGrpSpPr>
        <p:grpSpPr>
          <a:xfrm>
            <a:off x="593378" y="1984836"/>
            <a:ext cx="17110770" cy="456642"/>
            <a:chOff x="0" y="0"/>
            <a:chExt cx="22814360" cy="608857"/>
          </a:xfrm>
        </p:grpSpPr>
        <p:sp>
          <p:nvSpPr>
            <p:cNvPr id="13" name="Freeform 13"/>
            <p:cNvSpPr/>
            <p:nvPr/>
          </p:nvSpPr>
          <p:spPr>
            <a:xfrm>
              <a:off x="0" y="0"/>
              <a:ext cx="22814359" cy="608857"/>
            </a:xfrm>
            <a:custGeom>
              <a:avLst/>
              <a:gdLst/>
              <a:ahLst/>
              <a:cxnLst/>
              <a:rect l="l" t="t" r="r" b="b"/>
              <a:pathLst>
                <a:path w="22814359" h="608857">
                  <a:moveTo>
                    <a:pt x="0" y="0"/>
                  </a:moveTo>
                  <a:lnTo>
                    <a:pt x="22814359" y="0"/>
                  </a:lnTo>
                  <a:lnTo>
                    <a:pt x="22814359" y="608857"/>
                  </a:lnTo>
                  <a:lnTo>
                    <a:pt x="0" y="608857"/>
                  </a:lnTo>
                  <a:close/>
                </a:path>
              </a:pathLst>
            </a:custGeom>
            <a:solidFill>
              <a:srgbClr val="000000">
                <a:alpha val="0"/>
              </a:srgbClr>
            </a:solidFill>
          </p:spPr>
        </p:sp>
        <p:sp>
          <p:nvSpPr>
            <p:cNvPr id="14" name="TextBox 14"/>
            <p:cNvSpPr txBox="1"/>
            <p:nvPr/>
          </p:nvSpPr>
          <p:spPr>
            <a:xfrm>
              <a:off x="0" y="-85725"/>
              <a:ext cx="22814360" cy="694582"/>
            </a:xfrm>
            <a:prstGeom prst="rect">
              <a:avLst/>
            </a:prstGeom>
          </p:spPr>
          <p:txBody>
            <a:bodyPr lIns="0" tIns="0" rIns="0" bIns="0" rtlCol="0" anchor="t"/>
            <a:lstStyle/>
            <a:p>
              <a:pPr marL="318588" lvl="1" indent="-159294" algn="l">
                <a:lnSpc>
                  <a:spcPts val="3319"/>
                </a:lnSpc>
                <a:buFont typeface="Arial"/>
                <a:buChar char="•"/>
              </a:pPr>
              <a:r>
                <a:rPr lang="en-US" sz="2112" b="1" spc="-42">
                  <a:solidFill>
                    <a:srgbClr val="272525"/>
                  </a:solidFill>
                  <a:latin typeface="Inter Bold"/>
                  <a:ea typeface="Inter Bold"/>
                  <a:cs typeface="Inter Bold"/>
                  <a:sym typeface="Inter Bold"/>
                </a:rPr>
                <a:t>Data types</a:t>
              </a:r>
              <a:r>
                <a:rPr lang="en-US" sz="2112" spc="-42">
                  <a:solidFill>
                    <a:srgbClr val="272525"/>
                  </a:solidFill>
                  <a:latin typeface="Inter"/>
                  <a:ea typeface="Inter"/>
                  <a:cs typeface="Inter"/>
                  <a:sym typeface="Inter"/>
                </a:rPr>
                <a:t> are the </a:t>
              </a:r>
              <a:r>
                <a:rPr lang="en-US" sz="2112" u="sng" spc="-42">
                  <a:solidFill>
                    <a:srgbClr val="272525"/>
                  </a:solidFill>
                  <a:latin typeface="Inter"/>
                  <a:ea typeface="Inter"/>
                  <a:cs typeface="Inter"/>
                  <a:sym typeface="Inter"/>
                </a:rPr>
                <a:t>different kinds of values</a:t>
              </a:r>
              <a:r>
                <a:rPr lang="en-US" sz="2112" spc="-42">
                  <a:solidFill>
                    <a:srgbClr val="272525"/>
                  </a:solidFill>
                  <a:latin typeface="Inter"/>
                  <a:ea typeface="Inter"/>
                  <a:cs typeface="Inter"/>
                  <a:sym typeface="Inter"/>
                </a:rPr>
                <a:t> that can be stored in a variable.</a:t>
              </a:r>
            </a:p>
          </p:txBody>
        </p:sp>
      </p:grpSp>
      <p:grpSp>
        <p:nvGrpSpPr>
          <p:cNvPr id="15" name="Group 15"/>
          <p:cNvGrpSpPr/>
          <p:nvPr/>
        </p:nvGrpSpPr>
        <p:grpSpPr>
          <a:xfrm>
            <a:off x="588615" y="2574828"/>
            <a:ext cx="17110770" cy="456642"/>
            <a:chOff x="0" y="0"/>
            <a:chExt cx="22814360" cy="608857"/>
          </a:xfrm>
        </p:grpSpPr>
        <p:sp>
          <p:nvSpPr>
            <p:cNvPr id="16" name="Freeform 16"/>
            <p:cNvSpPr/>
            <p:nvPr/>
          </p:nvSpPr>
          <p:spPr>
            <a:xfrm>
              <a:off x="0" y="0"/>
              <a:ext cx="22814359" cy="608857"/>
            </a:xfrm>
            <a:custGeom>
              <a:avLst/>
              <a:gdLst/>
              <a:ahLst/>
              <a:cxnLst/>
              <a:rect l="l" t="t" r="r" b="b"/>
              <a:pathLst>
                <a:path w="22814359" h="608857">
                  <a:moveTo>
                    <a:pt x="0" y="0"/>
                  </a:moveTo>
                  <a:lnTo>
                    <a:pt x="22814359" y="0"/>
                  </a:lnTo>
                  <a:lnTo>
                    <a:pt x="22814359" y="608857"/>
                  </a:lnTo>
                  <a:lnTo>
                    <a:pt x="0" y="608857"/>
                  </a:lnTo>
                  <a:close/>
                </a:path>
              </a:pathLst>
            </a:custGeom>
            <a:solidFill>
              <a:srgbClr val="000000">
                <a:alpha val="0"/>
              </a:srgbClr>
            </a:solidFill>
          </p:spPr>
        </p:sp>
        <p:sp>
          <p:nvSpPr>
            <p:cNvPr id="17" name="TextBox 17"/>
            <p:cNvSpPr txBox="1"/>
            <p:nvPr/>
          </p:nvSpPr>
          <p:spPr>
            <a:xfrm>
              <a:off x="0" y="-85725"/>
              <a:ext cx="22814360" cy="694582"/>
            </a:xfrm>
            <a:prstGeom prst="rect">
              <a:avLst/>
            </a:prstGeom>
          </p:spPr>
          <p:txBody>
            <a:bodyPr lIns="0" tIns="0" rIns="0" bIns="0" rtlCol="0" anchor="t"/>
            <a:lstStyle/>
            <a:p>
              <a:pPr marL="318588" lvl="1" indent="-159294" algn="l">
                <a:lnSpc>
                  <a:spcPts val="3319"/>
                </a:lnSpc>
                <a:buFont typeface="Arial"/>
                <a:buChar char="•"/>
              </a:pPr>
              <a:r>
                <a:rPr lang="en-US" sz="2112" b="1" spc="-42">
                  <a:solidFill>
                    <a:srgbClr val="272525"/>
                  </a:solidFill>
                  <a:latin typeface="Inter Bold"/>
                  <a:ea typeface="Inter Bold"/>
                  <a:cs typeface="Inter Bold"/>
                  <a:sym typeface="Inter Bold"/>
                </a:rPr>
                <a:t>Collections</a:t>
              </a:r>
              <a:r>
                <a:rPr lang="en-US" sz="2112" spc="-42">
                  <a:solidFill>
                    <a:srgbClr val="272525"/>
                  </a:solidFill>
                  <a:latin typeface="Inter"/>
                  <a:ea typeface="Inter"/>
                  <a:cs typeface="Inter"/>
                  <a:sym typeface="Inter"/>
                </a:rPr>
                <a:t> allow you to </a:t>
              </a:r>
              <a:r>
                <a:rPr lang="en-US" sz="2112" u="sng" spc="-42">
                  <a:solidFill>
                    <a:srgbClr val="272525"/>
                  </a:solidFill>
                  <a:latin typeface="Inter"/>
                  <a:ea typeface="Inter"/>
                  <a:cs typeface="Inter"/>
                  <a:sym typeface="Inter"/>
                </a:rPr>
                <a:t>store multiple values</a:t>
              </a:r>
              <a:r>
                <a:rPr lang="en-US" sz="2112" spc="-42">
                  <a:solidFill>
                    <a:srgbClr val="272525"/>
                  </a:solidFill>
                  <a:latin typeface="Inter"/>
                  <a:ea typeface="Inter"/>
                  <a:cs typeface="Inter"/>
                  <a:sym typeface="Inter"/>
                </a:rPr>
                <a:t> in a single variable. These are more complex data types that group together several values.</a:t>
              </a:r>
            </a:p>
          </p:txBody>
        </p:sp>
      </p:grpSp>
      <p:grpSp>
        <p:nvGrpSpPr>
          <p:cNvPr id="18" name="Group 18"/>
          <p:cNvGrpSpPr/>
          <p:nvPr/>
        </p:nvGrpSpPr>
        <p:grpSpPr>
          <a:xfrm>
            <a:off x="663177" y="3153519"/>
            <a:ext cx="8480822" cy="5415749"/>
            <a:chOff x="0" y="0"/>
            <a:chExt cx="11307763" cy="7220998"/>
          </a:xfrm>
        </p:grpSpPr>
        <p:sp>
          <p:nvSpPr>
            <p:cNvPr id="19" name="Freeform 19"/>
            <p:cNvSpPr/>
            <p:nvPr/>
          </p:nvSpPr>
          <p:spPr>
            <a:xfrm>
              <a:off x="6350" y="7043"/>
              <a:ext cx="11294999" cy="7206921"/>
            </a:xfrm>
            <a:custGeom>
              <a:avLst/>
              <a:gdLst/>
              <a:ahLst/>
              <a:cxnLst/>
              <a:rect l="l" t="t" r="r" b="b"/>
              <a:pathLst>
                <a:path w="11294999" h="7206921">
                  <a:moveTo>
                    <a:pt x="0" y="104524"/>
                  </a:moveTo>
                  <a:cubicBezTo>
                    <a:pt x="0" y="46768"/>
                    <a:pt x="42164" y="0"/>
                    <a:pt x="94234" y="0"/>
                  </a:cubicBezTo>
                  <a:lnTo>
                    <a:pt x="11200765" y="0"/>
                  </a:lnTo>
                  <a:cubicBezTo>
                    <a:pt x="11252835" y="0"/>
                    <a:pt x="11294999" y="46768"/>
                    <a:pt x="11294999" y="104524"/>
                  </a:cubicBezTo>
                  <a:lnTo>
                    <a:pt x="11294999" y="7102398"/>
                  </a:lnTo>
                  <a:cubicBezTo>
                    <a:pt x="11294999" y="7160154"/>
                    <a:pt x="11252835" y="7206921"/>
                    <a:pt x="11200765" y="7206921"/>
                  </a:cubicBezTo>
                  <a:lnTo>
                    <a:pt x="94234" y="7206921"/>
                  </a:lnTo>
                  <a:cubicBezTo>
                    <a:pt x="42164" y="7206921"/>
                    <a:pt x="0" y="7160154"/>
                    <a:pt x="0" y="7102398"/>
                  </a:cubicBezTo>
                  <a:close/>
                </a:path>
              </a:pathLst>
            </a:custGeom>
            <a:solidFill>
              <a:srgbClr val="F2F2F2"/>
            </a:solidFill>
          </p:spPr>
        </p:sp>
        <p:sp>
          <p:nvSpPr>
            <p:cNvPr id="20" name="Freeform 20"/>
            <p:cNvSpPr/>
            <p:nvPr/>
          </p:nvSpPr>
          <p:spPr>
            <a:xfrm>
              <a:off x="0" y="0"/>
              <a:ext cx="11307699" cy="7221007"/>
            </a:xfrm>
            <a:custGeom>
              <a:avLst/>
              <a:gdLst/>
              <a:ahLst/>
              <a:cxnLst/>
              <a:rect l="l" t="t" r="r" b="b"/>
              <a:pathLst>
                <a:path w="11307699" h="7221007">
                  <a:moveTo>
                    <a:pt x="0" y="111567"/>
                  </a:moveTo>
                  <a:cubicBezTo>
                    <a:pt x="0" y="49867"/>
                    <a:pt x="45085" y="0"/>
                    <a:pt x="100584" y="0"/>
                  </a:cubicBezTo>
                  <a:lnTo>
                    <a:pt x="11207115" y="0"/>
                  </a:lnTo>
                  <a:lnTo>
                    <a:pt x="11207115" y="7043"/>
                  </a:lnTo>
                  <a:lnTo>
                    <a:pt x="11207115" y="0"/>
                  </a:lnTo>
                  <a:cubicBezTo>
                    <a:pt x="11262741" y="0"/>
                    <a:pt x="11307699" y="49867"/>
                    <a:pt x="11307699" y="111567"/>
                  </a:cubicBezTo>
                  <a:lnTo>
                    <a:pt x="11301349" y="111567"/>
                  </a:lnTo>
                  <a:lnTo>
                    <a:pt x="11307699" y="111567"/>
                  </a:lnTo>
                  <a:lnTo>
                    <a:pt x="11307699" y="7109441"/>
                  </a:lnTo>
                  <a:lnTo>
                    <a:pt x="11301349" y="7109441"/>
                  </a:lnTo>
                  <a:lnTo>
                    <a:pt x="11307699" y="7109441"/>
                  </a:lnTo>
                  <a:cubicBezTo>
                    <a:pt x="11307699" y="7171000"/>
                    <a:pt x="11262614" y="7221007"/>
                    <a:pt x="11207115" y="7221007"/>
                  </a:cubicBezTo>
                  <a:lnTo>
                    <a:pt x="11207115" y="7213964"/>
                  </a:lnTo>
                  <a:lnTo>
                    <a:pt x="11207115" y="7221007"/>
                  </a:lnTo>
                  <a:lnTo>
                    <a:pt x="100584" y="7221007"/>
                  </a:lnTo>
                  <a:lnTo>
                    <a:pt x="100584" y="7213964"/>
                  </a:lnTo>
                  <a:lnTo>
                    <a:pt x="100584" y="7221007"/>
                  </a:lnTo>
                  <a:cubicBezTo>
                    <a:pt x="44958" y="7221007"/>
                    <a:pt x="0" y="7171141"/>
                    <a:pt x="0" y="7109441"/>
                  </a:cubicBezTo>
                  <a:lnTo>
                    <a:pt x="0" y="111567"/>
                  </a:lnTo>
                  <a:lnTo>
                    <a:pt x="6350" y="111567"/>
                  </a:lnTo>
                  <a:lnTo>
                    <a:pt x="0" y="111567"/>
                  </a:lnTo>
                  <a:moveTo>
                    <a:pt x="12700" y="111567"/>
                  </a:moveTo>
                  <a:lnTo>
                    <a:pt x="12700" y="7109441"/>
                  </a:lnTo>
                  <a:lnTo>
                    <a:pt x="6350" y="7109441"/>
                  </a:lnTo>
                  <a:lnTo>
                    <a:pt x="12700" y="7109441"/>
                  </a:lnTo>
                  <a:cubicBezTo>
                    <a:pt x="12700" y="7163253"/>
                    <a:pt x="52070" y="7206921"/>
                    <a:pt x="100584" y="7206921"/>
                  </a:cubicBezTo>
                  <a:lnTo>
                    <a:pt x="11207115" y="7206921"/>
                  </a:lnTo>
                  <a:cubicBezTo>
                    <a:pt x="11255629" y="7206921"/>
                    <a:pt x="11294999" y="7163253"/>
                    <a:pt x="11294999" y="7109441"/>
                  </a:cubicBezTo>
                  <a:lnTo>
                    <a:pt x="11294999" y="111567"/>
                  </a:lnTo>
                  <a:cubicBezTo>
                    <a:pt x="11294999" y="57756"/>
                    <a:pt x="11255629" y="14087"/>
                    <a:pt x="11207115" y="14087"/>
                  </a:cubicBezTo>
                  <a:lnTo>
                    <a:pt x="100584" y="14087"/>
                  </a:lnTo>
                  <a:lnTo>
                    <a:pt x="100584" y="7043"/>
                  </a:lnTo>
                  <a:lnTo>
                    <a:pt x="100584" y="14087"/>
                  </a:lnTo>
                  <a:cubicBezTo>
                    <a:pt x="52070" y="14087"/>
                    <a:pt x="12700" y="57756"/>
                    <a:pt x="12700" y="111567"/>
                  </a:cubicBezTo>
                  <a:close/>
                </a:path>
              </a:pathLst>
            </a:custGeom>
            <a:solidFill>
              <a:srgbClr val="D8D8D8"/>
            </a:solidFill>
          </p:spPr>
        </p:sp>
      </p:grpSp>
      <p:grpSp>
        <p:nvGrpSpPr>
          <p:cNvPr id="21" name="Group 21"/>
          <p:cNvGrpSpPr/>
          <p:nvPr/>
        </p:nvGrpSpPr>
        <p:grpSpPr>
          <a:xfrm>
            <a:off x="3436441" y="3256273"/>
            <a:ext cx="2775496" cy="470383"/>
            <a:chOff x="0" y="0"/>
            <a:chExt cx="3700662" cy="627178"/>
          </a:xfrm>
        </p:grpSpPr>
        <p:sp>
          <p:nvSpPr>
            <p:cNvPr id="22" name="Freeform 22"/>
            <p:cNvSpPr/>
            <p:nvPr/>
          </p:nvSpPr>
          <p:spPr>
            <a:xfrm>
              <a:off x="0" y="0"/>
              <a:ext cx="3700662" cy="627178"/>
            </a:xfrm>
            <a:custGeom>
              <a:avLst/>
              <a:gdLst/>
              <a:ahLst/>
              <a:cxnLst/>
              <a:rect l="l" t="t" r="r" b="b"/>
              <a:pathLst>
                <a:path w="3700662" h="627178">
                  <a:moveTo>
                    <a:pt x="0" y="0"/>
                  </a:moveTo>
                  <a:lnTo>
                    <a:pt x="3700662" y="0"/>
                  </a:lnTo>
                  <a:lnTo>
                    <a:pt x="3700662" y="627178"/>
                  </a:lnTo>
                  <a:lnTo>
                    <a:pt x="0" y="627178"/>
                  </a:lnTo>
                  <a:close/>
                </a:path>
              </a:pathLst>
            </a:custGeom>
            <a:solidFill>
              <a:srgbClr val="000000">
                <a:alpha val="0"/>
              </a:srgbClr>
            </a:solidFill>
          </p:spPr>
        </p:sp>
        <p:sp>
          <p:nvSpPr>
            <p:cNvPr id="23" name="TextBox 23"/>
            <p:cNvSpPr txBox="1"/>
            <p:nvPr/>
          </p:nvSpPr>
          <p:spPr>
            <a:xfrm>
              <a:off x="0" y="-19050"/>
              <a:ext cx="3700662" cy="646228"/>
            </a:xfrm>
            <a:prstGeom prst="rect">
              <a:avLst/>
            </a:prstGeom>
          </p:spPr>
          <p:txBody>
            <a:bodyPr lIns="0" tIns="0" rIns="0" bIns="0" rtlCol="0" anchor="t"/>
            <a:lstStyle/>
            <a:p>
              <a:pPr algn="ctr">
                <a:lnSpc>
                  <a:spcPts val="3572"/>
                </a:lnSpc>
              </a:pPr>
              <a:r>
                <a:rPr lang="en-US" sz="2824" u="sng" spc="-58">
                  <a:solidFill>
                    <a:srgbClr val="000000"/>
                  </a:solidFill>
                  <a:latin typeface="Petrona"/>
                  <a:ea typeface="Petrona"/>
                  <a:cs typeface="Petrona"/>
                  <a:sym typeface="Petrona"/>
                </a:rPr>
                <a:t>Data types</a:t>
              </a:r>
            </a:p>
          </p:txBody>
        </p:sp>
      </p:grpSp>
      <p:grpSp>
        <p:nvGrpSpPr>
          <p:cNvPr id="24" name="Group 24"/>
          <p:cNvGrpSpPr/>
          <p:nvPr/>
        </p:nvGrpSpPr>
        <p:grpSpPr>
          <a:xfrm>
            <a:off x="766242" y="3860006"/>
            <a:ext cx="8115895" cy="434258"/>
            <a:chOff x="0" y="0"/>
            <a:chExt cx="10821193" cy="579011"/>
          </a:xfrm>
        </p:grpSpPr>
        <p:sp>
          <p:nvSpPr>
            <p:cNvPr id="25" name="Freeform 25"/>
            <p:cNvSpPr/>
            <p:nvPr/>
          </p:nvSpPr>
          <p:spPr>
            <a:xfrm>
              <a:off x="0" y="0"/>
              <a:ext cx="10821193" cy="579011"/>
            </a:xfrm>
            <a:custGeom>
              <a:avLst/>
              <a:gdLst/>
              <a:ahLst/>
              <a:cxnLst/>
              <a:rect l="l" t="t" r="r" b="b"/>
              <a:pathLst>
                <a:path w="10821193" h="579011">
                  <a:moveTo>
                    <a:pt x="0" y="0"/>
                  </a:moveTo>
                  <a:lnTo>
                    <a:pt x="10821193" y="0"/>
                  </a:lnTo>
                  <a:lnTo>
                    <a:pt x="10821193" y="579011"/>
                  </a:lnTo>
                  <a:lnTo>
                    <a:pt x="0" y="579011"/>
                  </a:lnTo>
                  <a:close/>
                </a:path>
              </a:pathLst>
            </a:custGeom>
            <a:solidFill>
              <a:srgbClr val="000000">
                <a:alpha val="0"/>
              </a:srgbClr>
            </a:solidFill>
          </p:spPr>
        </p:sp>
        <p:sp>
          <p:nvSpPr>
            <p:cNvPr id="26" name="TextBox 26"/>
            <p:cNvSpPr txBox="1"/>
            <p:nvPr/>
          </p:nvSpPr>
          <p:spPr>
            <a:xfrm>
              <a:off x="0" y="-85725"/>
              <a:ext cx="10821193" cy="6647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int</a:t>
              </a:r>
              <a:r>
                <a:rPr lang="en-US" sz="2024" spc="-32">
                  <a:solidFill>
                    <a:srgbClr val="000000"/>
                  </a:solidFill>
                  <a:latin typeface="Inter"/>
                  <a:ea typeface="Inter"/>
                  <a:cs typeface="Inter"/>
                  <a:sym typeface="Inter"/>
                </a:rPr>
                <a:t> (Integer): Whole numbers, +ve or -ve without a decimal point.</a:t>
              </a:r>
            </a:p>
          </p:txBody>
        </p:sp>
      </p:grpSp>
      <p:grpSp>
        <p:nvGrpSpPr>
          <p:cNvPr id="27" name="Group 27"/>
          <p:cNvGrpSpPr/>
          <p:nvPr/>
        </p:nvGrpSpPr>
        <p:grpSpPr>
          <a:xfrm>
            <a:off x="948780" y="4469386"/>
            <a:ext cx="8115895" cy="414988"/>
            <a:chOff x="0" y="0"/>
            <a:chExt cx="10821193" cy="553318"/>
          </a:xfrm>
        </p:grpSpPr>
        <p:sp>
          <p:nvSpPr>
            <p:cNvPr id="28" name="Freeform 28"/>
            <p:cNvSpPr/>
            <p:nvPr/>
          </p:nvSpPr>
          <p:spPr>
            <a:xfrm>
              <a:off x="0" y="0"/>
              <a:ext cx="10821193" cy="553318"/>
            </a:xfrm>
            <a:custGeom>
              <a:avLst/>
              <a:gdLst/>
              <a:ahLst/>
              <a:cxnLst/>
              <a:rect l="l" t="t" r="r" b="b"/>
              <a:pathLst>
                <a:path w="10821193" h="553318">
                  <a:moveTo>
                    <a:pt x="0" y="0"/>
                  </a:moveTo>
                  <a:lnTo>
                    <a:pt x="10821193" y="0"/>
                  </a:lnTo>
                  <a:lnTo>
                    <a:pt x="10821193" y="553318"/>
                  </a:lnTo>
                  <a:lnTo>
                    <a:pt x="0" y="553318"/>
                  </a:lnTo>
                  <a:close/>
                </a:path>
              </a:pathLst>
            </a:custGeom>
            <a:solidFill>
              <a:srgbClr val="000000">
                <a:alpha val="0"/>
              </a:srgbClr>
            </a:solidFill>
          </p:spPr>
        </p:sp>
        <p:sp>
          <p:nvSpPr>
            <p:cNvPr id="29" name="TextBox 29"/>
            <p:cNvSpPr txBox="1"/>
            <p:nvPr/>
          </p:nvSpPr>
          <p:spPr>
            <a:xfrm>
              <a:off x="0" y="-76200"/>
              <a:ext cx="10821193" cy="629518"/>
            </a:xfrm>
            <a:prstGeom prst="rect">
              <a:avLst/>
            </a:prstGeom>
          </p:spPr>
          <p:txBody>
            <a:bodyPr lIns="0" tIns="0" rIns="0" bIns="0" rtlCol="0" anchor="t"/>
            <a:lstStyle/>
            <a:p>
              <a:pPr marL="288427" lvl="1" indent="-144213" algn="l">
                <a:lnSpc>
                  <a:spcPts val="3005"/>
                </a:lnSpc>
                <a:buFont typeface="Arial"/>
                <a:buChar char="•"/>
              </a:pPr>
              <a:r>
                <a:rPr lang="en-US" sz="1912" spc="-38">
                  <a:solidFill>
                    <a:srgbClr val="000000"/>
                  </a:solidFill>
                  <a:latin typeface="Inter"/>
                  <a:ea typeface="Inter"/>
                  <a:cs typeface="Inter"/>
                  <a:sym typeface="Inter"/>
                </a:rPr>
                <a:t>Example: age = 30</a:t>
              </a:r>
            </a:p>
          </p:txBody>
        </p:sp>
      </p:grpSp>
      <p:grpSp>
        <p:nvGrpSpPr>
          <p:cNvPr id="30" name="Group 30"/>
          <p:cNvGrpSpPr/>
          <p:nvPr/>
        </p:nvGrpSpPr>
        <p:grpSpPr>
          <a:xfrm>
            <a:off x="766242" y="5143500"/>
            <a:ext cx="8115895" cy="434258"/>
            <a:chOff x="0" y="0"/>
            <a:chExt cx="10821193" cy="579011"/>
          </a:xfrm>
        </p:grpSpPr>
        <p:sp>
          <p:nvSpPr>
            <p:cNvPr id="31" name="Freeform 31"/>
            <p:cNvSpPr/>
            <p:nvPr/>
          </p:nvSpPr>
          <p:spPr>
            <a:xfrm>
              <a:off x="0" y="0"/>
              <a:ext cx="10821193" cy="579011"/>
            </a:xfrm>
            <a:custGeom>
              <a:avLst/>
              <a:gdLst/>
              <a:ahLst/>
              <a:cxnLst/>
              <a:rect l="l" t="t" r="r" b="b"/>
              <a:pathLst>
                <a:path w="10821193" h="579011">
                  <a:moveTo>
                    <a:pt x="0" y="0"/>
                  </a:moveTo>
                  <a:lnTo>
                    <a:pt x="10821193" y="0"/>
                  </a:lnTo>
                  <a:lnTo>
                    <a:pt x="10821193" y="579011"/>
                  </a:lnTo>
                  <a:lnTo>
                    <a:pt x="0" y="579011"/>
                  </a:lnTo>
                  <a:close/>
                </a:path>
              </a:pathLst>
            </a:custGeom>
            <a:solidFill>
              <a:srgbClr val="000000">
                <a:alpha val="0"/>
              </a:srgbClr>
            </a:solidFill>
          </p:spPr>
        </p:sp>
        <p:sp>
          <p:nvSpPr>
            <p:cNvPr id="32" name="TextBox 32"/>
            <p:cNvSpPr txBox="1"/>
            <p:nvPr/>
          </p:nvSpPr>
          <p:spPr>
            <a:xfrm>
              <a:off x="0" y="-85725"/>
              <a:ext cx="10821193" cy="6647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float</a:t>
              </a:r>
              <a:r>
                <a:rPr lang="en-US" sz="2024" spc="-32">
                  <a:solidFill>
                    <a:srgbClr val="000000"/>
                  </a:solidFill>
                  <a:latin typeface="Inter"/>
                  <a:ea typeface="Inter"/>
                  <a:cs typeface="Inter"/>
                  <a:sym typeface="Inter"/>
                </a:rPr>
                <a:t> (Floating-point number): Numbers with a decimal point.</a:t>
              </a:r>
            </a:p>
          </p:txBody>
        </p:sp>
      </p:grpSp>
      <p:grpSp>
        <p:nvGrpSpPr>
          <p:cNvPr id="33" name="Group 33"/>
          <p:cNvGrpSpPr/>
          <p:nvPr/>
        </p:nvGrpSpPr>
        <p:grpSpPr>
          <a:xfrm>
            <a:off x="948780" y="5690107"/>
            <a:ext cx="8115895" cy="379377"/>
            <a:chOff x="0" y="0"/>
            <a:chExt cx="10821193" cy="505836"/>
          </a:xfrm>
        </p:grpSpPr>
        <p:sp>
          <p:nvSpPr>
            <p:cNvPr id="34" name="Freeform 34"/>
            <p:cNvSpPr/>
            <p:nvPr/>
          </p:nvSpPr>
          <p:spPr>
            <a:xfrm>
              <a:off x="0" y="0"/>
              <a:ext cx="10821193" cy="505836"/>
            </a:xfrm>
            <a:custGeom>
              <a:avLst/>
              <a:gdLst/>
              <a:ahLst/>
              <a:cxnLst/>
              <a:rect l="l" t="t" r="r" b="b"/>
              <a:pathLst>
                <a:path w="10821193" h="505836">
                  <a:moveTo>
                    <a:pt x="0" y="0"/>
                  </a:moveTo>
                  <a:lnTo>
                    <a:pt x="10821193" y="0"/>
                  </a:lnTo>
                  <a:lnTo>
                    <a:pt x="10821193" y="505836"/>
                  </a:lnTo>
                  <a:lnTo>
                    <a:pt x="0" y="505836"/>
                  </a:lnTo>
                  <a:close/>
                </a:path>
              </a:pathLst>
            </a:custGeom>
            <a:solidFill>
              <a:srgbClr val="000000">
                <a:alpha val="0"/>
              </a:srgbClr>
            </a:solidFill>
          </p:spPr>
        </p:sp>
        <p:sp>
          <p:nvSpPr>
            <p:cNvPr id="35" name="TextBox 35"/>
            <p:cNvSpPr txBox="1"/>
            <p:nvPr/>
          </p:nvSpPr>
          <p:spPr>
            <a:xfrm>
              <a:off x="0" y="-114300"/>
              <a:ext cx="10821193" cy="620136"/>
            </a:xfrm>
            <a:prstGeom prst="rect">
              <a:avLst/>
            </a:prstGeom>
          </p:spPr>
          <p:txBody>
            <a:bodyPr lIns="0" tIns="0" rIns="0" bIns="0" rtlCol="0" anchor="t"/>
            <a:lstStyle/>
            <a:p>
              <a:pPr marL="288427" lvl="1" indent="-144213" algn="l">
                <a:lnSpc>
                  <a:spcPts val="3005"/>
                </a:lnSpc>
                <a:buFont typeface="Arial"/>
                <a:buChar char="•"/>
              </a:pPr>
              <a:r>
                <a:rPr lang="en-US" sz="1912" spc="-38">
                  <a:solidFill>
                    <a:srgbClr val="000000"/>
                  </a:solidFill>
                  <a:latin typeface="Consolas"/>
                  <a:ea typeface="Consolas"/>
                  <a:cs typeface="Consolas"/>
                  <a:sym typeface="Consolas"/>
                </a:rPr>
                <a:t>Example: price = 19.99</a:t>
              </a:r>
            </a:p>
          </p:txBody>
        </p:sp>
      </p:grpSp>
      <p:grpSp>
        <p:nvGrpSpPr>
          <p:cNvPr id="36" name="Group 36"/>
          <p:cNvGrpSpPr/>
          <p:nvPr/>
        </p:nvGrpSpPr>
        <p:grpSpPr>
          <a:xfrm>
            <a:off x="766242" y="6402859"/>
            <a:ext cx="8115895" cy="434258"/>
            <a:chOff x="0" y="0"/>
            <a:chExt cx="10821193" cy="579011"/>
          </a:xfrm>
        </p:grpSpPr>
        <p:sp>
          <p:nvSpPr>
            <p:cNvPr id="37" name="Freeform 37"/>
            <p:cNvSpPr/>
            <p:nvPr/>
          </p:nvSpPr>
          <p:spPr>
            <a:xfrm>
              <a:off x="0" y="0"/>
              <a:ext cx="10821193" cy="579011"/>
            </a:xfrm>
            <a:custGeom>
              <a:avLst/>
              <a:gdLst/>
              <a:ahLst/>
              <a:cxnLst/>
              <a:rect l="l" t="t" r="r" b="b"/>
              <a:pathLst>
                <a:path w="10821193" h="579011">
                  <a:moveTo>
                    <a:pt x="0" y="0"/>
                  </a:moveTo>
                  <a:lnTo>
                    <a:pt x="10821193" y="0"/>
                  </a:lnTo>
                  <a:lnTo>
                    <a:pt x="10821193" y="579011"/>
                  </a:lnTo>
                  <a:lnTo>
                    <a:pt x="0" y="579011"/>
                  </a:lnTo>
                  <a:close/>
                </a:path>
              </a:pathLst>
            </a:custGeom>
            <a:solidFill>
              <a:srgbClr val="000000">
                <a:alpha val="0"/>
              </a:srgbClr>
            </a:solidFill>
          </p:spPr>
        </p:sp>
        <p:sp>
          <p:nvSpPr>
            <p:cNvPr id="38" name="TextBox 38"/>
            <p:cNvSpPr txBox="1"/>
            <p:nvPr/>
          </p:nvSpPr>
          <p:spPr>
            <a:xfrm>
              <a:off x="0" y="-85725"/>
              <a:ext cx="10821193" cy="6647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str</a:t>
              </a:r>
              <a:r>
                <a:rPr lang="en-US" sz="2024" spc="-32">
                  <a:solidFill>
                    <a:srgbClr val="000000"/>
                  </a:solidFill>
                  <a:latin typeface="Inter"/>
                  <a:ea typeface="Inter"/>
                  <a:cs typeface="Inter"/>
                  <a:sym typeface="Inter"/>
                </a:rPr>
                <a:t> (String): A sequence of characters, used for text.</a:t>
              </a:r>
            </a:p>
          </p:txBody>
        </p:sp>
      </p:grpSp>
      <p:grpSp>
        <p:nvGrpSpPr>
          <p:cNvPr id="39" name="Group 39"/>
          <p:cNvGrpSpPr/>
          <p:nvPr/>
        </p:nvGrpSpPr>
        <p:grpSpPr>
          <a:xfrm>
            <a:off x="948780" y="6875217"/>
            <a:ext cx="8115895" cy="379377"/>
            <a:chOff x="0" y="0"/>
            <a:chExt cx="10821193" cy="505836"/>
          </a:xfrm>
        </p:grpSpPr>
        <p:sp>
          <p:nvSpPr>
            <p:cNvPr id="40" name="Freeform 40"/>
            <p:cNvSpPr/>
            <p:nvPr/>
          </p:nvSpPr>
          <p:spPr>
            <a:xfrm>
              <a:off x="0" y="0"/>
              <a:ext cx="10821193" cy="505836"/>
            </a:xfrm>
            <a:custGeom>
              <a:avLst/>
              <a:gdLst/>
              <a:ahLst/>
              <a:cxnLst/>
              <a:rect l="l" t="t" r="r" b="b"/>
              <a:pathLst>
                <a:path w="10821193" h="505836">
                  <a:moveTo>
                    <a:pt x="0" y="0"/>
                  </a:moveTo>
                  <a:lnTo>
                    <a:pt x="10821193" y="0"/>
                  </a:lnTo>
                  <a:lnTo>
                    <a:pt x="10821193" y="505836"/>
                  </a:lnTo>
                  <a:lnTo>
                    <a:pt x="0" y="505836"/>
                  </a:lnTo>
                  <a:close/>
                </a:path>
              </a:pathLst>
            </a:custGeom>
            <a:solidFill>
              <a:srgbClr val="000000">
                <a:alpha val="0"/>
              </a:srgbClr>
            </a:solidFill>
          </p:spPr>
        </p:sp>
        <p:sp>
          <p:nvSpPr>
            <p:cNvPr id="41" name="TextBox 41"/>
            <p:cNvSpPr txBox="1"/>
            <p:nvPr/>
          </p:nvSpPr>
          <p:spPr>
            <a:xfrm>
              <a:off x="0" y="-114300"/>
              <a:ext cx="10821193" cy="620136"/>
            </a:xfrm>
            <a:prstGeom prst="rect">
              <a:avLst/>
            </a:prstGeom>
          </p:spPr>
          <p:txBody>
            <a:bodyPr lIns="0" tIns="0" rIns="0" bIns="0" rtlCol="0" anchor="t"/>
            <a:lstStyle/>
            <a:p>
              <a:pPr marL="288427" lvl="1" indent="-144213" algn="l">
                <a:lnSpc>
                  <a:spcPts val="3005"/>
                </a:lnSpc>
                <a:buFont typeface="Arial"/>
                <a:buChar char="•"/>
              </a:pPr>
              <a:r>
                <a:rPr lang="en-US" sz="1912" spc="-38">
                  <a:solidFill>
                    <a:srgbClr val="000000"/>
                  </a:solidFill>
                  <a:latin typeface="Consolas"/>
                  <a:ea typeface="Consolas"/>
                  <a:cs typeface="Consolas"/>
                  <a:sym typeface="Consolas"/>
                </a:rPr>
                <a:t>Example: name = "Alice"</a:t>
              </a:r>
            </a:p>
          </p:txBody>
        </p:sp>
      </p:grpSp>
      <p:grpSp>
        <p:nvGrpSpPr>
          <p:cNvPr id="42" name="Group 42"/>
          <p:cNvGrpSpPr/>
          <p:nvPr/>
        </p:nvGrpSpPr>
        <p:grpSpPr>
          <a:xfrm>
            <a:off x="766242" y="7589372"/>
            <a:ext cx="8115895" cy="434258"/>
            <a:chOff x="0" y="0"/>
            <a:chExt cx="10821193" cy="579011"/>
          </a:xfrm>
        </p:grpSpPr>
        <p:sp>
          <p:nvSpPr>
            <p:cNvPr id="43" name="Freeform 43"/>
            <p:cNvSpPr/>
            <p:nvPr/>
          </p:nvSpPr>
          <p:spPr>
            <a:xfrm>
              <a:off x="0" y="0"/>
              <a:ext cx="10821193" cy="579011"/>
            </a:xfrm>
            <a:custGeom>
              <a:avLst/>
              <a:gdLst/>
              <a:ahLst/>
              <a:cxnLst/>
              <a:rect l="l" t="t" r="r" b="b"/>
              <a:pathLst>
                <a:path w="10821193" h="579011">
                  <a:moveTo>
                    <a:pt x="0" y="0"/>
                  </a:moveTo>
                  <a:lnTo>
                    <a:pt x="10821193" y="0"/>
                  </a:lnTo>
                  <a:lnTo>
                    <a:pt x="10821193" y="579011"/>
                  </a:lnTo>
                  <a:lnTo>
                    <a:pt x="0" y="579011"/>
                  </a:lnTo>
                  <a:close/>
                </a:path>
              </a:pathLst>
            </a:custGeom>
            <a:solidFill>
              <a:srgbClr val="000000">
                <a:alpha val="0"/>
              </a:srgbClr>
            </a:solidFill>
          </p:spPr>
        </p:sp>
        <p:sp>
          <p:nvSpPr>
            <p:cNvPr id="44" name="TextBox 44"/>
            <p:cNvSpPr txBox="1"/>
            <p:nvPr/>
          </p:nvSpPr>
          <p:spPr>
            <a:xfrm>
              <a:off x="0" y="-85725"/>
              <a:ext cx="10821193" cy="6647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bool</a:t>
              </a:r>
              <a:r>
                <a:rPr lang="en-US" sz="2024" spc="-32">
                  <a:solidFill>
                    <a:srgbClr val="000000"/>
                  </a:solidFill>
                  <a:latin typeface="Inter"/>
                  <a:ea typeface="Inter"/>
                  <a:cs typeface="Inter"/>
                  <a:sym typeface="Inter"/>
                </a:rPr>
                <a:t> (Boolean): A type that can be either True or False.</a:t>
              </a:r>
            </a:p>
          </p:txBody>
        </p:sp>
      </p:grpSp>
      <p:grpSp>
        <p:nvGrpSpPr>
          <p:cNvPr id="45" name="Group 45"/>
          <p:cNvGrpSpPr/>
          <p:nvPr/>
        </p:nvGrpSpPr>
        <p:grpSpPr>
          <a:xfrm>
            <a:off x="948780" y="8066388"/>
            <a:ext cx="8115895" cy="379377"/>
            <a:chOff x="0" y="0"/>
            <a:chExt cx="10821193" cy="505836"/>
          </a:xfrm>
        </p:grpSpPr>
        <p:sp>
          <p:nvSpPr>
            <p:cNvPr id="46" name="Freeform 46"/>
            <p:cNvSpPr/>
            <p:nvPr/>
          </p:nvSpPr>
          <p:spPr>
            <a:xfrm>
              <a:off x="0" y="0"/>
              <a:ext cx="10821193" cy="505836"/>
            </a:xfrm>
            <a:custGeom>
              <a:avLst/>
              <a:gdLst/>
              <a:ahLst/>
              <a:cxnLst/>
              <a:rect l="l" t="t" r="r" b="b"/>
              <a:pathLst>
                <a:path w="10821193" h="505836">
                  <a:moveTo>
                    <a:pt x="0" y="0"/>
                  </a:moveTo>
                  <a:lnTo>
                    <a:pt x="10821193" y="0"/>
                  </a:lnTo>
                  <a:lnTo>
                    <a:pt x="10821193" y="505836"/>
                  </a:lnTo>
                  <a:lnTo>
                    <a:pt x="0" y="505836"/>
                  </a:lnTo>
                  <a:close/>
                </a:path>
              </a:pathLst>
            </a:custGeom>
            <a:solidFill>
              <a:srgbClr val="000000">
                <a:alpha val="0"/>
              </a:srgbClr>
            </a:solidFill>
          </p:spPr>
        </p:sp>
        <p:sp>
          <p:nvSpPr>
            <p:cNvPr id="47" name="TextBox 47"/>
            <p:cNvSpPr txBox="1"/>
            <p:nvPr/>
          </p:nvSpPr>
          <p:spPr>
            <a:xfrm>
              <a:off x="0" y="-114300"/>
              <a:ext cx="10821193" cy="620136"/>
            </a:xfrm>
            <a:prstGeom prst="rect">
              <a:avLst/>
            </a:prstGeom>
          </p:spPr>
          <p:txBody>
            <a:bodyPr lIns="0" tIns="0" rIns="0" bIns="0" rtlCol="0" anchor="t"/>
            <a:lstStyle/>
            <a:p>
              <a:pPr marL="288427" lvl="1" indent="-144213" algn="l">
                <a:lnSpc>
                  <a:spcPts val="3005"/>
                </a:lnSpc>
                <a:buFont typeface="Arial"/>
                <a:buChar char="•"/>
              </a:pPr>
              <a:r>
                <a:rPr lang="en-US" sz="1912" spc="-38">
                  <a:solidFill>
                    <a:srgbClr val="000000"/>
                  </a:solidFill>
                  <a:latin typeface="Consolas"/>
                  <a:ea typeface="Consolas"/>
                  <a:cs typeface="Consolas"/>
                  <a:sym typeface="Consolas"/>
                </a:rPr>
                <a:t>Example: is_active = True</a:t>
              </a:r>
            </a:p>
          </p:txBody>
        </p:sp>
      </p:grpSp>
      <p:grpSp>
        <p:nvGrpSpPr>
          <p:cNvPr id="48" name="Group 48"/>
          <p:cNvGrpSpPr/>
          <p:nvPr/>
        </p:nvGrpSpPr>
        <p:grpSpPr>
          <a:xfrm>
            <a:off x="9223325" y="3153519"/>
            <a:ext cx="8480822" cy="5936782"/>
            <a:chOff x="0" y="0"/>
            <a:chExt cx="11307763" cy="7915709"/>
          </a:xfrm>
        </p:grpSpPr>
        <p:sp>
          <p:nvSpPr>
            <p:cNvPr id="49" name="Freeform 49"/>
            <p:cNvSpPr/>
            <p:nvPr/>
          </p:nvSpPr>
          <p:spPr>
            <a:xfrm>
              <a:off x="6350" y="7721"/>
              <a:ext cx="11294999" cy="7900277"/>
            </a:xfrm>
            <a:custGeom>
              <a:avLst/>
              <a:gdLst/>
              <a:ahLst/>
              <a:cxnLst/>
              <a:rect l="l" t="t" r="r" b="b"/>
              <a:pathLst>
                <a:path w="11294999" h="7900277">
                  <a:moveTo>
                    <a:pt x="0" y="114580"/>
                  </a:moveTo>
                  <a:cubicBezTo>
                    <a:pt x="0" y="51267"/>
                    <a:pt x="42164" y="0"/>
                    <a:pt x="94234" y="0"/>
                  </a:cubicBezTo>
                  <a:lnTo>
                    <a:pt x="11200765" y="0"/>
                  </a:lnTo>
                  <a:cubicBezTo>
                    <a:pt x="11252835" y="0"/>
                    <a:pt x="11294999" y="51267"/>
                    <a:pt x="11294999" y="114580"/>
                  </a:cubicBezTo>
                  <a:lnTo>
                    <a:pt x="11294999" y="7785698"/>
                  </a:lnTo>
                  <a:cubicBezTo>
                    <a:pt x="11294999" y="7849010"/>
                    <a:pt x="11252835" y="7900277"/>
                    <a:pt x="11200765" y="7900277"/>
                  </a:cubicBezTo>
                  <a:lnTo>
                    <a:pt x="94234" y="7900277"/>
                  </a:lnTo>
                  <a:cubicBezTo>
                    <a:pt x="42164" y="7900277"/>
                    <a:pt x="0" y="7849010"/>
                    <a:pt x="0" y="7785698"/>
                  </a:cubicBezTo>
                  <a:close/>
                </a:path>
              </a:pathLst>
            </a:custGeom>
            <a:solidFill>
              <a:srgbClr val="F2F2F2"/>
            </a:solidFill>
          </p:spPr>
        </p:sp>
        <p:sp>
          <p:nvSpPr>
            <p:cNvPr id="50" name="Freeform 50"/>
            <p:cNvSpPr/>
            <p:nvPr/>
          </p:nvSpPr>
          <p:spPr>
            <a:xfrm>
              <a:off x="0" y="0"/>
              <a:ext cx="11307699" cy="7915718"/>
            </a:xfrm>
            <a:custGeom>
              <a:avLst/>
              <a:gdLst/>
              <a:ahLst/>
              <a:cxnLst/>
              <a:rect l="l" t="t" r="r" b="b"/>
              <a:pathLst>
                <a:path w="11307699" h="7915718">
                  <a:moveTo>
                    <a:pt x="0" y="122301"/>
                  </a:moveTo>
                  <a:cubicBezTo>
                    <a:pt x="0" y="54665"/>
                    <a:pt x="45085" y="0"/>
                    <a:pt x="100584" y="0"/>
                  </a:cubicBezTo>
                  <a:lnTo>
                    <a:pt x="11207115" y="0"/>
                  </a:lnTo>
                  <a:lnTo>
                    <a:pt x="11207115" y="7721"/>
                  </a:lnTo>
                  <a:lnTo>
                    <a:pt x="11207115" y="0"/>
                  </a:lnTo>
                  <a:cubicBezTo>
                    <a:pt x="11262741" y="0"/>
                    <a:pt x="11307699" y="54665"/>
                    <a:pt x="11307699" y="122301"/>
                  </a:cubicBezTo>
                  <a:lnTo>
                    <a:pt x="11301349" y="122301"/>
                  </a:lnTo>
                  <a:lnTo>
                    <a:pt x="11307699" y="122301"/>
                  </a:lnTo>
                  <a:lnTo>
                    <a:pt x="11307699" y="7793419"/>
                  </a:lnTo>
                  <a:lnTo>
                    <a:pt x="11301349" y="7793419"/>
                  </a:lnTo>
                  <a:lnTo>
                    <a:pt x="11307699" y="7793419"/>
                  </a:lnTo>
                  <a:cubicBezTo>
                    <a:pt x="11307699" y="7860900"/>
                    <a:pt x="11262614" y="7915718"/>
                    <a:pt x="11207115" y="7915718"/>
                  </a:cubicBezTo>
                  <a:lnTo>
                    <a:pt x="11207115" y="7907998"/>
                  </a:lnTo>
                  <a:lnTo>
                    <a:pt x="11207115" y="7915718"/>
                  </a:lnTo>
                  <a:lnTo>
                    <a:pt x="100584" y="7915718"/>
                  </a:lnTo>
                  <a:lnTo>
                    <a:pt x="100584" y="7907998"/>
                  </a:lnTo>
                  <a:lnTo>
                    <a:pt x="100584" y="7915718"/>
                  </a:lnTo>
                  <a:cubicBezTo>
                    <a:pt x="44958" y="7915718"/>
                    <a:pt x="0" y="7861055"/>
                    <a:pt x="0" y="7793419"/>
                  </a:cubicBezTo>
                  <a:lnTo>
                    <a:pt x="0" y="122301"/>
                  </a:lnTo>
                  <a:lnTo>
                    <a:pt x="6350" y="122301"/>
                  </a:lnTo>
                  <a:lnTo>
                    <a:pt x="0" y="122301"/>
                  </a:lnTo>
                  <a:moveTo>
                    <a:pt x="12700" y="122301"/>
                  </a:moveTo>
                  <a:lnTo>
                    <a:pt x="12700" y="7793419"/>
                  </a:lnTo>
                  <a:lnTo>
                    <a:pt x="6350" y="7793419"/>
                  </a:lnTo>
                  <a:lnTo>
                    <a:pt x="12700" y="7793419"/>
                  </a:lnTo>
                  <a:cubicBezTo>
                    <a:pt x="12700" y="7852408"/>
                    <a:pt x="52070" y="7900277"/>
                    <a:pt x="100584" y="7900277"/>
                  </a:cubicBezTo>
                  <a:lnTo>
                    <a:pt x="11207115" y="7900277"/>
                  </a:lnTo>
                  <a:cubicBezTo>
                    <a:pt x="11255629" y="7900277"/>
                    <a:pt x="11294999" y="7852408"/>
                    <a:pt x="11294999" y="7793419"/>
                  </a:cubicBezTo>
                  <a:lnTo>
                    <a:pt x="11294999" y="122301"/>
                  </a:lnTo>
                  <a:cubicBezTo>
                    <a:pt x="11294999" y="63312"/>
                    <a:pt x="11255629" y="15442"/>
                    <a:pt x="11207115" y="15442"/>
                  </a:cubicBezTo>
                  <a:lnTo>
                    <a:pt x="100584" y="15442"/>
                  </a:lnTo>
                  <a:lnTo>
                    <a:pt x="100584" y="7721"/>
                  </a:lnTo>
                  <a:lnTo>
                    <a:pt x="100584" y="15442"/>
                  </a:lnTo>
                  <a:cubicBezTo>
                    <a:pt x="52070" y="15442"/>
                    <a:pt x="12700" y="63312"/>
                    <a:pt x="12700" y="122301"/>
                  </a:cubicBezTo>
                  <a:close/>
                </a:path>
              </a:pathLst>
            </a:custGeom>
            <a:solidFill>
              <a:srgbClr val="D8D8D8"/>
            </a:solidFill>
          </p:spPr>
        </p:sp>
      </p:grpSp>
      <p:grpSp>
        <p:nvGrpSpPr>
          <p:cNvPr id="51" name="Group 51"/>
          <p:cNvGrpSpPr/>
          <p:nvPr/>
        </p:nvGrpSpPr>
        <p:grpSpPr>
          <a:xfrm>
            <a:off x="12075988" y="3256273"/>
            <a:ext cx="2775496" cy="470383"/>
            <a:chOff x="0" y="0"/>
            <a:chExt cx="3700662" cy="627178"/>
          </a:xfrm>
        </p:grpSpPr>
        <p:sp>
          <p:nvSpPr>
            <p:cNvPr id="52" name="Freeform 52"/>
            <p:cNvSpPr/>
            <p:nvPr/>
          </p:nvSpPr>
          <p:spPr>
            <a:xfrm>
              <a:off x="0" y="0"/>
              <a:ext cx="3700662" cy="627178"/>
            </a:xfrm>
            <a:custGeom>
              <a:avLst/>
              <a:gdLst/>
              <a:ahLst/>
              <a:cxnLst/>
              <a:rect l="l" t="t" r="r" b="b"/>
              <a:pathLst>
                <a:path w="3700662" h="627178">
                  <a:moveTo>
                    <a:pt x="0" y="0"/>
                  </a:moveTo>
                  <a:lnTo>
                    <a:pt x="3700662" y="0"/>
                  </a:lnTo>
                  <a:lnTo>
                    <a:pt x="3700662" y="627178"/>
                  </a:lnTo>
                  <a:lnTo>
                    <a:pt x="0" y="627178"/>
                  </a:lnTo>
                  <a:close/>
                </a:path>
              </a:pathLst>
            </a:custGeom>
            <a:solidFill>
              <a:srgbClr val="000000">
                <a:alpha val="0"/>
              </a:srgbClr>
            </a:solidFill>
          </p:spPr>
        </p:sp>
        <p:sp>
          <p:nvSpPr>
            <p:cNvPr id="53" name="TextBox 53"/>
            <p:cNvSpPr txBox="1"/>
            <p:nvPr/>
          </p:nvSpPr>
          <p:spPr>
            <a:xfrm>
              <a:off x="0" y="-19050"/>
              <a:ext cx="3700662" cy="646228"/>
            </a:xfrm>
            <a:prstGeom prst="rect">
              <a:avLst/>
            </a:prstGeom>
          </p:spPr>
          <p:txBody>
            <a:bodyPr lIns="0" tIns="0" rIns="0" bIns="0" rtlCol="0" anchor="t"/>
            <a:lstStyle/>
            <a:p>
              <a:pPr algn="ctr">
                <a:lnSpc>
                  <a:spcPts val="3572"/>
                </a:lnSpc>
              </a:pPr>
              <a:r>
                <a:rPr lang="en-US" sz="2824" u="sng" spc="-58">
                  <a:solidFill>
                    <a:srgbClr val="000000"/>
                  </a:solidFill>
                  <a:latin typeface="Petrona"/>
                  <a:ea typeface="Petrona"/>
                  <a:cs typeface="Petrona"/>
                  <a:sym typeface="Petrona"/>
                </a:rPr>
                <a:t>Collections</a:t>
              </a:r>
            </a:p>
          </p:txBody>
        </p:sp>
      </p:grpSp>
      <p:grpSp>
        <p:nvGrpSpPr>
          <p:cNvPr id="54" name="Group 54"/>
          <p:cNvGrpSpPr/>
          <p:nvPr/>
        </p:nvGrpSpPr>
        <p:grpSpPr>
          <a:xfrm>
            <a:off x="9405789" y="3783806"/>
            <a:ext cx="8115895" cy="843833"/>
            <a:chOff x="0" y="0"/>
            <a:chExt cx="10821193" cy="1125111"/>
          </a:xfrm>
        </p:grpSpPr>
        <p:sp>
          <p:nvSpPr>
            <p:cNvPr id="55" name="Freeform 55"/>
            <p:cNvSpPr/>
            <p:nvPr/>
          </p:nvSpPr>
          <p:spPr>
            <a:xfrm>
              <a:off x="0" y="0"/>
              <a:ext cx="10821193" cy="1125111"/>
            </a:xfrm>
            <a:custGeom>
              <a:avLst/>
              <a:gdLst/>
              <a:ahLst/>
              <a:cxnLst/>
              <a:rect l="l" t="t" r="r" b="b"/>
              <a:pathLst>
                <a:path w="10821193" h="1125111">
                  <a:moveTo>
                    <a:pt x="0" y="0"/>
                  </a:moveTo>
                  <a:lnTo>
                    <a:pt x="10821193" y="0"/>
                  </a:lnTo>
                  <a:lnTo>
                    <a:pt x="10821193" y="1125111"/>
                  </a:lnTo>
                  <a:lnTo>
                    <a:pt x="0" y="1125111"/>
                  </a:lnTo>
                  <a:close/>
                </a:path>
              </a:pathLst>
            </a:custGeom>
            <a:solidFill>
              <a:srgbClr val="000000">
                <a:alpha val="0"/>
              </a:srgbClr>
            </a:solidFill>
          </p:spPr>
        </p:sp>
        <p:sp>
          <p:nvSpPr>
            <p:cNvPr id="56" name="TextBox 56"/>
            <p:cNvSpPr txBox="1"/>
            <p:nvPr/>
          </p:nvSpPr>
          <p:spPr>
            <a:xfrm>
              <a:off x="0" y="-85725"/>
              <a:ext cx="10821193" cy="12108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list</a:t>
              </a:r>
              <a:r>
                <a:rPr lang="en-US" sz="2024" spc="-32">
                  <a:solidFill>
                    <a:srgbClr val="000000"/>
                  </a:solidFill>
                  <a:latin typeface="Inter"/>
                  <a:ea typeface="Inter"/>
                  <a:cs typeface="Inter"/>
                  <a:sym typeface="Inter"/>
                </a:rPr>
                <a:t>: A collection of items that can be changed (mutable). Lists can hold different types of data.</a:t>
              </a:r>
            </a:p>
          </p:txBody>
        </p:sp>
      </p:grpSp>
      <p:grpSp>
        <p:nvGrpSpPr>
          <p:cNvPr id="57" name="Group 57"/>
          <p:cNvGrpSpPr/>
          <p:nvPr/>
        </p:nvGrpSpPr>
        <p:grpSpPr>
          <a:xfrm>
            <a:off x="9583490" y="4613187"/>
            <a:ext cx="8115895" cy="414988"/>
            <a:chOff x="0" y="0"/>
            <a:chExt cx="10821193" cy="553318"/>
          </a:xfrm>
        </p:grpSpPr>
        <p:sp>
          <p:nvSpPr>
            <p:cNvPr id="58" name="Freeform 58"/>
            <p:cNvSpPr/>
            <p:nvPr/>
          </p:nvSpPr>
          <p:spPr>
            <a:xfrm>
              <a:off x="0" y="0"/>
              <a:ext cx="10821193" cy="553318"/>
            </a:xfrm>
            <a:custGeom>
              <a:avLst/>
              <a:gdLst/>
              <a:ahLst/>
              <a:cxnLst/>
              <a:rect l="l" t="t" r="r" b="b"/>
              <a:pathLst>
                <a:path w="10821193" h="553318">
                  <a:moveTo>
                    <a:pt x="0" y="0"/>
                  </a:moveTo>
                  <a:lnTo>
                    <a:pt x="10821193" y="0"/>
                  </a:lnTo>
                  <a:lnTo>
                    <a:pt x="10821193" y="553318"/>
                  </a:lnTo>
                  <a:lnTo>
                    <a:pt x="0" y="553318"/>
                  </a:lnTo>
                  <a:close/>
                </a:path>
              </a:pathLst>
            </a:custGeom>
            <a:solidFill>
              <a:srgbClr val="000000">
                <a:alpha val="0"/>
              </a:srgbClr>
            </a:solidFill>
          </p:spPr>
        </p:sp>
        <p:sp>
          <p:nvSpPr>
            <p:cNvPr id="59" name="TextBox 59"/>
            <p:cNvSpPr txBox="1"/>
            <p:nvPr/>
          </p:nvSpPr>
          <p:spPr>
            <a:xfrm>
              <a:off x="0" y="-76200"/>
              <a:ext cx="10821193" cy="629518"/>
            </a:xfrm>
            <a:prstGeom prst="rect">
              <a:avLst/>
            </a:prstGeom>
          </p:spPr>
          <p:txBody>
            <a:bodyPr lIns="0" tIns="0" rIns="0" bIns="0" rtlCol="0" anchor="t"/>
            <a:lstStyle/>
            <a:p>
              <a:pPr marL="288427" lvl="1" indent="-144213" algn="l">
                <a:lnSpc>
                  <a:spcPts val="3005"/>
                </a:lnSpc>
                <a:buFont typeface="Arial"/>
                <a:buChar char="•"/>
              </a:pPr>
              <a:r>
                <a:rPr lang="en-US" sz="1912" b="1" spc="-38">
                  <a:solidFill>
                    <a:srgbClr val="1F7135"/>
                  </a:solidFill>
                  <a:latin typeface="Inter Bold"/>
                  <a:ea typeface="Inter Bold"/>
                  <a:cs typeface="Inter Bold"/>
                  <a:sym typeface="Inter Bold"/>
                </a:rPr>
                <a:t>fruits = ["apple", "banana", "cherry"]</a:t>
              </a:r>
            </a:p>
          </p:txBody>
        </p:sp>
      </p:grpSp>
      <p:grpSp>
        <p:nvGrpSpPr>
          <p:cNvPr id="60" name="Group 60"/>
          <p:cNvGrpSpPr/>
          <p:nvPr/>
        </p:nvGrpSpPr>
        <p:grpSpPr>
          <a:xfrm>
            <a:off x="9405789" y="5225651"/>
            <a:ext cx="8115895" cy="843833"/>
            <a:chOff x="0" y="0"/>
            <a:chExt cx="10821193" cy="1125111"/>
          </a:xfrm>
        </p:grpSpPr>
        <p:sp>
          <p:nvSpPr>
            <p:cNvPr id="61" name="Freeform 61"/>
            <p:cNvSpPr/>
            <p:nvPr/>
          </p:nvSpPr>
          <p:spPr>
            <a:xfrm>
              <a:off x="0" y="0"/>
              <a:ext cx="10821193" cy="1125111"/>
            </a:xfrm>
            <a:custGeom>
              <a:avLst/>
              <a:gdLst/>
              <a:ahLst/>
              <a:cxnLst/>
              <a:rect l="l" t="t" r="r" b="b"/>
              <a:pathLst>
                <a:path w="10821193" h="1125111">
                  <a:moveTo>
                    <a:pt x="0" y="0"/>
                  </a:moveTo>
                  <a:lnTo>
                    <a:pt x="10821193" y="0"/>
                  </a:lnTo>
                  <a:lnTo>
                    <a:pt x="10821193" y="1125111"/>
                  </a:lnTo>
                  <a:lnTo>
                    <a:pt x="0" y="1125111"/>
                  </a:lnTo>
                  <a:close/>
                </a:path>
              </a:pathLst>
            </a:custGeom>
            <a:solidFill>
              <a:srgbClr val="000000">
                <a:alpha val="0"/>
              </a:srgbClr>
            </a:solidFill>
          </p:spPr>
        </p:sp>
        <p:sp>
          <p:nvSpPr>
            <p:cNvPr id="62" name="TextBox 62"/>
            <p:cNvSpPr txBox="1"/>
            <p:nvPr/>
          </p:nvSpPr>
          <p:spPr>
            <a:xfrm>
              <a:off x="0" y="-85725"/>
              <a:ext cx="10821193" cy="12108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tuple</a:t>
              </a:r>
              <a:r>
                <a:rPr lang="en-US" sz="2024" spc="-32">
                  <a:solidFill>
                    <a:srgbClr val="000000"/>
                  </a:solidFill>
                  <a:latin typeface="Inter"/>
                  <a:ea typeface="Inter"/>
                  <a:cs typeface="Inter"/>
                  <a:sym typeface="Inter"/>
                </a:rPr>
                <a:t>: A collection of items, but tuples are immutable (unchangeable after creation).</a:t>
              </a:r>
            </a:p>
          </p:txBody>
        </p:sp>
      </p:grpSp>
      <p:grpSp>
        <p:nvGrpSpPr>
          <p:cNvPr id="63" name="Group 63"/>
          <p:cNvGrpSpPr/>
          <p:nvPr/>
        </p:nvGrpSpPr>
        <p:grpSpPr>
          <a:xfrm>
            <a:off x="9588253" y="6069484"/>
            <a:ext cx="8115895" cy="414988"/>
            <a:chOff x="0" y="0"/>
            <a:chExt cx="10821193" cy="553318"/>
          </a:xfrm>
        </p:grpSpPr>
        <p:sp>
          <p:nvSpPr>
            <p:cNvPr id="64" name="Freeform 64"/>
            <p:cNvSpPr/>
            <p:nvPr/>
          </p:nvSpPr>
          <p:spPr>
            <a:xfrm>
              <a:off x="0" y="0"/>
              <a:ext cx="10821193" cy="553318"/>
            </a:xfrm>
            <a:custGeom>
              <a:avLst/>
              <a:gdLst/>
              <a:ahLst/>
              <a:cxnLst/>
              <a:rect l="l" t="t" r="r" b="b"/>
              <a:pathLst>
                <a:path w="10821193" h="553318">
                  <a:moveTo>
                    <a:pt x="0" y="0"/>
                  </a:moveTo>
                  <a:lnTo>
                    <a:pt x="10821193" y="0"/>
                  </a:lnTo>
                  <a:lnTo>
                    <a:pt x="10821193" y="553318"/>
                  </a:lnTo>
                  <a:lnTo>
                    <a:pt x="0" y="553318"/>
                  </a:lnTo>
                  <a:close/>
                </a:path>
              </a:pathLst>
            </a:custGeom>
            <a:solidFill>
              <a:srgbClr val="000000">
                <a:alpha val="0"/>
              </a:srgbClr>
            </a:solidFill>
          </p:spPr>
        </p:sp>
        <p:sp>
          <p:nvSpPr>
            <p:cNvPr id="65" name="TextBox 65"/>
            <p:cNvSpPr txBox="1"/>
            <p:nvPr/>
          </p:nvSpPr>
          <p:spPr>
            <a:xfrm>
              <a:off x="0" y="-76200"/>
              <a:ext cx="10821193" cy="629518"/>
            </a:xfrm>
            <a:prstGeom prst="rect">
              <a:avLst/>
            </a:prstGeom>
          </p:spPr>
          <p:txBody>
            <a:bodyPr lIns="0" tIns="0" rIns="0" bIns="0" rtlCol="0" anchor="t"/>
            <a:lstStyle/>
            <a:p>
              <a:pPr marL="288427" lvl="1" indent="-144213" algn="l">
                <a:lnSpc>
                  <a:spcPts val="3005"/>
                </a:lnSpc>
                <a:buFont typeface="Arial"/>
                <a:buChar char="•"/>
              </a:pPr>
              <a:r>
                <a:rPr lang="en-US" sz="1912" b="1" spc="-38">
                  <a:solidFill>
                    <a:srgbClr val="1F7135"/>
                  </a:solidFill>
                  <a:latin typeface="Inter Bold"/>
                  <a:ea typeface="Inter Bold"/>
                  <a:cs typeface="Inter Bold"/>
                  <a:sym typeface="Inter Bold"/>
                </a:rPr>
                <a:t>colors = ("red", "green", "blue")</a:t>
              </a:r>
            </a:p>
          </p:txBody>
        </p:sp>
      </p:grpSp>
      <p:grpSp>
        <p:nvGrpSpPr>
          <p:cNvPr id="66" name="Group 66"/>
          <p:cNvGrpSpPr/>
          <p:nvPr/>
        </p:nvGrpSpPr>
        <p:grpSpPr>
          <a:xfrm>
            <a:off x="9405789" y="6740126"/>
            <a:ext cx="8115895" cy="434258"/>
            <a:chOff x="0" y="0"/>
            <a:chExt cx="10821193" cy="579011"/>
          </a:xfrm>
        </p:grpSpPr>
        <p:sp>
          <p:nvSpPr>
            <p:cNvPr id="67" name="Freeform 67"/>
            <p:cNvSpPr/>
            <p:nvPr/>
          </p:nvSpPr>
          <p:spPr>
            <a:xfrm>
              <a:off x="0" y="0"/>
              <a:ext cx="10821193" cy="579011"/>
            </a:xfrm>
            <a:custGeom>
              <a:avLst/>
              <a:gdLst/>
              <a:ahLst/>
              <a:cxnLst/>
              <a:rect l="l" t="t" r="r" b="b"/>
              <a:pathLst>
                <a:path w="10821193" h="579011">
                  <a:moveTo>
                    <a:pt x="0" y="0"/>
                  </a:moveTo>
                  <a:lnTo>
                    <a:pt x="10821193" y="0"/>
                  </a:lnTo>
                  <a:lnTo>
                    <a:pt x="10821193" y="579011"/>
                  </a:lnTo>
                  <a:lnTo>
                    <a:pt x="0" y="579011"/>
                  </a:lnTo>
                  <a:close/>
                </a:path>
              </a:pathLst>
            </a:custGeom>
            <a:solidFill>
              <a:srgbClr val="000000">
                <a:alpha val="0"/>
              </a:srgbClr>
            </a:solidFill>
          </p:spPr>
        </p:sp>
        <p:sp>
          <p:nvSpPr>
            <p:cNvPr id="68" name="TextBox 68"/>
            <p:cNvSpPr txBox="1"/>
            <p:nvPr/>
          </p:nvSpPr>
          <p:spPr>
            <a:xfrm>
              <a:off x="0" y="-85725"/>
              <a:ext cx="10821193" cy="6647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set</a:t>
              </a:r>
              <a:r>
                <a:rPr lang="en-US" sz="2024" spc="-32">
                  <a:solidFill>
                    <a:srgbClr val="000000"/>
                  </a:solidFill>
                  <a:latin typeface="Inter"/>
                  <a:ea typeface="Inter"/>
                  <a:cs typeface="Inter"/>
                  <a:sym typeface="Inter"/>
                </a:rPr>
                <a:t>: A collection of unique items, it doesn’t allow duplicate values.</a:t>
              </a:r>
            </a:p>
          </p:txBody>
        </p:sp>
      </p:grpSp>
      <p:grpSp>
        <p:nvGrpSpPr>
          <p:cNvPr id="69" name="Group 69"/>
          <p:cNvGrpSpPr/>
          <p:nvPr/>
        </p:nvGrpSpPr>
        <p:grpSpPr>
          <a:xfrm>
            <a:off x="9588253" y="7174384"/>
            <a:ext cx="8115895" cy="414988"/>
            <a:chOff x="0" y="0"/>
            <a:chExt cx="10821193" cy="553318"/>
          </a:xfrm>
        </p:grpSpPr>
        <p:sp>
          <p:nvSpPr>
            <p:cNvPr id="70" name="Freeform 70"/>
            <p:cNvSpPr/>
            <p:nvPr/>
          </p:nvSpPr>
          <p:spPr>
            <a:xfrm>
              <a:off x="0" y="0"/>
              <a:ext cx="10821193" cy="553318"/>
            </a:xfrm>
            <a:custGeom>
              <a:avLst/>
              <a:gdLst/>
              <a:ahLst/>
              <a:cxnLst/>
              <a:rect l="l" t="t" r="r" b="b"/>
              <a:pathLst>
                <a:path w="10821193" h="553318">
                  <a:moveTo>
                    <a:pt x="0" y="0"/>
                  </a:moveTo>
                  <a:lnTo>
                    <a:pt x="10821193" y="0"/>
                  </a:lnTo>
                  <a:lnTo>
                    <a:pt x="10821193" y="553318"/>
                  </a:lnTo>
                  <a:lnTo>
                    <a:pt x="0" y="553318"/>
                  </a:lnTo>
                  <a:close/>
                </a:path>
              </a:pathLst>
            </a:custGeom>
            <a:solidFill>
              <a:srgbClr val="000000">
                <a:alpha val="0"/>
              </a:srgbClr>
            </a:solidFill>
          </p:spPr>
        </p:sp>
        <p:sp>
          <p:nvSpPr>
            <p:cNvPr id="71" name="TextBox 71"/>
            <p:cNvSpPr txBox="1"/>
            <p:nvPr/>
          </p:nvSpPr>
          <p:spPr>
            <a:xfrm>
              <a:off x="0" y="-76200"/>
              <a:ext cx="10821193" cy="629518"/>
            </a:xfrm>
            <a:prstGeom prst="rect">
              <a:avLst/>
            </a:prstGeom>
          </p:spPr>
          <p:txBody>
            <a:bodyPr lIns="0" tIns="0" rIns="0" bIns="0" rtlCol="0" anchor="t"/>
            <a:lstStyle/>
            <a:p>
              <a:pPr marL="288427" lvl="1" indent="-144213" algn="l">
                <a:lnSpc>
                  <a:spcPts val="3005"/>
                </a:lnSpc>
                <a:buFont typeface="Arial"/>
                <a:buChar char="•"/>
              </a:pPr>
              <a:r>
                <a:rPr lang="en-US" sz="1912" b="1" spc="-38">
                  <a:solidFill>
                    <a:srgbClr val="1F7135"/>
                  </a:solidFill>
                  <a:latin typeface="Inter Bold"/>
                  <a:ea typeface="Inter Bold"/>
                  <a:cs typeface="Inter Bold"/>
                  <a:sym typeface="Inter Bold"/>
                </a:rPr>
                <a:t>numbers = {1, 2, 3, 4}</a:t>
              </a:r>
            </a:p>
          </p:txBody>
        </p:sp>
      </p:grpSp>
      <p:grpSp>
        <p:nvGrpSpPr>
          <p:cNvPr id="72" name="Group 72"/>
          <p:cNvGrpSpPr/>
          <p:nvPr/>
        </p:nvGrpSpPr>
        <p:grpSpPr>
          <a:xfrm>
            <a:off x="9405789" y="7725434"/>
            <a:ext cx="8115895" cy="843833"/>
            <a:chOff x="0" y="0"/>
            <a:chExt cx="10821193" cy="1125111"/>
          </a:xfrm>
        </p:grpSpPr>
        <p:sp>
          <p:nvSpPr>
            <p:cNvPr id="73" name="Freeform 73"/>
            <p:cNvSpPr/>
            <p:nvPr/>
          </p:nvSpPr>
          <p:spPr>
            <a:xfrm>
              <a:off x="0" y="0"/>
              <a:ext cx="10821193" cy="1125111"/>
            </a:xfrm>
            <a:custGeom>
              <a:avLst/>
              <a:gdLst/>
              <a:ahLst/>
              <a:cxnLst/>
              <a:rect l="l" t="t" r="r" b="b"/>
              <a:pathLst>
                <a:path w="10821193" h="1125111">
                  <a:moveTo>
                    <a:pt x="0" y="0"/>
                  </a:moveTo>
                  <a:lnTo>
                    <a:pt x="10821193" y="0"/>
                  </a:lnTo>
                  <a:lnTo>
                    <a:pt x="10821193" y="1125111"/>
                  </a:lnTo>
                  <a:lnTo>
                    <a:pt x="0" y="1125111"/>
                  </a:lnTo>
                  <a:close/>
                </a:path>
              </a:pathLst>
            </a:custGeom>
            <a:solidFill>
              <a:srgbClr val="000000">
                <a:alpha val="0"/>
              </a:srgbClr>
            </a:solidFill>
          </p:spPr>
        </p:sp>
        <p:sp>
          <p:nvSpPr>
            <p:cNvPr id="74" name="TextBox 74"/>
            <p:cNvSpPr txBox="1"/>
            <p:nvPr/>
          </p:nvSpPr>
          <p:spPr>
            <a:xfrm>
              <a:off x="0" y="-85725"/>
              <a:ext cx="10821193" cy="1210836"/>
            </a:xfrm>
            <a:prstGeom prst="rect">
              <a:avLst/>
            </a:prstGeom>
          </p:spPr>
          <p:txBody>
            <a:bodyPr lIns="0" tIns="0" rIns="0" bIns="0" rtlCol="0" anchor="t"/>
            <a:lstStyle/>
            <a:p>
              <a:pPr algn="l">
                <a:lnSpc>
                  <a:spcPts val="3271"/>
                </a:lnSpc>
              </a:pPr>
              <a:r>
                <a:rPr lang="en-US" sz="2024" b="1" spc="-32">
                  <a:solidFill>
                    <a:srgbClr val="000000"/>
                  </a:solidFill>
                  <a:latin typeface="Inter Bold"/>
                  <a:ea typeface="Inter Bold"/>
                  <a:cs typeface="Inter Bold"/>
                  <a:sym typeface="Inter Bold"/>
                </a:rPr>
                <a:t>dict</a:t>
              </a:r>
              <a:r>
                <a:rPr lang="en-US" sz="2024" spc="-32">
                  <a:solidFill>
                    <a:srgbClr val="000000"/>
                  </a:solidFill>
                  <a:latin typeface="Inter"/>
                  <a:ea typeface="Inter"/>
                  <a:cs typeface="Inter"/>
                  <a:sym typeface="Inter"/>
                </a:rPr>
                <a:t> (Dictionary): A collection of key-value pairs, where each key is unique.</a:t>
              </a:r>
            </a:p>
          </p:txBody>
        </p:sp>
      </p:grpSp>
      <p:grpSp>
        <p:nvGrpSpPr>
          <p:cNvPr id="75" name="Group 75"/>
          <p:cNvGrpSpPr/>
          <p:nvPr/>
        </p:nvGrpSpPr>
        <p:grpSpPr>
          <a:xfrm>
            <a:off x="9583490" y="8569267"/>
            <a:ext cx="8115895" cy="414988"/>
            <a:chOff x="0" y="0"/>
            <a:chExt cx="10821193" cy="553318"/>
          </a:xfrm>
        </p:grpSpPr>
        <p:sp>
          <p:nvSpPr>
            <p:cNvPr id="76" name="Freeform 76"/>
            <p:cNvSpPr/>
            <p:nvPr/>
          </p:nvSpPr>
          <p:spPr>
            <a:xfrm>
              <a:off x="0" y="0"/>
              <a:ext cx="10821193" cy="553318"/>
            </a:xfrm>
            <a:custGeom>
              <a:avLst/>
              <a:gdLst/>
              <a:ahLst/>
              <a:cxnLst/>
              <a:rect l="l" t="t" r="r" b="b"/>
              <a:pathLst>
                <a:path w="10821193" h="553318">
                  <a:moveTo>
                    <a:pt x="0" y="0"/>
                  </a:moveTo>
                  <a:lnTo>
                    <a:pt x="10821193" y="0"/>
                  </a:lnTo>
                  <a:lnTo>
                    <a:pt x="10821193" y="553318"/>
                  </a:lnTo>
                  <a:lnTo>
                    <a:pt x="0" y="553318"/>
                  </a:lnTo>
                  <a:close/>
                </a:path>
              </a:pathLst>
            </a:custGeom>
            <a:solidFill>
              <a:srgbClr val="000000">
                <a:alpha val="0"/>
              </a:srgbClr>
            </a:solidFill>
          </p:spPr>
        </p:sp>
        <p:sp>
          <p:nvSpPr>
            <p:cNvPr id="77" name="TextBox 77"/>
            <p:cNvSpPr txBox="1"/>
            <p:nvPr/>
          </p:nvSpPr>
          <p:spPr>
            <a:xfrm>
              <a:off x="0" y="-76200"/>
              <a:ext cx="10821193" cy="629518"/>
            </a:xfrm>
            <a:prstGeom prst="rect">
              <a:avLst/>
            </a:prstGeom>
          </p:spPr>
          <p:txBody>
            <a:bodyPr lIns="0" tIns="0" rIns="0" bIns="0" rtlCol="0" anchor="t"/>
            <a:lstStyle/>
            <a:p>
              <a:pPr marL="288427" lvl="1" indent="-144213" algn="l">
                <a:lnSpc>
                  <a:spcPts val="3005"/>
                </a:lnSpc>
                <a:buFont typeface="Arial"/>
                <a:buChar char="•"/>
              </a:pPr>
              <a:r>
                <a:rPr lang="en-US" sz="1912" b="1" spc="-38">
                  <a:solidFill>
                    <a:srgbClr val="1F7135"/>
                  </a:solidFill>
                  <a:latin typeface="Inter Bold"/>
                  <a:ea typeface="Inter Bold"/>
                  <a:cs typeface="Inter Bold"/>
                  <a:sym typeface="Inter Bold"/>
                </a:rPr>
                <a:t>person = {"name": "John", "age": 25}</a:t>
              </a:r>
            </a:p>
          </p:txBody>
        </p:sp>
      </p:grpSp>
      <p:sp>
        <p:nvSpPr>
          <p:cNvPr id="78" name="TextBox 78"/>
          <p:cNvSpPr txBox="1"/>
          <p:nvPr/>
        </p:nvSpPr>
        <p:spPr>
          <a:xfrm>
            <a:off x="15487669" y="9745418"/>
            <a:ext cx="3543263" cy="314326"/>
          </a:xfrm>
          <a:prstGeom prst="rect">
            <a:avLst/>
          </a:prstGeom>
        </p:spPr>
        <p:txBody>
          <a:bodyPr lIns="0" tIns="0" rIns="0" bIns="0" rtlCol="0" anchor="t">
            <a:spAutoFit/>
          </a:bodyPr>
          <a:lstStyle/>
          <a:p>
            <a:pPr algn="l">
              <a:lnSpc>
                <a:spcPts val="2624"/>
              </a:lnSpc>
              <a:spcBef>
                <a:spcPct val="0"/>
              </a:spcBef>
            </a:pPr>
            <a:r>
              <a:rPr lang="en-US" sz="1625" spc="-32">
                <a:solidFill>
                  <a:srgbClr val="272525"/>
                </a:solidFill>
                <a:latin typeface="Inter"/>
                <a:ea typeface="Inter"/>
                <a:cs typeface="Inter"/>
                <a:sym typeface="Inter"/>
              </a:rPr>
              <a:t>Mohammad Anees Alam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730003" y="574328"/>
            <a:ext cx="8111744" cy="820064"/>
            <a:chOff x="0" y="0"/>
            <a:chExt cx="10815658" cy="1093419"/>
          </a:xfrm>
        </p:grpSpPr>
        <p:sp>
          <p:nvSpPr>
            <p:cNvPr id="7" name="Freeform 7"/>
            <p:cNvSpPr/>
            <p:nvPr/>
          </p:nvSpPr>
          <p:spPr>
            <a:xfrm>
              <a:off x="0" y="0"/>
              <a:ext cx="10815658" cy="1093419"/>
            </a:xfrm>
            <a:custGeom>
              <a:avLst/>
              <a:gdLst/>
              <a:ahLst/>
              <a:cxnLst/>
              <a:rect l="l" t="t" r="r" b="b"/>
              <a:pathLst>
                <a:path w="10815658" h="1093419">
                  <a:moveTo>
                    <a:pt x="0" y="0"/>
                  </a:moveTo>
                  <a:lnTo>
                    <a:pt x="10815658" y="0"/>
                  </a:lnTo>
                  <a:lnTo>
                    <a:pt x="10815658" y="1093419"/>
                  </a:lnTo>
                  <a:lnTo>
                    <a:pt x="0" y="1093419"/>
                  </a:lnTo>
                  <a:close/>
                </a:path>
              </a:pathLst>
            </a:custGeom>
            <a:solidFill>
              <a:srgbClr val="000000">
                <a:alpha val="0"/>
              </a:srgbClr>
            </a:solidFill>
          </p:spPr>
        </p:sp>
        <p:sp>
          <p:nvSpPr>
            <p:cNvPr id="8" name="TextBox 8"/>
            <p:cNvSpPr txBox="1"/>
            <p:nvPr/>
          </p:nvSpPr>
          <p:spPr>
            <a:xfrm>
              <a:off x="0" y="-28575"/>
              <a:ext cx="10815658" cy="1121994"/>
            </a:xfrm>
            <a:prstGeom prst="rect">
              <a:avLst/>
            </a:prstGeom>
          </p:spPr>
          <p:txBody>
            <a:bodyPr lIns="0" tIns="0" rIns="0" bIns="0" rtlCol="0" anchor="t"/>
            <a:lstStyle/>
            <a:p>
              <a:pPr algn="l">
                <a:lnSpc>
                  <a:spcPts val="6124"/>
                </a:lnSpc>
              </a:pPr>
              <a:r>
                <a:rPr lang="en-US" sz="4899" spc="-97">
                  <a:solidFill>
                    <a:srgbClr val="F95F88"/>
                  </a:solidFill>
                  <a:latin typeface="Petrona"/>
                  <a:ea typeface="Petrona"/>
                  <a:cs typeface="Petrona"/>
                  <a:sym typeface="Petrona"/>
                </a:rPr>
                <a:t>Operators and their types:</a:t>
              </a:r>
            </a:p>
          </p:txBody>
        </p:sp>
      </p:grpSp>
      <p:grpSp>
        <p:nvGrpSpPr>
          <p:cNvPr id="9" name="Group 9"/>
          <p:cNvGrpSpPr/>
          <p:nvPr/>
        </p:nvGrpSpPr>
        <p:grpSpPr>
          <a:xfrm>
            <a:off x="730003" y="1708397"/>
            <a:ext cx="16827996" cy="454527"/>
            <a:chOff x="0" y="0"/>
            <a:chExt cx="22437328" cy="606036"/>
          </a:xfrm>
        </p:grpSpPr>
        <p:sp>
          <p:nvSpPr>
            <p:cNvPr id="10" name="Freeform 10"/>
            <p:cNvSpPr/>
            <p:nvPr/>
          </p:nvSpPr>
          <p:spPr>
            <a:xfrm>
              <a:off x="0" y="0"/>
              <a:ext cx="22437328" cy="606036"/>
            </a:xfrm>
            <a:custGeom>
              <a:avLst/>
              <a:gdLst/>
              <a:ahLst/>
              <a:cxnLst/>
              <a:rect l="l" t="t" r="r" b="b"/>
              <a:pathLst>
                <a:path w="22437328" h="606036">
                  <a:moveTo>
                    <a:pt x="0" y="0"/>
                  </a:moveTo>
                  <a:lnTo>
                    <a:pt x="22437328" y="0"/>
                  </a:lnTo>
                  <a:lnTo>
                    <a:pt x="22437328" y="606036"/>
                  </a:lnTo>
                  <a:lnTo>
                    <a:pt x="0" y="606036"/>
                  </a:lnTo>
                  <a:close/>
                </a:path>
              </a:pathLst>
            </a:custGeom>
            <a:solidFill>
              <a:srgbClr val="000000">
                <a:alpha val="0"/>
              </a:srgbClr>
            </a:solidFill>
          </p:spPr>
        </p:sp>
        <p:sp>
          <p:nvSpPr>
            <p:cNvPr id="11" name="TextBox 11"/>
            <p:cNvSpPr txBox="1"/>
            <p:nvPr/>
          </p:nvSpPr>
          <p:spPr>
            <a:xfrm>
              <a:off x="0" y="-95250"/>
              <a:ext cx="22437328" cy="701286"/>
            </a:xfrm>
            <a:prstGeom prst="rect">
              <a:avLst/>
            </a:prstGeom>
          </p:spPr>
          <p:txBody>
            <a:bodyPr lIns="0" tIns="0" rIns="0" bIns="0" rtlCol="0" anchor="t"/>
            <a:lstStyle/>
            <a:p>
              <a:pPr marL="320475" lvl="1" indent="-160238" algn="l">
                <a:lnSpc>
                  <a:spcPts val="3432"/>
                </a:lnSpc>
                <a:buFont typeface="Arial"/>
                <a:buChar char="•"/>
              </a:pPr>
              <a:r>
                <a:rPr lang="en-US" sz="2124" b="1" spc="-42">
                  <a:solidFill>
                    <a:srgbClr val="272525"/>
                  </a:solidFill>
                  <a:latin typeface="Inter Bold"/>
                  <a:ea typeface="Inter Bold"/>
                  <a:cs typeface="Inter Bold"/>
                  <a:sym typeface="Inter Bold"/>
                </a:rPr>
                <a:t>Operators</a:t>
              </a:r>
              <a:r>
                <a:rPr lang="en-US" sz="2124" spc="-42">
                  <a:solidFill>
                    <a:srgbClr val="272525"/>
                  </a:solidFill>
                  <a:latin typeface="Inter"/>
                  <a:ea typeface="Inter"/>
                  <a:cs typeface="Inter"/>
                  <a:sym typeface="Inter"/>
                </a:rPr>
                <a:t> are symbols or keywords used to perform operations on variables and values in a programming language.</a:t>
              </a:r>
            </a:p>
          </p:txBody>
        </p:sp>
      </p:grpSp>
      <p:grpSp>
        <p:nvGrpSpPr>
          <p:cNvPr id="12" name="Group 12"/>
          <p:cNvGrpSpPr/>
          <p:nvPr/>
        </p:nvGrpSpPr>
        <p:grpSpPr>
          <a:xfrm>
            <a:off x="730003" y="2198489"/>
            <a:ext cx="16827996" cy="883152"/>
            <a:chOff x="0" y="0"/>
            <a:chExt cx="22437328" cy="1177536"/>
          </a:xfrm>
        </p:grpSpPr>
        <p:sp>
          <p:nvSpPr>
            <p:cNvPr id="13" name="Freeform 13"/>
            <p:cNvSpPr/>
            <p:nvPr/>
          </p:nvSpPr>
          <p:spPr>
            <a:xfrm>
              <a:off x="0" y="0"/>
              <a:ext cx="22437328" cy="1177536"/>
            </a:xfrm>
            <a:custGeom>
              <a:avLst/>
              <a:gdLst/>
              <a:ahLst/>
              <a:cxnLst/>
              <a:rect l="l" t="t" r="r" b="b"/>
              <a:pathLst>
                <a:path w="22437328" h="1177536">
                  <a:moveTo>
                    <a:pt x="0" y="0"/>
                  </a:moveTo>
                  <a:lnTo>
                    <a:pt x="22437328" y="0"/>
                  </a:lnTo>
                  <a:lnTo>
                    <a:pt x="22437328" y="1177536"/>
                  </a:lnTo>
                  <a:lnTo>
                    <a:pt x="0" y="1177536"/>
                  </a:lnTo>
                  <a:close/>
                </a:path>
              </a:pathLst>
            </a:custGeom>
            <a:solidFill>
              <a:srgbClr val="000000">
                <a:alpha val="0"/>
              </a:srgbClr>
            </a:solidFill>
          </p:spPr>
        </p:sp>
        <p:sp>
          <p:nvSpPr>
            <p:cNvPr id="14" name="TextBox 14"/>
            <p:cNvSpPr txBox="1"/>
            <p:nvPr/>
          </p:nvSpPr>
          <p:spPr>
            <a:xfrm>
              <a:off x="0" y="-95250"/>
              <a:ext cx="22437328" cy="1272786"/>
            </a:xfrm>
            <a:prstGeom prst="rect">
              <a:avLst/>
            </a:prstGeom>
          </p:spPr>
          <p:txBody>
            <a:bodyPr lIns="0" tIns="0" rIns="0" bIns="0" rtlCol="0" anchor="t"/>
            <a:lstStyle/>
            <a:p>
              <a:pPr marL="320475" lvl="1" indent="-160238" algn="l">
                <a:lnSpc>
                  <a:spcPts val="3432"/>
                </a:lnSpc>
                <a:buFont typeface="Arial"/>
                <a:buChar char="•"/>
              </a:pPr>
              <a:r>
                <a:rPr lang="en-US" sz="2124" spc="-42">
                  <a:solidFill>
                    <a:srgbClr val="272525"/>
                  </a:solidFill>
                  <a:latin typeface="Inter"/>
                  <a:ea typeface="Inter"/>
                  <a:cs typeface="Inter"/>
                  <a:sym typeface="Inter"/>
                </a:rPr>
                <a:t>They allow you to perform calculations, comparisons, and logical operations, act as tools that help in </a:t>
              </a:r>
              <a:r>
                <a:rPr lang="en-US" sz="2124" b="1" spc="-42">
                  <a:solidFill>
                    <a:srgbClr val="272525"/>
                  </a:solidFill>
                  <a:latin typeface="Inter Bold"/>
                  <a:ea typeface="Inter Bold"/>
                  <a:cs typeface="Inter Bold"/>
                  <a:sym typeface="Inter Bold"/>
                </a:rPr>
                <a:t>processing data</a:t>
              </a:r>
              <a:r>
                <a:rPr lang="en-US" sz="2124" spc="-42">
                  <a:solidFill>
                    <a:srgbClr val="272525"/>
                  </a:solidFill>
                  <a:latin typeface="Inter"/>
                  <a:ea typeface="Inter"/>
                  <a:cs typeface="Inter"/>
                  <a:sym typeface="Inter"/>
                </a:rPr>
                <a:t> or </a:t>
              </a:r>
              <a:r>
                <a:rPr lang="en-US" sz="2124" b="1" spc="-42">
                  <a:solidFill>
                    <a:srgbClr val="272525"/>
                  </a:solidFill>
                  <a:latin typeface="Inter Bold"/>
                  <a:ea typeface="Inter Bold"/>
                  <a:cs typeface="Inter Bold"/>
                  <a:sym typeface="Inter Bold"/>
                </a:rPr>
                <a:t>making decisions</a:t>
              </a:r>
              <a:r>
                <a:rPr lang="en-US" sz="2124" spc="-42">
                  <a:solidFill>
                    <a:srgbClr val="272525"/>
                  </a:solidFill>
                  <a:latin typeface="Inter"/>
                  <a:ea typeface="Inter"/>
                  <a:cs typeface="Inter"/>
                  <a:sym typeface="Inter"/>
                </a:rPr>
                <a:t> within your code.</a:t>
              </a:r>
            </a:p>
          </p:txBody>
        </p:sp>
      </p:grpSp>
      <p:grpSp>
        <p:nvGrpSpPr>
          <p:cNvPr id="15" name="Group 15"/>
          <p:cNvGrpSpPr/>
          <p:nvPr/>
        </p:nvGrpSpPr>
        <p:grpSpPr>
          <a:xfrm>
            <a:off x="730002" y="6414344"/>
            <a:ext cx="16827996" cy="28575"/>
            <a:chOff x="0" y="0"/>
            <a:chExt cx="22437328" cy="38100"/>
          </a:xfrm>
        </p:grpSpPr>
        <p:sp>
          <p:nvSpPr>
            <p:cNvPr id="16" name="Freeform 16"/>
            <p:cNvSpPr/>
            <p:nvPr/>
          </p:nvSpPr>
          <p:spPr>
            <a:xfrm>
              <a:off x="0" y="0"/>
              <a:ext cx="22437344" cy="38100"/>
            </a:xfrm>
            <a:custGeom>
              <a:avLst/>
              <a:gdLst/>
              <a:ahLst/>
              <a:cxnLst/>
              <a:rect l="l" t="t" r="r" b="b"/>
              <a:pathLst>
                <a:path w="22437344" h="38100">
                  <a:moveTo>
                    <a:pt x="0" y="19050"/>
                  </a:moveTo>
                  <a:cubicBezTo>
                    <a:pt x="0" y="8509"/>
                    <a:pt x="8509" y="0"/>
                    <a:pt x="19050" y="0"/>
                  </a:cubicBezTo>
                  <a:lnTo>
                    <a:pt x="22418294" y="0"/>
                  </a:lnTo>
                  <a:cubicBezTo>
                    <a:pt x="22428834" y="0"/>
                    <a:pt x="22437344" y="8509"/>
                    <a:pt x="22437344" y="19050"/>
                  </a:cubicBezTo>
                  <a:cubicBezTo>
                    <a:pt x="22437344" y="29591"/>
                    <a:pt x="22428834" y="38100"/>
                    <a:pt x="22418294" y="38100"/>
                  </a:cubicBezTo>
                  <a:lnTo>
                    <a:pt x="19050" y="38100"/>
                  </a:lnTo>
                  <a:cubicBezTo>
                    <a:pt x="8509" y="38100"/>
                    <a:pt x="0" y="29591"/>
                    <a:pt x="0" y="19050"/>
                  </a:cubicBezTo>
                  <a:close/>
                </a:path>
              </a:pathLst>
            </a:custGeom>
            <a:solidFill>
              <a:srgbClr val="C6BDDA"/>
            </a:solidFill>
          </p:spPr>
        </p:sp>
      </p:grpSp>
      <p:grpSp>
        <p:nvGrpSpPr>
          <p:cNvPr id="17" name="Group 17"/>
          <p:cNvGrpSpPr/>
          <p:nvPr/>
        </p:nvGrpSpPr>
        <p:grpSpPr>
          <a:xfrm>
            <a:off x="4018509" y="5684416"/>
            <a:ext cx="28575" cy="730003"/>
            <a:chOff x="0" y="0"/>
            <a:chExt cx="38100" cy="973337"/>
          </a:xfrm>
        </p:grpSpPr>
        <p:sp>
          <p:nvSpPr>
            <p:cNvPr id="18" name="Freeform 18"/>
            <p:cNvSpPr/>
            <p:nvPr/>
          </p:nvSpPr>
          <p:spPr>
            <a:xfrm>
              <a:off x="0" y="0"/>
              <a:ext cx="38100" cy="973328"/>
            </a:xfrm>
            <a:custGeom>
              <a:avLst/>
              <a:gdLst/>
              <a:ahLst/>
              <a:cxnLst/>
              <a:rect l="l" t="t" r="r" b="b"/>
              <a:pathLst>
                <a:path w="38100" h="973328">
                  <a:moveTo>
                    <a:pt x="0" y="19050"/>
                  </a:moveTo>
                  <a:cubicBezTo>
                    <a:pt x="0" y="8509"/>
                    <a:pt x="8509" y="0"/>
                    <a:pt x="19050" y="0"/>
                  </a:cubicBezTo>
                  <a:cubicBezTo>
                    <a:pt x="29591" y="0"/>
                    <a:pt x="38100" y="8509"/>
                    <a:pt x="38100" y="19050"/>
                  </a:cubicBezTo>
                  <a:lnTo>
                    <a:pt x="38100" y="954278"/>
                  </a:lnTo>
                  <a:cubicBezTo>
                    <a:pt x="38100" y="964819"/>
                    <a:pt x="29591" y="973328"/>
                    <a:pt x="19050" y="973328"/>
                  </a:cubicBezTo>
                  <a:cubicBezTo>
                    <a:pt x="8509" y="973328"/>
                    <a:pt x="0" y="964819"/>
                    <a:pt x="0" y="954278"/>
                  </a:cubicBezTo>
                  <a:close/>
                </a:path>
              </a:pathLst>
            </a:custGeom>
            <a:solidFill>
              <a:srgbClr val="E58A35"/>
            </a:solidFill>
          </p:spPr>
        </p:sp>
      </p:grpSp>
      <p:grpSp>
        <p:nvGrpSpPr>
          <p:cNvPr id="19" name="Group 19"/>
          <p:cNvGrpSpPr/>
          <p:nvPr/>
        </p:nvGrpSpPr>
        <p:grpSpPr>
          <a:xfrm>
            <a:off x="3793480" y="6174954"/>
            <a:ext cx="478780" cy="478780"/>
            <a:chOff x="0" y="0"/>
            <a:chExt cx="638373" cy="638373"/>
          </a:xfrm>
        </p:grpSpPr>
        <p:sp>
          <p:nvSpPr>
            <p:cNvPr id="20" name="Freeform 20"/>
            <p:cNvSpPr/>
            <p:nvPr/>
          </p:nvSpPr>
          <p:spPr>
            <a:xfrm>
              <a:off x="6350" y="6350"/>
              <a:ext cx="625729" cy="625729"/>
            </a:xfrm>
            <a:custGeom>
              <a:avLst/>
              <a:gdLst/>
              <a:ahLst/>
              <a:cxnLst/>
              <a:rect l="l" t="t" r="r" b="b"/>
              <a:pathLst>
                <a:path w="625729" h="625729">
                  <a:moveTo>
                    <a:pt x="0" y="116840"/>
                  </a:moveTo>
                  <a:cubicBezTo>
                    <a:pt x="0" y="52324"/>
                    <a:pt x="52324" y="0"/>
                    <a:pt x="116840" y="0"/>
                  </a:cubicBezTo>
                  <a:lnTo>
                    <a:pt x="508889" y="0"/>
                  </a:lnTo>
                  <a:cubicBezTo>
                    <a:pt x="573405" y="0"/>
                    <a:pt x="625729" y="52324"/>
                    <a:pt x="625729" y="116840"/>
                  </a:cubicBezTo>
                  <a:lnTo>
                    <a:pt x="625729" y="508889"/>
                  </a:lnTo>
                  <a:cubicBezTo>
                    <a:pt x="625729" y="573405"/>
                    <a:pt x="573405" y="625729"/>
                    <a:pt x="508889" y="625729"/>
                  </a:cubicBezTo>
                  <a:lnTo>
                    <a:pt x="116840" y="625729"/>
                  </a:lnTo>
                  <a:cubicBezTo>
                    <a:pt x="52324" y="625729"/>
                    <a:pt x="0" y="573405"/>
                    <a:pt x="0" y="508889"/>
                  </a:cubicBezTo>
                  <a:close/>
                </a:path>
              </a:pathLst>
            </a:custGeom>
            <a:solidFill>
              <a:srgbClr val="FFA44F"/>
            </a:solidFill>
          </p:spPr>
        </p:sp>
        <p:sp>
          <p:nvSpPr>
            <p:cNvPr id="21" name="Freeform 21"/>
            <p:cNvSpPr/>
            <p:nvPr/>
          </p:nvSpPr>
          <p:spPr>
            <a:xfrm>
              <a:off x="0" y="0"/>
              <a:ext cx="638429" cy="638429"/>
            </a:xfrm>
            <a:custGeom>
              <a:avLst/>
              <a:gdLst/>
              <a:ahLst/>
              <a:cxnLst/>
              <a:rect l="l" t="t" r="r" b="b"/>
              <a:pathLst>
                <a:path w="638429" h="638429">
                  <a:moveTo>
                    <a:pt x="0" y="123190"/>
                  </a:moveTo>
                  <a:cubicBezTo>
                    <a:pt x="0" y="55118"/>
                    <a:pt x="55118" y="0"/>
                    <a:pt x="123190" y="0"/>
                  </a:cubicBezTo>
                  <a:lnTo>
                    <a:pt x="515239" y="0"/>
                  </a:lnTo>
                  <a:lnTo>
                    <a:pt x="515239" y="6350"/>
                  </a:lnTo>
                  <a:lnTo>
                    <a:pt x="515239" y="0"/>
                  </a:lnTo>
                  <a:lnTo>
                    <a:pt x="515239" y="6350"/>
                  </a:lnTo>
                  <a:lnTo>
                    <a:pt x="515239" y="0"/>
                  </a:lnTo>
                  <a:cubicBezTo>
                    <a:pt x="583311" y="0"/>
                    <a:pt x="638429" y="55118"/>
                    <a:pt x="638429" y="123190"/>
                  </a:cubicBezTo>
                  <a:lnTo>
                    <a:pt x="632079" y="123190"/>
                  </a:lnTo>
                  <a:lnTo>
                    <a:pt x="638429" y="123190"/>
                  </a:lnTo>
                  <a:lnTo>
                    <a:pt x="638429" y="515239"/>
                  </a:lnTo>
                  <a:lnTo>
                    <a:pt x="632079" y="515239"/>
                  </a:lnTo>
                  <a:lnTo>
                    <a:pt x="638429" y="515239"/>
                  </a:lnTo>
                  <a:cubicBezTo>
                    <a:pt x="638429" y="583311"/>
                    <a:pt x="583311" y="638429"/>
                    <a:pt x="515239" y="638429"/>
                  </a:cubicBezTo>
                  <a:lnTo>
                    <a:pt x="515239" y="632079"/>
                  </a:lnTo>
                  <a:lnTo>
                    <a:pt x="515239" y="638429"/>
                  </a:lnTo>
                  <a:lnTo>
                    <a:pt x="123190" y="638429"/>
                  </a:lnTo>
                  <a:lnTo>
                    <a:pt x="123190" y="632079"/>
                  </a:lnTo>
                  <a:lnTo>
                    <a:pt x="123190" y="638429"/>
                  </a:lnTo>
                  <a:cubicBezTo>
                    <a:pt x="55118" y="638429"/>
                    <a:pt x="0" y="583311"/>
                    <a:pt x="0" y="515239"/>
                  </a:cubicBezTo>
                  <a:lnTo>
                    <a:pt x="0" y="123190"/>
                  </a:lnTo>
                  <a:lnTo>
                    <a:pt x="6350" y="123190"/>
                  </a:lnTo>
                  <a:lnTo>
                    <a:pt x="0" y="123190"/>
                  </a:lnTo>
                  <a:moveTo>
                    <a:pt x="12700" y="123190"/>
                  </a:moveTo>
                  <a:lnTo>
                    <a:pt x="12700" y="515239"/>
                  </a:lnTo>
                  <a:lnTo>
                    <a:pt x="6350" y="515239"/>
                  </a:lnTo>
                  <a:lnTo>
                    <a:pt x="12700" y="515239"/>
                  </a:lnTo>
                  <a:cubicBezTo>
                    <a:pt x="12700" y="576199"/>
                    <a:pt x="62103" y="625729"/>
                    <a:pt x="123190" y="625729"/>
                  </a:cubicBezTo>
                  <a:lnTo>
                    <a:pt x="515239" y="625729"/>
                  </a:lnTo>
                  <a:cubicBezTo>
                    <a:pt x="576199" y="625729"/>
                    <a:pt x="625729" y="576326"/>
                    <a:pt x="625729" y="515239"/>
                  </a:cubicBezTo>
                  <a:lnTo>
                    <a:pt x="625729" y="123190"/>
                  </a:lnTo>
                  <a:cubicBezTo>
                    <a:pt x="625729" y="62230"/>
                    <a:pt x="576326" y="12700"/>
                    <a:pt x="515239" y="12700"/>
                  </a:cubicBezTo>
                  <a:lnTo>
                    <a:pt x="123190" y="12700"/>
                  </a:lnTo>
                  <a:lnTo>
                    <a:pt x="123190" y="6350"/>
                  </a:lnTo>
                  <a:lnTo>
                    <a:pt x="123190" y="12700"/>
                  </a:lnTo>
                  <a:cubicBezTo>
                    <a:pt x="62103" y="12700"/>
                    <a:pt x="12700" y="62103"/>
                    <a:pt x="12700" y="123190"/>
                  </a:cubicBezTo>
                  <a:close/>
                </a:path>
              </a:pathLst>
            </a:custGeom>
            <a:solidFill>
              <a:srgbClr val="E58A35"/>
            </a:solidFill>
          </p:spPr>
        </p:sp>
      </p:grpSp>
      <p:grpSp>
        <p:nvGrpSpPr>
          <p:cNvPr id="22" name="Group 22"/>
          <p:cNvGrpSpPr/>
          <p:nvPr/>
        </p:nvGrpSpPr>
        <p:grpSpPr>
          <a:xfrm>
            <a:off x="3962549" y="6242224"/>
            <a:ext cx="140494" cy="344240"/>
            <a:chOff x="0" y="0"/>
            <a:chExt cx="187325" cy="458987"/>
          </a:xfrm>
        </p:grpSpPr>
        <p:sp>
          <p:nvSpPr>
            <p:cNvPr id="23" name="Freeform 23"/>
            <p:cNvSpPr/>
            <p:nvPr/>
          </p:nvSpPr>
          <p:spPr>
            <a:xfrm>
              <a:off x="0" y="0"/>
              <a:ext cx="187325" cy="458987"/>
            </a:xfrm>
            <a:custGeom>
              <a:avLst/>
              <a:gdLst/>
              <a:ahLst/>
              <a:cxnLst/>
              <a:rect l="l" t="t" r="r" b="b"/>
              <a:pathLst>
                <a:path w="187325" h="458987">
                  <a:moveTo>
                    <a:pt x="0" y="0"/>
                  </a:moveTo>
                  <a:lnTo>
                    <a:pt x="187325" y="0"/>
                  </a:lnTo>
                  <a:lnTo>
                    <a:pt x="187325" y="458987"/>
                  </a:lnTo>
                  <a:lnTo>
                    <a:pt x="0" y="458987"/>
                  </a:lnTo>
                  <a:close/>
                </a:path>
              </a:pathLst>
            </a:custGeom>
            <a:solidFill>
              <a:srgbClr val="000000">
                <a:alpha val="0"/>
              </a:srgbClr>
            </a:solidFill>
          </p:spPr>
        </p:sp>
        <p:sp>
          <p:nvSpPr>
            <p:cNvPr id="24" name="TextBox 24"/>
            <p:cNvSpPr txBox="1"/>
            <p:nvPr/>
          </p:nvSpPr>
          <p:spPr>
            <a:xfrm>
              <a:off x="0" y="47625"/>
              <a:ext cx="187325" cy="411362"/>
            </a:xfrm>
            <a:prstGeom prst="rect">
              <a:avLst/>
            </a:prstGeom>
          </p:spPr>
          <p:txBody>
            <a:bodyPr lIns="0" tIns="0" rIns="0" bIns="0" rtlCol="0" anchor="ctr"/>
            <a:lstStyle/>
            <a:p>
              <a:pPr algn="ctr">
                <a:lnSpc>
                  <a:spcPts val="2687"/>
                </a:lnSpc>
              </a:pPr>
              <a:r>
                <a:rPr lang="en-US" sz="2687" spc="-53">
                  <a:solidFill>
                    <a:srgbClr val="000000"/>
                  </a:solidFill>
                  <a:latin typeface="Petrona"/>
                  <a:ea typeface="Petrona"/>
                  <a:cs typeface="Petrona"/>
                  <a:sym typeface="Petrona"/>
                </a:rPr>
                <a:t>1</a:t>
              </a:r>
            </a:p>
          </p:txBody>
        </p:sp>
      </p:grpSp>
      <p:grpSp>
        <p:nvGrpSpPr>
          <p:cNvPr id="25" name="Group 25"/>
          <p:cNvGrpSpPr/>
          <p:nvPr/>
        </p:nvGrpSpPr>
        <p:grpSpPr>
          <a:xfrm>
            <a:off x="2312194" y="4474369"/>
            <a:ext cx="3441650" cy="514080"/>
            <a:chOff x="0" y="0"/>
            <a:chExt cx="4588867" cy="685440"/>
          </a:xfrm>
        </p:grpSpPr>
        <p:sp>
          <p:nvSpPr>
            <p:cNvPr id="26" name="Freeform 26"/>
            <p:cNvSpPr/>
            <p:nvPr/>
          </p:nvSpPr>
          <p:spPr>
            <a:xfrm>
              <a:off x="0" y="0"/>
              <a:ext cx="4588867" cy="685440"/>
            </a:xfrm>
            <a:custGeom>
              <a:avLst/>
              <a:gdLst/>
              <a:ahLst/>
              <a:cxnLst/>
              <a:rect l="l" t="t" r="r" b="b"/>
              <a:pathLst>
                <a:path w="4588867" h="685440">
                  <a:moveTo>
                    <a:pt x="0" y="0"/>
                  </a:moveTo>
                  <a:lnTo>
                    <a:pt x="4588867" y="0"/>
                  </a:lnTo>
                  <a:lnTo>
                    <a:pt x="4588867" y="685440"/>
                  </a:lnTo>
                  <a:lnTo>
                    <a:pt x="0" y="685440"/>
                  </a:lnTo>
                  <a:close/>
                </a:path>
              </a:pathLst>
            </a:custGeom>
            <a:solidFill>
              <a:srgbClr val="000000">
                <a:alpha val="0"/>
              </a:srgbClr>
            </a:solidFill>
          </p:spPr>
        </p:sp>
        <p:sp>
          <p:nvSpPr>
            <p:cNvPr id="27" name="TextBox 27"/>
            <p:cNvSpPr txBox="1"/>
            <p:nvPr/>
          </p:nvSpPr>
          <p:spPr>
            <a:xfrm>
              <a:off x="0" y="-19050"/>
              <a:ext cx="4588867" cy="704490"/>
            </a:xfrm>
            <a:prstGeom prst="rect">
              <a:avLst/>
            </a:prstGeom>
          </p:spPr>
          <p:txBody>
            <a:bodyPr lIns="0" tIns="0" rIns="0" bIns="0" rtlCol="0" anchor="t"/>
            <a:lstStyle/>
            <a:p>
              <a:pPr algn="ctr">
                <a:lnSpc>
                  <a:spcPts val="3877"/>
                </a:lnSpc>
              </a:pPr>
              <a:r>
                <a:rPr lang="en-US" sz="3087" spc="-61">
                  <a:solidFill>
                    <a:srgbClr val="272525"/>
                  </a:solidFill>
                  <a:latin typeface="Petrona"/>
                  <a:ea typeface="Petrona"/>
                  <a:cs typeface="Petrona"/>
                  <a:sym typeface="Petrona"/>
                </a:rPr>
                <a:t>Arithematic</a:t>
              </a:r>
              <a:r>
                <a:rPr lang="en-US" sz="3087" spc="-61" dirty="0">
                  <a:solidFill>
                    <a:srgbClr val="272525"/>
                  </a:solidFill>
                  <a:latin typeface="Petrona"/>
                  <a:ea typeface="Petrona"/>
                  <a:cs typeface="Petrona"/>
                  <a:sym typeface="Petrona"/>
                </a:rPr>
                <a:t> Operators</a:t>
              </a:r>
            </a:p>
          </p:txBody>
        </p:sp>
      </p:grpSp>
      <p:grpSp>
        <p:nvGrpSpPr>
          <p:cNvPr id="28" name="Group 28"/>
          <p:cNvGrpSpPr/>
          <p:nvPr/>
        </p:nvGrpSpPr>
        <p:grpSpPr>
          <a:xfrm>
            <a:off x="938510" y="5142011"/>
            <a:ext cx="6189017" cy="843833"/>
            <a:chOff x="0" y="0"/>
            <a:chExt cx="8252023" cy="1125111"/>
          </a:xfrm>
        </p:grpSpPr>
        <p:sp>
          <p:nvSpPr>
            <p:cNvPr id="29" name="Freeform 29"/>
            <p:cNvSpPr/>
            <p:nvPr/>
          </p:nvSpPr>
          <p:spPr>
            <a:xfrm>
              <a:off x="0" y="0"/>
              <a:ext cx="8252023" cy="1125111"/>
            </a:xfrm>
            <a:custGeom>
              <a:avLst/>
              <a:gdLst/>
              <a:ahLst/>
              <a:cxnLst/>
              <a:rect l="l" t="t" r="r" b="b"/>
              <a:pathLst>
                <a:path w="8252023" h="1125111">
                  <a:moveTo>
                    <a:pt x="0" y="0"/>
                  </a:moveTo>
                  <a:lnTo>
                    <a:pt x="8252023" y="0"/>
                  </a:lnTo>
                  <a:lnTo>
                    <a:pt x="8252023" y="1125111"/>
                  </a:lnTo>
                  <a:lnTo>
                    <a:pt x="0" y="1125111"/>
                  </a:lnTo>
                  <a:close/>
                </a:path>
              </a:pathLst>
            </a:custGeom>
            <a:solidFill>
              <a:srgbClr val="000000">
                <a:alpha val="0"/>
              </a:srgbClr>
            </a:solidFill>
          </p:spPr>
        </p:sp>
        <p:sp>
          <p:nvSpPr>
            <p:cNvPr id="30" name="TextBox 30"/>
            <p:cNvSpPr txBox="1"/>
            <p:nvPr/>
          </p:nvSpPr>
          <p:spPr>
            <a:xfrm>
              <a:off x="0" y="-85725"/>
              <a:ext cx="8252023" cy="1210836"/>
            </a:xfrm>
            <a:prstGeom prst="rect">
              <a:avLst/>
            </a:prstGeom>
          </p:spPr>
          <p:txBody>
            <a:bodyPr lIns="0" tIns="0" rIns="0" bIns="0" rtlCol="0" anchor="t"/>
            <a:lstStyle/>
            <a:p>
              <a:pPr algn="ctr">
                <a:lnSpc>
                  <a:spcPts val="3271"/>
                </a:lnSpc>
              </a:pPr>
              <a:r>
                <a:rPr lang="en-US" sz="2024" spc="-40">
                  <a:solidFill>
                    <a:srgbClr val="272525"/>
                  </a:solidFill>
                  <a:latin typeface="Inter"/>
                  <a:ea typeface="Inter"/>
                  <a:cs typeface="Inter"/>
                  <a:sym typeface="Inter"/>
                </a:rPr>
                <a:t>Useful for handling numerical tasks like  monitoring metrics.</a:t>
              </a:r>
            </a:p>
          </p:txBody>
        </p:sp>
      </p:grpSp>
      <p:grpSp>
        <p:nvGrpSpPr>
          <p:cNvPr id="31" name="Group 31"/>
          <p:cNvGrpSpPr/>
          <p:nvPr/>
        </p:nvGrpSpPr>
        <p:grpSpPr>
          <a:xfrm>
            <a:off x="7425779" y="6414269"/>
            <a:ext cx="28575" cy="730003"/>
            <a:chOff x="0" y="0"/>
            <a:chExt cx="38100" cy="973337"/>
          </a:xfrm>
        </p:grpSpPr>
        <p:sp>
          <p:nvSpPr>
            <p:cNvPr id="32" name="Freeform 32"/>
            <p:cNvSpPr/>
            <p:nvPr/>
          </p:nvSpPr>
          <p:spPr>
            <a:xfrm>
              <a:off x="0" y="0"/>
              <a:ext cx="38100" cy="973328"/>
            </a:xfrm>
            <a:custGeom>
              <a:avLst/>
              <a:gdLst/>
              <a:ahLst/>
              <a:cxnLst/>
              <a:rect l="l" t="t" r="r" b="b"/>
              <a:pathLst>
                <a:path w="38100" h="973328">
                  <a:moveTo>
                    <a:pt x="0" y="19050"/>
                  </a:moveTo>
                  <a:cubicBezTo>
                    <a:pt x="0" y="8509"/>
                    <a:pt x="8509" y="0"/>
                    <a:pt x="19050" y="0"/>
                  </a:cubicBezTo>
                  <a:cubicBezTo>
                    <a:pt x="29591" y="0"/>
                    <a:pt x="38100" y="8509"/>
                    <a:pt x="38100" y="19050"/>
                  </a:cubicBezTo>
                  <a:lnTo>
                    <a:pt x="38100" y="954278"/>
                  </a:lnTo>
                  <a:cubicBezTo>
                    <a:pt x="38100" y="964819"/>
                    <a:pt x="29591" y="973328"/>
                    <a:pt x="19050" y="973328"/>
                  </a:cubicBezTo>
                  <a:cubicBezTo>
                    <a:pt x="8509" y="973328"/>
                    <a:pt x="0" y="964819"/>
                    <a:pt x="0" y="954278"/>
                  </a:cubicBezTo>
                  <a:close/>
                </a:path>
              </a:pathLst>
            </a:custGeom>
            <a:solidFill>
              <a:srgbClr val="E58A35"/>
            </a:solidFill>
          </p:spPr>
        </p:sp>
      </p:grpSp>
      <p:grpSp>
        <p:nvGrpSpPr>
          <p:cNvPr id="33" name="Group 33"/>
          <p:cNvGrpSpPr/>
          <p:nvPr/>
        </p:nvGrpSpPr>
        <p:grpSpPr>
          <a:xfrm>
            <a:off x="7200751" y="6174954"/>
            <a:ext cx="478780" cy="478780"/>
            <a:chOff x="0" y="0"/>
            <a:chExt cx="638373" cy="638373"/>
          </a:xfrm>
        </p:grpSpPr>
        <p:sp>
          <p:nvSpPr>
            <p:cNvPr id="34" name="Freeform 34"/>
            <p:cNvSpPr/>
            <p:nvPr/>
          </p:nvSpPr>
          <p:spPr>
            <a:xfrm>
              <a:off x="6350" y="6350"/>
              <a:ext cx="625729" cy="625729"/>
            </a:xfrm>
            <a:custGeom>
              <a:avLst/>
              <a:gdLst/>
              <a:ahLst/>
              <a:cxnLst/>
              <a:rect l="l" t="t" r="r" b="b"/>
              <a:pathLst>
                <a:path w="625729" h="625729">
                  <a:moveTo>
                    <a:pt x="0" y="116840"/>
                  </a:moveTo>
                  <a:cubicBezTo>
                    <a:pt x="0" y="52324"/>
                    <a:pt x="52324" y="0"/>
                    <a:pt x="116840" y="0"/>
                  </a:cubicBezTo>
                  <a:lnTo>
                    <a:pt x="508889" y="0"/>
                  </a:lnTo>
                  <a:cubicBezTo>
                    <a:pt x="573405" y="0"/>
                    <a:pt x="625729" y="52324"/>
                    <a:pt x="625729" y="116840"/>
                  </a:cubicBezTo>
                  <a:lnTo>
                    <a:pt x="625729" y="508889"/>
                  </a:lnTo>
                  <a:cubicBezTo>
                    <a:pt x="625729" y="573405"/>
                    <a:pt x="573405" y="625729"/>
                    <a:pt x="508889" y="625729"/>
                  </a:cubicBezTo>
                  <a:lnTo>
                    <a:pt x="116840" y="625729"/>
                  </a:lnTo>
                  <a:cubicBezTo>
                    <a:pt x="52324" y="625729"/>
                    <a:pt x="0" y="573405"/>
                    <a:pt x="0" y="508889"/>
                  </a:cubicBezTo>
                  <a:close/>
                </a:path>
              </a:pathLst>
            </a:custGeom>
            <a:solidFill>
              <a:srgbClr val="FFA44F"/>
            </a:solidFill>
          </p:spPr>
        </p:sp>
        <p:sp>
          <p:nvSpPr>
            <p:cNvPr id="35" name="Freeform 35"/>
            <p:cNvSpPr/>
            <p:nvPr/>
          </p:nvSpPr>
          <p:spPr>
            <a:xfrm>
              <a:off x="0" y="0"/>
              <a:ext cx="638429" cy="638429"/>
            </a:xfrm>
            <a:custGeom>
              <a:avLst/>
              <a:gdLst/>
              <a:ahLst/>
              <a:cxnLst/>
              <a:rect l="l" t="t" r="r" b="b"/>
              <a:pathLst>
                <a:path w="638429" h="638429">
                  <a:moveTo>
                    <a:pt x="0" y="123190"/>
                  </a:moveTo>
                  <a:cubicBezTo>
                    <a:pt x="0" y="55118"/>
                    <a:pt x="55118" y="0"/>
                    <a:pt x="123190" y="0"/>
                  </a:cubicBezTo>
                  <a:lnTo>
                    <a:pt x="515239" y="0"/>
                  </a:lnTo>
                  <a:lnTo>
                    <a:pt x="515239" y="6350"/>
                  </a:lnTo>
                  <a:lnTo>
                    <a:pt x="515239" y="0"/>
                  </a:lnTo>
                  <a:lnTo>
                    <a:pt x="515239" y="6350"/>
                  </a:lnTo>
                  <a:lnTo>
                    <a:pt x="515239" y="0"/>
                  </a:lnTo>
                  <a:cubicBezTo>
                    <a:pt x="583311" y="0"/>
                    <a:pt x="638429" y="55118"/>
                    <a:pt x="638429" y="123190"/>
                  </a:cubicBezTo>
                  <a:lnTo>
                    <a:pt x="632079" y="123190"/>
                  </a:lnTo>
                  <a:lnTo>
                    <a:pt x="638429" y="123190"/>
                  </a:lnTo>
                  <a:lnTo>
                    <a:pt x="638429" y="515239"/>
                  </a:lnTo>
                  <a:lnTo>
                    <a:pt x="632079" y="515239"/>
                  </a:lnTo>
                  <a:lnTo>
                    <a:pt x="638429" y="515239"/>
                  </a:lnTo>
                  <a:cubicBezTo>
                    <a:pt x="638429" y="583311"/>
                    <a:pt x="583311" y="638429"/>
                    <a:pt x="515239" y="638429"/>
                  </a:cubicBezTo>
                  <a:lnTo>
                    <a:pt x="515239" y="632079"/>
                  </a:lnTo>
                  <a:lnTo>
                    <a:pt x="515239" y="638429"/>
                  </a:lnTo>
                  <a:lnTo>
                    <a:pt x="123190" y="638429"/>
                  </a:lnTo>
                  <a:lnTo>
                    <a:pt x="123190" y="632079"/>
                  </a:lnTo>
                  <a:lnTo>
                    <a:pt x="123190" y="638429"/>
                  </a:lnTo>
                  <a:cubicBezTo>
                    <a:pt x="55118" y="638429"/>
                    <a:pt x="0" y="583311"/>
                    <a:pt x="0" y="515239"/>
                  </a:cubicBezTo>
                  <a:lnTo>
                    <a:pt x="0" y="123190"/>
                  </a:lnTo>
                  <a:lnTo>
                    <a:pt x="6350" y="123190"/>
                  </a:lnTo>
                  <a:lnTo>
                    <a:pt x="0" y="123190"/>
                  </a:lnTo>
                  <a:moveTo>
                    <a:pt x="12700" y="123190"/>
                  </a:moveTo>
                  <a:lnTo>
                    <a:pt x="12700" y="515239"/>
                  </a:lnTo>
                  <a:lnTo>
                    <a:pt x="6350" y="515239"/>
                  </a:lnTo>
                  <a:lnTo>
                    <a:pt x="12700" y="515239"/>
                  </a:lnTo>
                  <a:cubicBezTo>
                    <a:pt x="12700" y="576199"/>
                    <a:pt x="62103" y="625729"/>
                    <a:pt x="123190" y="625729"/>
                  </a:cubicBezTo>
                  <a:lnTo>
                    <a:pt x="515239" y="625729"/>
                  </a:lnTo>
                  <a:cubicBezTo>
                    <a:pt x="576199" y="625729"/>
                    <a:pt x="625729" y="576326"/>
                    <a:pt x="625729" y="515239"/>
                  </a:cubicBezTo>
                  <a:lnTo>
                    <a:pt x="625729" y="123190"/>
                  </a:lnTo>
                  <a:cubicBezTo>
                    <a:pt x="625729" y="62230"/>
                    <a:pt x="576326" y="12700"/>
                    <a:pt x="515239" y="12700"/>
                  </a:cubicBezTo>
                  <a:lnTo>
                    <a:pt x="123190" y="12700"/>
                  </a:lnTo>
                  <a:lnTo>
                    <a:pt x="123190" y="6350"/>
                  </a:lnTo>
                  <a:lnTo>
                    <a:pt x="123190" y="12700"/>
                  </a:lnTo>
                  <a:cubicBezTo>
                    <a:pt x="62103" y="12700"/>
                    <a:pt x="12700" y="62103"/>
                    <a:pt x="12700" y="123190"/>
                  </a:cubicBezTo>
                  <a:close/>
                </a:path>
              </a:pathLst>
            </a:custGeom>
            <a:solidFill>
              <a:srgbClr val="E58A35"/>
            </a:solidFill>
          </p:spPr>
        </p:sp>
      </p:grpSp>
      <p:grpSp>
        <p:nvGrpSpPr>
          <p:cNvPr id="36" name="Group 36"/>
          <p:cNvGrpSpPr/>
          <p:nvPr/>
        </p:nvGrpSpPr>
        <p:grpSpPr>
          <a:xfrm>
            <a:off x="7346007" y="6242224"/>
            <a:ext cx="188268" cy="519138"/>
            <a:chOff x="0" y="0"/>
            <a:chExt cx="251023" cy="692184"/>
          </a:xfrm>
        </p:grpSpPr>
        <p:sp>
          <p:nvSpPr>
            <p:cNvPr id="37" name="Freeform 37"/>
            <p:cNvSpPr/>
            <p:nvPr/>
          </p:nvSpPr>
          <p:spPr>
            <a:xfrm>
              <a:off x="0" y="0"/>
              <a:ext cx="251023" cy="692184"/>
            </a:xfrm>
            <a:custGeom>
              <a:avLst/>
              <a:gdLst/>
              <a:ahLst/>
              <a:cxnLst/>
              <a:rect l="l" t="t" r="r" b="b"/>
              <a:pathLst>
                <a:path w="251023" h="692184">
                  <a:moveTo>
                    <a:pt x="0" y="0"/>
                  </a:moveTo>
                  <a:lnTo>
                    <a:pt x="251023" y="0"/>
                  </a:lnTo>
                  <a:lnTo>
                    <a:pt x="251023" y="692184"/>
                  </a:lnTo>
                  <a:lnTo>
                    <a:pt x="0" y="692184"/>
                  </a:lnTo>
                  <a:close/>
                </a:path>
              </a:pathLst>
            </a:custGeom>
            <a:solidFill>
              <a:srgbClr val="000000">
                <a:alpha val="0"/>
              </a:srgbClr>
            </a:solidFill>
          </p:spPr>
        </p:sp>
        <p:sp>
          <p:nvSpPr>
            <p:cNvPr id="38" name="TextBox 38"/>
            <p:cNvSpPr txBox="1"/>
            <p:nvPr/>
          </p:nvSpPr>
          <p:spPr>
            <a:xfrm>
              <a:off x="0" y="57150"/>
              <a:ext cx="251023" cy="635034"/>
            </a:xfrm>
            <a:prstGeom prst="rect">
              <a:avLst/>
            </a:prstGeom>
          </p:spPr>
          <p:txBody>
            <a:bodyPr lIns="0" tIns="0" rIns="0" bIns="0" rtlCol="0" anchor="ctr"/>
            <a:lstStyle/>
            <a:p>
              <a:pPr algn="ctr">
                <a:lnSpc>
                  <a:spcPts val="3087"/>
                </a:lnSpc>
              </a:pPr>
              <a:r>
                <a:rPr lang="en-US" sz="3087" spc="-61">
                  <a:solidFill>
                    <a:srgbClr val="000000"/>
                  </a:solidFill>
                  <a:latin typeface="Petrona"/>
                  <a:ea typeface="Petrona"/>
                  <a:cs typeface="Petrona"/>
                  <a:sym typeface="Petrona"/>
                </a:rPr>
                <a:t>2</a:t>
              </a:r>
            </a:p>
          </p:txBody>
        </p:sp>
      </p:grpSp>
      <p:grpSp>
        <p:nvGrpSpPr>
          <p:cNvPr id="39" name="Group 39"/>
          <p:cNvGrpSpPr/>
          <p:nvPr/>
        </p:nvGrpSpPr>
        <p:grpSpPr>
          <a:xfrm>
            <a:off x="5745148" y="7269161"/>
            <a:ext cx="3868766" cy="514080"/>
            <a:chOff x="0" y="0"/>
            <a:chExt cx="5158355" cy="685440"/>
          </a:xfrm>
        </p:grpSpPr>
        <p:sp>
          <p:nvSpPr>
            <p:cNvPr id="40" name="Freeform 40"/>
            <p:cNvSpPr/>
            <p:nvPr/>
          </p:nvSpPr>
          <p:spPr>
            <a:xfrm>
              <a:off x="0" y="0"/>
              <a:ext cx="5158355" cy="685440"/>
            </a:xfrm>
            <a:custGeom>
              <a:avLst/>
              <a:gdLst/>
              <a:ahLst/>
              <a:cxnLst/>
              <a:rect l="l" t="t" r="r" b="b"/>
              <a:pathLst>
                <a:path w="5158355" h="685440">
                  <a:moveTo>
                    <a:pt x="0" y="0"/>
                  </a:moveTo>
                  <a:lnTo>
                    <a:pt x="5158355" y="0"/>
                  </a:lnTo>
                  <a:lnTo>
                    <a:pt x="5158355" y="685440"/>
                  </a:lnTo>
                  <a:lnTo>
                    <a:pt x="0" y="685440"/>
                  </a:lnTo>
                  <a:close/>
                </a:path>
              </a:pathLst>
            </a:custGeom>
            <a:solidFill>
              <a:srgbClr val="000000">
                <a:alpha val="0"/>
              </a:srgbClr>
            </a:solidFill>
          </p:spPr>
        </p:sp>
        <p:sp>
          <p:nvSpPr>
            <p:cNvPr id="41" name="TextBox 41"/>
            <p:cNvSpPr txBox="1"/>
            <p:nvPr/>
          </p:nvSpPr>
          <p:spPr>
            <a:xfrm>
              <a:off x="0" y="-19050"/>
              <a:ext cx="5158355" cy="704490"/>
            </a:xfrm>
            <a:prstGeom prst="rect">
              <a:avLst/>
            </a:prstGeom>
          </p:spPr>
          <p:txBody>
            <a:bodyPr lIns="0" tIns="0" rIns="0" bIns="0" rtlCol="0" anchor="t"/>
            <a:lstStyle/>
            <a:p>
              <a:pPr algn="ctr">
                <a:lnSpc>
                  <a:spcPts val="3877"/>
                </a:lnSpc>
              </a:pPr>
              <a:r>
                <a:rPr lang="en-US" sz="3087" spc="-61">
                  <a:solidFill>
                    <a:srgbClr val="272525"/>
                  </a:solidFill>
                  <a:latin typeface="Petrona"/>
                  <a:ea typeface="Petrona"/>
                  <a:cs typeface="Petrona"/>
                  <a:sym typeface="Petrona"/>
                </a:rPr>
                <a:t>Comparison Operators</a:t>
              </a:r>
            </a:p>
          </p:txBody>
        </p:sp>
      </p:grpSp>
      <p:grpSp>
        <p:nvGrpSpPr>
          <p:cNvPr id="42" name="Group 42"/>
          <p:cNvGrpSpPr/>
          <p:nvPr/>
        </p:nvGrpSpPr>
        <p:grpSpPr>
          <a:xfrm>
            <a:off x="4345781" y="7908131"/>
            <a:ext cx="6189017" cy="1253408"/>
            <a:chOff x="0" y="0"/>
            <a:chExt cx="8252023" cy="1671211"/>
          </a:xfrm>
        </p:grpSpPr>
        <p:sp>
          <p:nvSpPr>
            <p:cNvPr id="43" name="Freeform 43"/>
            <p:cNvSpPr/>
            <p:nvPr/>
          </p:nvSpPr>
          <p:spPr>
            <a:xfrm>
              <a:off x="0" y="0"/>
              <a:ext cx="8252023" cy="1671211"/>
            </a:xfrm>
            <a:custGeom>
              <a:avLst/>
              <a:gdLst/>
              <a:ahLst/>
              <a:cxnLst/>
              <a:rect l="l" t="t" r="r" b="b"/>
              <a:pathLst>
                <a:path w="8252023" h="1671211">
                  <a:moveTo>
                    <a:pt x="0" y="0"/>
                  </a:moveTo>
                  <a:lnTo>
                    <a:pt x="8252023" y="0"/>
                  </a:lnTo>
                  <a:lnTo>
                    <a:pt x="8252023" y="1671211"/>
                  </a:lnTo>
                  <a:lnTo>
                    <a:pt x="0" y="1671211"/>
                  </a:lnTo>
                  <a:close/>
                </a:path>
              </a:pathLst>
            </a:custGeom>
            <a:solidFill>
              <a:srgbClr val="000000">
                <a:alpha val="0"/>
              </a:srgbClr>
            </a:solidFill>
          </p:spPr>
        </p:sp>
        <p:sp>
          <p:nvSpPr>
            <p:cNvPr id="44" name="TextBox 44"/>
            <p:cNvSpPr txBox="1"/>
            <p:nvPr/>
          </p:nvSpPr>
          <p:spPr>
            <a:xfrm>
              <a:off x="0" y="-85725"/>
              <a:ext cx="8252023" cy="1756936"/>
            </a:xfrm>
            <a:prstGeom prst="rect">
              <a:avLst/>
            </a:prstGeom>
          </p:spPr>
          <p:txBody>
            <a:bodyPr lIns="0" tIns="0" rIns="0" bIns="0" rtlCol="0" anchor="t"/>
            <a:lstStyle/>
            <a:p>
              <a:pPr algn="ctr">
                <a:lnSpc>
                  <a:spcPts val="3271"/>
                </a:lnSpc>
              </a:pPr>
              <a:r>
                <a:rPr lang="en-US" sz="2024" spc="-40">
                  <a:solidFill>
                    <a:srgbClr val="272525"/>
                  </a:solidFill>
                  <a:latin typeface="Inter"/>
                  <a:ea typeface="Inter"/>
                  <a:cs typeface="Inter"/>
                  <a:sym typeface="Inter"/>
                </a:rPr>
                <a:t>Used to check conditions such as whether a server is up or whether a system is within acceptable performance limits.</a:t>
              </a:r>
            </a:p>
          </p:txBody>
        </p:sp>
      </p:grpSp>
      <p:grpSp>
        <p:nvGrpSpPr>
          <p:cNvPr id="45" name="Group 45"/>
          <p:cNvGrpSpPr/>
          <p:nvPr/>
        </p:nvGrpSpPr>
        <p:grpSpPr>
          <a:xfrm>
            <a:off x="10833050" y="5684416"/>
            <a:ext cx="28575" cy="730003"/>
            <a:chOff x="0" y="0"/>
            <a:chExt cx="38100" cy="973337"/>
          </a:xfrm>
        </p:grpSpPr>
        <p:sp>
          <p:nvSpPr>
            <p:cNvPr id="46" name="Freeform 46"/>
            <p:cNvSpPr/>
            <p:nvPr/>
          </p:nvSpPr>
          <p:spPr>
            <a:xfrm>
              <a:off x="0" y="0"/>
              <a:ext cx="38100" cy="973328"/>
            </a:xfrm>
            <a:custGeom>
              <a:avLst/>
              <a:gdLst/>
              <a:ahLst/>
              <a:cxnLst/>
              <a:rect l="l" t="t" r="r" b="b"/>
              <a:pathLst>
                <a:path w="38100" h="973328">
                  <a:moveTo>
                    <a:pt x="0" y="19050"/>
                  </a:moveTo>
                  <a:cubicBezTo>
                    <a:pt x="0" y="8509"/>
                    <a:pt x="8509" y="0"/>
                    <a:pt x="19050" y="0"/>
                  </a:cubicBezTo>
                  <a:cubicBezTo>
                    <a:pt x="29591" y="0"/>
                    <a:pt x="38100" y="8509"/>
                    <a:pt x="38100" y="19050"/>
                  </a:cubicBezTo>
                  <a:lnTo>
                    <a:pt x="38100" y="954278"/>
                  </a:lnTo>
                  <a:cubicBezTo>
                    <a:pt x="38100" y="964819"/>
                    <a:pt x="29591" y="973328"/>
                    <a:pt x="19050" y="973328"/>
                  </a:cubicBezTo>
                  <a:cubicBezTo>
                    <a:pt x="8509" y="973328"/>
                    <a:pt x="0" y="964819"/>
                    <a:pt x="0" y="954278"/>
                  </a:cubicBezTo>
                  <a:close/>
                </a:path>
              </a:pathLst>
            </a:custGeom>
            <a:solidFill>
              <a:srgbClr val="E58A35"/>
            </a:solidFill>
          </p:spPr>
        </p:sp>
      </p:grpSp>
      <p:grpSp>
        <p:nvGrpSpPr>
          <p:cNvPr id="47" name="Group 47"/>
          <p:cNvGrpSpPr/>
          <p:nvPr/>
        </p:nvGrpSpPr>
        <p:grpSpPr>
          <a:xfrm>
            <a:off x="10608022" y="6174954"/>
            <a:ext cx="478780" cy="478780"/>
            <a:chOff x="0" y="0"/>
            <a:chExt cx="638373" cy="638373"/>
          </a:xfrm>
        </p:grpSpPr>
        <p:sp>
          <p:nvSpPr>
            <p:cNvPr id="48" name="Freeform 48"/>
            <p:cNvSpPr/>
            <p:nvPr/>
          </p:nvSpPr>
          <p:spPr>
            <a:xfrm>
              <a:off x="6350" y="6350"/>
              <a:ext cx="625729" cy="625729"/>
            </a:xfrm>
            <a:custGeom>
              <a:avLst/>
              <a:gdLst/>
              <a:ahLst/>
              <a:cxnLst/>
              <a:rect l="l" t="t" r="r" b="b"/>
              <a:pathLst>
                <a:path w="625729" h="625729">
                  <a:moveTo>
                    <a:pt x="0" y="116840"/>
                  </a:moveTo>
                  <a:cubicBezTo>
                    <a:pt x="0" y="52324"/>
                    <a:pt x="52324" y="0"/>
                    <a:pt x="116840" y="0"/>
                  </a:cubicBezTo>
                  <a:lnTo>
                    <a:pt x="508889" y="0"/>
                  </a:lnTo>
                  <a:cubicBezTo>
                    <a:pt x="573405" y="0"/>
                    <a:pt x="625729" y="52324"/>
                    <a:pt x="625729" y="116840"/>
                  </a:cubicBezTo>
                  <a:lnTo>
                    <a:pt x="625729" y="508889"/>
                  </a:lnTo>
                  <a:cubicBezTo>
                    <a:pt x="625729" y="573405"/>
                    <a:pt x="573405" y="625729"/>
                    <a:pt x="508889" y="625729"/>
                  </a:cubicBezTo>
                  <a:lnTo>
                    <a:pt x="116840" y="625729"/>
                  </a:lnTo>
                  <a:cubicBezTo>
                    <a:pt x="52324" y="625729"/>
                    <a:pt x="0" y="573405"/>
                    <a:pt x="0" y="508889"/>
                  </a:cubicBezTo>
                  <a:close/>
                </a:path>
              </a:pathLst>
            </a:custGeom>
            <a:solidFill>
              <a:srgbClr val="FFA44F"/>
            </a:solidFill>
          </p:spPr>
        </p:sp>
        <p:sp>
          <p:nvSpPr>
            <p:cNvPr id="49" name="Freeform 49"/>
            <p:cNvSpPr/>
            <p:nvPr/>
          </p:nvSpPr>
          <p:spPr>
            <a:xfrm>
              <a:off x="0" y="0"/>
              <a:ext cx="638429" cy="638429"/>
            </a:xfrm>
            <a:custGeom>
              <a:avLst/>
              <a:gdLst/>
              <a:ahLst/>
              <a:cxnLst/>
              <a:rect l="l" t="t" r="r" b="b"/>
              <a:pathLst>
                <a:path w="638429" h="638429">
                  <a:moveTo>
                    <a:pt x="0" y="123190"/>
                  </a:moveTo>
                  <a:cubicBezTo>
                    <a:pt x="0" y="55118"/>
                    <a:pt x="55118" y="0"/>
                    <a:pt x="123190" y="0"/>
                  </a:cubicBezTo>
                  <a:lnTo>
                    <a:pt x="515239" y="0"/>
                  </a:lnTo>
                  <a:lnTo>
                    <a:pt x="515239" y="6350"/>
                  </a:lnTo>
                  <a:lnTo>
                    <a:pt x="515239" y="0"/>
                  </a:lnTo>
                  <a:lnTo>
                    <a:pt x="515239" y="6350"/>
                  </a:lnTo>
                  <a:lnTo>
                    <a:pt x="515239" y="0"/>
                  </a:lnTo>
                  <a:cubicBezTo>
                    <a:pt x="583311" y="0"/>
                    <a:pt x="638429" y="55118"/>
                    <a:pt x="638429" y="123190"/>
                  </a:cubicBezTo>
                  <a:lnTo>
                    <a:pt x="632079" y="123190"/>
                  </a:lnTo>
                  <a:lnTo>
                    <a:pt x="638429" y="123190"/>
                  </a:lnTo>
                  <a:lnTo>
                    <a:pt x="638429" y="515239"/>
                  </a:lnTo>
                  <a:lnTo>
                    <a:pt x="632079" y="515239"/>
                  </a:lnTo>
                  <a:lnTo>
                    <a:pt x="638429" y="515239"/>
                  </a:lnTo>
                  <a:cubicBezTo>
                    <a:pt x="638429" y="583311"/>
                    <a:pt x="583311" y="638429"/>
                    <a:pt x="515239" y="638429"/>
                  </a:cubicBezTo>
                  <a:lnTo>
                    <a:pt x="515239" y="632079"/>
                  </a:lnTo>
                  <a:lnTo>
                    <a:pt x="515239" y="638429"/>
                  </a:lnTo>
                  <a:lnTo>
                    <a:pt x="123190" y="638429"/>
                  </a:lnTo>
                  <a:lnTo>
                    <a:pt x="123190" y="632079"/>
                  </a:lnTo>
                  <a:lnTo>
                    <a:pt x="123190" y="638429"/>
                  </a:lnTo>
                  <a:cubicBezTo>
                    <a:pt x="55118" y="638429"/>
                    <a:pt x="0" y="583311"/>
                    <a:pt x="0" y="515239"/>
                  </a:cubicBezTo>
                  <a:lnTo>
                    <a:pt x="0" y="123190"/>
                  </a:lnTo>
                  <a:lnTo>
                    <a:pt x="6350" y="123190"/>
                  </a:lnTo>
                  <a:lnTo>
                    <a:pt x="0" y="123190"/>
                  </a:lnTo>
                  <a:moveTo>
                    <a:pt x="12700" y="123190"/>
                  </a:moveTo>
                  <a:lnTo>
                    <a:pt x="12700" y="515239"/>
                  </a:lnTo>
                  <a:lnTo>
                    <a:pt x="6350" y="515239"/>
                  </a:lnTo>
                  <a:lnTo>
                    <a:pt x="12700" y="515239"/>
                  </a:lnTo>
                  <a:cubicBezTo>
                    <a:pt x="12700" y="576199"/>
                    <a:pt x="62103" y="625729"/>
                    <a:pt x="123190" y="625729"/>
                  </a:cubicBezTo>
                  <a:lnTo>
                    <a:pt x="515239" y="625729"/>
                  </a:lnTo>
                  <a:cubicBezTo>
                    <a:pt x="576199" y="625729"/>
                    <a:pt x="625729" y="576326"/>
                    <a:pt x="625729" y="515239"/>
                  </a:cubicBezTo>
                  <a:lnTo>
                    <a:pt x="625729" y="123190"/>
                  </a:lnTo>
                  <a:cubicBezTo>
                    <a:pt x="625729" y="62230"/>
                    <a:pt x="576326" y="12700"/>
                    <a:pt x="515239" y="12700"/>
                  </a:cubicBezTo>
                  <a:lnTo>
                    <a:pt x="123190" y="12700"/>
                  </a:lnTo>
                  <a:lnTo>
                    <a:pt x="123190" y="6350"/>
                  </a:lnTo>
                  <a:lnTo>
                    <a:pt x="123190" y="12700"/>
                  </a:lnTo>
                  <a:cubicBezTo>
                    <a:pt x="62103" y="12700"/>
                    <a:pt x="12700" y="62103"/>
                    <a:pt x="12700" y="123190"/>
                  </a:cubicBezTo>
                  <a:close/>
                </a:path>
              </a:pathLst>
            </a:custGeom>
            <a:solidFill>
              <a:srgbClr val="E58A35"/>
            </a:solidFill>
          </p:spPr>
        </p:sp>
      </p:grpSp>
      <p:grpSp>
        <p:nvGrpSpPr>
          <p:cNvPr id="50" name="Group 50"/>
          <p:cNvGrpSpPr/>
          <p:nvPr/>
        </p:nvGrpSpPr>
        <p:grpSpPr>
          <a:xfrm>
            <a:off x="10753428" y="6242224"/>
            <a:ext cx="187970" cy="519138"/>
            <a:chOff x="0" y="0"/>
            <a:chExt cx="250627" cy="692184"/>
          </a:xfrm>
        </p:grpSpPr>
        <p:sp>
          <p:nvSpPr>
            <p:cNvPr id="51" name="Freeform 51"/>
            <p:cNvSpPr/>
            <p:nvPr/>
          </p:nvSpPr>
          <p:spPr>
            <a:xfrm>
              <a:off x="0" y="0"/>
              <a:ext cx="250627" cy="692184"/>
            </a:xfrm>
            <a:custGeom>
              <a:avLst/>
              <a:gdLst/>
              <a:ahLst/>
              <a:cxnLst/>
              <a:rect l="l" t="t" r="r" b="b"/>
              <a:pathLst>
                <a:path w="250627" h="692184">
                  <a:moveTo>
                    <a:pt x="0" y="0"/>
                  </a:moveTo>
                  <a:lnTo>
                    <a:pt x="250627" y="0"/>
                  </a:lnTo>
                  <a:lnTo>
                    <a:pt x="250627" y="692184"/>
                  </a:lnTo>
                  <a:lnTo>
                    <a:pt x="0" y="692184"/>
                  </a:lnTo>
                  <a:close/>
                </a:path>
              </a:pathLst>
            </a:custGeom>
            <a:solidFill>
              <a:srgbClr val="000000">
                <a:alpha val="0"/>
              </a:srgbClr>
            </a:solidFill>
          </p:spPr>
        </p:sp>
        <p:sp>
          <p:nvSpPr>
            <p:cNvPr id="52" name="TextBox 52"/>
            <p:cNvSpPr txBox="1"/>
            <p:nvPr/>
          </p:nvSpPr>
          <p:spPr>
            <a:xfrm>
              <a:off x="0" y="57150"/>
              <a:ext cx="250627" cy="635034"/>
            </a:xfrm>
            <a:prstGeom prst="rect">
              <a:avLst/>
            </a:prstGeom>
          </p:spPr>
          <p:txBody>
            <a:bodyPr lIns="0" tIns="0" rIns="0" bIns="0" rtlCol="0" anchor="ctr"/>
            <a:lstStyle/>
            <a:p>
              <a:pPr algn="ctr">
                <a:lnSpc>
                  <a:spcPts val="3087"/>
                </a:lnSpc>
              </a:pPr>
              <a:r>
                <a:rPr lang="en-US" sz="3087" spc="-61">
                  <a:solidFill>
                    <a:srgbClr val="000000"/>
                  </a:solidFill>
                  <a:latin typeface="Petrona"/>
                  <a:ea typeface="Petrona"/>
                  <a:cs typeface="Petrona"/>
                  <a:sym typeface="Petrona"/>
                </a:rPr>
                <a:t>3</a:t>
              </a:r>
            </a:p>
          </p:txBody>
        </p:sp>
      </p:grpSp>
      <p:grpSp>
        <p:nvGrpSpPr>
          <p:cNvPr id="53" name="Group 53"/>
          <p:cNvGrpSpPr/>
          <p:nvPr/>
        </p:nvGrpSpPr>
        <p:grpSpPr>
          <a:xfrm>
            <a:off x="9126736" y="3901765"/>
            <a:ext cx="3441650" cy="514080"/>
            <a:chOff x="0" y="0"/>
            <a:chExt cx="4588867" cy="685440"/>
          </a:xfrm>
        </p:grpSpPr>
        <p:sp>
          <p:nvSpPr>
            <p:cNvPr id="54" name="Freeform 54"/>
            <p:cNvSpPr/>
            <p:nvPr/>
          </p:nvSpPr>
          <p:spPr>
            <a:xfrm>
              <a:off x="0" y="0"/>
              <a:ext cx="4588867" cy="685440"/>
            </a:xfrm>
            <a:custGeom>
              <a:avLst/>
              <a:gdLst/>
              <a:ahLst/>
              <a:cxnLst/>
              <a:rect l="l" t="t" r="r" b="b"/>
              <a:pathLst>
                <a:path w="4588867" h="685440">
                  <a:moveTo>
                    <a:pt x="0" y="0"/>
                  </a:moveTo>
                  <a:lnTo>
                    <a:pt x="4588867" y="0"/>
                  </a:lnTo>
                  <a:lnTo>
                    <a:pt x="4588867" y="685440"/>
                  </a:lnTo>
                  <a:lnTo>
                    <a:pt x="0" y="685440"/>
                  </a:lnTo>
                  <a:close/>
                </a:path>
              </a:pathLst>
            </a:custGeom>
            <a:solidFill>
              <a:srgbClr val="000000">
                <a:alpha val="0"/>
              </a:srgbClr>
            </a:solidFill>
          </p:spPr>
        </p:sp>
        <p:sp>
          <p:nvSpPr>
            <p:cNvPr id="55" name="TextBox 55"/>
            <p:cNvSpPr txBox="1"/>
            <p:nvPr/>
          </p:nvSpPr>
          <p:spPr>
            <a:xfrm>
              <a:off x="0" y="-19050"/>
              <a:ext cx="4588867" cy="704490"/>
            </a:xfrm>
            <a:prstGeom prst="rect">
              <a:avLst/>
            </a:prstGeom>
          </p:spPr>
          <p:txBody>
            <a:bodyPr lIns="0" tIns="0" rIns="0" bIns="0" rtlCol="0" anchor="t"/>
            <a:lstStyle/>
            <a:p>
              <a:pPr algn="ctr">
                <a:lnSpc>
                  <a:spcPts val="3877"/>
                </a:lnSpc>
              </a:pPr>
              <a:r>
                <a:rPr lang="en-US" sz="3087" spc="-61">
                  <a:solidFill>
                    <a:srgbClr val="272525"/>
                  </a:solidFill>
                  <a:latin typeface="Petrona"/>
                  <a:ea typeface="Petrona"/>
                  <a:cs typeface="Petrona"/>
                  <a:sym typeface="Petrona"/>
                </a:rPr>
                <a:t>Logical Operators</a:t>
              </a:r>
            </a:p>
          </p:txBody>
        </p:sp>
      </p:grpSp>
      <p:grpSp>
        <p:nvGrpSpPr>
          <p:cNvPr id="56" name="Group 56"/>
          <p:cNvGrpSpPr/>
          <p:nvPr/>
        </p:nvGrpSpPr>
        <p:grpSpPr>
          <a:xfrm>
            <a:off x="7753052" y="4474369"/>
            <a:ext cx="6189018" cy="1253408"/>
            <a:chOff x="0" y="0"/>
            <a:chExt cx="8252023" cy="1671211"/>
          </a:xfrm>
        </p:grpSpPr>
        <p:sp>
          <p:nvSpPr>
            <p:cNvPr id="57" name="Freeform 57"/>
            <p:cNvSpPr/>
            <p:nvPr/>
          </p:nvSpPr>
          <p:spPr>
            <a:xfrm>
              <a:off x="0" y="0"/>
              <a:ext cx="8252023" cy="1671211"/>
            </a:xfrm>
            <a:custGeom>
              <a:avLst/>
              <a:gdLst/>
              <a:ahLst/>
              <a:cxnLst/>
              <a:rect l="l" t="t" r="r" b="b"/>
              <a:pathLst>
                <a:path w="8252023" h="1671211">
                  <a:moveTo>
                    <a:pt x="0" y="0"/>
                  </a:moveTo>
                  <a:lnTo>
                    <a:pt x="8252023" y="0"/>
                  </a:lnTo>
                  <a:lnTo>
                    <a:pt x="8252023" y="1671211"/>
                  </a:lnTo>
                  <a:lnTo>
                    <a:pt x="0" y="1671211"/>
                  </a:lnTo>
                  <a:close/>
                </a:path>
              </a:pathLst>
            </a:custGeom>
            <a:solidFill>
              <a:srgbClr val="000000">
                <a:alpha val="0"/>
              </a:srgbClr>
            </a:solidFill>
          </p:spPr>
        </p:sp>
        <p:sp>
          <p:nvSpPr>
            <p:cNvPr id="58" name="TextBox 58"/>
            <p:cNvSpPr txBox="1"/>
            <p:nvPr/>
          </p:nvSpPr>
          <p:spPr>
            <a:xfrm>
              <a:off x="0" y="-85725"/>
              <a:ext cx="8252023" cy="1756936"/>
            </a:xfrm>
            <a:prstGeom prst="rect">
              <a:avLst/>
            </a:prstGeom>
          </p:spPr>
          <p:txBody>
            <a:bodyPr lIns="0" tIns="0" rIns="0" bIns="0" rtlCol="0" anchor="t"/>
            <a:lstStyle/>
            <a:p>
              <a:pPr algn="ctr">
                <a:lnSpc>
                  <a:spcPts val="3271"/>
                </a:lnSpc>
              </a:pPr>
              <a:r>
                <a:rPr lang="en-US" sz="2024" spc="-40">
                  <a:solidFill>
                    <a:srgbClr val="272525"/>
                  </a:solidFill>
                  <a:latin typeface="Inter"/>
                  <a:ea typeface="Inter"/>
                  <a:cs typeface="Inter"/>
                  <a:sym typeface="Inter"/>
                </a:rPr>
                <a:t>Often used in conditional statements, like checking if multiple conditions are met before proceeding with tasks (e.g., a deployment).</a:t>
              </a:r>
            </a:p>
          </p:txBody>
        </p:sp>
      </p:grpSp>
      <p:grpSp>
        <p:nvGrpSpPr>
          <p:cNvPr id="59" name="Group 59"/>
          <p:cNvGrpSpPr/>
          <p:nvPr/>
        </p:nvGrpSpPr>
        <p:grpSpPr>
          <a:xfrm>
            <a:off x="14240321" y="6414269"/>
            <a:ext cx="28575" cy="730003"/>
            <a:chOff x="0" y="0"/>
            <a:chExt cx="38100" cy="973337"/>
          </a:xfrm>
        </p:grpSpPr>
        <p:sp>
          <p:nvSpPr>
            <p:cNvPr id="60" name="Freeform 60"/>
            <p:cNvSpPr/>
            <p:nvPr/>
          </p:nvSpPr>
          <p:spPr>
            <a:xfrm>
              <a:off x="0" y="0"/>
              <a:ext cx="38100" cy="973328"/>
            </a:xfrm>
            <a:custGeom>
              <a:avLst/>
              <a:gdLst/>
              <a:ahLst/>
              <a:cxnLst/>
              <a:rect l="l" t="t" r="r" b="b"/>
              <a:pathLst>
                <a:path w="38100" h="973328">
                  <a:moveTo>
                    <a:pt x="0" y="19050"/>
                  </a:moveTo>
                  <a:cubicBezTo>
                    <a:pt x="0" y="8509"/>
                    <a:pt x="8509" y="0"/>
                    <a:pt x="19050" y="0"/>
                  </a:cubicBezTo>
                  <a:cubicBezTo>
                    <a:pt x="29591" y="0"/>
                    <a:pt x="38100" y="8509"/>
                    <a:pt x="38100" y="19050"/>
                  </a:cubicBezTo>
                  <a:lnTo>
                    <a:pt x="38100" y="954278"/>
                  </a:lnTo>
                  <a:cubicBezTo>
                    <a:pt x="38100" y="964819"/>
                    <a:pt x="29591" y="973328"/>
                    <a:pt x="19050" y="973328"/>
                  </a:cubicBezTo>
                  <a:cubicBezTo>
                    <a:pt x="8509" y="973328"/>
                    <a:pt x="0" y="964819"/>
                    <a:pt x="0" y="954278"/>
                  </a:cubicBezTo>
                  <a:close/>
                </a:path>
              </a:pathLst>
            </a:custGeom>
            <a:solidFill>
              <a:srgbClr val="E58A35"/>
            </a:solidFill>
          </p:spPr>
        </p:sp>
      </p:grpSp>
      <p:grpSp>
        <p:nvGrpSpPr>
          <p:cNvPr id="61" name="Group 61"/>
          <p:cNvGrpSpPr/>
          <p:nvPr/>
        </p:nvGrpSpPr>
        <p:grpSpPr>
          <a:xfrm>
            <a:off x="14015294" y="6174954"/>
            <a:ext cx="478780" cy="478780"/>
            <a:chOff x="0" y="0"/>
            <a:chExt cx="638373" cy="638373"/>
          </a:xfrm>
        </p:grpSpPr>
        <p:sp>
          <p:nvSpPr>
            <p:cNvPr id="62" name="Freeform 62"/>
            <p:cNvSpPr/>
            <p:nvPr/>
          </p:nvSpPr>
          <p:spPr>
            <a:xfrm>
              <a:off x="6350" y="6350"/>
              <a:ext cx="625729" cy="625729"/>
            </a:xfrm>
            <a:custGeom>
              <a:avLst/>
              <a:gdLst/>
              <a:ahLst/>
              <a:cxnLst/>
              <a:rect l="l" t="t" r="r" b="b"/>
              <a:pathLst>
                <a:path w="625729" h="625729">
                  <a:moveTo>
                    <a:pt x="0" y="116840"/>
                  </a:moveTo>
                  <a:cubicBezTo>
                    <a:pt x="0" y="52324"/>
                    <a:pt x="52324" y="0"/>
                    <a:pt x="116840" y="0"/>
                  </a:cubicBezTo>
                  <a:lnTo>
                    <a:pt x="508889" y="0"/>
                  </a:lnTo>
                  <a:cubicBezTo>
                    <a:pt x="573405" y="0"/>
                    <a:pt x="625729" y="52324"/>
                    <a:pt x="625729" y="116840"/>
                  </a:cubicBezTo>
                  <a:lnTo>
                    <a:pt x="625729" y="508889"/>
                  </a:lnTo>
                  <a:cubicBezTo>
                    <a:pt x="625729" y="573405"/>
                    <a:pt x="573405" y="625729"/>
                    <a:pt x="508889" y="625729"/>
                  </a:cubicBezTo>
                  <a:lnTo>
                    <a:pt x="116840" y="625729"/>
                  </a:lnTo>
                  <a:cubicBezTo>
                    <a:pt x="52324" y="625729"/>
                    <a:pt x="0" y="573405"/>
                    <a:pt x="0" y="508889"/>
                  </a:cubicBezTo>
                  <a:close/>
                </a:path>
              </a:pathLst>
            </a:custGeom>
            <a:solidFill>
              <a:srgbClr val="FFA44F"/>
            </a:solidFill>
          </p:spPr>
        </p:sp>
        <p:sp>
          <p:nvSpPr>
            <p:cNvPr id="63" name="Freeform 63"/>
            <p:cNvSpPr/>
            <p:nvPr/>
          </p:nvSpPr>
          <p:spPr>
            <a:xfrm>
              <a:off x="0" y="0"/>
              <a:ext cx="638429" cy="638429"/>
            </a:xfrm>
            <a:custGeom>
              <a:avLst/>
              <a:gdLst/>
              <a:ahLst/>
              <a:cxnLst/>
              <a:rect l="l" t="t" r="r" b="b"/>
              <a:pathLst>
                <a:path w="638429" h="638429">
                  <a:moveTo>
                    <a:pt x="0" y="123190"/>
                  </a:moveTo>
                  <a:cubicBezTo>
                    <a:pt x="0" y="55118"/>
                    <a:pt x="55118" y="0"/>
                    <a:pt x="123190" y="0"/>
                  </a:cubicBezTo>
                  <a:lnTo>
                    <a:pt x="515239" y="0"/>
                  </a:lnTo>
                  <a:lnTo>
                    <a:pt x="515239" y="6350"/>
                  </a:lnTo>
                  <a:lnTo>
                    <a:pt x="515239" y="0"/>
                  </a:lnTo>
                  <a:lnTo>
                    <a:pt x="515239" y="6350"/>
                  </a:lnTo>
                  <a:lnTo>
                    <a:pt x="515239" y="0"/>
                  </a:lnTo>
                  <a:cubicBezTo>
                    <a:pt x="583311" y="0"/>
                    <a:pt x="638429" y="55118"/>
                    <a:pt x="638429" y="123190"/>
                  </a:cubicBezTo>
                  <a:lnTo>
                    <a:pt x="632079" y="123190"/>
                  </a:lnTo>
                  <a:lnTo>
                    <a:pt x="638429" y="123190"/>
                  </a:lnTo>
                  <a:lnTo>
                    <a:pt x="638429" y="515239"/>
                  </a:lnTo>
                  <a:lnTo>
                    <a:pt x="632079" y="515239"/>
                  </a:lnTo>
                  <a:lnTo>
                    <a:pt x="638429" y="515239"/>
                  </a:lnTo>
                  <a:cubicBezTo>
                    <a:pt x="638429" y="583311"/>
                    <a:pt x="583311" y="638429"/>
                    <a:pt x="515239" y="638429"/>
                  </a:cubicBezTo>
                  <a:lnTo>
                    <a:pt x="515239" y="632079"/>
                  </a:lnTo>
                  <a:lnTo>
                    <a:pt x="515239" y="638429"/>
                  </a:lnTo>
                  <a:lnTo>
                    <a:pt x="123190" y="638429"/>
                  </a:lnTo>
                  <a:lnTo>
                    <a:pt x="123190" y="632079"/>
                  </a:lnTo>
                  <a:lnTo>
                    <a:pt x="123190" y="638429"/>
                  </a:lnTo>
                  <a:cubicBezTo>
                    <a:pt x="55118" y="638429"/>
                    <a:pt x="0" y="583311"/>
                    <a:pt x="0" y="515239"/>
                  </a:cubicBezTo>
                  <a:lnTo>
                    <a:pt x="0" y="123190"/>
                  </a:lnTo>
                  <a:lnTo>
                    <a:pt x="6350" y="123190"/>
                  </a:lnTo>
                  <a:lnTo>
                    <a:pt x="0" y="123190"/>
                  </a:lnTo>
                  <a:moveTo>
                    <a:pt x="12700" y="123190"/>
                  </a:moveTo>
                  <a:lnTo>
                    <a:pt x="12700" y="515239"/>
                  </a:lnTo>
                  <a:lnTo>
                    <a:pt x="6350" y="515239"/>
                  </a:lnTo>
                  <a:lnTo>
                    <a:pt x="12700" y="515239"/>
                  </a:lnTo>
                  <a:cubicBezTo>
                    <a:pt x="12700" y="576199"/>
                    <a:pt x="62103" y="625729"/>
                    <a:pt x="123190" y="625729"/>
                  </a:cubicBezTo>
                  <a:lnTo>
                    <a:pt x="515239" y="625729"/>
                  </a:lnTo>
                  <a:cubicBezTo>
                    <a:pt x="576199" y="625729"/>
                    <a:pt x="625729" y="576326"/>
                    <a:pt x="625729" y="515239"/>
                  </a:cubicBezTo>
                  <a:lnTo>
                    <a:pt x="625729" y="123190"/>
                  </a:lnTo>
                  <a:cubicBezTo>
                    <a:pt x="625729" y="62230"/>
                    <a:pt x="576326" y="12700"/>
                    <a:pt x="515239" y="12700"/>
                  </a:cubicBezTo>
                  <a:lnTo>
                    <a:pt x="123190" y="12700"/>
                  </a:lnTo>
                  <a:lnTo>
                    <a:pt x="123190" y="6350"/>
                  </a:lnTo>
                  <a:lnTo>
                    <a:pt x="123190" y="12700"/>
                  </a:lnTo>
                  <a:cubicBezTo>
                    <a:pt x="62103" y="12700"/>
                    <a:pt x="12700" y="62103"/>
                    <a:pt x="12700" y="123190"/>
                  </a:cubicBezTo>
                  <a:close/>
                </a:path>
              </a:pathLst>
            </a:custGeom>
            <a:solidFill>
              <a:srgbClr val="E58A35"/>
            </a:solidFill>
          </p:spPr>
        </p:sp>
      </p:grpSp>
      <p:grpSp>
        <p:nvGrpSpPr>
          <p:cNvPr id="64" name="Group 64"/>
          <p:cNvGrpSpPr/>
          <p:nvPr/>
        </p:nvGrpSpPr>
        <p:grpSpPr>
          <a:xfrm>
            <a:off x="14165312" y="6242224"/>
            <a:ext cx="178594" cy="519138"/>
            <a:chOff x="0" y="0"/>
            <a:chExt cx="238125" cy="692184"/>
          </a:xfrm>
        </p:grpSpPr>
        <p:sp>
          <p:nvSpPr>
            <p:cNvPr id="65" name="Freeform 65"/>
            <p:cNvSpPr/>
            <p:nvPr/>
          </p:nvSpPr>
          <p:spPr>
            <a:xfrm>
              <a:off x="0" y="0"/>
              <a:ext cx="238125" cy="692184"/>
            </a:xfrm>
            <a:custGeom>
              <a:avLst/>
              <a:gdLst/>
              <a:ahLst/>
              <a:cxnLst/>
              <a:rect l="l" t="t" r="r" b="b"/>
              <a:pathLst>
                <a:path w="238125" h="692184">
                  <a:moveTo>
                    <a:pt x="0" y="0"/>
                  </a:moveTo>
                  <a:lnTo>
                    <a:pt x="238125" y="0"/>
                  </a:lnTo>
                  <a:lnTo>
                    <a:pt x="238125" y="692184"/>
                  </a:lnTo>
                  <a:lnTo>
                    <a:pt x="0" y="692184"/>
                  </a:lnTo>
                  <a:close/>
                </a:path>
              </a:pathLst>
            </a:custGeom>
            <a:solidFill>
              <a:srgbClr val="000000">
                <a:alpha val="0"/>
              </a:srgbClr>
            </a:solidFill>
          </p:spPr>
        </p:sp>
        <p:sp>
          <p:nvSpPr>
            <p:cNvPr id="66" name="TextBox 66"/>
            <p:cNvSpPr txBox="1"/>
            <p:nvPr/>
          </p:nvSpPr>
          <p:spPr>
            <a:xfrm>
              <a:off x="0" y="57150"/>
              <a:ext cx="238125" cy="635034"/>
            </a:xfrm>
            <a:prstGeom prst="rect">
              <a:avLst/>
            </a:prstGeom>
          </p:spPr>
          <p:txBody>
            <a:bodyPr lIns="0" tIns="0" rIns="0" bIns="0" rtlCol="0" anchor="ctr"/>
            <a:lstStyle/>
            <a:p>
              <a:pPr algn="ctr">
                <a:lnSpc>
                  <a:spcPts val="3087"/>
                </a:lnSpc>
              </a:pPr>
              <a:r>
                <a:rPr lang="en-US" sz="3087" spc="-61">
                  <a:solidFill>
                    <a:srgbClr val="000000"/>
                  </a:solidFill>
                  <a:latin typeface="Petrona"/>
                  <a:ea typeface="Petrona"/>
                  <a:cs typeface="Petrona"/>
                  <a:sym typeface="Petrona"/>
                </a:rPr>
                <a:t>4</a:t>
              </a:r>
            </a:p>
          </p:txBody>
        </p:sp>
      </p:grpSp>
      <p:grpSp>
        <p:nvGrpSpPr>
          <p:cNvPr id="67" name="Group 67"/>
          <p:cNvGrpSpPr/>
          <p:nvPr/>
        </p:nvGrpSpPr>
        <p:grpSpPr>
          <a:xfrm>
            <a:off x="12483554" y="7352854"/>
            <a:ext cx="4025285" cy="514080"/>
            <a:chOff x="0" y="0"/>
            <a:chExt cx="5367046" cy="685440"/>
          </a:xfrm>
        </p:grpSpPr>
        <p:sp>
          <p:nvSpPr>
            <p:cNvPr id="68" name="Freeform 68"/>
            <p:cNvSpPr/>
            <p:nvPr/>
          </p:nvSpPr>
          <p:spPr>
            <a:xfrm>
              <a:off x="0" y="0"/>
              <a:ext cx="5367046" cy="685440"/>
            </a:xfrm>
            <a:custGeom>
              <a:avLst/>
              <a:gdLst/>
              <a:ahLst/>
              <a:cxnLst/>
              <a:rect l="l" t="t" r="r" b="b"/>
              <a:pathLst>
                <a:path w="5367046" h="685440">
                  <a:moveTo>
                    <a:pt x="0" y="0"/>
                  </a:moveTo>
                  <a:lnTo>
                    <a:pt x="5367046" y="0"/>
                  </a:lnTo>
                  <a:lnTo>
                    <a:pt x="5367046" y="685440"/>
                  </a:lnTo>
                  <a:lnTo>
                    <a:pt x="0" y="685440"/>
                  </a:lnTo>
                  <a:close/>
                </a:path>
              </a:pathLst>
            </a:custGeom>
            <a:solidFill>
              <a:srgbClr val="000000">
                <a:alpha val="0"/>
              </a:srgbClr>
            </a:solidFill>
          </p:spPr>
        </p:sp>
        <p:sp>
          <p:nvSpPr>
            <p:cNvPr id="69" name="TextBox 69"/>
            <p:cNvSpPr txBox="1"/>
            <p:nvPr/>
          </p:nvSpPr>
          <p:spPr>
            <a:xfrm>
              <a:off x="0" y="-19050"/>
              <a:ext cx="5367046" cy="704490"/>
            </a:xfrm>
            <a:prstGeom prst="rect">
              <a:avLst/>
            </a:prstGeom>
          </p:spPr>
          <p:txBody>
            <a:bodyPr lIns="0" tIns="0" rIns="0" bIns="0" rtlCol="0" anchor="t"/>
            <a:lstStyle/>
            <a:p>
              <a:pPr algn="ctr">
                <a:lnSpc>
                  <a:spcPts val="3877"/>
                </a:lnSpc>
              </a:pPr>
              <a:r>
                <a:rPr lang="en-US" sz="3087" spc="-61">
                  <a:solidFill>
                    <a:srgbClr val="272525"/>
                  </a:solidFill>
                  <a:latin typeface="Petrona"/>
                  <a:ea typeface="Petrona"/>
                  <a:cs typeface="Petrona"/>
                  <a:sym typeface="Petrona"/>
                </a:rPr>
                <a:t>Asssignment Operators</a:t>
              </a:r>
            </a:p>
          </p:txBody>
        </p:sp>
      </p:grpSp>
      <p:grpSp>
        <p:nvGrpSpPr>
          <p:cNvPr id="70" name="Group 70"/>
          <p:cNvGrpSpPr/>
          <p:nvPr/>
        </p:nvGrpSpPr>
        <p:grpSpPr>
          <a:xfrm>
            <a:off x="11160175" y="8076484"/>
            <a:ext cx="6189018" cy="843833"/>
            <a:chOff x="0" y="0"/>
            <a:chExt cx="8252023" cy="1125111"/>
          </a:xfrm>
        </p:grpSpPr>
        <p:sp>
          <p:nvSpPr>
            <p:cNvPr id="71" name="Freeform 71"/>
            <p:cNvSpPr/>
            <p:nvPr/>
          </p:nvSpPr>
          <p:spPr>
            <a:xfrm>
              <a:off x="0" y="0"/>
              <a:ext cx="8252023" cy="1125111"/>
            </a:xfrm>
            <a:custGeom>
              <a:avLst/>
              <a:gdLst/>
              <a:ahLst/>
              <a:cxnLst/>
              <a:rect l="l" t="t" r="r" b="b"/>
              <a:pathLst>
                <a:path w="8252023" h="1125111">
                  <a:moveTo>
                    <a:pt x="0" y="0"/>
                  </a:moveTo>
                  <a:lnTo>
                    <a:pt x="8252023" y="0"/>
                  </a:lnTo>
                  <a:lnTo>
                    <a:pt x="8252023" y="1125111"/>
                  </a:lnTo>
                  <a:lnTo>
                    <a:pt x="0" y="1125111"/>
                  </a:lnTo>
                  <a:close/>
                </a:path>
              </a:pathLst>
            </a:custGeom>
            <a:solidFill>
              <a:srgbClr val="000000">
                <a:alpha val="0"/>
              </a:srgbClr>
            </a:solidFill>
          </p:spPr>
        </p:sp>
        <p:sp>
          <p:nvSpPr>
            <p:cNvPr id="72" name="TextBox 72"/>
            <p:cNvSpPr txBox="1"/>
            <p:nvPr/>
          </p:nvSpPr>
          <p:spPr>
            <a:xfrm>
              <a:off x="0" y="-85725"/>
              <a:ext cx="8252023" cy="1210836"/>
            </a:xfrm>
            <a:prstGeom prst="rect">
              <a:avLst/>
            </a:prstGeom>
          </p:spPr>
          <p:txBody>
            <a:bodyPr lIns="0" tIns="0" rIns="0" bIns="0" rtlCol="0" anchor="t"/>
            <a:lstStyle/>
            <a:p>
              <a:pPr algn="ctr">
                <a:lnSpc>
                  <a:spcPts val="3271"/>
                </a:lnSpc>
              </a:pPr>
              <a:r>
                <a:rPr lang="en-US" sz="2024" spc="-40">
                  <a:solidFill>
                    <a:srgbClr val="272525"/>
                  </a:solidFill>
                  <a:latin typeface="Inter"/>
                  <a:ea typeface="Inter"/>
                  <a:cs typeface="Inter"/>
                  <a:sym typeface="Inter"/>
                </a:rPr>
                <a:t>Frequently used to update values in configuration files, scripts, or manage resource allocations.</a:t>
              </a:r>
            </a:p>
          </p:txBody>
        </p:sp>
      </p:grpSp>
      <p:sp>
        <p:nvSpPr>
          <p:cNvPr id="73" name="TextBox 73"/>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808584" y="692200"/>
            <a:ext cx="8856166" cy="794296"/>
            <a:chOff x="0" y="0"/>
            <a:chExt cx="11808222" cy="1059062"/>
          </a:xfrm>
        </p:grpSpPr>
        <p:sp>
          <p:nvSpPr>
            <p:cNvPr id="7" name="Freeform 7"/>
            <p:cNvSpPr/>
            <p:nvPr/>
          </p:nvSpPr>
          <p:spPr>
            <a:xfrm>
              <a:off x="0" y="0"/>
              <a:ext cx="11808222" cy="1059062"/>
            </a:xfrm>
            <a:custGeom>
              <a:avLst/>
              <a:gdLst/>
              <a:ahLst/>
              <a:cxnLst/>
              <a:rect l="l" t="t" r="r" b="b"/>
              <a:pathLst>
                <a:path w="11808222" h="1059062">
                  <a:moveTo>
                    <a:pt x="0" y="0"/>
                  </a:moveTo>
                  <a:lnTo>
                    <a:pt x="11808222" y="0"/>
                  </a:lnTo>
                  <a:lnTo>
                    <a:pt x="11808222" y="1059062"/>
                  </a:lnTo>
                  <a:lnTo>
                    <a:pt x="0" y="1059062"/>
                  </a:lnTo>
                  <a:close/>
                </a:path>
              </a:pathLst>
            </a:custGeom>
            <a:solidFill>
              <a:srgbClr val="000000">
                <a:alpha val="0"/>
              </a:srgbClr>
            </a:solidFill>
          </p:spPr>
        </p:sp>
        <p:sp>
          <p:nvSpPr>
            <p:cNvPr id="8" name="TextBox 8"/>
            <p:cNvSpPr txBox="1"/>
            <p:nvPr/>
          </p:nvSpPr>
          <p:spPr>
            <a:xfrm>
              <a:off x="0" y="-38100"/>
              <a:ext cx="11808222" cy="1097162"/>
            </a:xfrm>
            <a:prstGeom prst="rect">
              <a:avLst/>
            </a:prstGeom>
          </p:spPr>
          <p:txBody>
            <a:bodyPr lIns="0" tIns="0" rIns="0" bIns="0" rtlCol="0" anchor="t"/>
            <a:lstStyle/>
            <a:p>
              <a:pPr algn="l">
                <a:lnSpc>
                  <a:spcPts val="6249"/>
                </a:lnSpc>
              </a:pPr>
              <a:r>
                <a:rPr lang="en-US" sz="4999" spc="-99">
                  <a:solidFill>
                    <a:srgbClr val="F95F88"/>
                  </a:solidFill>
                  <a:latin typeface="Petrona"/>
                  <a:ea typeface="Petrona"/>
                  <a:cs typeface="Petrona"/>
                  <a:sym typeface="Petrona"/>
                </a:rPr>
                <a:t>Arithmetic &amp; Logical Operators:</a:t>
              </a:r>
            </a:p>
          </p:txBody>
        </p:sp>
      </p:grpSp>
      <p:grpSp>
        <p:nvGrpSpPr>
          <p:cNvPr id="9" name="Group 9"/>
          <p:cNvGrpSpPr/>
          <p:nvPr/>
        </p:nvGrpSpPr>
        <p:grpSpPr>
          <a:xfrm>
            <a:off x="808584" y="1846311"/>
            <a:ext cx="16670834" cy="924222"/>
            <a:chOff x="0" y="0"/>
            <a:chExt cx="22227778" cy="1232297"/>
          </a:xfrm>
        </p:grpSpPr>
        <p:sp>
          <p:nvSpPr>
            <p:cNvPr id="10" name="Freeform 10"/>
            <p:cNvSpPr/>
            <p:nvPr/>
          </p:nvSpPr>
          <p:spPr>
            <a:xfrm>
              <a:off x="0" y="0"/>
              <a:ext cx="22227778" cy="1232297"/>
            </a:xfrm>
            <a:custGeom>
              <a:avLst/>
              <a:gdLst/>
              <a:ahLst/>
              <a:cxnLst/>
              <a:rect l="l" t="t" r="r" b="b"/>
              <a:pathLst>
                <a:path w="22227778" h="1232297">
                  <a:moveTo>
                    <a:pt x="0" y="0"/>
                  </a:moveTo>
                  <a:lnTo>
                    <a:pt x="22227778" y="0"/>
                  </a:lnTo>
                  <a:lnTo>
                    <a:pt x="22227778" y="1232297"/>
                  </a:lnTo>
                  <a:lnTo>
                    <a:pt x="0" y="1232297"/>
                  </a:lnTo>
                  <a:close/>
                </a:path>
              </a:pathLst>
            </a:custGeom>
            <a:solidFill>
              <a:srgbClr val="000000">
                <a:alpha val="0"/>
              </a:srgbClr>
            </a:solidFill>
          </p:spPr>
        </p:sp>
        <p:sp>
          <p:nvSpPr>
            <p:cNvPr id="11" name="TextBox 11"/>
            <p:cNvSpPr txBox="1"/>
            <p:nvPr/>
          </p:nvSpPr>
          <p:spPr>
            <a:xfrm>
              <a:off x="0" y="-95250"/>
              <a:ext cx="22227778" cy="1327547"/>
            </a:xfrm>
            <a:prstGeom prst="rect">
              <a:avLst/>
            </a:prstGeom>
          </p:spPr>
          <p:txBody>
            <a:bodyPr lIns="0" tIns="0" rIns="0" bIns="0" rtlCol="0" anchor="t"/>
            <a:lstStyle/>
            <a:p>
              <a:pPr algn="l">
                <a:lnSpc>
                  <a:spcPts val="3624"/>
                </a:lnSpc>
              </a:pPr>
              <a:r>
                <a:rPr lang="en-US" sz="2249" b="1" spc="-36">
                  <a:solidFill>
                    <a:srgbClr val="272525"/>
                  </a:solidFill>
                  <a:latin typeface="Inter Bold"/>
                  <a:ea typeface="Inter Bold"/>
                  <a:cs typeface="Inter Bold"/>
                  <a:sym typeface="Inter Bold"/>
                </a:rPr>
                <a:t>Arithmetic Operators: </a:t>
              </a:r>
              <a:r>
                <a:rPr lang="en-US" sz="2249" spc="-36">
                  <a:solidFill>
                    <a:srgbClr val="272525"/>
                  </a:solidFill>
                  <a:latin typeface="Inter"/>
                  <a:ea typeface="Inter"/>
                  <a:cs typeface="Inter"/>
                  <a:sym typeface="Inter"/>
                </a:rPr>
                <a:t>Essential in DevOps when you’re automating tasks that involve calculations, such as resource allocation, load balancing, or disk space management.</a:t>
              </a:r>
            </a:p>
          </p:txBody>
        </p:sp>
      </p:grpSp>
      <p:grpSp>
        <p:nvGrpSpPr>
          <p:cNvPr id="12" name="Group 12"/>
          <p:cNvGrpSpPr/>
          <p:nvPr/>
        </p:nvGrpSpPr>
        <p:grpSpPr>
          <a:xfrm>
            <a:off x="808584" y="2989609"/>
            <a:ext cx="16670834" cy="462111"/>
            <a:chOff x="0" y="0"/>
            <a:chExt cx="22227778" cy="616148"/>
          </a:xfrm>
        </p:grpSpPr>
        <p:sp>
          <p:nvSpPr>
            <p:cNvPr id="13" name="Freeform 13"/>
            <p:cNvSpPr/>
            <p:nvPr/>
          </p:nvSpPr>
          <p:spPr>
            <a:xfrm>
              <a:off x="0" y="0"/>
              <a:ext cx="22227778" cy="616148"/>
            </a:xfrm>
            <a:custGeom>
              <a:avLst/>
              <a:gdLst/>
              <a:ahLst/>
              <a:cxnLst/>
              <a:rect l="l" t="t" r="r" b="b"/>
              <a:pathLst>
                <a:path w="22227778" h="616148">
                  <a:moveTo>
                    <a:pt x="0" y="0"/>
                  </a:moveTo>
                  <a:lnTo>
                    <a:pt x="22227778" y="0"/>
                  </a:lnTo>
                  <a:lnTo>
                    <a:pt x="22227778" y="616148"/>
                  </a:lnTo>
                  <a:lnTo>
                    <a:pt x="0" y="616148"/>
                  </a:lnTo>
                  <a:close/>
                </a:path>
              </a:pathLst>
            </a:custGeom>
            <a:solidFill>
              <a:srgbClr val="000000">
                <a:alpha val="0"/>
              </a:srgbClr>
            </a:solidFill>
          </p:spPr>
        </p:sp>
        <p:sp>
          <p:nvSpPr>
            <p:cNvPr id="14" name="TextBox 14"/>
            <p:cNvSpPr txBox="1"/>
            <p:nvPr/>
          </p:nvSpPr>
          <p:spPr>
            <a:xfrm>
              <a:off x="0" y="-95250"/>
              <a:ext cx="22227778" cy="711398"/>
            </a:xfrm>
            <a:prstGeom prst="rect">
              <a:avLst/>
            </a:prstGeom>
          </p:spPr>
          <p:txBody>
            <a:bodyPr lIns="0" tIns="0" rIns="0" bIns="0" rtlCol="0" anchor="t"/>
            <a:lstStyle/>
            <a:p>
              <a:pPr algn="l">
                <a:lnSpc>
                  <a:spcPts val="3624"/>
                </a:lnSpc>
              </a:pPr>
              <a:r>
                <a:rPr lang="en-US" sz="2249" b="1" spc="-36">
                  <a:solidFill>
                    <a:srgbClr val="272525"/>
                  </a:solidFill>
                  <a:latin typeface="Inter Bold"/>
                  <a:ea typeface="Inter Bold"/>
                  <a:cs typeface="Inter Bold"/>
                  <a:sym typeface="Inter Bold"/>
                </a:rPr>
                <a:t>Logical Operators:</a:t>
              </a:r>
              <a:r>
                <a:rPr lang="en-US" sz="2249" spc="-36">
                  <a:solidFill>
                    <a:srgbClr val="272525"/>
                  </a:solidFill>
                  <a:latin typeface="Inter"/>
                  <a:ea typeface="Inter"/>
                  <a:cs typeface="Inter"/>
                  <a:sym typeface="Inter"/>
                </a:rPr>
                <a:t> In a DevOps pipeline, you might want to check if two conditions are true before deploying a new update.</a:t>
              </a:r>
            </a:p>
          </p:txBody>
        </p:sp>
      </p:grpSp>
      <p:grpSp>
        <p:nvGrpSpPr>
          <p:cNvPr id="15" name="Group 15"/>
          <p:cNvGrpSpPr/>
          <p:nvPr/>
        </p:nvGrpSpPr>
        <p:grpSpPr>
          <a:xfrm>
            <a:off x="803821" y="3849886"/>
            <a:ext cx="8229451" cy="5749529"/>
            <a:chOff x="0" y="0"/>
            <a:chExt cx="10972602" cy="7666038"/>
          </a:xfrm>
        </p:grpSpPr>
        <p:sp>
          <p:nvSpPr>
            <p:cNvPr id="16" name="Freeform 16"/>
            <p:cNvSpPr/>
            <p:nvPr/>
          </p:nvSpPr>
          <p:spPr>
            <a:xfrm>
              <a:off x="6350" y="6350"/>
              <a:ext cx="10959973" cy="7653274"/>
            </a:xfrm>
            <a:custGeom>
              <a:avLst/>
              <a:gdLst/>
              <a:ahLst/>
              <a:cxnLst/>
              <a:rect l="l" t="t" r="r" b="b"/>
              <a:pathLst>
                <a:path w="10959973" h="7653274">
                  <a:moveTo>
                    <a:pt x="0" y="129413"/>
                  </a:moveTo>
                  <a:cubicBezTo>
                    <a:pt x="0" y="57912"/>
                    <a:pt x="57912" y="0"/>
                    <a:pt x="129540" y="0"/>
                  </a:cubicBezTo>
                  <a:lnTo>
                    <a:pt x="10830433" y="0"/>
                  </a:lnTo>
                  <a:cubicBezTo>
                    <a:pt x="10901934" y="0"/>
                    <a:pt x="10959973" y="57912"/>
                    <a:pt x="10959973" y="129413"/>
                  </a:cubicBezTo>
                  <a:lnTo>
                    <a:pt x="10959973" y="7523861"/>
                  </a:lnTo>
                  <a:cubicBezTo>
                    <a:pt x="10959973" y="7595362"/>
                    <a:pt x="10902061" y="7653274"/>
                    <a:pt x="10830433" y="7653274"/>
                  </a:cubicBezTo>
                  <a:lnTo>
                    <a:pt x="129540" y="7653274"/>
                  </a:lnTo>
                  <a:cubicBezTo>
                    <a:pt x="58039" y="7653274"/>
                    <a:pt x="0" y="7595362"/>
                    <a:pt x="0" y="7523861"/>
                  </a:cubicBezTo>
                  <a:close/>
                </a:path>
              </a:pathLst>
            </a:custGeom>
            <a:solidFill>
              <a:srgbClr val="F2F2F2"/>
            </a:solidFill>
          </p:spPr>
        </p:sp>
        <p:sp>
          <p:nvSpPr>
            <p:cNvPr id="17" name="Freeform 17"/>
            <p:cNvSpPr/>
            <p:nvPr/>
          </p:nvSpPr>
          <p:spPr>
            <a:xfrm>
              <a:off x="0" y="0"/>
              <a:ext cx="10972673" cy="7665974"/>
            </a:xfrm>
            <a:custGeom>
              <a:avLst/>
              <a:gdLst/>
              <a:ahLst/>
              <a:cxnLst/>
              <a:rect l="l" t="t" r="r" b="b"/>
              <a:pathLst>
                <a:path w="10972673" h="7665974">
                  <a:moveTo>
                    <a:pt x="0" y="135763"/>
                  </a:moveTo>
                  <a:cubicBezTo>
                    <a:pt x="0" y="60833"/>
                    <a:pt x="60833" y="0"/>
                    <a:pt x="135890" y="0"/>
                  </a:cubicBezTo>
                  <a:lnTo>
                    <a:pt x="10836783" y="0"/>
                  </a:lnTo>
                  <a:lnTo>
                    <a:pt x="10836783" y="6350"/>
                  </a:lnTo>
                  <a:lnTo>
                    <a:pt x="10836783" y="0"/>
                  </a:lnTo>
                  <a:cubicBezTo>
                    <a:pt x="10911839" y="0"/>
                    <a:pt x="10972673" y="60833"/>
                    <a:pt x="10972673" y="135763"/>
                  </a:cubicBezTo>
                  <a:lnTo>
                    <a:pt x="10966323" y="135763"/>
                  </a:lnTo>
                  <a:lnTo>
                    <a:pt x="10972673" y="135763"/>
                  </a:lnTo>
                  <a:lnTo>
                    <a:pt x="10972673" y="7530211"/>
                  </a:lnTo>
                  <a:lnTo>
                    <a:pt x="10966323" y="7530211"/>
                  </a:lnTo>
                  <a:lnTo>
                    <a:pt x="10972673" y="7530211"/>
                  </a:lnTo>
                  <a:cubicBezTo>
                    <a:pt x="10972673" y="7605141"/>
                    <a:pt x="10911839" y="7665974"/>
                    <a:pt x="10836783" y="7665974"/>
                  </a:cubicBezTo>
                  <a:lnTo>
                    <a:pt x="10836783" y="7659624"/>
                  </a:lnTo>
                  <a:lnTo>
                    <a:pt x="10836783" y="7665974"/>
                  </a:lnTo>
                  <a:lnTo>
                    <a:pt x="135890" y="7665974"/>
                  </a:lnTo>
                  <a:lnTo>
                    <a:pt x="135890" y="7659624"/>
                  </a:lnTo>
                  <a:lnTo>
                    <a:pt x="135890" y="7665974"/>
                  </a:lnTo>
                  <a:cubicBezTo>
                    <a:pt x="60833" y="7665974"/>
                    <a:pt x="0" y="7605141"/>
                    <a:pt x="0" y="7530211"/>
                  </a:cubicBezTo>
                  <a:lnTo>
                    <a:pt x="0" y="135763"/>
                  </a:lnTo>
                  <a:lnTo>
                    <a:pt x="6350" y="135763"/>
                  </a:lnTo>
                  <a:lnTo>
                    <a:pt x="0" y="135763"/>
                  </a:lnTo>
                  <a:moveTo>
                    <a:pt x="12700" y="135763"/>
                  </a:moveTo>
                  <a:lnTo>
                    <a:pt x="12700" y="7530211"/>
                  </a:lnTo>
                  <a:lnTo>
                    <a:pt x="6350" y="7530211"/>
                  </a:lnTo>
                  <a:lnTo>
                    <a:pt x="12700" y="7530211"/>
                  </a:lnTo>
                  <a:cubicBezTo>
                    <a:pt x="12700" y="7598156"/>
                    <a:pt x="67818" y="7653274"/>
                    <a:pt x="135890" y="7653274"/>
                  </a:cubicBezTo>
                  <a:lnTo>
                    <a:pt x="10836783" y="7653274"/>
                  </a:lnTo>
                  <a:cubicBezTo>
                    <a:pt x="10904727" y="7653274"/>
                    <a:pt x="10959973" y="7598156"/>
                    <a:pt x="10959973" y="7530211"/>
                  </a:cubicBezTo>
                  <a:lnTo>
                    <a:pt x="10959973" y="135763"/>
                  </a:lnTo>
                  <a:cubicBezTo>
                    <a:pt x="10959973" y="67818"/>
                    <a:pt x="10904855" y="12700"/>
                    <a:pt x="10836783" y="12700"/>
                  </a:cubicBezTo>
                  <a:lnTo>
                    <a:pt x="135890" y="12700"/>
                  </a:lnTo>
                  <a:lnTo>
                    <a:pt x="135890" y="6350"/>
                  </a:lnTo>
                  <a:lnTo>
                    <a:pt x="135890" y="12700"/>
                  </a:lnTo>
                  <a:cubicBezTo>
                    <a:pt x="67818" y="12700"/>
                    <a:pt x="12700" y="67818"/>
                    <a:pt x="12700" y="135763"/>
                  </a:cubicBezTo>
                  <a:close/>
                </a:path>
              </a:pathLst>
            </a:custGeom>
            <a:solidFill>
              <a:srgbClr val="D8D8D8"/>
            </a:solidFill>
          </p:spPr>
        </p:sp>
      </p:grpSp>
      <p:grpSp>
        <p:nvGrpSpPr>
          <p:cNvPr id="18" name="Group 18"/>
          <p:cNvGrpSpPr/>
          <p:nvPr/>
        </p:nvGrpSpPr>
        <p:grpSpPr>
          <a:xfrm>
            <a:off x="1568717" y="3918445"/>
            <a:ext cx="5501260" cy="536524"/>
            <a:chOff x="0" y="0"/>
            <a:chExt cx="7335014" cy="715366"/>
          </a:xfrm>
        </p:grpSpPr>
        <p:sp>
          <p:nvSpPr>
            <p:cNvPr id="19" name="Freeform 19"/>
            <p:cNvSpPr/>
            <p:nvPr/>
          </p:nvSpPr>
          <p:spPr>
            <a:xfrm>
              <a:off x="0" y="0"/>
              <a:ext cx="7335014" cy="715366"/>
            </a:xfrm>
            <a:custGeom>
              <a:avLst/>
              <a:gdLst/>
              <a:ahLst/>
              <a:cxnLst/>
              <a:rect l="l" t="t" r="r" b="b"/>
              <a:pathLst>
                <a:path w="7335014" h="715366">
                  <a:moveTo>
                    <a:pt x="0" y="0"/>
                  </a:moveTo>
                  <a:lnTo>
                    <a:pt x="7335014" y="0"/>
                  </a:lnTo>
                  <a:lnTo>
                    <a:pt x="7335014" y="715366"/>
                  </a:lnTo>
                  <a:lnTo>
                    <a:pt x="0" y="715366"/>
                  </a:lnTo>
                  <a:close/>
                </a:path>
              </a:pathLst>
            </a:custGeom>
            <a:solidFill>
              <a:srgbClr val="000000">
                <a:alpha val="0"/>
              </a:srgbClr>
            </a:solidFill>
          </p:spPr>
        </p:sp>
        <p:sp>
          <p:nvSpPr>
            <p:cNvPr id="20" name="TextBox 20"/>
            <p:cNvSpPr txBox="1"/>
            <p:nvPr/>
          </p:nvSpPr>
          <p:spPr>
            <a:xfrm>
              <a:off x="0" y="-19050"/>
              <a:ext cx="7335014" cy="734416"/>
            </a:xfrm>
            <a:prstGeom prst="rect">
              <a:avLst/>
            </a:prstGeom>
          </p:spPr>
          <p:txBody>
            <a:bodyPr lIns="0" tIns="0" rIns="0" bIns="0" rtlCol="0" anchor="t"/>
            <a:lstStyle/>
            <a:p>
              <a:pPr algn="ctr">
                <a:lnSpc>
                  <a:spcPts val="3999"/>
                </a:lnSpc>
              </a:pPr>
              <a:r>
                <a:rPr lang="en-US" sz="3199" spc="-63">
                  <a:solidFill>
                    <a:srgbClr val="000000"/>
                  </a:solidFill>
                  <a:latin typeface="Petrona"/>
                  <a:ea typeface="Petrona"/>
                  <a:cs typeface="Petrona"/>
                  <a:sym typeface="Petrona"/>
                </a:rPr>
                <a:t>Common Arithmetic Operators:</a:t>
              </a:r>
            </a:p>
          </p:txBody>
        </p:sp>
      </p:grpSp>
      <p:grpSp>
        <p:nvGrpSpPr>
          <p:cNvPr id="21" name="Group 21"/>
          <p:cNvGrpSpPr/>
          <p:nvPr/>
        </p:nvGrpSpPr>
        <p:grpSpPr>
          <a:xfrm>
            <a:off x="1049090" y="4710261"/>
            <a:ext cx="7738914" cy="462111"/>
            <a:chOff x="0" y="0"/>
            <a:chExt cx="10318552" cy="616148"/>
          </a:xfrm>
        </p:grpSpPr>
        <p:sp>
          <p:nvSpPr>
            <p:cNvPr id="22" name="Freeform 22"/>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23" name="TextBox 23"/>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 (Addition): Adds two values.</a:t>
              </a:r>
            </a:p>
          </p:txBody>
        </p:sp>
      </p:grpSp>
      <p:grpSp>
        <p:nvGrpSpPr>
          <p:cNvPr id="24" name="Group 24"/>
          <p:cNvGrpSpPr/>
          <p:nvPr/>
        </p:nvGrpSpPr>
        <p:grpSpPr>
          <a:xfrm>
            <a:off x="1049090" y="5253186"/>
            <a:ext cx="7738914" cy="462111"/>
            <a:chOff x="0" y="0"/>
            <a:chExt cx="10318552" cy="616148"/>
          </a:xfrm>
        </p:grpSpPr>
        <p:sp>
          <p:nvSpPr>
            <p:cNvPr id="25" name="Freeform 25"/>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26" name="TextBox 26"/>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 (Subtraction): Subtracts one value from another.</a:t>
              </a:r>
            </a:p>
          </p:txBody>
        </p:sp>
      </p:grpSp>
      <p:grpSp>
        <p:nvGrpSpPr>
          <p:cNvPr id="27" name="Group 27"/>
          <p:cNvGrpSpPr/>
          <p:nvPr/>
        </p:nvGrpSpPr>
        <p:grpSpPr>
          <a:xfrm>
            <a:off x="1049090" y="5796111"/>
            <a:ext cx="7738914" cy="462111"/>
            <a:chOff x="0" y="0"/>
            <a:chExt cx="10318552" cy="616148"/>
          </a:xfrm>
        </p:grpSpPr>
        <p:sp>
          <p:nvSpPr>
            <p:cNvPr id="28" name="Freeform 28"/>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29" name="TextBox 29"/>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 (Multiplication): Multiplies two values.</a:t>
              </a:r>
            </a:p>
          </p:txBody>
        </p:sp>
      </p:grpSp>
      <p:grpSp>
        <p:nvGrpSpPr>
          <p:cNvPr id="30" name="Group 30"/>
          <p:cNvGrpSpPr/>
          <p:nvPr/>
        </p:nvGrpSpPr>
        <p:grpSpPr>
          <a:xfrm>
            <a:off x="1049090" y="6339036"/>
            <a:ext cx="7738914" cy="462111"/>
            <a:chOff x="0" y="0"/>
            <a:chExt cx="10318552" cy="616148"/>
          </a:xfrm>
        </p:grpSpPr>
        <p:sp>
          <p:nvSpPr>
            <p:cNvPr id="31" name="Freeform 31"/>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32" name="TextBox 32"/>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 (Division): Divides one value by another.</a:t>
              </a:r>
            </a:p>
          </p:txBody>
        </p:sp>
      </p:grpSp>
      <p:grpSp>
        <p:nvGrpSpPr>
          <p:cNvPr id="33" name="Group 33"/>
          <p:cNvGrpSpPr/>
          <p:nvPr/>
        </p:nvGrpSpPr>
        <p:grpSpPr>
          <a:xfrm>
            <a:off x="1049090" y="6881961"/>
            <a:ext cx="7738914" cy="924222"/>
            <a:chOff x="0" y="0"/>
            <a:chExt cx="10318552" cy="1232297"/>
          </a:xfrm>
        </p:grpSpPr>
        <p:sp>
          <p:nvSpPr>
            <p:cNvPr id="34" name="Freeform 34"/>
            <p:cNvSpPr/>
            <p:nvPr/>
          </p:nvSpPr>
          <p:spPr>
            <a:xfrm>
              <a:off x="0" y="0"/>
              <a:ext cx="10318552" cy="1232297"/>
            </a:xfrm>
            <a:custGeom>
              <a:avLst/>
              <a:gdLst/>
              <a:ahLst/>
              <a:cxnLst/>
              <a:rect l="l" t="t" r="r" b="b"/>
              <a:pathLst>
                <a:path w="10318552" h="1232297">
                  <a:moveTo>
                    <a:pt x="0" y="0"/>
                  </a:moveTo>
                  <a:lnTo>
                    <a:pt x="10318552" y="0"/>
                  </a:lnTo>
                  <a:lnTo>
                    <a:pt x="10318552" y="1232297"/>
                  </a:lnTo>
                  <a:lnTo>
                    <a:pt x="0" y="1232297"/>
                  </a:lnTo>
                  <a:close/>
                </a:path>
              </a:pathLst>
            </a:custGeom>
            <a:solidFill>
              <a:srgbClr val="000000">
                <a:alpha val="0"/>
              </a:srgbClr>
            </a:solidFill>
          </p:spPr>
        </p:sp>
        <p:sp>
          <p:nvSpPr>
            <p:cNvPr id="35" name="TextBox 35"/>
            <p:cNvSpPr txBox="1"/>
            <p:nvPr/>
          </p:nvSpPr>
          <p:spPr>
            <a:xfrm>
              <a:off x="0" y="-76200"/>
              <a:ext cx="10318552" cy="1308497"/>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 (Floor Division): Divides and returns the largest integer smaller than the result.</a:t>
              </a:r>
            </a:p>
          </p:txBody>
        </p:sp>
      </p:grpSp>
      <p:grpSp>
        <p:nvGrpSpPr>
          <p:cNvPr id="36" name="Group 36"/>
          <p:cNvGrpSpPr/>
          <p:nvPr/>
        </p:nvGrpSpPr>
        <p:grpSpPr>
          <a:xfrm>
            <a:off x="1049090" y="7886997"/>
            <a:ext cx="7738914" cy="462111"/>
            <a:chOff x="0" y="0"/>
            <a:chExt cx="10318552" cy="616148"/>
          </a:xfrm>
        </p:grpSpPr>
        <p:sp>
          <p:nvSpPr>
            <p:cNvPr id="37" name="Freeform 37"/>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38" name="TextBox 38"/>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 (Modulo): Returns the remainder of the division.</a:t>
              </a:r>
            </a:p>
          </p:txBody>
        </p:sp>
      </p:grpSp>
      <p:grpSp>
        <p:nvGrpSpPr>
          <p:cNvPr id="39" name="Group 39"/>
          <p:cNvGrpSpPr/>
          <p:nvPr/>
        </p:nvGrpSpPr>
        <p:grpSpPr>
          <a:xfrm>
            <a:off x="1049090" y="8429922"/>
            <a:ext cx="7738914" cy="924222"/>
            <a:chOff x="0" y="0"/>
            <a:chExt cx="10318552" cy="1232297"/>
          </a:xfrm>
        </p:grpSpPr>
        <p:sp>
          <p:nvSpPr>
            <p:cNvPr id="40" name="Freeform 40"/>
            <p:cNvSpPr/>
            <p:nvPr/>
          </p:nvSpPr>
          <p:spPr>
            <a:xfrm>
              <a:off x="0" y="0"/>
              <a:ext cx="10318552" cy="1232297"/>
            </a:xfrm>
            <a:custGeom>
              <a:avLst/>
              <a:gdLst/>
              <a:ahLst/>
              <a:cxnLst/>
              <a:rect l="l" t="t" r="r" b="b"/>
              <a:pathLst>
                <a:path w="10318552" h="1232297">
                  <a:moveTo>
                    <a:pt x="0" y="0"/>
                  </a:moveTo>
                  <a:lnTo>
                    <a:pt x="10318552" y="0"/>
                  </a:lnTo>
                  <a:lnTo>
                    <a:pt x="10318552" y="1232297"/>
                  </a:lnTo>
                  <a:lnTo>
                    <a:pt x="0" y="1232297"/>
                  </a:lnTo>
                  <a:close/>
                </a:path>
              </a:pathLst>
            </a:custGeom>
            <a:solidFill>
              <a:srgbClr val="000000">
                <a:alpha val="0"/>
              </a:srgbClr>
            </a:solidFill>
          </p:spPr>
        </p:sp>
        <p:sp>
          <p:nvSpPr>
            <p:cNvPr id="41" name="TextBox 41"/>
            <p:cNvSpPr txBox="1"/>
            <p:nvPr/>
          </p:nvSpPr>
          <p:spPr>
            <a:xfrm>
              <a:off x="0" y="-76200"/>
              <a:ext cx="10318552" cy="1308497"/>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 (Exponentiation): Raises a number to the power of another number.</a:t>
              </a:r>
            </a:p>
          </p:txBody>
        </p:sp>
      </p:grpSp>
      <p:grpSp>
        <p:nvGrpSpPr>
          <p:cNvPr id="42" name="Group 42"/>
          <p:cNvGrpSpPr/>
          <p:nvPr/>
        </p:nvGrpSpPr>
        <p:grpSpPr>
          <a:xfrm>
            <a:off x="9362035" y="3849886"/>
            <a:ext cx="8229451" cy="5749529"/>
            <a:chOff x="0" y="0"/>
            <a:chExt cx="10972602" cy="7666038"/>
          </a:xfrm>
        </p:grpSpPr>
        <p:sp>
          <p:nvSpPr>
            <p:cNvPr id="43" name="Freeform 43"/>
            <p:cNvSpPr/>
            <p:nvPr/>
          </p:nvSpPr>
          <p:spPr>
            <a:xfrm>
              <a:off x="6350" y="6350"/>
              <a:ext cx="10959973" cy="7653274"/>
            </a:xfrm>
            <a:custGeom>
              <a:avLst/>
              <a:gdLst/>
              <a:ahLst/>
              <a:cxnLst/>
              <a:rect l="l" t="t" r="r" b="b"/>
              <a:pathLst>
                <a:path w="10959973" h="7653274">
                  <a:moveTo>
                    <a:pt x="0" y="129413"/>
                  </a:moveTo>
                  <a:cubicBezTo>
                    <a:pt x="0" y="57912"/>
                    <a:pt x="57912" y="0"/>
                    <a:pt x="129540" y="0"/>
                  </a:cubicBezTo>
                  <a:lnTo>
                    <a:pt x="10830433" y="0"/>
                  </a:lnTo>
                  <a:cubicBezTo>
                    <a:pt x="10901934" y="0"/>
                    <a:pt x="10959973" y="57912"/>
                    <a:pt x="10959973" y="129413"/>
                  </a:cubicBezTo>
                  <a:lnTo>
                    <a:pt x="10959973" y="7523861"/>
                  </a:lnTo>
                  <a:cubicBezTo>
                    <a:pt x="10959973" y="7595362"/>
                    <a:pt x="10902061" y="7653274"/>
                    <a:pt x="10830433" y="7653274"/>
                  </a:cubicBezTo>
                  <a:lnTo>
                    <a:pt x="129540" y="7653274"/>
                  </a:lnTo>
                  <a:cubicBezTo>
                    <a:pt x="58039" y="7653274"/>
                    <a:pt x="0" y="7595362"/>
                    <a:pt x="0" y="7523861"/>
                  </a:cubicBezTo>
                  <a:close/>
                </a:path>
              </a:pathLst>
            </a:custGeom>
            <a:solidFill>
              <a:srgbClr val="F2F2F2"/>
            </a:solidFill>
          </p:spPr>
        </p:sp>
        <p:sp>
          <p:nvSpPr>
            <p:cNvPr id="44" name="Freeform 44"/>
            <p:cNvSpPr/>
            <p:nvPr/>
          </p:nvSpPr>
          <p:spPr>
            <a:xfrm>
              <a:off x="0" y="0"/>
              <a:ext cx="10972673" cy="7665974"/>
            </a:xfrm>
            <a:custGeom>
              <a:avLst/>
              <a:gdLst/>
              <a:ahLst/>
              <a:cxnLst/>
              <a:rect l="l" t="t" r="r" b="b"/>
              <a:pathLst>
                <a:path w="10972673" h="7665974">
                  <a:moveTo>
                    <a:pt x="0" y="135763"/>
                  </a:moveTo>
                  <a:cubicBezTo>
                    <a:pt x="0" y="60833"/>
                    <a:pt x="60833" y="0"/>
                    <a:pt x="135890" y="0"/>
                  </a:cubicBezTo>
                  <a:lnTo>
                    <a:pt x="10836783" y="0"/>
                  </a:lnTo>
                  <a:lnTo>
                    <a:pt x="10836783" y="6350"/>
                  </a:lnTo>
                  <a:lnTo>
                    <a:pt x="10836783" y="0"/>
                  </a:lnTo>
                  <a:cubicBezTo>
                    <a:pt x="10911839" y="0"/>
                    <a:pt x="10972673" y="60833"/>
                    <a:pt x="10972673" y="135763"/>
                  </a:cubicBezTo>
                  <a:lnTo>
                    <a:pt x="10966323" y="135763"/>
                  </a:lnTo>
                  <a:lnTo>
                    <a:pt x="10972673" y="135763"/>
                  </a:lnTo>
                  <a:lnTo>
                    <a:pt x="10972673" y="7530211"/>
                  </a:lnTo>
                  <a:lnTo>
                    <a:pt x="10966323" y="7530211"/>
                  </a:lnTo>
                  <a:lnTo>
                    <a:pt x="10972673" y="7530211"/>
                  </a:lnTo>
                  <a:cubicBezTo>
                    <a:pt x="10972673" y="7605141"/>
                    <a:pt x="10911839" y="7665974"/>
                    <a:pt x="10836783" y="7665974"/>
                  </a:cubicBezTo>
                  <a:lnTo>
                    <a:pt x="10836783" y="7659624"/>
                  </a:lnTo>
                  <a:lnTo>
                    <a:pt x="10836783" y="7665974"/>
                  </a:lnTo>
                  <a:lnTo>
                    <a:pt x="135890" y="7665974"/>
                  </a:lnTo>
                  <a:lnTo>
                    <a:pt x="135890" y="7659624"/>
                  </a:lnTo>
                  <a:lnTo>
                    <a:pt x="135890" y="7665974"/>
                  </a:lnTo>
                  <a:cubicBezTo>
                    <a:pt x="60833" y="7665974"/>
                    <a:pt x="0" y="7605141"/>
                    <a:pt x="0" y="7530211"/>
                  </a:cubicBezTo>
                  <a:lnTo>
                    <a:pt x="0" y="135763"/>
                  </a:lnTo>
                  <a:lnTo>
                    <a:pt x="6350" y="135763"/>
                  </a:lnTo>
                  <a:lnTo>
                    <a:pt x="0" y="135763"/>
                  </a:lnTo>
                  <a:moveTo>
                    <a:pt x="12700" y="135763"/>
                  </a:moveTo>
                  <a:lnTo>
                    <a:pt x="12700" y="7530211"/>
                  </a:lnTo>
                  <a:lnTo>
                    <a:pt x="6350" y="7530211"/>
                  </a:lnTo>
                  <a:lnTo>
                    <a:pt x="12700" y="7530211"/>
                  </a:lnTo>
                  <a:cubicBezTo>
                    <a:pt x="12700" y="7598156"/>
                    <a:pt x="67818" y="7653274"/>
                    <a:pt x="135890" y="7653274"/>
                  </a:cubicBezTo>
                  <a:lnTo>
                    <a:pt x="10836783" y="7653274"/>
                  </a:lnTo>
                  <a:cubicBezTo>
                    <a:pt x="10904727" y="7653274"/>
                    <a:pt x="10959973" y="7598156"/>
                    <a:pt x="10959973" y="7530211"/>
                  </a:cubicBezTo>
                  <a:lnTo>
                    <a:pt x="10959973" y="135763"/>
                  </a:lnTo>
                  <a:cubicBezTo>
                    <a:pt x="10959973" y="67818"/>
                    <a:pt x="10904855" y="12700"/>
                    <a:pt x="10836783" y="12700"/>
                  </a:cubicBezTo>
                  <a:lnTo>
                    <a:pt x="135890" y="12700"/>
                  </a:lnTo>
                  <a:lnTo>
                    <a:pt x="135890" y="6350"/>
                  </a:lnTo>
                  <a:lnTo>
                    <a:pt x="135890" y="12700"/>
                  </a:lnTo>
                  <a:cubicBezTo>
                    <a:pt x="67818" y="12700"/>
                    <a:pt x="12700" y="67818"/>
                    <a:pt x="12700" y="135763"/>
                  </a:cubicBezTo>
                  <a:close/>
                </a:path>
              </a:pathLst>
            </a:custGeom>
            <a:solidFill>
              <a:srgbClr val="D8D8D8"/>
            </a:solidFill>
          </p:spPr>
        </p:sp>
      </p:grpSp>
      <p:grpSp>
        <p:nvGrpSpPr>
          <p:cNvPr id="45" name="Group 45"/>
          <p:cNvGrpSpPr/>
          <p:nvPr/>
        </p:nvGrpSpPr>
        <p:grpSpPr>
          <a:xfrm>
            <a:off x="9868956" y="3918445"/>
            <a:ext cx="5105256" cy="536524"/>
            <a:chOff x="0" y="0"/>
            <a:chExt cx="6807007" cy="715366"/>
          </a:xfrm>
        </p:grpSpPr>
        <p:sp>
          <p:nvSpPr>
            <p:cNvPr id="46" name="Freeform 46"/>
            <p:cNvSpPr/>
            <p:nvPr/>
          </p:nvSpPr>
          <p:spPr>
            <a:xfrm>
              <a:off x="0" y="0"/>
              <a:ext cx="6807007" cy="715366"/>
            </a:xfrm>
            <a:custGeom>
              <a:avLst/>
              <a:gdLst/>
              <a:ahLst/>
              <a:cxnLst/>
              <a:rect l="l" t="t" r="r" b="b"/>
              <a:pathLst>
                <a:path w="6807007" h="715366">
                  <a:moveTo>
                    <a:pt x="0" y="0"/>
                  </a:moveTo>
                  <a:lnTo>
                    <a:pt x="6807007" y="0"/>
                  </a:lnTo>
                  <a:lnTo>
                    <a:pt x="6807007" y="715366"/>
                  </a:lnTo>
                  <a:lnTo>
                    <a:pt x="0" y="715366"/>
                  </a:lnTo>
                  <a:close/>
                </a:path>
              </a:pathLst>
            </a:custGeom>
            <a:solidFill>
              <a:srgbClr val="000000">
                <a:alpha val="0"/>
              </a:srgbClr>
            </a:solidFill>
          </p:spPr>
        </p:sp>
        <p:sp>
          <p:nvSpPr>
            <p:cNvPr id="47" name="TextBox 47"/>
            <p:cNvSpPr txBox="1"/>
            <p:nvPr/>
          </p:nvSpPr>
          <p:spPr>
            <a:xfrm>
              <a:off x="0" y="-19050"/>
              <a:ext cx="6807007" cy="734416"/>
            </a:xfrm>
            <a:prstGeom prst="rect">
              <a:avLst/>
            </a:prstGeom>
          </p:spPr>
          <p:txBody>
            <a:bodyPr lIns="0" tIns="0" rIns="0" bIns="0" rtlCol="0" anchor="t"/>
            <a:lstStyle/>
            <a:p>
              <a:pPr algn="ctr">
                <a:lnSpc>
                  <a:spcPts val="3999"/>
                </a:lnSpc>
              </a:pPr>
              <a:r>
                <a:rPr lang="en-US" sz="3199" spc="-63">
                  <a:solidFill>
                    <a:srgbClr val="000000"/>
                  </a:solidFill>
                  <a:latin typeface="Petrona"/>
                  <a:ea typeface="Petrona"/>
                  <a:cs typeface="Petrona"/>
                  <a:sym typeface="Petrona"/>
                </a:rPr>
                <a:t>Common Logical Operators:</a:t>
              </a:r>
            </a:p>
          </p:txBody>
        </p:sp>
      </p:grpSp>
      <p:grpSp>
        <p:nvGrpSpPr>
          <p:cNvPr id="48" name="Group 48"/>
          <p:cNvGrpSpPr/>
          <p:nvPr/>
        </p:nvGrpSpPr>
        <p:grpSpPr>
          <a:xfrm>
            <a:off x="9499997" y="4710261"/>
            <a:ext cx="7738914" cy="462111"/>
            <a:chOff x="0" y="0"/>
            <a:chExt cx="10318552" cy="616148"/>
          </a:xfrm>
        </p:grpSpPr>
        <p:sp>
          <p:nvSpPr>
            <p:cNvPr id="49" name="Freeform 49"/>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50" name="TextBox 50"/>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and: Returns True if both conditions are true.</a:t>
              </a:r>
            </a:p>
          </p:txBody>
        </p:sp>
      </p:grpSp>
      <p:grpSp>
        <p:nvGrpSpPr>
          <p:cNvPr id="51" name="Group 51"/>
          <p:cNvGrpSpPr/>
          <p:nvPr/>
        </p:nvGrpSpPr>
        <p:grpSpPr>
          <a:xfrm>
            <a:off x="9499997" y="5253186"/>
            <a:ext cx="7738914" cy="462111"/>
            <a:chOff x="0" y="0"/>
            <a:chExt cx="10318552" cy="616148"/>
          </a:xfrm>
        </p:grpSpPr>
        <p:sp>
          <p:nvSpPr>
            <p:cNvPr id="52" name="Freeform 52"/>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53" name="TextBox 53"/>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or: Returns True if at least one condition is true.</a:t>
              </a:r>
            </a:p>
          </p:txBody>
        </p:sp>
      </p:grpSp>
      <p:grpSp>
        <p:nvGrpSpPr>
          <p:cNvPr id="54" name="Group 54"/>
          <p:cNvGrpSpPr/>
          <p:nvPr/>
        </p:nvGrpSpPr>
        <p:grpSpPr>
          <a:xfrm>
            <a:off x="9499997" y="5796111"/>
            <a:ext cx="7738914" cy="462111"/>
            <a:chOff x="0" y="0"/>
            <a:chExt cx="10318552" cy="616148"/>
          </a:xfrm>
        </p:grpSpPr>
        <p:sp>
          <p:nvSpPr>
            <p:cNvPr id="55" name="Freeform 55"/>
            <p:cNvSpPr/>
            <p:nvPr/>
          </p:nvSpPr>
          <p:spPr>
            <a:xfrm>
              <a:off x="0" y="0"/>
              <a:ext cx="10318552" cy="616148"/>
            </a:xfrm>
            <a:custGeom>
              <a:avLst/>
              <a:gdLst/>
              <a:ahLst/>
              <a:cxnLst/>
              <a:rect l="l" t="t" r="r" b="b"/>
              <a:pathLst>
                <a:path w="10318552" h="616148">
                  <a:moveTo>
                    <a:pt x="0" y="0"/>
                  </a:moveTo>
                  <a:lnTo>
                    <a:pt x="10318552" y="0"/>
                  </a:lnTo>
                  <a:lnTo>
                    <a:pt x="10318552" y="616148"/>
                  </a:lnTo>
                  <a:lnTo>
                    <a:pt x="0" y="616148"/>
                  </a:lnTo>
                  <a:close/>
                </a:path>
              </a:pathLst>
            </a:custGeom>
            <a:solidFill>
              <a:srgbClr val="000000">
                <a:alpha val="0"/>
              </a:srgbClr>
            </a:solidFill>
          </p:spPr>
        </p:sp>
        <p:sp>
          <p:nvSpPr>
            <p:cNvPr id="56" name="TextBox 56"/>
            <p:cNvSpPr txBox="1"/>
            <p:nvPr/>
          </p:nvSpPr>
          <p:spPr>
            <a:xfrm>
              <a:off x="0" y="-76200"/>
              <a:ext cx="10318552" cy="692348"/>
            </a:xfrm>
            <a:prstGeom prst="rect">
              <a:avLst/>
            </a:prstGeom>
          </p:spPr>
          <p:txBody>
            <a:bodyPr lIns="0" tIns="0" rIns="0" bIns="0" rtlCol="0" anchor="t"/>
            <a:lstStyle/>
            <a:p>
              <a:pPr marL="303510" lvl="1" indent="-151755" algn="l">
                <a:lnSpc>
                  <a:spcPts val="3192"/>
                </a:lnSpc>
                <a:buFont typeface="Arial"/>
                <a:buChar char="•"/>
              </a:pPr>
              <a:r>
                <a:rPr lang="en-US" sz="2012" spc="-40">
                  <a:solidFill>
                    <a:srgbClr val="000000"/>
                  </a:solidFill>
                  <a:latin typeface="Inter"/>
                  <a:ea typeface="Inter"/>
                  <a:cs typeface="Inter"/>
                  <a:sym typeface="Inter"/>
                </a:rPr>
                <a:t>not: Reverses the logical state of the condition.</a:t>
              </a:r>
            </a:p>
          </p:txBody>
        </p:sp>
      </p:grpSp>
      <p:sp>
        <p:nvSpPr>
          <p:cNvPr id="57" name="TextBox 57"/>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732085" y="914744"/>
            <a:ext cx="9562208" cy="789508"/>
            <a:chOff x="0" y="0"/>
            <a:chExt cx="12749610" cy="1052678"/>
          </a:xfrm>
        </p:grpSpPr>
        <p:sp>
          <p:nvSpPr>
            <p:cNvPr id="7" name="Freeform 7"/>
            <p:cNvSpPr/>
            <p:nvPr/>
          </p:nvSpPr>
          <p:spPr>
            <a:xfrm>
              <a:off x="0" y="0"/>
              <a:ext cx="12749610" cy="1052678"/>
            </a:xfrm>
            <a:custGeom>
              <a:avLst/>
              <a:gdLst/>
              <a:ahLst/>
              <a:cxnLst/>
              <a:rect l="l" t="t" r="r" b="b"/>
              <a:pathLst>
                <a:path w="12749610" h="1052678">
                  <a:moveTo>
                    <a:pt x="0" y="0"/>
                  </a:moveTo>
                  <a:lnTo>
                    <a:pt x="12749610" y="0"/>
                  </a:lnTo>
                  <a:lnTo>
                    <a:pt x="12749610" y="1052678"/>
                  </a:lnTo>
                  <a:lnTo>
                    <a:pt x="0" y="1052678"/>
                  </a:lnTo>
                  <a:close/>
                </a:path>
              </a:pathLst>
            </a:custGeom>
            <a:solidFill>
              <a:srgbClr val="000000">
                <a:alpha val="0"/>
              </a:srgbClr>
            </a:solidFill>
          </p:spPr>
        </p:sp>
        <p:sp>
          <p:nvSpPr>
            <p:cNvPr id="8" name="TextBox 8"/>
            <p:cNvSpPr txBox="1"/>
            <p:nvPr/>
          </p:nvSpPr>
          <p:spPr>
            <a:xfrm>
              <a:off x="0" y="-28575"/>
              <a:ext cx="12749610" cy="1081253"/>
            </a:xfrm>
            <a:prstGeom prst="rect">
              <a:avLst/>
            </a:prstGeom>
          </p:spPr>
          <p:txBody>
            <a:bodyPr lIns="0" tIns="0" rIns="0" bIns="0" rtlCol="0" anchor="t"/>
            <a:lstStyle/>
            <a:p>
              <a:pPr algn="l">
                <a:lnSpc>
                  <a:spcPts val="5874"/>
                </a:lnSpc>
              </a:pPr>
              <a:r>
                <a:rPr lang="en-US" sz="4699" spc="-93">
                  <a:solidFill>
                    <a:srgbClr val="F95F88"/>
                  </a:solidFill>
                  <a:latin typeface="Petrona"/>
                  <a:ea typeface="Petrona"/>
                  <a:cs typeface="Petrona"/>
                  <a:sym typeface="Petrona"/>
                </a:rPr>
                <a:t>Comparison &amp; Assignment Operators:</a:t>
              </a:r>
            </a:p>
          </p:txBody>
        </p:sp>
      </p:grpSp>
      <p:grpSp>
        <p:nvGrpSpPr>
          <p:cNvPr id="9" name="Group 9"/>
          <p:cNvGrpSpPr/>
          <p:nvPr/>
        </p:nvGrpSpPr>
        <p:grpSpPr>
          <a:xfrm>
            <a:off x="732085" y="2116336"/>
            <a:ext cx="16823829" cy="919480"/>
            <a:chOff x="0" y="0"/>
            <a:chExt cx="22431772" cy="1225973"/>
          </a:xfrm>
        </p:grpSpPr>
        <p:sp>
          <p:nvSpPr>
            <p:cNvPr id="10" name="Freeform 10"/>
            <p:cNvSpPr/>
            <p:nvPr/>
          </p:nvSpPr>
          <p:spPr>
            <a:xfrm>
              <a:off x="0" y="0"/>
              <a:ext cx="22431772" cy="1225973"/>
            </a:xfrm>
            <a:custGeom>
              <a:avLst/>
              <a:gdLst/>
              <a:ahLst/>
              <a:cxnLst/>
              <a:rect l="l" t="t" r="r" b="b"/>
              <a:pathLst>
                <a:path w="22431772" h="1225973">
                  <a:moveTo>
                    <a:pt x="0" y="0"/>
                  </a:moveTo>
                  <a:lnTo>
                    <a:pt x="22431772" y="0"/>
                  </a:lnTo>
                  <a:lnTo>
                    <a:pt x="22431772" y="1225973"/>
                  </a:lnTo>
                  <a:lnTo>
                    <a:pt x="0" y="1225973"/>
                  </a:lnTo>
                  <a:close/>
                </a:path>
              </a:pathLst>
            </a:custGeom>
            <a:solidFill>
              <a:srgbClr val="000000">
                <a:alpha val="0"/>
              </a:srgbClr>
            </a:solidFill>
          </p:spPr>
        </p:sp>
        <p:sp>
          <p:nvSpPr>
            <p:cNvPr id="11" name="TextBox 11"/>
            <p:cNvSpPr txBox="1"/>
            <p:nvPr/>
          </p:nvSpPr>
          <p:spPr>
            <a:xfrm>
              <a:off x="0" y="-85725"/>
              <a:ext cx="22431772" cy="1311698"/>
            </a:xfrm>
            <a:prstGeom prst="rect">
              <a:avLst/>
            </a:prstGeom>
          </p:spPr>
          <p:txBody>
            <a:bodyPr lIns="0" tIns="0" rIns="0" bIns="0" rtlCol="0" anchor="t"/>
            <a:lstStyle/>
            <a:p>
              <a:pPr algn="l">
                <a:lnSpc>
                  <a:spcPts val="3574"/>
                </a:lnSpc>
              </a:pPr>
              <a:r>
                <a:rPr lang="en-US" sz="2199" b="1" spc="-35">
                  <a:solidFill>
                    <a:srgbClr val="272525"/>
                  </a:solidFill>
                  <a:latin typeface="Inter Bold"/>
                  <a:ea typeface="Inter Bold"/>
                  <a:cs typeface="Inter Bold"/>
                  <a:sym typeface="Inter Bold"/>
                </a:rPr>
                <a:t>Comparison Operators:</a:t>
              </a:r>
              <a:r>
                <a:rPr lang="en-US" sz="2199" spc="-35">
                  <a:solidFill>
                    <a:srgbClr val="272525"/>
                  </a:solidFill>
                  <a:latin typeface="Inter"/>
                  <a:ea typeface="Inter"/>
                  <a:cs typeface="Inter"/>
                  <a:sym typeface="Inter"/>
                </a:rPr>
                <a:t> Particularly useful in DevOps automation to check whether certain conditions are met (e.g., if a server is online, if a resource usage is within limits, etc.).</a:t>
              </a:r>
            </a:p>
          </p:txBody>
        </p:sp>
      </p:grpSp>
      <p:grpSp>
        <p:nvGrpSpPr>
          <p:cNvPr id="12" name="Group 12"/>
          <p:cNvGrpSpPr/>
          <p:nvPr/>
        </p:nvGrpSpPr>
        <p:grpSpPr>
          <a:xfrm>
            <a:off x="732085" y="3231208"/>
            <a:ext cx="16823829" cy="919480"/>
            <a:chOff x="0" y="0"/>
            <a:chExt cx="22431772" cy="1225973"/>
          </a:xfrm>
        </p:grpSpPr>
        <p:sp>
          <p:nvSpPr>
            <p:cNvPr id="13" name="Freeform 13"/>
            <p:cNvSpPr/>
            <p:nvPr/>
          </p:nvSpPr>
          <p:spPr>
            <a:xfrm>
              <a:off x="0" y="0"/>
              <a:ext cx="22431772" cy="1225973"/>
            </a:xfrm>
            <a:custGeom>
              <a:avLst/>
              <a:gdLst/>
              <a:ahLst/>
              <a:cxnLst/>
              <a:rect l="l" t="t" r="r" b="b"/>
              <a:pathLst>
                <a:path w="22431772" h="1225973">
                  <a:moveTo>
                    <a:pt x="0" y="0"/>
                  </a:moveTo>
                  <a:lnTo>
                    <a:pt x="22431772" y="0"/>
                  </a:lnTo>
                  <a:lnTo>
                    <a:pt x="22431772" y="1225973"/>
                  </a:lnTo>
                  <a:lnTo>
                    <a:pt x="0" y="1225973"/>
                  </a:lnTo>
                  <a:close/>
                </a:path>
              </a:pathLst>
            </a:custGeom>
            <a:solidFill>
              <a:srgbClr val="000000">
                <a:alpha val="0"/>
              </a:srgbClr>
            </a:solidFill>
          </p:spPr>
        </p:sp>
        <p:sp>
          <p:nvSpPr>
            <p:cNvPr id="14" name="TextBox 14"/>
            <p:cNvSpPr txBox="1"/>
            <p:nvPr/>
          </p:nvSpPr>
          <p:spPr>
            <a:xfrm>
              <a:off x="0" y="-85725"/>
              <a:ext cx="22431772" cy="1311698"/>
            </a:xfrm>
            <a:prstGeom prst="rect">
              <a:avLst/>
            </a:prstGeom>
          </p:spPr>
          <p:txBody>
            <a:bodyPr lIns="0" tIns="0" rIns="0" bIns="0" rtlCol="0" anchor="t"/>
            <a:lstStyle/>
            <a:p>
              <a:pPr algn="l">
                <a:lnSpc>
                  <a:spcPts val="3574"/>
                </a:lnSpc>
              </a:pPr>
              <a:r>
                <a:rPr lang="en-US" sz="2199" b="1" spc="-35">
                  <a:solidFill>
                    <a:srgbClr val="272525"/>
                  </a:solidFill>
                  <a:latin typeface="Inter Bold"/>
                  <a:ea typeface="Inter Bold"/>
                  <a:cs typeface="Inter Bold"/>
                  <a:sym typeface="Inter Bold"/>
                </a:rPr>
                <a:t>Assignment Operators:</a:t>
              </a:r>
              <a:r>
                <a:rPr lang="en-US" sz="2199" spc="-35">
                  <a:solidFill>
                    <a:srgbClr val="272525"/>
                  </a:solidFill>
                  <a:latin typeface="Inter"/>
                  <a:ea typeface="Inter"/>
                  <a:cs typeface="Inter"/>
                  <a:sym typeface="Inter"/>
                </a:rPr>
                <a:t> Commonly used in DevOps automation to update configuration settings, track resource usage, or assign values during script execution.</a:t>
              </a:r>
            </a:p>
          </p:txBody>
        </p:sp>
      </p:grpSp>
      <p:grpSp>
        <p:nvGrpSpPr>
          <p:cNvPr id="15" name="Group 15"/>
          <p:cNvGrpSpPr/>
          <p:nvPr/>
        </p:nvGrpSpPr>
        <p:grpSpPr>
          <a:xfrm>
            <a:off x="727322" y="4477494"/>
            <a:ext cx="8316963" cy="4613225"/>
            <a:chOff x="0" y="0"/>
            <a:chExt cx="11089283" cy="6150967"/>
          </a:xfrm>
        </p:grpSpPr>
        <p:sp>
          <p:nvSpPr>
            <p:cNvPr id="16" name="Freeform 16"/>
            <p:cNvSpPr/>
            <p:nvPr/>
          </p:nvSpPr>
          <p:spPr>
            <a:xfrm>
              <a:off x="6350" y="6350"/>
              <a:ext cx="11076559" cy="6138291"/>
            </a:xfrm>
            <a:custGeom>
              <a:avLst/>
              <a:gdLst/>
              <a:ahLst/>
              <a:cxnLst/>
              <a:rect l="l" t="t" r="r" b="b"/>
              <a:pathLst>
                <a:path w="11076559" h="6138291">
                  <a:moveTo>
                    <a:pt x="0" y="117094"/>
                  </a:moveTo>
                  <a:cubicBezTo>
                    <a:pt x="0" y="52451"/>
                    <a:pt x="52451" y="0"/>
                    <a:pt x="117221" y="0"/>
                  </a:cubicBezTo>
                  <a:lnTo>
                    <a:pt x="10959338" y="0"/>
                  </a:lnTo>
                  <a:cubicBezTo>
                    <a:pt x="11024108" y="0"/>
                    <a:pt x="11076559" y="52451"/>
                    <a:pt x="11076559" y="117094"/>
                  </a:cubicBezTo>
                  <a:lnTo>
                    <a:pt x="11076559" y="6021197"/>
                  </a:lnTo>
                  <a:cubicBezTo>
                    <a:pt x="11076559" y="6085840"/>
                    <a:pt x="11024108" y="6138291"/>
                    <a:pt x="10959338" y="6138291"/>
                  </a:cubicBezTo>
                  <a:lnTo>
                    <a:pt x="117221" y="6138291"/>
                  </a:lnTo>
                  <a:cubicBezTo>
                    <a:pt x="52451" y="6138291"/>
                    <a:pt x="0" y="6085840"/>
                    <a:pt x="0" y="6021197"/>
                  </a:cubicBezTo>
                  <a:close/>
                </a:path>
              </a:pathLst>
            </a:custGeom>
            <a:solidFill>
              <a:srgbClr val="F2F2F2"/>
            </a:solidFill>
          </p:spPr>
        </p:sp>
        <p:sp>
          <p:nvSpPr>
            <p:cNvPr id="17" name="Freeform 17"/>
            <p:cNvSpPr/>
            <p:nvPr/>
          </p:nvSpPr>
          <p:spPr>
            <a:xfrm>
              <a:off x="0" y="0"/>
              <a:ext cx="11089259" cy="6150991"/>
            </a:xfrm>
            <a:custGeom>
              <a:avLst/>
              <a:gdLst/>
              <a:ahLst/>
              <a:cxnLst/>
              <a:rect l="l" t="t" r="r" b="b"/>
              <a:pathLst>
                <a:path w="11089259" h="6150991">
                  <a:moveTo>
                    <a:pt x="0" y="123444"/>
                  </a:moveTo>
                  <a:cubicBezTo>
                    <a:pt x="0" y="55245"/>
                    <a:pt x="55372" y="0"/>
                    <a:pt x="123571" y="0"/>
                  </a:cubicBezTo>
                  <a:lnTo>
                    <a:pt x="10965688" y="0"/>
                  </a:lnTo>
                  <a:lnTo>
                    <a:pt x="10965688" y="6350"/>
                  </a:lnTo>
                  <a:lnTo>
                    <a:pt x="10965688" y="0"/>
                  </a:lnTo>
                  <a:cubicBezTo>
                    <a:pt x="11033887" y="0"/>
                    <a:pt x="11089259" y="55245"/>
                    <a:pt x="11089259" y="123444"/>
                  </a:cubicBezTo>
                  <a:lnTo>
                    <a:pt x="11082909" y="123444"/>
                  </a:lnTo>
                  <a:lnTo>
                    <a:pt x="11089259" y="123444"/>
                  </a:lnTo>
                  <a:lnTo>
                    <a:pt x="11089259" y="6027547"/>
                  </a:lnTo>
                  <a:lnTo>
                    <a:pt x="11082909" y="6027547"/>
                  </a:lnTo>
                  <a:lnTo>
                    <a:pt x="11089259" y="6027547"/>
                  </a:lnTo>
                  <a:cubicBezTo>
                    <a:pt x="11089259" y="6095746"/>
                    <a:pt x="11033887" y="6150991"/>
                    <a:pt x="10965688" y="6150991"/>
                  </a:cubicBezTo>
                  <a:lnTo>
                    <a:pt x="10965688" y="6144641"/>
                  </a:lnTo>
                  <a:lnTo>
                    <a:pt x="10965688" y="6150991"/>
                  </a:lnTo>
                  <a:lnTo>
                    <a:pt x="123571" y="6150991"/>
                  </a:lnTo>
                  <a:lnTo>
                    <a:pt x="123571" y="6144641"/>
                  </a:lnTo>
                  <a:lnTo>
                    <a:pt x="123571" y="6150991"/>
                  </a:lnTo>
                  <a:cubicBezTo>
                    <a:pt x="55372" y="6150991"/>
                    <a:pt x="0" y="6095746"/>
                    <a:pt x="0" y="6027547"/>
                  </a:cubicBezTo>
                  <a:lnTo>
                    <a:pt x="0" y="123444"/>
                  </a:lnTo>
                  <a:lnTo>
                    <a:pt x="6350" y="123444"/>
                  </a:lnTo>
                  <a:lnTo>
                    <a:pt x="0" y="123444"/>
                  </a:lnTo>
                  <a:moveTo>
                    <a:pt x="12700" y="123444"/>
                  </a:moveTo>
                  <a:lnTo>
                    <a:pt x="12700" y="6027547"/>
                  </a:lnTo>
                  <a:lnTo>
                    <a:pt x="6350" y="6027547"/>
                  </a:lnTo>
                  <a:lnTo>
                    <a:pt x="12700" y="6027547"/>
                  </a:lnTo>
                  <a:cubicBezTo>
                    <a:pt x="12700" y="6088761"/>
                    <a:pt x="62357" y="6138291"/>
                    <a:pt x="123571" y="6138291"/>
                  </a:cubicBezTo>
                  <a:lnTo>
                    <a:pt x="10965688" y="6138291"/>
                  </a:lnTo>
                  <a:cubicBezTo>
                    <a:pt x="11026902" y="6138291"/>
                    <a:pt x="11076559" y="6088634"/>
                    <a:pt x="11076559" y="6027547"/>
                  </a:cubicBezTo>
                  <a:lnTo>
                    <a:pt x="11076559" y="123444"/>
                  </a:lnTo>
                  <a:cubicBezTo>
                    <a:pt x="11076559" y="62230"/>
                    <a:pt x="11026902" y="12700"/>
                    <a:pt x="10965688" y="12700"/>
                  </a:cubicBezTo>
                  <a:lnTo>
                    <a:pt x="123571" y="12700"/>
                  </a:lnTo>
                  <a:lnTo>
                    <a:pt x="123571" y="6350"/>
                  </a:lnTo>
                  <a:lnTo>
                    <a:pt x="123571" y="12700"/>
                  </a:lnTo>
                  <a:cubicBezTo>
                    <a:pt x="62357" y="12700"/>
                    <a:pt x="12700" y="62357"/>
                    <a:pt x="12700" y="123444"/>
                  </a:cubicBezTo>
                  <a:close/>
                </a:path>
              </a:pathLst>
            </a:custGeom>
            <a:solidFill>
              <a:srgbClr val="D8D8D8"/>
            </a:solidFill>
          </p:spPr>
        </p:sp>
      </p:grpSp>
      <p:grpSp>
        <p:nvGrpSpPr>
          <p:cNvPr id="18" name="Group 18"/>
          <p:cNvGrpSpPr/>
          <p:nvPr/>
        </p:nvGrpSpPr>
        <p:grpSpPr>
          <a:xfrm>
            <a:off x="2379018" y="4679454"/>
            <a:ext cx="5240982" cy="505103"/>
            <a:chOff x="0" y="-28575"/>
            <a:chExt cx="6987976" cy="673470"/>
          </a:xfrm>
        </p:grpSpPr>
        <p:sp>
          <p:nvSpPr>
            <p:cNvPr id="19" name="Freeform 19"/>
            <p:cNvSpPr/>
            <p:nvPr/>
          </p:nvSpPr>
          <p:spPr>
            <a:xfrm>
              <a:off x="0" y="0"/>
              <a:ext cx="6684763" cy="644895"/>
            </a:xfrm>
            <a:custGeom>
              <a:avLst/>
              <a:gdLst/>
              <a:ahLst/>
              <a:cxnLst/>
              <a:rect l="l" t="t" r="r" b="b"/>
              <a:pathLst>
                <a:path w="6684763" h="644895">
                  <a:moveTo>
                    <a:pt x="0" y="0"/>
                  </a:moveTo>
                  <a:lnTo>
                    <a:pt x="6684763" y="0"/>
                  </a:lnTo>
                  <a:lnTo>
                    <a:pt x="6684763" y="644895"/>
                  </a:lnTo>
                  <a:lnTo>
                    <a:pt x="0" y="644895"/>
                  </a:lnTo>
                  <a:close/>
                </a:path>
              </a:pathLst>
            </a:custGeom>
            <a:solidFill>
              <a:srgbClr val="000000">
                <a:alpha val="0"/>
              </a:srgbClr>
            </a:solidFill>
          </p:spPr>
        </p:sp>
        <p:sp>
          <p:nvSpPr>
            <p:cNvPr id="20" name="TextBox 20"/>
            <p:cNvSpPr txBox="1"/>
            <p:nvPr/>
          </p:nvSpPr>
          <p:spPr>
            <a:xfrm>
              <a:off x="0" y="-28575"/>
              <a:ext cx="6987976" cy="673470"/>
            </a:xfrm>
            <a:prstGeom prst="rect">
              <a:avLst/>
            </a:prstGeom>
          </p:spPr>
          <p:txBody>
            <a:bodyPr lIns="0" tIns="0" rIns="0" bIns="0" rtlCol="0" anchor="t"/>
            <a:lstStyle/>
            <a:p>
              <a:pPr algn="ctr">
                <a:lnSpc>
                  <a:spcPts val="3626"/>
                </a:lnSpc>
              </a:pPr>
              <a:r>
                <a:rPr lang="en-US" sz="2887" spc="-57" dirty="0">
                  <a:solidFill>
                    <a:srgbClr val="000000"/>
                  </a:solidFill>
                  <a:latin typeface="Petrona"/>
                  <a:ea typeface="Petrona"/>
                  <a:cs typeface="Petrona"/>
                  <a:sym typeface="Petrona"/>
                </a:rPr>
                <a:t>Common Comparison Operators:</a:t>
              </a:r>
            </a:p>
          </p:txBody>
        </p:sp>
      </p:grpSp>
      <p:grpSp>
        <p:nvGrpSpPr>
          <p:cNvPr id="21" name="Group 21"/>
          <p:cNvGrpSpPr/>
          <p:nvPr/>
        </p:nvGrpSpPr>
        <p:grpSpPr>
          <a:xfrm>
            <a:off x="950714" y="5257651"/>
            <a:ext cx="7870180" cy="393721"/>
            <a:chOff x="0" y="0"/>
            <a:chExt cx="10493573" cy="524961"/>
          </a:xfrm>
        </p:grpSpPr>
        <p:sp>
          <p:nvSpPr>
            <p:cNvPr id="22" name="Freeform 22"/>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23" name="TextBox 23"/>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(Equal to): Checks if two values are equal.</a:t>
              </a:r>
            </a:p>
          </p:txBody>
        </p:sp>
      </p:grpSp>
      <p:grpSp>
        <p:nvGrpSpPr>
          <p:cNvPr id="24" name="Group 24"/>
          <p:cNvGrpSpPr/>
          <p:nvPr/>
        </p:nvGrpSpPr>
        <p:grpSpPr>
          <a:xfrm>
            <a:off x="950714" y="5674965"/>
            <a:ext cx="7870180" cy="393721"/>
            <a:chOff x="0" y="0"/>
            <a:chExt cx="10493573" cy="524961"/>
          </a:xfrm>
        </p:grpSpPr>
        <p:sp>
          <p:nvSpPr>
            <p:cNvPr id="25" name="Freeform 25"/>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26" name="TextBox 26"/>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(Not equal to): Checks if two values are not equal.</a:t>
              </a:r>
            </a:p>
          </p:txBody>
        </p:sp>
      </p:grpSp>
      <p:grpSp>
        <p:nvGrpSpPr>
          <p:cNvPr id="27" name="Group 27"/>
          <p:cNvGrpSpPr/>
          <p:nvPr/>
        </p:nvGrpSpPr>
        <p:grpSpPr>
          <a:xfrm>
            <a:off x="950714" y="6092279"/>
            <a:ext cx="7870180" cy="393721"/>
            <a:chOff x="0" y="0"/>
            <a:chExt cx="10493573" cy="524961"/>
          </a:xfrm>
        </p:grpSpPr>
        <p:sp>
          <p:nvSpPr>
            <p:cNvPr id="28" name="Freeform 28"/>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29" name="TextBox 29"/>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&gt; (Greater than): Checks if the left value is greater than the right.</a:t>
              </a:r>
            </a:p>
          </p:txBody>
        </p:sp>
      </p:grpSp>
      <p:grpSp>
        <p:nvGrpSpPr>
          <p:cNvPr id="30" name="Group 30"/>
          <p:cNvGrpSpPr/>
          <p:nvPr/>
        </p:nvGrpSpPr>
        <p:grpSpPr>
          <a:xfrm>
            <a:off x="950714" y="6509594"/>
            <a:ext cx="7870180" cy="393721"/>
            <a:chOff x="0" y="0"/>
            <a:chExt cx="10493573" cy="524961"/>
          </a:xfrm>
        </p:grpSpPr>
        <p:sp>
          <p:nvSpPr>
            <p:cNvPr id="31" name="Freeform 31"/>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32" name="TextBox 32"/>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&lt; (Less than): Checks if the left value is less than the right.</a:t>
              </a:r>
            </a:p>
          </p:txBody>
        </p:sp>
      </p:grpSp>
      <p:grpSp>
        <p:nvGrpSpPr>
          <p:cNvPr id="33" name="Group 33"/>
          <p:cNvGrpSpPr/>
          <p:nvPr/>
        </p:nvGrpSpPr>
        <p:grpSpPr>
          <a:xfrm>
            <a:off x="950714" y="6926908"/>
            <a:ext cx="7870180" cy="765196"/>
            <a:chOff x="0" y="0"/>
            <a:chExt cx="10493573" cy="1020261"/>
          </a:xfrm>
        </p:grpSpPr>
        <p:sp>
          <p:nvSpPr>
            <p:cNvPr id="34" name="Freeform 34"/>
            <p:cNvSpPr/>
            <p:nvPr/>
          </p:nvSpPr>
          <p:spPr>
            <a:xfrm>
              <a:off x="0" y="0"/>
              <a:ext cx="10493573" cy="1020261"/>
            </a:xfrm>
            <a:custGeom>
              <a:avLst/>
              <a:gdLst/>
              <a:ahLst/>
              <a:cxnLst/>
              <a:rect l="l" t="t" r="r" b="b"/>
              <a:pathLst>
                <a:path w="10493573" h="1020261">
                  <a:moveTo>
                    <a:pt x="0" y="0"/>
                  </a:moveTo>
                  <a:lnTo>
                    <a:pt x="10493573" y="0"/>
                  </a:lnTo>
                  <a:lnTo>
                    <a:pt x="10493573" y="1020261"/>
                  </a:lnTo>
                  <a:lnTo>
                    <a:pt x="0" y="1020261"/>
                  </a:lnTo>
                  <a:close/>
                </a:path>
              </a:pathLst>
            </a:custGeom>
            <a:solidFill>
              <a:srgbClr val="000000">
                <a:alpha val="0"/>
              </a:srgbClr>
            </a:solidFill>
          </p:spPr>
        </p:sp>
        <p:sp>
          <p:nvSpPr>
            <p:cNvPr id="35" name="TextBox 35"/>
            <p:cNvSpPr txBox="1"/>
            <p:nvPr/>
          </p:nvSpPr>
          <p:spPr>
            <a:xfrm>
              <a:off x="0" y="-76200"/>
              <a:ext cx="10493573" cy="10964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&gt;= (Greater than or equal to): Checks if the left value is greater than or equal to the right.</a:t>
              </a:r>
            </a:p>
          </p:txBody>
        </p:sp>
      </p:grpSp>
      <p:grpSp>
        <p:nvGrpSpPr>
          <p:cNvPr id="36" name="Group 36"/>
          <p:cNvGrpSpPr/>
          <p:nvPr/>
        </p:nvGrpSpPr>
        <p:grpSpPr>
          <a:xfrm>
            <a:off x="950714" y="7678936"/>
            <a:ext cx="7870180" cy="765196"/>
            <a:chOff x="0" y="0"/>
            <a:chExt cx="10493573" cy="1020261"/>
          </a:xfrm>
        </p:grpSpPr>
        <p:sp>
          <p:nvSpPr>
            <p:cNvPr id="37" name="Freeform 37"/>
            <p:cNvSpPr/>
            <p:nvPr/>
          </p:nvSpPr>
          <p:spPr>
            <a:xfrm>
              <a:off x="0" y="0"/>
              <a:ext cx="10493573" cy="1020261"/>
            </a:xfrm>
            <a:custGeom>
              <a:avLst/>
              <a:gdLst/>
              <a:ahLst/>
              <a:cxnLst/>
              <a:rect l="l" t="t" r="r" b="b"/>
              <a:pathLst>
                <a:path w="10493573" h="1020261">
                  <a:moveTo>
                    <a:pt x="0" y="0"/>
                  </a:moveTo>
                  <a:lnTo>
                    <a:pt x="10493573" y="0"/>
                  </a:lnTo>
                  <a:lnTo>
                    <a:pt x="10493573" y="1020261"/>
                  </a:lnTo>
                  <a:lnTo>
                    <a:pt x="0" y="1020261"/>
                  </a:lnTo>
                  <a:close/>
                </a:path>
              </a:pathLst>
            </a:custGeom>
            <a:solidFill>
              <a:srgbClr val="000000">
                <a:alpha val="0"/>
              </a:srgbClr>
            </a:solidFill>
          </p:spPr>
        </p:sp>
        <p:sp>
          <p:nvSpPr>
            <p:cNvPr id="38" name="TextBox 38"/>
            <p:cNvSpPr txBox="1"/>
            <p:nvPr/>
          </p:nvSpPr>
          <p:spPr>
            <a:xfrm>
              <a:off x="0" y="-76200"/>
              <a:ext cx="10493573" cy="10964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&lt;= (Less than or equal to): Checks if the left value is less than or equal to the right.</a:t>
              </a:r>
            </a:p>
          </p:txBody>
        </p:sp>
      </p:grpSp>
      <p:grpSp>
        <p:nvGrpSpPr>
          <p:cNvPr id="39" name="Group 39"/>
          <p:cNvGrpSpPr/>
          <p:nvPr/>
        </p:nvGrpSpPr>
        <p:grpSpPr>
          <a:xfrm>
            <a:off x="9243864" y="4477494"/>
            <a:ext cx="8316963" cy="5006681"/>
            <a:chOff x="0" y="0"/>
            <a:chExt cx="11089283" cy="6675574"/>
          </a:xfrm>
        </p:grpSpPr>
        <p:sp>
          <p:nvSpPr>
            <p:cNvPr id="40" name="Freeform 40"/>
            <p:cNvSpPr/>
            <p:nvPr/>
          </p:nvSpPr>
          <p:spPr>
            <a:xfrm>
              <a:off x="6350" y="6892"/>
              <a:ext cx="11076559" cy="6661817"/>
            </a:xfrm>
            <a:custGeom>
              <a:avLst/>
              <a:gdLst/>
              <a:ahLst/>
              <a:cxnLst/>
              <a:rect l="l" t="t" r="r" b="b"/>
              <a:pathLst>
                <a:path w="11076559" h="6661817">
                  <a:moveTo>
                    <a:pt x="0" y="127080"/>
                  </a:moveTo>
                  <a:cubicBezTo>
                    <a:pt x="0" y="56924"/>
                    <a:pt x="52451" y="0"/>
                    <a:pt x="117221" y="0"/>
                  </a:cubicBezTo>
                  <a:lnTo>
                    <a:pt x="10959338" y="0"/>
                  </a:lnTo>
                  <a:cubicBezTo>
                    <a:pt x="11024108" y="0"/>
                    <a:pt x="11076559" y="56924"/>
                    <a:pt x="11076559" y="127080"/>
                  </a:cubicBezTo>
                  <a:lnTo>
                    <a:pt x="11076559" y="6534736"/>
                  </a:lnTo>
                  <a:cubicBezTo>
                    <a:pt x="11076559" y="6604892"/>
                    <a:pt x="11024108" y="6661816"/>
                    <a:pt x="10959338" y="6661816"/>
                  </a:cubicBezTo>
                  <a:lnTo>
                    <a:pt x="117221" y="6661816"/>
                  </a:lnTo>
                  <a:cubicBezTo>
                    <a:pt x="52451" y="6661816"/>
                    <a:pt x="0" y="6604892"/>
                    <a:pt x="0" y="6534736"/>
                  </a:cubicBezTo>
                  <a:close/>
                </a:path>
              </a:pathLst>
            </a:custGeom>
            <a:solidFill>
              <a:srgbClr val="F2F2F2"/>
            </a:solidFill>
          </p:spPr>
        </p:sp>
        <p:sp>
          <p:nvSpPr>
            <p:cNvPr id="41" name="Freeform 41"/>
            <p:cNvSpPr/>
            <p:nvPr/>
          </p:nvSpPr>
          <p:spPr>
            <a:xfrm>
              <a:off x="0" y="0"/>
              <a:ext cx="11089259" cy="6675598"/>
            </a:xfrm>
            <a:custGeom>
              <a:avLst/>
              <a:gdLst/>
              <a:ahLst/>
              <a:cxnLst/>
              <a:rect l="l" t="t" r="r" b="b"/>
              <a:pathLst>
                <a:path w="11089259" h="6675598">
                  <a:moveTo>
                    <a:pt x="0" y="133972"/>
                  </a:moveTo>
                  <a:cubicBezTo>
                    <a:pt x="0" y="59957"/>
                    <a:pt x="55372" y="0"/>
                    <a:pt x="123571" y="0"/>
                  </a:cubicBezTo>
                  <a:lnTo>
                    <a:pt x="10965688" y="0"/>
                  </a:lnTo>
                  <a:lnTo>
                    <a:pt x="10965688" y="6892"/>
                  </a:lnTo>
                  <a:lnTo>
                    <a:pt x="10965688" y="0"/>
                  </a:lnTo>
                  <a:cubicBezTo>
                    <a:pt x="11033887" y="0"/>
                    <a:pt x="11089259" y="59957"/>
                    <a:pt x="11089259" y="133972"/>
                  </a:cubicBezTo>
                  <a:lnTo>
                    <a:pt x="11082909" y="133972"/>
                  </a:lnTo>
                  <a:lnTo>
                    <a:pt x="11089259" y="133972"/>
                  </a:lnTo>
                  <a:lnTo>
                    <a:pt x="11089259" y="6541628"/>
                  </a:lnTo>
                  <a:lnTo>
                    <a:pt x="11082909" y="6541628"/>
                  </a:lnTo>
                  <a:lnTo>
                    <a:pt x="11089259" y="6541628"/>
                  </a:lnTo>
                  <a:cubicBezTo>
                    <a:pt x="11089259" y="6615643"/>
                    <a:pt x="11033887" y="6675598"/>
                    <a:pt x="10965688" y="6675598"/>
                  </a:cubicBezTo>
                  <a:lnTo>
                    <a:pt x="10965688" y="6668708"/>
                  </a:lnTo>
                  <a:lnTo>
                    <a:pt x="10965688" y="6675598"/>
                  </a:lnTo>
                  <a:lnTo>
                    <a:pt x="123571" y="6675598"/>
                  </a:lnTo>
                  <a:lnTo>
                    <a:pt x="123571" y="6668708"/>
                  </a:lnTo>
                  <a:lnTo>
                    <a:pt x="123571" y="6675598"/>
                  </a:lnTo>
                  <a:cubicBezTo>
                    <a:pt x="55372" y="6675598"/>
                    <a:pt x="0" y="6615643"/>
                    <a:pt x="0" y="6541628"/>
                  </a:cubicBezTo>
                  <a:lnTo>
                    <a:pt x="0" y="133972"/>
                  </a:lnTo>
                  <a:lnTo>
                    <a:pt x="6350" y="133972"/>
                  </a:lnTo>
                  <a:lnTo>
                    <a:pt x="0" y="133972"/>
                  </a:lnTo>
                  <a:moveTo>
                    <a:pt x="12700" y="133972"/>
                  </a:moveTo>
                  <a:lnTo>
                    <a:pt x="12700" y="6541628"/>
                  </a:lnTo>
                  <a:lnTo>
                    <a:pt x="6350" y="6541628"/>
                  </a:lnTo>
                  <a:lnTo>
                    <a:pt x="12700" y="6541628"/>
                  </a:lnTo>
                  <a:cubicBezTo>
                    <a:pt x="12700" y="6608063"/>
                    <a:pt x="62357" y="6661817"/>
                    <a:pt x="123571" y="6661817"/>
                  </a:cubicBezTo>
                  <a:lnTo>
                    <a:pt x="10965688" y="6661817"/>
                  </a:lnTo>
                  <a:cubicBezTo>
                    <a:pt x="11026902" y="6661817"/>
                    <a:pt x="11076559" y="6607925"/>
                    <a:pt x="11076559" y="6541628"/>
                  </a:cubicBezTo>
                  <a:lnTo>
                    <a:pt x="11076559" y="133972"/>
                  </a:lnTo>
                  <a:cubicBezTo>
                    <a:pt x="11076559" y="67538"/>
                    <a:pt x="11026902" y="13783"/>
                    <a:pt x="10965688" y="13783"/>
                  </a:cubicBezTo>
                  <a:lnTo>
                    <a:pt x="123571" y="13783"/>
                  </a:lnTo>
                  <a:lnTo>
                    <a:pt x="123571" y="6892"/>
                  </a:lnTo>
                  <a:lnTo>
                    <a:pt x="123571" y="13783"/>
                  </a:lnTo>
                  <a:cubicBezTo>
                    <a:pt x="62357" y="13783"/>
                    <a:pt x="12700" y="67675"/>
                    <a:pt x="12700" y="133972"/>
                  </a:cubicBezTo>
                  <a:close/>
                </a:path>
              </a:pathLst>
            </a:custGeom>
            <a:solidFill>
              <a:srgbClr val="D8D8D8"/>
            </a:solidFill>
          </p:spPr>
        </p:sp>
      </p:grpSp>
      <p:grpSp>
        <p:nvGrpSpPr>
          <p:cNvPr id="42" name="Group 42"/>
          <p:cNvGrpSpPr/>
          <p:nvPr/>
        </p:nvGrpSpPr>
        <p:grpSpPr>
          <a:xfrm>
            <a:off x="10928598" y="4700885"/>
            <a:ext cx="5197726" cy="483672"/>
            <a:chOff x="0" y="0"/>
            <a:chExt cx="6930301" cy="644895"/>
          </a:xfrm>
        </p:grpSpPr>
        <p:sp>
          <p:nvSpPr>
            <p:cNvPr id="43" name="Freeform 43"/>
            <p:cNvSpPr/>
            <p:nvPr/>
          </p:nvSpPr>
          <p:spPr>
            <a:xfrm>
              <a:off x="0" y="0"/>
              <a:ext cx="6930301" cy="644895"/>
            </a:xfrm>
            <a:custGeom>
              <a:avLst/>
              <a:gdLst/>
              <a:ahLst/>
              <a:cxnLst/>
              <a:rect l="l" t="t" r="r" b="b"/>
              <a:pathLst>
                <a:path w="6930301" h="644895">
                  <a:moveTo>
                    <a:pt x="0" y="0"/>
                  </a:moveTo>
                  <a:lnTo>
                    <a:pt x="6930301" y="0"/>
                  </a:lnTo>
                  <a:lnTo>
                    <a:pt x="6930301" y="644895"/>
                  </a:lnTo>
                  <a:lnTo>
                    <a:pt x="0" y="644895"/>
                  </a:lnTo>
                  <a:close/>
                </a:path>
              </a:pathLst>
            </a:custGeom>
            <a:solidFill>
              <a:srgbClr val="000000">
                <a:alpha val="0"/>
              </a:srgbClr>
            </a:solidFill>
          </p:spPr>
        </p:sp>
        <p:sp>
          <p:nvSpPr>
            <p:cNvPr id="44" name="TextBox 44"/>
            <p:cNvSpPr txBox="1"/>
            <p:nvPr/>
          </p:nvSpPr>
          <p:spPr>
            <a:xfrm>
              <a:off x="0" y="-28575"/>
              <a:ext cx="6930301" cy="673470"/>
            </a:xfrm>
            <a:prstGeom prst="rect">
              <a:avLst/>
            </a:prstGeom>
          </p:spPr>
          <p:txBody>
            <a:bodyPr lIns="0" tIns="0" rIns="0" bIns="0" rtlCol="0" anchor="t"/>
            <a:lstStyle/>
            <a:p>
              <a:pPr algn="ctr">
                <a:lnSpc>
                  <a:spcPts val="3626"/>
                </a:lnSpc>
              </a:pPr>
              <a:r>
                <a:rPr lang="en-US" sz="2887" spc="-57">
                  <a:solidFill>
                    <a:srgbClr val="000000"/>
                  </a:solidFill>
                  <a:latin typeface="Petrona"/>
                  <a:ea typeface="Petrona"/>
                  <a:cs typeface="Petrona"/>
                  <a:sym typeface="Petrona"/>
                </a:rPr>
                <a:t>Common Assignment Operators:</a:t>
              </a:r>
            </a:p>
          </p:txBody>
        </p:sp>
      </p:grpSp>
      <p:grpSp>
        <p:nvGrpSpPr>
          <p:cNvPr id="45" name="Group 45"/>
          <p:cNvGrpSpPr/>
          <p:nvPr/>
        </p:nvGrpSpPr>
        <p:grpSpPr>
          <a:xfrm>
            <a:off x="9467255" y="5257651"/>
            <a:ext cx="7870180" cy="393721"/>
            <a:chOff x="0" y="0"/>
            <a:chExt cx="10493573" cy="524961"/>
          </a:xfrm>
        </p:grpSpPr>
        <p:sp>
          <p:nvSpPr>
            <p:cNvPr id="46" name="Freeform 46"/>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47" name="TextBox 47"/>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Assigns a value to a variable.</a:t>
              </a:r>
            </a:p>
          </p:txBody>
        </p:sp>
      </p:grpSp>
      <p:grpSp>
        <p:nvGrpSpPr>
          <p:cNvPr id="48" name="Group 48"/>
          <p:cNvGrpSpPr/>
          <p:nvPr/>
        </p:nvGrpSpPr>
        <p:grpSpPr>
          <a:xfrm>
            <a:off x="9467255" y="5674965"/>
            <a:ext cx="7870180" cy="393721"/>
            <a:chOff x="0" y="0"/>
            <a:chExt cx="10493573" cy="524961"/>
          </a:xfrm>
        </p:grpSpPr>
        <p:sp>
          <p:nvSpPr>
            <p:cNvPr id="49" name="Freeform 49"/>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50" name="TextBox 50"/>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Adds and assigns the result to the variable (equivalent to x = x + y).</a:t>
              </a:r>
            </a:p>
          </p:txBody>
        </p:sp>
      </p:grpSp>
      <p:grpSp>
        <p:nvGrpSpPr>
          <p:cNvPr id="51" name="Group 51"/>
          <p:cNvGrpSpPr/>
          <p:nvPr/>
        </p:nvGrpSpPr>
        <p:grpSpPr>
          <a:xfrm>
            <a:off x="9467255" y="6092279"/>
            <a:ext cx="7870180" cy="393721"/>
            <a:chOff x="0" y="0"/>
            <a:chExt cx="10493573" cy="524961"/>
          </a:xfrm>
        </p:grpSpPr>
        <p:sp>
          <p:nvSpPr>
            <p:cNvPr id="52" name="Freeform 52"/>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53" name="TextBox 53"/>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Subtracts and assigns the result to the var (equivalent to x = x - y).</a:t>
              </a:r>
            </a:p>
          </p:txBody>
        </p:sp>
      </p:grpSp>
      <p:grpSp>
        <p:nvGrpSpPr>
          <p:cNvPr id="54" name="Group 54"/>
          <p:cNvGrpSpPr/>
          <p:nvPr/>
        </p:nvGrpSpPr>
        <p:grpSpPr>
          <a:xfrm>
            <a:off x="9467255" y="6509594"/>
            <a:ext cx="7870180" cy="393721"/>
            <a:chOff x="0" y="0"/>
            <a:chExt cx="10493573" cy="524961"/>
          </a:xfrm>
        </p:grpSpPr>
        <p:sp>
          <p:nvSpPr>
            <p:cNvPr id="55" name="Freeform 55"/>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56" name="TextBox 56"/>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Multiplies and assigns the result to the var (equivalent to x = x * y).</a:t>
              </a:r>
            </a:p>
          </p:txBody>
        </p:sp>
      </p:grpSp>
      <p:grpSp>
        <p:nvGrpSpPr>
          <p:cNvPr id="57" name="Group 57"/>
          <p:cNvGrpSpPr/>
          <p:nvPr/>
        </p:nvGrpSpPr>
        <p:grpSpPr>
          <a:xfrm>
            <a:off x="9467255" y="6926908"/>
            <a:ext cx="7870180" cy="393721"/>
            <a:chOff x="0" y="0"/>
            <a:chExt cx="10493573" cy="524961"/>
          </a:xfrm>
        </p:grpSpPr>
        <p:sp>
          <p:nvSpPr>
            <p:cNvPr id="58" name="Freeform 58"/>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59" name="TextBox 59"/>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Divides and assigns the result to the variable (equivalent to x = x / y).</a:t>
              </a:r>
            </a:p>
          </p:txBody>
        </p:sp>
      </p:grpSp>
      <p:grpSp>
        <p:nvGrpSpPr>
          <p:cNvPr id="60" name="Group 60"/>
          <p:cNvGrpSpPr/>
          <p:nvPr/>
        </p:nvGrpSpPr>
        <p:grpSpPr>
          <a:xfrm>
            <a:off x="9467255" y="7344221"/>
            <a:ext cx="7870180" cy="393721"/>
            <a:chOff x="0" y="0"/>
            <a:chExt cx="10493573" cy="524961"/>
          </a:xfrm>
        </p:grpSpPr>
        <p:sp>
          <p:nvSpPr>
            <p:cNvPr id="61" name="Freeform 61"/>
            <p:cNvSpPr/>
            <p:nvPr/>
          </p:nvSpPr>
          <p:spPr>
            <a:xfrm>
              <a:off x="0" y="0"/>
              <a:ext cx="10493573" cy="524961"/>
            </a:xfrm>
            <a:custGeom>
              <a:avLst/>
              <a:gdLst/>
              <a:ahLst/>
              <a:cxnLst/>
              <a:rect l="l" t="t" r="r" b="b"/>
              <a:pathLst>
                <a:path w="10493573" h="524961">
                  <a:moveTo>
                    <a:pt x="0" y="0"/>
                  </a:moveTo>
                  <a:lnTo>
                    <a:pt x="10493573" y="0"/>
                  </a:lnTo>
                  <a:lnTo>
                    <a:pt x="10493573" y="524961"/>
                  </a:lnTo>
                  <a:lnTo>
                    <a:pt x="0" y="524961"/>
                  </a:lnTo>
                  <a:close/>
                </a:path>
              </a:pathLst>
            </a:custGeom>
            <a:solidFill>
              <a:srgbClr val="000000">
                <a:alpha val="0"/>
              </a:srgbClr>
            </a:solidFill>
          </p:spPr>
        </p:sp>
        <p:sp>
          <p:nvSpPr>
            <p:cNvPr id="62" name="TextBox 62"/>
            <p:cNvSpPr txBox="1"/>
            <p:nvPr/>
          </p:nvSpPr>
          <p:spPr>
            <a:xfrm>
              <a:off x="0" y="-76200"/>
              <a:ext cx="10493573" cy="6011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Floor divides and assigns the result  (equivalent to x = x // y).</a:t>
              </a:r>
            </a:p>
          </p:txBody>
        </p:sp>
      </p:grpSp>
      <p:grpSp>
        <p:nvGrpSpPr>
          <p:cNvPr id="63" name="Group 63"/>
          <p:cNvGrpSpPr/>
          <p:nvPr/>
        </p:nvGrpSpPr>
        <p:grpSpPr>
          <a:xfrm>
            <a:off x="9467255" y="7761535"/>
            <a:ext cx="7870180" cy="688479"/>
            <a:chOff x="0" y="0"/>
            <a:chExt cx="10493573" cy="917972"/>
          </a:xfrm>
        </p:grpSpPr>
        <p:sp>
          <p:nvSpPr>
            <p:cNvPr id="64" name="Freeform 64"/>
            <p:cNvSpPr/>
            <p:nvPr/>
          </p:nvSpPr>
          <p:spPr>
            <a:xfrm>
              <a:off x="0" y="0"/>
              <a:ext cx="10493573" cy="917972"/>
            </a:xfrm>
            <a:custGeom>
              <a:avLst/>
              <a:gdLst/>
              <a:ahLst/>
              <a:cxnLst/>
              <a:rect l="l" t="t" r="r" b="b"/>
              <a:pathLst>
                <a:path w="10493573" h="917972">
                  <a:moveTo>
                    <a:pt x="0" y="0"/>
                  </a:moveTo>
                  <a:lnTo>
                    <a:pt x="10493573" y="0"/>
                  </a:lnTo>
                  <a:lnTo>
                    <a:pt x="10493573" y="917972"/>
                  </a:lnTo>
                  <a:lnTo>
                    <a:pt x="0" y="917972"/>
                  </a:lnTo>
                  <a:close/>
                </a:path>
              </a:pathLst>
            </a:custGeom>
            <a:solidFill>
              <a:srgbClr val="000000">
                <a:alpha val="0"/>
              </a:srgbClr>
            </a:solidFill>
          </p:spPr>
        </p:sp>
        <p:sp>
          <p:nvSpPr>
            <p:cNvPr id="65" name="TextBox 65"/>
            <p:cNvSpPr txBox="1"/>
            <p:nvPr/>
          </p:nvSpPr>
          <p:spPr>
            <a:xfrm>
              <a:off x="0" y="-76200"/>
              <a:ext cx="10493573" cy="994172"/>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Assigns the remainder of the division (equivalent to x = x % y).</a:t>
              </a:r>
            </a:p>
          </p:txBody>
        </p:sp>
      </p:grpSp>
      <p:grpSp>
        <p:nvGrpSpPr>
          <p:cNvPr id="66" name="Group 66"/>
          <p:cNvGrpSpPr/>
          <p:nvPr/>
        </p:nvGrpSpPr>
        <p:grpSpPr>
          <a:xfrm>
            <a:off x="9467255" y="8223717"/>
            <a:ext cx="7870180" cy="765196"/>
            <a:chOff x="0" y="0"/>
            <a:chExt cx="10493573" cy="1020261"/>
          </a:xfrm>
        </p:grpSpPr>
        <p:sp>
          <p:nvSpPr>
            <p:cNvPr id="67" name="Freeform 67"/>
            <p:cNvSpPr/>
            <p:nvPr/>
          </p:nvSpPr>
          <p:spPr>
            <a:xfrm>
              <a:off x="0" y="0"/>
              <a:ext cx="10493573" cy="1020261"/>
            </a:xfrm>
            <a:custGeom>
              <a:avLst/>
              <a:gdLst/>
              <a:ahLst/>
              <a:cxnLst/>
              <a:rect l="l" t="t" r="r" b="b"/>
              <a:pathLst>
                <a:path w="10493573" h="1020261">
                  <a:moveTo>
                    <a:pt x="0" y="0"/>
                  </a:moveTo>
                  <a:lnTo>
                    <a:pt x="10493573" y="0"/>
                  </a:lnTo>
                  <a:lnTo>
                    <a:pt x="10493573" y="1020261"/>
                  </a:lnTo>
                  <a:lnTo>
                    <a:pt x="0" y="1020261"/>
                  </a:lnTo>
                  <a:close/>
                </a:path>
              </a:pathLst>
            </a:custGeom>
            <a:solidFill>
              <a:srgbClr val="000000">
                <a:alpha val="0"/>
              </a:srgbClr>
            </a:solidFill>
          </p:spPr>
        </p:sp>
        <p:sp>
          <p:nvSpPr>
            <p:cNvPr id="68" name="TextBox 68"/>
            <p:cNvSpPr txBox="1"/>
            <p:nvPr/>
          </p:nvSpPr>
          <p:spPr>
            <a:xfrm>
              <a:off x="0" y="-76200"/>
              <a:ext cx="10493573" cy="1096461"/>
            </a:xfrm>
            <a:prstGeom prst="rect">
              <a:avLst/>
            </a:prstGeom>
          </p:spPr>
          <p:txBody>
            <a:bodyPr lIns="0" tIns="0" rIns="0" bIns="0" rtlCol="0" anchor="t"/>
            <a:lstStyle/>
            <a:p>
              <a:pPr marL="275232" lvl="1" indent="-137616" algn="l">
                <a:lnSpc>
                  <a:spcPts val="2948"/>
                </a:lnSpc>
                <a:buFont typeface="Arial"/>
                <a:buChar char="•"/>
              </a:pPr>
              <a:r>
                <a:rPr lang="en-US" sz="1824" spc="-36">
                  <a:solidFill>
                    <a:srgbClr val="000000"/>
                  </a:solidFill>
                  <a:latin typeface="Inter"/>
                  <a:ea typeface="Inter"/>
                  <a:cs typeface="Inter"/>
                  <a:sym typeface="Inter"/>
                </a:rPr>
                <a:t>**=: Raises the variable to the power of the right-hand value and assigns it.</a:t>
              </a:r>
            </a:p>
          </p:txBody>
        </p:sp>
      </p:grpSp>
      <p:sp>
        <p:nvSpPr>
          <p:cNvPr id="69" name="TextBox 69"/>
          <p:cNvSpPr txBox="1"/>
          <p:nvPr/>
        </p:nvSpPr>
        <p:spPr>
          <a:xfrm>
            <a:off x="15789195" y="9731824"/>
            <a:ext cx="3543263" cy="314326"/>
          </a:xfrm>
          <a:prstGeom prst="rect">
            <a:avLst/>
          </a:prstGeom>
        </p:spPr>
        <p:txBody>
          <a:bodyPr lIns="0" tIns="0" rIns="0" bIns="0" rtlCol="0" anchor="t">
            <a:spAutoFit/>
          </a:bodyPr>
          <a:lstStyle/>
          <a:p>
            <a:pPr algn="l">
              <a:lnSpc>
                <a:spcPts val="2624"/>
              </a:lnSpc>
              <a:spcBef>
                <a:spcPct val="0"/>
              </a:spcBef>
            </a:pPr>
            <a:r>
              <a:rPr lang="en-US" sz="1625" spc="-32">
                <a:solidFill>
                  <a:srgbClr val="272525"/>
                </a:solidFill>
                <a:latin typeface="Inter"/>
                <a:ea typeface="Inter"/>
                <a:cs typeface="Inter"/>
                <a:sym typeface="Inter"/>
              </a:rPr>
              <a:t>Mohammad Anees Alam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774799" y="828824"/>
            <a:ext cx="11096030" cy="760959"/>
            <a:chOff x="0" y="0"/>
            <a:chExt cx="14794707" cy="1014612"/>
          </a:xfrm>
        </p:grpSpPr>
        <p:sp>
          <p:nvSpPr>
            <p:cNvPr id="7" name="Freeform 7"/>
            <p:cNvSpPr/>
            <p:nvPr/>
          </p:nvSpPr>
          <p:spPr>
            <a:xfrm>
              <a:off x="0" y="0"/>
              <a:ext cx="14794706" cy="1014612"/>
            </a:xfrm>
            <a:custGeom>
              <a:avLst/>
              <a:gdLst/>
              <a:ahLst/>
              <a:cxnLst/>
              <a:rect l="l" t="t" r="r" b="b"/>
              <a:pathLst>
                <a:path w="14794706" h="1014612">
                  <a:moveTo>
                    <a:pt x="0" y="0"/>
                  </a:moveTo>
                  <a:lnTo>
                    <a:pt x="14794706" y="0"/>
                  </a:lnTo>
                  <a:lnTo>
                    <a:pt x="14794706" y="1014612"/>
                  </a:lnTo>
                  <a:lnTo>
                    <a:pt x="0" y="1014612"/>
                  </a:lnTo>
                  <a:close/>
                </a:path>
              </a:pathLst>
            </a:custGeom>
            <a:solidFill>
              <a:srgbClr val="000000">
                <a:alpha val="0"/>
              </a:srgbClr>
            </a:solidFill>
          </p:spPr>
        </p:sp>
        <p:sp>
          <p:nvSpPr>
            <p:cNvPr id="8" name="TextBox 8"/>
            <p:cNvSpPr txBox="1"/>
            <p:nvPr/>
          </p:nvSpPr>
          <p:spPr>
            <a:xfrm>
              <a:off x="0" y="-38100"/>
              <a:ext cx="14794707" cy="1052712"/>
            </a:xfrm>
            <a:prstGeom prst="rect">
              <a:avLst/>
            </a:prstGeom>
          </p:spPr>
          <p:txBody>
            <a:bodyPr lIns="0" tIns="0" rIns="0" bIns="0" rtlCol="0" anchor="t"/>
            <a:lstStyle/>
            <a:p>
              <a:pPr algn="l">
                <a:lnSpc>
                  <a:spcPts val="5937"/>
                </a:lnSpc>
              </a:pPr>
              <a:r>
                <a:rPr lang="en-US" sz="4750" spc="-96">
                  <a:solidFill>
                    <a:srgbClr val="F95F88"/>
                  </a:solidFill>
                  <a:latin typeface="Petrona"/>
                  <a:ea typeface="Petrona"/>
                  <a:cs typeface="Petrona"/>
                  <a:sym typeface="Petrona"/>
                </a:rPr>
                <a:t>Control Structures: Conditions and Loops</a:t>
              </a:r>
            </a:p>
          </p:txBody>
        </p:sp>
      </p:grpSp>
      <p:grpSp>
        <p:nvGrpSpPr>
          <p:cNvPr id="9" name="Group 9"/>
          <p:cNvGrpSpPr/>
          <p:nvPr/>
        </p:nvGrpSpPr>
        <p:grpSpPr>
          <a:xfrm>
            <a:off x="784324" y="1849859"/>
            <a:ext cx="16738401" cy="442912"/>
            <a:chOff x="0" y="0"/>
            <a:chExt cx="22317868" cy="590550"/>
          </a:xfrm>
        </p:grpSpPr>
        <p:sp>
          <p:nvSpPr>
            <p:cNvPr id="10" name="Freeform 10"/>
            <p:cNvSpPr/>
            <p:nvPr/>
          </p:nvSpPr>
          <p:spPr>
            <a:xfrm>
              <a:off x="0" y="0"/>
              <a:ext cx="22317869" cy="590550"/>
            </a:xfrm>
            <a:custGeom>
              <a:avLst/>
              <a:gdLst/>
              <a:ahLst/>
              <a:cxnLst/>
              <a:rect l="l" t="t" r="r" b="b"/>
              <a:pathLst>
                <a:path w="22317869" h="590550">
                  <a:moveTo>
                    <a:pt x="0" y="0"/>
                  </a:moveTo>
                  <a:lnTo>
                    <a:pt x="22317869" y="0"/>
                  </a:lnTo>
                  <a:lnTo>
                    <a:pt x="22317869" y="590550"/>
                  </a:lnTo>
                  <a:lnTo>
                    <a:pt x="0" y="590550"/>
                  </a:lnTo>
                  <a:close/>
                </a:path>
              </a:pathLst>
            </a:custGeom>
            <a:solidFill>
              <a:srgbClr val="000000">
                <a:alpha val="0"/>
              </a:srgbClr>
            </a:solidFill>
          </p:spPr>
        </p:sp>
        <p:sp>
          <p:nvSpPr>
            <p:cNvPr id="11" name="TextBox 11"/>
            <p:cNvSpPr txBox="1"/>
            <p:nvPr/>
          </p:nvSpPr>
          <p:spPr>
            <a:xfrm>
              <a:off x="0" y="-85725"/>
              <a:ext cx="22317868" cy="676275"/>
            </a:xfrm>
            <a:prstGeom prst="rect">
              <a:avLst/>
            </a:prstGeom>
          </p:spPr>
          <p:txBody>
            <a:bodyPr lIns="0" tIns="0" rIns="0" bIns="0" rtlCol="0" anchor="t"/>
            <a:lstStyle/>
            <a:p>
              <a:pPr marL="299739" lvl="1" indent="-149869" algn="l">
                <a:lnSpc>
                  <a:spcPts val="3238"/>
                </a:lnSpc>
                <a:buFont typeface="Arial"/>
                <a:buChar char="•"/>
              </a:pPr>
              <a:r>
                <a:rPr lang="en-US" sz="1987" spc="-41">
                  <a:solidFill>
                    <a:srgbClr val="272525"/>
                  </a:solidFill>
                  <a:latin typeface="Inter"/>
                  <a:ea typeface="Inter"/>
                  <a:cs typeface="Inter"/>
                  <a:sym typeface="Inter"/>
                </a:rPr>
                <a:t>Control structures in Python are used to control the flow of execution of a program based on certain conditions or loops. </a:t>
              </a:r>
            </a:p>
          </p:txBody>
        </p:sp>
      </p:grpSp>
      <p:grpSp>
        <p:nvGrpSpPr>
          <p:cNvPr id="12" name="Group 12"/>
          <p:cNvGrpSpPr/>
          <p:nvPr/>
        </p:nvGrpSpPr>
        <p:grpSpPr>
          <a:xfrm>
            <a:off x="774799" y="2423071"/>
            <a:ext cx="16738401" cy="442912"/>
            <a:chOff x="0" y="0"/>
            <a:chExt cx="22317868" cy="590550"/>
          </a:xfrm>
        </p:grpSpPr>
        <p:sp>
          <p:nvSpPr>
            <p:cNvPr id="13" name="Freeform 13"/>
            <p:cNvSpPr/>
            <p:nvPr/>
          </p:nvSpPr>
          <p:spPr>
            <a:xfrm>
              <a:off x="0" y="0"/>
              <a:ext cx="22317869" cy="590550"/>
            </a:xfrm>
            <a:custGeom>
              <a:avLst/>
              <a:gdLst/>
              <a:ahLst/>
              <a:cxnLst/>
              <a:rect l="l" t="t" r="r" b="b"/>
              <a:pathLst>
                <a:path w="22317869" h="590550">
                  <a:moveTo>
                    <a:pt x="0" y="0"/>
                  </a:moveTo>
                  <a:lnTo>
                    <a:pt x="22317869" y="0"/>
                  </a:lnTo>
                  <a:lnTo>
                    <a:pt x="22317869" y="590550"/>
                  </a:lnTo>
                  <a:lnTo>
                    <a:pt x="0" y="590550"/>
                  </a:lnTo>
                  <a:close/>
                </a:path>
              </a:pathLst>
            </a:custGeom>
            <a:solidFill>
              <a:srgbClr val="000000">
                <a:alpha val="0"/>
              </a:srgbClr>
            </a:solidFill>
          </p:spPr>
        </p:sp>
        <p:sp>
          <p:nvSpPr>
            <p:cNvPr id="14" name="TextBox 14"/>
            <p:cNvSpPr txBox="1"/>
            <p:nvPr/>
          </p:nvSpPr>
          <p:spPr>
            <a:xfrm>
              <a:off x="0" y="-85725"/>
              <a:ext cx="22317868" cy="676275"/>
            </a:xfrm>
            <a:prstGeom prst="rect">
              <a:avLst/>
            </a:prstGeom>
          </p:spPr>
          <p:txBody>
            <a:bodyPr lIns="0" tIns="0" rIns="0" bIns="0" rtlCol="0" anchor="t"/>
            <a:lstStyle/>
            <a:p>
              <a:pPr marL="299739" lvl="1" indent="-149869" algn="l">
                <a:lnSpc>
                  <a:spcPts val="3238"/>
                </a:lnSpc>
                <a:buFont typeface="Arial"/>
                <a:buChar char="•"/>
              </a:pPr>
              <a:r>
                <a:rPr lang="en-US" sz="1987" spc="-41">
                  <a:solidFill>
                    <a:srgbClr val="272525"/>
                  </a:solidFill>
                  <a:latin typeface="Inter"/>
                  <a:ea typeface="Inter"/>
                  <a:cs typeface="Inter"/>
                  <a:sym typeface="Inter"/>
                </a:rPr>
                <a:t>They are fundamental to writing logic and handling different cases in the program.</a:t>
              </a:r>
            </a:p>
          </p:txBody>
        </p:sp>
      </p:grpSp>
      <p:grpSp>
        <p:nvGrpSpPr>
          <p:cNvPr id="15" name="Group 15"/>
          <p:cNvGrpSpPr/>
          <p:nvPr/>
        </p:nvGrpSpPr>
        <p:grpSpPr>
          <a:xfrm>
            <a:off x="2997844" y="3332979"/>
            <a:ext cx="3653135" cy="551313"/>
            <a:chOff x="0" y="0"/>
            <a:chExt cx="4870847" cy="735084"/>
          </a:xfrm>
        </p:grpSpPr>
        <p:sp>
          <p:nvSpPr>
            <p:cNvPr id="16" name="Freeform 16"/>
            <p:cNvSpPr/>
            <p:nvPr/>
          </p:nvSpPr>
          <p:spPr>
            <a:xfrm>
              <a:off x="0" y="0"/>
              <a:ext cx="4870847" cy="735084"/>
            </a:xfrm>
            <a:custGeom>
              <a:avLst/>
              <a:gdLst/>
              <a:ahLst/>
              <a:cxnLst/>
              <a:rect l="l" t="t" r="r" b="b"/>
              <a:pathLst>
                <a:path w="4870847" h="735084">
                  <a:moveTo>
                    <a:pt x="0" y="0"/>
                  </a:moveTo>
                  <a:lnTo>
                    <a:pt x="4870847" y="0"/>
                  </a:lnTo>
                  <a:lnTo>
                    <a:pt x="4870847" y="735084"/>
                  </a:lnTo>
                  <a:lnTo>
                    <a:pt x="0" y="735084"/>
                  </a:lnTo>
                  <a:close/>
                </a:path>
              </a:pathLst>
            </a:custGeom>
            <a:solidFill>
              <a:srgbClr val="000000">
                <a:alpha val="0"/>
              </a:srgbClr>
            </a:solidFill>
          </p:spPr>
        </p:sp>
        <p:sp>
          <p:nvSpPr>
            <p:cNvPr id="17" name="TextBox 17"/>
            <p:cNvSpPr txBox="1"/>
            <p:nvPr/>
          </p:nvSpPr>
          <p:spPr>
            <a:xfrm>
              <a:off x="0" y="-19050"/>
              <a:ext cx="4870847" cy="754134"/>
            </a:xfrm>
            <a:prstGeom prst="rect">
              <a:avLst/>
            </a:prstGeom>
          </p:spPr>
          <p:txBody>
            <a:bodyPr lIns="0" tIns="0" rIns="0" bIns="0" rtlCol="0" anchor="t"/>
            <a:lstStyle/>
            <a:p>
              <a:pPr algn="ctr">
                <a:lnSpc>
                  <a:spcPts val="4058"/>
                </a:lnSpc>
              </a:pPr>
              <a:r>
                <a:rPr lang="en-US" sz="3274" spc="-65">
                  <a:solidFill>
                    <a:srgbClr val="F95F88"/>
                  </a:solidFill>
                  <a:latin typeface="Petrona"/>
                  <a:ea typeface="Petrona"/>
                  <a:cs typeface="Petrona"/>
                  <a:sym typeface="Petrona"/>
                </a:rPr>
                <a:t>Conditions</a:t>
              </a:r>
            </a:p>
          </p:txBody>
        </p:sp>
      </p:grpSp>
      <p:grpSp>
        <p:nvGrpSpPr>
          <p:cNvPr id="18" name="Group 18"/>
          <p:cNvGrpSpPr/>
          <p:nvPr/>
        </p:nvGrpSpPr>
        <p:grpSpPr>
          <a:xfrm>
            <a:off x="774799" y="4143970"/>
            <a:ext cx="8099226" cy="442912"/>
            <a:chOff x="0" y="0"/>
            <a:chExt cx="10798968" cy="590550"/>
          </a:xfrm>
        </p:grpSpPr>
        <p:sp>
          <p:nvSpPr>
            <p:cNvPr id="19" name="Freeform 19"/>
            <p:cNvSpPr/>
            <p:nvPr/>
          </p:nvSpPr>
          <p:spPr>
            <a:xfrm>
              <a:off x="0" y="0"/>
              <a:ext cx="10798968" cy="590550"/>
            </a:xfrm>
            <a:custGeom>
              <a:avLst/>
              <a:gdLst/>
              <a:ahLst/>
              <a:cxnLst/>
              <a:rect l="l" t="t" r="r" b="b"/>
              <a:pathLst>
                <a:path w="10798968" h="590550">
                  <a:moveTo>
                    <a:pt x="0" y="0"/>
                  </a:moveTo>
                  <a:lnTo>
                    <a:pt x="10798968" y="0"/>
                  </a:lnTo>
                  <a:lnTo>
                    <a:pt x="10798968" y="590550"/>
                  </a:lnTo>
                  <a:lnTo>
                    <a:pt x="0" y="590550"/>
                  </a:lnTo>
                  <a:close/>
                </a:path>
              </a:pathLst>
            </a:custGeom>
            <a:solidFill>
              <a:srgbClr val="000000">
                <a:alpha val="0"/>
              </a:srgbClr>
            </a:solidFill>
          </p:spPr>
        </p:sp>
        <p:sp>
          <p:nvSpPr>
            <p:cNvPr id="20" name="TextBox 20"/>
            <p:cNvSpPr txBox="1"/>
            <p:nvPr/>
          </p:nvSpPr>
          <p:spPr>
            <a:xfrm>
              <a:off x="0" y="-85725"/>
              <a:ext cx="10798968" cy="67627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if:</a:t>
              </a:r>
              <a:r>
                <a:rPr lang="en-US" sz="1987" spc="-41">
                  <a:solidFill>
                    <a:srgbClr val="272525"/>
                  </a:solidFill>
                  <a:latin typeface="Inter"/>
                  <a:ea typeface="Inter"/>
                  <a:cs typeface="Inter"/>
                  <a:sym typeface="Inter"/>
                </a:rPr>
                <a:t> Runs the code block if the condition is true.</a:t>
              </a:r>
            </a:p>
          </p:txBody>
        </p:sp>
      </p:grpSp>
      <p:grpSp>
        <p:nvGrpSpPr>
          <p:cNvPr id="21" name="Group 21"/>
          <p:cNvGrpSpPr/>
          <p:nvPr/>
        </p:nvGrpSpPr>
        <p:grpSpPr>
          <a:xfrm>
            <a:off x="774799" y="4664274"/>
            <a:ext cx="8099226" cy="885825"/>
            <a:chOff x="0" y="0"/>
            <a:chExt cx="10798968" cy="1181100"/>
          </a:xfrm>
        </p:grpSpPr>
        <p:sp>
          <p:nvSpPr>
            <p:cNvPr id="22" name="Freeform 22"/>
            <p:cNvSpPr/>
            <p:nvPr/>
          </p:nvSpPr>
          <p:spPr>
            <a:xfrm>
              <a:off x="0" y="0"/>
              <a:ext cx="10798968" cy="1181100"/>
            </a:xfrm>
            <a:custGeom>
              <a:avLst/>
              <a:gdLst/>
              <a:ahLst/>
              <a:cxnLst/>
              <a:rect l="l" t="t" r="r" b="b"/>
              <a:pathLst>
                <a:path w="10798968" h="1181100">
                  <a:moveTo>
                    <a:pt x="0" y="0"/>
                  </a:moveTo>
                  <a:lnTo>
                    <a:pt x="10798968" y="0"/>
                  </a:lnTo>
                  <a:lnTo>
                    <a:pt x="10798968" y="1181100"/>
                  </a:lnTo>
                  <a:lnTo>
                    <a:pt x="0" y="1181100"/>
                  </a:lnTo>
                  <a:close/>
                </a:path>
              </a:pathLst>
            </a:custGeom>
            <a:solidFill>
              <a:srgbClr val="000000">
                <a:alpha val="0"/>
              </a:srgbClr>
            </a:solidFill>
          </p:spPr>
        </p:sp>
        <p:sp>
          <p:nvSpPr>
            <p:cNvPr id="23" name="TextBox 23"/>
            <p:cNvSpPr txBox="1"/>
            <p:nvPr/>
          </p:nvSpPr>
          <p:spPr>
            <a:xfrm>
              <a:off x="0" y="-85725"/>
              <a:ext cx="10798968" cy="126682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if-else:</a:t>
              </a:r>
              <a:r>
                <a:rPr lang="en-US" sz="1987" spc="-41">
                  <a:solidFill>
                    <a:srgbClr val="272525"/>
                  </a:solidFill>
                  <a:latin typeface="Inter"/>
                  <a:ea typeface="Inter"/>
                  <a:cs typeface="Inter"/>
                  <a:sym typeface="Inter"/>
                </a:rPr>
                <a:t> Runs one block of code if the condition is true and another if false.</a:t>
              </a:r>
            </a:p>
          </p:txBody>
        </p:sp>
      </p:grpSp>
      <p:grpSp>
        <p:nvGrpSpPr>
          <p:cNvPr id="24" name="Group 24"/>
          <p:cNvGrpSpPr/>
          <p:nvPr/>
        </p:nvGrpSpPr>
        <p:grpSpPr>
          <a:xfrm>
            <a:off x="774799" y="5627489"/>
            <a:ext cx="8099226" cy="885825"/>
            <a:chOff x="0" y="0"/>
            <a:chExt cx="10798968" cy="1181100"/>
          </a:xfrm>
        </p:grpSpPr>
        <p:sp>
          <p:nvSpPr>
            <p:cNvPr id="25" name="Freeform 25"/>
            <p:cNvSpPr/>
            <p:nvPr/>
          </p:nvSpPr>
          <p:spPr>
            <a:xfrm>
              <a:off x="0" y="0"/>
              <a:ext cx="10798968" cy="1181100"/>
            </a:xfrm>
            <a:custGeom>
              <a:avLst/>
              <a:gdLst/>
              <a:ahLst/>
              <a:cxnLst/>
              <a:rect l="l" t="t" r="r" b="b"/>
              <a:pathLst>
                <a:path w="10798968" h="1181100">
                  <a:moveTo>
                    <a:pt x="0" y="0"/>
                  </a:moveTo>
                  <a:lnTo>
                    <a:pt x="10798968" y="0"/>
                  </a:lnTo>
                  <a:lnTo>
                    <a:pt x="10798968" y="1181100"/>
                  </a:lnTo>
                  <a:lnTo>
                    <a:pt x="0" y="1181100"/>
                  </a:lnTo>
                  <a:close/>
                </a:path>
              </a:pathLst>
            </a:custGeom>
            <a:solidFill>
              <a:srgbClr val="000000">
                <a:alpha val="0"/>
              </a:srgbClr>
            </a:solidFill>
          </p:spPr>
        </p:sp>
        <p:sp>
          <p:nvSpPr>
            <p:cNvPr id="26" name="TextBox 26"/>
            <p:cNvSpPr txBox="1"/>
            <p:nvPr/>
          </p:nvSpPr>
          <p:spPr>
            <a:xfrm>
              <a:off x="0" y="-85725"/>
              <a:ext cx="10798968" cy="126682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if-elif-else:</a:t>
              </a:r>
              <a:r>
                <a:rPr lang="en-US" sz="1987" spc="-41">
                  <a:solidFill>
                    <a:srgbClr val="272525"/>
                  </a:solidFill>
                  <a:latin typeface="Inter"/>
                  <a:ea typeface="Inter"/>
                  <a:cs typeface="Inter"/>
                  <a:sym typeface="Inter"/>
                </a:rPr>
                <a:t> Checks multiple conditions and runs the corresponding code block for the first true condition.</a:t>
              </a:r>
            </a:p>
          </p:txBody>
        </p:sp>
      </p:grpSp>
      <p:grpSp>
        <p:nvGrpSpPr>
          <p:cNvPr id="27" name="Group 27"/>
          <p:cNvGrpSpPr/>
          <p:nvPr/>
        </p:nvGrpSpPr>
        <p:grpSpPr>
          <a:xfrm>
            <a:off x="11646544" y="3332979"/>
            <a:ext cx="3653135" cy="551313"/>
            <a:chOff x="0" y="0"/>
            <a:chExt cx="4870847" cy="735084"/>
          </a:xfrm>
        </p:grpSpPr>
        <p:sp>
          <p:nvSpPr>
            <p:cNvPr id="28" name="Freeform 28"/>
            <p:cNvSpPr/>
            <p:nvPr/>
          </p:nvSpPr>
          <p:spPr>
            <a:xfrm>
              <a:off x="0" y="0"/>
              <a:ext cx="4870847" cy="735084"/>
            </a:xfrm>
            <a:custGeom>
              <a:avLst/>
              <a:gdLst/>
              <a:ahLst/>
              <a:cxnLst/>
              <a:rect l="l" t="t" r="r" b="b"/>
              <a:pathLst>
                <a:path w="4870847" h="735084">
                  <a:moveTo>
                    <a:pt x="0" y="0"/>
                  </a:moveTo>
                  <a:lnTo>
                    <a:pt x="4870847" y="0"/>
                  </a:lnTo>
                  <a:lnTo>
                    <a:pt x="4870847" y="735084"/>
                  </a:lnTo>
                  <a:lnTo>
                    <a:pt x="0" y="735084"/>
                  </a:lnTo>
                  <a:close/>
                </a:path>
              </a:pathLst>
            </a:custGeom>
            <a:solidFill>
              <a:srgbClr val="000000">
                <a:alpha val="0"/>
              </a:srgbClr>
            </a:solidFill>
          </p:spPr>
        </p:sp>
        <p:sp>
          <p:nvSpPr>
            <p:cNvPr id="29" name="TextBox 29"/>
            <p:cNvSpPr txBox="1"/>
            <p:nvPr/>
          </p:nvSpPr>
          <p:spPr>
            <a:xfrm>
              <a:off x="0" y="-19050"/>
              <a:ext cx="4870847" cy="754134"/>
            </a:xfrm>
            <a:prstGeom prst="rect">
              <a:avLst/>
            </a:prstGeom>
          </p:spPr>
          <p:txBody>
            <a:bodyPr lIns="0" tIns="0" rIns="0" bIns="0" rtlCol="0" anchor="t"/>
            <a:lstStyle/>
            <a:p>
              <a:pPr algn="ctr">
                <a:lnSpc>
                  <a:spcPts val="4058"/>
                </a:lnSpc>
              </a:pPr>
              <a:r>
                <a:rPr lang="en-US" sz="3274" spc="-65">
                  <a:solidFill>
                    <a:srgbClr val="F95F88"/>
                  </a:solidFill>
                  <a:latin typeface="Petrona"/>
                  <a:ea typeface="Petrona"/>
                  <a:cs typeface="Petrona"/>
                  <a:sym typeface="Petrona"/>
                </a:rPr>
                <a:t>Loops</a:t>
              </a:r>
            </a:p>
          </p:txBody>
        </p:sp>
      </p:grpSp>
      <p:grpSp>
        <p:nvGrpSpPr>
          <p:cNvPr id="30" name="Group 30"/>
          <p:cNvGrpSpPr/>
          <p:nvPr/>
        </p:nvGrpSpPr>
        <p:grpSpPr>
          <a:xfrm>
            <a:off x="9423499" y="4143970"/>
            <a:ext cx="8099226" cy="442912"/>
            <a:chOff x="0" y="0"/>
            <a:chExt cx="10798968" cy="590550"/>
          </a:xfrm>
        </p:grpSpPr>
        <p:sp>
          <p:nvSpPr>
            <p:cNvPr id="31" name="Freeform 31"/>
            <p:cNvSpPr/>
            <p:nvPr/>
          </p:nvSpPr>
          <p:spPr>
            <a:xfrm>
              <a:off x="0" y="0"/>
              <a:ext cx="10798968" cy="590550"/>
            </a:xfrm>
            <a:custGeom>
              <a:avLst/>
              <a:gdLst/>
              <a:ahLst/>
              <a:cxnLst/>
              <a:rect l="l" t="t" r="r" b="b"/>
              <a:pathLst>
                <a:path w="10798968" h="590550">
                  <a:moveTo>
                    <a:pt x="0" y="0"/>
                  </a:moveTo>
                  <a:lnTo>
                    <a:pt x="10798968" y="0"/>
                  </a:lnTo>
                  <a:lnTo>
                    <a:pt x="10798968" y="590550"/>
                  </a:lnTo>
                  <a:lnTo>
                    <a:pt x="0" y="590550"/>
                  </a:lnTo>
                  <a:close/>
                </a:path>
              </a:pathLst>
            </a:custGeom>
            <a:solidFill>
              <a:srgbClr val="000000">
                <a:alpha val="0"/>
              </a:srgbClr>
            </a:solidFill>
          </p:spPr>
        </p:sp>
        <p:sp>
          <p:nvSpPr>
            <p:cNvPr id="32" name="TextBox 32"/>
            <p:cNvSpPr txBox="1"/>
            <p:nvPr/>
          </p:nvSpPr>
          <p:spPr>
            <a:xfrm>
              <a:off x="0" y="-85725"/>
              <a:ext cx="10798968" cy="67627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For Loop:</a:t>
              </a:r>
              <a:r>
                <a:rPr lang="en-US" sz="1987" spc="-41">
                  <a:solidFill>
                    <a:srgbClr val="272525"/>
                  </a:solidFill>
                  <a:latin typeface="Inter"/>
                  <a:ea typeface="Inter"/>
                  <a:cs typeface="Inter"/>
                  <a:sym typeface="Inter"/>
                </a:rPr>
                <a:t> Iterates over a collection of range (list, tuple, etc.). </a:t>
              </a:r>
            </a:p>
          </p:txBody>
        </p:sp>
      </p:grpSp>
      <p:grpSp>
        <p:nvGrpSpPr>
          <p:cNvPr id="33" name="Group 33"/>
          <p:cNvGrpSpPr/>
          <p:nvPr/>
        </p:nvGrpSpPr>
        <p:grpSpPr>
          <a:xfrm>
            <a:off x="9423499" y="4664274"/>
            <a:ext cx="8099226" cy="885825"/>
            <a:chOff x="0" y="0"/>
            <a:chExt cx="10798968" cy="1181100"/>
          </a:xfrm>
        </p:grpSpPr>
        <p:sp>
          <p:nvSpPr>
            <p:cNvPr id="34" name="Freeform 34"/>
            <p:cNvSpPr/>
            <p:nvPr/>
          </p:nvSpPr>
          <p:spPr>
            <a:xfrm>
              <a:off x="0" y="0"/>
              <a:ext cx="10798968" cy="1181100"/>
            </a:xfrm>
            <a:custGeom>
              <a:avLst/>
              <a:gdLst/>
              <a:ahLst/>
              <a:cxnLst/>
              <a:rect l="l" t="t" r="r" b="b"/>
              <a:pathLst>
                <a:path w="10798968" h="1181100">
                  <a:moveTo>
                    <a:pt x="0" y="0"/>
                  </a:moveTo>
                  <a:lnTo>
                    <a:pt x="10798968" y="0"/>
                  </a:lnTo>
                  <a:lnTo>
                    <a:pt x="10798968" y="1181100"/>
                  </a:lnTo>
                  <a:lnTo>
                    <a:pt x="0" y="1181100"/>
                  </a:lnTo>
                  <a:close/>
                </a:path>
              </a:pathLst>
            </a:custGeom>
            <a:solidFill>
              <a:srgbClr val="000000">
                <a:alpha val="0"/>
              </a:srgbClr>
            </a:solidFill>
          </p:spPr>
        </p:sp>
        <p:sp>
          <p:nvSpPr>
            <p:cNvPr id="35" name="TextBox 35"/>
            <p:cNvSpPr txBox="1"/>
            <p:nvPr/>
          </p:nvSpPr>
          <p:spPr>
            <a:xfrm>
              <a:off x="0" y="-85725"/>
              <a:ext cx="10798968" cy="126682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While Loop:</a:t>
              </a:r>
              <a:r>
                <a:rPr lang="en-US" sz="1987" spc="-41">
                  <a:solidFill>
                    <a:srgbClr val="272525"/>
                  </a:solidFill>
                  <a:latin typeface="Inter"/>
                  <a:ea typeface="Inter"/>
                  <a:cs typeface="Inter"/>
                  <a:sym typeface="Inter"/>
                </a:rPr>
                <a:t> Repeats a block of code, as long as a condition is "True".</a:t>
              </a:r>
            </a:p>
          </p:txBody>
        </p:sp>
      </p:grpSp>
      <p:grpSp>
        <p:nvGrpSpPr>
          <p:cNvPr id="36" name="Group 36"/>
          <p:cNvGrpSpPr/>
          <p:nvPr/>
        </p:nvGrpSpPr>
        <p:grpSpPr>
          <a:xfrm>
            <a:off x="9423499" y="5627489"/>
            <a:ext cx="8099226" cy="442912"/>
            <a:chOff x="0" y="0"/>
            <a:chExt cx="10798968" cy="590550"/>
          </a:xfrm>
        </p:grpSpPr>
        <p:sp>
          <p:nvSpPr>
            <p:cNvPr id="37" name="Freeform 37"/>
            <p:cNvSpPr/>
            <p:nvPr/>
          </p:nvSpPr>
          <p:spPr>
            <a:xfrm>
              <a:off x="0" y="0"/>
              <a:ext cx="10798968" cy="590550"/>
            </a:xfrm>
            <a:custGeom>
              <a:avLst/>
              <a:gdLst/>
              <a:ahLst/>
              <a:cxnLst/>
              <a:rect l="l" t="t" r="r" b="b"/>
              <a:pathLst>
                <a:path w="10798968" h="590550">
                  <a:moveTo>
                    <a:pt x="0" y="0"/>
                  </a:moveTo>
                  <a:lnTo>
                    <a:pt x="10798968" y="0"/>
                  </a:lnTo>
                  <a:lnTo>
                    <a:pt x="10798968" y="590550"/>
                  </a:lnTo>
                  <a:lnTo>
                    <a:pt x="0" y="590550"/>
                  </a:lnTo>
                  <a:close/>
                </a:path>
              </a:pathLst>
            </a:custGeom>
            <a:solidFill>
              <a:srgbClr val="000000">
                <a:alpha val="0"/>
              </a:srgbClr>
            </a:solidFill>
          </p:spPr>
        </p:sp>
        <p:sp>
          <p:nvSpPr>
            <p:cNvPr id="38" name="TextBox 38"/>
            <p:cNvSpPr txBox="1"/>
            <p:nvPr/>
          </p:nvSpPr>
          <p:spPr>
            <a:xfrm>
              <a:off x="0" y="-85725"/>
              <a:ext cx="10798968" cy="67627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Break</a:t>
              </a:r>
              <a:r>
                <a:rPr lang="en-US" sz="1987" spc="-41">
                  <a:solidFill>
                    <a:srgbClr val="272525"/>
                  </a:solidFill>
                  <a:latin typeface="Inter"/>
                  <a:ea typeface="Inter"/>
                  <a:cs typeface="Inter"/>
                  <a:sym typeface="Inter"/>
                </a:rPr>
                <a:t>, </a:t>
              </a:r>
              <a:r>
                <a:rPr lang="en-US" sz="1987" b="1" spc="-41">
                  <a:solidFill>
                    <a:srgbClr val="272525"/>
                  </a:solidFill>
                  <a:latin typeface="Inter Bold"/>
                  <a:ea typeface="Inter Bold"/>
                  <a:cs typeface="Inter Bold"/>
                  <a:sym typeface="Inter Bold"/>
                </a:rPr>
                <a:t>continue</a:t>
              </a:r>
              <a:r>
                <a:rPr lang="en-US" sz="1987" spc="-41">
                  <a:solidFill>
                    <a:srgbClr val="272525"/>
                  </a:solidFill>
                  <a:latin typeface="Inter"/>
                  <a:ea typeface="Inter"/>
                  <a:cs typeface="Inter"/>
                  <a:sym typeface="Inter"/>
                </a:rPr>
                <a:t> &amp; </a:t>
              </a:r>
              <a:r>
                <a:rPr lang="en-US" sz="1987" b="1" spc="-41">
                  <a:solidFill>
                    <a:srgbClr val="272525"/>
                  </a:solidFill>
                  <a:latin typeface="Inter Bold"/>
                  <a:ea typeface="Inter Bold"/>
                  <a:cs typeface="Inter Bold"/>
                  <a:sym typeface="Inter Bold"/>
                </a:rPr>
                <a:t>pass</a:t>
              </a:r>
              <a:r>
                <a:rPr lang="en-US" sz="1987" spc="-41">
                  <a:solidFill>
                    <a:srgbClr val="272525"/>
                  </a:solidFill>
                  <a:latin typeface="Inter"/>
                  <a:ea typeface="Inter"/>
                  <a:cs typeface="Inter"/>
                  <a:sym typeface="Inter"/>
                </a:rPr>
                <a:t> are used to alter the flow of a loop.</a:t>
              </a:r>
            </a:p>
          </p:txBody>
        </p:sp>
      </p:grpSp>
      <p:grpSp>
        <p:nvGrpSpPr>
          <p:cNvPr id="39" name="Group 39"/>
          <p:cNvGrpSpPr/>
          <p:nvPr/>
        </p:nvGrpSpPr>
        <p:grpSpPr>
          <a:xfrm>
            <a:off x="774799" y="6839694"/>
            <a:ext cx="16738401" cy="524162"/>
            <a:chOff x="0" y="0"/>
            <a:chExt cx="22317868" cy="698883"/>
          </a:xfrm>
        </p:grpSpPr>
        <p:sp>
          <p:nvSpPr>
            <p:cNvPr id="40" name="Freeform 40"/>
            <p:cNvSpPr/>
            <p:nvPr/>
          </p:nvSpPr>
          <p:spPr>
            <a:xfrm>
              <a:off x="0" y="0"/>
              <a:ext cx="22317869" cy="698883"/>
            </a:xfrm>
            <a:custGeom>
              <a:avLst/>
              <a:gdLst/>
              <a:ahLst/>
              <a:cxnLst/>
              <a:rect l="l" t="t" r="r" b="b"/>
              <a:pathLst>
                <a:path w="22317869" h="698883">
                  <a:moveTo>
                    <a:pt x="0" y="0"/>
                  </a:moveTo>
                  <a:lnTo>
                    <a:pt x="22317869" y="0"/>
                  </a:lnTo>
                  <a:lnTo>
                    <a:pt x="22317869" y="698883"/>
                  </a:lnTo>
                  <a:lnTo>
                    <a:pt x="0" y="698883"/>
                  </a:lnTo>
                  <a:close/>
                </a:path>
              </a:pathLst>
            </a:custGeom>
            <a:solidFill>
              <a:srgbClr val="000000">
                <a:alpha val="0"/>
              </a:srgbClr>
            </a:solidFill>
          </p:spPr>
        </p:sp>
        <p:sp>
          <p:nvSpPr>
            <p:cNvPr id="41" name="TextBox 41"/>
            <p:cNvSpPr txBox="1"/>
            <p:nvPr/>
          </p:nvSpPr>
          <p:spPr>
            <a:xfrm>
              <a:off x="0" y="-104775"/>
              <a:ext cx="22317868" cy="803658"/>
            </a:xfrm>
            <a:prstGeom prst="rect">
              <a:avLst/>
            </a:prstGeom>
          </p:spPr>
          <p:txBody>
            <a:bodyPr lIns="0" tIns="0" rIns="0" bIns="0" rtlCol="0" anchor="t"/>
            <a:lstStyle/>
            <a:p>
              <a:pPr algn="l">
                <a:lnSpc>
                  <a:spcPts val="3922"/>
                </a:lnSpc>
              </a:pPr>
              <a:r>
                <a:rPr lang="en-US" sz="2424" u="sng" spc="-39">
                  <a:solidFill>
                    <a:srgbClr val="272525"/>
                  </a:solidFill>
                  <a:latin typeface="Inter"/>
                  <a:ea typeface="Inter"/>
                  <a:cs typeface="Inter"/>
                  <a:sym typeface="Inter"/>
                </a:rPr>
                <a:t>Note</a:t>
              </a:r>
              <a:r>
                <a:rPr lang="en-US" sz="2424" spc="-39">
                  <a:solidFill>
                    <a:srgbClr val="272525"/>
                  </a:solidFill>
                  <a:latin typeface="Inter"/>
                  <a:ea typeface="Inter"/>
                  <a:cs typeface="Inter"/>
                  <a:sym typeface="Inter"/>
                </a:rPr>
                <a:t>:</a:t>
              </a:r>
            </a:p>
          </p:txBody>
        </p:sp>
      </p:grpSp>
      <p:grpSp>
        <p:nvGrpSpPr>
          <p:cNvPr id="42" name="Group 42"/>
          <p:cNvGrpSpPr/>
          <p:nvPr/>
        </p:nvGrpSpPr>
        <p:grpSpPr>
          <a:xfrm>
            <a:off x="774799" y="7531596"/>
            <a:ext cx="16738401" cy="442912"/>
            <a:chOff x="0" y="0"/>
            <a:chExt cx="22317868" cy="590550"/>
          </a:xfrm>
        </p:grpSpPr>
        <p:sp>
          <p:nvSpPr>
            <p:cNvPr id="43" name="Freeform 43"/>
            <p:cNvSpPr/>
            <p:nvPr/>
          </p:nvSpPr>
          <p:spPr>
            <a:xfrm>
              <a:off x="0" y="0"/>
              <a:ext cx="22317869" cy="590550"/>
            </a:xfrm>
            <a:custGeom>
              <a:avLst/>
              <a:gdLst/>
              <a:ahLst/>
              <a:cxnLst/>
              <a:rect l="l" t="t" r="r" b="b"/>
              <a:pathLst>
                <a:path w="22317869" h="590550">
                  <a:moveTo>
                    <a:pt x="0" y="0"/>
                  </a:moveTo>
                  <a:lnTo>
                    <a:pt x="22317869" y="0"/>
                  </a:lnTo>
                  <a:lnTo>
                    <a:pt x="22317869" y="590550"/>
                  </a:lnTo>
                  <a:lnTo>
                    <a:pt x="0" y="590550"/>
                  </a:lnTo>
                  <a:close/>
                </a:path>
              </a:pathLst>
            </a:custGeom>
            <a:solidFill>
              <a:srgbClr val="000000">
                <a:alpha val="0"/>
              </a:srgbClr>
            </a:solidFill>
          </p:spPr>
        </p:sp>
        <p:sp>
          <p:nvSpPr>
            <p:cNvPr id="44" name="TextBox 44"/>
            <p:cNvSpPr txBox="1"/>
            <p:nvPr/>
          </p:nvSpPr>
          <p:spPr>
            <a:xfrm>
              <a:off x="0" y="-85725"/>
              <a:ext cx="22317868" cy="67627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break</a:t>
              </a:r>
              <a:r>
                <a:rPr lang="en-US" sz="1987" spc="-41">
                  <a:solidFill>
                    <a:srgbClr val="272525"/>
                  </a:solidFill>
                  <a:latin typeface="Inter"/>
                  <a:ea typeface="Inter"/>
                  <a:cs typeface="Inter"/>
                  <a:sym typeface="Inter"/>
                </a:rPr>
                <a:t>: Exits the loop completely.</a:t>
              </a:r>
            </a:p>
          </p:txBody>
        </p:sp>
      </p:grpSp>
      <p:grpSp>
        <p:nvGrpSpPr>
          <p:cNvPr id="45" name="Group 45"/>
          <p:cNvGrpSpPr/>
          <p:nvPr/>
        </p:nvGrpSpPr>
        <p:grpSpPr>
          <a:xfrm>
            <a:off x="774799" y="8051899"/>
            <a:ext cx="16738401" cy="442912"/>
            <a:chOff x="0" y="0"/>
            <a:chExt cx="22317868" cy="590550"/>
          </a:xfrm>
        </p:grpSpPr>
        <p:sp>
          <p:nvSpPr>
            <p:cNvPr id="46" name="Freeform 46"/>
            <p:cNvSpPr/>
            <p:nvPr/>
          </p:nvSpPr>
          <p:spPr>
            <a:xfrm>
              <a:off x="0" y="0"/>
              <a:ext cx="22317869" cy="590550"/>
            </a:xfrm>
            <a:custGeom>
              <a:avLst/>
              <a:gdLst/>
              <a:ahLst/>
              <a:cxnLst/>
              <a:rect l="l" t="t" r="r" b="b"/>
              <a:pathLst>
                <a:path w="22317869" h="590550">
                  <a:moveTo>
                    <a:pt x="0" y="0"/>
                  </a:moveTo>
                  <a:lnTo>
                    <a:pt x="22317869" y="0"/>
                  </a:lnTo>
                  <a:lnTo>
                    <a:pt x="22317869" y="590550"/>
                  </a:lnTo>
                  <a:lnTo>
                    <a:pt x="0" y="590550"/>
                  </a:lnTo>
                  <a:close/>
                </a:path>
              </a:pathLst>
            </a:custGeom>
            <a:solidFill>
              <a:srgbClr val="000000">
                <a:alpha val="0"/>
              </a:srgbClr>
            </a:solidFill>
          </p:spPr>
        </p:sp>
        <p:sp>
          <p:nvSpPr>
            <p:cNvPr id="47" name="TextBox 47"/>
            <p:cNvSpPr txBox="1"/>
            <p:nvPr/>
          </p:nvSpPr>
          <p:spPr>
            <a:xfrm>
              <a:off x="0" y="-85725"/>
              <a:ext cx="22317868" cy="67627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continue</a:t>
              </a:r>
              <a:r>
                <a:rPr lang="en-US" sz="1987" spc="-41">
                  <a:solidFill>
                    <a:srgbClr val="272525"/>
                  </a:solidFill>
                  <a:latin typeface="Inter"/>
                  <a:ea typeface="Inter"/>
                  <a:cs typeface="Inter"/>
                  <a:sym typeface="Inter"/>
                </a:rPr>
                <a:t>: Skips the current iteration and moves to the next iteration.</a:t>
              </a:r>
            </a:p>
          </p:txBody>
        </p:sp>
      </p:grpSp>
      <p:grpSp>
        <p:nvGrpSpPr>
          <p:cNvPr id="48" name="Group 48"/>
          <p:cNvGrpSpPr/>
          <p:nvPr/>
        </p:nvGrpSpPr>
        <p:grpSpPr>
          <a:xfrm>
            <a:off x="774799" y="8572202"/>
            <a:ext cx="16738401" cy="885825"/>
            <a:chOff x="0" y="0"/>
            <a:chExt cx="22317868" cy="1181100"/>
          </a:xfrm>
        </p:grpSpPr>
        <p:sp>
          <p:nvSpPr>
            <p:cNvPr id="49" name="Freeform 49"/>
            <p:cNvSpPr/>
            <p:nvPr/>
          </p:nvSpPr>
          <p:spPr>
            <a:xfrm>
              <a:off x="0" y="0"/>
              <a:ext cx="22317869" cy="1181100"/>
            </a:xfrm>
            <a:custGeom>
              <a:avLst/>
              <a:gdLst/>
              <a:ahLst/>
              <a:cxnLst/>
              <a:rect l="l" t="t" r="r" b="b"/>
              <a:pathLst>
                <a:path w="22317869" h="1181100">
                  <a:moveTo>
                    <a:pt x="0" y="0"/>
                  </a:moveTo>
                  <a:lnTo>
                    <a:pt x="22317869" y="0"/>
                  </a:lnTo>
                  <a:lnTo>
                    <a:pt x="22317869" y="1181100"/>
                  </a:lnTo>
                  <a:lnTo>
                    <a:pt x="0" y="1181100"/>
                  </a:lnTo>
                  <a:close/>
                </a:path>
              </a:pathLst>
            </a:custGeom>
            <a:solidFill>
              <a:srgbClr val="000000">
                <a:alpha val="0"/>
              </a:srgbClr>
            </a:solidFill>
          </p:spPr>
        </p:sp>
        <p:sp>
          <p:nvSpPr>
            <p:cNvPr id="50" name="TextBox 50"/>
            <p:cNvSpPr txBox="1"/>
            <p:nvPr/>
          </p:nvSpPr>
          <p:spPr>
            <a:xfrm>
              <a:off x="0" y="-85725"/>
              <a:ext cx="22317868" cy="1266825"/>
            </a:xfrm>
            <a:prstGeom prst="rect">
              <a:avLst/>
            </a:prstGeom>
          </p:spPr>
          <p:txBody>
            <a:bodyPr lIns="0" tIns="0" rIns="0" bIns="0" rtlCol="0" anchor="t"/>
            <a:lstStyle/>
            <a:p>
              <a:pPr marL="299739" lvl="1" indent="-149869" algn="l">
                <a:lnSpc>
                  <a:spcPts val="3238"/>
                </a:lnSpc>
                <a:buFont typeface="Arial"/>
                <a:buChar char="•"/>
              </a:pPr>
              <a:r>
                <a:rPr lang="en-US" sz="1987" b="1" spc="-41">
                  <a:solidFill>
                    <a:srgbClr val="272525"/>
                  </a:solidFill>
                  <a:latin typeface="Inter Bold"/>
                  <a:ea typeface="Inter Bold"/>
                  <a:cs typeface="Inter Bold"/>
                  <a:sym typeface="Inter Bold"/>
                </a:rPr>
                <a:t>pass</a:t>
              </a:r>
              <a:r>
                <a:rPr lang="en-US" sz="1987" spc="-41">
                  <a:solidFill>
                    <a:srgbClr val="272525"/>
                  </a:solidFill>
                  <a:latin typeface="Inter"/>
                  <a:ea typeface="Inter"/>
                  <a:cs typeface="Inter"/>
                  <a:sym typeface="Inter"/>
                </a:rPr>
                <a:t>: A placeholder for code that does nothing (useful in situations where code is syntactically required but you don’t want to implement it yet).</a:t>
              </a:r>
            </a:p>
          </p:txBody>
        </p:sp>
      </p:grpSp>
      <p:sp>
        <p:nvSpPr>
          <p:cNvPr id="51" name="TextBox 51"/>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836711" y="824507"/>
            <a:ext cx="6574929" cy="821829"/>
            <a:chOff x="0" y="0"/>
            <a:chExt cx="8766572" cy="1095772"/>
          </a:xfrm>
        </p:grpSpPr>
        <p:sp>
          <p:nvSpPr>
            <p:cNvPr id="7" name="Freeform 7"/>
            <p:cNvSpPr/>
            <p:nvPr/>
          </p:nvSpPr>
          <p:spPr>
            <a:xfrm>
              <a:off x="0" y="0"/>
              <a:ext cx="8766572" cy="1095772"/>
            </a:xfrm>
            <a:custGeom>
              <a:avLst/>
              <a:gdLst/>
              <a:ahLst/>
              <a:cxnLst/>
              <a:rect l="l" t="t" r="r" b="b"/>
              <a:pathLst>
                <a:path w="8766572" h="1095772">
                  <a:moveTo>
                    <a:pt x="0" y="0"/>
                  </a:moveTo>
                  <a:lnTo>
                    <a:pt x="8766572" y="0"/>
                  </a:lnTo>
                  <a:lnTo>
                    <a:pt x="8766572" y="1095772"/>
                  </a:lnTo>
                  <a:lnTo>
                    <a:pt x="0" y="1095772"/>
                  </a:lnTo>
                  <a:close/>
                </a:path>
              </a:pathLst>
            </a:custGeom>
            <a:solidFill>
              <a:srgbClr val="000000">
                <a:alpha val="0"/>
              </a:srgbClr>
            </a:solidFill>
          </p:spPr>
        </p:sp>
        <p:sp>
          <p:nvSpPr>
            <p:cNvPr id="8" name="TextBox 8"/>
            <p:cNvSpPr txBox="1"/>
            <p:nvPr/>
          </p:nvSpPr>
          <p:spPr>
            <a:xfrm>
              <a:off x="0" y="-47625"/>
              <a:ext cx="8766572" cy="1143397"/>
            </a:xfrm>
            <a:prstGeom prst="rect">
              <a:avLst/>
            </a:prstGeom>
          </p:spPr>
          <p:txBody>
            <a:bodyPr lIns="0" tIns="0" rIns="0" bIns="0" rtlCol="0" anchor="t"/>
            <a:lstStyle/>
            <a:p>
              <a:pPr algn="l">
                <a:lnSpc>
                  <a:spcPts val="6437"/>
                </a:lnSpc>
              </a:pPr>
              <a:r>
                <a:rPr lang="en-US" sz="5125" spc="-103">
                  <a:solidFill>
                    <a:srgbClr val="F95F88"/>
                  </a:solidFill>
                  <a:latin typeface="Petrona"/>
                  <a:ea typeface="Petrona"/>
                  <a:cs typeface="Petrona"/>
                  <a:sym typeface="Petrona"/>
                </a:rPr>
                <a:t>Functions</a:t>
              </a:r>
            </a:p>
          </p:txBody>
        </p:sp>
      </p:grpSp>
      <p:grpSp>
        <p:nvGrpSpPr>
          <p:cNvPr id="9" name="Group 9"/>
          <p:cNvGrpSpPr/>
          <p:nvPr/>
        </p:nvGrpSpPr>
        <p:grpSpPr>
          <a:xfrm>
            <a:off x="846236" y="1949052"/>
            <a:ext cx="16614576" cy="478036"/>
            <a:chOff x="0" y="0"/>
            <a:chExt cx="22152768" cy="637382"/>
          </a:xfrm>
        </p:grpSpPr>
        <p:sp>
          <p:nvSpPr>
            <p:cNvPr id="10" name="Freeform 10"/>
            <p:cNvSpPr/>
            <p:nvPr/>
          </p:nvSpPr>
          <p:spPr>
            <a:xfrm>
              <a:off x="0" y="0"/>
              <a:ext cx="22152769" cy="637382"/>
            </a:xfrm>
            <a:custGeom>
              <a:avLst/>
              <a:gdLst/>
              <a:ahLst/>
              <a:cxnLst/>
              <a:rect l="l" t="t" r="r" b="b"/>
              <a:pathLst>
                <a:path w="22152769" h="637382">
                  <a:moveTo>
                    <a:pt x="0" y="0"/>
                  </a:moveTo>
                  <a:lnTo>
                    <a:pt x="22152769" y="0"/>
                  </a:lnTo>
                  <a:lnTo>
                    <a:pt x="22152769" y="637382"/>
                  </a:lnTo>
                  <a:lnTo>
                    <a:pt x="0" y="637382"/>
                  </a:lnTo>
                  <a:close/>
                </a:path>
              </a:pathLst>
            </a:custGeom>
            <a:solidFill>
              <a:srgbClr val="000000">
                <a:alpha val="0"/>
              </a:srgbClr>
            </a:solidFill>
          </p:spPr>
        </p:sp>
        <p:sp>
          <p:nvSpPr>
            <p:cNvPr id="11" name="TextBox 11"/>
            <p:cNvSpPr txBox="1"/>
            <p:nvPr/>
          </p:nvSpPr>
          <p:spPr>
            <a:xfrm>
              <a:off x="0" y="-95250"/>
              <a:ext cx="22152768" cy="732632"/>
            </a:xfrm>
            <a:prstGeom prst="rect">
              <a:avLst/>
            </a:prstGeom>
          </p:spPr>
          <p:txBody>
            <a:bodyPr lIns="0" tIns="0" rIns="0" bIns="0" rtlCol="0" anchor="t"/>
            <a:lstStyle/>
            <a:p>
              <a:pPr marL="312935" lvl="1" indent="-156468" algn="l">
                <a:lnSpc>
                  <a:spcPts val="3319"/>
                </a:lnSpc>
                <a:buFont typeface="Arial"/>
                <a:buChar char="•"/>
              </a:pPr>
              <a:r>
                <a:rPr lang="en-US" sz="2074" spc="-41">
                  <a:solidFill>
                    <a:srgbClr val="272525"/>
                  </a:solidFill>
                  <a:latin typeface="Inter"/>
                  <a:ea typeface="Inter"/>
                  <a:cs typeface="Inter"/>
                  <a:sym typeface="Inter"/>
                </a:rPr>
                <a:t>Functions allow you to group code into reusable blocks. </a:t>
              </a:r>
            </a:p>
          </p:txBody>
        </p:sp>
      </p:grpSp>
      <p:grpSp>
        <p:nvGrpSpPr>
          <p:cNvPr id="12" name="Group 12"/>
          <p:cNvGrpSpPr/>
          <p:nvPr/>
        </p:nvGrpSpPr>
        <p:grpSpPr>
          <a:xfrm>
            <a:off x="836711" y="2593479"/>
            <a:ext cx="16614576" cy="478036"/>
            <a:chOff x="0" y="0"/>
            <a:chExt cx="22152768" cy="637382"/>
          </a:xfrm>
        </p:grpSpPr>
        <p:sp>
          <p:nvSpPr>
            <p:cNvPr id="13" name="Freeform 13"/>
            <p:cNvSpPr/>
            <p:nvPr/>
          </p:nvSpPr>
          <p:spPr>
            <a:xfrm>
              <a:off x="0" y="0"/>
              <a:ext cx="22152769" cy="637382"/>
            </a:xfrm>
            <a:custGeom>
              <a:avLst/>
              <a:gdLst/>
              <a:ahLst/>
              <a:cxnLst/>
              <a:rect l="l" t="t" r="r" b="b"/>
              <a:pathLst>
                <a:path w="22152769" h="637382">
                  <a:moveTo>
                    <a:pt x="0" y="0"/>
                  </a:moveTo>
                  <a:lnTo>
                    <a:pt x="22152769" y="0"/>
                  </a:lnTo>
                  <a:lnTo>
                    <a:pt x="22152769" y="637382"/>
                  </a:lnTo>
                  <a:lnTo>
                    <a:pt x="0" y="637382"/>
                  </a:lnTo>
                  <a:close/>
                </a:path>
              </a:pathLst>
            </a:custGeom>
            <a:solidFill>
              <a:srgbClr val="000000">
                <a:alpha val="0"/>
              </a:srgbClr>
            </a:solidFill>
          </p:spPr>
        </p:sp>
        <p:sp>
          <p:nvSpPr>
            <p:cNvPr id="14" name="TextBox 14"/>
            <p:cNvSpPr txBox="1"/>
            <p:nvPr/>
          </p:nvSpPr>
          <p:spPr>
            <a:xfrm>
              <a:off x="0" y="-95250"/>
              <a:ext cx="22152768" cy="732632"/>
            </a:xfrm>
            <a:prstGeom prst="rect">
              <a:avLst/>
            </a:prstGeom>
          </p:spPr>
          <p:txBody>
            <a:bodyPr lIns="0" tIns="0" rIns="0" bIns="0" rtlCol="0" anchor="t"/>
            <a:lstStyle/>
            <a:p>
              <a:pPr marL="312935" lvl="1" indent="-156468" algn="l">
                <a:lnSpc>
                  <a:spcPts val="3319"/>
                </a:lnSpc>
                <a:buFont typeface="Arial"/>
                <a:buChar char="•"/>
              </a:pPr>
              <a:r>
                <a:rPr lang="en-US" sz="2074" spc="-41">
                  <a:solidFill>
                    <a:srgbClr val="272525"/>
                  </a:solidFill>
                  <a:latin typeface="Inter"/>
                  <a:ea typeface="Inter"/>
                  <a:cs typeface="Inter"/>
                  <a:sym typeface="Inter"/>
                </a:rPr>
                <a:t>They can take inputs, perform operations, and return results.</a:t>
              </a:r>
            </a:p>
          </p:txBody>
        </p:sp>
      </p:grpSp>
      <p:sp>
        <p:nvSpPr>
          <p:cNvPr id="15" name="Freeform 15" descr="preencoded.png"/>
          <p:cNvSpPr/>
          <p:nvPr/>
        </p:nvSpPr>
        <p:spPr>
          <a:xfrm>
            <a:off x="846236" y="3454375"/>
            <a:ext cx="6759179" cy="2470994"/>
          </a:xfrm>
          <a:custGeom>
            <a:avLst/>
            <a:gdLst/>
            <a:ahLst/>
            <a:cxnLst/>
            <a:rect l="l" t="t" r="r" b="b"/>
            <a:pathLst>
              <a:path w="6759179" h="2470994">
                <a:moveTo>
                  <a:pt x="0" y="0"/>
                </a:moveTo>
                <a:lnTo>
                  <a:pt x="6759179" y="0"/>
                </a:lnTo>
                <a:lnTo>
                  <a:pt x="6759179" y="2470994"/>
                </a:lnTo>
                <a:lnTo>
                  <a:pt x="0" y="2470994"/>
                </a:lnTo>
                <a:lnTo>
                  <a:pt x="0" y="0"/>
                </a:lnTo>
                <a:close/>
              </a:path>
            </a:pathLst>
          </a:custGeom>
          <a:blipFill>
            <a:blip r:embed="rId3"/>
            <a:stretch>
              <a:fillRect l="-107" r="-107"/>
            </a:stretch>
          </a:blipFill>
        </p:spPr>
      </p:sp>
      <p:grpSp>
        <p:nvGrpSpPr>
          <p:cNvPr id="16" name="Group 16"/>
          <p:cNvGrpSpPr/>
          <p:nvPr/>
        </p:nvGrpSpPr>
        <p:grpSpPr>
          <a:xfrm>
            <a:off x="836711" y="6525816"/>
            <a:ext cx="3944988" cy="493068"/>
            <a:chOff x="0" y="0"/>
            <a:chExt cx="5259983" cy="657423"/>
          </a:xfrm>
        </p:grpSpPr>
        <p:sp>
          <p:nvSpPr>
            <p:cNvPr id="17" name="Freeform 17"/>
            <p:cNvSpPr/>
            <p:nvPr/>
          </p:nvSpPr>
          <p:spPr>
            <a:xfrm>
              <a:off x="0" y="0"/>
              <a:ext cx="5259983" cy="657423"/>
            </a:xfrm>
            <a:custGeom>
              <a:avLst/>
              <a:gdLst/>
              <a:ahLst/>
              <a:cxnLst/>
              <a:rect l="l" t="t" r="r" b="b"/>
              <a:pathLst>
                <a:path w="5259983" h="657423">
                  <a:moveTo>
                    <a:pt x="0" y="0"/>
                  </a:moveTo>
                  <a:lnTo>
                    <a:pt x="5259983" y="0"/>
                  </a:lnTo>
                  <a:lnTo>
                    <a:pt x="5259983" y="657423"/>
                  </a:lnTo>
                  <a:lnTo>
                    <a:pt x="0" y="657423"/>
                  </a:lnTo>
                  <a:close/>
                </a:path>
              </a:pathLst>
            </a:custGeom>
            <a:solidFill>
              <a:srgbClr val="000000">
                <a:alpha val="0"/>
              </a:srgbClr>
            </a:solidFill>
          </p:spPr>
        </p:sp>
        <p:sp>
          <p:nvSpPr>
            <p:cNvPr id="18" name="TextBox 18"/>
            <p:cNvSpPr txBox="1"/>
            <p:nvPr/>
          </p:nvSpPr>
          <p:spPr>
            <a:xfrm>
              <a:off x="0" y="-19050"/>
              <a:ext cx="5259983" cy="676473"/>
            </a:xfrm>
            <a:prstGeom prst="rect">
              <a:avLst/>
            </a:prstGeom>
          </p:spPr>
          <p:txBody>
            <a:bodyPr lIns="0" tIns="0" rIns="0" bIns="0" rtlCol="0" anchor="t"/>
            <a:lstStyle/>
            <a:p>
              <a:pPr algn="l">
                <a:lnSpc>
                  <a:spcPts val="3875"/>
                </a:lnSpc>
              </a:pPr>
              <a:r>
                <a:rPr lang="en-US" sz="3062" spc="-62">
                  <a:solidFill>
                    <a:srgbClr val="F95F88"/>
                  </a:solidFill>
                  <a:latin typeface="Petrona"/>
                  <a:ea typeface="Petrona"/>
                  <a:cs typeface="Petrona"/>
                  <a:sym typeface="Petrona"/>
                </a:rPr>
                <a:t>Syntax:</a:t>
              </a:r>
            </a:p>
          </p:txBody>
        </p:sp>
      </p:grpSp>
      <p:grpSp>
        <p:nvGrpSpPr>
          <p:cNvPr id="19" name="Group 19"/>
          <p:cNvGrpSpPr/>
          <p:nvPr/>
        </p:nvGrpSpPr>
        <p:grpSpPr>
          <a:xfrm>
            <a:off x="836711" y="7257901"/>
            <a:ext cx="8015734" cy="427983"/>
            <a:chOff x="0" y="0"/>
            <a:chExt cx="10687645" cy="570644"/>
          </a:xfrm>
        </p:grpSpPr>
        <p:sp>
          <p:nvSpPr>
            <p:cNvPr id="20" name="Freeform 20"/>
            <p:cNvSpPr/>
            <p:nvPr/>
          </p:nvSpPr>
          <p:spPr>
            <a:xfrm>
              <a:off x="0" y="0"/>
              <a:ext cx="10687645" cy="570644"/>
            </a:xfrm>
            <a:custGeom>
              <a:avLst/>
              <a:gdLst/>
              <a:ahLst/>
              <a:cxnLst/>
              <a:rect l="l" t="t" r="r" b="b"/>
              <a:pathLst>
                <a:path w="10687645" h="570644">
                  <a:moveTo>
                    <a:pt x="0" y="0"/>
                  </a:moveTo>
                  <a:lnTo>
                    <a:pt x="10687645" y="0"/>
                  </a:lnTo>
                  <a:lnTo>
                    <a:pt x="10687645" y="570644"/>
                  </a:lnTo>
                  <a:lnTo>
                    <a:pt x="0" y="570644"/>
                  </a:lnTo>
                  <a:close/>
                </a:path>
              </a:pathLst>
            </a:custGeom>
            <a:solidFill>
              <a:srgbClr val="000000">
                <a:alpha val="0"/>
              </a:srgbClr>
            </a:solidFill>
          </p:spPr>
        </p:sp>
        <p:sp>
          <p:nvSpPr>
            <p:cNvPr id="21" name="TextBox 21"/>
            <p:cNvSpPr txBox="1"/>
            <p:nvPr/>
          </p:nvSpPr>
          <p:spPr>
            <a:xfrm>
              <a:off x="0" y="-85725"/>
              <a:ext cx="10687645" cy="656369"/>
            </a:xfrm>
            <a:prstGeom prst="rect">
              <a:avLst/>
            </a:prstGeom>
          </p:spPr>
          <p:txBody>
            <a:bodyPr lIns="0" tIns="0" rIns="0" bIns="0" rtlCol="0" anchor="t"/>
            <a:lstStyle/>
            <a:p>
              <a:pPr marL="297854" lvl="1" indent="-148927" algn="l">
                <a:lnSpc>
                  <a:spcPts val="3159"/>
                </a:lnSpc>
                <a:buFont typeface="Arial"/>
                <a:buChar char="•"/>
              </a:pPr>
              <a:r>
                <a:rPr lang="en-US" sz="1974" b="1" spc="-39">
                  <a:solidFill>
                    <a:srgbClr val="272525"/>
                  </a:solidFill>
                  <a:latin typeface="Inter Bold"/>
                  <a:ea typeface="Inter Bold"/>
                  <a:cs typeface="Inter Bold"/>
                  <a:sym typeface="Inter Bold"/>
                </a:rPr>
                <a:t>def</a:t>
              </a:r>
              <a:r>
                <a:rPr lang="en-US" sz="1974" spc="-39">
                  <a:solidFill>
                    <a:srgbClr val="272525"/>
                  </a:solidFill>
                  <a:latin typeface="Inter"/>
                  <a:ea typeface="Inter"/>
                  <a:cs typeface="Inter"/>
                  <a:sym typeface="Inter"/>
                </a:rPr>
                <a:t> is the keyword to define a function.</a:t>
              </a:r>
            </a:p>
          </p:txBody>
        </p:sp>
      </p:grpSp>
      <p:grpSp>
        <p:nvGrpSpPr>
          <p:cNvPr id="22" name="Group 22"/>
          <p:cNvGrpSpPr/>
          <p:nvPr/>
        </p:nvGrpSpPr>
        <p:grpSpPr>
          <a:xfrm>
            <a:off x="836711" y="7733408"/>
            <a:ext cx="8015734" cy="427983"/>
            <a:chOff x="0" y="0"/>
            <a:chExt cx="10687645" cy="570644"/>
          </a:xfrm>
        </p:grpSpPr>
        <p:sp>
          <p:nvSpPr>
            <p:cNvPr id="23" name="Freeform 23"/>
            <p:cNvSpPr/>
            <p:nvPr/>
          </p:nvSpPr>
          <p:spPr>
            <a:xfrm>
              <a:off x="0" y="0"/>
              <a:ext cx="10687645" cy="570644"/>
            </a:xfrm>
            <a:custGeom>
              <a:avLst/>
              <a:gdLst/>
              <a:ahLst/>
              <a:cxnLst/>
              <a:rect l="l" t="t" r="r" b="b"/>
              <a:pathLst>
                <a:path w="10687645" h="570644">
                  <a:moveTo>
                    <a:pt x="0" y="0"/>
                  </a:moveTo>
                  <a:lnTo>
                    <a:pt x="10687645" y="0"/>
                  </a:lnTo>
                  <a:lnTo>
                    <a:pt x="10687645" y="570644"/>
                  </a:lnTo>
                  <a:lnTo>
                    <a:pt x="0" y="570644"/>
                  </a:lnTo>
                  <a:close/>
                </a:path>
              </a:pathLst>
            </a:custGeom>
            <a:solidFill>
              <a:srgbClr val="000000">
                <a:alpha val="0"/>
              </a:srgbClr>
            </a:solidFill>
          </p:spPr>
        </p:sp>
        <p:sp>
          <p:nvSpPr>
            <p:cNvPr id="24" name="TextBox 24"/>
            <p:cNvSpPr txBox="1"/>
            <p:nvPr/>
          </p:nvSpPr>
          <p:spPr>
            <a:xfrm>
              <a:off x="0" y="-85725"/>
              <a:ext cx="10687645" cy="656369"/>
            </a:xfrm>
            <a:prstGeom prst="rect">
              <a:avLst/>
            </a:prstGeom>
          </p:spPr>
          <p:txBody>
            <a:bodyPr lIns="0" tIns="0" rIns="0" bIns="0" rtlCol="0" anchor="t"/>
            <a:lstStyle/>
            <a:p>
              <a:pPr marL="297854" lvl="1" indent="-148927" algn="l">
                <a:lnSpc>
                  <a:spcPts val="3159"/>
                </a:lnSpc>
                <a:buFont typeface="Arial"/>
                <a:buChar char="•"/>
              </a:pPr>
              <a:r>
                <a:rPr lang="en-US" sz="1974" b="1" spc="-39">
                  <a:solidFill>
                    <a:srgbClr val="272525"/>
                  </a:solidFill>
                  <a:latin typeface="Inter Bold"/>
                  <a:ea typeface="Inter Bold"/>
                  <a:cs typeface="Inter Bold"/>
                  <a:sym typeface="Inter Bold"/>
                </a:rPr>
                <a:t>function_name</a:t>
              </a:r>
              <a:r>
                <a:rPr lang="en-US" sz="1974" spc="-39">
                  <a:solidFill>
                    <a:srgbClr val="272525"/>
                  </a:solidFill>
                  <a:latin typeface="Inter"/>
                  <a:ea typeface="Inter"/>
                  <a:cs typeface="Inter"/>
                  <a:sym typeface="Inter"/>
                </a:rPr>
                <a:t> is the name of the function (should be descriptive).</a:t>
              </a:r>
            </a:p>
          </p:txBody>
        </p:sp>
      </p:grpSp>
      <p:grpSp>
        <p:nvGrpSpPr>
          <p:cNvPr id="25" name="Group 25"/>
          <p:cNvGrpSpPr/>
          <p:nvPr/>
        </p:nvGrpSpPr>
        <p:grpSpPr>
          <a:xfrm>
            <a:off x="836711" y="8208913"/>
            <a:ext cx="8123040" cy="427983"/>
            <a:chOff x="0" y="0"/>
            <a:chExt cx="10830720" cy="570644"/>
          </a:xfrm>
        </p:grpSpPr>
        <p:sp>
          <p:nvSpPr>
            <p:cNvPr id="26" name="Freeform 26"/>
            <p:cNvSpPr/>
            <p:nvPr/>
          </p:nvSpPr>
          <p:spPr>
            <a:xfrm>
              <a:off x="0" y="0"/>
              <a:ext cx="10830720" cy="570644"/>
            </a:xfrm>
            <a:custGeom>
              <a:avLst/>
              <a:gdLst/>
              <a:ahLst/>
              <a:cxnLst/>
              <a:rect l="l" t="t" r="r" b="b"/>
              <a:pathLst>
                <a:path w="10830720" h="570644">
                  <a:moveTo>
                    <a:pt x="0" y="0"/>
                  </a:moveTo>
                  <a:lnTo>
                    <a:pt x="10830720" y="0"/>
                  </a:lnTo>
                  <a:lnTo>
                    <a:pt x="10830720" y="570644"/>
                  </a:lnTo>
                  <a:lnTo>
                    <a:pt x="0" y="570644"/>
                  </a:lnTo>
                  <a:close/>
                </a:path>
              </a:pathLst>
            </a:custGeom>
            <a:solidFill>
              <a:srgbClr val="000000">
                <a:alpha val="0"/>
              </a:srgbClr>
            </a:solidFill>
          </p:spPr>
        </p:sp>
        <p:sp>
          <p:nvSpPr>
            <p:cNvPr id="27" name="TextBox 27"/>
            <p:cNvSpPr txBox="1"/>
            <p:nvPr/>
          </p:nvSpPr>
          <p:spPr>
            <a:xfrm>
              <a:off x="0" y="-85725"/>
              <a:ext cx="10830720" cy="656369"/>
            </a:xfrm>
            <a:prstGeom prst="rect">
              <a:avLst/>
            </a:prstGeom>
          </p:spPr>
          <p:txBody>
            <a:bodyPr lIns="0" tIns="0" rIns="0" bIns="0" rtlCol="0" anchor="t"/>
            <a:lstStyle/>
            <a:p>
              <a:pPr marL="297854" lvl="1" indent="-148927" algn="l">
                <a:lnSpc>
                  <a:spcPts val="3159"/>
                </a:lnSpc>
                <a:buFont typeface="Arial"/>
                <a:buChar char="•"/>
              </a:pPr>
              <a:r>
                <a:rPr lang="en-US" sz="1974" b="1" spc="-39">
                  <a:solidFill>
                    <a:srgbClr val="272525"/>
                  </a:solidFill>
                  <a:latin typeface="Inter Bold"/>
                  <a:ea typeface="Inter Bold"/>
                  <a:cs typeface="Inter Bold"/>
                  <a:sym typeface="Inter Bold"/>
                </a:rPr>
                <a:t>parameters</a:t>
              </a:r>
              <a:r>
                <a:rPr lang="en-US" sz="1974" spc="-39">
                  <a:solidFill>
                    <a:srgbClr val="272525"/>
                  </a:solidFill>
                  <a:latin typeface="Inter"/>
                  <a:ea typeface="Inter"/>
                  <a:cs typeface="Inter"/>
                  <a:sym typeface="Inter"/>
                </a:rPr>
                <a:t> are values that can be passed to the function (optional).</a:t>
              </a:r>
            </a:p>
          </p:txBody>
        </p:sp>
      </p:grpSp>
      <p:grpSp>
        <p:nvGrpSpPr>
          <p:cNvPr id="28" name="Group 28"/>
          <p:cNvGrpSpPr/>
          <p:nvPr/>
        </p:nvGrpSpPr>
        <p:grpSpPr>
          <a:xfrm>
            <a:off x="836711" y="8684419"/>
            <a:ext cx="8015734" cy="427983"/>
            <a:chOff x="0" y="0"/>
            <a:chExt cx="10687645" cy="570644"/>
          </a:xfrm>
        </p:grpSpPr>
        <p:sp>
          <p:nvSpPr>
            <p:cNvPr id="29" name="Freeform 29"/>
            <p:cNvSpPr/>
            <p:nvPr/>
          </p:nvSpPr>
          <p:spPr>
            <a:xfrm>
              <a:off x="0" y="0"/>
              <a:ext cx="10687645" cy="570644"/>
            </a:xfrm>
            <a:custGeom>
              <a:avLst/>
              <a:gdLst/>
              <a:ahLst/>
              <a:cxnLst/>
              <a:rect l="l" t="t" r="r" b="b"/>
              <a:pathLst>
                <a:path w="10687645" h="570644">
                  <a:moveTo>
                    <a:pt x="0" y="0"/>
                  </a:moveTo>
                  <a:lnTo>
                    <a:pt x="10687645" y="0"/>
                  </a:lnTo>
                  <a:lnTo>
                    <a:pt x="10687645" y="570644"/>
                  </a:lnTo>
                  <a:lnTo>
                    <a:pt x="0" y="570644"/>
                  </a:lnTo>
                  <a:close/>
                </a:path>
              </a:pathLst>
            </a:custGeom>
            <a:solidFill>
              <a:srgbClr val="000000">
                <a:alpha val="0"/>
              </a:srgbClr>
            </a:solidFill>
          </p:spPr>
        </p:sp>
        <p:sp>
          <p:nvSpPr>
            <p:cNvPr id="30" name="TextBox 30"/>
            <p:cNvSpPr txBox="1"/>
            <p:nvPr/>
          </p:nvSpPr>
          <p:spPr>
            <a:xfrm>
              <a:off x="0" y="-85725"/>
              <a:ext cx="10687645" cy="656369"/>
            </a:xfrm>
            <a:prstGeom prst="rect">
              <a:avLst/>
            </a:prstGeom>
          </p:spPr>
          <p:txBody>
            <a:bodyPr lIns="0" tIns="0" rIns="0" bIns="0" rtlCol="0" anchor="t"/>
            <a:lstStyle/>
            <a:p>
              <a:pPr marL="297854" lvl="1" indent="-148927" algn="l">
                <a:lnSpc>
                  <a:spcPts val="3159"/>
                </a:lnSpc>
                <a:buFont typeface="Arial"/>
                <a:buChar char="•"/>
              </a:pPr>
              <a:r>
                <a:rPr lang="en-US" sz="1974" b="1" spc="-39">
                  <a:solidFill>
                    <a:srgbClr val="272525"/>
                  </a:solidFill>
                  <a:latin typeface="Inter Bold"/>
                  <a:ea typeface="Inter Bold"/>
                  <a:cs typeface="Inter Bold"/>
                  <a:sym typeface="Inter Bold"/>
                </a:rPr>
                <a:t>return</a:t>
              </a:r>
              <a:r>
                <a:rPr lang="en-US" sz="1974" spc="-39">
                  <a:solidFill>
                    <a:srgbClr val="272525"/>
                  </a:solidFill>
                  <a:latin typeface="Inter"/>
                  <a:ea typeface="Inter"/>
                  <a:cs typeface="Inter"/>
                  <a:sym typeface="Inter"/>
                </a:rPr>
                <a:t> sends a result or value back to the calling code.</a:t>
              </a:r>
            </a:p>
          </p:txBody>
        </p:sp>
      </p:grpSp>
      <p:sp>
        <p:nvSpPr>
          <p:cNvPr id="31" name="Freeform 31" descr="preencoded.png"/>
          <p:cNvSpPr/>
          <p:nvPr/>
        </p:nvSpPr>
        <p:spPr>
          <a:xfrm>
            <a:off x="9343568" y="3454375"/>
            <a:ext cx="8041504" cy="3765426"/>
          </a:xfrm>
          <a:custGeom>
            <a:avLst/>
            <a:gdLst/>
            <a:ahLst/>
            <a:cxnLst/>
            <a:rect l="l" t="t" r="r" b="b"/>
            <a:pathLst>
              <a:path w="8041504" h="3765426">
                <a:moveTo>
                  <a:pt x="0" y="0"/>
                </a:moveTo>
                <a:lnTo>
                  <a:pt x="8041504" y="0"/>
                </a:lnTo>
                <a:lnTo>
                  <a:pt x="8041504" y="3765426"/>
                </a:lnTo>
                <a:lnTo>
                  <a:pt x="0" y="3765426"/>
                </a:lnTo>
                <a:lnTo>
                  <a:pt x="0" y="0"/>
                </a:lnTo>
                <a:close/>
              </a:path>
            </a:pathLst>
          </a:custGeom>
          <a:blipFill>
            <a:blip r:embed="rId4"/>
            <a:stretch>
              <a:fillRect l="-68" r="-68"/>
            </a:stretch>
          </a:blipFill>
        </p:spPr>
      </p:sp>
      <p:grpSp>
        <p:nvGrpSpPr>
          <p:cNvPr id="32" name="Group 32"/>
          <p:cNvGrpSpPr/>
          <p:nvPr/>
        </p:nvGrpSpPr>
        <p:grpSpPr>
          <a:xfrm>
            <a:off x="9748318" y="7219801"/>
            <a:ext cx="7232005" cy="493068"/>
            <a:chOff x="0" y="0"/>
            <a:chExt cx="9642673" cy="657423"/>
          </a:xfrm>
        </p:grpSpPr>
        <p:sp>
          <p:nvSpPr>
            <p:cNvPr id="33" name="Freeform 33"/>
            <p:cNvSpPr/>
            <p:nvPr/>
          </p:nvSpPr>
          <p:spPr>
            <a:xfrm>
              <a:off x="0" y="0"/>
              <a:ext cx="9642673" cy="657423"/>
            </a:xfrm>
            <a:custGeom>
              <a:avLst/>
              <a:gdLst/>
              <a:ahLst/>
              <a:cxnLst/>
              <a:rect l="l" t="t" r="r" b="b"/>
              <a:pathLst>
                <a:path w="9642673" h="657423">
                  <a:moveTo>
                    <a:pt x="0" y="0"/>
                  </a:moveTo>
                  <a:lnTo>
                    <a:pt x="9642673" y="0"/>
                  </a:lnTo>
                  <a:lnTo>
                    <a:pt x="9642673" y="657423"/>
                  </a:lnTo>
                  <a:lnTo>
                    <a:pt x="0" y="657423"/>
                  </a:lnTo>
                  <a:close/>
                </a:path>
              </a:pathLst>
            </a:custGeom>
            <a:solidFill>
              <a:srgbClr val="000000">
                <a:alpha val="0"/>
              </a:srgbClr>
            </a:solidFill>
          </p:spPr>
        </p:sp>
        <p:sp>
          <p:nvSpPr>
            <p:cNvPr id="34" name="TextBox 34"/>
            <p:cNvSpPr txBox="1"/>
            <p:nvPr/>
          </p:nvSpPr>
          <p:spPr>
            <a:xfrm>
              <a:off x="0" y="-19050"/>
              <a:ext cx="9642673" cy="676473"/>
            </a:xfrm>
            <a:prstGeom prst="rect">
              <a:avLst/>
            </a:prstGeom>
          </p:spPr>
          <p:txBody>
            <a:bodyPr lIns="0" tIns="0" rIns="0" bIns="0" rtlCol="0" anchor="t"/>
            <a:lstStyle/>
            <a:p>
              <a:pPr algn="l">
                <a:lnSpc>
                  <a:spcPts val="3875"/>
                </a:lnSpc>
              </a:pPr>
              <a:r>
                <a:rPr lang="en-US" sz="3062" spc="-62">
                  <a:solidFill>
                    <a:srgbClr val="F95F88"/>
                  </a:solidFill>
                  <a:latin typeface="Petrona"/>
                  <a:ea typeface="Petrona"/>
                  <a:cs typeface="Petrona"/>
                  <a:sym typeface="Petrona"/>
                </a:rPr>
                <a:t>Passing Arguments and Returning Values:</a:t>
              </a:r>
            </a:p>
          </p:txBody>
        </p:sp>
      </p:grpSp>
      <p:grpSp>
        <p:nvGrpSpPr>
          <p:cNvPr id="35" name="Group 35"/>
          <p:cNvGrpSpPr/>
          <p:nvPr/>
        </p:nvGrpSpPr>
        <p:grpSpPr>
          <a:xfrm>
            <a:off x="9445079" y="7951886"/>
            <a:ext cx="8301883" cy="427983"/>
            <a:chOff x="0" y="0"/>
            <a:chExt cx="11069178" cy="570644"/>
          </a:xfrm>
        </p:grpSpPr>
        <p:sp>
          <p:nvSpPr>
            <p:cNvPr id="36" name="Freeform 36"/>
            <p:cNvSpPr/>
            <p:nvPr/>
          </p:nvSpPr>
          <p:spPr>
            <a:xfrm>
              <a:off x="0" y="0"/>
              <a:ext cx="11069178" cy="570644"/>
            </a:xfrm>
            <a:custGeom>
              <a:avLst/>
              <a:gdLst/>
              <a:ahLst/>
              <a:cxnLst/>
              <a:rect l="l" t="t" r="r" b="b"/>
              <a:pathLst>
                <a:path w="11069178" h="570644">
                  <a:moveTo>
                    <a:pt x="0" y="0"/>
                  </a:moveTo>
                  <a:lnTo>
                    <a:pt x="11069178" y="0"/>
                  </a:lnTo>
                  <a:lnTo>
                    <a:pt x="11069178" y="570644"/>
                  </a:lnTo>
                  <a:lnTo>
                    <a:pt x="0" y="570644"/>
                  </a:lnTo>
                  <a:close/>
                </a:path>
              </a:pathLst>
            </a:custGeom>
            <a:solidFill>
              <a:srgbClr val="000000">
                <a:alpha val="0"/>
              </a:srgbClr>
            </a:solidFill>
          </p:spPr>
        </p:sp>
        <p:sp>
          <p:nvSpPr>
            <p:cNvPr id="37" name="TextBox 37"/>
            <p:cNvSpPr txBox="1"/>
            <p:nvPr/>
          </p:nvSpPr>
          <p:spPr>
            <a:xfrm>
              <a:off x="0" y="-85725"/>
              <a:ext cx="11069178" cy="656369"/>
            </a:xfrm>
            <a:prstGeom prst="rect">
              <a:avLst/>
            </a:prstGeom>
          </p:spPr>
          <p:txBody>
            <a:bodyPr lIns="0" tIns="0" rIns="0" bIns="0" rtlCol="0" anchor="t"/>
            <a:lstStyle/>
            <a:p>
              <a:pPr marL="297854" lvl="1" indent="-148927" algn="l">
                <a:lnSpc>
                  <a:spcPts val="3159"/>
                </a:lnSpc>
                <a:buFont typeface="Arial"/>
                <a:buChar char="•"/>
              </a:pPr>
              <a:r>
                <a:rPr lang="en-US" sz="1974" b="1" spc="-39">
                  <a:solidFill>
                    <a:srgbClr val="272525"/>
                  </a:solidFill>
                  <a:latin typeface="Inter Bold"/>
                  <a:ea typeface="Inter Bold"/>
                  <a:cs typeface="Inter Bold"/>
                  <a:sym typeface="Inter Bold"/>
                </a:rPr>
                <a:t>total_space</a:t>
              </a:r>
              <a:r>
                <a:rPr lang="en-US" sz="1974" spc="-39">
                  <a:solidFill>
                    <a:srgbClr val="272525"/>
                  </a:solidFill>
                  <a:latin typeface="Inter"/>
                  <a:ea typeface="Inter"/>
                  <a:cs typeface="Inter"/>
                  <a:sym typeface="Inter"/>
                </a:rPr>
                <a:t> and </a:t>
              </a:r>
              <a:r>
                <a:rPr lang="en-US" sz="1974" b="1" spc="-39">
                  <a:solidFill>
                    <a:srgbClr val="272525"/>
                  </a:solidFill>
                  <a:latin typeface="Inter Bold"/>
                  <a:ea typeface="Inter Bold"/>
                  <a:cs typeface="Inter Bold"/>
                  <a:sym typeface="Inter Bold"/>
                </a:rPr>
                <a:t>used_space</a:t>
              </a:r>
              <a:r>
                <a:rPr lang="en-US" sz="1974" spc="-39">
                  <a:solidFill>
                    <a:srgbClr val="272525"/>
                  </a:solidFill>
                  <a:latin typeface="Inter"/>
                  <a:ea typeface="Inter"/>
                  <a:cs typeface="Inter"/>
                  <a:sym typeface="Inter"/>
                </a:rPr>
                <a:t> are arguments passed into the function.</a:t>
              </a:r>
            </a:p>
          </p:txBody>
        </p:sp>
      </p:grpSp>
      <p:grpSp>
        <p:nvGrpSpPr>
          <p:cNvPr id="38" name="Group 38"/>
          <p:cNvGrpSpPr/>
          <p:nvPr/>
        </p:nvGrpSpPr>
        <p:grpSpPr>
          <a:xfrm>
            <a:off x="9445079" y="8427392"/>
            <a:ext cx="8194577" cy="427983"/>
            <a:chOff x="0" y="0"/>
            <a:chExt cx="10926103" cy="570644"/>
          </a:xfrm>
        </p:grpSpPr>
        <p:sp>
          <p:nvSpPr>
            <p:cNvPr id="39" name="Freeform 39"/>
            <p:cNvSpPr/>
            <p:nvPr/>
          </p:nvSpPr>
          <p:spPr>
            <a:xfrm>
              <a:off x="0" y="0"/>
              <a:ext cx="10926104" cy="570644"/>
            </a:xfrm>
            <a:custGeom>
              <a:avLst/>
              <a:gdLst/>
              <a:ahLst/>
              <a:cxnLst/>
              <a:rect l="l" t="t" r="r" b="b"/>
              <a:pathLst>
                <a:path w="10926104" h="570644">
                  <a:moveTo>
                    <a:pt x="0" y="0"/>
                  </a:moveTo>
                  <a:lnTo>
                    <a:pt x="10926104" y="0"/>
                  </a:lnTo>
                  <a:lnTo>
                    <a:pt x="10926104" y="570644"/>
                  </a:lnTo>
                  <a:lnTo>
                    <a:pt x="0" y="570644"/>
                  </a:lnTo>
                  <a:close/>
                </a:path>
              </a:pathLst>
            </a:custGeom>
            <a:solidFill>
              <a:srgbClr val="000000">
                <a:alpha val="0"/>
              </a:srgbClr>
            </a:solidFill>
          </p:spPr>
        </p:sp>
        <p:sp>
          <p:nvSpPr>
            <p:cNvPr id="40" name="TextBox 40"/>
            <p:cNvSpPr txBox="1"/>
            <p:nvPr/>
          </p:nvSpPr>
          <p:spPr>
            <a:xfrm>
              <a:off x="0" y="-85725"/>
              <a:ext cx="10926103" cy="656369"/>
            </a:xfrm>
            <a:prstGeom prst="rect">
              <a:avLst/>
            </a:prstGeom>
          </p:spPr>
          <p:txBody>
            <a:bodyPr lIns="0" tIns="0" rIns="0" bIns="0" rtlCol="0" anchor="t"/>
            <a:lstStyle/>
            <a:p>
              <a:pPr marL="297854" lvl="1" indent="-148927" algn="l">
                <a:lnSpc>
                  <a:spcPts val="3159"/>
                </a:lnSpc>
                <a:buFont typeface="Arial"/>
                <a:buChar char="•"/>
              </a:pPr>
              <a:r>
                <a:rPr lang="en-US" sz="1974" spc="-39">
                  <a:solidFill>
                    <a:srgbClr val="272525"/>
                  </a:solidFill>
                  <a:latin typeface="Inter"/>
                  <a:ea typeface="Inter"/>
                  <a:cs typeface="Inter"/>
                  <a:sym typeface="Inter"/>
                </a:rPr>
                <a:t>The function calculates and returns the free disk space (free_space).</a:t>
              </a:r>
            </a:p>
          </p:txBody>
        </p:sp>
      </p:grpSp>
      <p:grpSp>
        <p:nvGrpSpPr>
          <p:cNvPr id="41" name="Group 41"/>
          <p:cNvGrpSpPr/>
          <p:nvPr/>
        </p:nvGrpSpPr>
        <p:grpSpPr>
          <a:xfrm>
            <a:off x="9445079" y="8902899"/>
            <a:ext cx="8015734" cy="828033"/>
            <a:chOff x="0" y="0"/>
            <a:chExt cx="10687645" cy="1104044"/>
          </a:xfrm>
        </p:grpSpPr>
        <p:sp>
          <p:nvSpPr>
            <p:cNvPr id="42" name="Freeform 42"/>
            <p:cNvSpPr/>
            <p:nvPr/>
          </p:nvSpPr>
          <p:spPr>
            <a:xfrm>
              <a:off x="0" y="0"/>
              <a:ext cx="10687645" cy="1104044"/>
            </a:xfrm>
            <a:custGeom>
              <a:avLst/>
              <a:gdLst/>
              <a:ahLst/>
              <a:cxnLst/>
              <a:rect l="l" t="t" r="r" b="b"/>
              <a:pathLst>
                <a:path w="10687645" h="1104044">
                  <a:moveTo>
                    <a:pt x="0" y="0"/>
                  </a:moveTo>
                  <a:lnTo>
                    <a:pt x="10687645" y="0"/>
                  </a:lnTo>
                  <a:lnTo>
                    <a:pt x="10687645" y="1104044"/>
                  </a:lnTo>
                  <a:lnTo>
                    <a:pt x="0" y="1104044"/>
                  </a:lnTo>
                  <a:close/>
                </a:path>
              </a:pathLst>
            </a:custGeom>
            <a:solidFill>
              <a:srgbClr val="000000">
                <a:alpha val="0"/>
              </a:srgbClr>
            </a:solidFill>
          </p:spPr>
        </p:sp>
        <p:sp>
          <p:nvSpPr>
            <p:cNvPr id="43" name="TextBox 43"/>
            <p:cNvSpPr txBox="1"/>
            <p:nvPr/>
          </p:nvSpPr>
          <p:spPr>
            <a:xfrm>
              <a:off x="0" y="-85725"/>
              <a:ext cx="10687645" cy="1189769"/>
            </a:xfrm>
            <a:prstGeom prst="rect">
              <a:avLst/>
            </a:prstGeom>
          </p:spPr>
          <p:txBody>
            <a:bodyPr lIns="0" tIns="0" rIns="0" bIns="0" rtlCol="0" anchor="t"/>
            <a:lstStyle/>
            <a:p>
              <a:pPr marL="297854" lvl="1" indent="-148927" algn="l">
                <a:lnSpc>
                  <a:spcPts val="3159"/>
                </a:lnSpc>
                <a:buFont typeface="Arial"/>
                <a:buChar char="•"/>
              </a:pPr>
              <a:r>
                <a:rPr lang="en-US" sz="1974" spc="-39">
                  <a:solidFill>
                    <a:srgbClr val="272525"/>
                  </a:solidFill>
                  <a:latin typeface="Inter"/>
                  <a:ea typeface="Inter"/>
                  <a:cs typeface="Inter"/>
                  <a:sym typeface="Inter"/>
                </a:rPr>
                <a:t>The returned value is stored in the </a:t>
              </a:r>
              <a:r>
                <a:rPr lang="en-US" sz="1974" b="1" spc="-39">
                  <a:solidFill>
                    <a:srgbClr val="272525"/>
                  </a:solidFill>
                  <a:latin typeface="Inter Bold"/>
                  <a:ea typeface="Inter Bold"/>
                  <a:cs typeface="Inter Bold"/>
                  <a:sym typeface="Inter Bold"/>
                </a:rPr>
                <a:t>free</a:t>
              </a:r>
              <a:r>
                <a:rPr lang="en-US" sz="1974" spc="-39">
                  <a:solidFill>
                    <a:srgbClr val="272525"/>
                  </a:solidFill>
                  <a:latin typeface="Inter"/>
                  <a:ea typeface="Inter"/>
                  <a:cs typeface="Inter"/>
                  <a:sym typeface="Inter"/>
                </a:rPr>
                <a:t> variable, which we then print.</a:t>
              </a:r>
            </a:p>
          </p:txBody>
        </p:sp>
      </p:grpSp>
      <p:sp>
        <p:nvSpPr>
          <p:cNvPr id="44" name="TextBox 44"/>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600" spc="-34" dirty="0">
                <a:solidFill>
                  <a:srgbClr val="272525"/>
                </a:solidFill>
                <a:latin typeface="Inter"/>
                <a:ea typeface="Inter"/>
                <a:cs typeface="Inter"/>
                <a:sym typeface="Inter"/>
              </a:rPr>
              <a:t>Mohammad Anees Alam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511076" y="421375"/>
            <a:ext cx="4015680" cy="622719"/>
            <a:chOff x="0" y="0"/>
            <a:chExt cx="5354240" cy="830292"/>
          </a:xfrm>
        </p:grpSpPr>
        <p:sp>
          <p:nvSpPr>
            <p:cNvPr id="7" name="Freeform 7"/>
            <p:cNvSpPr/>
            <p:nvPr/>
          </p:nvSpPr>
          <p:spPr>
            <a:xfrm>
              <a:off x="0" y="0"/>
              <a:ext cx="5354240" cy="830292"/>
            </a:xfrm>
            <a:custGeom>
              <a:avLst/>
              <a:gdLst/>
              <a:ahLst/>
              <a:cxnLst/>
              <a:rect l="l" t="t" r="r" b="b"/>
              <a:pathLst>
                <a:path w="5354240" h="830292">
                  <a:moveTo>
                    <a:pt x="0" y="0"/>
                  </a:moveTo>
                  <a:lnTo>
                    <a:pt x="5354240" y="0"/>
                  </a:lnTo>
                  <a:lnTo>
                    <a:pt x="5354240" y="830292"/>
                  </a:lnTo>
                  <a:lnTo>
                    <a:pt x="0" y="830292"/>
                  </a:lnTo>
                  <a:close/>
                </a:path>
              </a:pathLst>
            </a:custGeom>
            <a:solidFill>
              <a:srgbClr val="000000">
                <a:alpha val="0"/>
              </a:srgbClr>
            </a:solidFill>
          </p:spPr>
        </p:sp>
        <p:sp>
          <p:nvSpPr>
            <p:cNvPr id="8" name="TextBox 8"/>
            <p:cNvSpPr txBox="1"/>
            <p:nvPr/>
          </p:nvSpPr>
          <p:spPr>
            <a:xfrm>
              <a:off x="0" y="-28575"/>
              <a:ext cx="5354240" cy="858867"/>
            </a:xfrm>
            <a:prstGeom prst="rect">
              <a:avLst/>
            </a:prstGeom>
          </p:spPr>
          <p:txBody>
            <a:bodyPr lIns="0" tIns="0" rIns="0" bIns="0" rtlCol="0" anchor="t"/>
            <a:lstStyle/>
            <a:p>
              <a:pPr algn="l">
                <a:lnSpc>
                  <a:spcPts val="4693"/>
                </a:lnSpc>
              </a:pPr>
              <a:r>
                <a:rPr lang="en-US" sz="3724" spc="-75">
                  <a:solidFill>
                    <a:srgbClr val="F95F88"/>
                  </a:solidFill>
                  <a:latin typeface="Petrona"/>
                  <a:ea typeface="Petrona"/>
                  <a:cs typeface="Petrona"/>
                  <a:sym typeface="Petrona"/>
                </a:rPr>
                <a:t>Modules</a:t>
              </a:r>
            </a:p>
          </p:txBody>
        </p:sp>
      </p:grpSp>
      <p:grpSp>
        <p:nvGrpSpPr>
          <p:cNvPr id="9" name="Group 9"/>
          <p:cNvGrpSpPr/>
          <p:nvPr/>
        </p:nvGrpSpPr>
        <p:grpSpPr>
          <a:xfrm>
            <a:off x="511076" y="1236668"/>
            <a:ext cx="17265849" cy="394711"/>
            <a:chOff x="0" y="0"/>
            <a:chExt cx="23021132" cy="526281"/>
          </a:xfrm>
        </p:grpSpPr>
        <p:sp>
          <p:nvSpPr>
            <p:cNvPr id="10" name="Freeform 10"/>
            <p:cNvSpPr/>
            <p:nvPr/>
          </p:nvSpPr>
          <p:spPr>
            <a:xfrm>
              <a:off x="0" y="0"/>
              <a:ext cx="23021131" cy="526281"/>
            </a:xfrm>
            <a:custGeom>
              <a:avLst/>
              <a:gdLst/>
              <a:ahLst/>
              <a:cxnLst/>
              <a:rect l="l" t="t" r="r" b="b"/>
              <a:pathLst>
                <a:path w="23021131" h="526281">
                  <a:moveTo>
                    <a:pt x="0" y="0"/>
                  </a:moveTo>
                  <a:lnTo>
                    <a:pt x="23021131" y="0"/>
                  </a:lnTo>
                  <a:lnTo>
                    <a:pt x="23021131" y="526281"/>
                  </a:lnTo>
                  <a:lnTo>
                    <a:pt x="0" y="526281"/>
                  </a:lnTo>
                  <a:close/>
                </a:path>
              </a:pathLst>
            </a:custGeom>
            <a:solidFill>
              <a:srgbClr val="000000">
                <a:alpha val="0"/>
              </a:srgbClr>
            </a:solidFill>
          </p:spPr>
        </p:sp>
        <p:sp>
          <p:nvSpPr>
            <p:cNvPr id="11" name="TextBox 11"/>
            <p:cNvSpPr txBox="1"/>
            <p:nvPr/>
          </p:nvSpPr>
          <p:spPr>
            <a:xfrm>
              <a:off x="0" y="-76200"/>
              <a:ext cx="23021132" cy="602481"/>
            </a:xfrm>
            <a:prstGeom prst="rect">
              <a:avLst/>
            </a:prstGeom>
          </p:spPr>
          <p:txBody>
            <a:bodyPr lIns="0" tIns="0" rIns="0" bIns="0" rtlCol="0" anchor="t"/>
            <a:lstStyle/>
            <a:p>
              <a:pPr marL="275230" lvl="1" indent="-137615" algn="l">
                <a:lnSpc>
                  <a:spcPts val="2940"/>
                </a:lnSpc>
                <a:buFont typeface="Arial"/>
                <a:buChar char="•"/>
              </a:pPr>
              <a:r>
                <a:rPr lang="en-US" sz="1824" spc="-36">
                  <a:solidFill>
                    <a:srgbClr val="272525"/>
                  </a:solidFill>
                  <a:latin typeface="Inter"/>
                  <a:ea typeface="Inter"/>
                  <a:cs typeface="Inter"/>
                  <a:sym typeface="Inter"/>
                </a:rPr>
                <a:t>Modules are pre-build blocks of code that can be reusable without having to write them yourself.</a:t>
              </a:r>
            </a:p>
          </p:txBody>
        </p:sp>
      </p:grpSp>
      <p:grpSp>
        <p:nvGrpSpPr>
          <p:cNvPr id="12" name="Group 12"/>
          <p:cNvGrpSpPr/>
          <p:nvPr/>
        </p:nvGrpSpPr>
        <p:grpSpPr>
          <a:xfrm>
            <a:off x="511076" y="1674566"/>
            <a:ext cx="17265849" cy="394711"/>
            <a:chOff x="0" y="0"/>
            <a:chExt cx="23021132" cy="526281"/>
          </a:xfrm>
        </p:grpSpPr>
        <p:sp>
          <p:nvSpPr>
            <p:cNvPr id="13" name="Freeform 13"/>
            <p:cNvSpPr/>
            <p:nvPr/>
          </p:nvSpPr>
          <p:spPr>
            <a:xfrm>
              <a:off x="0" y="0"/>
              <a:ext cx="23021131" cy="526281"/>
            </a:xfrm>
            <a:custGeom>
              <a:avLst/>
              <a:gdLst/>
              <a:ahLst/>
              <a:cxnLst/>
              <a:rect l="l" t="t" r="r" b="b"/>
              <a:pathLst>
                <a:path w="23021131" h="526281">
                  <a:moveTo>
                    <a:pt x="0" y="0"/>
                  </a:moveTo>
                  <a:lnTo>
                    <a:pt x="23021131" y="0"/>
                  </a:lnTo>
                  <a:lnTo>
                    <a:pt x="23021131" y="526281"/>
                  </a:lnTo>
                  <a:lnTo>
                    <a:pt x="0" y="526281"/>
                  </a:lnTo>
                  <a:close/>
                </a:path>
              </a:pathLst>
            </a:custGeom>
            <a:solidFill>
              <a:srgbClr val="000000">
                <a:alpha val="0"/>
              </a:srgbClr>
            </a:solidFill>
          </p:spPr>
        </p:sp>
        <p:sp>
          <p:nvSpPr>
            <p:cNvPr id="14" name="TextBox 14"/>
            <p:cNvSpPr txBox="1"/>
            <p:nvPr/>
          </p:nvSpPr>
          <p:spPr>
            <a:xfrm>
              <a:off x="0" y="-76200"/>
              <a:ext cx="23021132" cy="602481"/>
            </a:xfrm>
            <a:prstGeom prst="rect">
              <a:avLst/>
            </a:prstGeom>
          </p:spPr>
          <p:txBody>
            <a:bodyPr lIns="0" tIns="0" rIns="0" bIns="0" rtlCol="0" anchor="t"/>
            <a:lstStyle/>
            <a:p>
              <a:pPr marL="275230" lvl="1" indent="-137615" algn="l">
                <a:lnSpc>
                  <a:spcPts val="2940"/>
                </a:lnSpc>
                <a:buFont typeface="Arial"/>
                <a:buChar char="•"/>
              </a:pPr>
              <a:r>
                <a:rPr lang="en-US" sz="1824" spc="-36">
                  <a:solidFill>
                    <a:srgbClr val="272525"/>
                  </a:solidFill>
                  <a:latin typeface="Inter"/>
                  <a:ea typeface="Inter"/>
                  <a:cs typeface="Inter"/>
                  <a:sym typeface="Inter"/>
                </a:rPr>
                <a:t>These modules contain reusable functions, variables or classes to handle common tasks like managing files, interacting with OS or manage networking aspects.</a:t>
              </a:r>
            </a:p>
          </p:txBody>
        </p:sp>
      </p:grpSp>
      <p:grpSp>
        <p:nvGrpSpPr>
          <p:cNvPr id="15" name="Group 15"/>
          <p:cNvGrpSpPr/>
          <p:nvPr/>
        </p:nvGrpSpPr>
        <p:grpSpPr>
          <a:xfrm>
            <a:off x="511076" y="2213614"/>
            <a:ext cx="17265849" cy="448389"/>
            <a:chOff x="0" y="0"/>
            <a:chExt cx="23021132" cy="597852"/>
          </a:xfrm>
        </p:grpSpPr>
        <p:sp>
          <p:nvSpPr>
            <p:cNvPr id="16" name="Freeform 16"/>
            <p:cNvSpPr/>
            <p:nvPr/>
          </p:nvSpPr>
          <p:spPr>
            <a:xfrm>
              <a:off x="0" y="0"/>
              <a:ext cx="23021131" cy="597852"/>
            </a:xfrm>
            <a:custGeom>
              <a:avLst/>
              <a:gdLst/>
              <a:ahLst/>
              <a:cxnLst/>
              <a:rect l="l" t="t" r="r" b="b"/>
              <a:pathLst>
                <a:path w="23021131" h="597852">
                  <a:moveTo>
                    <a:pt x="0" y="0"/>
                  </a:moveTo>
                  <a:lnTo>
                    <a:pt x="23021131" y="0"/>
                  </a:lnTo>
                  <a:lnTo>
                    <a:pt x="23021131" y="597852"/>
                  </a:lnTo>
                  <a:lnTo>
                    <a:pt x="0" y="597852"/>
                  </a:lnTo>
                  <a:close/>
                </a:path>
              </a:pathLst>
            </a:custGeom>
            <a:solidFill>
              <a:srgbClr val="000000">
                <a:alpha val="0"/>
              </a:srgbClr>
            </a:solidFill>
          </p:spPr>
        </p:sp>
        <p:sp>
          <p:nvSpPr>
            <p:cNvPr id="17" name="TextBox 17"/>
            <p:cNvSpPr txBox="1"/>
            <p:nvPr/>
          </p:nvSpPr>
          <p:spPr>
            <a:xfrm>
              <a:off x="0" y="-95250"/>
              <a:ext cx="23021132" cy="693102"/>
            </a:xfrm>
            <a:prstGeom prst="rect">
              <a:avLst/>
            </a:prstGeom>
          </p:spPr>
          <p:txBody>
            <a:bodyPr lIns="0" tIns="0" rIns="0" bIns="0" rtlCol="0" anchor="t"/>
            <a:lstStyle/>
            <a:p>
              <a:pPr algn="l">
                <a:lnSpc>
                  <a:spcPts val="3395"/>
                </a:lnSpc>
              </a:pPr>
              <a:r>
                <a:rPr lang="en-US" sz="2074" u="sng" spc="-33">
                  <a:solidFill>
                    <a:srgbClr val="272525"/>
                  </a:solidFill>
                  <a:latin typeface="Inter"/>
                  <a:ea typeface="Inter"/>
                  <a:cs typeface="Inter"/>
                  <a:sym typeface="Inter"/>
                </a:rPr>
                <a:t>Commonly used modules are</a:t>
              </a:r>
              <a:r>
                <a:rPr lang="en-US" sz="2074" spc="-33">
                  <a:solidFill>
                    <a:srgbClr val="272525"/>
                  </a:solidFill>
                  <a:latin typeface="Inter"/>
                  <a:ea typeface="Inter"/>
                  <a:cs typeface="Inter"/>
                  <a:sym typeface="Inter"/>
                </a:rPr>
                <a:t>: os module &amp; sys module.</a:t>
              </a:r>
            </a:p>
          </p:txBody>
        </p:sp>
      </p:grpSp>
      <p:grpSp>
        <p:nvGrpSpPr>
          <p:cNvPr id="18" name="Group 18"/>
          <p:cNvGrpSpPr/>
          <p:nvPr/>
        </p:nvGrpSpPr>
        <p:grpSpPr>
          <a:xfrm>
            <a:off x="511076" y="2670255"/>
            <a:ext cx="17265849" cy="766186"/>
            <a:chOff x="0" y="0"/>
            <a:chExt cx="23021132" cy="1021581"/>
          </a:xfrm>
        </p:grpSpPr>
        <p:sp>
          <p:nvSpPr>
            <p:cNvPr id="19" name="Freeform 19"/>
            <p:cNvSpPr/>
            <p:nvPr/>
          </p:nvSpPr>
          <p:spPr>
            <a:xfrm>
              <a:off x="0" y="0"/>
              <a:ext cx="23021131" cy="1021581"/>
            </a:xfrm>
            <a:custGeom>
              <a:avLst/>
              <a:gdLst/>
              <a:ahLst/>
              <a:cxnLst/>
              <a:rect l="l" t="t" r="r" b="b"/>
              <a:pathLst>
                <a:path w="23021131" h="1021581">
                  <a:moveTo>
                    <a:pt x="0" y="0"/>
                  </a:moveTo>
                  <a:lnTo>
                    <a:pt x="23021131" y="0"/>
                  </a:lnTo>
                  <a:lnTo>
                    <a:pt x="23021131" y="1021581"/>
                  </a:lnTo>
                  <a:lnTo>
                    <a:pt x="0" y="1021581"/>
                  </a:lnTo>
                  <a:close/>
                </a:path>
              </a:pathLst>
            </a:custGeom>
            <a:solidFill>
              <a:srgbClr val="000000">
                <a:alpha val="0"/>
              </a:srgbClr>
            </a:solidFill>
          </p:spPr>
        </p:sp>
        <p:sp>
          <p:nvSpPr>
            <p:cNvPr id="20" name="TextBox 20"/>
            <p:cNvSpPr txBox="1"/>
            <p:nvPr/>
          </p:nvSpPr>
          <p:spPr>
            <a:xfrm>
              <a:off x="0" y="-76200"/>
              <a:ext cx="23021132" cy="1097781"/>
            </a:xfrm>
            <a:prstGeom prst="rect">
              <a:avLst/>
            </a:prstGeom>
          </p:spPr>
          <p:txBody>
            <a:bodyPr lIns="0" tIns="0" rIns="0" bIns="0" rtlCol="0" anchor="t"/>
            <a:lstStyle/>
            <a:p>
              <a:pPr marL="275230" lvl="1" indent="-137615" algn="l">
                <a:lnSpc>
                  <a:spcPts val="2940"/>
                </a:lnSpc>
                <a:buFont typeface="Arial"/>
                <a:buChar char="•"/>
              </a:pPr>
              <a:r>
                <a:rPr lang="en-US" sz="1824" spc="-36">
                  <a:solidFill>
                    <a:srgbClr val="272525"/>
                  </a:solidFill>
                  <a:latin typeface="Inter"/>
                  <a:ea typeface="Inter"/>
                  <a:cs typeface="Inter"/>
                  <a:sym typeface="Inter"/>
                </a:rPr>
                <a:t>The </a:t>
              </a:r>
              <a:r>
                <a:rPr lang="en-US" sz="1824" b="1" spc="-36">
                  <a:solidFill>
                    <a:srgbClr val="272525"/>
                  </a:solidFill>
                  <a:latin typeface="Inter Bold"/>
                  <a:ea typeface="Inter Bold"/>
                  <a:cs typeface="Inter Bold"/>
                  <a:sym typeface="Inter Bold"/>
                </a:rPr>
                <a:t>os</a:t>
              </a:r>
              <a:r>
                <a:rPr lang="en-US" sz="1824" spc="-36">
                  <a:solidFill>
                    <a:srgbClr val="272525"/>
                  </a:solidFill>
                  <a:latin typeface="Inter"/>
                  <a:ea typeface="Inter"/>
                  <a:cs typeface="Inter"/>
                  <a:sym typeface="Inter"/>
                </a:rPr>
                <a:t> module provides a way to interact with the operating system to perform system-level operations like file management, working with environment variables and more.</a:t>
              </a:r>
            </a:p>
          </p:txBody>
        </p:sp>
      </p:grpSp>
      <p:grpSp>
        <p:nvGrpSpPr>
          <p:cNvPr id="21" name="Group 21"/>
          <p:cNvGrpSpPr/>
          <p:nvPr/>
        </p:nvGrpSpPr>
        <p:grpSpPr>
          <a:xfrm>
            <a:off x="511076" y="3370492"/>
            <a:ext cx="17265849" cy="766186"/>
            <a:chOff x="0" y="0"/>
            <a:chExt cx="23021132" cy="1021581"/>
          </a:xfrm>
        </p:grpSpPr>
        <p:sp>
          <p:nvSpPr>
            <p:cNvPr id="22" name="Freeform 22"/>
            <p:cNvSpPr/>
            <p:nvPr/>
          </p:nvSpPr>
          <p:spPr>
            <a:xfrm>
              <a:off x="0" y="0"/>
              <a:ext cx="23021131" cy="1021581"/>
            </a:xfrm>
            <a:custGeom>
              <a:avLst/>
              <a:gdLst/>
              <a:ahLst/>
              <a:cxnLst/>
              <a:rect l="l" t="t" r="r" b="b"/>
              <a:pathLst>
                <a:path w="23021131" h="1021581">
                  <a:moveTo>
                    <a:pt x="0" y="0"/>
                  </a:moveTo>
                  <a:lnTo>
                    <a:pt x="23021131" y="0"/>
                  </a:lnTo>
                  <a:lnTo>
                    <a:pt x="23021131" y="1021581"/>
                  </a:lnTo>
                  <a:lnTo>
                    <a:pt x="0" y="1021581"/>
                  </a:lnTo>
                  <a:close/>
                </a:path>
              </a:pathLst>
            </a:custGeom>
            <a:solidFill>
              <a:srgbClr val="000000">
                <a:alpha val="0"/>
              </a:srgbClr>
            </a:solidFill>
          </p:spPr>
        </p:sp>
        <p:sp>
          <p:nvSpPr>
            <p:cNvPr id="23" name="TextBox 23"/>
            <p:cNvSpPr txBox="1"/>
            <p:nvPr/>
          </p:nvSpPr>
          <p:spPr>
            <a:xfrm>
              <a:off x="0" y="-76200"/>
              <a:ext cx="23021132" cy="1097781"/>
            </a:xfrm>
            <a:prstGeom prst="rect">
              <a:avLst/>
            </a:prstGeom>
          </p:spPr>
          <p:txBody>
            <a:bodyPr lIns="0" tIns="0" rIns="0" bIns="0" rtlCol="0" anchor="t"/>
            <a:lstStyle/>
            <a:p>
              <a:pPr marL="275230" lvl="1" indent="-137615" algn="l">
                <a:lnSpc>
                  <a:spcPts val="2940"/>
                </a:lnSpc>
                <a:buFont typeface="Arial"/>
                <a:buChar char="•"/>
              </a:pPr>
              <a:r>
                <a:rPr lang="en-US" sz="1824" spc="-36">
                  <a:solidFill>
                    <a:srgbClr val="272525"/>
                  </a:solidFill>
                  <a:latin typeface="Inter"/>
                  <a:ea typeface="Inter"/>
                  <a:cs typeface="Inter"/>
                  <a:sym typeface="Inter"/>
                </a:rPr>
                <a:t>The </a:t>
              </a:r>
              <a:r>
                <a:rPr lang="en-US" sz="1824" b="1" spc="-36">
                  <a:solidFill>
                    <a:srgbClr val="272525"/>
                  </a:solidFill>
                  <a:latin typeface="Inter Bold"/>
                  <a:ea typeface="Inter Bold"/>
                  <a:cs typeface="Inter Bold"/>
                  <a:sym typeface="Inter Bold"/>
                </a:rPr>
                <a:t>sys</a:t>
              </a:r>
              <a:r>
                <a:rPr lang="en-US" sz="1824" spc="-36">
                  <a:solidFill>
                    <a:srgbClr val="272525"/>
                  </a:solidFill>
                  <a:latin typeface="Inter"/>
                  <a:ea typeface="Inter"/>
                  <a:cs typeface="Inter"/>
                  <a:sym typeface="Inter"/>
                </a:rPr>
                <a:t> module is useful for interacting with the command line, handling arguments, and managing the Python runtime environment (software that runs python code).</a:t>
              </a:r>
            </a:p>
          </p:txBody>
        </p:sp>
      </p:grpSp>
      <p:sp>
        <p:nvSpPr>
          <p:cNvPr id="24" name="Freeform 24" descr="preencoded.png"/>
          <p:cNvSpPr/>
          <p:nvPr/>
        </p:nvSpPr>
        <p:spPr>
          <a:xfrm>
            <a:off x="2446209" y="3807916"/>
            <a:ext cx="4584510" cy="2509986"/>
          </a:xfrm>
          <a:custGeom>
            <a:avLst/>
            <a:gdLst/>
            <a:ahLst/>
            <a:cxnLst/>
            <a:rect l="l" t="t" r="r" b="b"/>
            <a:pathLst>
              <a:path w="4584510" h="2509986">
                <a:moveTo>
                  <a:pt x="0" y="0"/>
                </a:moveTo>
                <a:lnTo>
                  <a:pt x="4584510" y="0"/>
                </a:lnTo>
                <a:lnTo>
                  <a:pt x="4584510" y="2509987"/>
                </a:lnTo>
                <a:lnTo>
                  <a:pt x="0" y="2509987"/>
                </a:lnTo>
                <a:lnTo>
                  <a:pt x="0" y="0"/>
                </a:lnTo>
                <a:close/>
              </a:path>
            </a:pathLst>
          </a:custGeom>
          <a:blipFill>
            <a:blip r:embed="rId3"/>
            <a:stretch>
              <a:fillRect l="-40" r="-40"/>
            </a:stretch>
          </a:blipFill>
        </p:spPr>
      </p:sp>
      <p:grpSp>
        <p:nvGrpSpPr>
          <p:cNvPr id="25" name="Group 25"/>
          <p:cNvGrpSpPr/>
          <p:nvPr/>
        </p:nvGrpSpPr>
        <p:grpSpPr>
          <a:xfrm>
            <a:off x="3533775" y="6375052"/>
            <a:ext cx="2409379" cy="441735"/>
            <a:chOff x="0" y="0"/>
            <a:chExt cx="3212505" cy="588981"/>
          </a:xfrm>
        </p:grpSpPr>
        <p:sp>
          <p:nvSpPr>
            <p:cNvPr id="26" name="Freeform 26"/>
            <p:cNvSpPr/>
            <p:nvPr/>
          </p:nvSpPr>
          <p:spPr>
            <a:xfrm>
              <a:off x="0" y="0"/>
              <a:ext cx="3212505" cy="588981"/>
            </a:xfrm>
            <a:custGeom>
              <a:avLst/>
              <a:gdLst/>
              <a:ahLst/>
              <a:cxnLst/>
              <a:rect l="l" t="t" r="r" b="b"/>
              <a:pathLst>
                <a:path w="3212505" h="588981">
                  <a:moveTo>
                    <a:pt x="0" y="0"/>
                  </a:moveTo>
                  <a:lnTo>
                    <a:pt x="3212505" y="0"/>
                  </a:lnTo>
                  <a:lnTo>
                    <a:pt x="3212505" y="588981"/>
                  </a:lnTo>
                  <a:lnTo>
                    <a:pt x="0" y="588981"/>
                  </a:lnTo>
                  <a:close/>
                </a:path>
              </a:pathLst>
            </a:custGeom>
            <a:solidFill>
              <a:srgbClr val="000000">
                <a:alpha val="0"/>
              </a:srgbClr>
            </a:solidFill>
          </p:spPr>
        </p:sp>
        <p:sp>
          <p:nvSpPr>
            <p:cNvPr id="27" name="TextBox 27"/>
            <p:cNvSpPr txBox="1"/>
            <p:nvPr/>
          </p:nvSpPr>
          <p:spPr>
            <a:xfrm>
              <a:off x="0" y="-19050"/>
              <a:ext cx="3212505" cy="608031"/>
            </a:xfrm>
            <a:prstGeom prst="rect">
              <a:avLst/>
            </a:prstGeom>
          </p:spPr>
          <p:txBody>
            <a:bodyPr lIns="0" tIns="0" rIns="0" bIns="0" rtlCol="0" anchor="t"/>
            <a:lstStyle/>
            <a:p>
              <a:pPr algn="ctr">
                <a:lnSpc>
                  <a:spcPts val="3299"/>
                </a:lnSpc>
              </a:pPr>
              <a:r>
                <a:rPr lang="en-US" sz="2674" spc="-53">
                  <a:solidFill>
                    <a:srgbClr val="F95F88"/>
                  </a:solidFill>
                  <a:latin typeface="Petrona"/>
                  <a:ea typeface="Petrona"/>
                  <a:cs typeface="Petrona"/>
                  <a:sym typeface="Petrona"/>
                </a:rPr>
                <a:t>OS_Module:</a:t>
              </a:r>
            </a:p>
          </p:txBody>
        </p:sp>
      </p:grpSp>
      <p:grpSp>
        <p:nvGrpSpPr>
          <p:cNvPr id="28" name="Group 28"/>
          <p:cNvGrpSpPr/>
          <p:nvPr/>
        </p:nvGrpSpPr>
        <p:grpSpPr>
          <a:xfrm>
            <a:off x="511076" y="6806061"/>
            <a:ext cx="8454777" cy="394711"/>
            <a:chOff x="0" y="0"/>
            <a:chExt cx="11273037" cy="526281"/>
          </a:xfrm>
        </p:grpSpPr>
        <p:sp>
          <p:nvSpPr>
            <p:cNvPr id="29" name="Freeform 29"/>
            <p:cNvSpPr/>
            <p:nvPr/>
          </p:nvSpPr>
          <p:spPr>
            <a:xfrm>
              <a:off x="0" y="0"/>
              <a:ext cx="11273037" cy="526281"/>
            </a:xfrm>
            <a:custGeom>
              <a:avLst/>
              <a:gdLst/>
              <a:ahLst/>
              <a:cxnLst/>
              <a:rect l="l" t="t" r="r" b="b"/>
              <a:pathLst>
                <a:path w="11273037" h="526281">
                  <a:moveTo>
                    <a:pt x="0" y="0"/>
                  </a:moveTo>
                  <a:lnTo>
                    <a:pt x="11273037" y="0"/>
                  </a:lnTo>
                  <a:lnTo>
                    <a:pt x="11273037" y="526281"/>
                  </a:lnTo>
                  <a:lnTo>
                    <a:pt x="0" y="526281"/>
                  </a:lnTo>
                  <a:close/>
                </a:path>
              </a:pathLst>
            </a:custGeom>
            <a:solidFill>
              <a:srgbClr val="000000">
                <a:alpha val="0"/>
              </a:srgbClr>
            </a:solidFill>
          </p:spPr>
        </p:sp>
        <p:sp>
          <p:nvSpPr>
            <p:cNvPr id="30" name="TextBox 30"/>
            <p:cNvSpPr txBox="1"/>
            <p:nvPr/>
          </p:nvSpPr>
          <p:spPr>
            <a:xfrm>
              <a:off x="0" y="-76200"/>
              <a:ext cx="11273037" cy="602481"/>
            </a:xfrm>
            <a:prstGeom prst="rect">
              <a:avLst/>
            </a:prstGeom>
          </p:spPr>
          <p:txBody>
            <a:bodyPr lIns="0" tIns="0" rIns="0" bIns="0" rtlCol="0" anchor="t"/>
            <a:lstStyle/>
            <a:p>
              <a:pPr algn="l">
                <a:lnSpc>
                  <a:spcPts val="2940"/>
                </a:lnSpc>
              </a:pPr>
              <a:r>
                <a:rPr lang="en-US" sz="1824" spc="-36">
                  <a:solidFill>
                    <a:srgbClr val="272525"/>
                  </a:solidFill>
                  <a:latin typeface="Inter"/>
                  <a:ea typeface="Inter"/>
                  <a:cs typeface="Inter"/>
                  <a:sym typeface="Inter"/>
                </a:rPr>
                <a:t>Common functions in the os module:</a:t>
              </a:r>
            </a:p>
          </p:txBody>
        </p:sp>
      </p:grpSp>
      <p:grpSp>
        <p:nvGrpSpPr>
          <p:cNvPr id="31" name="Group 31"/>
          <p:cNvGrpSpPr/>
          <p:nvPr/>
        </p:nvGrpSpPr>
        <p:grpSpPr>
          <a:xfrm>
            <a:off x="511076" y="7186631"/>
            <a:ext cx="8820596" cy="394711"/>
            <a:chOff x="0" y="0"/>
            <a:chExt cx="11760795" cy="526281"/>
          </a:xfrm>
        </p:grpSpPr>
        <p:sp>
          <p:nvSpPr>
            <p:cNvPr id="32" name="Freeform 32"/>
            <p:cNvSpPr/>
            <p:nvPr/>
          </p:nvSpPr>
          <p:spPr>
            <a:xfrm>
              <a:off x="0" y="0"/>
              <a:ext cx="11760795" cy="526281"/>
            </a:xfrm>
            <a:custGeom>
              <a:avLst/>
              <a:gdLst/>
              <a:ahLst/>
              <a:cxnLst/>
              <a:rect l="l" t="t" r="r" b="b"/>
              <a:pathLst>
                <a:path w="11760795" h="526281">
                  <a:moveTo>
                    <a:pt x="0" y="0"/>
                  </a:moveTo>
                  <a:lnTo>
                    <a:pt x="11760795" y="0"/>
                  </a:lnTo>
                  <a:lnTo>
                    <a:pt x="11760795" y="526281"/>
                  </a:lnTo>
                  <a:lnTo>
                    <a:pt x="0" y="526281"/>
                  </a:lnTo>
                  <a:close/>
                </a:path>
              </a:pathLst>
            </a:custGeom>
            <a:solidFill>
              <a:srgbClr val="000000">
                <a:alpha val="0"/>
              </a:srgbClr>
            </a:solidFill>
          </p:spPr>
        </p:sp>
        <p:sp>
          <p:nvSpPr>
            <p:cNvPr id="33" name="TextBox 33"/>
            <p:cNvSpPr txBox="1"/>
            <p:nvPr/>
          </p:nvSpPr>
          <p:spPr>
            <a:xfrm>
              <a:off x="0" y="-76200"/>
              <a:ext cx="11760795" cy="602481"/>
            </a:xfrm>
            <a:prstGeom prst="rect">
              <a:avLst/>
            </a:prstGeom>
          </p:spPr>
          <p:txBody>
            <a:bodyPr lIns="0" tIns="0" rIns="0" bIns="0" rtlCol="0" anchor="t"/>
            <a:lstStyle/>
            <a:p>
              <a:pPr marL="275230" lvl="1" indent="-137615" algn="l">
                <a:lnSpc>
                  <a:spcPts val="2940"/>
                </a:lnSpc>
                <a:buFont typeface="Arial"/>
                <a:buChar char="•"/>
              </a:pPr>
              <a:r>
                <a:rPr lang="en-US" sz="1824" b="1" spc="-36">
                  <a:solidFill>
                    <a:srgbClr val="272525"/>
                  </a:solidFill>
                  <a:latin typeface="Inter Bold"/>
                  <a:ea typeface="Inter Bold"/>
                  <a:cs typeface="Inter Bold"/>
                  <a:sym typeface="Inter Bold"/>
                </a:rPr>
                <a:t>os.name</a:t>
              </a:r>
              <a:r>
                <a:rPr lang="en-US" sz="1824" spc="-36">
                  <a:solidFill>
                    <a:srgbClr val="272525"/>
                  </a:solidFill>
                  <a:latin typeface="Inter"/>
                  <a:ea typeface="Inter"/>
                  <a:cs typeface="Inter"/>
                  <a:sym typeface="Inter"/>
                </a:rPr>
                <a:t>: Returns the name of the OS dependent module imported.</a:t>
              </a:r>
            </a:p>
          </p:txBody>
        </p:sp>
      </p:grpSp>
      <p:grpSp>
        <p:nvGrpSpPr>
          <p:cNvPr id="34" name="Group 34"/>
          <p:cNvGrpSpPr/>
          <p:nvPr/>
        </p:nvGrpSpPr>
        <p:grpSpPr>
          <a:xfrm>
            <a:off x="511076" y="7604969"/>
            <a:ext cx="8454777" cy="394711"/>
            <a:chOff x="0" y="0"/>
            <a:chExt cx="11273037" cy="526281"/>
          </a:xfrm>
        </p:grpSpPr>
        <p:sp>
          <p:nvSpPr>
            <p:cNvPr id="35" name="Freeform 35"/>
            <p:cNvSpPr/>
            <p:nvPr/>
          </p:nvSpPr>
          <p:spPr>
            <a:xfrm>
              <a:off x="0" y="0"/>
              <a:ext cx="11273037" cy="526281"/>
            </a:xfrm>
            <a:custGeom>
              <a:avLst/>
              <a:gdLst/>
              <a:ahLst/>
              <a:cxnLst/>
              <a:rect l="l" t="t" r="r" b="b"/>
              <a:pathLst>
                <a:path w="11273037" h="526281">
                  <a:moveTo>
                    <a:pt x="0" y="0"/>
                  </a:moveTo>
                  <a:lnTo>
                    <a:pt x="11273037" y="0"/>
                  </a:lnTo>
                  <a:lnTo>
                    <a:pt x="11273037" y="526281"/>
                  </a:lnTo>
                  <a:lnTo>
                    <a:pt x="0" y="526281"/>
                  </a:lnTo>
                  <a:close/>
                </a:path>
              </a:pathLst>
            </a:custGeom>
            <a:solidFill>
              <a:srgbClr val="000000">
                <a:alpha val="0"/>
              </a:srgbClr>
            </a:solidFill>
          </p:spPr>
        </p:sp>
        <p:sp>
          <p:nvSpPr>
            <p:cNvPr id="36" name="TextBox 36"/>
            <p:cNvSpPr txBox="1"/>
            <p:nvPr/>
          </p:nvSpPr>
          <p:spPr>
            <a:xfrm>
              <a:off x="0" y="-76200"/>
              <a:ext cx="11273037" cy="602481"/>
            </a:xfrm>
            <a:prstGeom prst="rect">
              <a:avLst/>
            </a:prstGeom>
          </p:spPr>
          <p:txBody>
            <a:bodyPr lIns="0" tIns="0" rIns="0" bIns="0" rtlCol="0" anchor="t"/>
            <a:lstStyle/>
            <a:p>
              <a:pPr marL="275230" lvl="1" indent="-137615" algn="l">
                <a:lnSpc>
                  <a:spcPts val="2940"/>
                </a:lnSpc>
                <a:buFont typeface="Arial"/>
                <a:buChar char="•"/>
              </a:pPr>
              <a:r>
                <a:rPr lang="en-US" sz="1824" b="1" spc="-36">
                  <a:solidFill>
                    <a:srgbClr val="272525"/>
                  </a:solidFill>
                  <a:latin typeface="Inter Bold"/>
                  <a:ea typeface="Inter Bold"/>
                  <a:cs typeface="Inter Bold"/>
                  <a:sym typeface="Inter Bold"/>
                </a:rPr>
                <a:t>os.getcwd()</a:t>
              </a:r>
              <a:r>
                <a:rPr lang="en-US" sz="1824" spc="-36">
                  <a:solidFill>
                    <a:srgbClr val="272525"/>
                  </a:solidFill>
                  <a:latin typeface="Inter"/>
                  <a:ea typeface="Inter"/>
                  <a:cs typeface="Inter"/>
                  <a:sym typeface="Inter"/>
                </a:rPr>
                <a:t>: Returns the current working directory.</a:t>
              </a:r>
            </a:p>
          </p:txBody>
        </p:sp>
      </p:grpSp>
      <p:grpSp>
        <p:nvGrpSpPr>
          <p:cNvPr id="37" name="Group 37"/>
          <p:cNvGrpSpPr/>
          <p:nvPr/>
        </p:nvGrpSpPr>
        <p:grpSpPr>
          <a:xfrm>
            <a:off x="511076" y="7999680"/>
            <a:ext cx="8454777" cy="394711"/>
            <a:chOff x="0" y="0"/>
            <a:chExt cx="11273037" cy="526281"/>
          </a:xfrm>
        </p:grpSpPr>
        <p:sp>
          <p:nvSpPr>
            <p:cNvPr id="38" name="Freeform 38"/>
            <p:cNvSpPr/>
            <p:nvPr/>
          </p:nvSpPr>
          <p:spPr>
            <a:xfrm>
              <a:off x="0" y="0"/>
              <a:ext cx="11273037" cy="526281"/>
            </a:xfrm>
            <a:custGeom>
              <a:avLst/>
              <a:gdLst/>
              <a:ahLst/>
              <a:cxnLst/>
              <a:rect l="l" t="t" r="r" b="b"/>
              <a:pathLst>
                <a:path w="11273037" h="526281">
                  <a:moveTo>
                    <a:pt x="0" y="0"/>
                  </a:moveTo>
                  <a:lnTo>
                    <a:pt x="11273037" y="0"/>
                  </a:lnTo>
                  <a:lnTo>
                    <a:pt x="11273037" y="526281"/>
                  </a:lnTo>
                  <a:lnTo>
                    <a:pt x="0" y="526281"/>
                  </a:lnTo>
                  <a:close/>
                </a:path>
              </a:pathLst>
            </a:custGeom>
            <a:solidFill>
              <a:srgbClr val="000000">
                <a:alpha val="0"/>
              </a:srgbClr>
            </a:solidFill>
          </p:spPr>
        </p:sp>
        <p:sp>
          <p:nvSpPr>
            <p:cNvPr id="39" name="TextBox 39"/>
            <p:cNvSpPr txBox="1"/>
            <p:nvPr/>
          </p:nvSpPr>
          <p:spPr>
            <a:xfrm>
              <a:off x="0" y="-76200"/>
              <a:ext cx="11273037" cy="602481"/>
            </a:xfrm>
            <a:prstGeom prst="rect">
              <a:avLst/>
            </a:prstGeom>
          </p:spPr>
          <p:txBody>
            <a:bodyPr lIns="0" tIns="0" rIns="0" bIns="0" rtlCol="0" anchor="t"/>
            <a:lstStyle/>
            <a:p>
              <a:pPr marL="275230" lvl="1" indent="-137615" algn="l">
                <a:lnSpc>
                  <a:spcPts val="2940"/>
                </a:lnSpc>
                <a:buFont typeface="Arial"/>
                <a:buChar char="•"/>
              </a:pPr>
              <a:r>
                <a:rPr lang="en-US" sz="1824" b="1" spc="-36">
                  <a:solidFill>
                    <a:srgbClr val="272525"/>
                  </a:solidFill>
                  <a:latin typeface="Inter Bold"/>
                  <a:ea typeface="Inter Bold"/>
                  <a:cs typeface="Inter Bold"/>
                  <a:sym typeface="Inter Bold"/>
                </a:rPr>
                <a:t>os.listdir()</a:t>
              </a:r>
              <a:r>
                <a:rPr lang="en-US" sz="1824" spc="-36">
                  <a:solidFill>
                    <a:srgbClr val="272525"/>
                  </a:solidFill>
                  <a:latin typeface="Inter"/>
                  <a:ea typeface="Inter"/>
                  <a:cs typeface="Inter"/>
                  <a:sym typeface="Inter"/>
                </a:rPr>
                <a:t>: Returns a list of files and directories in the specified path.</a:t>
              </a:r>
            </a:p>
          </p:txBody>
        </p:sp>
      </p:grpSp>
      <p:grpSp>
        <p:nvGrpSpPr>
          <p:cNvPr id="40" name="Group 40"/>
          <p:cNvGrpSpPr/>
          <p:nvPr/>
        </p:nvGrpSpPr>
        <p:grpSpPr>
          <a:xfrm>
            <a:off x="511076" y="8391331"/>
            <a:ext cx="8454777" cy="394711"/>
            <a:chOff x="0" y="0"/>
            <a:chExt cx="11273037" cy="526281"/>
          </a:xfrm>
        </p:grpSpPr>
        <p:sp>
          <p:nvSpPr>
            <p:cNvPr id="41" name="Freeform 41"/>
            <p:cNvSpPr/>
            <p:nvPr/>
          </p:nvSpPr>
          <p:spPr>
            <a:xfrm>
              <a:off x="0" y="0"/>
              <a:ext cx="11273037" cy="526281"/>
            </a:xfrm>
            <a:custGeom>
              <a:avLst/>
              <a:gdLst/>
              <a:ahLst/>
              <a:cxnLst/>
              <a:rect l="l" t="t" r="r" b="b"/>
              <a:pathLst>
                <a:path w="11273037" h="526281">
                  <a:moveTo>
                    <a:pt x="0" y="0"/>
                  </a:moveTo>
                  <a:lnTo>
                    <a:pt x="11273037" y="0"/>
                  </a:lnTo>
                  <a:lnTo>
                    <a:pt x="11273037" y="526281"/>
                  </a:lnTo>
                  <a:lnTo>
                    <a:pt x="0" y="526281"/>
                  </a:lnTo>
                  <a:close/>
                </a:path>
              </a:pathLst>
            </a:custGeom>
            <a:solidFill>
              <a:srgbClr val="000000">
                <a:alpha val="0"/>
              </a:srgbClr>
            </a:solidFill>
          </p:spPr>
        </p:sp>
        <p:sp>
          <p:nvSpPr>
            <p:cNvPr id="42" name="TextBox 42"/>
            <p:cNvSpPr txBox="1"/>
            <p:nvPr/>
          </p:nvSpPr>
          <p:spPr>
            <a:xfrm>
              <a:off x="0" y="-76200"/>
              <a:ext cx="11273037" cy="602481"/>
            </a:xfrm>
            <a:prstGeom prst="rect">
              <a:avLst/>
            </a:prstGeom>
          </p:spPr>
          <p:txBody>
            <a:bodyPr lIns="0" tIns="0" rIns="0" bIns="0" rtlCol="0" anchor="t"/>
            <a:lstStyle/>
            <a:p>
              <a:pPr marL="275230" lvl="1" indent="-137615" algn="l">
                <a:lnSpc>
                  <a:spcPts val="2940"/>
                </a:lnSpc>
                <a:buFont typeface="Arial"/>
                <a:buChar char="•"/>
              </a:pPr>
              <a:r>
                <a:rPr lang="en-US" sz="1824" b="1" spc="-36">
                  <a:solidFill>
                    <a:srgbClr val="272525"/>
                  </a:solidFill>
                  <a:latin typeface="Inter Bold"/>
                  <a:ea typeface="Inter Bold"/>
                  <a:cs typeface="Inter Bold"/>
                  <a:sym typeface="Inter Bold"/>
                </a:rPr>
                <a:t>os.system(command)</a:t>
              </a:r>
              <a:r>
                <a:rPr lang="en-US" sz="1824" spc="-36">
                  <a:solidFill>
                    <a:srgbClr val="272525"/>
                  </a:solidFill>
                  <a:latin typeface="Inter"/>
                  <a:ea typeface="Inter"/>
                  <a:cs typeface="Inter"/>
                  <a:sym typeface="Inter"/>
                </a:rPr>
                <a:t>: Executes a system command (like a shell command).</a:t>
              </a:r>
            </a:p>
          </p:txBody>
        </p:sp>
      </p:grpSp>
      <p:sp>
        <p:nvSpPr>
          <p:cNvPr id="43" name="Freeform 43" descr="preencoded.png"/>
          <p:cNvSpPr/>
          <p:nvPr/>
        </p:nvSpPr>
        <p:spPr>
          <a:xfrm>
            <a:off x="11173760" y="3807916"/>
            <a:ext cx="4517323" cy="2548086"/>
          </a:xfrm>
          <a:custGeom>
            <a:avLst/>
            <a:gdLst/>
            <a:ahLst/>
            <a:cxnLst/>
            <a:rect l="l" t="t" r="r" b="b"/>
            <a:pathLst>
              <a:path w="4517323" h="2548086">
                <a:moveTo>
                  <a:pt x="0" y="0"/>
                </a:moveTo>
                <a:lnTo>
                  <a:pt x="4517323" y="0"/>
                </a:lnTo>
                <a:lnTo>
                  <a:pt x="4517323" y="2548087"/>
                </a:lnTo>
                <a:lnTo>
                  <a:pt x="0" y="2548087"/>
                </a:lnTo>
                <a:lnTo>
                  <a:pt x="0" y="0"/>
                </a:lnTo>
                <a:close/>
              </a:path>
            </a:pathLst>
          </a:custGeom>
          <a:blipFill>
            <a:blip r:embed="rId4"/>
            <a:stretch>
              <a:fillRect t="-42" b="-42"/>
            </a:stretch>
          </a:blipFill>
        </p:spPr>
      </p:sp>
      <p:grpSp>
        <p:nvGrpSpPr>
          <p:cNvPr id="44" name="Group 44"/>
          <p:cNvGrpSpPr/>
          <p:nvPr/>
        </p:nvGrpSpPr>
        <p:grpSpPr>
          <a:xfrm>
            <a:off x="12354371" y="6447235"/>
            <a:ext cx="2409379" cy="441735"/>
            <a:chOff x="0" y="0"/>
            <a:chExt cx="3212505" cy="588981"/>
          </a:xfrm>
        </p:grpSpPr>
        <p:sp>
          <p:nvSpPr>
            <p:cNvPr id="45" name="Freeform 45"/>
            <p:cNvSpPr/>
            <p:nvPr/>
          </p:nvSpPr>
          <p:spPr>
            <a:xfrm>
              <a:off x="0" y="0"/>
              <a:ext cx="3212505" cy="588981"/>
            </a:xfrm>
            <a:custGeom>
              <a:avLst/>
              <a:gdLst/>
              <a:ahLst/>
              <a:cxnLst/>
              <a:rect l="l" t="t" r="r" b="b"/>
              <a:pathLst>
                <a:path w="3212505" h="588981">
                  <a:moveTo>
                    <a:pt x="0" y="0"/>
                  </a:moveTo>
                  <a:lnTo>
                    <a:pt x="3212505" y="0"/>
                  </a:lnTo>
                  <a:lnTo>
                    <a:pt x="3212505" y="588981"/>
                  </a:lnTo>
                  <a:lnTo>
                    <a:pt x="0" y="588981"/>
                  </a:lnTo>
                  <a:close/>
                </a:path>
              </a:pathLst>
            </a:custGeom>
            <a:solidFill>
              <a:srgbClr val="000000">
                <a:alpha val="0"/>
              </a:srgbClr>
            </a:solidFill>
          </p:spPr>
        </p:sp>
        <p:sp>
          <p:nvSpPr>
            <p:cNvPr id="46" name="TextBox 46"/>
            <p:cNvSpPr txBox="1"/>
            <p:nvPr/>
          </p:nvSpPr>
          <p:spPr>
            <a:xfrm>
              <a:off x="0" y="-19050"/>
              <a:ext cx="3212505" cy="608031"/>
            </a:xfrm>
            <a:prstGeom prst="rect">
              <a:avLst/>
            </a:prstGeom>
          </p:spPr>
          <p:txBody>
            <a:bodyPr lIns="0" tIns="0" rIns="0" bIns="0" rtlCol="0" anchor="t"/>
            <a:lstStyle/>
            <a:p>
              <a:pPr algn="ctr">
                <a:lnSpc>
                  <a:spcPts val="3299"/>
                </a:lnSpc>
              </a:pPr>
              <a:r>
                <a:rPr lang="en-US" sz="2674" spc="-53">
                  <a:solidFill>
                    <a:srgbClr val="F95F88"/>
                  </a:solidFill>
                  <a:latin typeface="Petrona"/>
                  <a:ea typeface="Petrona"/>
                  <a:cs typeface="Petrona"/>
                  <a:sym typeface="Petrona"/>
                </a:rPr>
                <a:t>SYS_Module:</a:t>
              </a:r>
            </a:p>
          </p:txBody>
        </p:sp>
      </p:grpSp>
      <p:grpSp>
        <p:nvGrpSpPr>
          <p:cNvPr id="47" name="Group 47"/>
          <p:cNvGrpSpPr/>
          <p:nvPr/>
        </p:nvGrpSpPr>
        <p:grpSpPr>
          <a:xfrm>
            <a:off x="9331672" y="6835955"/>
            <a:ext cx="8454777" cy="394711"/>
            <a:chOff x="0" y="0"/>
            <a:chExt cx="11273037" cy="526281"/>
          </a:xfrm>
        </p:grpSpPr>
        <p:sp>
          <p:nvSpPr>
            <p:cNvPr id="48" name="Freeform 48"/>
            <p:cNvSpPr/>
            <p:nvPr/>
          </p:nvSpPr>
          <p:spPr>
            <a:xfrm>
              <a:off x="0" y="0"/>
              <a:ext cx="11273037" cy="526281"/>
            </a:xfrm>
            <a:custGeom>
              <a:avLst/>
              <a:gdLst/>
              <a:ahLst/>
              <a:cxnLst/>
              <a:rect l="l" t="t" r="r" b="b"/>
              <a:pathLst>
                <a:path w="11273037" h="526281">
                  <a:moveTo>
                    <a:pt x="0" y="0"/>
                  </a:moveTo>
                  <a:lnTo>
                    <a:pt x="11273037" y="0"/>
                  </a:lnTo>
                  <a:lnTo>
                    <a:pt x="11273037" y="526281"/>
                  </a:lnTo>
                  <a:lnTo>
                    <a:pt x="0" y="526281"/>
                  </a:lnTo>
                  <a:close/>
                </a:path>
              </a:pathLst>
            </a:custGeom>
            <a:solidFill>
              <a:srgbClr val="000000">
                <a:alpha val="0"/>
              </a:srgbClr>
            </a:solidFill>
          </p:spPr>
        </p:sp>
        <p:sp>
          <p:nvSpPr>
            <p:cNvPr id="49" name="TextBox 49"/>
            <p:cNvSpPr txBox="1"/>
            <p:nvPr/>
          </p:nvSpPr>
          <p:spPr>
            <a:xfrm>
              <a:off x="0" y="-76200"/>
              <a:ext cx="11273037" cy="602481"/>
            </a:xfrm>
            <a:prstGeom prst="rect">
              <a:avLst/>
            </a:prstGeom>
          </p:spPr>
          <p:txBody>
            <a:bodyPr lIns="0" tIns="0" rIns="0" bIns="0" rtlCol="0" anchor="t"/>
            <a:lstStyle/>
            <a:p>
              <a:pPr algn="l">
                <a:lnSpc>
                  <a:spcPts val="2940"/>
                </a:lnSpc>
              </a:pPr>
              <a:r>
                <a:rPr lang="en-US" sz="1824" spc="-36">
                  <a:solidFill>
                    <a:srgbClr val="272525"/>
                  </a:solidFill>
                  <a:latin typeface="Inter"/>
                  <a:ea typeface="Inter"/>
                  <a:cs typeface="Inter"/>
                  <a:sym typeface="Inter"/>
                </a:rPr>
                <a:t>Common functions in the sys module:</a:t>
              </a:r>
            </a:p>
          </p:txBody>
        </p:sp>
      </p:grpSp>
      <p:grpSp>
        <p:nvGrpSpPr>
          <p:cNvPr id="50" name="Group 50"/>
          <p:cNvGrpSpPr/>
          <p:nvPr/>
        </p:nvGrpSpPr>
        <p:grpSpPr>
          <a:xfrm>
            <a:off x="9331672" y="7268766"/>
            <a:ext cx="8454777" cy="394711"/>
            <a:chOff x="0" y="0"/>
            <a:chExt cx="11273037" cy="526281"/>
          </a:xfrm>
        </p:grpSpPr>
        <p:sp>
          <p:nvSpPr>
            <p:cNvPr id="51" name="Freeform 51"/>
            <p:cNvSpPr/>
            <p:nvPr/>
          </p:nvSpPr>
          <p:spPr>
            <a:xfrm>
              <a:off x="0" y="0"/>
              <a:ext cx="11273037" cy="526281"/>
            </a:xfrm>
            <a:custGeom>
              <a:avLst/>
              <a:gdLst/>
              <a:ahLst/>
              <a:cxnLst/>
              <a:rect l="l" t="t" r="r" b="b"/>
              <a:pathLst>
                <a:path w="11273037" h="526281">
                  <a:moveTo>
                    <a:pt x="0" y="0"/>
                  </a:moveTo>
                  <a:lnTo>
                    <a:pt x="11273037" y="0"/>
                  </a:lnTo>
                  <a:lnTo>
                    <a:pt x="11273037" y="526281"/>
                  </a:lnTo>
                  <a:lnTo>
                    <a:pt x="0" y="526281"/>
                  </a:lnTo>
                  <a:close/>
                </a:path>
              </a:pathLst>
            </a:custGeom>
            <a:solidFill>
              <a:srgbClr val="000000">
                <a:alpha val="0"/>
              </a:srgbClr>
            </a:solidFill>
          </p:spPr>
        </p:sp>
        <p:sp>
          <p:nvSpPr>
            <p:cNvPr id="52" name="TextBox 52"/>
            <p:cNvSpPr txBox="1"/>
            <p:nvPr/>
          </p:nvSpPr>
          <p:spPr>
            <a:xfrm>
              <a:off x="0" y="-76200"/>
              <a:ext cx="11273037" cy="602481"/>
            </a:xfrm>
            <a:prstGeom prst="rect">
              <a:avLst/>
            </a:prstGeom>
          </p:spPr>
          <p:txBody>
            <a:bodyPr lIns="0" tIns="0" rIns="0" bIns="0" rtlCol="0" anchor="t"/>
            <a:lstStyle/>
            <a:p>
              <a:pPr marL="275230" lvl="1" indent="-137615" algn="l">
                <a:lnSpc>
                  <a:spcPts val="2940"/>
                </a:lnSpc>
                <a:buFont typeface="Arial"/>
                <a:buChar char="•"/>
              </a:pPr>
              <a:r>
                <a:rPr lang="en-US" sz="1824" b="1" spc="-36">
                  <a:solidFill>
                    <a:srgbClr val="272525"/>
                  </a:solidFill>
                  <a:latin typeface="Inter Bold"/>
                  <a:ea typeface="Inter Bold"/>
                  <a:cs typeface="Inter Bold"/>
                  <a:sym typeface="Inter Bold"/>
                </a:rPr>
                <a:t>sys.argv</a:t>
              </a:r>
              <a:r>
                <a:rPr lang="en-US" sz="1824" spc="-36">
                  <a:solidFill>
                    <a:srgbClr val="272525"/>
                  </a:solidFill>
                  <a:latin typeface="Inter"/>
                  <a:ea typeface="Inter"/>
                  <a:cs typeface="Inter"/>
                  <a:sym typeface="Inter"/>
                </a:rPr>
                <a:t>: A list of command-line arguments passed to the script.</a:t>
              </a:r>
            </a:p>
          </p:txBody>
        </p:sp>
      </p:grpSp>
      <p:grpSp>
        <p:nvGrpSpPr>
          <p:cNvPr id="53" name="Group 53"/>
          <p:cNvGrpSpPr/>
          <p:nvPr/>
        </p:nvGrpSpPr>
        <p:grpSpPr>
          <a:xfrm>
            <a:off x="9331672" y="7663477"/>
            <a:ext cx="8454777" cy="408384"/>
            <a:chOff x="0" y="0"/>
            <a:chExt cx="11273037" cy="544512"/>
          </a:xfrm>
        </p:grpSpPr>
        <p:sp>
          <p:nvSpPr>
            <p:cNvPr id="54" name="Freeform 54"/>
            <p:cNvSpPr/>
            <p:nvPr/>
          </p:nvSpPr>
          <p:spPr>
            <a:xfrm>
              <a:off x="0" y="0"/>
              <a:ext cx="11273037" cy="544512"/>
            </a:xfrm>
            <a:custGeom>
              <a:avLst/>
              <a:gdLst/>
              <a:ahLst/>
              <a:cxnLst/>
              <a:rect l="l" t="t" r="r" b="b"/>
              <a:pathLst>
                <a:path w="11273037" h="544512">
                  <a:moveTo>
                    <a:pt x="0" y="0"/>
                  </a:moveTo>
                  <a:lnTo>
                    <a:pt x="11273037" y="0"/>
                  </a:lnTo>
                  <a:lnTo>
                    <a:pt x="11273037" y="544512"/>
                  </a:lnTo>
                  <a:lnTo>
                    <a:pt x="0" y="544512"/>
                  </a:lnTo>
                  <a:close/>
                </a:path>
              </a:pathLst>
            </a:custGeom>
            <a:solidFill>
              <a:srgbClr val="000000">
                <a:alpha val="0"/>
              </a:srgbClr>
            </a:solidFill>
          </p:spPr>
        </p:sp>
        <p:sp>
          <p:nvSpPr>
            <p:cNvPr id="55" name="TextBox 55"/>
            <p:cNvSpPr txBox="1"/>
            <p:nvPr/>
          </p:nvSpPr>
          <p:spPr>
            <a:xfrm>
              <a:off x="0" y="-76200"/>
              <a:ext cx="11273037" cy="620712"/>
            </a:xfrm>
            <a:prstGeom prst="rect">
              <a:avLst/>
            </a:prstGeom>
          </p:spPr>
          <p:txBody>
            <a:bodyPr lIns="0" tIns="0" rIns="0" bIns="0" rtlCol="0" anchor="t"/>
            <a:lstStyle/>
            <a:p>
              <a:pPr marL="275230" lvl="1" indent="-137615" algn="l">
                <a:lnSpc>
                  <a:spcPts val="2940"/>
                </a:lnSpc>
                <a:buFont typeface="Arial"/>
                <a:buChar char="•"/>
              </a:pPr>
              <a:r>
                <a:rPr lang="en-US" sz="1824" b="1" spc="-36">
                  <a:solidFill>
                    <a:srgbClr val="272525"/>
                  </a:solidFill>
                  <a:latin typeface="Inter Bold"/>
                  <a:ea typeface="Inter Bold"/>
                  <a:cs typeface="Inter Bold"/>
                  <a:sym typeface="Inter Bold"/>
                </a:rPr>
                <a:t>sys.exit()</a:t>
              </a:r>
              <a:r>
                <a:rPr lang="en-US" sz="1824" spc="-36">
                  <a:solidFill>
                    <a:srgbClr val="272525"/>
                  </a:solidFill>
                  <a:latin typeface="Inter"/>
                  <a:ea typeface="Inter"/>
                  <a:cs typeface="Inter"/>
                  <a:sym typeface="Inter"/>
                </a:rPr>
                <a:t>: Exits the program.</a:t>
              </a:r>
            </a:p>
          </p:txBody>
        </p:sp>
      </p:grpSp>
      <p:grpSp>
        <p:nvGrpSpPr>
          <p:cNvPr id="56" name="Group 56"/>
          <p:cNvGrpSpPr/>
          <p:nvPr/>
        </p:nvGrpSpPr>
        <p:grpSpPr>
          <a:xfrm>
            <a:off x="9331672" y="8071861"/>
            <a:ext cx="8454777" cy="394711"/>
            <a:chOff x="0" y="0"/>
            <a:chExt cx="11273037" cy="526281"/>
          </a:xfrm>
        </p:grpSpPr>
        <p:sp>
          <p:nvSpPr>
            <p:cNvPr id="57" name="Freeform 57"/>
            <p:cNvSpPr/>
            <p:nvPr/>
          </p:nvSpPr>
          <p:spPr>
            <a:xfrm>
              <a:off x="0" y="0"/>
              <a:ext cx="11273037" cy="526281"/>
            </a:xfrm>
            <a:custGeom>
              <a:avLst/>
              <a:gdLst/>
              <a:ahLst/>
              <a:cxnLst/>
              <a:rect l="l" t="t" r="r" b="b"/>
              <a:pathLst>
                <a:path w="11273037" h="526281">
                  <a:moveTo>
                    <a:pt x="0" y="0"/>
                  </a:moveTo>
                  <a:lnTo>
                    <a:pt x="11273037" y="0"/>
                  </a:lnTo>
                  <a:lnTo>
                    <a:pt x="11273037" y="526281"/>
                  </a:lnTo>
                  <a:lnTo>
                    <a:pt x="0" y="526281"/>
                  </a:lnTo>
                  <a:close/>
                </a:path>
              </a:pathLst>
            </a:custGeom>
            <a:solidFill>
              <a:srgbClr val="000000">
                <a:alpha val="0"/>
              </a:srgbClr>
            </a:solidFill>
          </p:spPr>
        </p:sp>
        <p:sp>
          <p:nvSpPr>
            <p:cNvPr id="58" name="TextBox 58"/>
            <p:cNvSpPr txBox="1"/>
            <p:nvPr/>
          </p:nvSpPr>
          <p:spPr>
            <a:xfrm>
              <a:off x="0" y="-76200"/>
              <a:ext cx="11273037" cy="602481"/>
            </a:xfrm>
            <a:prstGeom prst="rect">
              <a:avLst/>
            </a:prstGeom>
          </p:spPr>
          <p:txBody>
            <a:bodyPr lIns="0" tIns="0" rIns="0" bIns="0" rtlCol="0" anchor="t"/>
            <a:lstStyle/>
            <a:p>
              <a:pPr marL="275230" lvl="1" indent="-137615" algn="l">
                <a:lnSpc>
                  <a:spcPts val="2940"/>
                </a:lnSpc>
                <a:buFont typeface="Arial"/>
                <a:buChar char="•"/>
              </a:pPr>
              <a:r>
                <a:rPr lang="en-US" sz="1824" b="1" spc="-36">
                  <a:solidFill>
                    <a:srgbClr val="272525"/>
                  </a:solidFill>
                  <a:latin typeface="Inter Bold"/>
                  <a:ea typeface="Inter Bold"/>
                  <a:cs typeface="Inter Bold"/>
                  <a:sym typeface="Inter Bold"/>
                </a:rPr>
                <a:t>sys.version</a:t>
              </a:r>
              <a:r>
                <a:rPr lang="en-US" sz="1824" spc="-36">
                  <a:solidFill>
                    <a:srgbClr val="272525"/>
                  </a:solidFill>
                  <a:latin typeface="Inter"/>
                  <a:ea typeface="Inter"/>
                  <a:cs typeface="Inter"/>
                  <a:sym typeface="Inter"/>
                </a:rPr>
                <a:t>: Returns the Python version being used.</a:t>
              </a:r>
            </a:p>
          </p:txBody>
        </p:sp>
      </p:grpSp>
      <p:grpSp>
        <p:nvGrpSpPr>
          <p:cNvPr id="59" name="Group 59"/>
          <p:cNvGrpSpPr/>
          <p:nvPr/>
        </p:nvGrpSpPr>
        <p:grpSpPr>
          <a:xfrm>
            <a:off x="520601" y="9036882"/>
            <a:ext cx="17265849" cy="394711"/>
            <a:chOff x="0" y="0"/>
            <a:chExt cx="23021132" cy="526281"/>
          </a:xfrm>
        </p:grpSpPr>
        <p:sp>
          <p:nvSpPr>
            <p:cNvPr id="60" name="Freeform 60"/>
            <p:cNvSpPr/>
            <p:nvPr/>
          </p:nvSpPr>
          <p:spPr>
            <a:xfrm>
              <a:off x="0" y="0"/>
              <a:ext cx="23021131" cy="526281"/>
            </a:xfrm>
            <a:custGeom>
              <a:avLst/>
              <a:gdLst/>
              <a:ahLst/>
              <a:cxnLst/>
              <a:rect l="l" t="t" r="r" b="b"/>
              <a:pathLst>
                <a:path w="23021131" h="526281">
                  <a:moveTo>
                    <a:pt x="0" y="0"/>
                  </a:moveTo>
                  <a:lnTo>
                    <a:pt x="23021131" y="0"/>
                  </a:lnTo>
                  <a:lnTo>
                    <a:pt x="23021131" y="526281"/>
                  </a:lnTo>
                  <a:lnTo>
                    <a:pt x="0" y="526281"/>
                  </a:lnTo>
                  <a:close/>
                </a:path>
              </a:pathLst>
            </a:custGeom>
            <a:solidFill>
              <a:srgbClr val="000000">
                <a:alpha val="0"/>
              </a:srgbClr>
            </a:solidFill>
          </p:spPr>
        </p:sp>
        <p:sp>
          <p:nvSpPr>
            <p:cNvPr id="61" name="TextBox 61"/>
            <p:cNvSpPr txBox="1"/>
            <p:nvPr/>
          </p:nvSpPr>
          <p:spPr>
            <a:xfrm>
              <a:off x="0" y="-76200"/>
              <a:ext cx="23021132" cy="602481"/>
            </a:xfrm>
            <a:prstGeom prst="rect">
              <a:avLst/>
            </a:prstGeom>
          </p:spPr>
          <p:txBody>
            <a:bodyPr lIns="0" tIns="0" rIns="0" bIns="0" rtlCol="0" anchor="t"/>
            <a:lstStyle/>
            <a:p>
              <a:pPr algn="l">
                <a:lnSpc>
                  <a:spcPts val="2940"/>
                </a:lnSpc>
              </a:pPr>
              <a:r>
                <a:rPr lang="en-US" sz="1824" b="1" spc="-36">
                  <a:solidFill>
                    <a:srgbClr val="272525"/>
                  </a:solidFill>
                  <a:latin typeface="Inter Bold"/>
                  <a:ea typeface="Inter Bold"/>
                  <a:cs typeface="Inter Bold"/>
                  <a:sym typeface="Inter Bold"/>
                </a:rPr>
                <a:t>Note:</a:t>
              </a:r>
            </a:p>
          </p:txBody>
        </p:sp>
      </p:grpSp>
      <p:grpSp>
        <p:nvGrpSpPr>
          <p:cNvPr id="62" name="Group 62"/>
          <p:cNvGrpSpPr/>
          <p:nvPr/>
        </p:nvGrpSpPr>
        <p:grpSpPr>
          <a:xfrm>
            <a:off x="511076" y="9471060"/>
            <a:ext cx="17265849" cy="394711"/>
            <a:chOff x="0" y="0"/>
            <a:chExt cx="23021132" cy="526281"/>
          </a:xfrm>
        </p:grpSpPr>
        <p:sp>
          <p:nvSpPr>
            <p:cNvPr id="63" name="Freeform 63"/>
            <p:cNvSpPr/>
            <p:nvPr/>
          </p:nvSpPr>
          <p:spPr>
            <a:xfrm>
              <a:off x="0" y="0"/>
              <a:ext cx="23021131" cy="526281"/>
            </a:xfrm>
            <a:custGeom>
              <a:avLst/>
              <a:gdLst/>
              <a:ahLst/>
              <a:cxnLst/>
              <a:rect l="l" t="t" r="r" b="b"/>
              <a:pathLst>
                <a:path w="23021131" h="526281">
                  <a:moveTo>
                    <a:pt x="0" y="0"/>
                  </a:moveTo>
                  <a:lnTo>
                    <a:pt x="23021131" y="0"/>
                  </a:lnTo>
                  <a:lnTo>
                    <a:pt x="23021131" y="526281"/>
                  </a:lnTo>
                  <a:lnTo>
                    <a:pt x="0" y="526281"/>
                  </a:lnTo>
                  <a:close/>
                </a:path>
              </a:pathLst>
            </a:custGeom>
            <a:solidFill>
              <a:srgbClr val="000000">
                <a:alpha val="0"/>
              </a:srgbClr>
            </a:solidFill>
          </p:spPr>
        </p:sp>
        <p:sp>
          <p:nvSpPr>
            <p:cNvPr id="64" name="TextBox 64"/>
            <p:cNvSpPr txBox="1"/>
            <p:nvPr/>
          </p:nvSpPr>
          <p:spPr>
            <a:xfrm>
              <a:off x="0" y="-76200"/>
              <a:ext cx="23021132" cy="602481"/>
            </a:xfrm>
            <a:prstGeom prst="rect">
              <a:avLst/>
            </a:prstGeom>
          </p:spPr>
          <p:txBody>
            <a:bodyPr lIns="0" tIns="0" rIns="0" bIns="0" rtlCol="0" anchor="t"/>
            <a:lstStyle/>
            <a:p>
              <a:pPr marL="275230" lvl="1" indent="-137615" algn="l">
                <a:lnSpc>
                  <a:spcPts val="2940"/>
                </a:lnSpc>
                <a:buFont typeface="Arial"/>
                <a:buChar char="•"/>
              </a:pPr>
              <a:r>
                <a:rPr lang="en-US" sz="1824" spc="-36">
                  <a:solidFill>
                    <a:srgbClr val="272525"/>
                  </a:solidFill>
                  <a:latin typeface="Inter"/>
                  <a:ea typeface="Inter"/>
                  <a:cs typeface="Inter"/>
                  <a:sym typeface="Inter"/>
                </a:rPr>
                <a:t>We can also create our own modules &gt; save it with .py &gt; use it by importing in our code.</a:t>
              </a:r>
            </a:p>
          </p:txBody>
        </p:sp>
      </p:grpSp>
      <p:sp>
        <p:nvSpPr>
          <p:cNvPr id="65" name="TextBox 65"/>
          <p:cNvSpPr txBox="1"/>
          <p:nvPr/>
        </p:nvSpPr>
        <p:spPr>
          <a:xfrm>
            <a:off x="15691083" y="9726867"/>
            <a:ext cx="3543263" cy="298351"/>
          </a:xfrm>
          <a:prstGeom prst="rect">
            <a:avLst/>
          </a:prstGeom>
        </p:spPr>
        <p:txBody>
          <a:bodyPr lIns="0" tIns="0" rIns="0" bIns="0" rtlCol="0" anchor="t">
            <a:spAutoFit/>
          </a:bodyPr>
          <a:lstStyle/>
          <a:p>
            <a:pPr algn="l">
              <a:lnSpc>
                <a:spcPts val="2624"/>
              </a:lnSpc>
              <a:spcBef>
                <a:spcPct val="0"/>
              </a:spcBef>
            </a:pPr>
            <a:r>
              <a:rPr lang="en-US" sz="1600" spc="-32" dirty="0">
                <a:solidFill>
                  <a:srgbClr val="272525"/>
                </a:solidFill>
                <a:latin typeface="Inter"/>
                <a:ea typeface="Inter"/>
                <a:cs typeface="Inter"/>
                <a:sym typeface="Inter"/>
              </a:rPr>
              <a:t>Mohammad Anees Alam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762595" y="599182"/>
            <a:ext cx="6623446" cy="749053"/>
            <a:chOff x="0" y="0"/>
            <a:chExt cx="8831262" cy="998737"/>
          </a:xfrm>
        </p:grpSpPr>
        <p:sp>
          <p:nvSpPr>
            <p:cNvPr id="7" name="Freeform 7"/>
            <p:cNvSpPr/>
            <p:nvPr/>
          </p:nvSpPr>
          <p:spPr>
            <a:xfrm>
              <a:off x="0" y="0"/>
              <a:ext cx="8831262" cy="998737"/>
            </a:xfrm>
            <a:custGeom>
              <a:avLst/>
              <a:gdLst/>
              <a:ahLst/>
              <a:cxnLst/>
              <a:rect l="l" t="t" r="r" b="b"/>
              <a:pathLst>
                <a:path w="8831262" h="998737">
                  <a:moveTo>
                    <a:pt x="0" y="0"/>
                  </a:moveTo>
                  <a:lnTo>
                    <a:pt x="8831262" y="0"/>
                  </a:lnTo>
                  <a:lnTo>
                    <a:pt x="8831262" y="998737"/>
                  </a:lnTo>
                  <a:lnTo>
                    <a:pt x="0" y="998737"/>
                  </a:lnTo>
                  <a:close/>
                </a:path>
              </a:pathLst>
            </a:custGeom>
            <a:solidFill>
              <a:srgbClr val="000000">
                <a:alpha val="0"/>
              </a:srgbClr>
            </a:solidFill>
          </p:spPr>
        </p:sp>
        <p:sp>
          <p:nvSpPr>
            <p:cNvPr id="8" name="TextBox 8"/>
            <p:cNvSpPr txBox="1"/>
            <p:nvPr/>
          </p:nvSpPr>
          <p:spPr>
            <a:xfrm>
              <a:off x="0" y="-28575"/>
              <a:ext cx="8831262" cy="1027312"/>
            </a:xfrm>
            <a:prstGeom prst="rect">
              <a:avLst/>
            </a:prstGeom>
          </p:spPr>
          <p:txBody>
            <a:bodyPr lIns="0" tIns="0" rIns="0" bIns="0" rtlCol="0" anchor="t"/>
            <a:lstStyle/>
            <a:p>
              <a:pPr algn="l">
                <a:lnSpc>
                  <a:spcPts val="5874"/>
                </a:lnSpc>
              </a:pPr>
              <a:r>
                <a:rPr lang="en-US" sz="4687" spc="-93">
                  <a:solidFill>
                    <a:srgbClr val="F95F88"/>
                  </a:solidFill>
                  <a:latin typeface="Petrona"/>
                  <a:ea typeface="Petrona"/>
                  <a:cs typeface="Petrona"/>
                  <a:sym typeface="Petrona"/>
                </a:rPr>
                <a:t>Using Modules in Python</a:t>
              </a:r>
            </a:p>
          </p:txBody>
        </p:sp>
      </p:grpSp>
      <p:grpSp>
        <p:nvGrpSpPr>
          <p:cNvPr id="9" name="Group 9"/>
          <p:cNvGrpSpPr/>
          <p:nvPr/>
        </p:nvGrpSpPr>
        <p:grpSpPr>
          <a:xfrm>
            <a:off x="762595" y="1784003"/>
            <a:ext cx="16762810" cy="445294"/>
            <a:chOff x="0" y="0"/>
            <a:chExt cx="22350413" cy="593725"/>
          </a:xfrm>
        </p:grpSpPr>
        <p:sp>
          <p:nvSpPr>
            <p:cNvPr id="10" name="Freeform 10"/>
            <p:cNvSpPr/>
            <p:nvPr/>
          </p:nvSpPr>
          <p:spPr>
            <a:xfrm>
              <a:off x="0" y="0"/>
              <a:ext cx="22350414" cy="593725"/>
            </a:xfrm>
            <a:custGeom>
              <a:avLst/>
              <a:gdLst/>
              <a:ahLst/>
              <a:cxnLst/>
              <a:rect l="l" t="t" r="r" b="b"/>
              <a:pathLst>
                <a:path w="22350414" h="593725">
                  <a:moveTo>
                    <a:pt x="0" y="0"/>
                  </a:moveTo>
                  <a:lnTo>
                    <a:pt x="22350414" y="0"/>
                  </a:lnTo>
                  <a:lnTo>
                    <a:pt x="22350414" y="593725"/>
                  </a:lnTo>
                  <a:lnTo>
                    <a:pt x="0" y="593725"/>
                  </a:lnTo>
                  <a:close/>
                </a:path>
              </a:pathLst>
            </a:custGeom>
            <a:solidFill>
              <a:srgbClr val="000000">
                <a:alpha val="0"/>
              </a:srgbClr>
            </a:solidFill>
          </p:spPr>
        </p:sp>
        <p:sp>
          <p:nvSpPr>
            <p:cNvPr id="11" name="TextBox 11"/>
            <p:cNvSpPr txBox="1"/>
            <p:nvPr/>
          </p:nvSpPr>
          <p:spPr>
            <a:xfrm>
              <a:off x="0" y="-85725"/>
              <a:ext cx="22350413" cy="679450"/>
            </a:xfrm>
            <a:prstGeom prst="rect">
              <a:avLst/>
            </a:prstGeom>
          </p:spPr>
          <p:txBody>
            <a:bodyPr lIns="0" tIns="0" rIns="0" bIns="0" rtlCol="0" anchor="t"/>
            <a:lstStyle/>
            <a:p>
              <a:pPr algn="l">
                <a:lnSpc>
                  <a:spcPts val="3374"/>
                </a:lnSpc>
              </a:pPr>
              <a:r>
                <a:rPr lang="en-US" sz="2125" spc="-33">
                  <a:solidFill>
                    <a:srgbClr val="272525"/>
                  </a:solidFill>
                  <a:latin typeface="Inter"/>
                  <a:ea typeface="Inter"/>
                  <a:cs typeface="Inter"/>
                  <a:sym typeface="Inter"/>
                </a:rPr>
                <a:t>You can import a module using the import keyword and then use its functions and classes in your script. </a:t>
              </a:r>
            </a:p>
          </p:txBody>
        </p:sp>
      </p:grpSp>
      <p:grpSp>
        <p:nvGrpSpPr>
          <p:cNvPr id="12" name="Group 12"/>
          <p:cNvGrpSpPr/>
          <p:nvPr/>
        </p:nvGrpSpPr>
        <p:grpSpPr>
          <a:xfrm>
            <a:off x="762595" y="2474416"/>
            <a:ext cx="16762810" cy="435769"/>
            <a:chOff x="0" y="0"/>
            <a:chExt cx="22350413" cy="581025"/>
          </a:xfrm>
        </p:grpSpPr>
        <p:sp>
          <p:nvSpPr>
            <p:cNvPr id="13" name="Freeform 13"/>
            <p:cNvSpPr/>
            <p:nvPr/>
          </p:nvSpPr>
          <p:spPr>
            <a:xfrm>
              <a:off x="0" y="0"/>
              <a:ext cx="22350414" cy="581025"/>
            </a:xfrm>
            <a:custGeom>
              <a:avLst/>
              <a:gdLst/>
              <a:ahLst/>
              <a:cxnLst/>
              <a:rect l="l" t="t" r="r" b="b"/>
              <a:pathLst>
                <a:path w="22350414" h="581025">
                  <a:moveTo>
                    <a:pt x="0" y="0"/>
                  </a:moveTo>
                  <a:lnTo>
                    <a:pt x="22350414" y="0"/>
                  </a:lnTo>
                  <a:lnTo>
                    <a:pt x="22350414" y="581025"/>
                  </a:lnTo>
                  <a:lnTo>
                    <a:pt x="0" y="581025"/>
                  </a:lnTo>
                  <a:close/>
                </a:path>
              </a:pathLst>
            </a:custGeom>
            <a:solidFill>
              <a:srgbClr val="000000">
                <a:alpha val="0"/>
              </a:srgbClr>
            </a:solidFill>
          </p:spPr>
        </p:sp>
        <p:sp>
          <p:nvSpPr>
            <p:cNvPr id="14" name="TextBox 14"/>
            <p:cNvSpPr txBox="1"/>
            <p:nvPr/>
          </p:nvSpPr>
          <p:spPr>
            <a:xfrm>
              <a:off x="0" y="-85725"/>
              <a:ext cx="22350413" cy="666750"/>
            </a:xfrm>
            <a:prstGeom prst="rect">
              <a:avLst/>
            </a:prstGeom>
          </p:spPr>
          <p:txBody>
            <a:bodyPr lIns="0" tIns="0" rIns="0" bIns="0" rtlCol="0" anchor="t"/>
            <a:lstStyle/>
            <a:p>
              <a:pPr algn="l">
                <a:lnSpc>
                  <a:spcPts val="3374"/>
                </a:lnSpc>
              </a:pPr>
              <a:r>
                <a:rPr lang="en-US" sz="2125" spc="-33">
                  <a:solidFill>
                    <a:srgbClr val="272525"/>
                  </a:solidFill>
                  <a:latin typeface="Inter"/>
                  <a:ea typeface="Inter"/>
                  <a:cs typeface="Inter"/>
                  <a:sym typeface="Inter"/>
                </a:rPr>
                <a:t>There are several ways to import a module:</a:t>
              </a:r>
            </a:p>
          </p:txBody>
        </p:sp>
      </p:grpSp>
      <p:grpSp>
        <p:nvGrpSpPr>
          <p:cNvPr id="15" name="Group 15"/>
          <p:cNvGrpSpPr/>
          <p:nvPr/>
        </p:nvGrpSpPr>
        <p:grpSpPr>
          <a:xfrm>
            <a:off x="757833" y="3150542"/>
            <a:ext cx="16772335" cy="2046685"/>
            <a:chOff x="0" y="0"/>
            <a:chExt cx="22363113" cy="2728913"/>
          </a:xfrm>
        </p:grpSpPr>
        <p:sp>
          <p:nvSpPr>
            <p:cNvPr id="16" name="Freeform 16"/>
            <p:cNvSpPr/>
            <p:nvPr/>
          </p:nvSpPr>
          <p:spPr>
            <a:xfrm>
              <a:off x="6350" y="6350"/>
              <a:ext cx="22350476" cy="2716276"/>
            </a:xfrm>
            <a:custGeom>
              <a:avLst/>
              <a:gdLst/>
              <a:ahLst/>
              <a:cxnLst/>
              <a:rect l="l" t="t" r="r" b="b"/>
              <a:pathLst>
                <a:path w="22350476" h="2716276">
                  <a:moveTo>
                    <a:pt x="0" y="122047"/>
                  </a:moveTo>
                  <a:cubicBezTo>
                    <a:pt x="0" y="54610"/>
                    <a:pt x="54864" y="0"/>
                    <a:pt x="122555" y="0"/>
                  </a:cubicBezTo>
                  <a:lnTo>
                    <a:pt x="22227921" y="0"/>
                  </a:lnTo>
                  <a:cubicBezTo>
                    <a:pt x="22295611" y="0"/>
                    <a:pt x="22350476" y="54610"/>
                    <a:pt x="22350476" y="122047"/>
                  </a:cubicBezTo>
                  <a:lnTo>
                    <a:pt x="22350476" y="2594229"/>
                  </a:lnTo>
                  <a:cubicBezTo>
                    <a:pt x="22350476" y="2661666"/>
                    <a:pt x="22295611" y="2716276"/>
                    <a:pt x="22227921" y="2716276"/>
                  </a:cubicBezTo>
                  <a:lnTo>
                    <a:pt x="122555" y="2716276"/>
                  </a:lnTo>
                  <a:cubicBezTo>
                    <a:pt x="54864" y="2716276"/>
                    <a:pt x="0" y="2661666"/>
                    <a:pt x="0" y="2594229"/>
                  </a:cubicBezTo>
                  <a:close/>
                </a:path>
              </a:pathLst>
            </a:custGeom>
            <a:solidFill>
              <a:srgbClr val="FAA1A1"/>
            </a:solidFill>
          </p:spPr>
        </p:sp>
        <p:sp>
          <p:nvSpPr>
            <p:cNvPr id="17" name="Freeform 17"/>
            <p:cNvSpPr/>
            <p:nvPr/>
          </p:nvSpPr>
          <p:spPr>
            <a:xfrm>
              <a:off x="0" y="0"/>
              <a:ext cx="22363176" cy="2728976"/>
            </a:xfrm>
            <a:custGeom>
              <a:avLst/>
              <a:gdLst/>
              <a:ahLst/>
              <a:cxnLst/>
              <a:rect l="l" t="t" r="r" b="b"/>
              <a:pathLst>
                <a:path w="22363176" h="2728976">
                  <a:moveTo>
                    <a:pt x="0" y="128397"/>
                  </a:moveTo>
                  <a:cubicBezTo>
                    <a:pt x="0" y="57404"/>
                    <a:pt x="57785" y="0"/>
                    <a:pt x="128905" y="0"/>
                  </a:cubicBezTo>
                  <a:lnTo>
                    <a:pt x="22234271" y="0"/>
                  </a:lnTo>
                  <a:lnTo>
                    <a:pt x="22234271" y="6350"/>
                  </a:lnTo>
                  <a:lnTo>
                    <a:pt x="22234271" y="0"/>
                  </a:lnTo>
                  <a:cubicBezTo>
                    <a:pt x="22305390" y="0"/>
                    <a:pt x="22363176" y="57404"/>
                    <a:pt x="22363176" y="128397"/>
                  </a:cubicBezTo>
                  <a:lnTo>
                    <a:pt x="22356826" y="128397"/>
                  </a:lnTo>
                  <a:lnTo>
                    <a:pt x="22363176" y="128397"/>
                  </a:lnTo>
                  <a:lnTo>
                    <a:pt x="22363176" y="2600579"/>
                  </a:lnTo>
                  <a:lnTo>
                    <a:pt x="22356826" y="2600579"/>
                  </a:lnTo>
                  <a:lnTo>
                    <a:pt x="22363176" y="2600579"/>
                  </a:lnTo>
                  <a:cubicBezTo>
                    <a:pt x="22363176" y="2671572"/>
                    <a:pt x="22305390" y="2728976"/>
                    <a:pt x="22234271" y="2728976"/>
                  </a:cubicBezTo>
                  <a:lnTo>
                    <a:pt x="22234271" y="2722626"/>
                  </a:lnTo>
                  <a:lnTo>
                    <a:pt x="22234271" y="2728976"/>
                  </a:lnTo>
                  <a:lnTo>
                    <a:pt x="128905" y="2728976"/>
                  </a:lnTo>
                  <a:lnTo>
                    <a:pt x="128905" y="2722626"/>
                  </a:lnTo>
                  <a:lnTo>
                    <a:pt x="128905" y="2728976"/>
                  </a:lnTo>
                  <a:cubicBezTo>
                    <a:pt x="57785" y="2728976"/>
                    <a:pt x="0" y="2671445"/>
                    <a:pt x="0" y="2600579"/>
                  </a:cubicBezTo>
                  <a:lnTo>
                    <a:pt x="0" y="128397"/>
                  </a:lnTo>
                  <a:lnTo>
                    <a:pt x="6350" y="128397"/>
                  </a:lnTo>
                  <a:lnTo>
                    <a:pt x="0" y="128397"/>
                  </a:lnTo>
                  <a:moveTo>
                    <a:pt x="12700" y="128397"/>
                  </a:moveTo>
                  <a:lnTo>
                    <a:pt x="12700" y="2600579"/>
                  </a:lnTo>
                  <a:lnTo>
                    <a:pt x="6350" y="2600579"/>
                  </a:lnTo>
                  <a:lnTo>
                    <a:pt x="12700" y="2600579"/>
                  </a:lnTo>
                  <a:cubicBezTo>
                    <a:pt x="12700" y="2664460"/>
                    <a:pt x="64643" y="2716276"/>
                    <a:pt x="128905" y="2716276"/>
                  </a:cubicBezTo>
                  <a:lnTo>
                    <a:pt x="22234271" y="2716276"/>
                  </a:lnTo>
                  <a:cubicBezTo>
                    <a:pt x="22298406" y="2716276"/>
                    <a:pt x="22350476" y="2664460"/>
                    <a:pt x="22350476" y="2600579"/>
                  </a:cubicBezTo>
                  <a:lnTo>
                    <a:pt x="22350476" y="128397"/>
                  </a:lnTo>
                  <a:cubicBezTo>
                    <a:pt x="22350476" y="64516"/>
                    <a:pt x="22298533" y="12700"/>
                    <a:pt x="22234271" y="12700"/>
                  </a:cubicBezTo>
                  <a:lnTo>
                    <a:pt x="128905" y="12700"/>
                  </a:lnTo>
                  <a:lnTo>
                    <a:pt x="128905" y="6350"/>
                  </a:lnTo>
                  <a:lnTo>
                    <a:pt x="128905" y="12700"/>
                  </a:lnTo>
                  <a:cubicBezTo>
                    <a:pt x="64643" y="12700"/>
                    <a:pt x="12700" y="64516"/>
                    <a:pt x="12700" y="128397"/>
                  </a:cubicBezTo>
                  <a:close/>
                </a:path>
              </a:pathLst>
            </a:custGeom>
            <a:solidFill>
              <a:srgbClr val="E08787"/>
            </a:solidFill>
          </p:spPr>
        </p:sp>
      </p:grpSp>
      <p:grpSp>
        <p:nvGrpSpPr>
          <p:cNvPr id="18" name="Group 18"/>
          <p:cNvGrpSpPr/>
          <p:nvPr/>
        </p:nvGrpSpPr>
        <p:grpSpPr>
          <a:xfrm>
            <a:off x="990005" y="3382715"/>
            <a:ext cx="4057204" cy="449461"/>
            <a:chOff x="0" y="0"/>
            <a:chExt cx="5409605" cy="599282"/>
          </a:xfrm>
        </p:grpSpPr>
        <p:sp>
          <p:nvSpPr>
            <p:cNvPr id="19" name="Freeform 19"/>
            <p:cNvSpPr/>
            <p:nvPr/>
          </p:nvSpPr>
          <p:spPr>
            <a:xfrm>
              <a:off x="0" y="0"/>
              <a:ext cx="5409605" cy="599282"/>
            </a:xfrm>
            <a:custGeom>
              <a:avLst/>
              <a:gdLst/>
              <a:ahLst/>
              <a:cxnLst/>
              <a:rect l="l" t="t" r="r" b="b"/>
              <a:pathLst>
                <a:path w="5409605" h="599282">
                  <a:moveTo>
                    <a:pt x="0" y="0"/>
                  </a:moveTo>
                  <a:lnTo>
                    <a:pt x="5409605" y="0"/>
                  </a:lnTo>
                  <a:lnTo>
                    <a:pt x="5409605" y="599282"/>
                  </a:lnTo>
                  <a:lnTo>
                    <a:pt x="0" y="599282"/>
                  </a:lnTo>
                  <a:close/>
                </a:path>
              </a:pathLst>
            </a:custGeom>
            <a:solidFill>
              <a:srgbClr val="000000">
                <a:alpha val="0"/>
              </a:srgbClr>
            </a:solidFill>
          </p:spPr>
        </p:sp>
        <p:sp>
          <p:nvSpPr>
            <p:cNvPr id="20" name="TextBox 20"/>
            <p:cNvSpPr txBox="1"/>
            <p:nvPr/>
          </p:nvSpPr>
          <p:spPr>
            <a:xfrm>
              <a:off x="0" y="-9525"/>
              <a:ext cx="5409605" cy="608807"/>
            </a:xfrm>
            <a:prstGeom prst="rect">
              <a:avLst/>
            </a:prstGeom>
          </p:spPr>
          <p:txBody>
            <a:bodyPr lIns="0" tIns="0" rIns="0" bIns="0" rtlCol="0" anchor="t"/>
            <a:lstStyle/>
            <a:p>
              <a:pPr algn="l">
                <a:lnSpc>
                  <a:spcPts val="3499"/>
                </a:lnSpc>
              </a:pPr>
              <a:r>
                <a:rPr lang="en-US" sz="2812" spc="-56">
                  <a:solidFill>
                    <a:srgbClr val="000000"/>
                  </a:solidFill>
                  <a:latin typeface="Petrona"/>
                  <a:ea typeface="Petrona"/>
                  <a:cs typeface="Petrona"/>
                  <a:sym typeface="Petrona"/>
                </a:rPr>
                <a:t>Import the whole module:</a:t>
              </a:r>
            </a:p>
          </p:txBody>
        </p:sp>
      </p:grpSp>
      <p:grpSp>
        <p:nvGrpSpPr>
          <p:cNvPr id="21" name="Group 21"/>
          <p:cNvGrpSpPr/>
          <p:nvPr/>
        </p:nvGrpSpPr>
        <p:grpSpPr>
          <a:xfrm>
            <a:off x="990005" y="3962846"/>
            <a:ext cx="16307991" cy="435769"/>
            <a:chOff x="0" y="0"/>
            <a:chExt cx="21743988" cy="581025"/>
          </a:xfrm>
        </p:grpSpPr>
        <p:sp>
          <p:nvSpPr>
            <p:cNvPr id="22" name="Freeform 22"/>
            <p:cNvSpPr/>
            <p:nvPr/>
          </p:nvSpPr>
          <p:spPr>
            <a:xfrm>
              <a:off x="0" y="0"/>
              <a:ext cx="21743989" cy="581025"/>
            </a:xfrm>
            <a:custGeom>
              <a:avLst/>
              <a:gdLst/>
              <a:ahLst/>
              <a:cxnLst/>
              <a:rect l="l" t="t" r="r" b="b"/>
              <a:pathLst>
                <a:path w="21743989" h="581025">
                  <a:moveTo>
                    <a:pt x="0" y="0"/>
                  </a:moveTo>
                  <a:lnTo>
                    <a:pt x="21743989" y="0"/>
                  </a:lnTo>
                  <a:lnTo>
                    <a:pt x="21743989" y="581025"/>
                  </a:lnTo>
                  <a:lnTo>
                    <a:pt x="0" y="581025"/>
                  </a:lnTo>
                  <a:close/>
                </a:path>
              </a:pathLst>
            </a:custGeom>
            <a:solidFill>
              <a:srgbClr val="000000">
                <a:alpha val="0"/>
              </a:srgbClr>
            </a:solidFill>
          </p:spPr>
        </p:sp>
        <p:sp>
          <p:nvSpPr>
            <p:cNvPr id="23" name="TextBox 23"/>
            <p:cNvSpPr txBox="1"/>
            <p:nvPr/>
          </p:nvSpPr>
          <p:spPr>
            <a:xfrm>
              <a:off x="0" y="-85725"/>
              <a:ext cx="21743988" cy="666750"/>
            </a:xfrm>
            <a:prstGeom prst="rect">
              <a:avLst/>
            </a:prstGeom>
          </p:spPr>
          <p:txBody>
            <a:bodyPr lIns="0" tIns="0" rIns="0" bIns="0" rtlCol="0" anchor="t"/>
            <a:lstStyle/>
            <a:p>
              <a:pPr algn="l">
                <a:lnSpc>
                  <a:spcPts val="3374"/>
                </a:lnSpc>
              </a:pPr>
              <a:r>
                <a:rPr lang="en-US" sz="2125" i="1" spc="-33">
                  <a:solidFill>
                    <a:srgbClr val="000000"/>
                  </a:solidFill>
                  <a:latin typeface="Inter Italics"/>
                  <a:ea typeface="Inter Italics"/>
                  <a:cs typeface="Inter Italics"/>
                  <a:sym typeface="Inter Italics"/>
                </a:rPr>
                <a:t>import os </a:t>
              </a:r>
            </a:p>
          </p:txBody>
        </p:sp>
      </p:grpSp>
      <p:grpSp>
        <p:nvGrpSpPr>
          <p:cNvPr id="24" name="Group 24"/>
          <p:cNvGrpSpPr/>
          <p:nvPr/>
        </p:nvGrpSpPr>
        <p:grpSpPr>
          <a:xfrm>
            <a:off x="990005" y="4529286"/>
            <a:ext cx="16307991" cy="435769"/>
            <a:chOff x="0" y="0"/>
            <a:chExt cx="21743988" cy="581025"/>
          </a:xfrm>
        </p:grpSpPr>
        <p:sp>
          <p:nvSpPr>
            <p:cNvPr id="25" name="Freeform 25"/>
            <p:cNvSpPr/>
            <p:nvPr/>
          </p:nvSpPr>
          <p:spPr>
            <a:xfrm>
              <a:off x="0" y="0"/>
              <a:ext cx="21743989" cy="581025"/>
            </a:xfrm>
            <a:custGeom>
              <a:avLst/>
              <a:gdLst/>
              <a:ahLst/>
              <a:cxnLst/>
              <a:rect l="l" t="t" r="r" b="b"/>
              <a:pathLst>
                <a:path w="21743989" h="581025">
                  <a:moveTo>
                    <a:pt x="0" y="0"/>
                  </a:moveTo>
                  <a:lnTo>
                    <a:pt x="21743989" y="0"/>
                  </a:lnTo>
                  <a:lnTo>
                    <a:pt x="21743989" y="581025"/>
                  </a:lnTo>
                  <a:lnTo>
                    <a:pt x="0" y="581025"/>
                  </a:lnTo>
                  <a:close/>
                </a:path>
              </a:pathLst>
            </a:custGeom>
            <a:solidFill>
              <a:srgbClr val="000000">
                <a:alpha val="0"/>
              </a:srgbClr>
            </a:solidFill>
          </p:spPr>
        </p:sp>
        <p:sp>
          <p:nvSpPr>
            <p:cNvPr id="26" name="TextBox 26"/>
            <p:cNvSpPr txBox="1"/>
            <p:nvPr/>
          </p:nvSpPr>
          <p:spPr>
            <a:xfrm>
              <a:off x="0" y="-85725"/>
              <a:ext cx="21743988" cy="666750"/>
            </a:xfrm>
            <a:prstGeom prst="rect">
              <a:avLst/>
            </a:prstGeom>
          </p:spPr>
          <p:txBody>
            <a:bodyPr lIns="0" tIns="0" rIns="0" bIns="0" rtlCol="0" anchor="t"/>
            <a:lstStyle/>
            <a:p>
              <a:pPr algn="l">
                <a:lnSpc>
                  <a:spcPts val="3374"/>
                </a:lnSpc>
              </a:pPr>
              <a:r>
                <a:rPr lang="en-US" sz="2125" i="1" spc="-33">
                  <a:solidFill>
                    <a:srgbClr val="000000"/>
                  </a:solidFill>
                  <a:latin typeface="Inter Italics"/>
                  <a:ea typeface="Inter Italics"/>
                  <a:cs typeface="Inter Italics"/>
                  <a:sym typeface="Inter Italics"/>
                </a:rPr>
                <a:t>print(os.getcwd())</a:t>
              </a:r>
            </a:p>
          </p:txBody>
        </p:sp>
      </p:grpSp>
      <p:grpSp>
        <p:nvGrpSpPr>
          <p:cNvPr id="27" name="Group 27"/>
          <p:cNvGrpSpPr/>
          <p:nvPr/>
        </p:nvGrpSpPr>
        <p:grpSpPr>
          <a:xfrm>
            <a:off x="757833" y="5405586"/>
            <a:ext cx="16772335" cy="2046685"/>
            <a:chOff x="0" y="0"/>
            <a:chExt cx="22363113" cy="2728913"/>
          </a:xfrm>
        </p:grpSpPr>
        <p:sp>
          <p:nvSpPr>
            <p:cNvPr id="28" name="Freeform 28"/>
            <p:cNvSpPr/>
            <p:nvPr/>
          </p:nvSpPr>
          <p:spPr>
            <a:xfrm>
              <a:off x="6350" y="6350"/>
              <a:ext cx="22350476" cy="2716276"/>
            </a:xfrm>
            <a:custGeom>
              <a:avLst/>
              <a:gdLst/>
              <a:ahLst/>
              <a:cxnLst/>
              <a:rect l="l" t="t" r="r" b="b"/>
              <a:pathLst>
                <a:path w="22350476" h="2716276">
                  <a:moveTo>
                    <a:pt x="0" y="122047"/>
                  </a:moveTo>
                  <a:cubicBezTo>
                    <a:pt x="0" y="54610"/>
                    <a:pt x="54864" y="0"/>
                    <a:pt x="122555" y="0"/>
                  </a:cubicBezTo>
                  <a:lnTo>
                    <a:pt x="22227921" y="0"/>
                  </a:lnTo>
                  <a:cubicBezTo>
                    <a:pt x="22295611" y="0"/>
                    <a:pt x="22350476" y="54610"/>
                    <a:pt x="22350476" y="122047"/>
                  </a:cubicBezTo>
                  <a:lnTo>
                    <a:pt x="22350476" y="2594229"/>
                  </a:lnTo>
                  <a:cubicBezTo>
                    <a:pt x="22350476" y="2661666"/>
                    <a:pt x="22295611" y="2716276"/>
                    <a:pt x="22227921" y="2716276"/>
                  </a:cubicBezTo>
                  <a:lnTo>
                    <a:pt x="122555" y="2716276"/>
                  </a:lnTo>
                  <a:cubicBezTo>
                    <a:pt x="54864" y="2716276"/>
                    <a:pt x="0" y="2661666"/>
                    <a:pt x="0" y="2594229"/>
                  </a:cubicBezTo>
                  <a:close/>
                </a:path>
              </a:pathLst>
            </a:custGeom>
            <a:solidFill>
              <a:srgbClr val="FAA1A1"/>
            </a:solidFill>
          </p:spPr>
        </p:sp>
        <p:sp>
          <p:nvSpPr>
            <p:cNvPr id="29" name="Freeform 29"/>
            <p:cNvSpPr/>
            <p:nvPr/>
          </p:nvSpPr>
          <p:spPr>
            <a:xfrm>
              <a:off x="0" y="0"/>
              <a:ext cx="22363176" cy="2728976"/>
            </a:xfrm>
            <a:custGeom>
              <a:avLst/>
              <a:gdLst/>
              <a:ahLst/>
              <a:cxnLst/>
              <a:rect l="l" t="t" r="r" b="b"/>
              <a:pathLst>
                <a:path w="22363176" h="2728976">
                  <a:moveTo>
                    <a:pt x="0" y="128397"/>
                  </a:moveTo>
                  <a:cubicBezTo>
                    <a:pt x="0" y="57404"/>
                    <a:pt x="57785" y="0"/>
                    <a:pt x="128905" y="0"/>
                  </a:cubicBezTo>
                  <a:lnTo>
                    <a:pt x="22234271" y="0"/>
                  </a:lnTo>
                  <a:lnTo>
                    <a:pt x="22234271" y="6350"/>
                  </a:lnTo>
                  <a:lnTo>
                    <a:pt x="22234271" y="0"/>
                  </a:lnTo>
                  <a:cubicBezTo>
                    <a:pt x="22305390" y="0"/>
                    <a:pt x="22363176" y="57404"/>
                    <a:pt x="22363176" y="128397"/>
                  </a:cubicBezTo>
                  <a:lnTo>
                    <a:pt x="22356826" y="128397"/>
                  </a:lnTo>
                  <a:lnTo>
                    <a:pt x="22363176" y="128397"/>
                  </a:lnTo>
                  <a:lnTo>
                    <a:pt x="22363176" y="2600579"/>
                  </a:lnTo>
                  <a:lnTo>
                    <a:pt x="22356826" y="2600579"/>
                  </a:lnTo>
                  <a:lnTo>
                    <a:pt x="22363176" y="2600579"/>
                  </a:lnTo>
                  <a:cubicBezTo>
                    <a:pt x="22363176" y="2671572"/>
                    <a:pt x="22305390" y="2728976"/>
                    <a:pt x="22234271" y="2728976"/>
                  </a:cubicBezTo>
                  <a:lnTo>
                    <a:pt x="22234271" y="2722626"/>
                  </a:lnTo>
                  <a:lnTo>
                    <a:pt x="22234271" y="2728976"/>
                  </a:lnTo>
                  <a:lnTo>
                    <a:pt x="128905" y="2728976"/>
                  </a:lnTo>
                  <a:lnTo>
                    <a:pt x="128905" y="2722626"/>
                  </a:lnTo>
                  <a:lnTo>
                    <a:pt x="128905" y="2728976"/>
                  </a:lnTo>
                  <a:cubicBezTo>
                    <a:pt x="57785" y="2728976"/>
                    <a:pt x="0" y="2671445"/>
                    <a:pt x="0" y="2600579"/>
                  </a:cubicBezTo>
                  <a:lnTo>
                    <a:pt x="0" y="128397"/>
                  </a:lnTo>
                  <a:lnTo>
                    <a:pt x="6350" y="128397"/>
                  </a:lnTo>
                  <a:lnTo>
                    <a:pt x="0" y="128397"/>
                  </a:lnTo>
                  <a:moveTo>
                    <a:pt x="12700" y="128397"/>
                  </a:moveTo>
                  <a:lnTo>
                    <a:pt x="12700" y="2600579"/>
                  </a:lnTo>
                  <a:lnTo>
                    <a:pt x="6350" y="2600579"/>
                  </a:lnTo>
                  <a:lnTo>
                    <a:pt x="12700" y="2600579"/>
                  </a:lnTo>
                  <a:cubicBezTo>
                    <a:pt x="12700" y="2664460"/>
                    <a:pt x="64643" y="2716276"/>
                    <a:pt x="128905" y="2716276"/>
                  </a:cubicBezTo>
                  <a:lnTo>
                    <a:pt x="22234271" y="2716276"/>
                  </a:lnTo>
                  <a:cubicBezTo>
                    <a:pt x="22298406" y="2716276"/>
                    <a:pt x="22350476" y="2664460"/>
                    <a:pt x="22350476" y="2600579"/>
                  </a:cubicBezTo>
                  <a:lnTo>
                    <a:pt x="22350476" y="128397"/>
                  </a:lnTo>
                  <a:cubicBezTo>
                    <a:pt x="22350476" y="64516"/>
                    <a:pt x="22298533" y="12700"/>
                    <a:pt x="22234271" y="12700"/>
                  </a:cubicBezTo>
                  <a:lnTo>
                    <a:pt x="128905" y="12700"/>
                  </a:lnTo>
                  <a:lnTo>
                    <a:pt x="128905" y="6350"/>
                  </a:lnTo>
                  <a:lnTo>
                    <a:pt x="128905" y="12700"/>
                  </a:lnTo>
                  <a:cubicBezTo>
                    <a:pt x="64643" y="12700"/>
                    <a:pt x="12700" y="64516"/>
                    <a:pt x="12700" y="128397"/>
                  </a:cubicBezTo>
                  <a:close/>
                </a:path>
              </a:pathLst>
            </a:custGeom>
            <a:solidFill>
              <a:srgbClr val="E08787"/>
            </a:solidFill>
          </p:spPr>
        </p:sp>
      </p:grpSp>
      <p:grpSp>
        <p:nvGrpSpPr>
          <p:cNvPr id="30" name="Group 30"/>
          <p:cNvGrpSpPr/>
          <p:nvPr/>
        </p:nvGrpSpPr>
        <p:grpSpPr>
          <a:xfrm>
            <a:off x="990005" y="5637759"/>
            <a:ext cx="6470302" cy="449461"/>
            <a:chOff x="0" y="0"/>
            <a:chExt cx="8627070" cy="599282"/>
          </a:xfrm>
        </p:grpSpPr>
        <p:sp>
          <p:nvSpPr>
            <p:cNvPr id="31" name="Freeform 31"/>
            <p:cNvSpPr/>
            <p:nvPr/>
          </p:nvSpPr>
          <p:spPr>
            <a:xfrm>
              <a:off x="0" y="0"/>
              <a:ext cx="8627070" cy="599282"/>
            </a:xfrm>
            <a:custGeom>
              <a:avLst/>
              <a:gdLst/>
              <a:ahLst/>
              <a:cxnLst/>
              <a:rect l="l" t="t" r="r" b="b"/>
              <a:pathLst>
                <a:path w="8627070" h="599282">
                  <a:moveTo>
                    <a:pt x="0" y="0"/>
                  </a:moveTo>
                  <a:lnTo>
                    <a:pt x="8627070" y="0"/>
                  </a:lnTo>
                  <a:lnTo>
                    <a:pt x="8627070" y="599282"/>
                  </a:lnTo>
                  <a:lnTo>
                    <a:pt x="0" y="599282"/>
                  </a:lnTo>
                  <a:close/>
                </a:path>
              </a:pathLst>
            </a:custGeom>
            <a:solidFill>
              <a:srgbClr val="000000">
                <a:alpha val="0"/>
              </a:srgbClr>
            </a:solidFill>
          </p:spPr>
        </p:sp>
        <p:sp>
          <p:nvSpPr>
            <p:cNvPr id="32" name="TextBox 32"/>
            <p:cNvSpPr txBox="1"/>
            <p:nvPr/>
          </p:nvSpPr>
          <p:spPr>
            <a:xfrm>
              <a:off x="0" y="-9525"/>
              <a:ext cx="8627070" cy="608807"/>
            </a:xfrm>
            <a:prstGeom prst="rect">
              <a:avLst/>
            </a:prstGeom>
          </p:spPr>
          <p:txBody>
            <a:bodyPr lIns="0" tIns="0" rIns="0" bIns="0" rtlCol="0" anchor="t"/>
            <a:lstStyle/>
            <a:p>
              <a:pPr algn="l">
                <a:lnSpc>
                  <a:spcPts val="3499"/>
                </a:lnSpc>
              </a:pPr>
              <a:r>
                <a:rPr lang="en-US" sz="2812" spc="-56">
                  <a:solidFill>
                    <a:srgbClr val="000000"/>
                  </a:solidFill>
                  <a:latin typeface="Petrona"/>
                  <a:ea typeface="Petrona"/>
                  <a:cs typeface="Petrona"/>
                  <a:sym typeface="Petrona"/>
                </a:rPr>
                <a:t>Import specific functions from a module:</a:t>
              </a:r>
            </a:p>
          </p:txBody>
        </p:sp>
      </p:grpSp>
      <p:grpSp>
        <p:nvGrpSpPr>
          <p:cNvPr id="33" name="Group 33"/>
          <p:cNvGrpSpPr/>
          <p:nvPr/>
        </p:nvGrpSpPr>
        <p:grpSpPr>
          <a:xfrm>
            <a:off x="990005" y="6217890"/>
            <a:ext cx="16307991" cy="435769"/>
            <a:chOff x="0" y="0"/>
            <a:chExt cx="21743988" cy="581025"/>
          </a:xfrm>
        </p:grpSpPr>
        <p:sp>
          <p:nvSpPr>
            <p:cNvPr id="34" name="Freeform 34"/>
            <p:cNvSpPr/>
            <p:nvPr/>
          </p:nvSpPr>
          <p:spPr>
            <a:xfrm>
              <a:off x="0" y="0"/>
              <a:ext cx="21743989" cy="581025"/>
            </a:xfrm>
            <a:custGeom>
              <a:avLst/>
              <a:gdLst/>
              <a:ahLst/>
              <a:cxnLst/>
              <a:rect l="l" t="t" r="r" b="b"/>
              <a:pathLst>
                <a:path w="21743989" h="581025">
                  <a:moveTo>
                    <a:pt x="0" y="0"/>
                  </a:moveTo>
                  <a:lnTo>
                    <a:pt x="21743989" y="0"/>
                  </a:lnTo>
                  <a:lnTo>
                    <a:pt x="21743989" y="581025"/>
                  </a:lnTo>
                  <a:lnTo>
                    <a:pt x="0" y="581025"/>
                  </a:lnTo>
                  <a:close/>
                </a:path>
              </a:pathLst>
            </a:custGeom>
            <a:solidFill>
              <a:srgbClr val="000000">
                <a:alpha val="0"/>
              </a:srgbClr>
            </a:solidFill>
          </p:spPr>
        </p:sp>
        <p:sp>
          <p:nvSpPr>
            <p:cNvPr id="35" name="TextBox 35"/>
            <p:cNvSpPr txBox="1"/>
            <p:nvPr/>
          </p:nvSpPr>
          <p:spPr>
            <a:xfrm>
              <a:off x="0" y="-85725"/>
              <a:ext cx="21743988" cy="666750"/>
            </a:xfrm>
            <a:prstGeom prst="rect">
              <a:avLst/>
            </a:prstGeom>
          </p:spPr>
          <p:txBody>
            <a:bodyPr lIns="0" tIns="0" rIns="0" bIns="0" rtlCol="0" anchor="t"/>
            <a:lstStyle/>
            <a:p>
              <a:pPr algn="l">
                <a:lnSpc>
                  <a:spcPts val="3374"/>
                </a:lnSpc>
              </a:pPr>
              <a:r>
                <a:rPr lang="en-US" sz="2125" i="1" spc="-33">
                  <a:solidFill>
                    <a:srgbClr val="000000"/>
                  </a:solidFill>
                  <a:latin typeface="Inter Italics"/>
                  <a:ea typeface="Inter Italics"/>
                  <a:cs typeface="Inter Italics"/>
                  <a:sym typeface="Inter Italics"/>
                </a:rPr>
                <a:t>from os import getcwd </a:t>
              </a:r>
            </a:p>
          </p:txBody>
        </p:sp>
      </p:grpSp>
      <p:grpSp>
        <p:nvGrpSpPr>
          <p:cNvPr id="36" name="Group 36"/>
          <p:cNvGrpSpPr/>
          <p:nvPr/>
        </p:nvGrpSpPr>
        <p:grpSpPr>
          <a:xfrm>
            <a:off x="990005" y="6784330"/>
            <a:ext cx="16307991" cy="435769"/>
            <a:chOff x="0" y="0"/>
            <a:chExt cx="21743988" cy="581025"/>
          </a:xfrm>
        </p:grpSpPr>
        <p:sp>
          <p:nvSpPr>
            <p:cNvPr id="37" name="Freeform 37"/>
            <p:cNvSpPr/>
            <p:nvPr/>
          </p:nvSpPr>
          <p:spPr>
            <a:xfrm>
              <a:off x="0" y="0"/>
              <a:ext cx="21743989" cy="581025"/>
            </a:xfrm>
            <a:custGeom>
              <a:avLst/>
              <a:gdLst/>
              <a:ahLst/>
              <a:cxnLst/>
              <a:rect l="l" t="t" r="r" b="b"/>
              <a:pathLst>
                <a:path w="21743989" h="581025">
                  <a:moveTo>
                    <a:pt x="0" y="0"/>
                  </a:moveTo>
                  <a:lnTo>
                    <a:pt x="21743989" y="0"/>
                  </a:lnTo>
                  <a:lnTo>
                    <a:pt x="21743989" y="581025"/>
                  </a:lnTo>
                  <a:lnTo>
                    <a:pt x="0" y="581025"/>
                  </a:lnTo>
                  <a:close/>
                </a:path>
              </a:pathLst>
            </a:custGeom>
            <a:solidFill>
              <a:srgbClr val="000000">
                <a:alpha val="0"/>
              </a:srgbClr>
            </a:solidFill>
          </p:spPr>
        </p:sp>
        <p:sp>
          <p:nvSpPr>
            <p:cNvPr id="38" name="TextBox 38"/>
            <p:cNvSpPr txBox="1"/>
            <p:nvPr/>
          </p:nvSpPr>
          <p:spPr>
            <a:xfrm>
              <a:off x="0" y="-85725"/>
              <a:ext cx="21743988" cy="666750"/>
            </a:xfrm>
            <a:prstGeom prst="rect">
              <a:avLst/>
            </a:prstGeom>
          </p:spPr>
          <p:txBody>
            <a:bodyPr lIns="0" tIns="0" rIns="0" bIns="0" rtlCol="0" anchor="t"/>
            <a:lstStyle/>
            <a:p>
              <a:pPr algn="l">
                <a:lnSpc>
                  <a:spcPts val="3374"/>
                </a:lnSpc>
              </a:pPr>
              <a:r>
                <a:rPr lang="en-US" sz="2125" i="1" spc="-33">
                  <a:solidFill>
                    <a:srgbClr val="000000"/>
                  </a:solidFill>
                  <a:latin typeface="Inter Italics"/>
                  <a:ea typeface="Inter Italics"/>
                  <a:cs typeface="Inter Italics"/>
                  <a:sym typeface="Inter Italics"/>
                </a:rPr>
                <a:t>print(getcwd())</a:t>
              </a:r>
            </a:p>
          </p:txBody>
        </p:sp>
      </p:grpSp>
      <p:grpSp>
        <p:nvGrpSpPr>
          <p:cNvPr id="39" name="Group 39"/>
          <p:cNvGrpSpPr/>
          <p:nvPr/>
        </p:nvGrpSpPr>
        <p:grpSpPr>
          <a:xfrm>
            <a:off x="757833" y="7660630"/>
            <a:ext cx="16772335" cy="2046685"/>
            <a:chOff x="0" y="0"/>
            <a:chExt cx="22363113" cy="2728913"/>
          </a:xfrm>
        </p:grpSpPr>
        <p:sp>
          <p:nvSpPr>
            <p:cNvPr id="40" name="Freeform 40"/>
            <p:cNvSpPr/>
            <p:nvPr/>
          </p:nvSpPr>
          <p:spPr>
            <a:xfrm>
              <a:off x="6350" y="6350"/>
              <a:ext cx="22350476" cy="2716276"/>
            </a:xfrm>
            <a:custGeom>
              <a:avLst/>
              <a:gdLst/>
              <a:ahLst/>
              <a:cxnLst/>
              <a:rect l="l" t="t" r="r" b="b"/>
              <a:pathLst>
                <a:path w="22350476" h="2716276">
                  <a:moveTo>
                    <a:pt x="0" y="122047"/>
                  </a:moveTo>
                  <a:cubicBezTo>
                    <a:pt x="0" y="54610"/>
                    <a:pt x="54864" y="0"/>
                    <a:pt x="122555" y="0"/>
                  </a:cubicBezTo>
                  <a:lnTo>
                    <a:pt x="22227921" y="0"/>
                  </a:lnTo>
                  <a:cubicBezTo>
                    <a:pt x="22295611" y="0"/>
                    <a:pt x="22350476" y="54610"/>
                    <a:pt x="22350476" y="122047"/>
                  </a:cubicBezTo>
                  <a:lnTo>
                    <a:pt x="22350476" y="2594229"/>
                  </a:lnTo>
                  <a:cubicBezTo>
                    <a:pt x="22350476" y="2661666"/>
                    <a:pt x="22295611" y="2716276"/>
                    <a:pt x="22227921" y="2716276"/>
                  </a:cubicBezTo>
                  <a:lnTo>
                    <a:pt x="122555" y="2716276"/>
                  </a:lnTo>
                  <a:cubicBezTo>
                    <a:pt x="54864" y="2716276"/>
                    <a:pt x="0" y="2661666"/>
                    <a:pt x="0" y="2594229"/>
                  </a:cubicBezTo>
                  <a:close/>
                </a:path>
              </a:pathLst>
            </a:custGeom>
            <a:solidFill>
              <a:srgbClr val="FAA1A1"/>
            </a:solidFill>
          </p:spPr>
        </p:sp>
        <p:sp>
          <p:nvSpPr>
            <p:cNvPr id="41" name="Freeform 41"/>
            <p:cNvSpPr/>
            <p:nvPr/>
          </p:nvSpPr>
          <p:spPr>
            <a:xfrm>
              <a:off x="0" y="0"/>
              <a:ext cx="22363176" cy="2728976"/>
            </a:xfrm>
            <a:custGeom>
              <a:avLst/>
              <a:gdLst/>
              <a:ahLst/>
              <a:cxnLst/>
              <a:rect l="l" t="t" r="r" b="b"/>
              <a:pathLst>
                <a:path w="22363176" h="2728976">
                  <a:moveTo>
                    <a:pt x="0" y="128397"/>
                  </a:moveTo>
                  <a:cubicBezTo>
                    <a:pt x="0" y="57404"/>
                    <a:pt x="57785" y="0"/>
                    <a:pt x="128905" y="0"/>
                  </a:cubicBezTo>
                  <a:lnTo>
                    <a:pt x="22234271" y="0"/>
                  </a:lnTo>
                  <a:lnTo>
                    <a:pt x="22234271" y="6350"/>
                  </a:lnTo>
                  <a:lnTo>
                    <a:pt x="22234271" y="0"/>
                  </a:lnTo>
                  <a:cubicBezTo>
                    <a:pt x="22305390" y="0"/>
                    <a:pt x="22363176" y="57404"/>
                    <a:pt x="22363176" y="128397"/>
                  </a:cubicBezTo>
                  <a:lnTo>
                    <a:pt x="22356826" y="128397"/>
                  </a:lnTo>
                  <a:lnTo>
                    <a:pt x="22363176" y="128397"/>
                  </a:lnTo>
                  <a:lnTo>
                    <a:pt x="22363176" y="2600579"/>
                  </a:lnTo>
                  <a:lnTo>
                    <a:pt x="22356826" y="2600579"/>
                  </a:lnTo>
                  <a:lnTo>
                    <a:pt x="22363176" y="2600579"/>
                  </a:lnTo>
                  <a:cubicBezTo>
                    <a:pt x="22363176" y="2671572"/>
                    <a:pt x="22305390" y="2728976"/>
                    <a:pt x="22234271" y="2728976"/>
                  </a:cubicBezTo>
                  <a:lnTo>
                    <a:pt x="22234271" y="2722626"/>
                  </a:lnTo>
                  <a:lnTo>
                    <a:pt x="22234271" y="2728976"/>
                  </a:lnTo>
                  <a:lnTo>
                    <a:pt x="128905" y="2728976"/>
                  </a:lnTo>
                  <a:lnTo>
                    <a:pt x="128905" y="2722626"/>
                  </a:lnTo>
                  <a:lnTo>
                    <a:pt x="128905" y="2728976"/>
                  </a:lnTo>
                  <a:cubicBezTo>
                    <a:pt x="57785" y="2728976"/>
                    <a:pt x="0" y="2671445"/>
                    <a:pt x="0" y="2600579"/>
                  </a:cubicBezTo>
                  <a:lnTo>
                    <a:pt x="0" y="128397"/>
                  </a:lnTo>
                  <a:lnTo>
                    <a:pt x="6350" y="128397"/>
                  </a:lnTo>
                  <a:lnTo>
                    <a:pt x="0" y="128397"/>
                  </a:lnTo>
                  <a:moveTo>
                    <a:pt x="12700" y="128397"/>
                  </a:moveTo>
                  <a:lnTo>
                    <a:pt x="12700" y="2600579"/>
                  </a:lnTo>
                  <a:lnTo>
                    <a:pt x="6350" y="2600579"/>
                  </a:lnTo>
                  <a:lnTo>
                    <a:pt x="12700" y="2600579"/>
                  </a:lnTo>
                  <a:cubicBezTo>
                    <a:pt x="12700" y="2664460"/>
                    <a:pt x="64643" y="2716276"/>
                    <a:pt x="128905" y="2716276"/>
                  </a:cubicBezTo>
                  <a:lnTo>
                    <a:pt x="22234271" y="2716276"/>
                  </a:lnTo>
                  <a:cubicBezTo>
                    <a:pt x="22298406" y="2716276"/>
                    <a:pt x="22350476" y="2664460"/>
                    <a:pt x="22350476" y="2600579"/>
                  </a:cubicBezTo>
                  <a:lnTo>
                    <a:pt x="22350476" y="128397"/>
                  </a:lnTo>
                  <a:cubicBezTo>
                    <a:pt x="22350476" y="64516"/>
                    <a:pt x="22298533" y="12700"/>
                    <a:pt x="22234271" y="12700"/>
                  </a:cubicBezTo>
                  <a:lnTo>
                    <a:pt x="128905" y="12700"/>
                  </a:lnTo>
                  <a:lnTo>
                    <a:pt x="128905" y="6350"/>
                  </a:lnTo>
                  <a:lnTo>
                    <a:pt x="128905" y="12700"/>
                  </a:lnTo>
                  <a:cubicBezTo>
                    <a:pt x="64643" y="12700"/>
                    <a:pt x="12700" y="64516"/>
                    <a:pt x="12700" y="128397"/>
                  </a:cubicBezTo>
                  <a:close/>
                </a:path>
              </a:pathLst>
            </a:custGeom>
            <a:solidFill>
              <a:srgbClr val="E08787"/>
            </a:solidFill>
          </p:spPr>
        </p:sp>
      </p:grpSp>
      <p:grpSp>
        <p:nvGrpSpPr>
          <p:cNvPr id="42" name="Group 42"/>
          <p:cNvGrpSpPr/>
          <p:nvPr/>
        </p:nvGrpSpPr>
        <p:grpSpPr>
          <a:xfrm>
            <a:off x="990005" y="7892802"/>
            <a:ext cx="5863679" cy="449461"/>
            <a:chOff x="0" y="0"/>
            <a:chExt cx="7818238" cy="599282"/>
          </a:xfrm>
        </p:grpSpPr>
        <p:sp>
          <p:nvSpPr>
            <p:cNvPr id="43" name="Freeform 43"/>
            <p:cNvSpPr/>
            <p:nvPr/>
          </p:nvSpPr>
          <p:spPr>
            <a:xfrm>
              <a:off x="0" y="0"/>
              <a:ext cx="7818238" cy="599282"/>
            </a:xfrm>
            <a:custGeom>
              <a:avLst/>
              <a:gdLst/>
              <a:ahLst/>
              <a:cxnLst/>
              <a:rect l="l" t="t" r="r" b="b"/>
              <a:pathLst>
                <a:path w="7818238" h="599282">
                  <a:moveTo>
                    <a:pt x="0" y="0"/>
                  </a:moveTo>
                  <a:lnTo>
                    <a:pt x="7818238" y="0"/>
                  </a:lnTo>
                  <a:lnTo>
                    <a:pt x="7818238" y="599282"/>
                  </a:lnTo>
                  <a:lnTo>
                    <a:pt x="0" y="599282"/>
                  </a:lnTo>
                  <a:close/>
                </a:path>
              </a:pathLst>
            </a:custGeom>
            <a:solidFill>
              <a:srgbClr val="000000">
                <a:alpha val="0"/>
              </a:srgbClr>
            </a:solidFill>
          </p:spPr>
        </p:sp>
        <p:sp>
          <p:nvSpPr>
            <p:cNvPr id="44" name="TextBox 44"/>
            <p:cNvSpPr txBox="1"/>
            <p:nvPr/>
          </p:nvSpPr>
          <p:spPr>
            <a:xfrm>
              <a:off x="0" y="-9525"/>
              <a:ext cx="7818238" cy="608807"/>
            </a:xfrm>
            <a:prstGeom prst="rect">
              <a:avLst/>
            </a:prstGeom>
          </p:spPr>
          <p:txBody>
            <a:bodyPr lIns="0" tIns="0" rIns="0" bIns="0" rtlCol="0" anchor="t"/>
            <a:lstStyle/>
            <a:p>
              <a:pPr algn="l">
                <a:lnSpc>
                  <a:spcPts val="3499"/>
                </a:lnSpc>
              </a:pPr>
              <a:r>
                <a:rPr lang="en-US" sz="2812" spc="-56">
                  <a:solidFill>
                    <a:srgbClr val="000000"/>
                  </a:solidFill>
                  <a:latin typeface="Petrona"/>
                  <a:ea typeface="Petrona"/>
                  <a:cs typeface="Petrona"/>
                  <a:sym typeface="Petrona"/>
                </a:rPr>
                <a:t>Alias the module for easier reference:</a:t>
              </a:r>
            </a:p>
          </p:txBody>
        </p:sp>
      </p:grpSp>
      <p:grpSp>
        <p:nvGrpSpPr>
          <p:cNvPr id="45" name="Group 45"/>
          <p:cNvGrpSpPr/>
          <p:nvPr/>
        </p:nvGrpSpPr>
        <p:grpSpPr>
          <a:xfrm>
            <a:off x="990005" y="8472934"/>
            <a:ext cx="16307991" cy="435769"/>
            <a:chOff x="0" y="0"/>
            <a:chExt cx="21743988" cy="581025"/>
          </a:xfrm>
        </p:grpSpPr>
        <p:sp>
          <p:nvSpPr>
            <p:cNvPr id="46" name="Freeform 46"/>
            <p:cNvSpPr/>
            <p:nvPr/>
          </p:nvSpPr>
          <p:spPr>
            <a:xfrm>
              <a:off x="0" y="0"/>
              <a:ext cx="21743989" cy="581025"/>
            </a:xfrm>
            <a:custGeom>
              <a:avLst/>
              <a:gdLst/>
              <a:ahLst/>
              <a:cxnLst/>
              <a:rect l="l" t="t" r="r" b="b"/>
              <a:pathLst>
                <a:path w="21743989" h="581025">
                  <a:moveTo>
                    <a:pt x="0" y="0"/>
                  </a:moveTo>
                  <a:lnTo>
                    <a:pt x="21743989" y="0"/>
                  </a:lnTo>
                  <a:lnTo>
                    <a:pt x="21743989" y="581025"/>
                  </a:lnTo>
                  <a:lnTo>
                    <a:pt x="0" y="581025"/>
                  </a:lnTo>
                  <a:close/>
                </a:path>
              </a:pathLst>
            </a:custGeom>
            <a:solidFill>
              <a:srgbClr val="000000">
                <a:alpha val="0"/>
              </a:srgbClr>
            </a:solidFill>
          </p:spPr>
        </p:sp>
        <p:sp>
          <p:nvSpPr>
            <p:cNvPr id="47" name="TextBox 47"/>
            <p:cNvSpPr txBox="1"/>
            <p:nvPr/>
          </p:nvSpPr>
          <p:spPr>
            <a:xfrm>
              <a:off x="0" y="-85725"/>
              <a:ext cx="21743988" cy="666750"/>
            </a:xfrm>
            <a:prstGeom prst="rect">
              <a:avLst/>
            </a:prstGeom>
          </p:spPr>
          <p:txBody>
            <a:bodyPr lIns="0" tIns="0" rIns="0" bIns="0" rtlCol="0" anchor="t"/>
            <a:lstStyle/>
            <a:p>
              <a:pPr algn="l">
                <a:lnSpc>
                  <a:spcPts val="3374"/>
                </a:lnSpc>
              </a:pPr>
              <a:r>
                <a:rPr lang="en-US" sz="2125" i="1" spc="-33">
                  <a:solidFill>
                    <a:srgbClr val="000000"/>
                  </a:solidFill>
                  <a:latin typeface="Inter Italics"/>
                  <a:ea typeface="Inter Italics"/>
                  <a:cs typeface="Inter Italics"/>
                  <a:sym typeface="Inter Italics"/>
                </a:rPr>
                <a:t>import os as operating_system </a:t>
              </a:r>
            </a:p>
          </p:txBody>
        </p:sp>
      </p:grpSp>
      <p:grpSp>
        <p:nvGrpSpPr>
          <p:cNvPr id="48" name="Group 48"/>
          <p:cNvGrpSpPr/>
          <p:nvPr/>
        </p:nvGrpSpPr>
        <p:grpSpPr>
          <a:xfrm>
            <a:off x="990005" y="9039374"/>
            <a:ext cx="16307991" cy="435769"/>
            <a:chOff x="0" y="0"/>
            <a:chExt cx="21743988" cy="581025"/>
          </a:xfrm>
        </p:grpSpPr>
        <p:sp>
          <p:nvSpPr>
            <p:cNvPr id="49" name="Freeform 49"/>
            <p:cNvSpPr/>
            <p:nvPr/>
          </p:nvSpPr>
          <p:spPr>
            <a:xfrm>
              <a:off x="0" y="0"/>
              <a:ext cx="21743989" cy="581025"/>
            </a:xfrm>
            <a:custGeom>
              <a:avLst/>
              <a:gdLst/>
              <a:ahLst/>
              <a:cxnLst/>
              <a:rect l="l" t="t" r="r" b="b"/>
              <a:pathLst>
                <a:path w="21743989" h="581025">
                  <a:moveTo>
                    <a:pt x="0" y="0"/>
                  </a:moveTo>
                  <a:lnTo>
                    <a:pt x="21743989" y="0"/>
                  </a:lnTo>
                  <a:lnTo>
                    <a:pt x="21743989" y="581025"/>
                  </a:lnTo>
                  <a:lnTo>
                    <a:pt x="0" y="581025"/>
                  </a:lnTo>
                  <a:close/>
                </a:path>
              </a:pathLst>
            </a:custGeom>
            <a:solidFill>
              <a:srgbClr val="000000">
                <a:alpha val="0"/>
              </a:srgbClr>
            </a:solidFill>
          </p:spPr>
        </p:sp>
        <p:sp>
          <p:nvSpPr>
            <p:cNvPr id="50" name="TextBox 50"/>
            <p:cNvSpPr txBox="1"/>
            <p:nvPr/>
          </p:nvSpPr>
          <p:spPr>
            <a:xfrm>
              <a:off x="0" y="-85725"/>
              <a:ext cx="21743988" cy="666750"/>
            </a:xfrm>
            <a:prstGeom prst="rect">
              <a:avLst/>
            </a:prstGeom>
          </p:spPr>
          <p:txBody>
            <a:bodyPr lIns="0" tIns="0" rIns="0" bIns="0" rtlCol="0" anchor="t"/>
            <a:lstStyle/>
            <a:p>
              <a:pPr algn="l">
                <a:lnSpc>
                  <a:spcPts val="3374"/>
                </a:lnSpc>
              </a:pPr>
              <a:r>
                <a:rPr lang="en-US" sz="2125" i="1" spc="-33">
                  <a:solidFill>
                    <a:srgbClr val="000000"/>
                  </a:solidFill>
                  <a:latin typeface="Inter Italics"/>
                  <a:ea typeface="Inter Italics"/>
                  <a:cs typeface="Inter Italics"/>
                  <a:sym typeface="Inter Italics"/>
                </a:rPr>
                <a:t>print(operating_system.getcwd())</a:t>
              </a:r>
            </a:p>
          </p:txBody>
        </p:sp>
      </p:grpSp>
      <p:sp>
        <p:nvSpPr>
          <p:cNvPr id="51" name="TextBox 51"/>
          <p:cNvSpPr txBox="1"/>
          <p:nvPr/>
        </p:nvSpPr>
        <p:spPr>
          <a:xfrm>
            <a:off x="15758536" y="9764465"/>
            <a:ext cx="3543263" cy="314326"/>
          </a:xfrm>
          <a:prstGeom prst="rect">
            <a:avLst/>
          </a:prstGeom>
        </p:spPr>
        <p:txBody>
          <a:bodyPr lIns="0" tIns="0" rIns="0" bIns="0" rtlCol="0" anchor="t">
            <a:spAutoFit/>
          </a:bodyPr>
          <a:lstStyle/>
          <a:p>
            <a:pPr algn="l">
              <a:lnSpc>
                <a:spcPts val="2624"/>
              </a:lnSpc>
              <a:spcBef>
                <a:spcPct val="0"/>
              </a:spcBef>
            </a:pPr>
            <a:r>
              <a:rPr lang="en-US" sz="1625" spc="-32">
                <a:solidFill>
                  <a:srgbClr val="272525"/>
                </a:solidFill>
                <a:latin typeface="Inter"/>
                <a:ea typeface="Inter"/>
                <a:cs typeface="Inter"/>
                <a:sym typeface="Inter"/>
              </a:rPr>
              <a:t>Mohammad Anees Alam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grpSp>
        <p:nvGrpSpPr>
          <p:cNvPr id="6" name="Group 6"/>
          <p:cNvGrpSpPr/>
          <p:nvPr/>
        </p:nvGrpSpPr>
        <p:grpSpPr>
          <a:xfrm>
            <a:off x="896094" y="712886"/>
            <a:ext cx="7041654" cy="880021"/>
            <a:chOff x="0" y="0"/>
            <a:chExt cx="9388872" cy="1173362"/>
          </a:xfrm>
        </p:grpSpPr>
        <p:sp>
          <p:nvSpPr>
            <p:cNvPr id="7" name="Freeform 7"/>
            <p:cNvSpPr/>
            <p:nvPr/>
          </p:nvSpPr>
          <p:spPr>
            <a:xfrm>
              <a:off x="0" y="0"/>
              <a:ext cx="9388872" cy="1173362"/>
            </a:xfrm>
            <a:custGeom>
              <a:avLst/>
              <a:gdLst/>
              <a:ahLst/>
              <a:cxnLst/>
              <a:rect l="l" t="t" r="r" b="b"/>
              <a:pathLst>
                <a:path w="9388872" h="1173362">
                  <a:moveTo>
                    <a:pt x="0" y="0"/>
                  </a:moveTo>
                  <a:lnTo>
                    <a:pt x="9388872" y="0"/>
                  </a:lnTo>
                  <a:lnTo>
                    <a:pt x="9388872" y="1173362"/>
                  </a:lnTo>
                  <a:lnTo>
                    <a:pt x="0" y="1173362"/>
                  </a:lnTo>
                  <a:close/>
                </a:path>
              </a:pathLst>
            </a:custGeom>
            <a:solidFill>
              <a:srgbClr val="000000">
                <a:alpha val="0"/>
              </a:srgbClr>
            </a:solidFill>
          </p:spPr>
        </p:sp>
        <p:sp>
          <p:nvSpPr>
            <p:cNvPr id="8" name="TextBox 8"/>
            <p:cNvSpPr txBox="1"/>
            <p:nvPr/>
          </p:nvSpPr>
          <p:spPr>
            <a:xfrm>
              <a:off x="0" y="-38100"/>
              <a:ext cx="9388872" cy="1211462"/>
            </a:xfrm>
            <a:prstGeom prst="rect">
              <a:avLst/>
            </a:prstGeom>
          </p:spPr>
          <p:txBody>
            <a:bodyPr lIns="0" tIns="0" rIns="0" bIns="0" rtlCol="0" anchor="t"/>
            <a:lstStyle/>
            <a:p>
              <a:pPr algn="l">
                <a:lnSpc>
                  <a:spcPts val="6875"/>
                </a:lnSpc>
              </a:pPr>
              <a:r>
                <a:rPr lang="en-US" sz="5500" spc="-111">
                  <a:solidFill>
                    <a:srgbClr val="F95F88"/>
                  </a:solidFill>
                  <a:latin typeface="Petrona"/>
                  <a:ea typeface="Petrona"/>
                  <a:cs typeface="Petrona"/>
                  <a:sym typeface="Petrona"/>
                </a:rPr>
                <a:t>Hands-on Activity!</a:t>
              </a:r>
            </a:p>
          </p:txBody>
        </p:sp>
      </p:grpSp>
      <p:grpSp>
        <p:nvGrpSpPr>
          <p:cNvPr id="9" name="Group 9"/>
          <p:cNvGrpSpPr/>
          <p:nvPr/>
        </p:nvGrpSpPr>
        <p:grpSpPr>
          <a:xfrm>
            <a:off x="896094" y="1893764"/>
            <a:ext cx="16495811" cy="512118"/>
            <a:chOff x="0" y="0"/>
            <a:chExt cx="21994415" cy="682823"/>
          </a:xfrm>
        </p:grpSpPr>
        <p:sp>
          <p:nvSpPr>
            <p:cNvPr id="10" name="Freeform 10"/>
            <p:cNvSpPr/>
            <p:nvPr/>
          </p:nvSpPr>
          <p:spPr>
            <a:xfrm>
              <a:off x="0" y="0"/>
              <a:ext cx="21994416" cy="682823"/>
            </a:xfrm>
            <a:custGeom>
              <a:avLst/>
              <a:gdLst/>
              <a:ahLst/>
              <a:cxnLst/>
              <a:rect l="l" t="t" r="r" b="b"/>
              <a:pathLst>
                <a:path w="21994416" h="682823">
                  <a:moveTo>
                    <a:pt x="0" y="0"/>
                  </a:moveTo>
                  <a:lnTo>
                    <a:pt x="21994416" y="0"/>
                  </a:lnTo>
                  <a:lnTo>
                    <a:pt x="21994416" y="682823"/>
                  </a:lnTo>
                  <a:lnTo>
                    <a:pt x="0" y="682823"/>
                  </a:lnTo>
                  <a:close/>
                </a:path>
              </a:pathLst>
            </a:custGeom>
            <a:solidFill>
              <a:srgbClr val="000000">
                <a:alpha val="0"/>
              </a:srgbClr>
            </a:solidFill>
          </p:spPr>
        </p:sp>
        <p:sp>
          <p:nvSpPr>
            <p:cNvPr id="11" name="TextBox 11"/>
            <p:cNvSpPr txBox="1"/>
            <p:nvPr/>
          </p:nvSpPr>
          <p:spPr>
            <a:xfrm>
              <a:off x="0" y="-76200"/>
              <a:ext cx="21994415" cy="759023"/>
            </a:xfrm>
            <a:prstGeom prst="rect">
              <a:avLst/>
            </a:prstGeom>
          </p:spPr>
          <p:txBody>
            <a:bodyPr lIns="0" tIns="0" rIns="0" bIns="0" rtlCol="0" anchor="t"/>
            <a:lstStyle/>
            <a:p>
              <a:pPr marL="301625" lvl="1" indent="-150812" algn="l">
                <a:lnSpc>
                  <a:spcPts val="3187"/>
                </a:lnSpc>
                <a:buFont typeface="Arial"/>
                <a:buChar char="•"/>
              </a:pPr>
              <a:r>
                <a:rPr lang="en-US" sz="2000" spc="-40">
                  <a:solidFill>
                    <a:srgbClr val="272525"/>
                  </a:solidFill>
                  <a:latin typeface="Inter"/>
                  <a:ea typeface="Inter"/>
                  <a:cs typeface="Inter"/>
                  <a:sym typeface="Inter"/>
                </a:rPr>
                <a:t>A python script that checks "</a:t>
              </a:r>
              <a:r>
                <a:rPr lang="en-US" sz="2000" b="1" spc="-40">
                  <a:solidFill>
                    <a:srgbClr val="272525"/>
                  </a:solidFill>
                  <a:latin typeface="Inter Bold"/>
                  <a:ea typeface="Inter Bold"/>
                  <a:cs typeface="Inter Bold"/>
                  <a:sym typeface="Inter Bold"/>
                </a:rPr>
                <a:t>how much disk space is available on your system"</a:t>
              </a:r>
              <a:r>
                <a:rPr lang="en-US" sz="2000" spc="-40">
                  <a:solidFill>
                    <a:srgbClr val="272525"/>
                  </a:solidFill>
                  <a:latin typeface="Inter"/>
                  <a:ea typeface="Inter"/>
                  <a:cs typeface="Inter"/>
                  <a:sym typeface="Inter"/>
                </a:rPr>
                <a:t>.</a:t>
              </a:r>
            </a:p>
          </p:txBody>
        </p:sp>
      </p:grpSp>
      <p:grpSp>
        <p:nvGrpSpPr>
          <p:cNvPr id="12" name="Group 12"/>
          <p:cNvGrpSpPr/>
          <p:nvPr/>
        </p:nvGrpSpPr>
        <p:grpSpPr>
          <a:xfrm>
            <a:off x="896094" y="2601106"/>
            <a:ext cx="16495811" cy="512117"/>
            <a:chOff x="0" y="0"/>
            <a:chExt cx="21994415" cy="682823"/>
          </a:xfrm>
        </p:grpSpPr>
        <p:sp>
          <p:nvSpPr>
            <p:cNvPr id="13" name="Freeform 13"/>
            <p:cNvSpPr/>
            <p:nvPr/>
          </p:nvSpPr>
          <p:spPr>
            <a:xfrm>
              <a:off x="0" y="0"/>
              <a:ext cx="21994416" cy="682823"/>
            </a:xfrm>
            <a:custGeom>
              <a:avLst/>
              <a:gdLst/>
              <a:ahLst/>
              <a:cxnLst/>
              <a:rect l="l" t="t" r="r" b="b"/>
              <a:pathLst>
                <a:path w="21994416" h="682823">
                  <a:moveTo>
                    <a:pt x="0" y="0"/>
                  </a:moveTo>
                  <a:lnTo>
                    <a:pt x="21994416" y="0"/>
                  </a:lnTo>
                  <a:lnTo>
                    <a:pt x="21994416" y="682823"/>
                  </a:lnTo>
                  <a:lnTo>
                    <a:pt x="0" y="682823"/>
                  </a:lnTo>
                  <a:close/>
                </a:path>
              </a:pathLst>
            </a:custGeom>
            <a:solidFill>
              <a:srgbClr val="000000">
                <a:alpha val="0"/>
              </a:srgbClr>
            </a:solidFill>
          </p:spPr>
        </p:sp>
        <p:sp>
          <p:nvSpPr>
            <p:cNvPr id="14" name="TextBox 14"/>
            <p:cNvSpPr txBox="1"/>
            <p:nvPr/>
          </p:nvSpPr>
          <p:spPr>
            <a:xfrm>
              <a:off x="0" y="-76200"/>
              <a:ext cx="21994415" cy="759023"/>
            </a:xfrm>
            <a:prstGeom prst="rect">
              <a:avLst/>
            </a:prstGeom>
          </p:spPr>
          <p:txBody>
            <a:bodyPr lIns="0" tIns="0" rIns="0" bIns="0" rtlCol="0" anchor="t"/>
            <a:lstStyle/>
            <a:p>
              <a:pPr marL="301625" lvl="1" indent="-150812" algn="l">
                <a:lnSpc>
                  <a:spcPts val="3187"/>
                </a:lnSpc>
                <a:buFont typeface="Arial"/>
                <a:buChar char="•"/>
              </a:pPr>
              <a:r>
                <a:rPr lang="en-US" sz="2000" spc="-40">
                  <a:solidFill>
                    <a:srgbClr val="272525"/>
                  </a:solidFill>
                  <a:latin typeface="Inter"/>
                  <a:ea typeface="Inter"/>
                  <a:cs typeface="Inter"/>
                  <a:sym typeface="Inter"/>
                </a:rPr>
                <a:t>Since the disk space is related to operating system (OS), we will import the built-in os_module for this script.</a:t>
              </a:r>
            </a:p>
          </p:txBody>
        </p:sp>
      </p:grpSp>
      <p:grpSp>
        <p:nvGrpSpPr>
          <p:cNvPr id="15" name="Group 15"/>
          <p:cNvGrpSpPr/>
          <p:nvPr/>
        </p:nvGrpSpPr>
        <p:grpSpPr>
          <a:xfrm>
            <a:off x="896094" y="3183258"/>
            <a:ext cx="16495811" cy="1024235"/>
            <a:chOff x="0" y="0"/>
            <a:chExt cx="21994415" cy="1365647"/>
          </a:xfrm>
        </p:grpSpPr>
        <p:sp>
          <p:nvSpPr>
            <p:cNvPr id="16" name="Freeform 16"/>
            <p:cNvSpPr/>
            <p:nvPr/>
          </p:nvSpPr>
          <p:spPr>
            <a:xfrm>
              <a:off x="0" y="0"/>
              <a:ext cx="21994416" cy="1365647"/>
            </a:xfrm>
            <a:custGeom>
              <a:avLst/>
              <a:gdLst/>
              <a:ahLst/>
              <a:cxnLst/>
              <a:rect l="l" t="t" r="r" b="b"/>
              <a:pathLst>
                <a:path w="21994416" h="1365647">
                  <a:moveTo>
                    <a:pt x="0" y="0"/>
                  </a:moveTo>
                  <a:lnTo>
                    <a:pt x="21994416" y="0"/>
                  </a:lnTo>
                  <a:lnTo>
                    <a:pt x="21994416" y="1365647"/>
                  </a:lnTo>
                  <a:lnTo>
                    <a:pt x="0" y="1365647"/>
                  </a:lnTo>
                  <a:close/>
                </a:path>
              </a:pathLst>
            </a:custGeom>
            <a:solidFill>
              <a:srgbClr val="000000">
                <a:alpha val="0"/>
              </a:srgbClr>
            </a:solidFill>
          </p:spPr>
        </p:sp>
        <p:sp>
          <p:nvSpPr>
            <p:cNvPr id="17" name="TextBox 17"/>
            <p:cNvSpPr txBox="1"/>
            <p:nvPr/>
          </p:nvSpPr>
          <p:spPr>
            <a:xfrm>
              <a:off x="0" y="-76200"/>
              <a:ext cx="21994415" cy="1441847"/>
            </a:xfrm>
            <a:prstGeom prst="rect">
              <a:avLst/>
            </a:prstGeom>
          </p:spPr>
          <p:txBody>
            <a:bodyPr lIns="0" tIns="0" rIns="0" bIns="0" rtlCol="0" anchor="t"/>
            <a:lstStyle/>
            <a:p>
              <a:pPr marL="301625" lvl="1" indent="-150812" algn="l">
                <a:lnSpc>
                  <a:spcPts val="3187"/>
                </a:lnSpc>
                <a:buFont typeface="Arial"/>
                <a:buChar char="•"/>
              </a:pPr>
              <a:r>
                <a:rPr lang="en-US" sz="2000" spc="-40">
                  <a:solidFill>
                    <a:srgbClr val="272525"/>
                  </a:solidFill>
                  <a:latin typeface="Inter"/>
                  <a:ea typeface="Inter"/>
                  <a:cs typeface="Inter"/>
                  <a:sym typeface="Inter"/>
                </a:rPr>
                <a:t>Lines that contain </a:t>
              </a:r>
              <a:r>
                <a:rPr lang="en-US" sz="2000" b="1" spc="-40">
                  <a:solidFill>
                    <a:srgbClr val="272525"/>
                  </a:solidFill>
                  <a:latin typeface="Inter Bold"/>
                  <a:ea typeface="Inter Bold"/>
                  <a:cs typeface="Inter Bold"/>
                  <a:sym typeface="Inter Bold"/>
                </a:rPr>
                <a:t>statvfs</a:t>
              </a:r>
              <a:r>
                <a:rPr lang="en-US" sz="2000" spc="-40">
                  <a:solidFill>
                    <a:srgbClr val="272525"/>
                  </a:solidFill>
                  <a:latin typeface="Inter"/>
                  <a:ea typeface="Inter"/>
                  <a:cs typeface="Inter"/>
                  <a:sym typeface="Inter"/>
                </a:rPr>
                <a:t> are just functions from os module, need not memorize these as we have numerous logic blocks inside each module.</a:t>
              </a:r>
            </a:p>
          </p:txBody>
        </p:sp>
      </p:grpSp>
      <p:sp>
        <p:nvSpPr>
          <p:cNvPr id="18" name="Freeform 18" descr="preencoded.png"/>
          <p:cNvSpPr/>
          <p:nvPr/>
        </p:nvSpPr>
        <p:spPr>
          <a:xfrm>
            <a:off x="896094" y="4122874"/>
            <a:ext cx="16747756" cy="5568531"/>
          </a:xfrm>
          <a:custGeom>
            <a:avLst/>
            <a:gdLst/>
            <a:ahLst/>
            <a:cxnLst/>
            <a:rect l="l" t="t" r="r" b="b"/>
            <a:pathLst>
              <a:path w="16747756" h="5568531">
                <a:moveTo>
                  <a:pt x="0" y="0"/>
                </a:moveTo>
                <a:lnTo>
                  <a:pt x="16747756" y="0"/>
                </a:lnTo>
                <a:lnTo>
                  <a:pt x="16747756" y="5568531"/>
                </a:lnTo>
                <a:lnTo>
                  <a:pt x="0" y="5568531"/>
                </a:lnTo>
                <a:lnTo>
                  <a:pt x="0" y="0"/>
                </a:lnTo>
                <a:close/>
              </a:path>
            </a:pathLst>
          </a:custGeom>
          <a:blipFill>
            <a:blip r:embed="rId3"/>
            <a:stretch>
              <a:fillRect l="-2" r="-2"/>
            </a:stretch>
          </a:blipFill>
        </p:spPr>
      </p:sp>
      <p:sp>
        <p:nvSpPr>
          <p:cNvPr id="19" name="TextBox 19"/>
          <p:cNvSpPr txBox="1"/>
          <p:nvPr/>
        </p:nvSpPr>
        <p:spPr>
          <a:xfrm>
            <a:off x="15620274" y="9834540"/>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AF2E9"/>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DFAF7"/>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grpSp>
        <p:nvGrpSpPr>
          <p:cNvPr id="7" name="Group 7"/>
          <p:cNvGrpSpPr/>
          <p:nvPr/>
        </p:nvGrpSpPr>
        <p:grpSpPr>
          <a:xfrm>
            <a:off x="7629822" y="851147"/>
            <a:ext cx="7095828" cy="757981"/>
            <a:chOff x="0" y="0"/>
            <a:chExt cx="9461103" cy="1010642"/>
          </a:xfrm>
        </p:grpSpPr>
        <p:sp>
          <p:nvSpPr>
            <p:cNvPr id="8" name="Freeform 8"/>
            <p:cNvSpPr/>
            <p:nvPr/>
          </p:nvSpPr>
          <p:spPr>
            <a:xfrm>
              <a:off x="0" y="0"/>
              <a:ext cx="9461103" cy="1010642"/>
            </a:xfrm>
            <a:custGeom>
              <a:avLst/>
              <a:gdLst/>
              <a:ahLst/>
              <a:cxnLst/>
              <a:rect l="l" t="t" r="r" b="b"/>
              <a:pathLst>
                <a:path w="9461103" h="1010642">
                  <a:moveTo>
                    <a:pt x="0" y="0"/>
                  </a:moveTo>
                  <a:lnTo>
                    <a:pt x="9461103" y="0"/>
                  </a:lnTo>
                  <a:lnTo>
                    <a:pt x="9461103" y="1010642"/>
                  </a:lnTo>
                  <a:lnTo>
                    <a:pt x="0" y="1010642"/>
                  </a:lnTo>
                  <a:close/>
                </a:path>
              </a:pathLst>
            </a:custGeom>
            <a:solidFill>
              <a:srgbClr val="000000">
                <a:alpha val="0"/>
              </a:srgbClr>
            </a:solidFill>
          </p:spPr>
        </p:sp>
        <p:sp>
          <p:nvSpPr>
            <p:cNvPr id="9" name="TextBox 9"/>
            <p:cNvSpPr txBox="1"/>
            <p:nvPr/>
          </p:nvSpPr>
          <p:spPr>
            <a:xfrm>
              <a:off x="0" y="-38100"/>
              <a:ext cx="9461103" cy="1048742"/>
            </a:xfrm>
            <a:prstGeom prst="rect">
              <a:avLst/>
            </a:prstGeom>
          </p:spPr>
          <p:txBody>
            <a:bodyPr lIns="0" tIns="0" rIns="0" bIns="0" rtlCol="0" anchor="t"/>
            <a:lstStyle/>
            <a:p>
              <a:pPr algn="l">
                <a:lnSpc>
                  <a:spcPts val="5937"/>
                </a:lnSpc>
              </a:pPr>
              <a:r>
                <a:rPr lang="en-US" sz="4750" spc="-95">
                  <a:solidFill>
                    <a:srgbClr val="F95F88"/>
                  </a:solidFill>
                  <a:latin typeface="Petrona"/>
                  <a:ea typeface="Petrona"/>
                  <a:cs typeface="Petrona"/>
                  <a:sym typeface="Petrona"/>
                </a:rPr>
                <a:t>What have we learnt today!</a:t>
              </a:r>
            </a:p>
          </p:txBody>
        </p:sp>
      </p:grpSp>
      <p:sp>
        <p:nvSpPr>
          <p:cNvPr id="10" name="Freeform 10" descr="preencoded.png"/>
          <p:cNvSpPr/>
          <p:nvPr/>
        </p:nvSpPr>
        <p:spPr>
          <a:xfrm>
            <a:off x="7629822" y="1939826"/>
            <a:ext cx="1102519" cy="1763762"/>
          </a:xfrm>
          <a:custGeom>
            <a:avLst/>
            <a:gdLst/>
            <a:ahLst/>
            <a:cxnLst/>
            <a:rect l="l" t="t" r="r" b="b"/>
            <a:pathLst>
              <a:path w="1102519" h="1763762">
                <a:moveTo>
                  <a:pt x="0" y="0"/>
                </a:moveTo>
                <a:lnTo>
                  <a:pt x="1102519" y="0"/>
                </a:lnTo>
                <a:lnTo>
                  <a:pt x="1102519" y="1763763"/>
                </a:lnTo>
                <a:lnTo>
                  <a:pt x="0" y="1763763"/>
                </a:lnTo>
                <a:lnTo>
                  <a:pt x="0" y="0"/>
                </a:lnTo>
                <a:close/>
              </a:path>
            </a:pathLst>
          </a:custGeom>
          <a:blipFill>
            <a:blip r:embed="rId4"/>
            <a:stretch>
              <a:fillRect l="-154" r="-154"/>
            </a:stretch>
          </a:blipFill>
        </p:spPr>
      </p:sp>
      <p:grpSp>
        <p:nvGrpSpPr>
          <p:cNvPr id="11" name="Group 11"/>
          <p:cNvGrpSpPr/>
          <p:nvPr/>
        </p:nvGrpSpPr>
        <p:grpSpPr>
          <a:xfrm>
            <a:off x="9063037" y="2160240"/>
            <a:ext cx="8453140" cy="1322934"/>
            <a:chOff x="0" y="0"/>
            <a:chExt cx="11270853" cy="1763912"/>
          </a:xfrm>
        </p:grpSpPr>
        <p:sp>
          <p:nvSpPr>
            <p:cNvPr id="12" name="Freeform 12"/>
            <p:cNvSpPr/>
            <p:nvPr/>
          </p:nvSpPr>
          <p:spPr>
            <a:xfrm>
              <a:off x="0" y="0"/>
              <a:ext cx="11270853" cy="1763912"/>
            </a:xfrm>
            <a:custGeom>
              <a:avLst/>
              <a:gdLst/>
              <a:ahLst/>
              <a:cxnLst/>
              <a:rect l="l" t="t" r="r" b="b"/>
              <a:pathLst>
                <a:path w="11270853" h="1763912">
                  <a:moveTo>
                    <a:pt x="0" y="0"/>
                  </a:moveTo>
                  <a:lnTo>
                    <a:pt x="11270853" y="0"/>
                  </a:lnTo>
                  <a:lnTo>
                    <a:pt x="11270853" y="1763912"/>
                  </a:lnTo>
                  <a:lnTo>
                    <a:pt x="0" y="1763912"/>
                  </a:lnTo>
                  <a:close/>
                </a:path>
              </a:pathLst>
            </a:custGeom>
            <a:solidFill>
              <a:srgbClr val="000000">
                <a:alpha val="0"/>
              </a:srgbClr>
            </a:solidFill>
          </p:spPr>
        </p:sp>
        <p:sp>
          <p:nvSpPr>
            <p:cNvPr id="13" name="TextBox 13"/>
            <p:cNvSpPr txBox="1"/>
            <p:nvPr/>
          </p:nvSpPr>
          <p:spPr>
            <a:xfrm>
              <a:off x="0" y="-95250"/>
              <a:ext cx="11270853" cy="1859162"/>
            </a:xfrm>
            <a:prstGeom prst="rect">
              <a:avLst/>
            </a:prstGeom>
          </p:spPr>
          <p:txBody>
            <a:bodyPr lIns="0" tIns="0" rIns="0" bIns="0" rtlCol="0" anchor="t"/>
            <a:lstStyle/>
            <a:p>
              <a:pPr algn="l">
                <a:lnSpc>
                  <a:spcPts val="3437"/>
                </a:lnSpc>
              </a:pPr>
              <a:r>
                <a:rPr lang="en-US" sz="2125" b="1" spc="-35">
                  <a:solidFill>
                    <a:srgbClr val="272525"/>
                  </a:solidFill>
                  <a:latin typeface="Inter Bold"/>
                  <a:ea typeface="Inter Bold"/>
                  <a:cs typeface="Inter Bold"/>
                  <a:sym typeface="Inter Bold"/>
                </a:rPr>
                <a:t>Why Python for DevOps</a:t>
              </a:r>
              <a:r>
                <a:rPr lang="en-US" sz="2125" spc="-35">
                  <a:solidFill>
                    <a:srgbClr val="272525"/>
                  </a:solidFill>
                  <a:latin typeface="Inter"/>
                  <a:ea typeface="Inter"/>
                  <a:cs typeface="Inter"/>
                  <a:sym typeface="Inter"/>
                </a:rPr>
                <a:t>: Python simplifies automation, infrastructure management, and CI/CD pipelines, integrating with cloud platforms like AWS and tools such as Ansible and Terraform.</a:t>
              </a:r>
            </a:p>
          </p:txBody>
        </p:sp>
      </p:grpSp>
      <p:sp>
        <p:nvSpPr>
          <p:cNvPr id="14" name="Freeform 14" descr="preencoded.png"/>
          <p:cNvSpPr/>
          <p:nvPr/>
        </p:nvSpPr>
        <p:spPr>
          <a:xfrm>
            <a:off x="7629822" y="3703588"/>
            <a:ext cx="1102519" cy="2204740"/>
          </a:xfrm>
          <a:custGeom>
            <a:avLst/>
            <a:gdLst/>
            <a:ahLst/>
            <a:cxnLst/>
            <a:rect l="l" t="t" r="r" b="b"/>
            <a:pathLst>
              <a:path w="1102519" h="2204740">
                <a:moveTo>
                  <a:pt x="0" y="0"/>
                </a:moveTo>
                <a:lnTo>
                  <a:pt x="1102519" y="0"/>
                </a:lnTo>
                <a:lnTo>
                  <a:pt x="1102519" y="2204740"/>
                </a:lnTo>
                <a:lnTo>
                  <a:pt x="0" y="2204740"/>
                </a:lnTo>
                <a:lnTo>
                  <a:pt x="0" y="0"/>
                </a:lnTo>
                <a:close/>
              </a:path>
            </a:pathLst>
          </a:custGeom>
          <a:blipFill>
            <a:blip r:embed="rId5"/>
            <a:stretch>
              <a:fillRect l="-209" r="-209"/>
            </a:stretch>
          </a:blipFill>
        </p:spPr>
      </p:sp>
      <p:grpSp>
        <p:nvGrpSpPr>
          <p:cNvPr id="15" name="Group 15"/>
          <p:cNvGrpSpPr/>
          <p:nvPr/>
        </p:nvGrpSpPr>
        <p:grpSpPr>
          <a:xfrm>
            <a:off x="9063037" y="3924002"/>
            <a:ext cx="8453140" cy="1763911"/>
            <a:chOff x="0" y="0"/>
            <a:chExt cx="11270853" cy="2351882"/>
          </a:xfrm>
        </p:grpSpPr>
        <p:sp>
          <p:nvSpPr>
            <p:cNvPr id="16" name="Freeform 16"/>
            <p:cNvSpPr/>
            <p:nvPr/>
          </p:nvSpPr>
          <p:spPr>
            <a:xfrm>
              <a:off x="0" y="0"/>
              <a:ext cx="11270853" cy="2351882"/>
            </a:xfrm>
            <a:custGeom>
              <a:avLst/>
              <a:gdLst/>
              <a:ahLst/>
              <a:cxnLst/>
              <a:rect l="l" t="t" r="r" b="b"/>
              <a:pathLst>
                <a:path w="11270853" h="2351882">
                  <a:moveTo>
                    <a:pt x="0" y="0"/>
                  </a:moveTo>
                  <a:lnTo>
                    <a:pt x="11270853" y="0"/>
                  </a:lnTo>
                  <a:lnTo>
                    <a:pt x="11270853" y="2351882"/>
                  </a:lnTo>
                  <a:lnTo>
                    <a:pt x="0" y="2351882"/>
                  </a:lnTo>
                  <a:close/>
                </a:path>
              </a:pathLst>
            </a:custGeom>
            <a:solidFill>
              <a:srgbClr val="000000">
                <a:alpha val="0"/>
              </a:srgbClr>
            </a:solidFill>
          </p:spPr>
        </p:sp>
        <p:sp>
          <p:nvSpPr>
            <p:cNvPr id="17" name="TextBox 17"/>
            <p:cNvSpPr txBox="1"/>
            <p:nvPr/>
          </p:nvSpPr>
          <p:spPr>
            <a:xfrm>
              <a:off x="0" y="-95250"/>
              <a:ext cx="11270853" cy="2447132"/>
            </a:xfrm>
            <a:prstGeom prst="rect">
              <a:avLst/>
            </a:prstGeom>
          </p:spPr>
          <p:txBody>
            <a:bodyPr lIns="0" tIns="0" rIns="0" bIns="0" rtlCol="0" anchor="t"/>
            <a:lstStyle/>
            <a:p>
              <a:pPr algn="l">
                <a:lnSpc>
                  <a:spcPts val="3437"/>
                </a:lnSpc>
              </a:pPr>
              <a:r>
                <a:rPr lang="en-US" sz="2125" b="1" spc="-35">
                  <a:solidFill>
                    <a:srgbClr val="272525"/>
                  </a:solidFill>
                  <a:latin typeface="Inter Bold"/>
                  <a:ea typeface="Inter Bold"/>
                  <a:cs typeface="Inter Bold"/>
                  <a:sym typeface="Inter Bold"/>
                </a:rPr>
                <a:t>Introduction to Python: </a:t>
              </a:r>
              <a:r>
                <a:rPr lang="en-US" sz="2125" spc="-35">
                  <a:solidFill>
                    <a:srgbClr val="272525"/>
                  </a:solidFill>
                  <a:latin typeface="Inter"/>
                  <a:ea typeface="Inter"/>
                  <a:cs typeface="Inter"/>
                  <a:sym typeface="Inter"/>
                </a:rPr>
                <a:t>Deep dived into Syntax formats like indentation, naming variables, data types &amp; collections, Operators and their use cases which are arithmetic, logical, assignment and comparison.</a:t>
              </a:r>
            </a:p>
          </p:txBody>
        </p:sp>
      </p:grpSp>
      <p:sp>
        <p:nvSpPr>
          <p:cNvPr id="18" name="Freeform 18" descr="preencoded.png"/>
          <p:cNvSpPr/>
          <p:nvPr/>
        </p:nvSpPr>
        <p:spPr>
          <a:xfrm>
            <a:off x="7629822" y="5908327"/>
            <a:ext cx="1102519" cy="1763762"/>
          </a:xfrm>
          <a:custGeom>
            <a:avLst/>
            <a:gdLst/>
            <a:ahLst/>
            <a:cxnLst/>
            <a:rect l="l" t="t" r="r" b="b"/>
            <a:pathLst>
              <a:path w="1102519" h="1763762">
                <a:moveTo>
                  <a:pt x="0" y="0"/>
                </a:moveTo>
                <a:lnTo>
                  <a:pt x="1102519" y="0"/>
                </a:lnTo>
                <a:lnTo>
                  <a:pt x="1102519" y="1763763"/>
                </a:lnTo>
                <a:lnTo>
                  <a:pt x="0" y="1763763"/>
                </a:lnTo>
                <a:lnTo>
                  <a:pt x="0" y="0"/>
                </a:lnTo>
                <a:close/>
              </a:path>
            </a:pathLst>
          </a:custGeom>
          <a:blipFill>
            <a:blip r:embed="rId6"/>
            <a:stretch>
              <a:fillRect l="-154" r="-154"/>
            </a:stretch>
          </a:blipFill>
        </p:spPr>
      </p:sp>
      <p:grpSp>
        <p:nvGrpSpPr>
          <p:cNvPr id="19" name="Group 19"/>
          <p:cNvGrpSpPr/>
          <p:nvPr/>
        </p:nvGrpSpPr>
        <p:grpSpPr>
          <a:xfrm>
            <a:off x="9063037" y="6128742"/>
            <a:ext cx="8453140" cy="1322934"/>
            <a:chOff x="0" y="0"/>
            <a:chExt cx="11270853" cy="1763912"/>
          </a:xfrm>
        </p:grpSpPr>
        <p:sp>
          <p:nvSpPr>
            <p:cNvPr id="20" name="Freeform 20"/>
            <p:cNvSpPr/>
            <p:nvPr/>
          </p:nvSpPr>
          <p:spPr>
            <a:xfrm>
              <a:off x="0" y="0"/>
              <a:ext cx="11270853" cy="1763912"/>
            </a:xfrm>
            <a:custGeom>
              <a:avLst/>
              <a:gdLst/>
              <a:ahLst/>
              <a:cxnLst/>
              <a:rect l="l" t="t" r="r" b="b"/>
              <a:pathLst>
                <a:path w="11270853" h="1763912">
                  <a:moveTo>
                    <a:pt x="0" y="0"/>
                  </a:moveTo>
                  <a:lnTo>
                    <a:pt x="11270853" y="0"/>
                  </a:lnTo>
                  <a:lnTo>
                    <a:pt x="11270853" y="1763912"/>
                  </a:lnTo>
                  <a:lnTo>
                    <a:pt x="0" y="1763912"/>
                  </a:lnTo>
                  <a:close/>
                </a:path>
              </a:pathLst>
            </a:custGeom>
            <a:solidFill>
              <a:srgbClr val="000000">
                <a:alpha val="0"/>
              </a:srgbClr>
            </a:solidFill>
          </p:spPr>
        </p:sp>
        <p:sp>
          <p:nvSpPr>
            <p:cNvPr id="21" name="TextBox 21"/>
            <p:cNvSpPr txBox="1"/>
            <p:nvPr/>
          </p:nvSpPr>
          <p:spPr>
            <a:xfrm>
              <a:off x="0" y="-95250"/>
              <a:ext cx="11270853" cy="1859162"/>
            </a:xfrm>
            <a:prstGeom prst="rect">
              <a:avLst/>
            </a:prstGeom>
          </p:spPr>
          <p:txBody>
            <a:bodyPr lIns="0" tIns="0" rIns="0" bIns="0" rtlCol="0" anchor="t"/>
            <a:lstStyle/>
            <a:p>
              <a:pPr algn="l">
                <a:lnSpc>
                  <a:spcPts val="3437"/>
                </a:lnSpc>
              </a:pPr>
              <a:r>
                <a:rPr lang="en-US" sz="2125" b="1" spc="-35">
                  <a:solidFill>
                    <a:srgbClr val="272525"/>
                  </a:solidFill>
                  <a:latin typeface="Inter Bold"/>
                  <a:ea typeface="Inter Bold"/>
                  <a:cs typeface="Inter Bold"/>
                  <a:sym typeface="Inter Bold"/>
                </a:rPr>
                <a:t>Control Structures:</a:t>
              </a:r>
              <a:r>
                <a:rPr lang="en-US" sz="2125" spc="-35">
                  <a:solidFill>
                    <a:srgbClr val="272525"/>
                  </a:solidFill>
                  <a:latin typeface="Inter"/>
                  <a:ea typeface="Inter"/>
                  <a:cs typeface="Inter"/>
                  <a:sym typeface="Inter"/>
                </a:rPr>
                <a:t> Conditional statements (if-else) and loops (for, while) allow dynamic control over program flow, enabling effective handling of different scenarios.</a:t>
              </a:r>
            </a:p>
          </p:txBody>
        </p:sp>
      </p:grpSp>
      <p:sp>
        <p:nvSpPr>
          <p:cNvPr id="22" name="Freeform 22" descr="preencoded.png"/>
          <p:cNvSpPr/>
          <p:nvPr/>
        </p:nvSpPr>
        <p:spPr>
          <a:xfrm>
            <a:off x="7629822" y="7672090"/>
            <a:ext cx="1102519" cy="1853184"/>
          </a:xfrm>
          <a:custGeom>
            <a:avLst/>
            <a:gdLst/>
            <a:ahLst/>
            <a:cxnLst/>
            <a:rect l="l" t="t" r="r" b="b"/>
            <a:pathLst>
              <a:path w="1102519" h="1853184">
                <a:moveTo>
                  <a:pt x="0" y="0"/>
                </a:moveTo>
                <a:lnTo>
                  <a:pt x="1102519" y="0"/>
                </a:lnTo>
                <a:lnTo>
                  <a:pt x="1102519" y="1853184"/>
                </a:lnTo>
                <a:lnTo>
                  <a:pt x="0" y="1853184"/>
                </a:lnTo>
                <a:lnTo>
                  <a:pt x="0" y="0"/>
                </a:lnTo>
                <a:close/>
              </a:path>
            </a:pathLst>
          </a:custGeom>
          <a:blipFill>
            <a:blip r:embed="rId7"/>
            <a:stretch>
              <a:fillRect l="-2697" r="-2697"/>
            </a:stretch>
          </a:blipFill>
        </p:spPr>
      </p:sp>
      <p:grpSp>
        <p:nvGrpSpPr>
          <p:cNvPr id="23" name="Group 23"/>
          <p:cNvGrpSpPr/>
          <p:nvPr/>
        </p:nvGrpSpPr>
        <p:grpSpPr>
          <a:xfrm>
            <a:off x="9063037" y="7892504"/>
            <a:ext cx="8453140" cy="1322934"/>
            <a:chOff x="0" y="0"/>
            <a:chExt cx="11270853" cy="1763912"/>
          </a:xfrm>
        </p:grpSpPr>
        <p:sp>
          <p:nvSpPr>
            <p:cNvPr id="24" name="Freeform 24"/>
            <p:cNvSpPr/>
            <p:nvPr/>
          </p:nvSpPr>
          <p:spPr>
            <a:xfrm>
              <a:off x="0" y="0"/>
              <a:ext cx="11270853" cy="1763912"/>
            </a:xfrm>
            <a:custGeom>
              <a:avLst/>
              <a:gdLst/>
              <a:ahLst/>
              <a:cxnLst/>
              <a:rect l="l" t="t" r="r" b="b"/>
              <a:pathLst>
                <a:path w="11270853" h="1763912">
                  <a:moveTo>
                    <a:pt x="0" y="0"/>
                  </a:moveTo>
                  <a:lnTo>
                    <a:pt x="11270853" y="0"/>
                  </a:lnTo>
                  <a:lnTo>
                    <a:pt x="11270853" y="1763912"/>
                  </a:lnTo>
                  <a:lnTo>
                    <a:pt x="0" y="1763912"/>
                  </a:lnTo>
                  <a:close/>
                </a:path>
              </a:pathLst>
            </a:custGeom>
            <a:solidFill>
              <a:srgbClr val="000000">
                <a:alpha val="0"/>
              </a:srgbClr>
            </a:solidFill>
          </p:spPr>
        </p:sp>
        <p:sp>
          <p:nvSpPr>
            <p:cNvPr id="25" name="TextBox 25"/>
            <p:cNvSpPr txBox="1"/>
            <p:nvPr/>
          </p:nvSpPr>
          <p:spPr>
            <a:xfrm>
              <a:off x="0" y="-95250"/>
              <a:ext cx="11270853" cy="1859162"/>
            </a:xfrm>
            <a:prstGeom prst="rect">
              <a:avLst/>
            </a:prstGeom>
          </p:spPr>
          <p:txBody>
            <a:bodyPr lIns="0" tIns="0" rIns="0" bIns="0" rtlCol="0" anchor="t"/>
            <a:lstStyle/>
            <a:p>
              <a:pPr algn="l">
                <a:lnSpc>
                  <a:spcPts val="3437"/>
                </a:lnSpc>
              </a:pPr>
              <a:r>
                <a:rPr lang="en-US" sz="2125" b="1" spc="-35">
                  <a:solidFill>
                    <a:srgbClr val="272525"/>
                  </a:solidFill>
                  <a:latin typeface="Inter Bold"/>
                  <a:ea typeface="Inter Bold"/>
                  <a:cs typeface="Inter Bold"/>
                  <a:sym typeface="Inter Bold"/>
                </a:rPr>
                <a:t>Functions and Modules</a:t>
              </a:r>
              <a:r>
                <a:rPr lang="en-US" sz="2125" spc="-35">
                  <a:solidFill>
                    <a:srgbClr val="272525"/>
                  </a:solidFill>
                  <a:latin typeface="Inter"/>
                  <a:ea typeface="Inter"/>
                  <a:cs typeface="Inter"/>
                  <a:sym typeface="Inter"/>
                </a:rPr>
                <a:t>: Functions promote modular, reusable code, while Python modules like </a:t>
              </a:r>
              <a:r>
                <a:rPr lang="en-US" sz="2125" b="1" spc="-35">
                  <a:solidFill>
                    <a:srgbClr val="272525"/>
                  </a:solidFill>
                  <a:latin typeface="Inter Bold"/>
                  <a:ea typeface="Inter Bold"/>
                  <a:cs typeface="Inter Bold"/>
                  <a:sym typeface="Inter Bold"/>
                </a:rPr>
                <a:t>os</a:t>
              </a:r>
              <a:r>
                <a:rPr lang="en-US" sz="2125" spc="-35">
                  <a:solidFill>
                    <a:srgbClr val="272525"/>
                  </a:solidFill>
                  <a:latin typeface="Inter"/>
                  <a:ea typeface="Inter"/>
                  <a:cs typeface="Inter"/>
                  <a:sym typeface="Inter"/>
                </a:rPr>
                <a:t> and </a:t>
              </a:r>
              <a:r>
                <a:rPr lang="en-US" sz="2125" b="1" spc="-35">
                  <a:solidFill>
                    <a:srgbClr val="272525"/>
                  </a:solidFill>
                  <a:latin typeface="Inter Bold"/>
                  <a:ea typeface="Inter Bold"/>
                  <a:cs typeface="Inter Bold"/>
                  <a:sym typeface="Inter Bold"/>
                </a:rPr>
                <a:t>sys</a:t>
              </a:r>
              <a:r>
                <a:rPr lang="en-US" sz="2125" spc="-35">
                  <a:solidFill>
                    <a:srgbClr val="272525"/>
                  </a:solidFill>
                  <a:latin typeface="Inter"/>
                  <a:ea typeface="Inter"/>
                  <a:cs typeface="Inter"/>
                  <a:sym typeface="Inter"/>
                </a:rPr>
                <a:t> expand functionality, facilitating system and task automation.</a:t>
              </a:r>
            </a:p>
          </p:txBody>
        </p:sp>
      </p:grpSp>
      <p:sp>
        <p:nvSpPr>
          <p:cNvPr id="26" name="TextBox 26"/>
          <p:cNvSpPr txBox="1"/>
          <p:nvPr/>
        </p:nvSpPr>
        <p:spPr>
          <a:xfrm>
            <a:off x="15487669" y="9754943"/>
            <a:ext cx="3543263" cy="328101"/>
          </a:xfrm>
          <a:prstGeom prst="rect">
            <a:avLst/>
          </a:prstGeom>
        </p:spPr>
        <p:txBody>
          <a:bodyPr lIns="0" tIns="0" rIns="0" bIns="0" rtlCol="0" anchor="t">
            <a:spAutoFit/>
          </a:bodyPr>
          <a:lstStyle/>
          <a:p>
            <a:pPr algn="l">
              <a:lnSpc>
                <a:spcPts val="2786"/>
              </a:lnSpc>
              <a:spcBef>
                <a:spcPct val="0"/>
              </a:spcBef>
            </a:pPr>
            <a:r>
              <a:rPr lang="en-US" sz="1725" spc="-34">
                <a:solidFill>
                  <a:srgbClr val="272525"/>
                </a:solidFill>
                <a:latin typeface="Inter"/>
                <a:ea typeface="Inter"/>
                <a:cs typeface="Inter"/>
                <a:sym typeface="Inter"/>
              </a:rPr>
              <a:t>Mohammad Anees Alam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2366</Words>
  <Application>Microsoft Office PowerPoint</Application>
  <PresentationFormat>Custom</PresentationFormat>
  <Paragraphs>261</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Inter Bold</vt:lpstr>
      <vt:lpstr>Calibri</vt:lpstr>
      <vt:lpstr>Arial</vt:lpstr>
      <vt:lpstr>Inter Italics</vt:lpstr>
      <vt:lpstr>Inter</vt:lpstr>
      <vt:lpstr>Petrona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Python-for-DevOps.pptx</dc:title>
  <cp:lastModifiedBy>MohammaD AneeS</cp:lastModifiedBy>
  <cp:revision>3</cp:revision>
  <dcterms:created xsi:type="dcterms:W3CDTF">2006-08-16T00:00:00Z</dcterms:created>
  <dcterms:modified xsi:type="dcterms:W3CDTF">2026-08-09T06:26:45Z</dcterms:modified>
  <dc:identifier>DAGf5BDa_A4</dc:identifier>
</cp:coreProperties>
</file>